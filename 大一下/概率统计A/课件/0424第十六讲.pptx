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99" r:id="rId3"/>
    <p:sldId id="486" r:id="rId5"/>
    <p:sldId id="502" r:id="rId6"/>
    <p:sldId id="501" r:id="rId7"/>
    <p:sldId id="555" r:id="rId8"/>
    <p:sldId id="606" r:id="rId9"/>
    <p:sldId id="607" r:id="rId10"/>
    <p:sldId id="308" r:id="rId11"/>
    <p:sldId id="315" r:id="rId12"/>
    <p:sldId id="316" r:id="rId13"/>
    <p:sldId id="394" r:id="rId14"/>
    <p:sldId id="263" r:id="rId15"/>
    <p:sldId id="553" r:id="rId16"/>
    <p:sldId id="554" r:id="rId17"/>
    <p:sldId id="500" r:id="rId18"/>
    <p:sldId id="276" r:id="rId19"/>
    <p:sldId id="608" r:id="rId20"/>
    <p:sldId id="377" r:id="rId21"/>
    <p:sldId id="285" r:id="rId22"/>
    <p:sldId id="306" r:id="rId23"/>
    <p:sldId id="305" r:id="rId24"/>
    <p:sldId id="314" r:id="rId25"/>
    <p:sldId id="307" r:id="rId26"/>
    <p:sldId id="503" r:id="rId27"/>
    <p:sldId id="504" r:id="rId28"/>
    <p:sldId id="505" r:id="rId29"/>
    <p:sldId id="506" r:id="rId30"/>
    <p:sldId id="507" r:id="rId31"/>
    <p:sldId id="511" r:id="rId32"/>
    <p:sldId id="512" r:id="rId33"/>
    <p:sldId id="513" r:id="rId34"/>
    <p:sldId id="403" r:id="rId35"/>
    <p:sldId id="514" r:id="rId36"/>
    <p:sldId id="508" r:id="rId37"/>
    <p:sldId id="509" r:id="rId38"/>
    <p:sldId id="515" r:id="rId39"/>
    <p:sldId id="325" r:id="rId40"/>
    <p:sldId id="373" r:id="rId41"/>
    <p:sldId id="256" r:id="rId42"/>
    <p:sldId id="328" r:id="rId43"/>
    <p:sldId id="293" r:id="rId44"/>
    <p:sldId id="379" r:id="rId45"/>
    <p:sldId id="380" r:id="rId46"/>
    <p:sldId id="284" r:id="rId47"/>
    <p:sldId id="294" r:id="rId48"/>
    <p:sldId id="381" r:id="rId49"/>
    <p:sldId id="599" r:id="rId50"/>
    <p:sldId id="600" r:id="rId51"/>
    <p:sldId id="601" r:id="rId52"/>
    <p:sldId id="602" r:id="rId53"/>
    <p:sldId id="603" r:id="rId54"/>
    <p:sldId id="604" r:id="rId55"/>
    <p:sldId id="605" r:id="rId56"/>
    <p:sldId id="609" r:id="rId57"/>
    <p:sldId id="610" r:id="rId58"/>
    <p:sldId id="611" r:id="rId59"/>
    <p:sldId id="612" r:id="rId60"/>
    <p:sldId id="613" r:id="rId61"/>
    <p:sldId id="614" r:id="rId62"/>
    <p:sldId id="615" r:id="rId63"/>
    <p:sldId id="616" r:id="rId64"/>
    <p:sldId id="617" r:id="rId65"/>
    <p:sldId id="618" r:id="rId66"/>
    <p:sldId id="619" r:id="rId67"/>
    <p:sldId id="620" r:id="rId68"/>
    <p:sldId id="621" r:id="rId69"/>
  </p:sldIdLst>
  <p:sldSz cx="12192000" cy="6858000"/>
  <p:notesSz cx="7099300" cy="10234295"/>
  <p:custDataLst>
    <p:tags r:id="rId7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7F7FBF"/>
    <a:srgbClr val="3366FF"/>
    <a:srgbClr val="FFFFFF"/>
    <a:srgbClr val="FF3300"/>
    <a:srgbClr val="99FF33"/>
    <a:srgbClr val="FFFF99"/>
    <a:srgbClr val="FF9900"/>
    <a:srgbClr val="0066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9559" autoAdjust="0"/>
    <p:restoredTop sz="96366" autoAdjust="0"/>
  </p:normalViewPr>
  <p:slideViewPr>
    <p:cSldViewPr showGuides="1">
      <p:cViewPr varScale="1">
        <p:scale>
          <a:sx n="103" d="100"/>
          <a:sy n="103" d="100"/>
        </p:scale>
        <p:origin x="72" y="396"/>
      </p:cViewPr>
      <p:guideLst>
        <p:guide orient="horz" pos="2155"/>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1550"/>
    </p:cViewPr>
  </p:sorterViewPr>
  <p:notesViewPr>
    <p:cSldViewPr showGuides="1">
      <p:cViewPr varScale="1">
        <p:scale>
          <a:sx n="28" d="100"/>
          <a:sy n="28" d="100"/>
        </p:scale>
        <p:origin x="-1262" y="-72"/>
      </p:cViewPr>
      <p:guideLst>
        <p:guide orient="horz" pos="3216"/>
        <p:guide pos="223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3" Type="http://schemas.openxmlformats.org/officeDocument/2006/relationships/tags" Target="tags/tag1.xml"/><Relationship Id="rId72" Type="http://schemas.openxmlformats.org/officeDocument/2006/relationships/tableStyles" Target="tableStyles.xml"/><Relationship Id="rId71" Type="http://schemas.openxmlformats.org/officeDocument/2006/relationships/viewProps" Target="viewProps.xml"/><Relationship Id="rId70" Type="http://schemas.openxmlformats.org/officeDocument/2006/relationships/presProps" Target="presProps.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1.wmf"/><Relationship Id="rId8" Type="http://schemas.openxmlformats.org/officeDocument/2006/relationships/image" Target="../media/image10.wmf"/><Relationship Id="rId7" Type="http://schemas.openxmlformats.org/officeDocument/2006/relationships/image" Target="../media/image9.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 Id="rId3" Type="http://schemas.openxmlformats.org/officeDocument/2006/relationships/image" Target="../media/image5.wmf"/><Relationship Id="rId2" Type="http://schemas.openxmlformats.org/officeDocument/2006/relationships/image" Target="../media/image4.wmf"/><Relationship Id="rId16" Type="http://schemas.openxmlformats.org/officeDocument/2006/relationships/image" Target="../media/image18.wmf"/><Relationship Id="rId15" Type="http://schemas.openxmlformats.org/officeDocument/2006/relationships/image" Target="../media/image17.wmf"/><Relationship Id="rId14" Type="http://schemas.openxmlformats.org/officeDocument/2006/relationships/image" Target="../media/image16.wmf"/><Relationship Id="rId13" Type="http://schemas.openxmlformats.org/officeDocument/2006/relationships/image" Target="../media/image15.wmf"/><Relationship Id="rId12" Type="http://schemas.openxmlformats.org/officeDocument/2006/relationships/image" Target="../media/image14.wmf"/><Relationship Id="rId11" Type="http://schemas.openxmlformats.org/officeDocument/2006/relationships/image" Target="../media/image13.wmf"/><Relationship Id="rId10" Type="http://schemas.openxmlformats.org/officeDocument/2006/relationships/image" Target="../media/image12.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49.wmf"/><Relationship Id="rId8" Type="http://schemas.openxmlformats.org/officeDocument/2006/relationships/image" Target="../media/image48.wmf"/><Relationship Id="rId7" Type="http://schemas.openxmlformats.org/officeDocument/2006/relationships/image" Target="../media/image47.wmf"/><Relationship Id="rId6" Type="http://schemas.openxmlformats.org/officeDocument/2006/relationships/image" Target="../media/image46.wmf"/><Relationship Id="rId5" Type="http://schemas.openxmlformats.org/officeDocument/2006/relationships/image" Target="../media/image45.wmf"/><Relationship Id="rId4" Type="http://schemas.openxmlformats.org/officeDocument/2006/relationships/image" Target="../media/image44.wmf"/><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15.vml.rels><?xml version="1.0" encoding="UTF-8" standalone="yes"?>
<Relationships xmlns="http://schemas.openxmlformats.org/package/2006/relationships"><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71.wmf"/><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52.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88.wmf"/><Relationship Id="rId4" Type="http://schemas.openxmlformats.org/officeDocument/2006/relationships/image" Target="../media/image87.wmf"/><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22.vml.rels><?xml version="1.0" encoding="UTF-8" standalone="yes"?>
<Relationships xmlns="http://schemas.openxmlformats.org/package/2006/relationships"><Relationship Id="rId9" Type="http://schemas.openxmlformats.org/officeDocument/2006/relationships/image" Target="../media/image97.wmf"/><Relationship Id="rId8" Type="http://schemas.openxmlformats.org/officeDocument/2006/relationships/image" Target="../media/image96.wmf"/><Relationship Id="rId7" Type="http://schemas.openxmlformats.org/officeDocument/2006/relationships/image" Target="../media/image95.wmf"/><Relationship Id="rId6" Type="http://schemas.openxmlformats.org/officeDocument/2006/relationships/image" Target="../media/image94.wmf"/><Relationship Id="rId5" Type="http://schemas.openxmlformats.org/officeDocument/2006/relationships/image" Target="../media/image93.wmf"/><Relationship Id="rId4" Type="http://schemas.openxmlformats.org/officeDocument/2006/relationships/image" Target="../media/image92.wmf"/><Relationship Id="rId3" Type="http://schemas.openxmlformats.org/officeDocument/2006/relationships/image" Target="../media/image91.wmf"/><Relationship Id="rId2" Type="http://schemas.openxmlformats.org/officeDocument/2006/relationships/image" Target="../media/image90.wmf"/><Relationship Id="rId10" Type="http://schemas.openxmlformats.org/officeDocument/2006/relationships/image" Target="../media/image98.wmf"/><Relationship Id="rId1" Type="http://schemas.openxmlformats.org/officeDocument/2006/relationships/image" Target="../media/image89.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24.vml.rels><?xml version="1.0" encoding="UTF-8" standalone="yes"?>
<Relationships xmlns="http://schemas.openxmlformats.org/package/2006/relationships"><Relationship Id="rId5" Type="http://schemas.openxmlformats.org/officeDocument/2006/relationships/image" Target="../media/image107.wmf"/><Relationship Id="rId4" Type="http://schemas.openxmlformats.org/officeDocument/2006/relationships/image" Target="../media/image106.wmf"/><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2.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09.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10.wmf"/><Relationship Id="rId1" Type="http://schemas.openxmlformats.org/officeDocument/2006/relationships/image" Target="../media/image39.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13.wmf"/><Relationship Id="rId1" Type="http://schemas.openxmlformats.org/officeDocument/2006/relationships/image" Target="../media/image39.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114.w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123.wmf"/><Relationship Id="rId7" Type="http://schemas.openxmlformats.org/officeDocument/2006/relationships/image" Target="../media/image122.wmf"/><Relationship Id="rId6" Type="http://schemas.openxmlformats.org/officeDocument/2006/relationships/image" Target="../media/image121.wmf"/><Relationship Id="rId5" Type="http://schemas.openxmlformats.org/officeDocument/2006/relationships/image" Target="../media/image120.wmf"/><Relationship Id="rId4" Type="http://schemas.openxmlformats.org/officeDocument/2006/relationships/image" Target="../media/image119.wmf"/><Relationship Id="rId3" Type="http://schemas.openxmlformats.org/officeDocument/2006/relationships/image" Target="../media/image118.wmf"/><Relationship Id="rId2" Type="http://schemas.openxmlformats.org/officeDocument/2006/relationships/image" Target="../media/image117.wmf"/><Relationship Id="rId1" Type="http://schemas.openxmlformats.org/officeDocument/2006/relationships/image" Target="../media/image116.wmf"/></Relationships>
</file>

<file path=ppt/drawings/_rels/vmlDrawing31.vml.rels><?xml version="1.0" encoding="UTF-8" standalone="yes"?>
<Relationships xmlns="http://schemas.openxmlformats.org/package/2006/relationships"><Relationship Id="rId5" Type="http://schemas.openxmlformats.org/officeDocument/2006/relationships/image" Target="../media/image127.wmf"/><Relationship Id="rId4" Type="http://schemas.openxmlformats.org/officeDocument/2006/relationships/image" Target="../media/image126.wmf"/><Relationship Id="rId3" Type="http://schemas.openxmlformats.org/officeDocument/2006/relationships/image" Target="../media/image125.wmf"/><Relationship Id="rId2" Type="http://schemas.openxmlformats.org/officeDocument/2006/relationships/image" Target="../media/image124.wmf"/><Relationship Id="rId1" Type="http://schemas.openxmlformats.org/officeDocument/2006/relationships/image" Target="../media/image39.wmf"/></Relationships>
</file>

<file path=ppt/drawings/_rels/vmlDrawing32.vml.rels><?xml version="1.0" encoding="UTF-8" standalone="yes"?>
<Relationships xmlns="http://schemas.openxmlformats.org/package/2006/relationships"><Relationship Id="rId4" Type="http://schemas.openxmlformats.org/officeDocument/2006/relationships/image" Target="../media/image130.wmf"/><Relationship Id="rId3" Type="http://schemas.openxmlformats.org/officeDocument/2006/relationships/image" Target="../media/image129.wmf"/><Relationship Id="rId2" Type="http://schemas.openxmlformats.org/officeDocument/2006/relationships/image" Target="../media/image128.wmf"/><Relationship Id="rId1" Type="http://schemas.openxmlformats.org/officeDocument/2006/relationships/image" Target="../media/image39.wmf"/></Relationships>
</file>

<file path=ppt/drawings/_rels/vmlDrawing33.vml.rels><?xml version="1.0" encoding="UTF-8" standalone="yes"?>
<Relationships xmlns="http://schemas.openxmlformats.org/package/2006/relationships"><Relationship Id="rId6" Type="http://schemas.openxmlformats.org/officeDocument/2006/relationships/image" Target="../media/image135.wmf"/><Relationship Id="rId5" Type="http://schemas.openxmlformats.org/officeDocument/2006/relationships/image" Target="../media/image134.wmf"/><Relationship Id="rId4" Type="http://schemas.openxmlformats.org/officeDocument/2006/relationships/image" Target="../media/image133.wmf"/><Relationship Id="rId3" Type="http://schemas.openxmlformats.org/officeDocument/2006/relationships/image" Target="../media/image132.wmf"/><Relationship Id="rId2" Type="http://schemas.openxmlformats.org/officeDocument/2006/relationships/image" Target="../media/image131.wmf"/><Relationship Id="rId1" Type="http://schemas.openxmlformats.org/officeDocument/2006/relationships/image" Target="../media/image39.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image" Target="../media/image137.wmf"/><Relationship Id="rId1" Type="http://schemas.openxmlformats.org/officeDocument/2006/relationships/image" Target="../media/image136.wmf"/></Relationships>
</file>

<file path=ppt/drawings/_rels/vmlDrawing36.vml.rels><?xml version="1.0" encoding="UTF-8" standalone="yes"?>
<Relationships xmlns="http://schemas.openxmlformats.org/package/2006/relationships"><Relationship Id="rId7" Type="http://schemas.openxmlformats.org/officeDocument/2006/relationships/image" Target="../media/image145.emf"/><Relationship Id="rId6" Type="http://schemas.openxmlformats.org/officeDocument/2006/relationships/image" Target="../media/image144.emf"/><Relationship Id="rId5" Type="http://schemas.openxmlformats.org/officeDocument/2006/relationships/image" Target="../media/image143.wmf"/><Relationship Id="rId4" Type="http://schemas.openxmlformats.org/officeDocument/2006/relationships/image" Target="../media/image142.wmf"/><Relationship Id="rId3" Type="http://schemas.openxmlformats.org/officeDocument/2006/relationships/image" Target="../media/image141.wmf"/><Relationship Id="rId2" Type="http://schemas.openxmlformats.org/officeDocument/2006/relationships/image" Target="../media/image140.wmf"/><Relationship Id="rId1" Type="http://schemas.openxmlformats.org/officeDocument/2006/relationships/image" Target="../media/image139.wmf"/></Relationships>
</file>

<file path=ppt/drawings/_rels/vmlDrawing37.vml.rels><?xml version="1.0" encoding="UTF-8" standalone="yes"?>
<Relationships xmlns="http://schemas.openxmlformats.org/package/2006/relationships"><Relationship Id="rId5" Type="http://schemas.openxmlformats.org/officeDocument/2006/relationships/image" Target="../media/image150.wmf"/><Relationship Id="rId4" Type="http://schemas.openxmlformats.org/officeDocument/2006/relationships/image" Target="../media/image149.wmf"/><Relationship Id="rId3" Type="http://schemas.openxmlformats.org/officeDocument/2006/relationships/image" Target="../media/image148.wmf"/><Relationship Id="rId2" Type="http://schemas.openxmlformats.org/officeDocument/2006/relationships/image" Target="../media/image147.wmf"/><Relationship Id="rId1" Type="http://schemas.openxmlformats.org/officeDocument/2006/relationships/image" Target="../media/image146.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52.wmf"/><Relationship Id="rId1" Type="http://schemas.openxmlformats.org/officeDocument/2006/relationships/image" Target="../media/image151.wmf"/></Relationships>
</file>

<file path=ppt/drawings/_rels/vmlDrawing39.vml.rels><?xml version="1.0" encoding="UTF-8" standalone="yes"?>
<Relationships xmlns="http://schemas.openxmlformats.org/package/2006/relationships"><Relationship Id="rId4" Type="http://schemas.openxmlformats.org/officeDocument/2006/relationships/image" Target="../media/image156.wmf"/><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59.wmf"/><Relationship Id="rId2" Type="http://schemas.openxmlformats.org/officeDocument/2006/relationships/image" Target="../media/image158.wmf"/><Relationship Id="rId1" Type="http://schemas.openxmlformats.org/officeDocument/2006/relationships/image" Target="../media/image157.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image" Target="../media/image161.wmf"/><Relationship Id="rId1" Type="http://schemas.openxmlformats.org/officeDocument/2006/relationships/image" Target="../media/image160.wmf"/></Relationships>
</file>

<file path=ppt/drawings/_rels/vmlDrawing42.vml.rels><?xml version="1.0" encoding="UTF-8" standalone="yes"?>
<Relationships xmlns="http://schemas.openxmlformats.org/package/2006/relationships"><Relationship Id="rId6" Type="http://schemas.openxmlformats.org/officeDocument/2006/relationships/image" Target="../media/image168.wmf"/><Relationship Id="rId5" Type="http://schemas.openxmlformats.org/officeDocument/2006/relationships/image" Target="../media/image167.wmf"/><Relationship Id="rId4" Type="http://schemas.openxmlformats.org/officeDocument/2006/relationships/image" Target="../media/image166.wmf"/><Relationship Id="rId3" Type="http://schemas.openxmlformats.org/officeDocument/2006/relationships/image" Target="../media/image165.wmf"/><Relationship Id="rId2" Type="http://schemas.openxmlformats.org/officeDocument/2006/relationships/image" Target="../media/image164.wmf"/><Relationship Id="rId1" Type="http://schemas.openxmlformats.org/officeDocument/2006/relationships/image" Target="../media/image163.wmf"/></Relationships>
</file>

<file path=ppt/drawings/_rels/vmlDrawing43.vml.rels><?xml version="1.0" encoding="UTF-8" standalone="yes"?>
<Relationships xmlns="http://schemas.openxmlformats.org/package/2006/relationships"><Relationship Id="rId6" Type="http://schemas.openxmlformats.org/officeDocument/2006/relationships/image" Target="../media/image174.wmf"/><Relationship Id="rId5" Type="http://schemas.openxmlformats.org/officeDocument/2006/relationships/image" Target="../media/image173.wmf"/><Relationship Id="rId4" Type="http://schemas.openxmlformats.org/officeDocument/2006/relationships/image" Target="../media/image172.wmf"/><Relationship Id="rId3" Type="http://schemas.openxmlformats.org/officeDocument/2006/relationships/image" Target="../media/image171.wmf"/><Relationship Id="rId2" Type="http://schemas.openxmlformats.org/officeDocument/2006/relationships/image" Target="../media/image170.wmf"/><Relationship Id="rId1" Type="http://schemas.openxmlformats.org/officeDocument/2006/relationships/image" Target="../media/image169.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75.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7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l" eaLnBrk="1" hangingPunct="1">
              <a:defRPr sz="1300"/>
            </a:lvl1pPr>
          </a:lstStyle>
          <a:p>
            <a:pPr>
              <a:defRPr/>
            </a:pPr>
            <a:endParaRPr lang="en-US" altLang="zh-CN"/>
          </a:p>
        </p:txBody>
      </p:sp>
      <p:sp>
        <p:nvSpPr>
          <p:cNvPr id="21507" name="Rectangle 3"/>
          <p:cNvSpPr>
            <a:spLocks noGrp="1" noChangeArrowheads="1"/>
          </p:cNvSpPr>
          <p:nvPr>
            <p:ph type="dt" idx="1"/>
          </p:nvPr>
        </p:nvSpPr>
        <p:spPr bwMode="auto">
          <a:xfrm>
            <a:off x="4022937" y="0"/>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eaLnBrk="1" hangingPunct="1">
              <a:defRPr sz="1300"/>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9" name="Rectangle 5"/>
          <p:cNvSpPr>
            <a:spLocks noGrp="1" noChangeArrowheads="1"/>
          </p:cNvSpPr>
          <p:nvPr>
            <p:ph type="body" sz="quarter" idx="3"/>
          </p:nvPr>
        </p:nvSpPr>
        <p:spPr bwMode="auto">
          <a:xfrm>
            <a:off x="946574" y="4861441"/>
            <a:ext cx="5206153" cy="4605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1510" name="Rectangle 6"/>
          <p:cNvSpPr>
            <a:spLocks noGrp="1" noChangeArrowheads="1"/>
          </p:cNvSpPr>
          <p:nvPr>
            <p:ph type="ftr" sz="quarter" idx="4"/>
          </p:nvPr>
        </p:nvSpPr>
        <p:spPr bwMode="auto">
          <a:xfrm>
            <a:off x="0" y="9722882"/>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l" eaLnBrk="1" hangingPunct="1">
              <a:defRPr sz="1300"/>
            </a:lvl1pPr>
          </a:lstStyle>
          <a:p>
            <a:pPr>
              <a:defRPr/>
            </a:pPr>
            <a:endParaRPr lang="en-US" altLang="zh-CN"/>
          </a:p>
        </p:txBody>
      </p:sp>
      <p:sp>
        <p:nvSpPr>
          <p:cNvPr id="21511" name="Rectangle 7"/>
          <p:cNvSpPr>
            <a:spLocks noGrp="1" noChangeArrowheads="1"/>
          </p:cNvSpPr>
          <p:nvPr>
            <p:ph type="sldNum" sz="quarter" idx="5"/>
          </p:nvPr>
        </p:nvSpPr>
        <p:spPr bwMode="auto">
          <a:xfrm>
            <a:off x="4022937" y="9722882"/>
            <a:ext cx="3076363"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eaLnBrk="1" hangingPunct="1">
              <a:defRPr sz="1300"/>
            </a:lvl1pPr>
          </a:lstStyle>
          <a:p>
            <a:pPr>
              <a:defRPr/>
            </a:pPr>
            <a:fld id="{15885289-4832-46C1-B355-6FB86A8D593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这讲，我们来具体讨论点估计问题。</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7F32AC2-5CA0-41E2-900C-4A9051C0A65C}" type="slidenum">
              <a:rPr kumimoji="1"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fld>
            <a:endParaRPr kumimoji="1"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07F32AC2-5CA0-41E2-900C-4A9051C0A65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这讲，我们来具体讨论点估计问题。</a:t>
            </a:r>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首先是</a:t>
            </a:r>
            <a:r>
              <a:rPr lang="zh-CN" altLang="en-US" b="1" dirty="0">
                <a:solidFill>
                  <a:schemeClr val="tx1">
                    <a:lumMod val="85000"/>
                    <a:lumOff val="15000"/>
                  </a:schemeClr>
                </a:solidFill>
                <a:latin typeface="微软雅黑" panose="020B0503020204020204" pitchFamily="34" charset="-122"/>
                <a:ea typeface="微软雅黑" panose="020B0503020204020204" pitchFamily="34" charset="-122"/>
              </a:rPr>
              <a:t>点估计问题的一般提法</a:t>
            </a:r>
            <a:endParaRPr lang="zh-CN" altLang="en-US" b="1" dirty="0">
              <a:solidFill>
                <a:schemeClr val="tx1">
                  <a:lumMod val="85000"/>
                  <a:lumOff val="15000"/>
                </a:schemeClr>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07F32AC2-5CA0-41E2-900C-4A9051C0A65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D30656A7-02AA-4A2D-BACF-ACB4D6EAE514}"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764DE79-268F-4C1A-8933-263129D2AF90}"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hyperlink" Target="../&#27010;&#29575;&#35770;&#19982;&#25968;&#29702;&#32479;&#35745;&#20027;&#30028;&#38754;.PPT#-1,5,&#24187;&#28783;&#29255;%205" TargetMode="Externa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7" name="Oval 36">
            <a:hlinkClick r:id="rId12" action="ppaction://hlinkpres?slideindex=5&amp;slidetitle=幻灯片 5" highlightClick="1"/>
          </p:cNvPr>
          <p:cNvSpPr>
            <a:spLocks noChangeArrowheads="1"/>
          </p:cNvSpPr>
          <p:nvPr userDrawn="1"/>
        </p:nvSpPr>
        <p:spPr bwMode="auto">
          <a:xfrm>
            <a:off x="10369551" y="188914"/>
            <a:ext cx="1488016" cy="395287"/>
          </a:xfrm>
          <a:prstGeom prst="ellipse">
            <a:avLst/>
          </a:prstGeom>
          <a:gradFill rotWithShape="1">
            <a:gsLst>
              <a:gs pos="0">
                <a:srgbClr val="660033">
                  <a:alpha val="73000"/>
                </a:srgbClr>
              </a:gs>
              <a:gs pos="50000">
                <a:srgbClr val="33CCCC">
                  <a:alpha val="89000"/>
                </a:srgbClr>
              </a:gs>
              <a:gs pos="100000">
                <a:srgbClr val="660033">
                  <a:alpha val="73000"/>
                </a:srgbClr>
              </a:gs>
            </a:gsLst>
            <a:lin ang="5400000" scaled="1"/>
          </a:gradFill>
          <a:ln>
            <a:noFill/>
          </a:ln>
          <a:effectLst/>
          <a:scene3d>
            <a:camera prst="legacyObliqueRight"/>
            <a:lightRig rig="legacyFlat3" dir="b"/>
          </a:scene3d>
          <a:sp3d extrusionH="2016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zh-CN" altLang="en-US" sz="1800" b="1">
                <a:solidFill>
                  <a:srgbClr val="FFFF99"/>
                </a:solidFill>
              </a:rPr>
              <a:t>概率论 </a:t>
            </a:r>
            <a:endParaRPr lang="zh-CN" altLang="en-US" sz="2400">
              <a:solidFill>
                <a:srgbClr val="FFFF99"/>
              </a:solidFill>
            </a:endParaRPr>
          </a:p>
        </p:txBody>
      </p:sp>
      <p:grpSp>
        <p:nvGrpSpPr>
          <p:cNvPr id="8" name="Group 37"/>
          <p:cNvGrpSpPr/>
          <p:nvPr userDrawn="1"/>
        </p:nvGrpSpPr>
        <p:grpSpPr bwMode="auto">
          <a:xfrm>
            <a:off x="9408584" y="6346825"/>
            <a:ext cx="719667" cy="395288"/>
            <a:chOff x="4740" y="3453"/>
            <a:chExt cx="340" cy="249"/>
          </a:xfrm>
        </p:grpSpPr>
        <p:sp>
          <p:nvSpPr>
            <p:cNvPr id="9" name="Oval 38">
              <a:hlinkClick r:id="" action="ppaction://hlinkshowjump?jump=nextslide" highlightClick="1"/>
            </p:cNvPr>
            <p:cNvSpPr>
              <a:spLocks noChangeArrowheads="1"/>
            </p:cNvSpPr>
            <p:nvPr userDrawn="1"/>
          </p:nvSpPr>
          <p:spPr bwMode="auto">
            <a:xfrm rot="-5400000">
              <a:off x="4785"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Righ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0" name="AutoShape 39">
              <a:hlinkClick r:id="" action="ppaction://hlinkshowjump?jump=previousslide" highlightClick="1"/>
            </p:cNvPr>
            <p:cNvSpPr>
              <a:spLocks noChangeArrowheads="1"/>
            </p:cNvSpPr>
            <p:nvPr userDrawn="1"/>
          </p:nvSpPr>
          <p:spPr bwMode="auto">
            <a:xfrm>
              <a:off x="4808"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11" name="Group 40"/>
          <p:cNvGrpSpPr/>
          <p:nvPr userDrawn="1"/>
        </p:nvGrpSpPr>
        <p:grpSpPr bwMode="auto">
          <a:xfrm>
            <a:off x="10369551" y="6346825"/>
            <a:ext cx="719667" cy="395288"/>
            <a:chOff x="5239" y="3453"/>
            <a:chExt cx="340" cy="249"/>
          </a:xfrm>
        </p:grpSpPr>
        <p:sp>
          <p:nvSpPr>
            <p:cNvPr id="12" name="Oval 41">
              <a:hlinkClick r:id="" action="ppaction://hlinkshowjump?jump=nextslide" highlightClick="1"/>
            </p:cNvPr>
            <p:cNvSpPr>
              <a:spLocks noChangeArrowheads="1"/>
            </p:cNvSpPr>
            <p:nvPr userDrawn="1"/>
          </p:nvSpPr>
          <p:spPr bwMode="auto">
            <a:xfrm rot="-5400000">
              <a:off x="5284"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3" name="AutoShape 42">
              <a:hlinkClick r:id="" action="ppaction://hlinkshowjump?jump=previousslide" highlightClick="1"/>
            </p:cNvPr>
            <p:cNvSpPr>
              <a:spLocks noChangeArrowheads="1"/>
            </p:cNvSpPr>
            <p:nvPr userDrawn="1"/>
          </p:nvSpPr>
          <p:spPr bwMode="auto">
            <a:xfrm flipH="1">
              <a:off x="5307"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14" name="Group 43"/>
          <p:cNvGrpSpPr/>
          <p:nvPr userDrawn="1"/>
        </p:nvGrpSpPr>
        <p:grpSpPr bwMode="auto">
          <a:xfrm>
            <a:off x="9408584" y="6346825"/>
            <a:ext cx="719667" cy="395288"/>
            <a:chOff x="4740" y="3453"/>
            <a:chExt cx="340" cy="249"/>
          </a:xfrm>
        </p:grpSpPr>
        <p:sp>
          <p:nvSpPr>
            <p:cNvPr id="15" name="Oval 44">
              <a:hlinkClick r:id="" action="ppaction://hlinkshowjump?jump=nextslide" highlightClick="1"/>
            </p:cNvPr>
            <p:cNvSpPr>
              <a:spLocks noChangeArrowheads="1"/>
            </p:cNvSpPr>
            <p:nvPr userDrawn="1"/>
          </p:nvSpPr>
          <p:spPr bwMode="auto">
            <a:xfrm rot="-5400000">
              <a:off x="4785"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Righ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6" name="AutoShape 45">
              <a:hlinkClick r:id="" action="ppaction://hlinkshowjump?jump=previousslide" highlightClick="1"/>
            </p:cNvPr>
            <p:cNvSpPr>
              <a:spLocks noChangeArrowheads="1"/>
            </p:cNvSpPr>
            <p:nvPr userDrawn="1"/>
          </p:nvSpPr>
          <p:spPr bwMode="auto">
            <a:xfrm>
              <a:off x="4808"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17" name="Group 46"/>
          <p:cNvGrpSpPr/>
          <p:nvPr userDrawn="1"/>
        </p:nvGrpSpPr>
        <p:grpSpPr bwMode="auto">
          <a:xfrm>
            <a:off x="10369551" y="6346825"/>
            <a:ext cx="719667" cy="395288"/>
            <a:chOff x="5239" y="3453"/>
            <a:chExt cx="340" cy="249"/>
          </a:xfrm>
        </p:grpSpPr>
        <p:sp>
          <p:nvSpPr>
            <p:cNvPr id="18" name="Oval 47">
              <a:hlinkClick r:id="" action="ppaction://hlinkshowjump?jump=nextslide" highlightClick="1"/>
            </p:cNvPr>
            <p:cNvSpPr>
              <a:spLocks noChangeArrowheads="1"/>
            </p:cNvSpPr>
            <p:nvPr userDrawn="1"/>
          </p:nvSpPr>
          <p:spPr bwMode="auto">
            <a:xfrm rot="-5400000">
              <a:off x="5284" y="3408"/>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19" name="AutoShape 48">
              <a:hlinkClick r:id="" action="ppaction://hlinkshowjump?jump=previousslide" highlightClick="1"/>
            </p:cNvPr>
            <p:cNvSpPr>
              <a:spLocks noChangeArrowheads="1"/>
            </p:cNvSpPr>
            <p:nvPr userDrawn="1"/>
          </p:nvSpPr>
          <p:spPr bwMode="auto">
            <a:xfrm flipH="1">
              <a:off x="5307" y="3498"/>
              <a:ext cx="227" cy="181"/>
            </a:xfrm>
            <a:prstGeom prst="leftArrow">
              <a:avLst>
                <a:gd name="adj1" fmla="val 36269"/>
                <a:gd name="adj2" fmla="val 57394"/>
              </a:avLst>
            </a:prstGeom>
            <a:gradFill rotWithShape="1">
              <a:gsLst>
                <a:gs pos="0">
                  <a:srgbClr val="2F0018"/>
                </a:gs>
                <a:gs pos="50000">
                  <a:srgbClr val="660033"/>
                </a:gs>
                <a:gs pos="100000">
                  <a:srgbClr val="2F0018"/>
                </a:gs>
              </a:gsLst>
              <a:lin ang="5400000" scaled="1"/>
            </a:gra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grpSp>
        <p:nvGrpSpPr>
          <p:cNvPr id="20" name="Group 49"/>
          <p:cNvGrpSpPr/>
          <p:nvPr userDrawn="1"/>
        </p:nvGrpSpPr>
        <p:grpSpPr bwMode="auto">
          <a:xfrm>
            <a:off x="11233151" y="6346825"/>
            <a:ext cx="719667" cy="395288"/>
            <a:chOff x="5307" y="3998"/>
            <a:chExt cx="340" cy="249"/>
          </a:xfrm>
        </p:grpSpPr>
        <p:sp>
          <p:nvSpPr>
            <p:cNvPr id="21" name="Oval 50">
              <a:hlinkClick r:id="" action="ppaction://hlinkshowjump?jump=firstslide" highlightClick="1"/>
            </p:cNvPr>
            <p:cNvSpPr>
              <a:spLocks noChangeArrowheads="1"/>
            </p:cNvSpPr>
            <p:nvPr userDrawn="1"/>
          </p:nvSpPr>
          <p:spPr bwMode="auto">
            <a:xfrm rot="-5400000">
              <a:off x="5352" y="3953"/>
              <a:ext cx="249" cy="340"/>
            </a:xfrm>
            <a:prstGeom prst="ellipse">
              <a:avLst/>
            </a:prstGeom>
            <a:gradFill rotWithShape="1">
              <a:gsLst>
                <a:gs pos="0">
                  <a:srgbClr val="660033">
                    <a:alpha val="62000"/>
                  </a:srgbClr>
                </a:gs>
                <a:gs pos="50000">
                  <a:srgbClr val="33CCCC">
                    <a:alpha val="81000"/>
                  </a:srgbClr>
                </a:gs>
                <a:gs pos="100000">
                  <a:srgbClr val="660033">
                    <a:alpha val="62000"/>
                  </a:srgbClr>
                </a:gs>
              </a:gsLst>
              <a:lin ang="5400000" scaled="1"/>
            </a:gradFill>
            <a:ln>
              <a:noFill/>
            </a:ln>
            <a:effectLst/>
            <a:scene3d>
              <a:camera prst="legacyObliqueLeft"/>
              <a:lightRig rig="legacyFlat3" dir="b"/>
            </a:scene3d>
            <a:sp3d extrusionH="87300" prstMaterial="legacyMatte">
              <a:bevelT w="13500" h="13500" prst="angle"/>
              <a:bevelB w="13500" h="13500" prst="angle"/>
              <a:extrusionClr>
                <a:srgbClr val="660033"/>
              </a:extrusionClr>
              <a:contourClr>
                <a:srgbClr val="660033"/>
              </a:contourClr>
            </a:sp3d>
            <a:extLst>
              <a:ext uri="{91240B29-F687-4F45-9708-019B960494DF}">
                <a14:hiddenLine xmlns:a14="http://schemas.microsoft.com/office/drawing/2010/main" w="9525">
                  <a:noFill/>
                  <a:round/>
                </a14:hiddenLine>
              </a:ex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wrap="none" anchor="ctr">
              <a:flatTx/>
            </a:bodyPr>
            <a:lstStyle/>
            <a:p>
              <a:pPr algn="ctr" eaLnBrk="1" hangingPunct="1">
                <a:defRPr/>
              </a:pPr>
              <a:endParaRPr lang="zh-CN" altLang="en-US" sz="2400"/>
            </a:p>
          </p:txBody>
        </p:sp>
        <p:sp>
          <p:nvSpPr>
            <p:cNvPr id="22" name="AutoShape 51">
              <a:hlinkClick r:id="" action="ppaction://hlinkshowjump?jump=firstslide"/>
            </p:cNvPr>
            <p:cNvSpPr>
              <a:spLocks noChangeArrowheads="1"/>
            </p:cNvSpPr>
            <p:nvPr userDrawn="1"/>
          </p:nvSpPr>
          <p:spPr bwMode="auto">
            <a:xfrm>
              <a:off x="5409" y="4021"/>
              <a:ext cx="136" cy="204"/>
            </a:xfrm>
            <a:prstGeom prst="upArrow">
              <a:avLst>
                <a:gd name="adj1" fmla="val 49676"/>
                <a:gd name="adj2" fmla="val 70979"/>
              </a:avLst>
            </a:prstGeom>
            <a:solidFill>
              <a:srgbClr val="660033"/>
            </a:solidFill>
            <a:ln>
              <a:noFill/>
            </a:ln>
            <a:effectLst/>
            <a:extLst>
              <a:ext uri="{91240B29-F687-4F45-9708-019B960494DF}">
                <a14:hiddenLine xmlns:a14="http://schemas.microsoft.com/office/drawing/2010/main" w="9525">
                  <a:solidFill>
                    <a:srgbClr val="FFFF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lgn="ctr">
                <a:defRPr kumimoji="1" sz="2400">
                  <a:solidFill>
                    <a:schemeClr val="tx1"/>
                  </a:solidFill>
                  <a:latin typeface="Times New Roman" panose="02020603050405020304" pitchFamily="18" charset="0"/>
                  <a:ea typeface="宋体" panose="02010600030101010101" pitchFamily="2" charset="-122"/>
                </a:defRPr>
              </a:lvl1pPr>
              <a:lvl2pPr marL="742950" indent="-285750" algn="ctr">
                <a:defRPr kumimoji="1" sz="2400">
                  <a:solidFill>
                    <a:schemeClr val="tx1"/>
                  </a:solidFill>
                  <a:latin typeface="Times New Roman" panose="02020603050405020304" pitchFamily="18" charset="0"/>
                  <a:ea typeface="宋体" panose="02010600030101010101" pitchFamily="2" charset="-122"/>
                </a:defRPr>
              </a:lvl2pPr>
              <a:lvl3pPr marL="1143000" indent="-228600" algn="ctr">
                <a:defRPr kumimoji="1" sz="2400">
                  <a:solidFill>
                    <a:schemeClr val="tx1"/>
                  </a:solidFill>
                  <a:latin typeface="Times New Roman" panose="02020603050405020304" pitchFamily="18" charset="0"/>
                  <a:ea typeface="宋体" panose="02010600030101010101" pitchFamily="2" charset="-122"/>
                </a:defRPr>
              </a:lvl3pPr>
              <a:lvl4pPr marL="1600200" indent="-228600" algn="ctr">
                <a:defRPr kumimoji="1" sz="2400">
                  <a:solidFill>
                    <a:schemeClr val="tx1"/>
                  </a:solidFill>
                  <a:latin typeface="Times New Roman" panose="02020603050405020304" pitchFamily="18" charset="0"/>
                  <a:ea typeface="宋体" panose="02010600030101010101" pitchFamily="2" charset="-122"/>
                </a:defRPr>
              </a:lvl4pPr>
              <a:lvl5pPr marL="2057400" indent="-228600" algn="ctr">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z="2400"/>
            </a:p>
          </p:txBody>
        </p:sp>
      </p:grpSp>
      <p:sp>
        <p:nvSpPr>
          <p:cNvPr id="23" name="矩形 22"/>
          <p:cNvSpPr/>
          <p:nvPr userDrawn="1"/>
        </p:nvSpPr>
        <p:spPr>
          <a:xfrm>
            <a:off x="0" y="0"/>
            <a:ext cx="12192000" cy="6858000"/>
          </a:xfrm>
          <a:prstGeom prst="rect">
            <a:avLst/>
          </a:prstGeom>
          <a:gradFill flip="none" rotWithShape="1">
            <a:gsLst>
              <a:gs pos="0">
                <a:srgbClr val="F5F5F5"/>
              </a:gs>
              <a:gs pos="73000">
                <a:srgbClr val="F3F3F3"/>
              </a:gs>
              <a:gs pos="100000">
                <a:srgbClr val="E2DEDF"/>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rtlCol="0" anchor="ctr"/>
          <a:lstStyle/>
          <a:p>
            <a:pPr algn="ctr" defTabSz="913765"/>
            <a:endParaRPr lang="zh-CN" altLang="en-US" sz="1865">
              <a:solidFill>
                <a:prstClr val="white"/>
              </a:solidFill>
            </a:endParaRPr>
          </a:p>
        </p:txBody>
      </p:sp>
      <p:pic>
        <p:nvPicPr>
          <p:cNvPr id="24" name="图片 2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5414" y="0"/>
            <a:ext cx="12179586" cy="685958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6.wmf"/><Relationship Id="rId7" Type="http://schemas.openxmlformats.org/officeDocument/2006/relationships/oleObject" Target="../embeddings/oleObject4.bin"/><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 Id="rId35" Type="http://schemas.openxmlformats.org/officeDocument/2006/relationships/vmlDrawing" Target="../drawings/vmlDrawing1.vml"/><Relationship Id="rId34" Type="http://schemas.openxmlformats.org/officeDocument/2006/relationships/slideLayout" Target="../slideLayouts/slideLayout7.xml"/><Relationship Id="rId33" Type="http://schemas.openxmlformats.org/officeDocument/2006/relationships/oleObject" Target="../embeddings/oleObject17.bin"/><Relationship Id="rId32" Type="http://schemas.openxmlformats.org/officeDocument/2006/relationships/image" Target="../media/image18.wmf"/><Relationship Id="rId31" Type="http://schemas.openxmlformats.org/officeDocument/2006/relationships/oleObject" Target="../embeddings/oleObject16.bin"/><Relationship Id="rId30" Type="http://schemas.openxmlformats.org/officeDocument/2006/relationships/image" Target="../media/image17.wmf"/><Relationship Id="rId3" Type="http://schemas.openxmlformats.org/officeDocument/2006/relationships/oleObject" Target="../embeddings/oleObject2.bin"/><Relationship Id="rId29" Type="http://schemas.openxmlformats.org/officeDocument/2006/relationships/oleObject" Target="../embeddings/oleObject15.bin"/><Relationship Id="rId28" Type="http://schemas.openxmlformats.org/officeDocument/2006/relationships/image" Target="../media/image16.wmf"/><Relationship Id="rId27" Type="http://schemas.openxmlformats.org/officeDocument/2006/relationships/oleObject" Target="../embeddings/oleObject14.bin"/><Relationship Id="rId26" Type="http://schemas.openxmlformats.org/officeDocument/2006/relationships/image" Target="../media/image15.wmf"/><Relationship Id="rId25" Type="http://schemas.openxmlformats.org/officeDocument/2006/relationships/oleObject" Target="../embeddings/oleObject13.bin"/><Relationship Id="rId24" Type="http://schemas.openxmlformats.org/officeDocument/2006/relationships/image" Target="../media/image14.wmf"/><Relationship Id="rId23" Type="http://schemas.openxmlformats.org/officeDocument/2006/relationships/oleObject" Target="../embeddings/oleObject12.bin"/><Relationship Id="rId22" Type="http://schemas.openxmlformats.org/officeDocument/2006/relationships/image" Target="../media/image13.wmf"/><Relationship Id="rId21" Type="http://schemas.openxmlformats.org/officeDocument/2006/relationships/oleObject" Target="../embeddings/oleObject11.bin"/><Relationship Id="rId20" Type="http://schemas.openxmlformats.org/officeDocument/2006/relationships/image" Target="../media/image12.wmf"/><Relationship Id="rId2" Type="http://schemas.openxmlformats.org/officeDocument/2006/relationships/image" Target="../media/image3.wmf"/><Relationship Id="rId19" Type="http://schemas.openxmlformats.org/officeDocument/2006/relationships/oleObject" Target="../embeddings/oleObject10.bin"/><Relationship Id="rId18" Type="http://schemas.openxmlformats.org/officeDocument/2006/relationships/image" Target="../media/image11.wmf"/><Relationship Id="rId17" Type="http://schemas.openxmlformats.org/officeDocument/2006/relationships/oleObject" Target="../embeddings/oleObject9.bin"/><Relationship Id="rId16" Type="http://schemas.openxmlformats.org/officeDocument/2006/relationships/image" Target="../media/image10.wmf"/><Relationship Id="rId15" Type="http://schemas.openxmlformats.org/officeDocument/2006/relationships/oleObject" Target="../embeddings/oleObject8.bin"/><Relationship Id="rId14" Type="http://schemas.openxmlformats.org/officeDocument/2006/relationships/image" Target="../media/image9.wmf"/><Relationship Id="rId13" Type="http://schemas.openxmlformats.org/officeDocument/2006/relationships/oleObject" Target="../embeddings/oleObject7.bin"/><Relationship Id="rId12" Type="http://schemas.openxmlformats.org/officeDocument/2006/relationships/image" Target="../media/image8.wmf"/><Relationship Id="rId11" Type="http://schemas.openxmlformats.org/officeDocument/2006/relationships/oleObject" Target="../embeddings/oleObject6.bin"/><Relationship Id="rId10" Type="http://schemas.openxmlformats.org/officeDocument/2006/relationships/image" Target="../media/image7.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21.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34.wmf"/><Relationship Id="rId3" Type="http://schemas.openxmlformats.org/officeDocument/2006/relationships/oleObject" Target="../embeddings/oleObject19.bin"/><Relationship Id="rId2" Type="http://schemas.openxmlformats.org/officeDocument/2006/relationships/image" Target="../media/image33.wmf"/><Relationship Id="rId1" Type="http://schemas.openxmlformats.org/officeDocument/2006/relationships/oleObject" Target="../embeddings/oleObject18.bin"/></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35.wmf"/><Relationship Id="rId1" Type="http://schemas.openxmlformats.org/officeDocument/2006/relationships/oleObject" Target="../embeddings/oleObject20.bin"/></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37.wmf"/><Relationship Id="rId3" Type="http://schemas.openxmlformats.org/officeDocument/2006/relationships/oleObject" Target="../embeddings/oleObject22.bin"/><Relationship Id="rId2" Type="http://schemas.openxmlformats.org/officeDocument/2006/relationships/image" Target="../media/image36.wmf"/><Relationship Id="rId1" Type="http://schemas.openxmlformats.org/officeDocument/2006/relationships/oleObject" Target="../embeddings/oleObject2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38.wmf"/><Relationship Id="rId1" Type="http://schemas.openxmlformats.org/officeDocument/2006/relationships/oleObject" Target="../embeddings/oleObject23.bin"/></Relationships>
</file>

<file path=ppt/slides/_rels/slide13.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7.xml"/><Relationship Id="rId5" Type="http://schemas.openxmlformats.org/officeDocument/2006/relationships/image" Target="../media/image40.wmf"/><Relationship Id="rId4" Type="http://schemas.openxmlformats.org/officeDocument/2006/relationships/oleObject" Target="../embeddings/oleObject26.bin"/><Relationship Id="rId3" Type="http://schemas.openxmlformats.org/officeDocument/2006/relationships/oleObject" Target="../embeddings/oleObject25.bin"/><Relationship Id="rId2" Type="http://schemas.openxmlformats.org/officeDocument/2006/relationships/image" Target="../media/image39.wmf"/><Relationship Id="rId1" Type="http://schemas.openxmlformats.org/officeDocument/2006/relationships/oleObject" Target="../embeddings/oleObject24.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31.bin"/><Relationship Id="rId8" Type="http://schemas.openxmlformats.org/officeDocument/2006/relationships/image" Target="../media/image44.wmf"/><Relationship Id="rId7" Type="http://schemas.openxmlformats.org/officeDocument/2006/relationships/oleObject" Target="../embeddings/oleObject30.bin"/><Relationship Id="rId6" Type="http://schemas.openxmlformats.org/officeDocument/2006/relationships/image" Target="../media/image43.wmf"/><Relationship Id="rId5" Type="http://schemas.openxmlformats.org/officeDocument/2006/relationships/oleObject" Target="../embeddings/oleObject29.bin"/><Relationship Id="rId4" Type="http://schemas.openxmlformats.org/officeDocument/2006/relationships/image" Target="../media/image42.wmf"/><Relationship Id="rId3" Type="http://schemas.openxmlformats.org/officeDocument/2006/relationships/oleObject" Target="../embeddings/oleObject28.bin"/><Relationship Id="rId20" Type="http://schemas.openxmlformats.org/officeDocument/2006/relationships/vmlDrawing" Target="../drawings/vmlDrawing7.vml"/><Relationship Id="rId2" Type="http://schemas.openxmlformats.org/officeDocument/2006/relationships/image" Target="../media/image41.wmf"/><Relationship Id="rId19" Type="http://schemas.openxmlformats.org/officeDocument/2006/relationships/slideLayout" Target="../slideLayouts/slideLayout7.xml"/><Relationship Id="rId18" Type="http://schemas.openxmlformats.org/officeDocument/2006/relationships/image" Target="../media/image49.wmf"/><Relationship Id="rId17" Type="http://schemas.openxmlformats.org/officeDocument/2006/relationships/oleObject" Target="../embeddings/oleObject35.bin"/><Relationship Id="rId16" Type="http://schemas.openxmlformats.org/officeDocument/2006/relationships/image" Target="../media/image48.wmf"/><Relationship Id="rId15" Type="http://schemas.openxmlformats.org/officeDocument/2006/relationships/oleObject" Target="../embeddings/oleObject34.bin"/><Relationship Id="rId14" Type="http://schemas.openxmlformats.org/officeDocument/2006/relationships/image" Target="../media/image47.wmf"/><Relationship Id="rId13" Type="http://schemas.openxmlformats.org/officeDocument/2006/relationships/oleObject" Target="../embeddings/oleObject33.bin"/><Relationship Id="rId12" Type="http://schemas.openxmlformats.org/officeDocument/2006/relationships/image" Target="../media/image46.wmf"/><Relationship Id="rId11" Type="http://schemas.openxmlformats.org/officeDocument/2006/relationships/oleObject" Target="../embeddings/oleObject32.bin"/><Relationship Id="rId10" Type="http://schemas.openxmlformats.org/officeDocument/2006/relationships/image" Target="../media/image45.wmf"/><Relationship Id="rId1" Type="http://schemas.openxmlformats.org/officeDocument/2006/relationships/oleObject" Target="../embeddings/oleObject27.bin"/></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3.wmf"/><Relationship Id="rId7" Type="http://schemas.openxmlformats.org/officeDocument/2006/relationships/oleObject" Target="../embeddings/oleObject39.bin"/><Relationship Id="rId6" Type="http://schemas.openxmlformats.org/officeDocument/2006/relationships/image" Target="../media/image52.wmf"/><Relationship Id="rId5" Type="http://schemas.openxmlformats.org/officeDocument/2006/relationships/oleObject" Target="../embeddings/oleObject38.bin"/><Relationship Id="rId4" Type="http://schemas.openxmlformats.org/officeDocument/2006/relationships/image" Target="../media/image51.wmf"/><Relationship Id="rId3" Type="http://schemas.openxmlformats.org/officeDocument/2006/relationships/oleObject" Target="../embeddings/oleObject37.bin"/><Relationship Id="rId2" Type="http://schemas.openxmlformats.org/officeDocument/2006/relationships/image" Target="../media/image50.wmf"/><Relationship Id="rId10" Type="http://schemas.openxmlformats.org/officeDocument/2006/relationships/vmlDrawing" Target="../drawings/vmlDrawing8.vml"/><Relationship Id="rId1" Type="http://schemas.openxmlformats.org/officeDocument/2006/relationships/oleObject" Target="../embeddings/oleObject36.bin"/></Relationships>
</file>

<file path=ppt/slides/_rels/slide17.xml.rels><?xml version="1.0" encoding="UTF-8" standalone="yes"?>
<Relationships xmlns="http://schemas.openxmlformats.org/package/2006/relationships"><Relationship Id="rId9" Type="http://schemas.openxmlformats.org/officeDocument/2006/relationships/vmlDrawing" Target="../drawings/vmlDrawing9.vml"/><Relationship Id="rId8" Type="http://schemas.openxmlformats.org/officeDocument/2006/relationships/slideLayout" Target="../slideLayouts/slideLayout7.xml"/><Relationship Id="rId7" Type="http://schemas.openxmlformats.org/officeDocument/2006/relationships/image" Target="../media/image57.png"/><Relationship Id="rId6" Type="http://schemas.openxmlformats.org/officeDocument/2006/relationships/image" Target="../media/image56.wmf"/><Relationship Id="rId5" Type="http://schemas.openxmlformats.org/officeDocument/2006/relationships/oleObject" Target="../embeddings/oleObject42.bin"/><Relationship Id="rId4" Type="http://schemas.openxmlformats.org/officeDocument/2006/relationships/image" Target="../media/image55.wmf"/><Relationship Id="rId3" Type="http://schemas.openxmlformats.org/officeDocument/2006/relationships/oleObject" Target="../embeddings/oleObject41.bin"/><Relationship Id="rId2" Type="http://schemas.openxmlformats.org/officeDocument/2006/relationships/image" Target="../media/image54.wmf"/><Relationship Id="rId1" Type="http://schemas.openxmlformats.org/officeDocument/2006/relationships/oleObject" Target="../embeddings/oleObject40.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7.xml"/><Relationship Id="rId4" Type="http://schemas.openxmlformats.org/officeDocument/2006/relationships/image" Target="../media/image59.wmf"/><Relationship Id="rId3" Type="http://schemas.openxmlformats.org/officeDocument/2006/relationships/oleObject" Target="../embeddings/oleObject44.bin"/><Relationship Id="rId2" Type="http://schemas.openxmlformats.org/officeDocument/2006/relationships/image" Target="../media/image58.wmf"/><Relationship Id="rId1" Type="http://schemas.openxmlformats.org/officeDocument/2006/relationships/oleObject" Target="../embeddings/oleObject43.bin"/></Relationships>
</file>

<file path=ppt/slides/_rels/slide20.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7.xml"/><Relationship Id="rId3" Type="http://schemas.openxmlformats.org/officeDocument/2006/relationships/image" Target="../media/image61.png"/><Relationship Id="rId2" Type="http://schemas.openxmlformats.org/officeDocument/2006/relationships/image" Target="../media/image60.wmf"/><Relationship Id="rId1" Type="http://schemas.openxmlformats.org/officeDocument/2006/relationships/oleObject" Target="../embeddings/oleObject45.bin"/></Relationships>
</file>

<file path=ppt/slides/_rels/slide21.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7.xml"/><Relationship Id="rId4" Type="http://schemas.openxmlformats.org/officeDocument/2006/relationships/image" Target="../media/image63.wmf"/><Relationship Id="rId3" Type="http://schemas.openxmlformats.org/officeDocument/2006/relationships/oleObject" Target="../embeddings/oleObject47.bin"/><Relationship Id="rId2" Type="http://schemas.openxmlformats.org/officeDocument/2006/relationships/image" Target="../media/image62.wmf"/><Relationship Id="rId1" Type="http://schemas.openxmlformats.org/officeDocument/2006/relationships/oleObject" Target="../embeddings/oleObject46.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vmlDrawing" Target="../drawings/vmlDrawing13.vml"/><Relationship Id="rId7" Type="http://schemas.openxmlformats.org/officeDocument/2006/relationships/slideLayout" Target="../slideLayouts/slideLayout7.xml"/><Relationship Id="rId6" Type="http://schemas.openxmlformats.org/officeDocument/2006/relationships/image" Target="../media/image66.wmf"/><Relationship Id="rId5" Type="http://schemas.openxmlformats.org/officeDocument/2006/relationships/oleObject" Target="../embeddings/oleObject50.bin"/><Relationship Id="rId4" Type="http://schemas.openxmlformats.org/officeDocument/2006/relationships/image" Target="../media/image65.wmf"/><Relationship Id="rId3" Type="http://schemas.openxmlformats.org/officeDocument/2006/relationships/oleObject" Target="../embeddings/oleObject49.bin"/><Relationship Id="rId2" Type="http://schemas.openxmlformats.org/officeDocument/2006/relationships/image" Target="../media/image64.wmf"/><Relationship Id="rId1" Type="http://schemas.openxmlformats.org/officeDocument/2006/relationships/oleObject" Target="../embeddings/oleObject48.bin"/></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7.xml"/><Relationship Id="rId2" Type="http://schemas.openxmlformats.org/officeDocument/2006/relationships/image" Target="../media/image67.wmf"/><Relationship Id="rId1" Type="http://schemas.openxmlformats.org/officeDocument/2006/relationships/oleObject" Target="../embeddings/oleObject51.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71.wmf"/><Relationship Id="rId7" Type="http://schemas.openxmlformats.org/officeDocument/2006/relationships/oleObject" Target="../embeddings/oleObject55.bin"/><Relationship Id="rId6" Type="http://schemas.openxmlformats.org/officeDocument/2006/relationships/image" Target="../media/image70.wmf"/><Relationship Id="rId5" Type="http://schemas.openxmlformats.org/officeDocument/2006/relationships/oleObject" Target="../embeddings/oleObject54.bin"/><Relationship Id="rId4" Type="http://schemas.openxmlformats.org/officeDocument/2006/relationships/image" Target="../media/image69.wmf"/><Relationship Id="rId3" Type="http://schemas.openxmlformats.org/officeDocument/2006/relationships/oleObject" Target="../embeddings/oleObject53.bin"/><Relationship Id="rId2" Type="http://schemas.openxmlformats.org/officeDocument/2006/relationships/image" Target="../media/image68.wmf"/><Relationship Id="rId14" Type="http://schemas.openxmlformats.org/officeDocument/2006/relationships/vmlDrawing" Target="../drawings/vmlDrawing15.vml"/><Relationship Id="rId13" Type="http://schemas.openxmlformats.org/officeDocument/2006/relationships/slideLayout" Target="../slideLayouts/slideLayout7.xml"/><Relationship Id="rId12" Type="http://schemas.openxmlformats.org/officeDocument/2006/relationships/image" Target="../media/image73.wmf"/><Relationship Id="rId11" Type="http://schemas.openxmlformats.org/officeDocument/2006/relationships/oleObject" Target="../embeddings/oleObject57.bin"/><Relationship Id="rId10" Type="http://schemas.openxmlformats.org/officeDocument/2006/relationships/image" Target="../media/image72.wmf"/><Relationship Id="rId1" Type="http://schemas.openxmlformats.org/officeDocument/2006/relationships/oleObject" Target="../embeddings/oleObject52.bin"/></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7.xml"/><Relationship Id="rId4" Type="http://schemas.openxmlformats.org/officeDocument/2006/relationships/image" Target="../media/image75.wmf"/><Relationship Id="rId3" Type="http://schemas.openxmlformats.org/officeDocument/2006/relationships/oleObject" Target="../embeddings/oleObject59.bin"/><Relationship Id="rId2" Type="http://schemas.openxmlformats.org/officeDocument/2006/relationships/image" Target="../media/image74.wmf"/><Relationship Id="rId1" Type="http://schemas.openxmlformats.org/officeDocument/2006/relationships/oleObject" Target="../embeddings/oleObject58.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vmlDrawing" Target="../drawings/vmlDrawing17.vml"/><Relationship Id="rId7" Type="http://schemas.openxmlformats.org/officeDocument/2006/relationships/slideLayout" Target="../slideLayouts/slideLayout2.xml"/><Relationship Id="rId6" Type="http://schemas.openxmlformats.org/officeDocument/2006/relationships/image" Target="../media/image77.wmf"/><Relationship Id="rId5" Type="http://schemas.openxmlformats.org/officeDocument/2006/relationships/oleObject" Target="../embeddings/oleObject62.bin"/><Relationship Id="rId4" Type="http://schemas.openxmlformats.org/officeDocument/2006/relationships/image" Target="../media/image76.wmf"/><Relationship Id="rId3" Type="http://schemas.openxmlformats.org/officeDocument/2006/relationships/oleObject" Target="../embeddings/oleObject61.bin"/><Relationship Id="rId2" Type="http://schemas.openxmlformats.org/officeDocument/2006/relationships/image" Target="../media/image52.wmf"/><Relationship Id="rId1" Type="http://schemas.openxmlformats.org/officeDocument/2006/relationships/oleObject" Target="../embeddings/oleObject60.bin"/></Relationships>
</file>

<file path=ppt/slides/_rels/slide30.xml.rels><?xml version="1.0" encoding="UTF-8" standalone="yes"?>
<Relationships xmlns="http://schemas.openxmlformats.org/package/2006/relationships"><Relationship Id="rId6" Type="http://schemas.openxmlformats.org/officeDocument/2006/relationships/vmlDrawing" Target="../drawings/vmlDrawing18.vml"/><Relationship Id="rId5" Type="http://schemas.openxmlformats.org/officeDocument/2006/relationships/slideLayout" Target="../slideLayouts/slideLayout2.xml"/><Relationship Id="rId4" Type="http://schemas.openxmlformats.org/officeDocument/2006/relationships/image" Target="../media/image79.wmf"/><Relationship Id="rId3" Type="http://schemas.openxmlformats.org/officeDocument/2006/relationships/oleObject" Target="../embeddings/oleObject64.bin"/><Relationship Id="rId2" Type="http://schemas.openxmlformats.org/officeDocument/2006/relationships/image" Target="../media/image78.wmf"/><Relationship Id="rId1" Type="http://schemas.openxmlformats.org/officeDocument/2006/relationships/oleObject" Target="../embeddings/oleObject63.bin"/></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7.xml"/><Relationship Id="rId4" Type="http://schemas.openxmlformats.org/officeDocument/2006/relationships/image" Target="../media/image81.wmf"/><Relationship Id="rId3" Type="http://schemas.openxmlformats.org/officeDocument/2006/relationships/oleObject" Target="../embeddings/oleObject66.bin"/><Relationship Id="rId2" Type="http://schemas.openxmlformats.org/officeDocument/2006/relationships/image" Target="../media/image80.wmf"/><Relationship Id="rId1" Type="http://schemas.openxmlformats.org/officeDocument/2006/relationships/oleObject" Target="../embeddings/oleObject65.bin"/></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20.vml"/><Relationship Id="rId5" Type="http://schemas.openxmlformats.org/officeDocument/2006/relationships/slideLayout" Target="../slideLayouts/slideLayout7.xml"/><Relationship Id="rId4" Type="http://schemas.openxmlformats.org/officeDocument/2006/relationships/image" Target="../media/image83.wmf"/><Relationship Id="rId3" Type="http://schemas.openxmlformats.org/officeDocument/2006/relationships/oleObject" Target="../embeddings/oleObject68.bin"/><Relationship Id="rId2" Type="http://schemas.openxmlformats.org/officeDocument/2006/relationships/image" Target="../media/image82.wmf"/><Relationship Id="rId1" Type="http://schemas.openxmlformats.org/officeDocument/2006/relationships/oleObject" Target="../embeddings/oleObject67.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73.bin"/><Relationship Id="rId8" Type="http://schemas.openxmlformats.org/officeDocument/2006/relationships/image" Target="../media/image87.wmf"/><Relationship Id="rId7" Type="http://schemas.openxmlformats.org/officeDocument/2006/relationships/oleObject" Target="../embeddings/oleObject72.bin"/><Relationship Id="rId6" Type="http://schemas.openxmlformats.org/officeDocument/2006/relationships/image" Target="../media/image86.wmf"/><Relationship Id="rId5" Type="http://schemas.openxmlformats.org/officeDocument/2006/relationships/oleObject" Target="../embeddings/oleObject71.bin"/><Relationship Id="rId4" Type="http://schemas.openxmlformats.org/officeDocument/2006/relationships/image" Target="../media/image85.wmf"/><Relationship Id="rId3" Type="http://schemas.openxmlformats.org/officeDocument/2006/relationships/oleObject" Target="../embeddings/oleObject70.bin"/><Relationship Id="rId2" Type="http://schemas.openxmlformats.org/officeDocument/2006/relationships/image" Target="../media/image84.wmf"/><Relationship Id="rId12" Type="http://schemas.openxmlformats.org/officeDocument/2006/relationships/vmlDrawing" Target="../drawings/vmlDrawing21.vml"/><Relationship Id="rId11" Type="http://schemas.openxmlformats.org/officeDocument/2006/relationships/slideLayout" Target="../slideLayouts/slideLayout7.xml"/><Relationship Id="rId10" Type="http://schemas.openxmlformats.org/officeDocument/2006/relationships/image" Target="../media/image88.wmf"/><Relationship Id="rId1" Type="http://schemas.openxmlformats.org/officeDocument/2006/relationships/oleObject" Target="../embeddings/oleObject69.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78.bin"/><Relationship Id="rId8" Type="http://schemas.openxmlformats.org/officeDocument/2006/relationships/image" Target="../media/image92.wmf"/><Relationship Id="rId7" Type="http://schemas.openxmlformats.org/officeDocument/2006/relationships/oleObject" Target="../embeddings/oleObject77.bin"/><Relationship Id="rId6" Type="http://schemas.openxmlformats.org/officeDocument/2006/relationships/image" Target="../media/image91.wmf"/><Relationship Id="rId5" Type="http://schemas.openxmlformats.org/officeDocument/2006/relationships/oleObject" Target="../embeddings/oleObject76.bin"/><Relationship Id="rId4" Type="http://schemas.openxmlformats.org/officeDocument/2006/relationships/image" Target="../media/image90.wmf"/><Relationship Id="rId3" Type="http://schemas.openxmlformats.org/officeDocument/2006/relationships/oleObject" Target="../embeddings/oleObject75.bin"/><Relationship Id="rId22" Type="http://schemas.openxmlformats.org/officeDocument/2006/relationships/vmlDrawing" Target="../drawings/vmlDrawing22.vml"/><Relationship Id="rId21" Type="http://schemas.openxmlformats.org/officeDocument/2006/relationships/slideLayout" Target="../slideLayouts/slideLayout7.xml"/><Relationship Id="rId20" Type="http://schemas.openxmlformats.org/officeDocument/2006/relationships/image" Target="../media/image98.wmf"/><Relationship Id="rId2" Type="http://schemas.openxmlformats.org/officeDocument/2006/relationships/image" Target="../media/image89.wmf"/><Relationship Id="rId19" Type="http://schemas.openxmlformats.org/officeDocument/2006/relationships/oleObject" Target="../embeddings/oleObject83.bin"/><Relationship Id="rId18" Type="http://schemas.openxmlformats.org/officeDocument/2006/relationships/image" Target="../media/image97.wmf"/><Relationship Id="rId17" Type="http://schemas.openxmlformats.org/officeDocument/2006/relationships/oleObject" Target="../embeddings/oleObject82.bin"/><Relationship Id="rId16" Type="http://schemas.openxmlformats.org/officeDocument/2006/relationships/image" Target="../media/image96.wmf"/><Relationship Id="rId15" Type="http://schemas.openxmlformats.org/officeDocument/2006/relationships/oleObject" Target="../embeddings/oleObject81.bin"/><Relationship Id="rId14" Type="http://schemas.openxmlformats.org/officeDocument/2006/relationships/image" Target="../media/image95.wmf"/><Relationship Id="rId13" Type="http://schemas.openxmlformats.org/officeDocument/2006/relationships/oleObject" Target="../embeddings/oleObject80.bin"/><Relationship Id="rId12" Type="http://schemas.openxmlformats.org/officeDocument/2006/relationships/image" Target="../media/image94.wmf"/><Relationship Id="rId11" Type="http://schemas.openxmlformats.org/officeDocument/2006/relationships/oleObject" Target="../embeddings/oleObject79.bin"/><Relationship Id="rId10" Type="http://schemas.openxmlformats.org/officeDocument/2006/relationships/image" Target="../media/image93.wmf"/><Relationship Id="rId1" Type="http://schemas.openxmlformats.org/officeDocument/2006/relationships/oleObject" Target="../embeddings/oleObject74.bin"/></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7.xml"/><Relationship Id="rId6" Type="http://schemas.openxmlformats.org/officeDocument/2006/relationships/image" Target="../media/image101.wmf"/><Relationship Id="rId5" Type="http://schemas.openxmlformats.org/officeDocument/2006/relationships/oleObject" Target="../embeddings/oleObject86.bin"/><Relationship Id="rId4" Type="http://schemas.openxmlformats.org/officeDocument/2006/relationships/image" Target="../media/image100.wmf"/><Relationship Id="rId3" Type="http://schemas.openxmlformats.org/officeDocument/2006/relationships/oleObject" Target="../embeddings/oleObject85.bin"/><Relationship Id="rId2" Type="http://schemas.openxmlformats.org/officeDocument/2006/relationships/image" Target="../media/image99.wmf"/><Relationship Id="rId1" Type="http://schemas.openxmlformats.org/officeDocument/2006/relationships/oleObject" Target="../embeddings/oleObject84.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9" Type="http://schemas.openxmlformats.org/officeDocument/2006/relationships/image" Target="../media/image106.wmf"/><Relationship Id="rId8" Type="http://schemas.openxmlformats.org/officeDocument/2006/relationships/oleObject" Target="../embeddings/oleObject90.bin"/><Relationship Id="rId7" Type="http://schemas.openxmlformats.org/officeDocument/2006/relationships/image" Target="../media/image105.wmf"/><Relationship Id="rId6" Type="http://schemas.openxmlformats.org/officeDocument/2006/relationships/oleObject" Target="../embeddings/oleObject89.bin"/><Relationship Id="rId5" Type="http://schemas.openxmlformats.org/officeDocument/2006/relationships/image" Target="../media/image104.wmf"/><Relationship Id="rId4" Type="http://schemas.openxmlformats.org/officeDocument/2006/relationships/oleObject" Target="../embeddings/oleObject88.bin"/><Relationship Id="rId3" Type="http://schemas.openxmlformats.org/officeDocument/2006/relationships/image" Target="../media/image103.emf"/><Relationship Id="rId2" Type="http://schemas.openxmlformats.org/officeDocument/2006/relationships/image" Target="../media/image102.wmf"/><Relationship Id="rId13" Type="http://schemas.openxmlformats.org/officeDocument/2006/relationships/vmlDrawing" Target="../drawings/vmlDrawing24.vml"/><Relationship Id="rId12" Type="http://schemas.openxmlformats.org/officeDocument/2006/relationships/slideLayout" Target="../slideLayouts/slideLayout7.xml"/><Relationship Id="rId11" Type="http://schemas.openxmlformats.org/officeDocument/2006/relationships/image" Target="../media/image107.wmf"/><Relationship Id="rId10" Type="http://schemas.openxmlformats.org/officeDocument/2006/relationships/oleObject" Target="../embeddings/oleObject91.bin"/><Relationship Id="rId1" Type="http://schemas.openxmlformats.org/officeDocument/2006/relationships/oleObject" Target="../embeddings/oleObject87.bin"/></Relationships>
</file>

<file path=ppt/slides/_rels/slide43.xml.rels><?xml version="1.0" encoding="UTF-8" standalone="yes"?>
<Relationships xmlns="http://schemas.openxmlformats.org/package/2006/relationships"><Relationship Id="rId5" Type="http://schemas.openxmlformats.org/officeDocument/2006/relationships/vmlDrawing" Target="../drawings/vmlDrawing25.vml"/><Relationship Id="rId4" Type="http://schemas.openxmlformats.org/officeDocument/2006/relationships/slideLayout" Target="../slideLayouts/slideLayout7.xml"/><Relationship Id="rId3" Type="http://schemas.openxmlformats.org/officeDocument/2006/relationships/image" Target="../media/image109.wmf"/><Relationship Id="rId2" Type="http://schemas.openxmlformats.org/officeDocument/2006/relationships/oleObject" Target="../embeddings/oleObject92.bin"/><Relationship Id="rId1" Type="http://schemas.openxmlformats.org/officeDocument/2006/relationships/image" Target="../media/image108.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7.xml"/><Relationship Id="rId4" Type="http://schemas.openxmlformats.org/officeDocument/2006/relationships/oleObject" Target="../embeddings/oleObject95.bin"/><Relationship Id="rId3" Type="http://schemas.openxmlformats.org/officeDocument/2006/relationships/oleObject" Target="../embeddings/oleObject94.bin"/><Relationship Id="rId2" Type="http://schemas.openxmlformats.org/officeDocument/2006/relationships/image" Target="../media/image39.wmf"/><Relationship Id="rId1" Type="http://schemas.openxmlformats.org/officeDocument/2006/relationships/oleObject" Target="../embeddings/oleObject93.bin"/></Relationships>
</file>

<file path=ppt/slides/_rels/slide46.xml.rels><?xml version="1.0" encoding="UTF-8" standalone="yes"?>
<Relationships xmlns="http://schemas.openxmlformats.org/package/2006/relationships"><Relationship Id="rId8" Type="http://schemas.openxmlformats.org/officeDocument/2006/relationships/vmlDrawing" Target="../drawings/vmlDrawing27.vml"/><Relationship Id="rId7" Type="http://schemas.openxmlformats.org/officeDocument/2006/relationships/slideLayout" Target="../slideLayouts/slideLayout7.xml"/><Relationship Id="rId6" Type="http://schemas.openxmlformats.org/officeDocument/2006/relationships/image" Target="../media/image111.emf"/><Relationship Id="rId5" Type="http://schemas.openxmlformats.org/officeDocument/2006/relationships/image" Target="../media/image110.wmf"/><Relationship Id="rId4" Type="http://schemas.openxmlformats.org/officeDocument/2006/relationships/oleObject" Target="../embeddings/oleObject98.bin"/><Relationship Id="rId3" Type="http://schemas.openxmlformats.org/officeDocument/2006/relationships/oleObject" Target="../embeddings/oleObject97.bin"/><Relationship Id="rId2" Type="http://schemas.openxmlformats.org/officeDocument/2006/relationships/image" Target="../media/image39.wmf"/><Relationship Id="rId1" Type="http://schemas.openxmlformats.org/officeDocument/2006/relationships/oleObject" Target="../embeddings/oleObject96.bin"/></Relationships>
</file>

<file path=ppt/slides/_rels/slide47.xml.rels><?xml version="1.0" encoding="UTF-8" standalone="yes"?>
<Relationships xmlns="http://schemas.openxmlformats.org/package/2006/relationships"><Relationship Id="rId8" Type="http://schemas.openxmlformats.org/officeDocument/2006/relationships/vmlDrawing" Target="../drawings/vmlDrawing28.vml"/><Relationship Id="rId7" Type="http://schemas.openxmlformats.org/officeDocument/2006/relationships/slideLayout" Target="../slideLayouts/slideLayout7.xml"/><Relationship Id="rId6" Type="http://schemas.openxmlformats.org/officeDocument/2006/relationships/image" Target="../media/image113.wmf"/><Relationship Id="rId5" Type="http://schemas.openxmlformats.org/officeDocument/2006/relationships/oleObject" Target="../embeddings/oleObject101.bin"/><Relationship Id="rId4" Type="http://schemas.openxmlformats.org/officeDocument/2006/relationships/image" Target="../media/image112.emf"/><Relationship Id="rId3" Type="http://schemas.openxmlformats.org/officeDocument/2006/relationships/oleObject" Target="../embeddings/oleObject100.bin"/><Relationship Id="rId2" Type="http://schemas.openxmlformats.org/officeDocument/2006/relationships/image" Target="../media/image39.wmf"/><Relationship Id="rId1" Type="http://schemas.openxmlformats.org/officeDocument/2006/relationships/oleObject" Target="../embeddings/oleObject99.bin"/></Relationships>
</file>

<file path=ppt/slides/_rels/slide48.xml.rels><?xml version="1.0" encoding="UTF-8" standalone="yes"?>
<Relationships xmlns="http://schemas.openxmlformats.org/package/2006/relationships"><Relationship Id="rId8" Type="http://schemas.openxmlformats.org/officeDocument/2006/relationships/vmlDrawing" Target="../drawings/vmlDrawing29.vml"/><Relationship Id="rId7" Type="http://schemas.openxmlformats.org/officeDocument/2006/relationships/slideLayout" Target="../slideLayouts/slideLayout7.xml"/><Relationship Id="rId6" Type="http://schemas.openxmlformats.org/officeDocument/2006/relationships/image" Target="../media/image115.emf"/><Relationship Id="rId5" Type="http://schemas.openxmlformats.org/officeDocument/2006/relationships/oleObject" Target="../embeddings/oleObject104.bin"/><Relationship Id="rId4" Type="http://schemas.openxmlformats.org/officeDocument/2006/relationships/image" Target="../media/image39.wmf"/><Relationship Id="rId3" Type="http://schemas.openxmlformats.org/officeDocument/2006/relationships/oleObject" Target="../embeddings/oleObject103.bin"/><Relationship Id="rId2" Type="http://schemas.openxmlformats.org/officeDocument/2006/relationships/image" Target="../media/image114.wmf"/><Relationship Id="rId1" Type="http://schemas.openxmlformats.org/officeDocument/2006/relationships/oleObject" Target="../embeddings/oleObject102.bin"/></Relationships>
</file>

<file path=ppt/slides/_rels/slide49.xml.rels><?xml version="1.0" encoding="UTF-8" standalone="yes"?>
<Relationships xmlns="http://schemas.openxmlformats.org/package/2006/relationships"><Relationship Id="rId9" Type="http://schemas.openxmlformats.org/officeDocument/2006/relationships/oleObject" Target="../embeddings/oleObject109.bin"/><Relationship Id="rId8" Type="http://schemas.openxmlformats.org/officeDocument/2006/relationships/image" Target="../media/image119.wmf"/><Relationship Id="rId7" Type="http://schemas.openxmlformats.org/officeDocument/2006/relationships/oleObject" Target="../embeddings/oleObject108.bin"/><Relationship Id="rId6" Type="http://schemas.openxmlformats.org/officeDocument/2006/relationships/image" Target="../media/image118.wmf"/><Relationship Id="rId5" Type="http://schemas.openxmlformats.org/officeDocument/2006/relationships/oleObject" Target="../embeddings/oleObject107.bin"/><Relationship Id="rId4" Type="http://schemas.openxmlformats.org/officeDocument/2006/relationships/image" Target="../media/image117.wmf"/><Relationship Id="rId3" Type="http://schemas.openxmlformats.org/officeDocument/2006/relationships/oleObject" Target="../embeddings/oleObject106.bin"/><Relationship Id="rId2" Type="http://schemas.openxmlformats.org/officeDocument/2006/relationships/image" Target="../media/image116.wmf"/><Relationship Id="rId18" Type="http://schemas.openxmlformats.org/officeDocument/2006/relationships/vmlDrawing" Target="../drawings/vmlDrawing30.vml"/><Relationship Id="rId17" Type="http://schemas.openxmlformats.org/officeDocument/2006/relationships/slideLayout" Target="../slideLayouts/slideLayout7.xml"/><Relationship Id="rId16" Type="http://schemas.openxmlformats.org/officeDocument/2006/relationships/image" Target="../media/image123.wmf"/><Relationship Id="rId15" Type="http://schemas.openxmlformats.org/officeDocument/2006/relationships/oleObject" Target="../embeddings/oleObject112.bin"/><Relationship Id="rId14" Type="http://schemas.openxmlformats.org/officeDocument/2006/relationships/image" Target="../media/image122.wmf"/><Relationship Id="rId13" Type="http://schemas.openxmlformats.org/officeDocument/2006/relationships/oleObject" Target="../embeddings/oleObject111.bin"/><Relationship Id="rId12" Type="http://schemas.openxmlformats.org/officeDocument/2006/relationships/image" Target="../media/image121.wmf"/><Relationship Id="rId11" Type="http://schemas.openxmlformats.org/officeDocument/2006/relationships/oleObject" Target="../embeddings/oleObject110.bin"/><Relationship Id="rId10" Type="http://schemas.openxmlformats.org/officeDocument/2006/relationships/image" Target="../media/image120.wmf"/><Relationship Id="rId1" Type="http://schemas.openxmlformats.org/officeDocument/2006/relationships/oleObject" Target="../embeddings/oleObject105.bin"/></Relationships>
</file>

<file path=ppt/slides/_rels/slide50.xml.rels><?xml version="1.0" encoding="UTF-8" standalone="yes"?>
<Relationships xmlns="http://schemas.openxmlformats.org/package/2006/relationships"><Relationship Id="rId9" Type="http://schemas.openxmlformats.org/officeDocument/2006/relationships/image" Target="../media/image126.wmf"/><Relationship Id="rId8" Type="http://schemas.openxmlformats.org/officeDocument/2006/relationships/oleObject" Target="../embeddings/oleObject117.bin"/><Relationship Id="rId7" Type="http://schemas.openxmlformats.org/officeDocument/2006/relationships/image" Target="../media/image125.wmf"/><Relationship Id="rId6" Type="http://schemas.openxmlformats.org/officeDocument/2006/relationships/oleObject" Target="../embeddings/oleObject116.bin"/><Relationship Id="rId5" Type="http://schemas.openxmlformats.org/officeDocument/2006/relationships/image" Target="../media/image124.wmf"/><Relationship Id="rId4" Type="http://schemas.openxmlformats.org/officeDocument/2006/relationships/oleObject" Target="../embeddings/oleObject115.bin"/><Relationship Id="rId3" Type="http://schemas.openxmlformats.org/officeDocument/2006/relationships/oleObject" Target="../embeddings/oleObject114.bin"/><Relationship Id="rId2" Type="http://schemas.openxmlformats.org/officeDocument/2006/relationships/image" Target="../media/image39.wmf"/><Relationship Id="rId13" Type="http://schemas.openxmlformats.org/officeDocument/2006/relationships/vmlDrawing" Target="../drawings/vmlDrawing31.vml"/><Relationship Id="rId12" Type="http://schemas.openxmlformats.org/officeDocument/2006/relationships/slideLayout" Target="../slideLayouts/slideLayout7.xml"/><Relationship Id="rId11" Type="http://schemas.openxmlformats.org/officeDocument/2006/relationships/image" Target="../media/image127.wmf"/><Relationship Id="rId10" Type="http://schemas.openxmlformats.org/officeDocument/2006/relationships/oleObject" Target="../embeddings/oleObject118.bin"/><Relationship Id="rId1" Type="http://schemas.openxmlformats.org/officeDocument/2006/relationships/oleObject" Target="../embeddings/oleObject113.bin"/></Relationships>
</file>

<file path=ppt/slides/_rels/slide51.xml.rels><?xml version="1.0" encoding="UTF-8" standalone="yes"?>
<Relationships xmlns="http://schemas.openxmlformats.org/package/2006/relationships"><Relationship Id="rId9" Type="http://schemas.openxmlformats.org/officeDocument/2006/relationships/image" Target="../media/image130.wmf"/><Relationship Id="rId8" Type="http://schemas.openxmlformats.org/officeDocument/2006/relationships/oleObject" Target="../embeddings/oleObject123.bin"/><Relationship Id="rId7" Type="http://schemas.openxmlformats.org/officeDocument/2006/relationships/image" Target="../media/image129.wmf"/><Relationship Id="rId6" Type="http://schemas.openxmlformats.org/officeDocument/2006/relationships/oleObject" Target="../embeddings/oleObject122.bin"/><Relationship Id="rId5" Type="http://schemas.openxmlformats.org/officeDocument/2006/relationships/image" Target="../media/image128.wmf"/><Relationship Id="rId4" Type="http://schemas.openxmlformats.org/officeDocument/2006/relationships/oleObject" Target="../embeddings/oleObject121.bin"/><Relationship Id="rId3" Type="http://schemas.openxmlformats.org/officeDocument/2006/relationships/oleObject" Target="../embeddings/oleObject120.bin"/><Relationship Id="rId2" Type="http://schemas.openxmlformats.org/officeDocument/2006/relationships/image" Target="../media/image39.wmf"/><Relationship Id="rId11" Type="http://schemas.openxmlformats.org/officeDocument/2006/relationships/vmlDrawing" Target="../drawings/vmlDrawing32.vml"/><Relationship Id="rId10" Type="http://schemas.openxmlformats.org/officeDocument/2006/relationships/slideLayout" Target="../slideLayouts/slideLayout7.xml"/><Relationship Id="rId1" Type="http://schemas.openxmlformats.org/officeDocument/2006/relationships/oleObject" Target="../embeddings/oleObject119.bin"/></Relationships>
</file>

<file path=ppt/slides/_rels/slide52.xml.rels><?xml version="1.0" encoding="UTF-8" standalone="yes"?>
<Relationships xmlns="http://schemas.openxmlformats.org/package/2006/relationships"><Relationship Id="rId9" Type="http://schemas.openxmlformats.org/officeDocument/2006/relationships/image" Target="../media/image133.wmf"/><Relationship Id="rId8" Type="http://schemas.openxmlformats.org/officeDocument/2006/relationships/oleObject" Target="../embeddings/oleObject128.bin"/><Relationship Id="rId7" Type="http://schemas.openxmlformats.org/officeDocument/2006/relationships/image" Target="../media/image132.wmf"/><Relationship Id="rId6" Type="http://schemas.openxmlformats.org/officeDocument/2006/relationships/oleObject" Target="../embeddings/oleObject127.bin"/><Relationship Id="rId5" Type="http://schemas.openxmlformats.org/officeDocument/2006/relationships/image" Target="../media/image131.wmf"/><Relationship Id="rId4" Type="http://schemas.openxmlformats.org/officeDocument/2006/relationships/oleObject" Target="../embeddings/oleObject126.bin"/><Relationship Id="rId3" Type="http://schemas.openxmlformats.org/officeDocument/2006/relationships/oleObject" Target="../embeddings/oleObject125.bin"/><Relationship Id="rId2" Type="http://schemas.openxmlformats.org/officeDocument/2006/relationships/image" Target="../media/image39.wmf"/><Relationship Id="rId15" Type="http://schemas.openxmlformats.org/officeDocument/2006/relationships/vmlDrawing" Target="../drawings/vmlDrawing33.vml"/><Relationship Id="rId14" Type="http://schemas.openxmlformats.org/officeDocument/2006/relationships/slideLayout" Target="../slideLayouts/slideLayout7.xml"/><Relationship Id="rId13" Type="http://schemas.openxmlformats.org/officeDocument/2006/relationships/image" Target="../media/image135.wmf"/><Relationship Id="rId12" Type="http://schemas.openxmlformats.org/officeDocument/2006/relationships/oleObject" Target="../embeddings/oleObject130.bin"/><Relationship Id="rId11" Type="http://schemas.openxmlformats.org/officeDocument/2006/relationships/image" Target="../media/image134.wmf"/><Relationship Id="rId10" Type="http://schemas.openxmlformats.org/officeDocument/2006/relationships/oleObject" Target="../embeddings/oleObject129.bin"/><Relationship Id="rId1" Type="http://schemas.openxmlformats.org/officeDocument/2006/relationships/oleObject" Target="../embeddings/oleObject124.bin"/></Relationships>
</file>

<file path=ppt/slides/_rels/slide53.xml.rels><?xml version="1.0" encoding="UTF-8" standalone="yes"?>
<Relationships xmlns="http://schemas.openxmlformats.org/package/2006/relationships"><Relationship Id="rId5" Type="http://schemas.openxmlformats.org/officeDocument/2006/relationships/vmlDrawing" Target="../drawings/vmlDrawing34.vml"/><Relationship Id="rId4" Type="http://schemas.openxmlformats.org/officeDocument/2006/relationships/slideLayout" Target="../slideLayouts/slideLayout7.xml"/><Relationship Id="rId3" Type="http://schemas.openxmlformats.org/officeDocument/2006/relationships/oleObject" Target="../embeddings/oleObject132.bin"/><Relationship Id="rId2" Type="http://schemas.openxmlformats.org/officeDocument/2006/relationships/image" Target="../media/image39.wmf"/><Relationship Id="rId1" Type="http://schemas.openxmlformats.org/officeDocument/2006/relationships/oleObject" Target="../embeddings/oleObject131.bin"/></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8" Type="http://schemas.openxmlformats.org/officeDocument/2006/relationships/vmlDrawing" Target="../drawings/vmlDrawing35.vml"/><Relationship Id="rId7" Type="http://schemas.openxmlformats.org/officeDocument/2006/relationships/slideLayout" Target="../slideLayouts/slideLayout7.xml"/><Relationship Id="rId6" Type="http://schemas.openxmlformats.org/officeDocument/2006/relationships/image" Target="../media/image138.wmf"/><Relationship Id="rId5" Type="http://schemas.openxmlformats.org/officeDocument/2006/relationships/oleObject" Target="../embeddings/oleObject135.bin"/><Relationship Id="rId4" Type="http://schemas.openxmlformats.org/officeDocument/2006/relationships/image" Target="../media/image137.wmf"/><Relationship Id="rId3" Type="http://schemas.openxmlformats.org/officeDocument/2006/relationships/oleObject" Target="../embeddings/oleObject134.bin"/><Relationship Id="rId2" Type="http://schemas.openxmlformats.org/officeDocument/2006/relationships/image" Target="../media/image136.wmf"/><Relationship Id="rId1" Type="http://schemas.openxmlformats.org/officeDocument/2006/relationships/oleObject" Target="../embeddings/oleObject133.bin"/></Relationships>
</file>

<file path=ppt/slides/_rels/slide56.xml.rels><?xml version="1.0" encoding="UTF-8" standalone="yes"?>
<Relationships xmlns="http://schemas.openxmlformats.org/package/2006/relationships"><Relationship Id="rId9" Type="http://schemas.openxmlformats.org/officeDocument/2006/relationships/oleObject" Target="../embeddings/oleObject140.bin"/><Relationship Id="rId8" Type="http://schemas.openxmlformats.org/officeDocument/2006/relationships/image" Target="../media/image142.wmf"/><Relationship Id="rId7" Type="http://schemas.openxmlformats.org/officeDocument/2006/relationships/oleObject" Target="../embeddings/oleObject139.bin"/><Relationship Id="rId6" Type="http://schemas.openxmlformats.org/officeDocument/2006/relationships/image" Target="../media/image141.wmf"/><Relationship Id="rId5" Type="http://schemas.openxmlformats.org/officeDocument/2006/relationships/oleObject" Target="../embeddings/oleObject138.bin"/><Relationship Id="rId4" Type="http://schemas.openxmlformats.org/officeDocument/2006/relationships/image" Target="../media/image140.wmf"/><Relationship Id="rId3" Type="http://schemas.openxmlformats.org/officeDocument/2006/relationships/oleObject" Target="../embeddings/oleObject137.bin"/><Relationship Id="rId2" Type="http://schemas.openxmlformats.org/officeDocument/2006/relationships/image" Target="../media/image139.wmf"/><Relationship Id="rId16" Type="http://schemas.openxmlformats.org/officeDocument/2006/relationships/vmlDrawing" Target="../drawings/vmlDrawing36.vml"/><Relationship Id="rId15" Type="http://schemas.openxmlformats.org/officeDocument/2006/relationships/slideLayout" Target="../slideLayouts/slideLayout7.xml"/><Relationship Id="rId14" Type="http://schemas.openxmlformats.org/officeDocument/2006/relationships/image" Target="../media/image145.emf"/><Relationship Id="rId13" Type="http://schemas.openxmlformats.org/officeDocument/2006/relationships/oleObject" Target="../embeddings/oleObject142.bin"/><Relationship Id="rId12" Type="http://schemas.openxmlformats.org/officeDocument/2006/relationships/image" Target="../media/image144.emf"/><Relationship Id="rId11" Type="http://schemas.openxmlformats.org/officeDocument/2006/relationships/oleObject" Target="../embeddings/oleObject141.bin"/><Relationship Id="rId10" Type="http://schemas.openxmlformats.org/officeDocument/2006/relationships/image" Target="../media/image143.wmf"/><Relationship Id="rId1" Type="http://schemas.openxmlformats.org/officeDocument/2006/relationships/oleObject" Target="../embeddings/oleObject136.bin"/></Relationships>
</file>

<file path=ppt/slides/_rels/slide57.xml.rels><?xml version="1.0" encoding="UTF-8" standalone="yes"?>
<Relationships xmlns="http://schemas.openxmlformats.org/package/2006/relationships"><Relationship Id="rId9" Type="http://schemas.openxmlformats.org/officeDocument/2006/relationships/oleObject" Target="../embeddings/oleObject147.bin"/><Relationship Id="rId8" Type="http://schemas.openxmlformats.org/officeDocument/2006/relationships/image" Target="../media/image149.wmf"/><Relationship Id="rId7" Type="http://schemas.openxmlformats.org/officeDocument/2006/relationships/oleObject" Target="../embeddings/oleObject146.bin"/><Relationship Id="rId6" Type="http://schemas.openxmlformats.org/officeDocument/2006/relationships/image" Target="../media/image148.wmf"/><Relationship Id="rId5" Type="http://schemas.openxmlformats.org/officeDocument/2006/relationships/oleObject" Target="../embeddings/oleObject145.bin"/><Relationship Id="rId4" Type="http://schemas.openxmlformats.org/officeDocument/2006/relationships/image" Target="../media/image147.wmf"/><Relationship Id="rId3" Type="http://schemas.openxmlformats.org/officeDocument/2006/relationships/oleObject" Target="../embeddings/oleObject144.bin"/><Relationship Id="rId2" Type="http://schemas.openxmlformats.org/officeDocument/2006/relationships/image" Target="../media/image146.wmf"/><Relationship Id="rId12" Type="http://schemas.openxmlformats.org/officeDocument/2006/relationships/vmlDrawing" Target="../drawings/vmlDrawing37.vml"/><Relationship Id="rId11" Type="http://schemas.openxmlformats.org/officeDocument/2006/relationships/slideLayout" Target="../slideLayouts/slideLayout7.xml"/><Relationship Id="rId10" Type="http://schemas.openxmlformats.org/officeDocument/2006/relationships/image" Target="../media/image150.wmf"/><Relationship Id="rId1" Type="http://schemas.openxmlformats.org/officeDocument/2006/relationships/oleObject" Target="../embeddings/oleObject143.bin"/></Relationships>
</file>

<file path=ppt/slides/_rels/slide58.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vmlDrawing" Target="../drawings/vmlDrawing38.vml"/><Relationship Id="rId5" Type="http://schemas.openxmlformats.org/officeDocument/2006/relationships/slideLayout" Target="../slideLayouts/slideLayout7.xml"/><Relationship Id="rId4" Type="http://schemas.openxmlformats.org/officeDocument/2006/relationships/image" Target="../media/image152.wmf"/><Relationship Id="rId3" Type="http://schemas.openxmlformats.org/officeDocument/2006/relationships/oleObject" Target="../embeddings/oleObject149.bin"/><Relationship Id="rId2" Type="http://schemas.openxmlformats.org/officeDocument/2006/relationships/image" Target="../media/image151.wmf"/><Relationship Id="rId1" Type="http://schemas.openxmlformats.org/officeDocument/2006/relationships/oleObject" Target="../embeddings/oleObject148.bin"/></Relationships>
</file>

<file path=ppt/slides/_rels/slide5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56.wmf"/><Relationship Id="rId7" Type="http://schemas.openxmlformats.org/officeDocument/2006/relationships/oleObject" Target="../embeddings/oleObject153.bin"/><Relationship Id="rId6" Type="http://schemas.openxmlformats.org/officeDocument/2006/relationships/image" Target="../media/image155.wmf"/><Relationship Id="rId5" Type="http://schemas.openxmlformats.org/officeDocument/2006/relationships/oleObject" Target="../embeddings/oleObject152.bin"/><Relationship Id="rId4" Type="http://schemas.openxmlformats.org/officeDocument/2006/relationships/image" Target="../media/image154.wmf"/><Relationship Id="rId3" Type="http://schemas.openxmlformats.org/officeDocument/2006/relationships/oleObject" Target="../embeddings/oleObject151.bin"/><Relationship Id="rId2" Type="http://schemas.openxmlformats.org/officeDocument/2006/relationships/image" Target="../media/image153.wmf"/><Relationship Id="rId10" Type="http://schemas.openxmlformats.org/officeDocument/2006/relationships/vmlDrawing" Target="../drawings/vmlDrawing39.vml"/><Relationship Id="rId1" Type="http://schemas.openxmlformats.org/officeDocument/2006/relationships/oleObject" Target="../embeddings/oleObject150.bin"/></Relationships>
</file>

<file path=ppt/slides/_rels/slide60.xml.rels><?xml version="1.0" encoding="UTF-8" standalone="yes"?>
<Relationships xmlns="http://schemas.openxmlformats.org/package/2006/relationships"><Relationship Id="rId8" Type="http://schemas.openxmlformats.org/officeDocument/2006/relationships/vmlDrawing" Target="../drawings/vmlDrawing40.vml"/><Relationship Id="rId7" Type="http://schemas.openxmlformats.org/officeDocument/2006/relationships/slideLayout" Target="../slideLayouts/slideLayout7.xml"/><Relationship Id="rId6" Type="http://schemas.openxmlformats.org/officeDocument/2006/relationships/image" Target="../media/image159.wmf"/><Relationship Id="rId5" Type="http://schemas.openxmlformats.org/officeDocument/2006/relationships/oleObject" Target="../embeddings/oleObject156.bin"/><Relationship Id="rId4" Type="http://schemas.openxmlformats.org/officeDocument/2006/relationships/image" Target="../media/image158.wmf"/><Relationship Id="rId3" Type="http://schemas.openxmlformats.org/officeDocument/2006/relationships/oleObject" Target="../embeddings/oleObject155.bin"/><Relationship Id="rId2" Type="http://schemas.openxmlformats.org/officeDocument/2006/relationships/image" Target="../media/image157.wmf"/><Relationship Id="rId1" Type="http://schemas.openxmlformats.org/officeDocument/2006/relationships/oleObject" Target="../embeddings/oleObject154.bin"/></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8" Type="http://schemas.openxmlformats.org/officeDocument/2006/relationships/vmlDrawing" Target="../drawings/vmlDrawing41.vml"/><Relationship Id="rId7" Type="http://schemas.openxmlformats.org/officeDocument/2006/relationships/slideLayout" Target="../slideLayouts/slideLayout7.xml"/><Relationship Id="rId6" Type="http://schemas.openxmlformats.org/officeDocument/2006/relationships/image" Target="../media/image162.wmf"/><Relationship Id="rId5" Type="http://schemas.openxmlformats.org/officeDocument/2006/relationships/oleObject" Target="../embeddings/oleObject159.bin"/><Relationship Id="rId4" Type="http://schemas.openxmlformats.org/officeDocument/2006/relationships/image" Target="../media/image161.wmf"/><Relationship Id="rId3" Type="http://schemas.openxmlformats.org/officeDocument/2006/relationships/oleObject" Target="../embeddings/oleObject158.bin"/><Relationship Id="rId2" Type="http://schemas.openxmlformats.org/officeDocument/2006/relationships/image" Target="../media/image160.wmf"/><Relationship Id="rId1" Type="http://schemas.openxmlformats.org/officeDocument/2006/relationships/oleObject" Target="../embeddings/oleObject157.bin"/></Relationships>
</file>

<file path=ppt/slides/_rels/slide63.xml.rels><?xml version="1.0" encoding="UTF-8" standalone="yes"?>
<Relationships xmlns="http://schemas.openxmlformats.org/package/2006/relationships"><Relationship Id="rId9" Type="http://schemas.openxmlformats.org/officeDocument/2006/relationships/oleObject" Target="../embeddings/oleObject164.bin"/><Relationship Id="rId8" Type="http://schemas.openxmlformats.org/officeDocument/2006/relationships/image" Target="../media/image166.wmf"/><Relationship Id="rId7" Type="http://schemas.openxmlformats.org/officeDocument/2006/relationships/oleObject" Target="../embeddings/oleObject163.bin"/><Relationship Id="rId6" Type="http://schemas.openxmlformats.org/officeDocument/2006/relationships/image" Target="../media/image165.wmf"/><Relationship Id="rId5" Type="http://schemas.openxmlformats.org/officeDocument/2006/relationships/oleObject" Target="../embeddings/oleObject162.bin"/><Relationship Id="rId4" Type="http://schemas.openxmlformats.org/officeDocument/2006/relationships/image" Target="../media/image164.wmf"/><Relationship Id="rId3" Type="http://schemas.openxmlformats.org/officeDocument/2006/relationships/oleObject" Target="../embeddings/oleObject161.bin"/><Relationship Id="rId2" Type="http://schemas.openxmlformats.org/officeDocument/2006/relationships/image" Target="../media/image163.wmf"/><Relationship Id="rId14" Type="http://schemas.openxmlformats.org/officeDocument/2006/relationships/vmlDrawing" Target="../drawings/vmlDrawing42.vml"/><Relationship Id="rId13" Type="http://schemas.openxmlformats.org/officeDocument/2006/relationships/slideLayout" Target="../slideLayouts/slideLayout7.xml"/><Relationship Id="rId12" Type="http://schemas.openxmlformats.org/officeDocument/2006/relationships/image" Target="../media/image168.wmf"/><Relationship Id="rId11" Type="http://schemas.openxmlformats.org/officeDocument/2006/relationships/oleObject" Target="../embeddings/oleObject165.bin"/><Relationship Id="rId10" Type="http://schemas.openxmlformats.org/officeDocument/2006/relationships/image" Target="../media/image167.wmf"/><Relationship Id="rId1" Type="http://schemas.openxmlformats.org/officeDocument/2006/relationships/oleObject" Target="../embeddings/oleObject160.bin"/></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170.bin"/><Relationship Id="rId8" Type="http://schemas.openxmlformats.org/officeDocument/2006/relationships/image" Target="../media/image172.wmf"/><Relationship Id="rId7" Type="http://schemas.openxmlformats.org/officeDocument/2006/relationships/oleObject" Target="../embeddings/oleObject169.bin"/><Relationship Id="rId6" Type="http://schemas.openxmlformats.org/officeDocument/2006/relationships/image" Target="../media/image171.wmf"/><Relationship Id="rId5" Type="http://schemas.openxmlformats.org/officeDocument/2006/relationships/oleObject" Target="../embeddings/oleObject168.bin"/><Relationship Id="rId4" Type="http://schemas.openxmlformats.org/officeDocument/2006/relationships/image" Target="../media/image170.wmf"/><Relationship Id="rId3" Type="http://schemas.openxmlformats.org/officeDocument/2006/relationships/oleObject" Target="../embeddings/oleObject167.bin"/><Relationship Id="rId2" Type="http://schemas.openxmlformats.org/officeDocument/2006/relationships/image" Target="../media/image169.wmf"/><Relationship Id="rId14" Type="http://schemas.openxmlformats.org/officeDocument/2006/relationships/vmlDrawing" Target="../drawings/vmlDrawing43.vml"/><Relationship Id="rId13" Type="http://schemas.openxmlformats.org/officeDocument/2006/relationships/slideLayout" Target="../slideLayouts/slideLayout7.xml"/><Relationship Id="rId12" Type="http://schemas.openxmlformats.org/officeDocument/2006/relationships/image" Target="../media/image174.wmf"/><Relationship Id="rId11" Type="http://schemas.openxmlformats.org/officeDocument/2006/relationships/oleObject" Target="../embeddings/oleObject171.bin"/><Relationship Id="rId10" Type="http://schemas.openxmlformats.org/officeDocument/2006/relationships/image" Target="../media/image173.wmf"/><Relationship Id="rId1" Type="http://schemas.openxmlformats.org/officeDocument/2006/relationships/oleObject" Target="../embeddings/oleObject166.bin"/></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7.xml"/><Relationship Id="rId2" Type="http://schemas.openxmlformats.org/officeDocument/2006/relationships/image" Target="../media/image175.emf"/><Relationship Id="rId1" Type="http://schemas.openxmlformats.org/officeDocument/2006/relationships/oleObject" Target="../embeddings/oleObject172.bin"/></Relationships>
</file>

<file path=ppt/slides/_rels/slide66.xml.rels><?xml version="1.0" encoding="UTF-8" standalone="yes"?>
<Relationships xmlns="http://schemas.openxmlformats.org/package/2006/relationships"><Relationship Id="rId5" Type="http://schemas.openxmlformats.org/officeDocument/2006/relationships/vmlDrawing" Target="../drawings/vmlDrawing45.vml"/><Relationship Id="rId4" Type="http://schemas.openxmlformats.org/officeDocument/2006/relationships/slideLayout" Target="../slideLayouts/slideLayout7.xml"/><Relationship Id="rId3" Type="http://schemas.openxmlformats.org/officeDocument/2006/relationships/image" Target="../media/image177.emf"/><Relationship Id="rId2" Type="http://schemas.openxmlformats.org/officeDocument/2006/relationships/image" Target="../media/image176.wmf"/><Relationship Id="rId1" Type="http://schemas.openxmlformats.org/officeDocument/2006/relationships/oleObject" Target="../embeddings/oleObject17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bwMode="auto">
          <a:xfrm>
            <a:off x="7928887" y="1529674"/>
            <a:ext cx="4263114" cy="3801676"/>
          </a:xfrm>
          <a:prstGeom prst="rect">
            <a:avLst/>
          </a:prstGeom>
          <a:solidFill>
            <a:srgbClr val="FEFEFE"/>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400" b="1" i="0" u="none" strike="noStrike" kern="1200" cap="none" spc="0" normalizeH="0" baseline="0" noProof="0" dirty="0">
              <a:ln>
                <a:noFill/>
              </a:ln>
              <a:solidFill>
                <a:srgbClr val="FFFFFF"/>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矩形 19"/>
          <p:cNvSpPr/>
          <p:nvPr/>
        </p:nvSpPr>
        <p:spPr>
          <a:xfrm>
            <a:off x="0" y="1529673"/>
            <a:ext cx="7939595" cy="3801677"/>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1865"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154876" y="3082680"/>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zh-CN" sz="1865"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文本框 22"/>
          <p:cNvSpPr txBox="1"/>
          <p:nvPr/>
        </p:nvSpPr>
        <p:spPr>
          <a:xfrm>
            <a:off x="1" y="2947584"/>
            <a:ext cx="7939594" cy="768350"/>
          </a:xfrm>
          <a:prstGeom prst="rect">
            <a:avLst/>
          </a:prstGeom>
          <a:noFill/>
        </p:spPr>
        <p:txBody>
          <a:bodyPr wrap="square" rtlCol="0">
            <a:spAutoFit/>
          </a:bodyPr>
          <a:lstStyle/>
          <a:p>
            <a:pPr algn="ctr" defTabSz="685800"/>
            <a:r>
              <a:rPr kumimoji="1" lang="zh-CN" altLang="en-US" sz="4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第十六讲  </a:t>
            </a:r>
            <a:r>
              <a:rPr kumimoji="1" lang="en-US" altLang="zh-CN" sz="4400" b="1">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2026.4.24</a:t>
            </a:r>
            <a:endParaRPr kumimoji="1" lang="zh-CN" altLang="en-US" sz="44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1" name="矩形 370"/>
          <p:cNvSpPr/>
          <p:nvPr/>
        </p:nvSpPr>
        <p:spPr>
          <a:xfrm>
            <a:off x="998964" y="3934298"/>
            <a:ext cx="5628092" cy="669863"/>
          </a:xfrm>
          <a:prstGeom prst="rect">
            <a:avLst/>
          </a:prstGeom>
        </p:spPr>
        <p:txBody>
          <a:bodyPr wrap="square">
            <a:spAutoFit/>
          </a:bodyPr>
          <a:lstStyle/>
          <a:p>
            <a:pPr marL="0" marR="0" lvl="0" indent="0" algn="ctr" defTabSz="914400" rtl="0" eaLnBrk="0" fontAlgn="base" latinLnBrk="0" hangingPunct="0">
              <a:lnSpc>
                <a:spcPct val="150000"/>
              </a:lnSpc>
              <a:spcBef>
                <a:spcPct val="0"/>
              </a:spcBef>
              <a:spcAft>
                <a:spcPct val="0"/>
              </a:spcAft>
              <a:buClrTx/>
              <a:buSzTx/>
              <a:buFontTx/>
              <a:buNone/>
              <a:defRPr/>
            </a:pPr>
            <a:r>
              <a:rPr kumimoji="1"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主讲人：曾华琳</a:t>
            </a:r>
            <a:endParaRPr kumimoji="1" lang="zh-CN" altLang="en-US" sz="2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 name="组合 3"/>
          <p:cNvGrpSpPr/>
          <p:nvPr/>
        </p:nvGrpSpPr>
        <p:grpSpPr>
          <a:xfrm>
            <a:off x="8102254" y="1704658"/>
            <a:ext cx="3881691" cy="3433977"/>
            <a:chOff x="8226111" y="1728368"/>
            <a:chExt cx="3881691" cy="3433977"/>
          </a:xfrm>
        </p:grpSpPr>
        <p:pic>
          <p:nvPicPr>
            <p:cNvPr id="187" name="图片 186"/>
            <p:cNvPicPr>
              <a:picLocks noChangeAspect="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84928" y="1728368"/>
              <a:ext cx="2561629" cy="2561629"/>
            </a:xfrm>
            <a:prstGeom prst="rect">
              <a:avLst/>
            </a:prstGeom>
          </p:spPr>
        </p:pic>
        <p:sp>
          <p:nvSpPr>
            <p:cNvPr id="188" name="文本框 187"/>
            <p:cNvSpPr txBox="1"/>
            <p:nvPr/>
          </p:nvSpPr>
          <p:spPr>
            <a:xfrm>
              <a:off x="8226111" y="4578780"/>
              <a:ext cx="3881691" cy="583565"/>
            </a:xfrm>
            <a:prstGeom prst="rect">
              <a:avLst/>
            </a:prstGeom>
            <a:noFill/>
            <a:effectLst/>
          </p:spPr>
          <p:txBody>
            <a:bodyPr wrap="square" rtlCol="0">
              <a:spAutoFit/>
            </a:bodyPr>
            <a:lstStyle/>
            <a:p>
              <a:pPr marL="0" marR="0" lvl="0" indent="0" algn="dist"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rPr>
                <a:t>信息学院</a:t>
              </a:r>
              <a:endParaRPr kumimoji="1"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184" name="文本框 183"/>
          <p:cNvSpPr txBox="1"/>
          <p:nvPr/>
        </p:nvSpPr>
        <p:spPr>
          <a:xfrm>
            <a:off x="1203740" y="1982910"/>
            <a:ext cx="5423316" cy="830997"/>
          </a:xfrm>
          <a:prstGeom prst="rect">
            <a:avLst/>
          </a:prstGeom>
          <a:noFill/>
          <a:effectLst/>
        </p:spPr>
        <p:txBody>
          <a:bodyPr wrap="square" rtlCol="0">
            <a:spAutoFit/>
          </a:bodyPr>
          <a:lstStyle/>
          <a:p>
            <a:pPr lvl="0" algn="ctr" defTabSz="914400" eaLnBrk="0" fontAlgn="base" hangingPunct="0">
              <a:spcBef>
                <a:spcPct val="0"/>
              </a:spcBef>
              <a:spcAft>
                <a:spcPct val="0"/>
              </a:spcAft>
              <a:defRPr/>
            </a:pPr>
            <a:r>
              <a:rPr kumimoji="1"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概率统计</a:t>
            </a:r>
            <a:r>
              <a:rPr kumimoji="1" lang="en-US" altLang="zh-CN"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(A)</a:t>
            </a:r>
            <a:endParaRPr kumimoji="1" lang="zh-CN" altLang="en-US" sz="480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159897" y="2348880"/>
            <a:ext cx="5832647" cy="830997"/>
          </a:xfrm>
          <a:prstGeom prst="rect">
            <a:avLst/>
          </a:prstGeom>
          <a:noFill/>
        </p:spPr>
        <p:txBody>
          <a:bodyPr wrap="square" rtlCol="0">
            <a:spAutoFit/>
          </a:bodyPr>
          <a:lstStyle/>
          <a:p>
            <a:pPr lvl="0" algn="ctr" defTabSz="914400"/>
            <a:r>
              <a:rPr lang="zh-CN" altLang="en-US" sz="4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入门测</a:t>
            </a:r>
            <a:endParaRPr lang="zh-CN" altLang="en-US" sz="4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3800" b="1" i="0" u="none" strike="noStrike" kern="120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01</a:t>
              </a:r>
              <a:endParaRPr kumimoji="0" lang="zh-CN" altLang="en-US" sz="13800" b="1" i="0" u="none" strike="noStrike" kern="1200" cap="none" spc="0" normalizeH="0" baseline="0" noProof="0" dirty="0">
                <a:ln>
                  <a:noFill/>
                </a:ln>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uLnTx/>
                <a:uFillTx/>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Scale>
                                      <p:cBhvr>
                                        <p:cTn id="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
                                        </p:tgtEl>
                                        <p:attrNameLst>
                                          <p:attrName>ppt_x</p:attrName>
                                          <p:attrName>ppt_y</p:attrName>
                                        </p:attrNameLst>
                                      </p:cBhvr>
                                    </p:animMotion>
                                    <p:animEffect transition="in" filter="fade">
                                      <p:cBhvr>
                                        <p:cTn id="9" dur="1000"/>
                                        <p:tgtEl>
                                          <p:spTgt spid="2"/>
                                        </p:tgtEl>
                                      </p:cBhvr>
                                    </p:animEffect>
                                  </p:childTnLst>
                                </p:cTn>
                              </p:par>
                              <p:par>
                                <p:cTn id="10" presetID="22" presetClass="entr" presetSubtype="4" fill="hold" grpId="0" nodeType="withEffect">
                                  <p:stCondLst>
                                    <p:cond delay="70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par>
                                <p:cTn id="13" presetID="22" presetClass="entr" presetSubtype="8" fill="hold" nodeType="withEffect">
                                  <p:stCondLst>
                                    <p:cond delay="70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36" name="Text Box 40"/>
          <p:cNvSpPr txBox="1">
            <a:spLocks noChangeArrowheads="1"/>
          </p:cNvSpPr>
          <p:nvPr/>
        </p:nvSpPr>
        <p:spPr bwMode="auto">
          <a:xfrm>
            <a:off x="1151983" y="2516042"/>
            <a:ext cx="2685488" cy="113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表</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几种常见分布的均值与方差</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2" name="直接连接符 11"/>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三、方差性质的应用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4" name="组合 13"/>
          <p:cNvGrpSpPr/>
          <p:nvPr/>
        </p:nvGrpSpPr>
        <p:grpSpPr>
          <a:xfrm>
            <a:off x="851761" y="364781"/>
            <a:ext cx="263341" cy="395013"/>
            <a:chOff x="5284519" y="1508166"/>
            <a:chExt cx="213756" cy="427512"/>
          </a:xfrm>
        </p:grpSpPr>
        <p:cxnSp>
          <p:nvCxnSpPr>
            <p:cNvPr id="15" name="直接连接符 14"/>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6" name="直接连接符 15"/>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aphicFrame>
        <p:nvGraphicFramePr>
          <p:cNvPr id="11" name="Group 268"/>
          <p:cNvGraphicFramePr>
            <a:graphicFrameLocks noGrp="1"/>
          </p:cNvGraphicFramePr>
          <p:nvPr/>
        </p:nvGraphicFramePr>
        <p:xfrm>
          <a:off x="4079776" y="1268760"/>
          <a:ext cx="5984875" cy="4747260"/>
        </p:xfrm>
        <a:graphic>
          <a:graphicData uri="http://schemas.openxmlformats.org/drawingml/2006/table">
            <a:tbl>
              <a:tblPr/>
              <a:tblGrid>
                <a:gridCol w="1656184"/>
                <a:gridCol w="2016224"/>
                <a:gridCol w="1122996"/>
                <a:gridCol w="1189426"/>
              </a:tblGrid>
              <a:tr h="563600">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r>
                        <a:rPr kumimoji="0" lang="zh-CN" altLang="en-US" sz="1800" b="1" i="0" u="none" strike="noStrike" kern="1200" cap="none" normalizeH="0" baseline="0" dirty="0">
                          <a:ln>
                            <a:noFill/>
                          </a:ln>
                          <a:solidFill>
                            <a:schemeClr val="bg1"/>
                          </a:solidFill>
                          <a:effectLst/>
                          <a:latin typeface="Times New Roman" panose="02020603050405020304" pitchFamily="18" charset="0"/>
                          <a:ea typeface="微软雅黑" panose="020B0503020204020204" pitchFamily="34" charset="-122"/>
                          <a:cs typeface="等线" panose="02010600030101010101" charset="-122"/>
                          <a:sym typeface="+mn-lt"/>
                        </a:rPr>
                        <a:t>分布</a:t>
                      </a:r>
                      <a:endParaRPr kumimoji="0" lang="zh-CN" altLang="zh-CN" sz="1800" b="1" i="0" u="none" strike="noStrike" kern="1200" cap="none" normalizeH="0" baseline="0" dirty="0">
                        <a:ln>
                          <a:noFill/>
                        </a:ln>
                        <a:solidFill>
                          <a:schemeClr val="bg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C00000"/>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r>
                        <a:rPr kumimoji="0" lang="zh-CN" altLang="en-US" sz="1800" b="1" i="0" u="none" strike="noStrike" kern="1200" cap="none" normalizeH="0" baseline="0" dirty="0">
                          <a:ln>
                            <a:noFill/>
                          </a:ln>
                          <a:solidFill>
                            <a:schemeClr val="bg1"/>
                          </a:solidFill>
                          <a:effectLst/>
                          <a:latin typeface="Times New Roman" panose="02020603050405020304" pitchFamily="18" charset="0"/>
                          <a:ea typeface="微软雅黑" panose="020B0503020204020204" pitchFamily="34" charset="-122"/>
                          <a:cs typeface="等线" panose="02010600030101010101" charset="-122"/>
                          <a:sym typeface="+mn-lt"/>
                        </a:rPr>
                        <a:t>分布律或密度函数</a:t>
                      </a:r>
                      <a:endParaRPr kumimoji="0" lang="zh-CN" altLang="zh-CN" sz="1800" b="1" i="0" u="none" strike="noStrike" kern="1200" cap="none" normalizeH="0" baseline="0" dirty="0">
                        <a:ln>
                          <a:noFill/>
                        </a:ln>
                        <a:solidFill>
                          <a:schemeClr val="bg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C00000"/>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r>
                        <a:rPr kumimoji="0" lang="zh-CN" altLang="en-US" sz="1800" b="1" i="0" u="none" strike="noStrike" kern="1200" cap="none" normalizeH="0" baseline="0" dirty="0">
                          <a:ln>
                            <a:noFill/>
                          </a:ln>
                          <a:solidFill>
                            <a:schemeClr val="bg1"/>
                          </a:solidFill>
                          <a:effectLst/>
                          <a:latin typeface="Times New Roman" panose="02020603050405020304" pitchFamily="18" charset="0"/>
                          <a:ea typeface="微软雅黑" panose="020B0503020204020204" pitchFamily="34" charset="-122"/>
                          <a:cs typeface="等线" panose="02010600030101010101" charset="-122"/>
                          <a:sym typeface="+mn-lt"/>
                        </a:rPr>
                        <a:t>数学期望</a:t>
                      </a:r>
                      <a:endParaRPr kumimoji="0" lang="zh-CN" altLang="zh-CN" sz="1800" b="1" i="0" u="none" strike="noStrike" kern="1200" cap="none" normalizeH="0" baseline="0" dirty="0">
                        <a:ln>
                          <a:noFill/>
                        </a:ln>
                        <a:solidFill>
                          <a:schemeClr val="bg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C00000"/>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r>
                        <a:rPr kumimoji="0" lang="zh-CN" altLang="en-US" sz="1800" b="1" i="0" u="none" strike="noStrike" kern="1200" cap="none" normalizeH="0" baseline="0" dirty="0">
                          <a:ln>
                            <a:noFill/>
                          </a:ln>
                          <a:solidFill>
                            <a:schemeClr val="bg1"/>
                          </a:solidFill>
                          <a:effectLst/>
                          <a:latin typeface="Times New Roman" panose="02020603050405020304" pitchFamily="18" charset="0"/>
                          <a:ea typeface="微软雅黑" panose="020B0503020204020204" pitchFamily="34" charset="-122"/>
                          <a:cs typeface="等线" panose="02010600030101010101" charset="-122"/>
                          <a:sym typeface="+mn-lt"/>
                        </a:rPr>
                        <a:t>方差</a:t>
                      </a:r>
                      <a:endParaRPr kumimoji="0" lang="zh-CN" altLang="zh-CN" sz="1800" b="1" i="0" u="none" strike="noStrike" kern="1200" cap="none" normalizeH="0" baseline="0" dirty="0">
                        <a:ln>
                          <a:noFill/>
                        </a:ln>
                        <a:solidFill>
                          <a:schemeClr val="bg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28575"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rgbClr val="C00000"/>
                    </a:solidFill>
                  </a:tcPr>
                </a:tc>
              </a:tr>
              <a:tr h="780034">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r>
                        <a:rPr kumimoji="0" lang="en-US" altLang="zh-CN"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0</a:t>
                      </a:r>
                      <a:r>
                        <a:rPr kumimoji="0" lang="zh-CN" altLang="en-US"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a:t>
                      </a:r>
                      <a:r>
                        <a:rPr kumimoji="0" lang="en-US" altLang="zh-CN"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1</a:t>
                      </a:r>
                      <a:r>
                        <a:rPr kumimoji="0" lang="zh-CN" altLang="en-US"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分布</a:t>
                      </a:r>
                      <a:endParaRPr kumimoji="0" lang="zh-CN" altLang="en-US"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r>
                        <a:rPr kumimoji="0" lang="en-US"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                </a:t>
                      </a:r>
                      <a:endParaRPr kumimoji="0" lang="en-US"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p>
                      <a:pPr marL="0" marR="0" lvl="0" indent="0" algn="ctr" defTabSz="914400" rtl="0" eaLnBrk="0" fontAlgn="base" latinLnBrk="0" hangingPunct="0">
                        <a:lnSpc>
                          <a:spcPct val="150000"/>
                        </a:lnSpc>
                        <a:spcBef>
                          <a:spcPct val="0"/>
                        </a:spcBef>
                        <a:spcAft>
                          <a:spcPct val="0"/>
                        </a:spcAft>
                        <a:buClrTx/>
                        <a:buSzTx/>
                        <a:buFontTx/>
                        <a:buNone/>
                      </a:pPr>
                      <a:endParaRPr kumimoji="0" lang="en-US"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r>
                        <a:rPr kumimoji="0" lang="en-US"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p</a:t>
                      </a:r>
                      <a:endParaRPr kumimoji="0" lang="en-US"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r>
                        <a:rPr kumimoji="0" lang="en-US"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  p(1-p)</a:t>
                      </a:r>
                      <a:endParaRPr kumimoji="0" lang="en-US"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r>
              <a:tr h="576470">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r>
                        <a:rPr kumimoji="0" lang="zh-CN" altLang="en-US"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二项分布 </a:t>
                      </a:r>
                      <a:r>
                        <a:rPr kumimoji="0" lang="en-US" altLang="zh-CN"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b(</a:t>
                      </a:r>
                      <a:r>
                        <a:rPr kumimoji="0" lang="en-US" altLang="zh-CN" sz="1600" b="1" i="1" u="none" strike="noStrike" kern="1200" cap="none" normalizeH="0" baseline="0" dirty="0" err="1">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n,p</a:t>
                      </a:r>
                      <a:r>
                        <a:rPr kumimoji="0" lang="en-US" altLang="zh-CN"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a:t>
                      </a:r>
                      <a:endParaRPr kumimoji="0" lang="en-US" altLang="zh-CN"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endParaRPr kumimoji="0" lang="zh-CN"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r>
                        <a:rPr kumimoji="0" lang="en-US"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np</a:t>
                      </a:r>
                      <a:endParaRPr kumimoji="0" lang="en-US"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r>
                        <a:rPr kumimoji="0" lang="en-US"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np(1-p)</a:t>
                      </a:r>
                      <a:endParaRPr kumimoji="0" lang="en-US"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r>
              <a:tr h="600794">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l" defTabSz="914400" rtl="0" eaLnBrk="0" fontAlgn="base" latinLnBrk="0" hangingPunct="0">
                        <a:lnSpc>
                          <a:spcPct val="150000"/>
                        </a:lnSpc>
                        <a:spcBef>
                          <a:spcPct val="0"/>
                        </a:spcBef>
                        <a:spcAft>
                          <a:spcPct val="0"/>
                        </a:spcAft>
                        <a:buClrTx/>
                        <a:buSzTx/>
                        <a:buFontTx/>
                        <a:buNone/>
                      </a:pPr>
                      <a:r>
                        <a:rPr kumimoji="0" lang="zh-CN" altLang="en-US"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 泊松分布                </a:t>
                      </a:r>
                      <a:endParaRPr kumimoji="0" lang="zh-CN" altLang="en-US"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endParaRPr kumimoji="0" lang="zh-CN"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r>
                        <a:rPr kumimoji="0" lang="en-US"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     </a:t>
                      </a:r>
                      <a:endParaRPr kumimoji="0" lang="en-US"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endParaRPr kumimoji="0" lang="zh-CN" altLang="zh-CN" sz="1600" b="1" i="1" u="none" strike="noStrike" kern="1200" cap="none" normalizeH="0" baseline="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r>
              <a:tr h="599578">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r>
                        <a:rPr kumimoji="0" lang="zh-CN" altLang="en-US"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均匀分布</a:t>
                      </a:r>
                      <a:r>
                        <a:rPr kumimoji="0" lang="en-US" altLang="zh-CN"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U(</a:t>
                      </a:r>
                      <a:r>
                        <a:rPr kumimoji="0" lang="en-US" altLang="zh-CN" sz="1600" b="1" i="0" u="none" strike="noStrike" kern="1200" cap="none" normalizeH="0" baseline="0" dirty="0" err="1">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a,b</a:t>
                      </a:r>
                      <a:r>
                        <a:rPr kumimoji="0" lang="en-US" altLang="zh-CN"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a:t>
                      </a:r>
                      <a:endParaRPr kumimoji="0" lang="en-US" altLang="zh-CN"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endParaRPr kumimoji="0" lang="zh-CN"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endParaRPr kumimoji="0" lang="zh-CN"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endParaRPr kumimoji="0" lang="zh-CN"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r>
              <a:tr h="735330">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l" defTabSz="914400" rtl="0" eaLnBrk="0" fontAlgn="base" latinLnBrk="0" hangingPunct="0">
                        <a:lnSpc>
                          <a:spcPct val="150000"/>
                        </a:lnSpc>
                        <a:spcBef>
                          <a:spcPct val="0"/>
                        </a:spcBef>
                        <a:spcAft>
                          <a:spcPct val="0"/>
                        </a:spcAft>
                        <a:buClrTx/>
                        <a:buSzTx/>
                        <a:buFontTx/>
                        <a:buNone/>
                      </a:pPr>
                      <a:r>
                        <a:rPr kumimoji="0" lang="zh-CN" altLang="en-US"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  指数分布</a:t>
                      </a:r>
                      <a:endParaRPr kumimoji="0" lang="zh-CN" altLang="en-US"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endParaRPr kumimoji="0" lang="zh-CN"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endParaRPr kumimoji="0" lang="zh-CN"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endParaRPr kumimoji="0" lang="zh-CN"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12700"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r>
              <a:tr h="868604">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l" defTabSz="914400" rtl="0" eaLnBrk="0" fontAlgn="base" latinLnBrk="0" hangingPunct="0">
                        <a:lnSpc>
                          <a:spcPct val="150000"/>
                        </a:lnSpc>
                        <a:spcBef>
                          <a:spcPct val="0"/>
                        </a:spcBef>
                        <a:spcAft>
                          <a:spcPct val="0"/>
                        </a:spcAft>
                        <a:buClrTx/>
                        <a:buSzTx/>
                        <a:buFontTx/>
                        <a:buNone/>
                      </a:pPr>
                      <a:r>
                        <a:rPr kumimoji="0" lang="zh-CN" altLang="en-US"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rPr>
                        <a:t> 正态分布</a:t>
                      </a:r>
                      <a:endParaRPr kumimoji="0" lang="zh-CN" altLang="en-US" sz="1600" b="1" i="0"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28575"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endParaRPr kumimoji="0" lang="zh-CN"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endParaRPr kumimoji="0" lang="zh-CN"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12700"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defRPr sz="20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defRPr>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marL="0" marR="0" lvl="0" indent="0" algn="ctr" defTabSz="914400" rtl="0" eaLnBrk="0" fontAlgn="base" latinLnBrk="0" hangingPunct="0">
                        <a:lnSpc>
                          <a:spcPct val="150000"/>
                        </a:lnSpc>
                        <a:spcBef>
                          <a:spcPct val="0"/>
                        </a:spcBef>
                        <a:spcAft>
                          <a:spcPct val="0"/>
                        </a:spcAft>
                        <a:buClrTx/>
                        <a:buSzTx/>
                        <a:buFontTx/>
                        <a:buNone/>
                      </a:pPr>
                      <a:endParaRPr kumimoji="0" lang="zh-CN" altLang="zh-CN" sz="1600" b="1" i="1" u="none" strike="noStrike" kern="1200" cap="none" normalizeH="0" baseline="0" dirty="0">
                        <a:ln>
                          <a:noFill/>
                        </a:ln>
                        <a:solidFill>
                          <a:schemeClr val="tx1"/>
                        </a:solidFill>
                        <a:effectLst/>
                        <a:latin typeface="Times New Roman" panose="02020603050405020304" pitchFamily="18" charset="0"/>
                        <a:ea typeface="微软雅黑" panose="020B0503020204020204" pitchFamily="34" charset="-122"/>
                        <a:cs typeface="等线" panose="02010600030101010101" charset="-122"/>
                        <a:sym typeface="+mn-lt"/>
                      </a:endParaRPr>
                    </a:p>
                  </a:txBody>
                  <a:tcPr marL="68949" marR="68949" marT="35854" marB="35854" anchor="ctr" horzOverflow="overflow">
                    <a:lnL w="12700" cap="flat" cmpd="sng" algn="ctr">
                      <a:solidFill>
                        <a:schemeClr val="tx1"/>
                      </a:solidFill>
                      <a:prstDash val="solid"/>
                      <a:round/>
                      <a:headEnd type="none" w="med" len="med"/>
                      <a:tailEnd type="none" w="med" len="lg"/>
                    </a:lnL>
                    <a:lnR w="28575" cap="flat" cmpd="sng" algn="ctr">
                      <a:solidFill>
                        <a:schemeClr val="tx1"/>
                      </a:solidFill>
                      <a:prstDash val="solid"/>
                      <a:round/>
                      <a:headEnd type="none" w="med" len="med"/>
                      <a:tailEnd type="none" w="med" len="lg"/>
                    </a:lnR>
                    <a:lnT w="12700" cap="flat" cmpd="sng" algn="ctr">
                      <a:solidFill>
                        <a:schemeClr val="tx1"/>
                      </a:solidFill>
                      <a:prstDash val="solid"/>
                      <a:round/>
                      <a:headEnd type="none" w="med" len="med"/>
                      <a:tailEnd type="none" w="med" len="lg"/>
                    </a:lnT>
                    <a:lnB w="28575" cap="flat" cmpd="sng" algn="ctr">
                      <a:solidFill>
                        <a:schemeClr val="tx1"/>
                      </a:solidFill>
                      <a:prstDash val="solid"/>
                      <a:round/>
                      <a:headEnd type="none" w="med" len="med"/>
                      <a:tailEnd type="none" w="med" len="lg"/>
                    </a:lnB>
                    <a:lnTlToBr>
                      <a:noFill/>
                    </a:lnTlToBr>
                    <a:lnBlToTr>
                      <a:noFill/>
                    </a:lnBlToTr>
                    <a:solidFill>
                      <a:schemeClr val="accent2">
                        <a:lumMod val="20000"/>
                        <a:lumOff val="80000"/>
                      </a:schemeClr>
                    </a:solidFill>
                  </a:tcPr>
                </a:tc>
              </a:tr>
            </a:tbl>
          </a:graphicData>
        </a:graphic>
      </p:graphicFrame>
      <p:graphicFrame>
        <p:nvGraphicFramePr>
          <p:cNvPr id="19" name="Object 241"/>
          <p:cNvGraphicFramePr>
            <a:graphicFrameLocks noChangeAspect="1"/>
          </p:cNvGraphicFramePr>
          <p:nvPr/>
        </p:nvGraphicFramePr>
        <p:xfrm>
          <a:off x="5834923" y="1965953"/>
          <a:ext cx="1773245" cy="550089"/>
        </p:xfrm>
        <a:graphic>
          <a:graphicData uri="http://schemas.openxmlformats.org/presentationml/2006/ole">
            <mc:AlternateContent xmlns:mc="http://schemas.openxmlformats.org/markup-compatibility/2006">
              <mc:Choice xmlns:v="urn:schemas-microsoft-com:vml" Requires="v">
                <p:oleObj spid="_x0000_s206855" name="Equation" r:id="rId1" imgW="1473200" imgH="457200" progId="Equation.DSMT4">
                  <p:embed/>
                </p:oleObj>
              </mc:Choice>
              <mc:Fallback>
                <p:oleObj name="Equation" r:id="rId1" imgW="1473200" imgH="457200" progId="Equation.DSMT4">
                  <p:embed/>
                  <p:pic>
                    <p:nvPicPr>
                      <p:cNvPr id="0" name="Object 2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4923" y="1965953"/>
                        <a:ext cx="1773245" cy="550089"/>
                      </a:xfrm>
                      <a:prstGeom prst="rect">
                        <a:avLst/>
                      </a:prstGeom>
                      <a:noFill/>
                      <a:ln>
                        <a:noFill/>
                      </a:ln>
                      <a:effectLst/>
                    </p:spPr>
                  </p:pic>
                </p:oleObj>
              </mc:Fallback>
            </mc:AlternateContent>
          </a:graphicData>
        </a:graphic>
      </p:graphicFrame>
      <p:graphicFrame>
        <p:nvGraphicFramePr>
          <p:cNvPr id="20" name="Object 247"/>
          <p:cNvGraphicFramePr>
            <a:graphicFrameLocks noChangeAspect="1"/>
          </p:cNvGraphicFramePr>
          <p:nvPr/>
        </p:nvGraphicFramePr>
        <p:xfrm>
          <a:off x="5816308" y="2662425"/>
          <a:ext cx="1791860" cy="526455"/>
        </p:xfrm>
        <a:graphic>
          <a:graphicData uri="http://schemas.openxmlformats.org/presentationml/2006/ole">
            <mc:AlternateContent xmlns:mc="http://schemas.openxmlformats.org/markup-compatibility/2006">
              <mc:Choice xmlns:v="urn:schemas-microsoft-com:vml" Requires="v">
                <p:oleObj spid="_x0000_s2" name="Equation" r:id="rId3" imgW="1638300" imgH="457200" progId="Equation.DSMT4">
                  <p:embed/>
                </p:oleObj>
              </mc:Choice>
              <mc:Fallback>
                <p:oleObj name="Equation" r:id="rId3" imgW="1638300" imgH="457200" progId="Equation.DSMT4">
                  <p:embed/>
                  <p:pic>
                    <p:nvPicPr>
                      <p:cNvPr id="0" name="Object 2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6308" y="2662425"/>
                        <a:ext cx="1791860" cy="526455"/>
                      </a:xfrm>
                      <a:prstGeom prst="rect">
                        <a:avLst/>
                      </a:prstGeom>
                      <a:noFill/>
                      <a:ln>
                        <a:noFill/>
                      </a:ln>
                      <a:effectLst/>
                    </p:spPr>
                  </p:pic>
                </p:oleObj>
              </mc:Fallback>
            </mc:AlternateContent>
          </a:graphicData>
        </a:graphic>
      </p:graphicFrame>
      <p:graphicFrame>
        <p:nvGraphicFramePr>
          <p:cNvPr id="21" name="Object 252"/>
          <p:cNvGraphicFramePr>
            <a:graphicFrameLocks noChangeAspect="1"/>
          </p:cNvGraphicFramePr>
          <p:nvPr/>
        </p:nvGraphicFramePr>
        <p:xfrm>
          <a:off x="5036917" y="3408645"/>
          <a:ext cx="540996" cy="319944"/>
        </p:xfrm>
        <a:graphic>
          <a:graphicData uri="http://schemas.openxmlformats.org/presentationml/2006/ole">
            <mc:AlternateContent xmlns:mc="http://schemas.openxmlformats.org/markup-compatibility/2006">
              <mc:Choice xmlns:v="urn:schemas-microsoft-com:vml" Requires="v">
                <p:oleObj spid="_x0000_s3" name="Equation" r:id="rId5" imgW="342900" imgH="203200" progId="Equation.DSMT4">
                  <p:embed/>
                </p:oleObj>
              </mc:Choice>
              <mc:Fallback>
                <p:oleObj name="Equation" r:id="rId5" imgW="342900" imgH="203200" progId="Equation.DSMT4">
                  <p:embed/>
                  <p:pic>
                    <p:nvPicPr>
                      <p:cNvPr id="0" name="Object 2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36917" y="3408645"/>
                        <a:ext cx="540996" cy="319944"/>
                      </a:xfrm>
                      <a:prstGeom prst="rect">
                        <a:avLst/>
                      </a:prstGeom>
                      <a:noFill/>
                      <a:ln>
                        <a:noFill/>
                      </a:ln>
                      <a:effectLst/>
                    </p:spPr>
                  </p:pic>
                </p:oleObj>
              </mc:Fallback>
            </mc:AlternateContent>
          </a:graphicData>
        </a:graphic>
      </p:graphicFrame>
      <p:graphicFrame>
        <p:nvGraphicFramePr>
          <p:cNvPr id="22" name="Object 253"/>
          <p:cNvGraphicFramePr>
            <a:graphicFrameLocks noChangeAspect="1"/>
          </p:cNvGraphicFramePr>
          <p:nvPr/>
        </p:nvGraphicFramePr>
        <p:xfrm>
          <a:off x="5925606" y="3285733"/>
          <a:ext cx="1485310" cy="546763"/>
        </p:xfrm>
        <a:graphic>
          <a:graphicData uri="http://schemas.openxmlformats.org/presentationml/2006/ole">
            <mc:AlternateContent xmlns:mc="http://schemas.openxmlformats.org/markup-compatibility/2006">
              <mc:Choice xmlns:v="urn:schemas-microsoft-com:vml" Requires="v">
                <p:oleObj spid="_x0000_s4" name="Equation" r:id="rId7" imgW="1308100" imgH="457200" progId="Equation.DSMT4">
                  <p:embed/>
                </p:oleObj>
              </mc:Choice>
              <mc:Fallback>
                <p:oleObj name="Equation" r:id="rId7" imgW="1308100" imgH="457200" progId="Equation.DSMT4">
                  <p:embed/>
                  <p:pic>
                    <p:nvPicPr>
                      <p:cNvPr id="0" name="Object 2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25606" y="3285733"/>
                        <a:ext cx="1485310" cy="546763"/>
                      </a:xfrm>
                      <a:prstGeom prst="rect">
                        <a:avLst/>
                      </a:prstGeom>
                      <a:noFill/>
                      <a:ln>
                        <a:noFill/>
                      </a:ln>
                      <a:effectLst/>
                    </p:spPr>
                  </p:pic>
                </p:oleObj>
              </mc:Fallback>
            </mc:AlternateContent>
          </a:graphicData>
        </a:graphic>
      </p:graphicFrame>
      <p:graphicFrame>
        <p:nvGraphicFramePr>
          <p:cNvPr id="23" name="Object 256"/>
          <p:cNvGraphicFramePr>
            <a:graphicFrameLocks noChangeAspect="1"/>
          </p:cNvGraphicFramePr>
          <p:nvPr/>
        </p:nvGraphicFramePr>
        <p:xfrm>
          <a:off x="5771894" y="3909544"/>
          <a:ext cx="1792733" cy="488818"/>
        </p:xfrm>
        <a:graphic>
          <a:graphicData uri="http://schemas.openxmlformats.org/presentationml/2006/ole">
            <mc:AlternateContent xmlns:mc="http://schemas.openxmlformats.org/markup-compatibility/2006">
              <mc:Choice xmlns:v="urn:schemas-microsoft-com:vml" Requires="v">
                <p:oleObj spid="_x0000_s5" name="Equation" r:id="rId9" imgW="1676400" imgH="457200" progId="Equation.DSMT4">
                  <p:embed/>
                </p:oleObj>
              </mc:Choice>
              <mc:Fallback>
                <p:oleObj name="Equation" r:id="rId9" imgW="1676400" imgH="457200" progId="Equation.DSMT4">
                  <p:embed/>
                  <p:pic>
                    <p:nvPicPr>
                      <p:cNvPr id="0" name="Object 25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71894" y="3909544"/>
                        <a:ext cx="1792733" cy="488818"/>
                      </a:xfrm>
                      <a:prstGeom prst="rect">
                        <a:avLst/>
                      </a:prstGeom>
                      <a:noFill/>
                      <a:ln>
                        <a:noFill/>
                      </a:ln>
                      <a:effectLst/>
                    </p:spPr>
                  </p:pic>
                </p:oleObj>
              </mc:Fallback>
            </mc:AlternateContent>
          </a:graphicData>
        </a:graphic>
      </p:graphicFrame>
      <p:graphicFrame>
        <p:nvGraphicFramePr>
          <p:cNvPr id="24" name="Object 259"/>
          <p:cNvGraphicFramePr>
            <a:graphicFrameLocks noChangeAspect="1"/>
          </p:cNvGraphicFramePr>
          <p:nvPr/>
        </p:nvGraphicFramePr>
        <p:xfrm>
          <a:off x="5087406" y="4725201"/>
          <a:ext cx="565785" cy="266065"/>
        </p:xfrm>
        <a:graphic>
          <a:graphicData uri="http://schemas.openxmlformats.org/presentationml/2006/ole">
            <mc:AlternateContent xmlns:mc="http://schemas.openxmlformats.org/markup-compatibility/2006">
              <mc:Choice xmlns:v="urn:schemas-microsoft-com:vml" Requires="v">
                <p:oleObj spid="_x0000_s6" name="Equation" r:id="rId11" imgW="431800" imgH="203200" progId="Equation.DSMT4">
                  <p:embed/>
                </p:oleObj>
              </mc:Choice>
              <mc:Fallback>
                <p:oleObj name="Equation" r:id="rId11" imgW="431800" imgH="203200" progId="Equation.DSMT4">
                  <p:embed/>
                  <p:pic>
                    <p:nvPicPr>
                      <p:cNvPr id="0" name="Object 259"/>
                      <p:cNvPicPr>
                        <a:picLocks noChangeAspect="1" noChangeArrowheads="1"/>
                      </p:cNvPicPr>
                      <p:nvPr/>
                    </p:nvPicPr>
                    <p:blipFill>
                      <a:blip r:embed="rId12"/>
                      <a:srcRect/>
                      <a:stretch>
                        <a:fillRect/>
                      </a:stretch>
                    </p:blipFill>
                    <p:spPr bwMode="auto">
                      <a:xfrm>
                        <a:off x="5087406" y="4725201"/>
                        <a:ext cx="565785" cy="266065"/>
                      </a:xfrm>
                      <a:prstGeom prst="rect">
                        <a:avLst/>
                      </a:prstGeom>
                      <a:noFill/>
                      <a:ln>
                        <a:noFill/>
                      </a:ln>
                      <a:effectLst/>
                    </p:spPr>
                  </p:pic>
                </p:oleObj>
              </mc:Fallback>
            </mc:AlternateContent>
          </a:graphicData>
        </a:graphic>
      </p:graphicFrame>
      <p:graphicFrame>
        <p:nvGraphicFramePr>
          <p:cNvPr id="25" name="Object 263"/>
          <p:cNvGraphicFramePr>
            <a:graphicFrameLocks noChangeAspect="1"/>
          </p:cNvGraphicFramePr>
          <p:nvPr/>
        </p:nvGraphicFramePr>
        <p:xfrm>
          <a:off x="5006512" y="5500495"/>
          <a:ext cx="708521" cy="265696"/>
        </p:xfrm>
        <a:graphic>
          <a:graphicData uri="http://schemas.openxmlformats.org/presentationml/2006/ole">
            <mc:AlternateContent xmlns:mc="http://schemas.openxmlformats.org/markup-compatibility/2006">
              <mc:Choice xmlns:v="urn:schemas-microsoft-com:vml" Requires="v">
                <p:oleObj spid="_x0000_s7" name="Equation" r:id="rId13" imgW="609600" imgH="228600" progId="Equation.DSMT4">
                  <p:embed/>
                </p:oleObj>
              </mc:Choice>
              <mc:Fallback>
                <p:oleObj name="Equation" r:id="rId13" imgW="609600" imgH="228600" progId="Equation.DSMT4">
                  <p:embed/>
                  <p:pic>
                    <p:nvPicPr>
                      <p:cNvPr id="0" name="Object 26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06512" y="5500495"/>
                        <a:ext cx="708521" cy="265696"/>
                      </a:xfrm>
                      <a:prstGeom prst="rect">
                        <a:avLst/>
                      </a:prstGeom>
                      <a:noFill/>
                      <a:ln>
                        <a:noFill/>
                      </a:ln>
                      <a:effectLst/>
                    </p:spPr>
                  </p:pic>
                </p:oleObj>
              </mc:Fallback>
            </mc:AlternateContent>
          </a:graphicData>
        </a:graphic>
      </p:graphicFrame>
      <p:graphicFrame>
        <p:nvGraphicFramePr>
          <p:cNvPr id="26" name="Object 260"/>
          <p:cNvGraphicFramePr>
            <a:graphicFrameLocks noChangeAspect="1"/>
          </p:cNvGraphicFramePr>
          <p:nvPr/>
        </p:nvGraphicFramePr>
        <p:xfrm>
          <a:off x="5794115" y="4403561"/>
          <a:ext cx="1552575" cy="775970"/>
        </p:xfrm>
        <a:graphic>
          <a:graphicData uri="http://schemas.openxmlformats.org/presentationml/2006/ole">
            <mc:AlternateContent xmlns:mc="http://schemas.openxmlformats.org/markup-compatibility/2006">
              <mc:Choice xmlns:v="urn:schemas-microsoft-com:vml" Requires="v">
                <p:oleObj spid="_x0000_s8" name="Equation" r:id="rId15" imgW="1320165" imgH="660400" progId="Equation.DSMT4">
                  <p:embed/>
                </p:oleObj>
              </mc:Choice>
              <mc:Fallback>
                <p:oleObj name="Equation" r:id="rId15" imgW="1320165" imgH="660400" progId="Equation.DSMT4">
                  <p:embed/>
                  <p:pic>
                    <p:nvPicPr>
                      <p:cNvPr id="0" name="Object 260"/>
                      <p:cNvPicPr>
                        <a:picLocks noChangeAspect="1" noChangeArrowheads="1"/>
                      </p:cNvPicPr>
                      <p:nvPr/>
                    </p:nvPicPr>
                    <p:blipFill>
                      <a:blip r:embed="rId16"/>
                      <a:srcRect/>
                      <a:stretch>
                        <a:fillRect/>
                      </a:stretch>
                    </p:blipFill>
                    <p:spPr bwMode="auto">
                      <a:xfrm>
                        <a:off x="5794115" y="4403561"/>
                        <a:ext cx="1552575" cy="775970"/>
                      </a:xfrm>
                      <a:prstGeom prst="rect">
                        <a:avLst/>
                      </a:prstGeom>
                      <a:noFill/>
                      <a:ln>
                        <a:noFill/>
                      </a:ln>
                      <a:effectLst/>
                    </p:spPr>
                  </p:pic>
                </p:oleObj>
              </mc:Fallback>
            </mc:AlternateContent>
          </a:graphicData>
        </a:graphic>
      </p:graphicFrame>
      <p:graphicFrame>
        <p:nvGraphicFramePr>
          <p:cNvPr id="27" name="Object 264"/>
          <p:cNvGraphicFramePr>
            <a:graphicFrameLocks noChangeAspect="1"/>
          </p:cNvGraphicFramePr>
          <p:nvPr/>
        </p:nvGraphicFramePr>
        <p:xfrm>
          <a:off x="5879976" y="5179833"/>
          <a:ext cx="1608843" cy="849870"/>
        </p:xfrm>
        <a:graphic>
          <a:graphicData uri="http://schemas.openxmlformats.org/presentationml/2006/ole">
            <mc:AlternateContent xmlns:mc="http://schemas.openxmlformats.org/markup-compatibility/2006">
              <mc:Choice xmlns:v="urn:schemas-microsoft-com:vml" Requires="v">
                <p:oleObj spid="_x0000_s9" name="Equation" r:id="rId17" imgW="1346200" imgH="711200" progId="Equation.DSMT4">
                  <p:embed/>
                </p:oleObj>
              </mc:Choice>
              <mc:Fallback>
                <p:oleObj name="Equation" r:id="rId17" imgW="1346200" imgH="711200" progId="Equation.DSMT4">
                  <p:embed/>
                  <p:pic>
                    <p:nvPicPr>
                      <p:cNvPr id="0" name="Object 26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879976" y="5179833"/>
                        <a:ext cx="1608843" cy="849870"/>
                      </a:xfrm>
                      <a:prstGeom prst="rect">
                        <a:avLst/>
                      </a:prstGeom>
                      <a:noFill/>
                      <a:ln>
                        <a:noFill/>
                      </a:ln>
                      <a:effectLst/>
                    </p:spPr>
                  </p:pic>
                </p:oleObj>
              </mc:Fallback>
            </mc:AlternateContent>
          </a:graphicData>
        </a:graphic>
      </p:graphicFrame>
      <p:graphicFrame>
        <p:nvGraphicFramePr>
          <p:cNvPr id="28" name="Object 254"/>
          <p:cNvGraphicFramePr>
            <a:graphicFrameLocks noChangeAspect="1"/>
          </p:cNvGraphicFramePr>
          <p:nvPr/>
        </p:nvGraphicFramePr>
        <p:xfrm>
          <a:off x="8112224" y="3353400"/>
          <a:ext cx="321708" cy="409575"/>
        </p:xfrm>
        <a:graphic>
          <a:graphicData uri="http://schemas.openxmlformats.org/presentationml/2006/ole">
            <mc:AlternateContent xmlns:mc="http://schemas.openxmlformats.org/markup-compatibility/2006">
              <mc:Choice xmlns:v="urn:schemas-microsoft-com:vml" Requires="v">
                <p:oleObj spid="_x0000_s10" name="Equation" r:id="rId19" imgW="139700" imgH="177800" progId="Equation.DSMT4">
                  <p:embed/>
                </p:oleObj>
              </mc:Choice>
              <mc:Fallback>
                <p:oleObj name="Equation" r:id="rId19" imgW="139700" imgH="177800" progId="Equation.DSMT4">
                  <p:embed/>
                  <p:pic>
                    <p:nvPicPr>
                      <p:cNvPr id="0" name="Object 25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112224" y="3353400"/>
                        <a:ext cx="321708" cy="409575"/>
                      </a:xfrm>
                      <a:prstGeom prst="rect">
                        <a:avLst/>
                      </a:prstGeom>
                      <a:noFill/>
                      <a:ln>
                        <a:noFill/>
                      </a:ln>
                      <a:effectLst/>
                    </p:spPr>
                  </p:pic>
                </p:oleObj>
              </mc:Fallback>
            </mc:AlternateContent>
          </a:graphicData>
        </a:graphic>
      </p:graphicFrame>
      <p:graphicFrame>
        <p:nvGraphicFramePr>
          <p:cNvPr id="29" name="Object 255"/>
          <p:cNvGraphicFramePr>
            <a:graphicFrameLocks noChangeAspect="1"/>
          </p:cNvGraphicFramePr>
          <p:nvPr/>
        </p:nvGraphicFramePr>
        <p:xfrm>
          <a:off x="9408368" y="3353400"/>
          <a:ext cx="329778" cy="419848"/>
        </p:xfrm>
        <a:graphic>
          <a:graphicData uri="http://schemas.openxmlformats.org/presentationml/2006/ole">
            <mc:AlternateContent xmlns:mc="http://schemas.openxmlformats.org/markup-compatibility/2006">
              <mc:Choice xmlns:v="urn:schemas-microsoft-com:vml" Requires="v">
                <p:oleObj spid="_x0000_s17" name="Equation" r:id="rId21" imgW="139700" imgH="177800" progId="Equation.DSMT4">
                  <p:embed/>
                </p:oleObj>
              </mc:Choice>
              <mc:Fallback>
                <p:oleObj name="Equation" r:id="rId21" imgW="139700" imgH="177800" progId="Equation.DSMT4">
                  <p:embed/>
                  <p:pic>
                    <p:nvPicPr>
                      <p:cNvPr id="0" name="Object 25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408368" y="3353400"/>
                        <a:ext cx="329778" cy="419848"/>
                      </a:xfrm>
                      <a:prstGeom prst="rect">
                        <a:avLst/>
                      </a:prstGeom>
                      <a:noFill/>
                      <a:ln>
                        <a:noFill/>
                      </a:ln>
                      <a:effectLst/>
                    </p:spPr>
                  </p:pic>
                </p:oleObj>
              </mc:Fallback>
            </mc:AlternateContent>
          </a:graphicData>
        </a:graphic>
      </p:graphicFrame>
      <p:graphicFrame>
        <p:nvGraphicFramePr>
          <p:cNvPr id="33" name="Object 257"/>
          <p:cNvGraphicFramePr>
            <a:graphicFrameLocks noChangeAspect="1"/>
          </p:cNvGraphicFramePr>
          <p:nvPr/>
        </p:nvGraphicFramePr>
        <p:xfrm>
          <a:off x="8013828" y="3799858"/>
          <a:ext cx="471106" cy="635216"/>
        </p:xfrm>
        <a:graphic>
          <a:graphicData uri="http://schemas.openxmlformats.org/presentationml/2006/ole">
            <mc:AlternateContent xmlns:mc="http://schemas.openxmlformats.org/markup-compatibility/2006">
              <mc:Choice xmlns:v="urn:schemas-microsoft-com:vml" Requires="v">
                <p:oleObj spid="_x0000_s18" name="Equation" r:id="rId23" imgW="292100" imgH="393700" progId="Equation.DSMT4">
                  <p:embed/>
                </p:oleObj>
              </mc:Choice>
              <mc:Fallback>
                <p:oleObj name="Equation" r:id="rId23" imgW="292100" imgH="393700" progId="Equation.DSMT4">
                  <p:embed/>
                  <p:pic>
                    <p:nvPicPr>
                      <p:cNvPr id="0" name="Object 25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013828" y="3799858"/>
                        <a:ext cx="471106" cy="635216"/>
                      </a:xfrm>
                      <a:prstGeom prst="rect">
                        <a:avLst/>
                      </a:prstGeom>
                      <a:noFill/>
                      <a:ln>
                        <a:noFill/>
                      </a:ln>
                      <a:effectLst/>
                    </p:spPr>
                  </p:pic>
                </p:oleObj>
              </mc:Fallback>
            </mc:AlternateContent>
          </a:graphicData>
        </a:graphic>
      </p:graphicFrame>
      <p:graphicFrame>
        <p:nvGraphicFramePr>
          <p:cNvPr id="34" name="Object 258"/>
          <p:cNvGraphicFramePr>
            <a:graphicFrameLocks noChangeAspect="1"/>
          </p:cNvGraphicFramePr>
          <p:nvPr/>
        </p:nvGraphicFramePr>
        <p:xfrm>
          <a:off x="9186242" y="3816231"/>
          <a:ext cx="674513" cy="618844"/>
        </p:xfrm>
        <a:graphic>
          <a:graphicData uri="http://schemas.openxmlformats.org/presentationml/2006/ole">
            <mc:AlternateContent xmlns:mc="http://schemas.openxmlformats.org/markup-compatibility/2006">
              <mc:Choice xmlns:v="urn:schemas-microsoft-com:vml" Requires="v">
                <p:oleObj spid="_x0000_s30" name="Equation" r:id="rId25" imgW="457200" imgH="419100" progId="Equation.DSMT4">
                  <p:embed/>
                </p:oleObj>
              </mc:Choice>
              <mc:Fallback>
                <p:oleObj name="Equation" r:id="rId25" imgW="457200" imgH="419100" progId="Equation.DSMT4">
                  <p:embed/>
                  <p:pic>
                    <p:nvPicPr>
                      <p:cNvPr id="0" name="Object 25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186242" y="3816231"/>
                        <a:ext cx="674513" cy="618844"/>
                      </a:xfrm>
                      <a:prstGeom prst="rect">
                        <a:avLst/>
                      </a:prstGeom>
                      <a:noFill/>
                      <a:ln>
                        <a:noFill/>
                      </a:ln>
                      <a:effectLst/>
                    </p:spPr>
                  </p:pic>
                </p:oleObj>
              </mc:Fallback>
            </mc:AlternateContent>
          </a:graphicData>
        </a:graphic>
      </p:graphicFrame>
      <p:graphicFrame>
        <p:nvGraphicFramePr>
          <p:cNvPr id="35" name="Object 261"/>
          <p:cNvGraphicFramePr>
            <a:graphicFrameLocks noChangeAspect="1"/>
          </p:cNvGraphicFramePr>
          <p:nvPr/>
        </p:nvGraphicFramePr>
        <p:xfrm>
          <a:off x="8151073" y="4619300"/>
          <a:ext cx="262890" cy="367030"/>
        </p:xfrm>
        <a:graphic>
          <a:graphicData uri="http://schemas.openxmlformats.org/presentationml/2006/ole">
            <mc:AlternateContent xmlns:mc="http://schemas.openxmlformats.org/markup-compatibility/2006">
              <mc:Choice xmlns:v="urn:schemas-microsoft-com:vml" Requires="v">
                <p:oleObj spid="_x0000_s31" name="Equation" r:id="rId27" imgW="127000" imgH="177165" progId="Equation.DSMT4">
                  <p:embed/>
                </p:oleObj>
              </mc:Choice>
              <mc:Fallback>
                <p:oleObj name="Equation" r:id="rId27" imgW="127000" imgH="177165" progId="Equation.DSMT4">
                  <p:embed/>
                  <p:pic>
                    <p:nvPicPr>
                      <p:cNvPr id="0" name="Object 261"/>
                      <p:cNvPicPr>
                        <a:picLocks noChangeAspect="1" noChangeArrowheads="1"/>
                      </p:cNvPicPr>
                      <p:nvPr/>
                    </p:nvPicPr>
                    <p:blipFill>
                      <a:blip r:embed="rId28"/>
                      <a:srcRect/>
                      <a:stretch>
                        <a:fillRect/>
                      </a:stretch>
                    </p:blipFill>
                    <p:spPr bwMode="auto">
                      <a:xfrm>
                        <a:off x="8151073" y="4619300"/>
                        <a:ext cx="262890" cy="367030"/>
                      </a:xfrm>
                      <a:prstGeom prst="rect">
                        <a:avLst/>
                      </a:prstGeom>
                      <a:noFill/>
                      <a:ln>
                        <a:noFill/>
                      </a:ln>
                      <a:effectLst/>
                    </p:spPr>
                  </p:pic>
                </p:oleObj>
              </mc:Fallback>
            </mc:AlternateContent>
          </a:graphicData>
        </a:graphic>
      </p:graphicFrame>
      <p:graphicFrame>
        <p:nvGraphicFramePr>
          <p:cNvPr id="37" name="Object 265"/>
          <p:cNvGraphicFramePr>
            <a:graphicFrameLocks noChangeAspect="1"/>
          </p:cNvGraphicFramePr>
          <p:nvPr/>
        </p:nvGraphicFramePr>
        <p:xfrm>
          <a:off x="8112224" y="5393804"/>
          <a:ext cx="389098" cy="421928"/>
        </p:xfrm>
        <a:graphic>
          <a:graphicData uri="http://schemas.openxmlformats.org/presentationml/2006/ole">
            <mc:AlternateContent xmlns:mc="http://schemas.openxmlformats.org/markup-compatibility/2006">
              <mc:Choice xmlns:v="urn:schemas-microsoft-com:vml" Requires="v">
                <p:oleObj spid="_x0000_s38" name="Equation" r:id="rId29" imgW="152400" imgH="165100" progId="Equation.DSMT4">
                  <p:embed/>
                </p:oleObj>
              </mc:Choice>
              <mc:Fallback>
                <p:oleObj name="Equation" r:id="rId29" imgW="152400" imgH="165100" progId="Equation.DSMT4">
                  <p:embed/>
                  <p:pic>
                    <p:nvPicPr>
                      <p:cNvPr id="0" name="Object 26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8112224" y="5393804"/>
                        <a:ext cx="389098" cy="421928"/>
                      </a:xfrm>
                      <a:prstGeom prst="rect">
                        <a:avLst/>
                      </a:prstGeom>
                      <a:noFill/>
                      <a:ln>
                        <a:noFill/>
                      </a:ln>
                      <a:effectLst/>
                    </p:spPr>
                  </p:pic>
                </p:oleObj>
              </mc:Fallback>
            </mc:AlternateContent>
          </a:graphicData>
        </a:graphic>
      </p:graphicFrame>
      <p:graphicFrame>
        <p:nvGraphicFramePr>
          <p:cNvPr id="39" name="Object 266"/>
          <p:cNvGraphicFramePr>
            <a:graphicFrameLocks noChangeAspect="1"/>
          </p:cNvGraphicFramePr>
          <p:nvPr/>
        </p:nvGraphicFramePr>
        <p:xfrm>
          <a:off x="9287238" y="5281143"/>
          <a:ext cx="457200" cy="488974"/>
        </p:xfrm>
        <a:graphic>
          <a:graphicData uri="http://schemas.openxmlformats.org/presentationml/2006/ole">
            <mc:AlternateContent xmlns:mc="http://schemas.openxmlformats.org/markup-compatibility/2006">
              <mc:Choice xmlns:v="urn:schemas-microsoft-com:vml" Requires="v">
                <p:oleObj spid="_x0000_s40" name="Equation" r:id="rId31" imgW="203200" imgH="203200" progId="Equation.DSMT4">
                  <p:embed/>
                </p:oleObj>
              </mc:Choice>
              <mc:Fallback>
                <p:oleObj name="Equation" r:id="rId31" imgW="203200" imgH="203200" progId="Equation.DSMT4">
                  <p:embed/>
                  <p:pic>
                    <p:nvPicPr>
                      <p:cNvPr id="0" name="Object 26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9287238" y="5281143"/>
                        <a:ext cx="457200" cy="488974"/>
                      </a:xfrm>
                      <a:prstGeom prst="rect">
                        <a:avLst/>
                      </a:prstGeom>
                      <a:noFill/>
                      <a:ln>
                        <a:noFill/>
                      </a:ln>
                      <a:effectLst/>
                    </p:spPr>
                  </p:pic>
                </p:oleObj>
              </mc:Fallback>
            </mc:AlternateContent>
          </a:graphicData>
        </a:graphic>
      </p:graphicFrame>
      <p:grpSp>
        <p:nvGrpSpPr>
          <p:cNvPr id="43" name="组合 42"/>
          <p:cNvGrpSpPr/>
          <p:nvPr/>
        </p:nvGrpSpPr>
        <p:grpSpPr>
          <a:xfrm>
            <a:off x="9408160" y="4549775"/>
            <a:ext cx="381000" cy="436245"/>
            <a:chOff x="14816" y="7165"/>
            <a:chExt cx="600" cy="687"/>
          </a:xfrm>
        </p:grpSpPr>
        <p:graphicFrame>
          <p:nvGraphicFramePr>
            <p:cNvPr id="41" name="Object 261"/>
            <p:cNvGraphicFramePr>
              <a:graphicFrameLocks noChangeAspect="1"/>
            </p:cNvGraphicFramePr>
            <p:nvPr/>
          </p:nvGraphicFramePr>
          <p:xfrm>
            <a:off x="14816" y="7274"/>
            <a:ext cx="414" cy="578"/>
          </p:xfrm>
          <a:graphic>
            <a:graphicData uri="http://schemas.openxmlformats.org/presentationml/2006/ole">
              <mc:AlternateContent xmlns:mc="http://schemas.openxmlformats.org/markup-compatibility/2006">
                <mc:Choice xmlns:v="urn:schemas-microsoft-com:vml" Requires="v">
                  <p:oleObj spid="_x0000_s42" name="Equation" r:id="rId33" imgW="127000" imgH="177165" progId="Equation.DSMT4">
                    <p:embed/>
                  </p:oleObj>
                </mc:Choice>
                <mc:Fallback>
                  <p:oleObj name="Equation" r:id="rId33" imgW="127000" imgH="177165" progId="Equation.DSMT4">
                    <p:embed/>
                    <p:pic>
                      <p:nvPicPr>
                        <p:cNvPr id="0" name="Object 261"/>
                        <p:cNvPicPr>
                          <a:picLocks noChangeAspect="1" noChangeArrowheads="1"/>
                        </p:cNvPicPr>
                        <p:nvPr/>
                      </p:nvPicPr>
                      <p:blipFill>
                        <a:blip r:embed="rId28"/>
                        <a:srcRect/>
                        <a:stretch>
                          <a:fillRect/>
                        </a:stretch>
                      </p:blipFill>
                      <p:spPr bwMode="auto">
                        <a:xfrm>
                          <a:off x="14816" y="7274"/>
                          <a:ext cx="414" cy="578"/>
                        </a:xfrm>
                        <a:prstGeom prst="rect">
                          <a:avLst/>
                        </a:prstGeom>
                        <a:noFill/>
                        <a:ln>
                          <a:noFill/>
                        </a:ln>
                        <a:effectLst/>
                      </p:spPr>
                    </p:pic>
                  </p:oleObj>
                </mc:Fallback>
              </mc:AlternateContent>
            </a:graphicData>
          </a:graphic>
        </p:graphicFrame>
        <p:sp>
          <p:nvSpPr>
            <p:cNvPr id="36" name="文本框 35"/>
            <p:cNvSpPr txBox="1"/>
            <p:nvPr/>
          </p:nvSpPr>
          <p:spPr>
            <a:xfrm>
              <a:off x="15058" y="7165"/>
              <a:ext cx="358" cy="483"/>
            </a:xfrm>
            <a:prstGeom prst="rect">
              <a:avLst/>
            </a:prstGeom>
            <a:noFill/>
          </p:spPr>
          <p:txBody>
            <a:bodyPr wrap="square" rtlCol="0">
              <a:spAutoFit/>
            </a:bodyPr>
            <a:p>
              <a:r>
                <a:rPr lang="en-US" altLang="zh-CN" sz="1400">
                  <a:latin typeface="Arial" panose="020B0604020202020204" pitchFamily="34" charset="0"/>
                  <a:cs typeface="Arial" panose="020B0604020202020204" pitchFamily="34" charset="0"/>
                </a:rPr>
                <a:t>2</a:t>
              </a:r>
              <a:endParaRPr lang="en-US" altLang="zh-CN" sz="1400">
                <a:latin typeface="Arial" panose="020B0604020202020204" pitchFamily="34" charset="0"/>
                <a:cs typeface="Arial" panose="020B0604020202020204" pitchFamily="34" charset="0"/>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36" name="Text Box 40"/>
          <p:cNvSpPr txBox="1">
            <a:spLocks noChangeArrowheads="1"/>
          </p:cNvSpPr>
          <p:nvPr/>
        </p:nvSpPr>
        <p:spPr bwMode="auto">
          <a:xfrm>
            <a:off x="1406163" y="1166925"/>
            <a:ext cx="1009043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tr-TR"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tr-TR"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a:t>
            </a:r>
            <a:r>
              <a:rPr lang="tr-TR"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tr-TR"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相互独立：已知</a:t>
            </a:r>
            <a:r>
              <a:rPr lang="tr-TR"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EX=3</a:t>
            </a:r>
            <a:r>
              <a:rPr lang="zh-CN" altLang="tr-TR"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tr-TR"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DX=1</a:t>
            </a:r>
            <a:r>
              <a:rPr lang="zh-CN" altLang="tr-TR"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tr-TR"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EY=2</a:t>
            </a:r>
            <a:r>
              <a:rPr lang="zh-CN" altLang="tr-TR"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tr-TR"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DY=3 </a:t>
            </a:r>
            <a:r>
              <a:rPr lang="zh-CN" altLang="tr-TR"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zh-CN" altLang="tr-TR"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tr-TR"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E(X-2Y)</a:t>
            </a:r>
            <a:r>
              <a:rPr lang="zh-CN" altLang="tr-TR"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tr-TR"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D(X-2Y) </a:t>
            </a:r>
            <a:r>
              <a:rPr lang="zh-CN" altLang="tr-TR"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40" name="Text Box 44"/>
          <p:cNvSpPr txBox="1">
            <a:spLocks noChangeArrowheads="1"/>
          </p:cNvSpPr>
          <p:nvPr/>
        </p:nvSpPr>
        <p:spPr bwMode="auto">
          <a:xfrm>
            <a:off x="1582733" y="2786558"/>
            <a:ext cx="458330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 由数学期望和方差的性质</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17" name="Picture 6" descr="image3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91544" y="3734286"/>
            <a:ext cx="6624736" cy="53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7" descr="image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528" y="4351764"/>
            <a:ext cx="5904656" cy="1099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736"/>
                                        </p:tgtEl>
                                        <p:attrNameLst>
                                          <p:attrName>style.visibility</p:attrName>
                                        </p:attrNameLst>
                                      </p:cBhvr>
                                      <p:to>
                                        <p:strVal val="visible"/>
                                      </p:to>
                                    </p:set>
                                    <p:anim calcmode="lin" valueType="num">
                                      <p:cBhvr additive="base">
                                        <p:cTn id="7" dur="500" fill="hold"/>
                                        <p:tgtEl>
                                          <p:spTgt spid="29736"/>
                                        </p:tgtEl>
                                        <p:attrNameLst>
                                          <p:attrName>ppt_x</p:attrName>
                                        </p:attrNameLst>
                                      </p:cBhvr>
                                      <p:tavLst>
                                        <p:tav tm="0">
                                          <p:val>
                                            <p:strVal val="0-#ppt_w/2"/>
                                          </p:val>
                                        </p:tav>
                                        <p:tav tm="100000">
                                          <p:val>
                                            <p:strVal val="#ppt_x"/>
                                          </p:val>
                                        </p:tav>
                                      </p:tavLst>
                                    </p:anim>
                                    <p:anim calcmode="lin" valueType="num">
                                      <p:cBhvr additive="base">
                                        <p:cTn id="8" dur="500" fill="hold"/>
                                        <p:tgtEl>
                                          <p:spTgt spid="297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740"/>
                                        </p:tgtEl>
                                        <p:attrNameLst>
                                          <p:attrName>style.visibility</p:attrName>
                                        </p:attrNameLst>
                                      </p:cBhvr>
                                      <p:to>
                                        <p:strVal val="visible"/>
                                      </p:to>
                                    </p:set>
                                    <p:anim calcmode="lin" valueType="num">
                                      <p:cBhvr additive="base">
                                        <p:cTn id="13" dur="500" fill="hold"/>
                                        <p:tgtEl>
                                          <p:spTgt spid="29740"/>
                                        </p:tgtEl>
                                        <p:attrNameLst>
                                          <p:attrName>ppt_x</p:attrName>
                                        </p:attrNameLst>
                                      </p:cBhvr>
                                      <p:tavLst>
                                        <p:tav tm="0">
                                          <p:val>
                                            <p:strVal val="0-#ppt_w/2"/>
                                          </p:val>
                                        </p:tav>
                                        <p:tav tm="100000">
                                          <p:val>
                                            <p:strVal val="#ppt_x"/>
                                          </p:val>
                                        </p:tav>
                                      </p:tavLst>
                                    </p:anim>
                                    <p:anim calcmode="lin" valueType="num">
                                      <p:cBhvr additive="base">
                                        <p:cTn id="14" dur="500" fill="hold"/>
                                        <p:tgtEl>
                                          <p:spTgt spid="2974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36" grpId="0"/>
      <p:bldP spid="29740"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4"/>
          <p:cNvSpPr txBox="1"/>
          <p:nvPr/>
        </p:nvSpPr>
        <p:spPr>
          <a:xfrm>
            <a:off x="1271464" y="620688"/>
            <a:ext cx="7992888" cy="523220"/>
          </a:xfrm>
          <a:prstGeom prst="rect">
            <a:avLst/>
          </a:prstGeom>
          <a:noFill/>
          <a:ln w="9525">
            <a:noFill/>
          </a:ln>
        </p:spPr>
        <p:txBody>
          <a:bodyPr wrap="square"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ct val="50000"/>
              </a:spcBef>
            </a:pPr>
            <a:r>
              <a:rPr lang="zh-CN" altLang="en-US" sz="2800" dirty="0">
                <a:latin typeface="Arial" panose="020B0604020202020204" pitchFamily="34" charset="0"/>
                <a:ea typeface="宋体" panose="02010600030101010101" pitchFamily="2" charset="-122"/>
              </a:rPr>
              <a:t>求掷</a:t>
            </a:r>
            <a:r>
              <a:rPr lang="en-US" altLang="zh-CN" sz="2800" dirty="0">
                <a:latin typeface="Arial" panose="020B0604020202020204" pitchFamily="34" charset="0"/>
                <a:ea typeface="宋体" panose="02010600030101010101" pitchFamily="2" charset="-122"/>
              </a:rPr>
              <a:t>n</a:t>
            </a:r>
            <a:r>
              <a:rPr lang="zh-CN" altLang="en-US" sz="2800" dirty="0">
                <a:latin typeface="Arial" panose="020B0604020202020204" pitchFamily="34" charset="0"/>
                <a:ea typeface="宋体" panose="02010600030101010101" pitchFamily="2" charset="-122"/>
              </a:rPr>
              <a:t>颗骰子出现点数之和的数学期望与方差</a:t>
            </a:r>
            <a:r>
              <a:rPr lang="en-US" altLang="zh-CN" sz="2800" dirty="0">
                <a:latin typeface="Arial" panose="020B0604020202020204" pitchFamily="34" charset="0"/>
                <a:ea typeface="宋体" panose="02010600030101010101" pitchFamily="2" charset="-122"/>
              </a:rPr>
              <a:t>.</a:t>
            </a:r>
            <a:endParaRPr lang="en-US" altLang="zh-CN" sz="2800" dirty="0">
              <a:latin typeface="Arial" panose="020B0604020202020204" pitchFamily="34" charset="0"/>
              <a:ea typeface="宋体" panose="02010600030101010101" pitchFamily="2" charset="-122"/>
            </a:endParaRPr>
          </a:p>
        </p:txBody>
      </p:sp>
      <p:pic>
        <p:nvPicPr>
          <p:cNvPr id="4" name="图片 3"/>
          <p:cNvPicPr>
            <a:picLocks noChangeAspect="1"/>
          </p:cNvPicPr>
          <p:nvPr/>
        </p:nvPicPr>
        <p:blipFill>
          <a:blip r:embed="rId1"/>
          <a:stretch>
            <a:fillRect/>
          </a:stretch>
        </p:blipFill>
        <p:spPr>
          <a:xfrm>
            <a:off x="1415480" y="1426920"/>
            <a:ext cx="8559604" cy="1990740"/>
          </a:xfrm>
          <a:prstGeom prst="rect">
            <a:avLst/>
          </a:prstGeom>
        </p:spPr>
      </p:pic>
      <p:pic>
        <p:nvPicPr>
          <p:cNvPr id="5" name="图片 4"/>
          <p:cNvPicPr>
            <a:picLocks noChangeAspect="1"/>
          </p:cNvPicPr>
          <p:nvPr/>
        </p:nvPicPr>
        <p:blipFill>
          <a:blip r:embed="rId2"/>
          <a:stretch>
            <a:fillRect/>
          </a:stretch>
        </p:blipFill>
        <p:spPr>
          <a:xfrm>
            <a:off x="2026414" y="3417660"/>
            <a:ext cx="8139172" cy="33099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101090" y="548640"/>
            <a:ext cx="9762490" cy="953135"/>
          </a:xfrm>
          <a:prstGeom prst="rect">
            <a:avLst/>
          </a:prstGeom>
        </p:spPr>
        <p:txBody>
          <a:bodyPr wrap="square">
            <a:spAutoFit/>
          </a:bodyPr>
          <a:p>
            <a:pPr marL="0" indent="0"/>
            <a:r>
              <a:rPr lang="zh-CN" altLang="en-US" sz="2800" b="1" i="0">
                <a:latin typeface="Inter"/>
                <a:ea typeface="Inter"/>
              </a:rPr>
              <a:t>现有</a:t>
            </a:r>
            <a:r>
              <a:rPr lang="en-US" altLang="zh-CN" sz="2800" b="1" i="0">
                <a:latin typeface="Inter"/>
                <a:ea typeface="Inter"/>
              </a:rPr>
              <a:t>10</a:t>
            </a:r>
            <a:r>
              <a:rPr lang="zh-CN" altLang="en-US" sz="2800" b="1" i="0">
                <a:latin typeface="Inter"/>
                <a:ea typeface="Inter"/>
              </a:rPr>
              <a:t>张奖券，期中</a:t>
            </a:r>
            <a:r>
              <a:rPr lang="en-US" altLang="zh-CN" sz="2800" b="1" i="0">
                <a:latin typeface="Inter"/>
                <a:ea typeface="Inter"/>
              </a:rPr>
              <a:t>8</a:t>
            </a:r>
            <a:r>
              <a:rPr lang="zh-CN" altLang="en-US" sz="2800" b="1" i="0">
                <a:latin typeface="Inter"/>
                <a:ea typeface="Inter"/>
              </a:rPr>
              <a:t>张为</a:t>
            </a:r>
            <a:r>
              <a:rPr lang="en-US" altLang="zh-CN" sz="2800" b="1" i="0">
                <a:latin typeface="Inter"/>
                <a:ea typeface="Inter"/>
              </a:rPr>
              <a:t>2</a:t>
            </a:r>
            <a:r>
              <a:rPr lang="zh-CN" altLang="en-US" sz="2800" b="1" i="0">
                <a:latin typeface="Inter"/>
                <a:ea typeface="Inter"/>
              </a:rPr>
              <a:t>元，</a:t>
            </a:r>
            <a:r>
              <a:rPr lang="en-US" altLang="zh-CN" sz="2800" b="1" i="0">
                <a:latin typeface="Inter"/>
                <a:ea typeface="Inter"/>
              </a:rPr>
              <a:t>2</a:t>
            </a:r>
            <a:r>
              <a:rPr lang="zh-CN" altLang="en-US" sz="2800" b="1" i="0">
                <a:latin typeface="Inter"/>
                <a:ea typeface="Inter"/>
              </a:rPr>
              <a:t>张为</a:t>
            </a:r>
            <a:r>
              <a:rPr lang="en-US" altLang="zh-CN" sz="2800" b="1" i="0">
                <a:latin typeface="Inter"/>
                <a:ea typeface="Inter"/>
              </a:rPr>
              <a:t>5</a:t>
            </a:r>
            <a:r>
              <a:rPr lang="zh-CN" altLang="en-US" sz="2800" b="1" i="0">
                <a:latin typeface="Inter"/>
                <a:ea typeface="Inter"/>
              </a:rPr>
              <a:t>元，某人从中随机、无放回地抽取</a:t>
            </a:r>
            <a:r>
              <a:rPr lang="en-US" altLang="zh-CN" sz="2800" b="1" i="0">
                <a:latin typeface="Inter"/>
                <a:ea typeface="Inter"/>
              </a:rPr>
              <a:t>3</a:t>
            </a:r>
            <a:r>
              <a:rPr lang="zh-CN" altLang="en-US" sz="2800" b="1" i="0">
                <a:latin typeface="Inter"/>
                <a:ea typeface="Inter"/>
              </a:rPr>
              <a:t>张，则此人所得奖金的数学期望为（ ）。</a:t>
            </a:r>
            <a:endParaRPr lang="zh-CN" altLang="en-US" sz="2800" b="1" i="0">
              <a:latin typeface="Inter"/>
              <a:ea typeface="Inter"/>
            </a:endParaRPr>
          </a:p>
        </p:txBody>
      </p:sp>
      <p:sp>
        <p:nvSpPr>
          <p:cNvPr id="3" name="文本框 2"/>
          <p:cNvSpPr txBox="1"/>
          <p:nvPr/>
        </p:nvSpPr>
        <p:spPr>
          <a:xfrm>
            <a:off x="1199515" y="1772920"/>
            <a:ext cx="9353550" cy="1753235"/>
          </a:xfrm>
          <a:prstGeom prst="rect">
            <a:avLst/>
          </a:prstGeom>
        </p:spPr>
        <p:txBody>
          <a:bodyPr wrap="square">
            <a:spAutoFit/>
          </a:bodyPr>
          <a:p>
            <a:pPr marL="0" indent="0">
              <a:lnSpc>
                <a:spcPct val="150000"/>
              </a:lnSpc>
              <a:spcBef>
                <a:spcPct val="0"/>
              </a:spcBef>
            </a:pPr>
            <a:r>
              <a:rPr lang="zh-CN" altLang="en-US" sz="2400" b="0" i="0">
                <a:latin typeface="Inter"/>
                <a:ea typeface="Inter"/>
              </a:rPr>
              <a:t>先确定奖金的所有可能取值，再分别计算每个取值的概率，最后根据数学期望的公式计算奖金的数学期望。</a:t>
            </a:r>
            <a:endParaRPr lang="zh-CN" altLang="en-US" sz="2400" b="0" i="0">
              <a:latin typeface="Inter"/>
              <a:ea typeface="Inter"/>
            </a:endParaRPr>
          </a:p>
          <a:p>
            <a:pPr marL="0" indent="0">
              <a:lnSpc>
                <a:spcPct val="150000"/>
              </a:lnSpc>
            </a:pPr>
            <a:r>
              <a:rPr lang="zh-CN" altLang="en-US" sz="2400" b="0" i="0">
                <a:latin typeface="Inter"/>
                <a:ea typeface="Inter"/>
              </a:rPr>
              <a:t>设此人所得奖金为</a:t>
            </a:r>
            <a:r>
              <a:rPr lang="en-US" altLang="zh-CN" sz="2400" b="0" i="0">
                <a:latin typeface="Inter"/>
                <a:ea typeface="Inter"/>
              </a:rPr>
              <a:t>X</a:t>
            </a:r>
            <a:r>
              <a:rPr lang="zh-CN" altLang="en-US" sz="2400" b="0" i="0">
                <a:latin typeface="Inter"/>
                <a:ea typeface="Inter"/>
              </a:rPr>
              <a:t>元，</a:t>
            </a:r>
            <a:r>
              <a:rPr lang="en-US" altLang="zh-CN" sz="2400" b="0" i="0">
                <a:latin typeface="Inter"/>
                <a:ea typeface="Inter"/>
              </a:rPr>
              <a:t>X</a:t>
            </a:r>
            <a:r>
              <a:rPr lang="zh-CN" altLang="en-US" sz="2400" b="0" i="0">
                <a:latin typeface="Inter"/>
                <a:ea typeface="Inter"/>
              </a:rPr>
              <a:t>的所有可能取值为</a:t>
            </a:r>
            <a:r>
              <a:rPr lang="en-US" altLang="zh-CN" sz="2400" b="0" i="0">
                <a:latin typeface="Inter"/>
                <a:ea typeface="Inter"/>
              </a:rPr>
              <a:t>6</a:t>
            </a:r>
            <a:r>
              <a:rPr lang="zh-CN" altLang="en-US" sz="2400" b="0" i="0">
                <a:latin typeface="Inter"/>
                <a:ea typeface="Inter"/>
              </a:rPr>
              <a:t>，</a:t>
            </a:r>
            <a:r>
              <a:rPr lang="en-US" altLang="zh-CN" sz="2400" b="0" i="0">
                <a:latin typeface="Inter"/>
                <a:ea typeface="Inter"/>
              </a:rPr>
              <a:t>9</a:t>
            </a:r>
            <a:r>
              <a:rPr lang="zh-CN" altLang="en-US" sz="2400" b="0" i="0">
                <a:latin typeface="Inter"/>
                <a:ea typeface="Inter"/>
              </a:rPr>
              <a:t>，</a:t>
            </a:r>
            <a:r>
              <a:rPr lang="en-US" altLang="zh-CN" sz="2400" b="0" i="0">
                <a:latin typeface="Inter"/>
                <a:ea typeface="Inter"/>
              </a:rPr>
              <a:t>12</a:t>
            </a:r>
            <a:r>
              <a:rPr lang="zh-CN" altLang="en-US" sz="2400" b="0" i="0">
                <a:latin typeface="Inter"/>
                <a:ea typeface="Inter"/>
              </a:rPr>
              <a:t>。</a:t>
            </a:r>
            <a:endParaRPr lang="zh-CN" altLang="en-US" sz="2400" b="0" i="0">
              <a:latin typeface="Inter"/>
              <a:ea typeface="Inter"/>
            </a:endParaRPr>
          </a:p>
        </p:txBody>
      </p:sp>
      <p:pic>
        <p:nvPicPr>
          <p:cNvPr id="4" name="图片 3"/>
          <p:cNvPicPr>
            <a:picLocks noChangeAspect="1"/>
          </p:cNvPicPr>
          <p:nvPr/>
        </p:nvPicPr>
        <p:blipFill>
          <a:blip r:embed="rId1"/>
          <a:stretch>
            <a:fillRect/>
          </a:stretch>
        </p:blipFill>
        <p:spPr>
          <a:xfrm>
            <a:off x="1343025" y="3644900"/>
            <a:ext cx="2771775" cy="733425"/>
          </a:xfrm>
          <a:prstGeom prst="rect">
            <a:avLst/>
          </a:prstGeom>
        </p:spPr>
      </p:pic>
      <p:pic>
        <p:nvPicPr>
          <p:cNvPr id="5" name="图片 4"/>
          <p:cNvPicPr>
            <a:picLocks noChangeAspect="1"/>
          </p:cNvPicPr>
          <p:nvPr/>
        </p:nvPicPr>
        <p:blipFill>
          <a:blip r:embed="rId2"/>
          <a:stretch>
            <a:fillRect/>
          </a:stretch>
        </p:blipFill>
        <p:spPr>
          <a:xfrm>
            <a:off x="4295775" y="3635375"/>
            <a:ext cx="3009900" cy="742950"/>
          </a:xfrm>
          <a:prstGeom prst="rect">
            <a:avLst/>
          </a:prstGeom>
        </p:spPr>
      </p:pic>
      <p:pic>
        <p:nvPicPr>
          <p:cNvPr id="6" name="图片 5"/>
          <p:cNvPicPr>
            <a:picLocks noChangeAspect="1"/>
          </p:cNvPicPr>
          <p:nvPr/>
        </p:nvPicPr>
        <p:blipFill>
          <a:blip r:embed="rId3"/>
          <a:srcRect t="9300"/>
          <a:stretch>
            <a:fillRect/>
          </a:stretch>
        </p:blipFill>
        <p:spPr>
          <a:xfrm>
            <a:off x="7536180" y="3644900"/>
            <a:ext cx="3000375" cy="699770"/>
          </a:xfrm>
          <a:prstGeom prst="rect">
            <a:avLst/>
          </a:prstGeom>
        </p:spPr>
      </p:pic>
      <p:pic>
        <p:nvPicPr>
          <p:cNvPr id="7" name="图片 6"/>
          <p:cNvPicPr>
            <a:picLocks noChangeAspect="1"/>
          </p:cNvPicPr>
          <p:nvPr/>
        </p:nvPicPr>
        <p:blipFill>
          <a:blip r:embed="rId4"/>
          <a:stretch>
            <a:fillRect/>
          </a:stretch>
        </p:blipFill>
        <p:spPr>
          <a:xfrm>
            <a:off x="1343025" y="4725035"/>
            <a:ext cx="6324600" cy="8477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343025" y="548640"/>
            <a:ext cx="8924290" cy="1793240"/>
          </a:xfrm>
          <a:prstGeom prst="rect">
            <a:avLst/>
          </a:prstGeom>
        </p:spPr>
      </p:pic>
      <p:sp>
        <p:nvSpPr>
          <p:cNvPr id="3" name="文本框 2"/>
          <p:cNvSpPr txBox="1"/>
          <p:nvPr/>
        </p:nvSpPr>
        <p:spPr>
          <a:xfrm>
            <a:off x="1415415" y="2428240"/>
            <a:ext cx="8655685" cy="829945"/>
          </a:xfrm>
          <a:prstGeom prst="rect">
            <a:avLst/>
          </a:prstGeom>
        </p:spPr>
        <p:txBody>
          <a:bodyPr wrap="square">
            <a:spAutoFit/>
          </a:bodyPr>
          <a:p>
            <a:pPr marL="0" indent="0" algn="l"/>
            <a:r>
              <a:rPr lang="zh-CN" altLang="en-US" sz="2400" b="0" i="0">
                <a:latin typeface="Inter"/>
                <a:ea typeface="Inter"/>
              </a:rPr>
              <a:t>从甲箱中任取</a:t>
            </a:r>
            <a:r>
              <a:rPr lang="en-US" altLang="zh-CN" sz="2400" b="0" i="0">
                <a:latin typeface="Inter"/>
                <a:ea typeface="Inter"/>
              </a:rPr>
              <a:t>3</a:t>
            </a:r>
            <a:r>
              <a:rPr lang="zh-CN" altLang="en-US" sz="2400" b="0" i="0">
                <a:latin typeface="Inter"/>
                <a:ea typeface="Inter"/>
              </a:rPr>
              <a:t>件产品放入乙箱后，乙箱中次品件数</a:t>
            </a:r>
            <a:r>
              <a:rPr lang="en-US" altLang="zh-CN" sz="2400" b="0" i="0">
                <a:latin typeface="Inter"/>
                <a:ea typeface="Inter"/>
              </a:rPr>
              <a:t>X</a:t>
            </a:r>
            <a:r>
              <a:rPr lang="zh-CN" altLang="en-US" sz="2400" b="0" i="0">
                <a:latin typeface="Inter"/>
                <a:ea typeface="Inter"/>
              </a:rPr>
              <a:t>的可能取值为</a:t>
            </a:r>
            <a:r>
              <a:rPr lang="en-US" altLang="zh-CN" sz="2400" b="0" i="0">
                <a:latin typeface="Inter"/>
                <a:ea typeface="Inter"/>
              </a:rPr>
              <a:t>0</a:t>
            </a:r>
            <a:r>
              <a:rPr lang="zh-CN" altLang="en-US" sz="2400" b="0" i="0">
                <a:latin typeface="Inter"/>
                <a:ea typeface="Inter"/>
              </a:rPr>
              <a:t>，</a:t>
            </a:r>
            <a:r>
              <a:rPr lang="en-US" altLang="zh-CN" sz="2400" b="0" i="0">
                <a:latin typeface="Inter"/>
                <a:ea typeface="Inter"/>
              </a:rPr>
              <a:t>1</a:t>
            </a:r>
            <a:r>
              <a:rPr lang="zh-CN" altLang="en-US" sz="2400" b="0" i="0">
                <a:latin typeface="Inter"/>
                <a:ea typeface="Inter"/>
              </a:rPr>
              <a:t>，</a:t>
            </a:r>
            <a:r>
              <a:rPr lang="en-US" altLang="zh-CN" sz="2400" b="0" i="0">
                <a:latin typeface="Inter"/>
                <a:ea typeface="Inter"/>
              </a:rPr>
              <a:t>2</a:t>
            </a:r>
            <a:r>
              <a:rPr lang="zh-CN" altLang="en-US" sz="2400" b="0" i="0">
                <a:latin typeface="Inter"/>
                <a:ea typeface="Inter"/>
              </a:rPr>
              <a:t>，</a:t>
            </a:r>
            <a:r>
              <a:rPr lang="en-US" altLang="zh-CN" sz="2400" b="0" i="0">
                <a:latin typeface="Inter"/>
                <a:ea typeface="Inter"/>
              </a:rPr>
              <a:t>3</a:t>
            </a:r>
            <a:r>
              <a:rPr lang="zh-CN" altLang="en-US" sz="2400" b="0" i="0">
                <a:latin typeface="Inter"/>
                <a:ea typeface="Inter"/>
              </a:rPr>
              <a:t>。</a:t>
            </a:r>
            <a:endParaRPr lang="zh-CN" altLang="en-US" sz="2400" b="0" i="0">
              <a:latin typeface="Inter"/>
              <a:ea typeface="Inter"/>
            </a:endParaRPr>
          </a:p>
        </p:txBody>
      </p:sp>
      <p:pic>
        <p:nvPicPr>
          <p:cNvPr id="4" name="图片 3"/>
          <p:cNvPicPr>
            <a:picLocks noChangeAspect="1"/>
          </p:cNvPicPr>
          <p:nvPr/>
        </p:nvPicPr>
        <p:blipFill>
          <a:blip r:embed="rId2"/>
          <a:srcRect t="16272" b="10609"/>
          <a:stretch>
            <a:fillRect/>
          </a:stretch>
        </p:blipFill>
        <p:spPr>
          <a:xfrm>
            <a:off x="1559560" y="3451860"/>
            <a:ext cx="4038600" cy="647700"/>
          </a:xfrm>
          <a:prstGeom prst="rect">
            <a:avLst/>
          </a:prstGeom>
        </p:spPr>
      </p:pic>
      <p:pic>
        <p:nvPicPr>
          <p:cNvPr id="5" name="图片 4"/>
          <p:cNvPicPr>
            <a:picLocks noChangeAspect="1"/>
          </p:cNvPicPr>
          <p:nvPr/>
        </p:nvPicPr>
        <p:blipFill>
          <a:blip r:embed="rId3"/>
          <a:srcRect t="6008" r="1166" b="11276"/>
          <a:stretch>
            <a:fillRect/>
          </a:stretch>
        </p:blipFill>
        <p:spPr>
          <a:xfrm>
            <a:off x="1559560" y="4292600"/>
            <a:ext cx="4038600" cy="638175"/>
          </a:xfrm>
          <a:prstGeom prst="rect">
            <a:avLst/>
          </a:prstGeom>
        </p:spPr>
      </p:pic>
      <p:pic>
        <p:nvPicPr>
          <p:cNvPr id="6" name="图片 5"/>
          <p:cNvPicPr>
            <a:picLocks noChangeAspect="1"/>
          </p:cNvPicPr>
          <p:nvPr/>
        </p:nvPicPr>
        <p:blipFill>
          <a:blip r:embed="rId4"/>
          <a:srcRect b="6849"/>
          <a:stretch>
            <a:fillRect/>
          </a:stretch>
        </p:blipFill>
        <p:spPr>
          <a:xfrm>
            <a:off x="1559560" y="5085080"/>
            <a:ext cx="3914775" cy="647700"/>
          </a:xfrm>
          <a:prstGeom prst="rect">
            <a:avLst/>
          </a:prstGeom>
        </p:spPr>
      </p:pic>
      <p:pic>
        <p:nvPicPr>
          <p:cNvPr id="7" name="图片 6"/>
          <p:cNvPicPr>
            <a:picLocks noChangeAspect="1"/>
          </p:cNvPicPr>
          <p:nvPr/>
        </p:nvPicPr>
        <p:blipFill>
          <a:blip r:embed="rId5"/>
          <a:stretch>
            <a:fillRect/>
          </a:stretch>
        </p:blipFill>
        <p:spPr>
          <a:xfrm>
            <a:off x="1559560" y="5887085"/>
            <a:ext cx="3609975" cy="628650"/>
          </a:xfrm>
          <a:prstGeom prst="rect">
            <a:avLst/>
          </a:prstGeom>
        </p:spPr>
      </p:pic>
      <p:pic>
        <p:nvPicPr>
          <p:cNvPr id="8" name="图片 7"/>
          <p:cNvPicPr>
            <a:picLocks noChangeAspect="1"/>
          </p:cNvPicPr>
          <p:nvPr/>
        </p:nvPicPr>
        <p:blipFill>
          <a:blip r:embed="rId6"/>
          <a:stretch>
            <a:fillRect/>
          </a:stretch>
        </p:blipFill>
        <p:spPr>
          <a:xfrm>
            <a:off x="5883275" y="3356610"/>
            <a:ext cx="5848350" cy="266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44" name="Rectangle 20"/>
          <p:cNvSpPr>
            <a:spLocks noChangeArrowheads="1"/>
          </p:cNvSpPr>
          <p:nvPr/>
        </p:nvSpPr>
        <p:spPr bwMode="auto">
          <a:xfrm>
            <a:off x="1309275" y="1195387"/>
            <a:ext cx="775735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是常数，则</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45" name="Rectangle 21"/>
          <p:cNvSpPr>
            <a:spLocks noChangeArrowheads="1"/>
          </p:cNvSpPr>
          <p:nvPr/>
        </p:nvSpPr>
        <p:spPr bwMode="auto">
          <a:xfrm>
            <a:off x="1309273" y="4311919"/>
            <a:ext cx="791168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4.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相互独立，则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46" name="Rectangle 22"/>
          <p:cNvSpPr>
            <a:spLocks noChangeArrowheads="1"/>
          </p:cNvSpPr>
          <p:nvPr/>
        </p:nvSpPr>
        <p:spPr bwMode="auto">
          <a:xfrm>
            <a:off x="1309275" y="1881187"/>
            <a:ext cx="775735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若</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是常数，则</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47" name="Rectangle 23"/>
          <p:cNvSpPr>
            <a:spLocks noChangeArrowheads="1"/>
          </p:cNvSpPr>
          <p:nvPr/>
        </p:nvSpPr>
        <p:spPr bwMode="auto">
          <a:xfrm>
            <a:off x="1309274" y="2565276"/>
            <a:ext cx="7757353"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性质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3.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7848" name="Object 24"/>
          <p:cNvGraphicFramePr>
            <a:graphicFrameLocks noChangeAspect="1"/>
          </p:cNvGraphicFramePr>
          <p:nvPr/>
        </p:nvGraphicFramePr>
        <p:xfrm>
          <a:off x="1778587" y="3199692"/>
          <a:ext cx="4756150" cy="950912"/>
        </p:xfrm>
        <a:graphic>
          <a:graphicData uri="http://schemas.openxmlformats.org/presentationml/2006/ole">
            <mc:AlternateContent xmlns:mc="http://schemas.openxmlformats.org/markup-compatibility/2006">
              <mc:Choice xmlns:v="urn:schemas-microsoft-com:vml" Requires="v">
                <p:oleObj spid="_x0000_s206855" name="Equation" r:id="rId1" imgW="43281600" imgH="10363200" progId="Equation.DSMT4">
                  <p:embed/>
                </p:oleObj>
              </mc:Choice>
              <mc:Fallback>
                <p:oleObj name="Equation" r:id="rId1" imgW="43281600" imgH="10363200" progId="Equation.DSMT4">
                  <p:embed/>
                  <p:pic>
                    <p:nvPicPr>
                      <p:cNvPr id="0" name="Object 24"/>
                      <p:cNvPicPr>
                        <a:picLocks noChangeAspect="1" noChangeArrowheads="1"/>
                      </p:cNvPicPr>
                      <p:nvPr/>
                    </p:nvPicPr>
                    <p:blipFill>
                      <a:blip r:embed="rId2"/>
                      <a:srcRect/>
                      <a:stretch>
                        <a:fillRect/>
                      </a:stretch>
                    </p:blipFill>
                    <p:spPr bwMode="auto">
                      <a:xfrm>
                        <a:off x="1778587" y="3199692"/>
                        <a:ext cx="4756150" cy="950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49" name="Object 25"/>
          <p:cNvGraphicFramePr>
            <a:graphicFrameLocks noChangeAspect="1"/>
          </p:cNvGraphicFramePr>
          <p:nvPr/>
        </p:nvGraphicFramePr>
        <p:xfrm>
          <a:off x="2131721" y="4996008"/>
          <a:ext cx="4856162" cy="995362"/>
        </p:xfrm>
        <a:graphic>
          <a:graphicData uri="http://schemas.openxmlformats.org/presentationml/2006/ole">
            <mc:AlternateContent xmlns:mc="http://schemas.openxmlformats.org/markup-compatibility/2006">
              <mc:Choice xmlns:v="urn:schemas-microsoft-com:vml" Requires="v">
                <p:oleObj spid="_x0000_s2" name="Equation" r:id="rId3" imgW="44196000" imgH="10363200" progId="Equation.DSMT4">
                  <p:embed/>
                </p:oleObj>
              </mc:Choice>
              <mc:Fallback>
                <p:oleObj name="Equation" r:id="rId3" imgW="44196000" imgH="10363200" progId="Equation.DSMT4">
                  <p:embed/>
                  <p:pic>
                    <p:nvPicPr>
                      <p:cNvPr id="0" name="Object 25"/>
                      <p:cNvPicPr>
                        <a:picLocks noChangeAspect="1" noChangeArrowheads="1"/>
                      </p:cNvPicPr>
                      <p:nvPr/>
                    </p:nvPicPr>
                    <p:blipFill>
                      <a:blip r:embed="rId4"/>
                      <a:srcRect/>
                      <a:stretch>
                        <a:fillRect/>
                      </a:stretch>
                    </p:blipFill>
                    <p:spPr bwMode="auto">
                      <a:xfrm>
                        <a:off x="2131721" y="4996008"/>
                        <a:ext cx="4856162" cy="995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850" name="Rectangle 26"/>
          <p:cNvSpPr>
            <a:spLocks noChangeArrowheads="1"/>
          </p:cNvSpPr>
          <p:nvPr/>
        </p:nvSpPr>
        <p:spPr bwMode="auto">
          <a:xfrm>
            <a:off x="6963228" y="5202754"/>
            <a:ext cx="3361818"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（诸</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i</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相互独立时）</a:t>
            </a:r>
            <a:endParaRPr lang="zh-CN" altLang="en-US" sz="2800" b="1" baseline="-25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51" name="AutoShape 27"/>
          <p:cNvSpPr>
            <a:spLocks noChangeArrowheads="1"/>
          </p:cNvSpPr>
          <p:nvPr/>
        </p:nvSpPr>
        <p:spPr bwMode="auto">
          <a:xfrm>
            <a:off x="7464152" y="1990615"/>
            <a:ext cx="3672408" cy="1562814"/>
          </a:xfrm>
          <a:prstGeom prst="wedgeRectCallout">
            <a:avLst>
              <a:gd name="adj1" fmla="val -51704"/>
              <a:gd name="adj2" fmla="val 103835"/>
            </a:avLst>
          </a:prstGeom>
          <a:solidFill>
            <a:srgbClr val="C00000"/>
          </a:solidFill>
          <a:ln w="9525">
            <a:solidFill>
              <a:schemeClr val="tx1"/>
            </a:solidFill>
            <a:miter lim="800000"/>
          </a:ln>
          <a:effectLst/>
        </p:spPr>
        <p:txBody>
          <a:bodyPr wrap="none" anchor="ctr"/>
          <a:lstStyle/>
          <a:p>
            <a:pPr algn="ctr" eaLnBrk="1" hangingPunct="1">
              <a:lnSpc>
                <a:spcPct val="115000"/>
              </a:lnSpc>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请注意</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lnSpc>
                <a:spcPct val="115000"/>
              </a:lnSpc>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由</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XY</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不</a:t>
            </a:r>
            <a:endPar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lnSpc>
                <a:spcPct val="115000"/>
              </a:lnSpc>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一定能推出</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独立</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1" name="直接连接符 10"/>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3669576"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 四、数学期望的性质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844"/>
                                        </p:tgtEl>
                                        <p:attrNameLst>
                                          <p:attrName>style.visibility</p:attrName>
                                        </p:attrNameLst>
                                      </p:cBhvr>
                                      <p:to>
                                        <p:strVal val="visible"/>
                                      </p:to>
                                    </p:set>
                                    <p:anim calcmode="lin" valueType="num">
                                      <p:cBhvr additive="base">
                                        <p:cTn id="7" dur="500" fill="hold"/>
                                        <p:tgtEl>
                                          <p:spTgt spid="77844"/>
                                        </p:tgtEl>
                                        <p:attrNameLst>
                                          <p:attrName>ppt_x</p:attrName>
                                        </p:attrNameLst>
                                      </p:cBhvr>
                                      <p:tavLst>
                                        <p:tav tm="0">
                                          <p:val>
                                            <p:strVal val="0-#ppt_w/2"/>
                                          </p:val>
                                        </p:tav>
                                        <p:tav tm="100000">
                                          <p:val>
                                            <p:strVal val="#ppt_x"/>
                                          </p:val>
                                        </p:tav>
                                      </p:tavLst>
                                    </p:anim>
                                    <p:anim calcmode="lin" valueType="num">
                                      <p:cBhvr additive="base">
                                        <p:cTn id="8" dur="500" fill="hold"/>
                                        <p:tgtEl>
                                          <p:spTgt spid="7784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7846"/>
                                        </p:tgtEl>
                                        <p:attrNameLst>
                                          <p:attrName>style.visibility</p:attrName>
                                        </p:attrNameLst>
                                      </p:cBhvr>
                                      <p:to>
                                        <p:strVal val="visible"/>
                                      </p:to>
                                    </p:set>
                                    <p:anim calcmode="lin" valueType="num">
                                      <p:cBhvr additive="base">
                                        <p:cTn id="13" dur="500" fill="hold"/>
                                        <p:tgtEl>
                                          <p:spTgt spid="77846"/>
                                        </p:tgtEl>
                                        <p:attrNameLst>
                                          <p:attrName>ppt_x</p:attrName>
                                        </p:attrNameLst>
                                      </p:cBhvr>
                                      <p:tavLst>
                                        <p:tav tm="0">
                                          <p:val>
                                            <p:strVal val="0-#ppt_w/2"/>
                                          </p:val>
                                        </p:tav>
                                        <p:tav tm="100000">
                                          <p:val>
                                            <p:strVal val="#ppt_x"/>
                                          </p:val>
                                        </p:tav>
                                      </p:tavLst>
                                    </p:anim>
                                    <p:anim calcmode="lin" valueType="num">
                                      <p:cBhvr additive="base">
                                        <p:cTn id="14" dur="500" fill="hold"/>
                                        <p:tgtEl>
                                          <p:spTgt spid="7784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7847"/>
                                        </p:tgtEl>
                                        <p:attrNameLst>
                                          <p:attrName>style.visibility</p:attrName>
                                        </p:attrNameLst>
                                      </p:cBhvr>
                                      <p:to>
                                        <p:strVal val="visible"/>
                                      </p:to>
                                    </p:set>
                                    <p:anim calcmode="lin" valueType="num">
                                      <p:cBhvr additive="base">
                                        <p:cTn id="19" dur="500" fill="hold"/>
                                        <p:tgtEl>
                                          <p:spTgt spid="77847"/>
                                        </p:tgtEl>
                                        <p:attrNameLst>
                                          <p:attrName>ppt_x</p:attrName>
                                        </p:attrNameLst>
                                      </p:cBhvr>
                                      <p:tavLst>
                                        <p:tav tm="0">
                                          <p:val>
                                            <p:strVal val="0-#ppt_w/2"/>
                                          </p:val>
                                        </p:tav>
                                        <p:tav tm="100000">
                                          <p:val>
                                            <p:strVal val="#ppt_x"/>
                                          </p:val>
                                        </p:tav>
                                      </p:tavLst>
                                    </p:anim>
                                    <p:anim calcmode="lin" valueType="num">
                                      <p:cBhvr additive="base">
                                        <p:cTn id="20" dur="500" fill="hold"/>
                                        <p:tgtEl>
                                          <p:spTgt spid="7784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7848"/>
                                        </p:tgtEl>
                                        <p:attrNameLst>
                                          <p:attrName>style.visibility</p:attrName>
                                        </p:attrNameLst>
                                      </p:cBhvr>
                                      <p:to>
                                        <p:strVal val="visible"/>
                                      </p:to>
                                    </p:set>
                                    <p:anim calcmode="lin" valueType="num">
                                      <p:cBhvr additive="base">
                                        <p:cTn id="25" dur="500" fill="hold"/>
                                        <p:tgtEl>
                                          <p:spTgt spid="77848"/>
                                        </p:tgtEl>
                                        <p:attrNameLst>
                                          <p:attrName>ppt_x</p:attrName>
                                        </p:attrNameLst>
                                      </p:cBhvr>
                                      <p:tavLst>
                                        <p:tav tm="0">
                                          <p:val>
                                            <p:strVal val="0-#ppt_w/2"/>
                                          </p:val>
                                        </p:tav>
                                        <p:tav tm="100000">
                                          <p:val>
                                            <p:strVal val="#ppt_x"/>
                                          </p:val>
                                        </p:tav>
                                      </p:tavLst>
                                    </p:anim>
                                    <p:anim calcmode="lin" valueType="num">
                                      <p:cBhvr additive="base">
                                        <p:cTn id="26" dur="500" fill="hold"/>
                                        <p:tgtEl>
                                          <p:spTgt spid="7784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7845"/>
                                        </p:tgtEl>
                                        <p:attrNameLst>
                                          <p:attrName>style.visibility</p:attrName>
                                        </p:attrNameLst>
                                      </p:cBhvr>
                                      <p:to>
                                        <p:strVal val="visible"/>
                                      </p:to>
                                    </p:set>
                                    <p:anim calcmode="lin" valueType="num">
                                      <p:cBhvr additive="base">
                                        <p:cTn id="31" dur="500" fill="hold"/>
                                        <p:tgtEl>
                                          <p:spTgt spid="77845"/>
                                        </p:tgtEl>
                                        <p:attrNameLst>
                                          <p:attrName>ppt_x</p:attrName>
                                        </p:attrNameLst>
                                      </p:cBhvr>
                                      <p:tavLst>
                                        <p:tav tm="0">
                                          <p:val>
                                            <p:strVal val="0-#ppt_w/2"/>
                                          </p:val>
                                        </p:tav>
                                        <p:tav tm="100000">
                                          <p:val>
                                            <p:strVal val="#ppt_x"/>
                                          </p:val>
                                        </p:tav>
                                      </p:tavLst>
                                    </p:anim>
                                    <p:anim calcmode="lin" valueType="num">
                                      <p:cBhvr additive="base">
                                        <p:cTn id="32" dur="500" fill="hold"/>
                                        <p:tgtEl>
                                          <p:spTgt spid="7784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77851"/>
                                        </p:tgtEl>
                                        <p:attrNameLst>
                                          <p:attrName>style.visibility</p:attrName>
                                        </p:attrNameLst>
                                      </p:cBhvr>
                                      <p:to>
                                        <p:strVal val="visible"/>
                                      </p:to>
                                    </p:set>
                                    <p:anim calcmode="lin" valueType="num">
                                      <p:cBhvr additive="base">
                                        <p:cTn id="37" dur="500" fill="hold"/>
                                        <p:tgtEl>
                                          <p:spTgt spid="77851"/>
                                        </p:tgtEl>
                                        <p:attrNameLst>
                                          <p:attrName>ppt_x</p:attrName>
                                        </p:attrNameLst>
                                      </p:cBhvr>
                                      <p:tavLst>
                                        <p:tav tm="0">
                                          <p:val>
                                            <p:strVal val="1+#ppt_w/2"/>
                                          </p:val>
                                        </p:tav>
                                        <p:tav tm="100000">
                                          <p:val>
                                            <p:strVal val="#ppt_x"/>
                                          </p:val>
                                        </p:tav>
                                      </p:tavLst>
                                    </p:anim>
                                    <p:anim calcmode="lin" valueType="num">
                                      <p:cBhvr additive="base">
                                        <p:cTn id="38" dur="500" fill="hold"/>
                                        <p:tgtEl>
                                          <p:spTgt spid="7785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77849"/>
                                        </p:tgtEl>
                                        <p:attrNameLst>
                                          <p:attrName>style.visibility</p:attrName>
                                        </p:attrNameLst>
                                      </p:cBhvr>
                                      <p:to>
                                        <p:strVal val="visible"/>
                                      </p:to>
                                    </p:set>
                                    <p:anim calcmode="lin" valueType="num">
                                      <p:cBhvr additive="base">
                                        <p:cTn id="43" dur="500" fill="hold"/>
                                        <p:tgtEl>
                                          <p:spTgt spid="77849"/>
                                        </p:tgtEl>
                                        <p:attrNameLst>
                                          <p:attrName>ppt_x</p:attrName>
                                        </p:attrNameLst>
                                      </p:cBhvr>
                                      <p:tavLst>
                                        <p:tav tm="0">
                                          <p:val>
                                            <p:strVal val="0-#ppt_w/2"/>
                                          </p:val>
                                        </p:tav>
                                        <p:tav tm="100000">
                                          <p:val>
                                            <p:strVal val="#ppt_x"/>
                                          </p:val>
                                        </p:tav>
                                      </p:tavLst>
                                    </p:anim>
                                    <p:anim calcmode="lin" valueType="num">
                                      <p:cBhvr additive="base">
                                        <p:cTn id="44" dur="500" fill="hold"/>
                                        <p:tgtEl>
                                          <p:spTgt spid="77849"/>
                                        </p:tgtEl>
                                        <p:attrNameLst>
                                          <p:attrName>ppt_y</p:attrName>
                                        </p:attrNameLst>
                                      </p:cBhvr>
                                      <p:tavLst>
                                        <p:tav tm="0">
                                          <p:val>
                                            <p:strVal val="#ppt_y"/>
                                          </p:val>
                                        </p:tav>
                                        <p:tav tm="100000">
                                          <p:val>
                                            <p:strVal val="#ppt_y"/>
                                          </p:val>
                                        </p:tav>
                                      </p:tavLst>
                                    </p:anim>
                                  </p:childTnLst>
                                </p:cTn>
                              </p:par>
                            </p:childTnLst>
                          </p:cTn>
                        </p:par>
                        <p:par>
                          <p:cTn id="45" fill="hold">
                            <p:stCondLst>
                              <p:cond delay="500"/>
                            </p:stCondLst>
                            <p:childTnLst>
                              <p:par>
                                <p:cTn id="46" presetID="2" presetClass="entr" presetSubtype="8" fill="hold" grpId="0" nodeType="afterEffect">
                                  <p:stCondLst>
                                    <p:cond delay="0"/>
                                  </p:stCondLst>
                                  <p:childTnLst>
                                    <p:set>
                                      <p:cBhvr>
                                        <p:cTn id="47" dur="1" fill="hold">
                                          <p:stCondLst>
                                            <p:cond delay="0"/>
                                          </p:stCondLst>
                                        </p:cTn>
                                        <p:tgtEl>
                                          <p:spTgt spid="77850"/>
                                        </p:tgtEl>
                                        <p:attrNameLst>
                                          <p:attrName>style.visibility</p:attrName>
                                        </p:attrNameLst>
                                      </p:cBhvr>
                                      <p:to>
                                        <p:strVal val="visible"/>
                                      </p:to>
                                    </p:set>
                                    <p:anim calcmode="lin" valueType="num">
                                      <p:cBhvr additive="base">
                                        <p:cTn id="48" dur="500" fill="hold"/>
                                        <p:tgtEl>
                                          <p:spTgt spid="77850"/>
                                        </p:tgtEl>
                                        <p:attrNameLst>
                                          <p:attrName>ppt_x</p:attrName>
                                        </p:attrNameLst>
                                      </p:cBhvr>
                                      <p:tavLst>
                                        <p:tav tm="0">
                                          <p:val>
                                            <p:strVal val="0-#ppt_w/2"/>
                                          </p:val>
                                        </p:tav>
                                        <p:tav tm="100000">
                                          <p:val>
                                            <p:strVal val="#ppt_x"/>
                                          </p:val>
                                        </p:tav>
                                      </p:tavLst>
                                    </p:anim>
                                    <p:anim calcmode="lin" valueType="num">
                                      <p:cBhvr additive="base">
                                        <p:cTn id="49" dur="500" fill="hold"/>
                                        <p:tgtEl>
                                          <p:spTgt spid="778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44" grpId="0" autoUpdateAnimBg="0"/>
      <p:bldP spid="77845" grpId="0" autoUpdateAnimBg="0"/>
      <p:bldP spid="77846" grpId="0" autoUpdateAnimBg="0"/>
      <p:bldP spid="77847" grpId="0" autoUpdateAnimBg="0"/>
      <p:bldP spid="77850" grpId="0" autoUpdateAnimBg="0"/>
      <p:bldP spid="77851"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6" name="Rectangle 10"/>
          <p:cNvSpPr>
            <a:spLocks noChangeArrowheads="1"/>
          </p:cNvSpPr>
          <p:nvPr/>
        </p:nvSpPr>
        <p:spPr bwMode="auto">
          <a:xfrm>
            <a:off x="1271464" y="1407669"/>
            <a:ext cx="476284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8</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求二项分布的数学期望</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6027" name="Rectangle 11"/>
          <p:cNvSpPr>
            <a:spLocks noChangeArrowheads="1"/>
          </p:cNvSpPr>
          <p:nvPr/>
        </p:nvSpPr>
        <p:spPr bwMode="auto">
          <a:xfrm>
            <a:off x="1862756" y="2278212"/>
            <a:ext cx="935865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若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，则</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表示</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重贝努里试验中的“成功”次数。</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6029" name="Rectangle 13"/>
          <p:cNvSpPr>
            <a:spLocks noChangeArrowheads="1"/>
          </p:cNvSpPr>
          <p:nvPr/>
        </p:nvSpPr>
        <p:spPr bwMode="auto">
          <a:xfrm>
            <a:off x="1121012" y="3284984"/>
            <a:ext cx="4732386"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现在我们来求</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的数学期望。</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7" name="直接连接符 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4328411"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五、数学期望性质的应用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2" name="Rectangle 6"/>
          <p:cNvSpPr>
            <a:spLocks noChangeArrowheads="1"/>
          </p:cNvSpPr>
          <p:nvPr/>
        </p:nvSpPr>
        <p:spPr bwMode="auto">
          <a:xfrm>
            <a:off x="2058364" y="4276747"/>
            <a:ext cx="90281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若设</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3" name="Rectangle 7"/>
          <p:cNvSpPr>
            <a:spLocks noChangeArrowheads="1"/>
          </p:cNvSpPr>
          <p:nvPr/>
        </p:nvSpPr>
        <p:spPr bwMode="auto">
          <a:xfrm>
            <a:off x="1204132" y="5148351"/>
            <a:ext cx="3591048"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endParaRPr lang="en-US" altLang="zh-CN" sz="2800" b="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4" name="Object 9"/>
          <p:cNvGraphicFramePr>
            <a:graphicFrameLocks noChangeAspect="1"/>
          </p:cNvGraphicFramePr>
          <p:nvPr/>
        </p:nvGraphicFramePr>
        <p:xfrm>
          <a:off x="2999656" y="4006599"/>
          <a:ext cx="4267200" cy="1155700"/>
        </p:xfrm>
        <a:graphic>
          <a:graphicData uri="http://schemas.openxmlformats.org/presentationml/2006/ole">
            <mc:AlternateContent xmlns:mc="http://schemas.openxmlformats.org/markup-compatibility/2006">
              <mc:Choice xmlns:v="urn:schemas-microsoft-com:vml" Requires="v">
                <p:oleObj spid="_x0000_s206855" name="Equation" r:id="rId1" imgW="42672000" imgH="11582400" progId="Equation.DSMT4">
                  <p:embed/>
                </p:oleObj>
              </mc:Choice>
              <mc:Fallback>
                <p:oleObj name="Equation" r:id="rId1" imgW="42672000" imgH="11582400" progId="Equation.DSMT4">
                  <p:embed/>
                  <p:pic>
                    <p:nvPicPr>
                      <p:cNvPr id="0" name="Object 9"/>
                      <p:cNvPicPr>
                        <a:picLocks noChangeAspect="1" noChangeArrowheads="1"/>
                      </p:cNvPicPr>
                      <p:nvPr/>
                    </p:nvPicPr>
                    <p:blipFill>
                      <a:blip r:embed="rId2"/>
                      <a:srcRect/>
                      <a:stretch>
                        <a:fillRect/>
                      </a:stretch>
                    </p:blipFill>
                    <p:spPr bwMode="auto">
                      <a:xfrm>
                        <a:off x="2999656" y="4006599"/>
                        <a:ext cx="4267200" cy="115570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ectangle 10"/>
          <p:cNvSpPr>
            <a:spLocks noChangeArrowheads="1"/>
          </p:cNvSpPr>
          <p:nvPr/>
        </p:nvSpPr>
        <p:spPr bwMode="auto">
          <a:xfrm>
            <a:off x="7374575" y="4276747"/>
            <a:ext cx="221567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=1,2</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6026"/>
                                        </p:tgtEl>
                                        <p:attrNameLst>
                                          <p:attrName>style.visibility</p:attrName>
                                        </p:attrNameLst>
                                      </p:cBhvr>
                                      <p:to>
                                        <p:strVal val="visible"/>
                                      </p:to>
                                    </p:set>
                                    <p:anim calcmode="lin" valueType="num">
                                      <p:cBhvr additive="base">
                                        <p:cTn id="7" dur="500" fill="hold"/>
                                        <p:tgtEl>
                                          <p:spTgt spid="86026"/>
                                        </p:tgtEl>
                                        <p:attrNameLst>
                                          <p:attrName>ppt_x</p:attrName>
                                        </p:attrNameLst>
                                      </p:cBhvr>
                                      <p:tavLst>
                                        <p:tav tm="0">
                                          <p:val>
                                            <p:strVal val="0-#ppt_w/2"/>
                                          </p:val>
                                        </p:tav>
                                        <p:tav tm="100000">
                                          <p:val>
                                            <p:strVal val="#ppt_x"/>
                                          </p:val>
                                        </p:tav>
                                      </p:tavLst>
                                    </p:anim>
                                    <p:anim calcmode="lin" valueType="num">
                                      <p:cBhvr additive="base">
                                        <p:cTn id="8" dur="500" fill="hold"/>
                                        <p:tgtEl>
                                          <p:spTgt spid="860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6027"/>
                                        </p:tgtEl>
                                        <p:attrNameLst>
                                          <p:attrName>style.visibility</p:attrName>
                                        </p:attrNameLst>
                                      </p:cBhvr>
                                      <p:to>
                                        <p:strVal val="visible"/>
                                      </p:to>
                                    </p:set>
                                    <p:anim calcmode="lin" valueType="num">
                                      <p:cBhvr additive="base">
                                        <p:cTn id="13" dur="500" fill="hold"/>
                                        <p:tgtEl>
                                          <p:spTgt spid="86027"/>
                                        </p:tgtEl>
                                        <p:attrNameLst>
                                          <p:attrName>ppt_x</p:attrName>
                                        </p:attrNameLst>
                                      </p:cBhvr>
                                      <p:tavLst>
                                        <p:tav tm="0">
                                          <p:val>
                                            <p:strVal val="0-#ppt_w/2"/>
                                          </p:val>
                                        </p:tav>
                                        <p:tav tm="100000">
                                          <p:val>
                                            <p:strVal val="#ppt_x"/>
                                          </p:val>
                                        </p:tav>
                                      </p:tavLst>
                                    </p:anim>
                                    <p:anim calcmode="lin" valueType="num">
                                      <p:cBhvr additive="base">
                                        <p:cTn id="14" dur="500" fill="hold"/>
                                        <p:tgtEl>
                                          <p:spTgt spid="8602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6029"/>
                                        </p:tgtEl>
                                        <p:attrNameLst>
                                          <p:attrName>style.visibility</p:attrName>
                                        </p:attrNameLst>
                                      </p:cBhvr>
                                      <p:to>
                                        <p:strVal val="visible"/>
                                      </p:to>
                                    </p:set>
                                    <p:anim calcmode="lin" valueType="num">
                                      <p:cBhvr additive="base">
                                        <p:cTn id="19" dur="500" fill="hold"/>
                                        <p:tgtEl>
                                          <p:spTgt spid="86029"/>
                                        </p:tgtEl>
                                        <p:attrNameLst>
                                          <p:attrName>ppt_x</p:attrName>
                                        </p:attrNameLst>
                                      </p:cBhvr>
                                      <p:tavLst>
                                        <p:tav tm="0">
                                          <p:val>
                                            <p:strVal val="0-#ppt_w/2"/>
                                          </p:val>
                                        </p:tav>
                                        <p:tav tm="100000">
                                          <p:val>
                                            <p:strVal val="#ppt_x"/>
                                          </p:val>
                                        </p:tav>
                                      </p:tavLst>
                                    </p:anim>
                                    <p:anim calcmode="lin" valueType="num">
                                      <p:cBhvr additive="base">
                                        <p:cTn id="20" dur="500" fill="hold"/>
                                        <p:tgtEl>
                                          <p:spTgt spid="8602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0-#ppt_w/2"/>
                                          </p:val>
                                        </p:tav>
                                        <p:tav tm="100000">
                                          <p:val>
                                            <p:strVal val="#ppt_x"/>
                                          </p:val>
                                        </p:tav>
                                      </p:tavLst>
                                    </p:anim>
                                    <p:anim calcmode="lin" valueType="num">
                                      <p:cBhvr additive="base">
                                        <p:cTn id="26" dur="500" fill="hold"/>
                                        <p:tgtEl>
                                          <p:spTgt spid="12"/>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2" presetClass="entr" presetSubtype="8" fill="hold" nodeType="after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0-#ppt_w/2"/>
                                          </p:val>
                                        </p:tav>
                                        <p:tav tm="100000">
                                          <p:val>
                                            <p:strVal val="#ppt_x"/>
                                          </p:val>
                                        </p:tav>
                                      </p:tavLst>
                                    </p:anim>
                                    <p:anim calcmode="lin" valueType="num">
                                      <p:cBhvr additive="base">
                                        <p:cTn id="31" dur="500" fill="hold"/>
                                        <p:tgtEl>
                                          <p:spTgt spid="14"/>
                                        </p:tgtEl>
                                        <p:attrNameLst>
                                          <p:attrName>ppt_y</p:attrName>
                                        </p:attrNameLst>
                                      </p:cBhvr>
                                      <p:tavLst>
                                        <p:tav tm="0">
                                          <p:val>
                                            <p:strVal val="#ppt_y"/>
                                          </p:val>
                                        </p:tav>
                                        <p:tav tm="100000">
                                          <p:val>
                                            <p:strVal val="#ppt_y"/>
                                          </p:val>
                                        </p:tav>
                                      </p:tavLst>
                                    </p:anim>
                                  </p:childTnLst>
                                </p:cTn>
                              </p:par>
                            </p:childTnLst>
                          </p:cTn>
                        </p:par>
                        <p:par>
                          <p:cTn id="32" fill="hold">
                            <p:stCondLst>
                              <p:cond delay="1000"/>
                            </p:stCondLst>
                            <p:childTnLst>
                              <p:par>
                                <p:cTn id="33" presetID="2" presetClass="entr" presetSubtype="8"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0-#ppt_w/2"/>
                                          </p:val>
                                        </p:tav>
                                        <p:tav tm="100000">
                                          <p:val>
                                            <p:strVal val="#ppt_x"/>
                                          </p:val>
                                        </p:tav>
                                      </p:tavLst>
                                    </p:anim>
                                    <p:anim calcmode="lin" valueType="num">
                                      <p:cBhvr additive="base">
                                        <p:cTn id="3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0-#ppt_w/2"/>
                                          </p:val>
                                        </p:tav>
                                        <p:tav tm="100000">
                                          <p:val>
                                            <p:strVal val="#ppt_x"/>
                                          </p:val>
                                        </p:tav>
                                      </p:tavLst>
                                    </p:anim>
                                    <p:anim calcmode="lin" valueType="num">
                                      <p:cBhvr additive="base">
                                        <p:cTn id="42"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6" grpId="0" autoUpdateAnimBg="0"/>
      <p:bldP spid="86027" grpId="0" autoUpdateAnimBg="0"/>
      <p:bldP spid="86029" grpId="0" autoUpdateAnimBg="0"/>
      <p:bldP spid="12" grpId="0" autoUpdateAnimBg="0"/>
      <p:bldP spid="13" grpId="0" autoUpdateAnimBg="0"/>
      <p:bldP spid="15"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4"/>
          <p:cNvSpPr>
            <a:spLocks noChangeArrowheads="1"/>
          </p:cNvSpPr>
          <p:nvPr/>
        </p:nvSpPr>
        <p:spPr bwMode="auto">
          <a:xfrm>
            <a:off x="1314595" y="3921863"/>
            <a:ext cx="9212347" cy="130862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lnSpc>
                <a:spcPct val="150000"/>
              </a:lnSpc>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可见，服从参数为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和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的二项分布的随机变量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的数学期望是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p</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8072" name="Rectangle 8"/>
          <p:cNvSpPr>
            <a:spLocks noChangeArrowheads="1"/>
          </p:cNvSpPr>
          <p:nvPr/>
        </p:nvSpPr>
        <p:spPr bwMode="auto">
          <a:xfrm>
            <a:off x="5663610" y="3093544"/>
            <a:ext cx="85953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np</a:t>
            </a:r>
            <a:endPar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8075" name="Rectangle 11"/>
          <p:cNvSpPr>
            <a:spLocks noChangeArrowheads="1"/>
          </p:cNvSpPr>
          <p:nvPr/>
        </p:nvSpPr>
        <p:spPr bwMode="auto">
          <a:xfrm>
            <a:off x="2250699" y="1484784"/>
            <a:ext cx="2885726"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因为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=1)=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8076" name="Rectangle 12"/>
          <p:cNvSpPr>
            <a:spLocks noChangeArrowheads="1"/>
          </p:cNvSpPr>
          <p:nvPr/>
        </p:nvSpPr>
        <p:spPr bwMode="auto">
          <a:xfrm>
            <a:off x="5247351" y="1484784"/>
            <a:ext cx="2198038"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=0)= 1-</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88077" name="Group 13"/>
          <p:cNvGrpSpPr/>
          <p:nvPr/>
        </p:nvGrpSpPr>
        <p:grpSpPr bwMode="auto">
          <a:xfrm>
            <a:off x="2190161" y="2913036"/>
            <a:ext cx="3511550" cy="968375"/>
            <a:chOff x="667" y="2462"/>
            <a:chExt cx="2212" cy="610"/>
          </a:xfrm>
        </p:grpSpPr>
        <p:graphicFrame>
          <p:nvGraphicFramePr>
            <p:cNvPr id="88078" name="Object 14"/>
            <p:cNvGraphicFramePr>
              <a:graphicFrameLocks noChangeAspect="1"/>
            </p:cNvGraphicFramePr>
            <p:nvPr/>
          </p:nvGraphicFramePr>
          <p:xfrm>
            <a:off x="2017" y="2462"/>
            <a:ext cx="862" cy="610"/>
          </p:xfrm>
          <a:graphic>
            <a:graphicData uri="http://schemas.openxmlformats.org/presentationml/2006/ole">
              <mc:AlternateContent xmlns:mc="http://schemas.openxmlformats.org/markup-compatibility/2006">
                <mc:Choice xmlns:v="urn:schemas-microsoft-com:vml" Requires="v">
                  <p:oleObj spid="_x0000_s206855" name="Equation" r:id="rId1" imgW="14630400" imgH="10363200" progId="Equation.DSMT4">
                    <p:embed/>
                  </p:oleObj>
                </mc:Choice>
                <mc:Fallback>
                  <p:oleObj name="Equation" r:id="rId1" imgW="14630400" imgH="10363200" progId="Equation.DSMT4">
                    <p:embed/>
                    <p:pic>
                      <p:nvPicPr>
                        <p:cNvPr id="0" name="Object 14"/>
                        <p:cNvPicPr>
                          <a:picLocks noChangeAspect="1" noChangeArrowheads="1"/>
                        </p:cNvPicPr>
                        <p:nvPr/>
                      </p:nvPicPr>
                      <p:blipFill>
                        <a:blip r:embed="rId2"/>
                        <a:srcRect/>
                        <a:stretch>
                          <a:fillRect/>
                        </a:stretch>
                      </p:blipFill>
                      <p:spPr bwMode="auto">
                        <a:xfrm>
                          <a:off x="2017" y="2462"/>
                          <a:ext cx="862" cy="61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79" name="Rectangle 15"/>
            <p:cNvSpPr>
              <a:spLocks noChangeArrowheads="1"/>
            </p:cNvSpPr>
            <p:nvPr/>
          </p:nvSpPr>
          <p:spPr bwMode="auto">
            <a:xfrm>
              <a:off x="667" y="2595"/>
              <a:ext cx="1320"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所以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88081" name="Group 17"/>
          <p:cNvGrpSpPr/>
          <p:nvPr/>
        </p:nvGrpSpPr>
        <p:grpSpPr bwMode="auto">
          <a:xfrm>
            <a:off x="3131831" y="2206775"/>
            <a:ext cx="4408488" cy="557213"/>
            <a:chOff x="921" y="2162"/>
            <a:chExt cx="2777" cy="351"/>
          </a:xfrm>
        </p:grpSpPr>
        <p:sp>
          <p:nvSpPr>
            <p:cNvPr id="88082" name="Rectangle 18"/>
            <p:cNvSpPr>
              <a:spLocks noChangeArrowheads="1"/>
            </p:cNvSpPr>
            <p:nvPr/>
          </p:nvSpPr>
          <p:spPr bwMode="auto">
            <a:xfrm>
              <a:off x="921" y="2162"/>
              <a:ext cx="796"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i</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8083" name="Object 19"/>
            <p:cNvGraphicFramePr>
              <a:graphicFrameLocks noChangeAspect="1"/>
            </p:cNvGraphicFramePr>
            <p:nvPr/>
          </p:nvGraphicFramePr>
          <p:xfrm>
            <a:off x="1740" y="2174"/>
            <a:ext cx="1581" cy="339"/>
          </p:xfrm>
          <a:graphic>
            <a:graphicData uri="http://schemas.openxmlformats.org/presentationml/2006/ole">
              <mc:AlternateContent xmlns:mc="http://schemas.openxmlformats.org/markup-compatibility/2006">
                <mc:Choice xmlns:v="urn:schemas-microsoft-com:vml" Requires="v">
                  <p:oleObj spid="_x0000_s2" name="Equation" r:id="rId3" imgW="22555200" imgH="4876800" progId="Equation.DSMT4">
                    <p:embed/>
                  </p:oleObj>
                </mc:Choice>
                <mc:Fallback>
                  <p:oleObj name="Equation" r:id="rId3" imgW="22555200" imgH="4876800" progId="Equation.DSMT4">
                    <p:embed/>
                    <p:pic>
                      <p:nvPicPr>
                        <p:cNvPr id="0" name="Object 19"/>
                        <p:cNvPicPr>
                          <a:picLocks noChangeAspect="1" noChangeArrowheads="1"/>
                        </p:cNvPicPr>
                        <p:nvPr/>
                      </p:nvPicPr>
                      <p:blipFill>
                        <a:blip r:embed="rId4"/>
                        <a:srcRect/>
                        <a:stretch>
                          <a:fillRect/>
                        </a:stretch>
                      </p:blipFill>
                      <p:spPr bwMode="auto">
                        <a:xfrm>
                          <a:off x="1740" y="2174"/>
                          <a:ext cx="1581" cy="339"/>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84" name="Rectangle 20"/>
            <p:cNvSpPr>
              <a:spLocks noChangeArrowheads="1"/>
            </p:cNvSpPr>
            <p:nvPr/>
          </p:nvSpPr>
          <p:spPr bwMode="auto">
            <a:xfrm>
              <a:off x="3283" y="2163"/>
              <a:ext cx="415"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endPar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cxnSp>
        <p:nvCxnSpPr>
          <p:cNvPr id="20" name="直接连接符 1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矩形 20"/>
          <p:cNvSpPr>
            <a:spLocks noChangeArrowheads="1"/>
          </p:cNvSpPr>
          <p:nvPr/>
        </p:nvSpPr>
        <p:spPr bwMode="auto">
          <a:xfrm>
            <a:off x="1406163" y="255069"/>
            <a:ext cx="4328411"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五、数学期望性质的应用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22" name="组合 21"/>
          <p:cNvGrpSpPr/>
          <p:nvPr/>
        </p:nvGrpSpPr>
        <p:grpSpPr>
          <a:xfrm>
            <a:off x="851761" y="364781"/>
            <a:ext cx="263341" cy="395013"/>
            <a:chOff x="5284519" y="1508166"/>
            <a:chExt cx="213756" cy="427512"/>
          </a:xfrm>
        </p:grpSpPr>
        <p:cxnSp>
          <p:nvCxnSpPr>
            <p:cNvPr id="23" name="直接连接符 2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4" name="直接连接符 2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8" name="Text Box 8"/>
          <p:cNvSpPr txBox="1">
            <a:spLocks noChangeArrowheads="1"/>
          </p:cNvSpPr>
          <p:nvPr/>
        </p:nvSpPr>
        <p:spPr bwMode="auto">
          <a:xfrm>
            <a:off x="738691" y="5285254"/>
            <a:ext cx="9991766" cy="113486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lnSpc>
                <a:spcPct val="150000"/>
              </a:lnSpc>
            </a:pP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将 </a:t>
            </a:r>
            <a:r>
              <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分解成数个随机变量之和，然后利用随机变量和的数学期望等于随机变量数学期望的和来求数学期望的，此方法具有一定的意义。</a:t>
            </a:r>
            <a:endParaRPr lang="en-US" altLang="zh-CN" sz="2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8075"/>
                                        </p:tgtEl>
                                        <p:attrNameLst>
                                          <p:attrName>style.visibility</p:attrName>
                                        </p:attrNameLst>
                                      </p:cBhvr>
                                      <p:to>
                                        <p:strVal val="visible"/>
                                      </p:to>
                                    </p:set>
                                    <p:anim calcmode="lin" valueType="num">
                                      <p:cBhvr additive="base">
                                        <p:cTn id="7" dur="500" fill="hold"/>
                                        <p:tgtEl>
                                          <p:spTgt spid="88075"/>
                                        </p:tgtEl>
                                        <p:attrNameLst>
                                          <p:attrName>ppt_x</p:attrName>
                                        </p:attrNameLst>
                                      </p:cBhvr>
                                      <p:tavLst>
                                        <p:tav tm="0">
                                          <p:val>
                                            <p:strVal val="0-#ppt_w/2"/>
                                          </p:val>
                                        </p:tav>
                                        <p:tav tm="100000">
                                          <p:val>
                                            <p:strVal val="#ppt_x"/>
                                          </p:val>
                                        </p:tav>
                                      </p:tavLst>
                                    </p:anim>
                                    <p:anim calcmode="lin" valueType="num">
                                      <p:cBhvr additive="base">
                                        <p:cTn id="8" dur="500" fill="hold"/>
                                        <p:tgtEl>
                                          <p:spTgt spid="880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8076"/>
                                        </p:tgtEl>
                                        <p:attrNameLst>
                                          <p:attrName>style.visibility</p:attrName>
                                        </p:attrNameLst>
                                      </p:cBhvr>
                                      <p:to>
                                        <p:strVal val="visible"/>
                                      </p:to>
                                    </p:set>
                                    <p:anim calcmode="lin" valueType="num">
                                      <p:cBhvr additive="base">
                                        <p:cTn id="13" dur="500" fill="hold"/>
                                        <p:tgtEl>
                                          <p:spTgt spid="88076"/>
                                        </p:tgtEl>
                                        <p:attrNameLst>
                                          <p:attrName>ppt_x</p:attrName>
                                        </p:attrNameLst>
                                      </p:cBhvr>
                                      <p:tavLst>
                                        <p:tav tm="0">
                                          <p:val>
                                            <p:strVal val="0-#ppt_w/2"/>
                                          </p:val>
                                        </p:tav>
                                        <p:tav tm="100000">
                                          <p:val>
                                            <p:strVal val="#ppt_x"/>
                                          </p:val>
                                        </p:tav>
                                      </p:tavLst>
                                    </p:anim>
                                    <p:anim calcmode="lin" valueType="num">
                                      <p:cBhvr additive="base">
                                        <p:cTn id="14" dur="500" fill="hold"/>
                                        <p:tgtEl>
                                          <p:spTgt spid="8807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88081"/>
                                        </p:tgtEl>
                                        <p:attrNameLst>
                                          <p:attrName>style.visibility</p:attrName>
                                        </p:attrNameLst>
                                      </p:cBhvr>
                                      <p:to>
                                        <p:strVal val="visible"/>
                                      </p:to>
                                    </p:set>
                                    <p:anim calcmode="lin" valueType="num">
                                      <p:cBhvr additive="base">
                                        <p:cTn id="19" dur="500" fill="hold"/>
                                        <p:tgtEl>
                                          <p:spTgt spid="88081"/>
                                        </p:tgtEl>
                                        <p:attrNameLst>
                                          <p:attrName>ppt_x</p:attrName>
                                        </p:attrNameLst>
                                      </p:cBhvr>
                                      <p:tavLst>
                                        <p:tav tm="0">
                                          <p:val>
                                            <p:strVal val="0-#ppt_w/2"/>
                                          </p:val>
                                        </p:tav>
                                        <p:tav tm="100000">
                                          <p:val>
                                            <p:strVal val="#ppt_x"/>
                                          </p:val>
                                        </p:tav>
                                      </p:tavLst>
                                    </p:anim>
                                    <p:anim calcmode="lin" valueType="num">
                                      <p:cBhvr additive="base">
                                        <p:cTn id="20" dur="500" fill="hold"/>
                                        <p:tgtEl>
                                          <p:spTgt spid="8808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88077"/>
                                        </p:tgtEl>
                                        <p:attrNameLst>
                                          <p:attrName>style.visibility</p:attrName>
                                        </p:attrNameLst>
                                      </p:cBhvr>
                                      <p:to>
                                        <p:strVal val="visible"/>
                                      </p:to>
                                    </p:set>
                                    <p:anim calcmode="lin" valueType="num">
                                      <p:cBhvr additive="base">
                                        <p:cTn id="25" dur="500" fill="hold"/>
                                        <p:tgtEl>
                                          <p:spTgt spid="88077"/>
                                        </p:tgtEl>
                                        <p:attrNameLst>
                                          <p:attrName>ppt_x</p:attrName>
                                        </p:attrNameLst>
                                      </p:cBhvr>
                                      <p:tavLst>
                                        <p:tav tm="0">
                                          <p:val>
                                            <p:strVal val="0-#ppt_w/2"/>
                                          </p:val>
                                        </p:tav>
                                        <p:tav tm="100000">
                                          <p:val>
                                            <p:strVal val="#ppt_x"/>
                                          </p:val>
                                        </p:tav>
                                      </p:tavLst>
                                    </p:anim>
                                    <p:anim calcmode="lin" valueType="num">
                                      <p:cBhvr additive="base">
                                        <p:cTn id="26" dur="500" fill="hold"/>
                                        <p:tgtEl>
                                          <p:spTgt spid="8807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8072"/>
                                        </p:tgtEl>
                                        <p:attrNameLst>
                                          <p:attrName>style.visibility</p:attrName>
                                        </p:attrNameLst>
                                      </p:cBhvr>
                                      <p:to>
                                        <p:strVal val="visible"/>
                                      </p:to>
                                    </p:set>
                                    <p:anim calcmode="lin" valueType="num">
                                      <p:cBhvr additive="base">
                                        <p:cTn id="31" dur="500" fill="hold"/>
                                        <p:tgtEl>
                                          <p:spTgt spid="88072"/>
                                        </p:tgtEl>
                                        <p:attrNameLst>
                                          <p:attrName>ppt_x</p:attrName>
                                        </p:attrNameLst>
                                      </p:cBhvr>
                                      <p:tavLst>
                                        <p:tav tm="0">
                                          <p:val>
                                            <p:strVal val="0-#ppt_w/2"/>
                                          </p:val>
                                        </p:tav>
                                        <p:tav tm="100000">
                                          <p:val>
                                            <p:strVal val="#ppt_x"/>
                                          </p:val>
                                        </p:tav>
                                      </p:tavLst>
                                    </p:anim>
                                    <p:anim calcmode="lin" valueType="num">
                                      <p:cBhvr additive="base">
                                        <p:cTn id="32" dur="500" fill="hold"/>
                                        <p:tgtEl>
                                          <p:spTgt spid="8807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8068"/>
                                        </p:tgtEl>
                                        <p:attrNameLst>
                                          <p:attrName>style.visibility</p:attrName>
                                        </p:attrNameLst>
                                      </p:cBhvr>
                                      <p:to>
                                        <p:strVal val="visible"/>
                                      </p:to>
                                    </p:set>
                                    <p:anim calcmode="lin" valueType="num">
                                      <p:cBhvr additive="base">
                                        <p:cTn id="37" dur="500" fill="hold"/>
                                        <p:tgtEl>
                                          <p:spTgt spid="88068"/>
                                        </p:tgtEl>
                                        <p:attrNameLst>
                                          <p:attrName>ppt_x</p:attrName>
                                        </p:attrNameLst>
                                      </p:cBhvr>
                                      <p:tavLst>
                                        <p:tav tm="0">
                                          <p:val>
                                            <p:strVal val="0-#ppt_w/2"/>
                                          </p:val>
                                        </p:tav>
                                        <p:tav tm="100000">
                                          <p:val>
                                            <p:strVal val="#ppt_x"/>
                                          </p:val>
                                        </p:tav>
                                      </p:tavLst>
                                    </p:anim>
                                    <p:anim calcmode="lin" valueType="num">
                                      <p:cBhvr additive="base">
                                        <p:cTn id="38" dur="500" fill="hold"/>
                                        <p:tgtEl>
                                          <p:spTgt spid="88068"/>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additive="base">
                                        <p:cTn id="43" dur="500" fill="hold"/>
                                        <p:tgtEl>
                                          <p:spTgt spid="18"/>
                                        </p:tgtEl>
                                        <p:attrNameLst>
                                          <p:attrName>ppt_x</p:attrName>
                                        </p:attrNameLst>
                                      </p:cBhvr>
                                      <p:tavLst>
                                        <p:tav tm="0">
                                          <p:val>
                                            <p:strVal val="0-#ppt_w/2"/>
                                          </p:val>
                                        </p:tav>
                                        <p:tav tm="100000">
                                          <p:val>
                                            <p:strVal val="#ppt_x"/>
                                          </p:val>
                                        </p:tav>
                                      </p:tavLst>
                                    </p:anim>
                                    <p:anim calcmode="lin" valueType="num">
                                      <p:cBhvr additive="base">
                                        <p:cTn id="44"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autoUpdateAnimBg="0"/>
      <p:bldP spid="88072" grpId="0" autoUpdateAnimBg="0"/>
      <p:bldP spid="88075" grpId="0" autoUpdateAnimBg="0"/>
      <p:bldP spid="88076" grpId="0" autoUpdateAnimBg="0"/>
      <p:bldP spid="18"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Text Box 4"/>
          <p:cNvSpPr txBox="1">
            <a:spLocks noChangeArrowheads="1"/>
          </p:cNvSpPr>
          <p:nvPr/>
        </p:nvSpPr>
        <p:spPr bwMode="auto">
          <a:xfrm>
            <a:off x="1422594" y="1412776"/>
            <a:ext cx="956995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50000"/>
              </a:lnSpc>
              <a:buFont typeface="Arial" panose="020B0604020202020204" pitchFamily="34" charset="0"/>
              <a:buChar char="•"/>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数学期望的定义</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marL="457200" indent="-457200">
              <a:lnSpc>
                <a:spcPct val="150000"/>
              </a:lnSpc>
              <a:buFont typeface="Arial" panose="020B0604020202020204" pitchFamily="34" charset="0"/>
              <a:buChar char="•"/>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数学期望的性质</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marL="457200" indent="-457200">
              <a:lnSpc>
                <a:spcPct val="150000"/>
              </a:lnSpc>
              <a:buFont typeface="Arial" panose="020B0604020202020204" pitchFamily="34" charset="0"/>
              <a:buChar char="•"/>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随机变量函数的数学期望</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11</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的方法：“</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分解成数个随机变量之和，利用</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E(X)=E(X</a:t>
            </a:r>
            <a:r>
              <a:rPr lang="en-US" altLang="zh-CN" sz="2800" b="1" baseline="-25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+X</a:t>
            </a:r>
            <a:r>
              <a:rPr lang="en-US" altLang="zh-CN" sz="2800" b="1" baseline="-25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E(X</a:t>
            </a:r>
            <a:r>
              <a:rPr lang="en-US" altLang="zh-CN" sz="2800" b="1" baseline="-25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E(X</a:t>
            </a:r>
            <a:r>
              <a:rPr lang="en-US" altLang="zh-CN" sz="2800" b="1" baseline="-25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+E(</a:t>
            </a:r>
            <a:r>
              <a:rPr lang="en-US" altLang="zh-CN" sz="2800" b="1"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nSpc>
                <a:spcPct val="150000"/>
              </a:lnSpc>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根据题型，以上方法可能独立使用，也可能结合使用。</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4328411"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总结数学期望的计算方法</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91140"/>
                                        </p:tgtEl>
                                        <p:attrNameLst>
                                          <p:attrName>style.visibility</p:attrName>
                                        </p:attrNameLst>
                                      </p:cBhvr>
                                      <p:to>
                                        <p:strVal val="visible"/>
                                      </p:to>
                                    </p:set>
                                    <p:anim calcmode="lin" valueType="num">
                                      <p:cBhvr additive="base">
                                        <p:cTn id="7" dur="500" fill="hold"/>
                                        <p:tgtEl>
                                          <p:spTgt spid="91140"/>
                                        </p:tgtEl>
                                        <p:attrNameLst>
                                          <p:attrName>ppt_x</p:attrName>
                                        </p:attrNameLst>
                                      </p:cBhvr>
                                      <p:tavLst>
                                        <p:tav tm="0">
                                          <p:val>
                                            <p:strVal val="0-#ppt_w/2"/>
                                          </p:val>
                                        </p:tav>
                                        <p:tav tm="100000">
                                          <p:val>
                                            <p:strVal val="#ppt_x"/>
                                          </p:val>
                                        </p:tav>
                                      </p:tavLst>
                                    </p:anim>
                                    <p:anim calcmode="lin" valueType="num">
                                      <p:cBhvr additive="base">
                                        <p:cTn id="8" dur="500" fill="hold"/>
                                        <p:tgtEl>
                                          <p:spTgt spid="911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93" name="Rectangle 57"/>
          <p:cNvSpPr>
            <a:spLocks noChangeArrowheads="1"/>
          </p:cNvSpPr>
          <p:nvPr/>
        </p:nvSpPr>
        <p:spPr bwMode="auto">
          <a:xfrm>
            <a:off x="2941192" y="3080763"/>
            <a:ext cx="18473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endParaRPr lang="zh-CN" altLang="zh-CN" sz="28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391" name="Text Box 55"/>
          <p:cNvSpPr txBox="1">
            <a:spLocks noChangeArrowheads="1"/>
          </p:cNvSpPr>
          <p:nvPr/>
        </p:nvSpPr>
        <p:spPr bwMode="auto">
          <a:xfrm>
            <a:off x="1362919" y="1050175"/>
            <a:ext cx="9729123" cy="168565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200000"/>
              </a:lnSpc>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是一个随机变量，若</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存在，称</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为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的方差</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。记为</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或</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Var(X)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4397" name="Object 61"/>
          <p:cNvGraphicFramePr>
            <a:graphicFrameLocks noChangeAspect="1"/>
          </p:cNvGraphicFramePr>
          <p:nvPr/>
        </p:nvGraphicFramePr>
        <p:xfrm>
          <a:off x="1335307" y="4409542"/>
          <a:ext cx="9873261" cy="1159287"/>
        </p:xfrm>
        <a:graphic>
          <a:graphicData uri="http://schemas.openxmlformats.org/presentationml/2006/ole">
            <mc:AlternateContent xmlns:mc="http://schemas.openxmlformats.org/markup-compatibility/2006">
              <mc:Choice xmlns:v="urn:schemas-microsoft-com:vml" Requires="v">
                <p:oleObj spid="_x0000_s206855" name="Equation" r:id="rId1" imgW="97231200" imgH="11582400" progId="Equation.DSMT4">
                  <p:embed/>
                </p:oleObj>
              </mc:Choice>
              <mc:Fallback>
                <p:oleObj name="Equation" r:id="rId1" imgW="97231200" imgH="11582400" progId="Equation.DSMT4">
                  <p:embed/>
                  <p:pic>
                    <p:nvPicPr>
                      <p:cNvPr id="0" name="Object 61"/>
                      <p:cNvPicPr>
                        <a:picLocks noChangeAspect="1" noChangeArrowheads="1"/>
                      </p:cNvPicPr>
                      <p:nvPr/>
                    </p:nvPicPr>
                    <p:blipFill>
                      <a:blip r:embed="rId2"/>
                      <a:srcRect/>
                      <a:stretch>
                        <a:fillRect/>
                      </a:stretch>
                    </p:blipFill>
                    <p:spPr bwMode="auto">
                      <a:xfrm>
                        <a:off x="1335307" y="4409542"/>
                        <a:ext cx="9873261" cy="1159287"/>
                      </a:xfrm>
                      <a:prstGeom prst="rect">
                        <a:avLst/>
                      </a:prstGeom>
                      <a:noFill/>
                      <a:ln>
                        <a:noFill/>
                      </a:ln>
                      <a:effectLst/>
                    </p:spPr>
                  </p:pic>
                </p:oleObj>
              </mc:Fallback>
            </mc:AlternateContent>
          </a:graphicData>
        </a:graphic>
      </p:graphicFrame>
      <p:sp>
        <p:nvSpPr>
          <p:cNvPr id="14398" name="Rectangle 62"/>
          <p:cNvSpPr>
            <a:spLocks noChangeArrowheads="1"/>
          </p:cNvSpPr>
          <p:nvPr/>
        </p:nvSpPr>
        <p:spPr bwMode="auto">
          <a:xfrm>
            <a:off x="4109422" y="3049796"/>
            <a:ext cx="407585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)=Var(X)=</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800" b="1" baseline="30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1"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2916165"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一、方差的定义 </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91"/>
                                        </p:tgtEl>
                                        <p:attrNameLst>
                                          <p:attrName>style.visibility</p:attrName>
                                        </p:attrNameLst>
                                      </p:cBhvr>
                                      <p:to>
                                        <p:strVal val="visible"/>
                                      </p:to>
                                    </p:set>
                                    <p:anim calcmode="lin" valueType="num">
                                      <p:cBhvr additive="base">
                                        <p:cTn id="7" dur="500" fill="hold"/>
                                        <p:tgtEl>
                                          <p:spTgt spid="14391"/>
                                        </p:tgtEl>
                                        <p:attrNameLst>
                                          <p:attrName>ppt_x</p:attrName>
                                        </p:attrNameLst>
                                      </p:cBhvr>
                                      <p:tavLst>
                                        <p:tav tm="0">
                                          <p:val>
                                            <p:strVal val="0-#ppt_w/2"/>
                                          </p:val>
                                        </p:tav>
                                        <p:tav tm="100000">
                                          <p:val>
                                            <p:strVal val="#ppt_x"/>
                                          </p:val>
                                        </p:tav>
                                      </p:tavLst>
                                    </p:anim>
                                    <p:anim calcmode="lin" valueType="num">
                                      <p:cBhvr additive="base">
                                        <p:cTn id="8" dur="500" fill="hold"/>
                                        <p:tgtEl>
                                          <p:spTgt spid="1439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98"/>
                                        </p:tgtEl>
                                        <p:attrNameLst>
                                          <p:attrName>style.visibility</p:attrName>
                                        </p:attrNameLst>
                                      </p:cBhvr>
                                      <p:to>
                                        <p:strVal val="visible"/>
                                      </p:to>
                                    </p:set>
                                    <p:anim calcmode="lin" valueType="num">
                                      <p:cBhvr additive="base">
                                        <p:cTn id="13" dur="500" fill="hold"/>
                                        <p:tgtEl>
                                          <p:spTgt spid="14398"/>
                                        </p:tgtEl>
                                        <p:attrNameLst>
                                          <p:attrName>ppt_x</p:attrName>
                                        </p:attrNameLst>
                                      </p:cBhvr>
                                      <p:tavLst>
                                        <p:tav tm="0">
                                          <p:val>
                                            <p:strVal val="0-#ppt_w/2"/>
                                          </p:val>
                                        </p:tav>
                                        <p:tav tm="100000">
                                          <p:val>
                                            <p:strVal val="#ppt_x"/>
                                          </p:val>
                                        </p:tav>
                                      </p:tavLst>
                                    </p:anim>
                                    <p:anim calcmode="lin" valueType="num">
                                      <p:cBhvr additive="base">
                                        <p:cTn id="14" dur="500" fill="hold"/>
                                        <p:tgtEl>
                                          <p:spTgt spid="1439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4397"/>
                                        </p:tgtEl>
                                        <p:attrNameLst>
                                          <p:attrName>style.visibility</p:attrName>
                                        </p:attrNameLst>
                                      </p:cBhvr>
                                      <p:to>
                                        <p:strVal val="visible"/>
                                      </p:to>
                                    </p:set>
                                    <p:anim calcmode="lin" valueType="num">
                                      <p:cBhvr additive="base">
                                        <p:cTn id="19" dur="500" fill="hold"/>
                                        <p:tgtEl>
                                          <p:spTgt spid="14397"/>
                                        </p:tgtEl>
                                        <p:attrNameLst>
                                          <p:attrName>ppt_x</p:attrName>
                                        </p:attrNameLst>
                                      </p:cBhvr>
                                      <p:tavLst>
                                        <p:tav tm="0">
                                          <p:val>
                                            <p:strVal val="0-#ppt_w/2"/>
                                          </p:val>
                                        </p:tav>
                                        <p:tav tm="100000">
                                          <p:val>
                                            <p:strVal val="#ppt_x"/>
                                          </p:val>
                                        </p:tav>
                                      </p:tavLst>
                                    </p:anim>
                                    <p:anim calcmode="lin" valueType="num">
                                      <p:cBhvr additive="base">
                                        <p:cTn id="20" dur="500" fill="hold"/>
                                        <p:tgtEl>
                                          <p:spTgt spid="1439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91" grpId="0"/>
      <p:bldP spid="1439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912" name="Object 72"/>
          <p:cNvGraphicFramePr>
            <a:graphicFrameLocks noChangeAspect="1"/>
          </p:cNvGraphicFramePr>
          <p:nvPr/>
        </p:nvGraphicFramePr>
        <p:xfrm>
          <a:off x="6076951" y="3390901"/>
          <a:ext cx="112713" cy="214313"/>
        </p:xfrm>
        <a:graphic>
          <a:graphicData uri="http://schemas.openxmlformats.org/presentationml/2006/ole">
            <mc:AlternateContent xmlns:mc="http://schemas.openxmlformats.org/markup-compatibility/2006">
              <mc:Choice xmlns:v="urn:schemas-microsoft-com:vml" Requires="v">
                <p:oleObj spid="_x0000_s206855" name="公式" r:id="rId1" imgW="114300" imgH="215900" progId="Equation.3">
                  <p:embed/>
                </p:oleObj>
              </mc:Choice>
              <mc:Fallback>
                <p:oleObj name="公式" r:id="rId1" imgW="114300" imgH="215900" progId="Equation.3">
                  <p:embed/>
                  <p:pic>
                    <p:nvPicPr>
                      <p:cNvPr id="0" name="Object 7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6951" y="339090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913" name="Object 73"/>
          <p:cNvGraphicFramePr>
            <a:graphicFrameLocks noChangeAspect="1"/>
          </p:cNvGraphicFramePr>
          <p:nvPr/>
        </p:nvGraphicFramePr>
        <p:xfrm>
          <a:off x="6076951" y="3390901"/>
          <a:ext cx="112713" cy="214313"/>
        </p:xfrm>
        <a:graphic>
          <a:graphicData uri="http://schemas.openxmlformats.org/presentationml/2006/ole">
            <mc:AlternateContent xmlns:mc="http://schemas.openxmlformats.org/markup-compatibility/2006">
              <mc:Choice xmlns:v="urn:schemas-microsoft-com:vml" Requires="v">
                <p:oleObj spid="_x0000_s2" name="公式" r:id="rId3" imgW="114300" imgH="215900" progId="Equation.3">
                  <p:embed/>
                </p:oleObj>
              </mc:Choice>
              <mc:Fallback>
                <p:oleObj name="公式" r:id="rId3" imgW="114300" imgH="215900" progId="Equation.3">
                  <p:embed/>
                  <p:pic>
                    <p:nvPicPr>
                      <p:cNvPr id="0" name="Object 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6951" y="3390901"/>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914" name="AutoShape 74"/>
          <p:cNvSpPr>
            <a:spLocks noChangeArrowheads="1"/>
          </p:cNvSpPr>
          <p:nvPr/>
        </p:nvSpPr>
        <p:spPr bwMode="auto">
          <a:xfrm>
            <a:off x="8904312" y="3536443"/>
            <a:ext cx="2477209" cy="1695449"/>
          </a:xfrm>
          <a:prstGeom prst="wedgeRectCallout">
            <a:avLst>
              <a:gd name="adj1" fmla="val -112361"/>
              <a:gd name="adj2" fmla="val 5847"/>
            </a:avLst>
          </a:prstGeom>
          <a:solidFill>
            <a:srgbClr val="C00000"/>
          </a:solidFill>
          <a:ln w="9525">
            <a:solidFill>
              <a:schemeClr val="tx1"/>
            </a:solidFill>
            <a:miter lim="800000"/>
          </a:ln>
          <a:effectLst/>
        </p:spPr>
        <p:txBody>
          <a:bodyPr wrap="none" anchor="ctr"/>
          <a:lstStyle/>
          <a:p>
            <a:pPr algn="ctr" eaLnBrk="1" hangingPunct="1">
              <a:lnSpc>
                <a:spcPct val="60000"/>
              </a:lnSpc>
              <a:spcBef>
                <a:spcPct val="50000"/>
              </a:spcBef>
            </a:pP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为离散型，</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lnSpc>
                <a:spcPct val="60000"/>
              </a:lnSpc>
              <a:spcBef>
                <a:spcPct val="50000"/>
              </a:spcBef>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分布率</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lnSpc>
                <a:spcPct val="60000"/>
              </a:lnSpc>
              <a:spcBef>
                <a:spcPct val="50000"/>
              </a:spcBef>
            </a:pP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25000" dirty="0" err="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i="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k</a:t>
            </a:r>
            <a:endParaRPr lang="en-US" altLang="zh-CN" sz="28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15" name="Rectangle 75"/>
          <p:cNvSpPr>
            <a:spLocks noChangeArrowheads="1"/>
          </p:cNvSpPr>
          <p:nvPr/>
        </p:nvSpPr>
        <p:spPr bwMode="auto">
          <a:xfrm>
            <a:off x="1406162" y="1413626"/>
            <a:ext cx="9658389" cy="130862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由定义知，方差是随机变量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的函数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g</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endPar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lnSpc>
                <a:spcPct val="150000"/>
              </a:lnSpc>
            </a:pP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数学期望。</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35916" name="Object 76"/>
          <p:cNvGraphicFramePr>
            <a:graphicFrameLocks noChangeAspect="1"/>
          </p:cNvGraphicFramePr>
          <p:nvPr/>
        </p:nvGraphicFramePr>
        <p:xfrm>
          <a:off x="2480611" y="3016653"/>
          <a:ext cx="4728284" cy="1921749"/>
        </p:xfrm>
        <a:graphic>
          <a:graphicData uri="http://schemas.openxmlformats.org/presentationml/2006/ole">
            <mc:AlternateContent xmlns:mc="http://schemas.openxmlformats.org/markup-compatibility/2006">
              <mc:Choice xmlns:v="urn:schemas-microsoft-com:vml" Requires="v">
                <p:oleObj spid="_x0000_s3" name="Equation" r:id="rId4" imgW="49682400" imgH="18897600" progId="Equation.DSMT4">
                  <p:embed/>
                </p:oleObj>
              </mc:Choice>
              <mc:Fallback>
                <p:oleObj name="Equation" r:id="rId4" imgW="49682400" imgH="18897600" progId="Equation.DSMT4">
                  <p:embed/>
                  <p:pic>
                    <p:nvPicPr>
                      <p:cNvPr id="0" name="Object 76"/>
                      <p:cNvPicPr>
                        <a:picLocks noChangeAspect="1" noChangeArrowheads="1"/>
                      </p:cNvPicPr>
                      <p:nvPr/>
                    </p:nvPicPr>
                    <p:blipFill>
                      <a:blip r:embed="rId5"/>
                      <a:srcRect/>
                      <a:stretch>
                        <a:fillRect/>
                      </a:stretch>
                    </p:blipFill>
                    <p:spPr bwMode="auto">
                      <a:xfrm>
                        <a:off x="2480611" y="3016653"/>
                        <a:ext cx="4728284" cy="1921749"/>
                      </a:xfrm>
                      <a:prstGeom prst="rect">
                        <a:avLst/>
                      </a:prstGeom>
                      <a:noFill/>
                      <a:ln>
                        <a:noFill/>
                      </a:ln>
                      <a:effectLst/>
                    </p:spPr>
                  </p:pic>
                </p:oleObj>
              </mc:Fallback>
            </mc:AlternateContent>
          </a:graphicData>
        </a:graphic>
      </p:graphicFrame>
      <p:sp>
        <p:nvSpPr>
          <p:cNvPr id="35921" name="AutoShape 81"/>
          <p:cNvSpPr/>
          <p:nvPr/>
        </p:nvSpPr>
        <p:spPr bwMode="auto">
          <a:xfrm flipH="1">
            <a:off x="1295978" y="5289494"/>
            <a:ext cx="4535488" cy="609600"/>
          </a:xfrm>
          <a:prstGeom prst="borderCallout1">
            <a:avLst>
              <a:gd name="adj1" fmla="val 18750"/>
              <a:gd name="adj2" fmla="val -1681"/>
              <a:gd name="adj3" fmla="val -73285"/>
              <a:gd name="adj4" fmla="val -15187"/>
            </a:avLst>
          </a:prstGeom>
          <a:solidFill>
            <a:srgbClr val="C00000"/>
          </a:solidFill>
          <a:ln w="9525">
            <a:solidFill>
              <a:schemeClr val="tx1"/>
            </a:solidFill>
            <a:miter lim="800000"/>
          </a:ln>
          <a:effectLst/>
        </p:spPr>
        <p:txBody>
          <a:bodyPr anchor="ctr"/>
          <a:lstStyle/>
          <a:p>
            <a:pPr algn="l"/>
            <a:r>
              <a:rPr lang="en-US" altLang="zh-CN" sz="2800" b="1" i="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为连续型，</a:t>
            </a:r>
            <a:r>
              <a:rPr lang="en-US" altLang="zh-CN" sz="2800" b="1" i="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概率密度</a:t>
            </a:r>
            <a:r>
              <a:rPr lang="en-US" altLang="zh-CN" sz="2800" b="1" i="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f(x</a:t>
            </a:r>
            <a:r>
              <a:rPr lang="en-US" altLang="zh-CN"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二、方差的计算</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35915"/>
                                        </p:tgtEl>
                                        <p:attrNameLst>
                                          <p:attrName>style.visibility</p:attrName>
                                        </p:attrNameLst>
                                      </p:cBhvr>
                                      <p:to>
                                        <p:strVal val="visible"/>
                                      </p:to>
                                    </p:set>
                                    <p:animEffect transition="in" filter="barn(outVertical)">
                                      <p:cBhvr>
                                        <p:cTn id="7" dur="500"/>
                                        <p:tgtEl>
                                          <p:spTgt spid="359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5916"/>
                                        </p:tgtEl>
                                        <p:attrNameLst>
                                          <p:attrName>style.visibility</p:attrName>
                                        </p:attrNameLst>
                                      </p:cBhvr>
                                      <p:to>
                                        <p:strVal val="visible"/>
                                      </p:to>
                                    </p:set>
                                    <p:anim calcmode="lin" valueType="num">
                                      <p:cBhvr additive="base">
                                        <p:cTn id="12" dur="500" fill="hold"/>
                                        <p:tgtEl>
                                          <p:spTgt spid="35916"/>
                                        </p:tgtEl>
                                        <p:attrNameLst>
                                          <p:attrName>ppt_x</p:attrName>
                                        </p:attrNameLst>
                                      </p:cBhvr>
                                      <p:tavLst>
                                        <p:tav tm="0">
                                          <p:val>
                                            <p:strVal val="#ppt_x"/>
                                          </p:val>
                                        </p:tav>
                                        <p:tav tm="100000">
                                          <p:val>
                                            <p:strVal val="#ppt_x"/>
                                          </p:val>
                                        </p:tav>
                                      </p:tavLst>
                                    </p:anim>
                                    <p:anim calcmode="lin" valueType="num">
                                      <p:cBhvr additive="base">
                                        <p:cTn id="13" dur="500" fill="hold"/>
                                        <p:tgtEl>
                                          <p:spTgt spid="3591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35914"/>
                                        </p:tgtEl>
                                        <p:attrNameLst>
                                          <p:attrName>style.visibility</p:attrName>
                                        </p:attrNameLst>
                                      </p:cBhvr>
                                      <p:to>
                                        <p:strVal val="visible"/>
                                      </p:to>
                                    </p:set>
                                    <p:anim calcmode="lin" valueType="num">
                                      <p:cBhvr additive="base">
                                        <p:cTn id="18" dur="500" fill="hold"/>
                                        <p:tgtEl>
                                          <p:spTgt spid="35914"/>
                                        </p:tgtEl>
                                        <p:attrNameLst>
                                          <p:attrName>ppt_x</p:attrName>
                                        </p:attrNameLst>
                                      </p:cBhvr>
                                      <p:tavLst>
                                        <p:tav tm="0">
                                          <p:val>
                                            <p:strVal val="1+#ppt_w/2"/>
                                          </p:val>
                                        </p:tav>
                                        <p:tav tm="100000">
                                          <p:val>
                                            <p:strVal val="#ppt_x"/>
                                          </p:val>
                                        </p:tav>
                                      </p:tavLst>
                                    </p:anim>
                                    <p:anim calcmode="lin" valueType="num">
                                      <p:cBhvr additive="base">
                                        <p:cTn id="19" dur="500" fill="hold"/>
                                        <p:tgtEl>
                                          <p:spTgt spid="3591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5921"/>
                                        </p:tgtEl>
                                        <p:attrNameLst>
                                          <p:attrName>style.visibility</p:attrName>
                                        </p:attrNameLst>
                                      </p:cBhvr>
                                      <p:to>
                                        <p:strVal val="visible"/>
                                      </p:to>
                                    </p:set>
                                    <p:animEffect transition="in" filter="wipe(down)">
                                      <p:cBhvr>
                                        <p:cTn id="24" dur="500"/>
                                        <p:tgtEl>
                                          <p:spTgt spid="35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14" grpId="0" animBg="1" autoUpdateAnimBg="0"/>
      <p:bldP spid="35915" grpId="0" autoUpdateAnimBg="0"/>
      <p:bldP spid="359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58" name="Text Box 74"/>
          <p:cNvSpPr txBox="1">
            <a:spLocks noChangeArrowheads="1"/>
          </p:cNvSpPr>
          <p:nvPr/>
        </p:nvSpPr>
        <p:spPr bwMode="auto">
          <a:xfrm>
            <a:off x="2276475" y="1422121"/>
            <a:ext cx="4591050"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l" eaLnBrk="1" hangingPunct="1">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计算方差的一个简化公式</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59" name="Text Box 75"/>
          <p:cNvSpPr txBox="1">
            <a:spLocks noChangeArrowheads="1"/>
          </p:cNvSpPr>
          <p:nvPr/>
        </p:nvSpPr>
        <p:spPr bwMode="auto">
          <a:xfrm>
            <a:off x="5967486" y="1412129"/>
            <a:ext cx="4648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just"/>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0" name="AutoShape 76"/>
          <p:cNvSpPr>
            <a:spLocks noChangeArrowheads="1"/>
          </p:cNvSpPr>
          <p:nvPr/>
        </p:nvSpPr>
        <p:spPr bwMode="auto">
          <a:xfrm>
            <a:off x="7320136" y="2044764"/>
            <a:ext cx="1408113" cy="523221"/>
          </a:xfrm>
          <a:prstGeom prst="wedgeRectCallout">
            <a:avLst>
              <a:gd name="adj1" fmla="val -90329"/>
              <a:gd name="adj2" fmla="val 182942"/>
            </a:avLst>
          </a:prstGeom>
          <a:solidFill>
            <a:srgbClr val="C00000"/>
          </a:solidFill>
          <a:ln w="9525">
            <a:solidFill>
              <a:schemeClr val="tx1"/>
            </a:solidFill>
            <a:miter lim="800000"/>
          </a:ln>
          <a:effectLst/>
        </p:spPr>
        <p:txBody>
          <a:bodyPr wrap="none" anchor="ctr"/>
          <a:lstStyle/>
          <a:p>
            <a:pPr algn="ctr" eaLnBrk="1" hangingPunct="1">
              <a:spcBef>
                <a:spcPct val="50000"/>
              </a:spcBef>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展开</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1" name="Rectangle 77"/>
          <p:cNvSpPr>
            <a:spLocks noChangeArrowheads="1"/>
          </p:cNvSpPr>
          <p:nvPr/>
        </p:nvSpPr>
        <p:spPr bwMode="auto">
          <a:xfrm>
            <a:off x="1797410" y="2396331"/>
            <a:ext cx="41148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证：</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2" name="Rectangle 78"/>
          <p:cNvSpPr>
            <a:spLocks noChangeArrowheads="1"/>
          </p:cNvSpPr>
          <p:nvPr/>
        </p:nvSpPr>
        <p:spPr bwMode="auto">
          <a:xfrm>
            <a:off x="3215680" y="3244726"/>
            <a:ext cx="3810659"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3" name="Rectangle 79"/>
          <p:cNvSpPr>
            <a:spLocks noChangeArrowheads="1"/>
          </p:cNvSpPr>
          <p:nvPr/>
        </p:nvSpPr>
        <p:spPr bwMode="auto">
          <a:xfrm>
            <a:off x="3215680" y="4081711"/>
            <a:ext cx="4519513"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4" name="Rectangle 80"/>
          <p:cNvSpPr>
            <a:spLocks noChangeArrowheads="1"/>
          </p:cNvSpPr>
          <p:nvPr/>
        </p:nvSpPr>
        <p:spPr bwMode="auto">
          <a:xfrm>
            <a:off x="3215680" y="4919911"/>
            <a:ext cx="2690695"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5" name="AutoShape 81"/>
          <p:cNvSpPr>
            <a:spLocks noChangeArrowheads="1"/>
          </p:cNvSpPr>
          <p:nvPr/>
        </p:nvSpPr>
        <p:spPr bwMode="auto">
          <a:xfrm>
            <a:off x="8400256" y="3958724"/>
            <a:ext cx="2427267" cy="523220"/>
          </a:xfrm>
          <a:prstGeom prst="wedgeRectCallout">
            <a:avLst>
              <a:gd name="adj1" fmla="val -101431"/>
              <a:gd name="adj2" fmla="val 2245"/>
            </a:avLst>
          </a:prstGeom>
          <a:solidFill>
            <a:srgbClr val="C00000"/>
          </a:solidFill>
          <a:ln w="9525">
            <a:solidFill>
              <a:schemeClr val="tx1"/>
            </a:solidFill>
            <a:miter lim="800000"/>
          </a:ln>
          <a:effectLst/>
        </p:spPr>
        <p:txBody>
          <a:bodyPr wrap="none" anchor="ctr"/>
          <a:lstStyle/>
          <a:p>
            <a:pPr algn="ctr" eaLnBrk="1" hangingPunct="1">
              <a:spcBef>
                <a:spcPct val="50000"/>
              </a:spcBef>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利用期望性质</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0" name="直接连接符 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二、方差的计算</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6458"/>
                                        </p:tgtEl>
                                        <p:attrNameLst>
                                          <p:attrName>style.visibility</p:attrName>
                                        </p:attrNameLst>
                                      </p:cBhvr>
                                      <p:to>
                                        <p:strVal val="visible"/>
                                      </p:to>
                                    </p:set>
                                    <p:animEffect transition="in" filter="barn(outVertical)">
                                      <p:cBhvr>
                                        <p:cTn id="7" dur="500"/>
                                        <p:tgtEl>
                                          <p:spTgt spid="1645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16459"/>
                                        </p:tgtEl>
                                        <p:attrNameLst>
                                          <p:attrName>style.visibility</p:attrName>
                                        </p:attrNameLst>
                                      </p:cBhvr>
                                      <p:to>
                                        <p:strVal val="visible"/>
                                      </p:to>
                                    </p:set>
                                    <p:anim calcmode="lin" valueType="num">
                                      <p:cBhvr additive="base">
                                        <p:cTn id="12" dur="500" fill="hold"/>
                                        <p:tgtEl>
                                          <p:spTgt spid="16459"/>
                                        </p:tgtEl>
                                        <p:attrNameLst>
                                          <p:attrName>ppt_x</p:attrName>
                                        </p:attrNameLst>
                                      </p:cBhvr>
                                      <p:tavLst>
                                        <p:tav tm="0">
                                          <p:val>
                                            <p:strVal val="1+#ppt_w/2"/>
                                          </p:val>
                                        </p:tav>
                                        <p:tav tm="100000">
                                          <p:val>
                                            <p:strVal val="#ppt_x"/>
                                          </p:val>
                                        </p:tav>
                                      </p:tavLst>
                                    </p:anim>
                                    <p:anim calcmode="lin" valueType="num">
                                      <p:cBhvr additive="base">
                                        <p:cTn id="13" dur="500" fill="hold"/>
                                        <p:tgtEl>
                                          <p:spTgt spid="1645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6461"/>
                                        </p:tgtEl>
                                        <p:attrNameLst>
                                          <p:attrName>style.visibility</p:attrName>
                                        </p:attrNameLst>
                                      </p:cBhvr>
                                      <p:to>
                                        <p:strVal val="visible"/>
                                      </p:to>
                                    </p:set>
                                    <p:anim calcmode="lin" valueType="num">
                                      <p:cBhvr additive="base">
                                        <p:cTn id="18" dur="500" fill="hold"/>
                                        <p:tgtEl>
                                          <p:spTgt spid="16461"/>
                                        </p:tgtEl>
                                        <p:attrNameLst>
                                          <p:attrName>ppt_x</p:attrName>
                                        </p:attrNameLst>
                                      </p:cBhvr>
                                      <p:tavLst>
                                        <p:tav tm="0">
                                          <p:val>
                                            <p:strVal val="0-#ppt_w/2"/>
                                          </p:val>
                                        </p:tav>
                                        <p:tav tm="100000">
                                          <p:val>
                                            <p:strVal val="#ppt_x"/>
                                          </p:val>
                                        </p:tav>
                                      </p:tavLst>
                                    </p:anim>
                                    <p:anim calcmode="lin" valueType="num">
                                      <p:cBhvr additive="base">
                                        <p:cTn id="19" dur="500" fill="hold"/>
                                        <p:tgtEl>
                                          <p:spTgt spid="1646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6462"/>
                                        </p:tgtEl>
                                        <p:attrNameLst>
                                          <p:attrName>style.visibility</p:attrName>
                                        </p:attrNameLst>
                                      </p:cBhvr>
                                      <p:to>
                                        <p:strVal val="visible"/>
                                      </p:to>
                                    </p:set>
                                    <p:anim calcmode="lin" valueType="num">
                                      <p:cBhvr additive="base">
                                        <p:cTn id="24" dur="500" fill="hold"/>
                                        <p:tgtEl>
                                          <p:spTgt spid="16462"/>
                                        </p:tgtEl>
                                        <p:attrNameLst>
                                          <p:attrName>ppt_x</p:attrName>
                                        </p:attrNameLst>
                                      </p:cBhvr>
                                      <p:tavLst>
                                        <p:tav tm="0">
                                          <p:val>
                                            <p:strVal val="#ppt_x"/>
                                          </p:val>
                                        </p:tav>
                                        <p:tav tm="100000">
                                          <p:val>
                                            <p:strVal val="#ppt_x"/>
                                          </p:val>
                                        </p:tav>
                                      </p:tavLst>
                                    </p:anim>
                                    <p:anim calcmode="lin" valueType="num">
                                      <p:cBhvr additive="base">
                                        <p:cTn id="25" dur="500" fill="hold"/>
                                        <p:tgtEl>
                                          <p:spTgt spid="1646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16460"/>
                                        </p:tgtEl>
                                        <p:attrNameLst>
                                          <p:attrName>style.visibility</p:attrName>
                                        </p:attrNameLst>
                                      </p:cBhvr>
                                      <p:to>
                                        <p:strVal val="visible"/>
                                      </p:to>
                                    </p:set>
                                    <p:anim calcmode="lin" valueType="num">
                                      <p:cBhvr additive="base">
                                        <p:cTn id="30" dur="500" fill="hold"/>
                                        <p:tgtEl>
                                          <p:spTgt spid="16460"/>
                                        </p:tgtEl>
                                        <p:attrNameLst>
                                          <p:attrName>ppt_x</p:attrName>
                                        </p:attrNameLst>
                                      </p:cBhvr>
                                      <p:tavLst>
                                        <p:tav tm="0">
                                          <p:val>
                                            <p:strVal val="1+#ppt_w/2"/>
                                          </p:val>
                                        </p:tav>
                                        <p:tav tm="100000">
                                          <p:val>
                                            <p:strVal val="#ppt_x"/>
                                          </p:val>
                                        </p:tav>
                                      </p:tavLst>
                                    </p:anim>
                                    <p:anim calcmode="lin" valueType="num">
                                      <p:cBhvr additive="base">
                                        <p:cTn id="31" dur="500" fill="hold"/>
                                        <p:tgtEl>
                                          <p:spTgt spid="16460"/>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6463"/>
                                        </p:tgtEl>
                                        <p:attrNameLst>
                                          <p:attrName>style.visibility</p:attrName>
                                        </p:attrNameLst>
                                      </p:cBhvr>
                                      <p:to>
                                        <p:strVal val="visible"/>
                                      </p:to>
                                    </p:set>
                                    <p:anim calcmode="lin" valueType="num">
                                      <p:cBhvr additive="base">
                                        <p:cTn id="36" dur="500" fill="hold"/>
                                        <p:tgtEl>
                                          <p:spTgt spid="16463"/>
                                        </p:tgtEl>
                                        <p:attrNameLst>
                                          <p:attrName>ppt_x</p:attrName>
                                        </p:attrNameLst>
                                      </p:cBhvr>
                                      <p:tavLst>
                                        <p:tav tm="0">
                                          <p:val>
                                            <p:strVal val="#ppt_x"/>
                                          </p:val>
                                        </p:tav>
                                        <p:tav tm="100000">
                                          <p:val>
                                            <p:strVal val="#ppt_x"/>
                                          </p:val>
                                        </p:tav>
                                      </p:tavLst>
                                    </p:anim>
                                    <p:anim calcmode="lin" valueType="num">
                                      <p:cBhvr additive="base">
                                        <p:cTn id="37" dur="500" fill="hold"/>
                                        <p:tgtEl>
                                          <p:spTgt spid="16463"/>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16465"/>
                                        </p:tgtEl>
                                        <p:attrNameLst>
                                          <p:attrName>style.visibility</p:attrName>
                                        </p:attrNameLst>
                                      </p:cBhvr>
                                      <p:to>
                                        <p:strVal val="visible"/>
                                      </p:to>
                                    </p:set>
                                    <p:anim calcmode="lin" valueType="num">
                                      <p:cBhvr additive="base">
                                        <p:cTn id="42" dur="500" fill="hold"/>
                                        <p:tgtEl>
                                          <p:spTgt spid="16465"/>
                                        </p:tgtEl>
                                        <p:attrNameLst>
                                          <p:attrName>ppt_x</p:attrName>
                                        </p:attrNameLst>
                                      </p:cBhvr>
                                      <p:tavLst>
                                        <p:tav tm="0">
                                          <p:val>
                                            <p:strVal val="1+#ppt_w/2"/>
                                          </p:val>
                                        </p:tav>
                                        <p:tav tm="100000">
                                          <p:val>
                                            <p:strVal val="#ppt_x"/>
                                          </p:val>
                                        </p:tav>
                                      </p:tavLst>
                                    </p:anim>
                                    <p:anim calcmode="lin" valueType="num">
                                      <p:cBhvr additive="base">
                                        <p:cTn id="43" dur="500" fill="hold"/>
                                        <p:tgtEl>
                                          <p:spTgt spid="16465"/>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6464"/>
                                        </p:tgtEl>
                                        <p:attrNameLst>
                                          <p:attrName>style.visibility</p:attrName>
                                        </p:attrNameLst>
                                      </p:cBhvr>
                                      <p:to>
                                        <p:strVal val="visible"/>
                                      </p:to>
                                    </p:set>
                                    <p:anim calcmode="lin" valueType="num">
                                      <p:cBhvr additive="base">
                                        <p:cTn id="48" dur="500" fill="hold"/>
                                        <p:tgtEl>
                                          <p:spTgt spid="16464"/>
                                        </p:tgtEl>
                                        <p:attrNameLst>
                                          <p:attrName>ppt_x</p:attrName>
                                        </p:attrNameLst>
                                      </p:cBhvr>
                                      <p:tavLst>
                                        <p:tav tm="0">
                                          <p:val>
                                            <p:strVal val="#ppt_x"/>
                                          </p:val>
                                        </p:tav>
                                        <p:tav tm="100000">
                                          <p:val>
                                            <p:strVal val="#ppt_x"/>
                                          </p:val>
                                        </p:tav>
                                      </p:tavLst>
                                    </p:anim>
                                    <p:anim calcmode="lin" valueType="num">
                                      <p:cBhvr additive="base">
                                        <p:cTn id="49" dur="500" fill="hold"/>
                                        <p:tgtEl>
                                          <p:spTgt spid="164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58" grpId="0" autoUpdateAnimBg="0"/>
      <p:bldP spid="16459" grpId="0" autoUpdateAnimBg="0"/>
      <p:bldP spid="16460" grpId="0" animBg="1" autoUpdateAnimBg="0"/>
      <p:bldP spid="16461" grpId="0" autoUpdateAnimBg="0"/>
      <p:bldP spid="16462" grpId="0" autoUpdateAnimBg="0"/>
      <p:bldP spid="16463" grpId="0" autoUpdateAnimBg="0"/>
      <p:bldP spid="16464" grpId="0" autoUpdateAnimBg="0"/>
      <p:bldP spid="16465"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61" name="Text Box 69"/>
          <p:cNvSpPr txBox="1">
            <a:spLocks noChangeArrowheads="1"/>
          </p:cNvSpPr>
          <p:nvPr/>
        </p:nvSpPr>
        <p:spPr bwMode="auto">
          <a:xfrm>
            <a:off x="1351785" y="1025708"/>
            <a:ext cx="53816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设随机变量</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具有数学期望</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2" name="直接连接符 11"/>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1406163" y="255069"/>
            <a:ext cx="2821588"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二、方差的计算</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4" name="组合 13"/>
          <p:cNvGrpSpPr/>
          <p:nvPr/>
        </p:nvGrpSpPr>
        <p:grpSpPr>
          <a:xfrm>
            <a:off x="851761" y="364781"/>
            <a:ext cx="263341" cy="395013"/>
            <a:chOff x="5284519" y="1508166"/>
            <a:chExt cx="213756" cy="427512"/>
          </a:xfrm>
        </p:grpSpPr>
        <p:cxnSp>
          <p:nvCxnSpPr>
            <p:cNvPr id="15" name="直接连接符 14"/>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6" name="直接连接符 15"/>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aphicFrame>
        <p:nvGraphicFramePr>
          <p:cNvPr id="17" name="Object 5"/>
          <p:cNvGraphicFramePr>
            <a:graphicFrameLocks noChangeAspect="1"/>
          </p:cNvGraphicFramePr>
          <p:nvPr/>
        </p:nvGraphicFramePr>
        <p:xfrm>
          <a:off x="6733386" y="1079418"/>
          <a:ext cx="1400175" cy="439738"/>
        </p:xfrm>
        <a:graphic>
          <a:graphicData uri="http://schemas.openxmlformats.org/presentationml/2006/ole">
            <mc:AlternateContent xmlns:mc="http://schemas.openxmlformats.org/markup-compatibility/2006">
              <mc:Choice xmlns:v="urn:schemas-microsoft-com:vml" Requires="v">
                <p:oleObj spid="_x0000_s206855" name="Equation" r:id="rId1" imgW="647700" imgH="203200" progId="Equation.DSMT4">
                  <p:embed/>
                </p:oleObj>
              </mc:Choice>
              <mc:Fallback>
                <p:oleObj name="Equation" r:id="rId1" imgW="647700" imgH="203200" progId="Equation.DSMT4">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3386" y="1079418"/>
                        <a:ext cx="1400175" cy="43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8" name="Object 6"/>
          <p:cNvGraphicFramePr>
            <a:graphicFrameLocks noChangeAspect="1"/>
          </p:cNvGraphicFramePr>
          <p:nvPr/>
        </p:nvGraphicFramePr>
        <p:xfrm>
          <a:off x="2199116" y="2372766"/>
          <a:ext cx="7400925" cy="485775"/>
        </p:xfrm>
        <a:graphic>
          <a:graphicData uri="http://schemas.openxmlformats.org/presentationml/2006/ole">
            <mc:AlternateContent xmlns:mc="http://schemas.openxmlformats.org/markup-compatibility/2006">
              <mc:Choice xmlns:v="urn:schemas-microsoft-com:vml" Requires="v">
                <p:oleObj spid="_x0000_s2" name="Equation" r:id="rId3" imgW="3479800" imgH="228600" progId="Equation.DSMT4">
                  <p:embed/>
                </p:oleObj>
              </mc:Choice>
              <mc:Fallback>
                <p:oleObj name="Equation" r:id="rId3" imgW="3479800" imgH="2286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9116" y="2372766"/>
                        <a:ext cx="7400925"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9" name="Object 18"/>
          <p:cNvGraphicFramePr>
            <a:graphicFrameLocks noChangeAspect="1"/>
          </p:cNvGraphicFramePr>
          <p:nvPr/>
        </p:nvGraphicFramePr>
        <p:xfrm>
          <a:off x="2199116" y="1555436"/>
          <a:ext cx="4875212" cy="781050"/>
        </p:xfrm>
        <a:graphic>
          <a:graphicData uri="http://schemas.openxmlformats.org/presentationml/2006/ole">
            <mc:AlternateContent xmlns:mc="http://schemas.openxmlformats.org/markup-compatibility/2006">
              <mc:Choice xmlns:v="urn:schemas-microsoft-com:vml" Requires="v">
                <p:oleObj spid="_x0000_s3" name="Equation" r:id="rId5" imgW="2298700" imgH="368300" progId="Equation.DSMT4">
                  <p:embed/>
                </p:oleObj>
              </mc:Choice>
              <mc:Fallback>
                <p:oleObj name="Equation" r:id="rId5" imgW="2298700" imgH="368300" progId="Equation.DSMT4">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9116" y="1555436"/>
                        <a:ext cx="4875212"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0" name="Object 7"/>
          <p:cNvGraphicFramePr>
            <a:graphicFrameLocks noChangeAspect="1"/>
          </p:cNvGraphicFramePr>
          <p:nvPr/>
        </p:nvGraphicFramePr>
        <p:xfrm>
          <a:off x="2229197" y="3073400"/>
          <a:ext cx="3584575" cy="711200"/>
        </p:xfrm>
        <a:graphic>
          <a:graphicData uri="http://schemas.openxmlformats.org/presentationml/2006/ole">
            <mc:AlternateContent xmlns:mc="http://schemas.openxmlformats.org/markup-compatibility/2006">
              <mc:Choice xmlns:v="urn:schemas-microsoft-com:vml" Requires="v">
                <p:oleObj spid="_x0000_s4" name="Equation" r:id="rId7" imgW="1663700" imgH="330200" progId="Equation.DSMT4">
                  <p:embed/>
                </p:oleObj>
              </mc:Choice>
              <mc:Fallback>
                <p:oleObj name="Equation" r:id="rId7" imgW="1663700" imgH="3302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9197" y="3073400"/>
                        <a:ext cx="3584575"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1" name="Object 30"/>
          <p:cNvGraphicFramePr>
            <a:graphicFrameLocks noChangeAspect="1"/>
          </p:cNvGraphicFramePr>
          <p:nvPr/>
        </p:nvGraphicFramePr>
        <p:xfrm>
          <a:off x="5862984" y="3049587"/>
          <a:ext cx="2681288" cy="711200"/>
        </p:xfrm>
        <a:graphic>
          <a:graphicData uri="http://schemas.openxmlformats.org/presentationml/2006/ole">
            <mc:AlternateContent xmlns:mc="http://schemas.openxmlformats.org/markup-compatibility/2006">
              <mc:Choice xmlns:v="urn:schemas-microsoft-com:vml" Requires="v">
                <p:oleObj spid="_x0000_s5" name="Equation" r:id="rId9" imgW="1244600" imgH="330200" progId="Equation.DSMT4">
                  <p:embed/>
                </p:oleObj>
              </mc:Choice>
              <mc:Fallback>
                <p:oleObj name="Equation" r:id="rId9" imgW="1244600" imgH="330200" progId="Equation.DSMT4">
                  <p:embed/>
                  <p:pic>
                    <p:nvPicPr>
                      <p:cNvPr id="0" name="Object 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2984" y="3049587"/>
                        <a:ext cx="2681288"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2" name="Object 31"/>
          <p:cNvGraphicFramePr>
            <a:graphicFrameLocks noChangeAspect="1"/>
          </p:cNvGraphicFramePr>
          <p:nvPr/>
        </p:nvGraphicFramePr>
        <p:xfrm>
          <a:off x="2764184" y="3760787"/>
          <a:ext cx="3830638" cy="547688"/>
        </p:xfrm>
        <a:graphic>
          <a:graphicData uri="http://schemas.openxmlformats.org/presentationml/2006/ole">
            <mc:AlternateContent xmlns:mc="http://schemas.openxmlformats.org/markup-compatibility/2006">
              <mc:Choice xmlns:v="urn:schemas-microsoft-com:vml" Requires="v">
                <p:oleObj spid="_x0000_s6" name="Equation" r:id="rId11" imgW="1777365" imgH="254000" progId="Equation.DSMT4">
                  <p:embed/>
                </p:oleObj>
              </mc:Choice>
              <mc:Fallback>
                <p:oleObj name="Equation" r:id="rId11" imgW="1777365" imgH="254000" progId="Equation.DSMT4">
                  <p:embed/>
                  <p:pic>
                    <p:nvPicPr>
                      <p:cNvPr id="0" name="Object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64184" y="3760787"/>
                        <a:ext cx="3830638"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3" name="Object 32"/>
          <p:cNvGraphicFramePr>
            <a:graphicFrameLocks noChangeAspect="1"/>
          </p:cNvGraphicFramePr>
          <p:nvPr/>
        </p:nvGraphicFramePr>
        <p:xfrm>
          <a:off x="5924897" y="4460875"/>
          <a:ext cx="2435225" cy="750887"/>
        </p:xfrm>
        <a:graphic>
          <a:graphicData uri="http://schemas.openxmlformats.org/presentationml/2006/ole">
            <mc:AlternateContent xmlns:mc="http://schemas.openxmlformats.org/markup-compatibility/2006">
              <mc:Choice xmlns:v="urn:schemas-microsoft-com:vml" Requires="v">
                <p:oleObj spid="_x0000_s7" name="Equation" r:id="rId13" imgW="1155065" imgH="355600" progId="Equation.DSMT4">
                  <p:embed/>
                </p:oleObj>
              </mc:Choice>
              <mc:Fallback>
                <p:oleObj name="Equation" r:id="rId13" imgW="1155065" imgH="355600" progId="Equation.DSMT4">
                  <p:embed/>
                  <p:pic>
                    <p:nvPicPr>
                      <p:cNvPr id="0"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24897" y="4460875"/>
                        <a:ext cx="2435225" cy="75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4" name="Object 34"/>
          <p:cNvGraphicFramePr>
            <a:graphicFrameLocks noChangeAspect="1"/>
          </p:cNvGraphicFramePr>
          <p:nvPr/>
        </p:nvGraphicFramePr>
        <p:xfrm>
          <a:off x="3770659" y="4383087"/>
          <a:ext cx="2079625" cy="793750"/>
        </p:xfrm>
        <a:graphic>
          <a:graphicData uri="http://schemas.openxmlformats.org/presentationml/2006/ole">
            <mc:AlternateContent xmlns:mc="http://schemas.openxmlformats.org/markup-compatibility/2006">
              <mc:Choice xmlns:v="urn:schemas-microsoft-com:vml" Requires="v">
                <p:oleObj spid="_x0000_s8" name="Equation" r:id="rId15" imgW="965200" imgH="368300" progId="Equation.DSMT4">
                  <p:embed/>
                </p:oleObj>
              </mc:Choice>
              <mc:Fallback>
                <p:oleObj name="Equation" r:id="rId15" imgW="965200" imgH="368300" progId="Equation.DSMT4">
                  <p:embed/>
                  <p:pic>
                    <p:nvPicPr>
                      <p:cNvPr id="0" name="Object 3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70659" y="4383087"/>
                        <a:ext cx="2079625" cy="79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5" name="Object 35"/>
          <p:cNvGraphicFramePr>
            <a:graphicFrameLocks noChangeAspect="1"/>
          </p:cNvGraphicFramePr>
          <p:nvPr/>
        </p:nvGraphicFramePr>
        <p:xfrm>
          <a:off x="3770659" y="5227637"/>
          <a:ext cx="1287463" cy="820738"/>
        </p:xfrm>
        <a:graphic>
          <a:graphicData uri="http://schemas.openxmlformats.org/presentationml/2006/ole">
            <mc:AlternateContent xmlns:mc="http://schemas.openxmlformats.org/markup-compatibility/2006">
              <mc:Choice xmlns:v="urn:schemas-microsoft-com:vml" Requires="v">
                <p:oleObj spid="_x0000_s9" name="Equation" r:id="rId17" imgW="596900" imgH="381000" progId="Equation.DSMT4">
                  <p:embed/>
                </p:oleObj>
              </mc:Choice>
              <mc:Fallback>
                <p:oleObj name="Equation" r:id="rId17" imgW="596900" imgH="381000" progId="Equation.DSMT4">
                  <p:embed/>
                  <p:pic>
                    <p:nvPicPr>
                      <p:cNvPr id="0" name="Object 3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70659" y="5227637"/>
                        <a:ext cx="1287463" cy="82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9461"/>
                                        </p:tgtEl>
                                        <p:attrNameLst>
                                          <p:attrName>style.visibility</p:attrName>
                                        </p:attrNameLst>
                                      </p:cBhvr>
                                      <p:to>
                                        <p:strVal val="visible"/>
                                      </p:to>
                                    </p:set>
                                    <p:anim calcmode="lin" valueType="num">
                                      <p:cBhvr additive="base">
                                        <p:cTn id="7" dur="500" fill="hold"/>
                                        <p:tgtEl>
                                          <p:spTgt spid="59461"/>
                                        </p:tgtEl>
                                        <p:attrNameLst>
                                          <p:attrName>ppt_x</p:attrName>
                                        </p:attrNameLst>
                                      </p:cBhvr>
                                      <p:tavLst>
                                        <p:tav tm="0">
                                          <p:val>
                                            <p:strVal val="0-#ppt_w/2"/>
                                          </p:val>
                                        </p:tav>
                                        <p:tav tm="100000">
                                          <p:val>
                                            <p:strVal val="#ppt_x"/>
                                          </p:val>
                                        </p:tav>
                                      </p:tavLst>
                                    </p:anim>
                                    <p:anim calcmode="lin" valueType="num">
                                      <p:cBhvr additive="base">
                                        <p:cTn id="8" dur="500" fill="hold"/>
                                        <p:tgtEl>
                                          <p:spTgt spid="5946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0-#ppt_w/2"/>
                                          </p:val>
                                        </p:tav>
                                        <p:tav tm="100000">
                                          <p:val>
                                            <p:strVal val="#ppt_x"/>
                                          </p:val>
                                        </p:tav>
                                      </p:tavLst>
                                    </p:anim>
                                    <p:anim calcmode="lin" valueType="num">
                                      <p:cBhvr additive="base">
                                        <p:cTn id="20"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0-#ppt_w/2"/>
                                          </p:val>
                                        </p:tav>
                                        <p:tav tm="100000">
                                          <p:val>
                                            <p:strVal val="#ppt_x"/>
                                          </p:val>
                                        </p:tav>
                                      </p:tavLst>
                                    </p:anim>
                                    <p:anim calcmode="lin" valueType="num">
                                      <p:cBhvr additive="base">
                                        <p:cTn id="26"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0-#ppt_w/2"/>
                                          </p:val>
                                        </p:tav>
                                        <p:tav tm="100000">
                                          <p:val>
                                            <p:strVal val="#ppt_x"/>
                                          </p:val>
                                        </p:tav>
                                      </p:tavLst>
                                    </p:anim>
                                    <p:anim calcmode="lin" valueType="num">
                                      <p:cBhvr additive="base">
                                        <p:cTn id="32"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0-#ppt_w/2"/>
                                          </p:val>
                                        </p:tav>
                                        <p:tav tm="100000">
                                          <p:val>
                                            <p:strVal val="#ppt_x"/>
                                          </p:val>
                                        </p:tav>
                                      </p:tavLst>
                                    </p:anim>
                                    <p:anim calcmode="lin" valueType="num">
                                      <p:cBhvr additive="base">
                                        <p:cTn id="44"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500" fill="hold"/>
                                        <p:tgtEl>
                                          <p:spTgt spid="24"/>
                                        </p:tgtEl>
                                        <p:attrNameLst>
                                          <p:attrName>ppt_x</p:attrName>
                                        </p:attrNameLst>
                                      </p:cBhvr>
                                      <p:tavLst>
                                        <p:tav tm="0">
                                          <p:val>
                                            <p:strVal val="0-#ppt_w/2"/>
                                          </p:val>
                                        </p:tav>
                                        <p:tav tm="100000">
                                          <p:val>
                                            <p:strVal val="#ppt_x"/>
                                          </p:val>
                                        </p:tav>
                                      </p:tavLst>
                                    </p:anim>
                                    <p:anim calcmode="lin" valueType="num">
                                      <p:cBhvr additive="base">
                                        <p:cTn id="50"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23"/>
                                        </p:tgtEl>
                                        <p:attrNameLst>
                                          <p:attrName>style.visibility</p:attrName>
                                        </p:attrNameLst>
                                      </p:cBhvr>
                                      <p:to>
                                        <p:strVal val="visible"/>
                                      </p:to>
                                    </p:set>
                                    <p:anim calcmode="lin" valueType="num">
                                      <p:cBhvr additive="base">
                                        <p:cTn id="55" dur="500" fill="hold"/>
                                        <p:tgtEl>
                                          <p:spTgt spid="23"/>
                                        </p:tgtEl>
                                        <p:attrNameLst>
                                          <p:attrName>ppt_x</p:attrName>
                                        </p:attrNameLst>
                                      </p:cBhvr>
                                      <p:tavLst>
                                        <p:tav tm="0">
                                          <p:val>
                                            <p:strVal val="0-#ppt_w/2"/>
                                          </p:val>
                                        </p:tav>
                                        <p:tav tm="100000">
                                          <p:val>
                                            <p:strVal val="#ppt_x"/>
                                          </p:val>
                                        </p:tav>
                                      </p:tavLst>
                                    </p:anim>
                                    <p:anim calcmode="lin" valueType="num">
                                      <p:cBhvr additive="base">
                                        <p:cTn id="56"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anim calcmode="lin" valueType="num">
                                      <p:cBhvr additive="base">
                                        <p:cTn id="61" dur="500" fill="hold"/>
                                        <p:tgtEl>
                                          <p:spTgt spid="25"/>
                                        </p:tgtEl>
                                        <p:attrNameLst>
                                          <p:attrName>ppt_x</p:attrName>
                                        </p:attrNameLst>
                                      </p:cBhvr>
                                      <p:tavLst>
                                        <p:tav tm="0">
                                          <p:val>
                                            <p:strVal val="0-#ppt_w/2"/>
                                          </p:val>
                                        </p:tav>
                                        <p:tav tm="100000">
                                          <p:val>
                                            <p:strVal val="#ppt_x"/>
                                          </p:val>
                                        </p:tav>
                                      </p:tavLst>
                                    </p:anim>
                                    <p:anim calcmode="lin" valueType="num">
                                      <p:cBhvr additive="base">
                                        <p:cTn id="62"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6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11" name="Text Box 39"/>
          <p:cNvSpPr txBox="1">
            <a:spLocks noChangeArrowheads="1"/>
          </p:cNvSpPr>
          <p:nvPr/>
        </p:nvSpPr>
        <p:spPr bwMode="auto">
          <a:xfrm>
            <a:off x="1335307" y="961564"/>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例如</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8712" name="Object 40"/>
          <p:cNvGraphicFramePr>
            <a:graphicFrameLocks noChangeAspect="1"/>
          </p:cNvGraphicFramePr>
          <p:nvPr/>
        </p:nvGraphicFramePr>
        <p:xfrm>
          <a:off x="1334681" y="1625377"/>
          <a:ext cx="9753600" cy="1095375"/>
        </p:xfrm>
        <a:graphic>
          <a:graphicData uri="http://schemas.openxmlformats.org/presentationml/2006/ole">
            <mc:AlternateContent xmlns:mc="http://schemas.openxmlformats.org/markup-compatibility/2006">
              <mc:Choice xmlns:v="urn:schemas-microsoft-com:vml" Requires="v">
                <p:oleObj spid="_x0000_s206855" name="Equation" r:id="rId1" imgW="97536000" imgH="10972800" progId="Equation.DSMT4">
                  <p:embed/>
                </p:oleObj>
              </mc:Choice>
              <mc:Fallback>
                <p:oleObj name="Equation" r:id="rId1" imgW="97536000" imgH="10972800" progId="Equation.DSMT4">
                  <p:embed/>
                  <p:pic>
                    <p:nvPicPr>
                      <p:cNvPr id="0" name="Object 40"/>
                      <p:cNvPicPr>
                        <a:picLocks noChangeAspect="1" noChangeArrowheads="1"/>
                      </p:cNvPicPr>
                      <p:nvPr/>
                    </p:nvPicPr>
                    <p:blipFill>
                      <a:blip r:embed="rId2"/>
                      <a:srcRect/>
                      <a:stretch>
                        <a:fillRect/>
                      </a:stretch>
                    </p:blipFill>
                    <p:spPr bwMode="auto">
                      <a:xfrm>
                        <a:off x="1334681" y="1625377"/>
                        <a:ext cx="9753600" cy="1095375"/>
                      </a:xfrm>
                      <a:prstGeom prst="rect">
                        <a:avLst/>
                      </a:prstGeom>
                      <a:noFill/>
                      <a:ln>
                        <a:noFill/>
                      </a:ln>
                      <a:effectLst/>
                    </p:spPr>
                  </p:pic>
                </p:oleObj>
              </mc:Fallback>
            </mc:AlternateContent>
          </a:graphicData>
        </a:graphic>
      </p:graphicFrame>
      <p:graphicFrame>
        <p:nvGraphicFramePr>
          <p:cNvPr id="28714" name="Object 42"/>
          <p:cNvGraphicFramePr>
            <a:graphicFrameLocks noChangeAspect="1"/>
          </p:cNvGraphicFramePr>
          <p:nvPr/>
        </p:nvGraphicFramePr>
        <p:xfrm>
          <a:off x="1295761" y="2861345"/>
          <a:ext cx="9912807" cy="1668462"/>
        </p:xfrm>
        <a:graphic>
          <a:graphicData uri="http://schemas.openxmlformats.org/presentationml/2006/ole">
            <mc:AlternateContent xmlns:mc="http://schemas.openxmlformats.org/markup-compatibility/2006">
              <mc:Choice xmlns:v="urn:schemas-microsoft-com:vml" Requires="v">
                <p:oleObj spid="_x0000_s2" name="Equation" r:id="rId3" imgW="99974400" imgH="16764000" progId="Equation.DSMT4">
                  <p:embed/>
                </p:oleObj>
              </mc:Choice>
              <mc:Fallback>
                <p:oleObj name="Equation" r:id="rId3" imgW="99974400" imgH="16764000" progId="Equation.DSMT4">
                  <p:embed/>
                  <p:pic>
                    <p:nvPicPr>
                      <p:cNvPr id="0" name="Object 42"/>
                      <p:cNvPicPr>
                        <a:picLocks noChangeAspect="1" noChangeArrowheads="1"/>
                      </p:cNvPicPr>
                      <p:nvPr/>
                    </p:nvPicPr>
                    <p:blipFill>
                      <a:blip r:embed="rId4"/>
                      <a:srcRect/>
                      <a:stretch>
                        <a:fillRect/>
                      </a:stretch>
                    </p:blipFill>
                    <p:spPr bwMode="auto">
                      <a:xfrm>
                        <a:off x="1295761" y="2861345"/>
                        <a:ext cx="9912807" cy="1668462"/>
                      </a:xfrm>
                      <a:prstGeom prst="rect">
                        <a:avLst/>
                      </a:prstGeom>
                      <a:noFill/>
                      <a:ln>
                        <a:noFill/>
                      </a:ln>
                      <a:effectLst/>
                    </p:spPr>
                  </p:pic>
                </p:oleObj>
              </mc:Fallback>
            </mc:AlternateContent>
          </a:graphicData>
        </a:graphic>
      </p:graphicFrame>
      <p:graphicFrame>
        <p:nvGraphicFramePr>
          <p:cNvPr id="28716" name="Object 44"/>
          <p:cNvGraphicFramePr>
            <a:graphicFrameLocks noChangeAspect="1"/>
          </p:cNvGraphicFramePr>
          <p:nvPr/>
        </p:nvGraphicFramePr>
        <p:xfrm>
          <a:off x="3829870" y="3294931"/>
          <a:ext cx="457310" cy="1006081"/>
        </p:xfrm>
        <a:graphic>
          <a:graphicData uri="http://schemas.openxmlformats.org/presentationml/2006/ole">
            <mc:AlternateContent xmlns:mc="http://schemas.openxmlformats.org/markup-compatibility/2006">
              <mc:Choice xmlns:v="urn:schemas-microsoft-com:vml" Requires="v">
                <p:oleObj spid="_x0000_s3" name="Equation" r:id="rId5" imgW="190500" imgH="419100" progId="Equation.3">
                  <p:embed/>
                </p:oleObj>
              </mc:Choice>
              <mc:Fallback>
                <p:oleObj name="Equation" r:id="rId5" imgW="190500" imgH="419100" progId="Equation.3">
                  <p:embed/>
                  <p:pic>
                    <p:nvPicPr>
                      <p:cNvPr id="0"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29870" y="3294931"/>
                        <a:ext cx="457310" cy="1006081"/>
                      </a:xfrm>
                      <a:prstGeom prst="rect">
                        <a:avLst/>
                      </a:prstGeom>
                      <a:noFill/>
                      <a:ln>
                        <a:noFill/>
                      </a:ln>
                      <a:effectLst/>
                    </p:spPr>
                  </p:pic>
                </p:oleObj>
              </mc:Fallback>
            </mc:AlternateContent>
          </a:graphicData>
        </a:graphic>
      </p:graphicFrame>
      <p:graphicFrame>
        <p:nvGraphicFramePr>
          <p:cNvPr id="28717" name="Object 45"/>
          <p:cNvGraphicFramePr>
            <a:graphicFrameLocks noChangeAspect="1"/>
          </p:cNvGraphicFramePr>
          <p:nvPr/>
        </p:nvGraphicFramePr>
        <p:xfrm>
          <a:off x="2567608" y="4740965"/>
          <a:ext cx="7560840" cy="1036567"/>
        </p:xfrm>
        <a:graphic>
          <a:graphicData uri="http://schemas.openxmlformats.org/presentationml/2006/ole">
            <mc:AlternateContent xmlns:mc="http://schemas.openxmlformats.org/markup-compatibility/2006">
              <mc:Choice xmlns:v="urn:schemas-microsoft-com:vml" Requires="v">
                <p:oleObj spid="_x0000_s4" name="Equation" r:id="rId7" imgW="75590400" imgH="10363200" progId="Equation.DSMT4">
                  <p:embed/>
                </p:oleObj>
              </mc:Choice>
              <mc:Fallback>
                <p:oleObj name="Equation" r:id="rId7" imgW="75590400" imgH="10363200" progId="Equation.DSMT4">
                  <p:embed/>
                  <p:pic>
                    <p:nvPicPr>
                      <p:cNvPr id="0" name="Object 45"/>
                      <p:cNvPicPr>
                        <a:picLocks noChangeAspect="1" noChangeArrowheads="1"/>
                      </p:cNvPicPr>
                      <p:nvPr/>
                    </p:nvPicPr>
                    <p:blipFill>
                      <a:blip r:embed="rId8"/>
                      <a:srcRect/>
                      <a:stretch>
                        <a:fillRect/>
                      </a:stretch>
                    </p:blipFill>
                    <p:spPr bwMode="auto">
                      <a:xfrm>
                        <a:off x="2567608" y="4740965"/>
                        <a:ext cx="7560840" cy="1036567"/>
                      </a:xfrm>
                      <a:prstGeom prst="rect">
                        <a:avLst/>
                      </a:prstGeom>
                      <a:solidFill>
                        <a:srgbClr val="C00000"/>
                      </a:solidFill>
                      <a:ln>
                        <a:noFill/>
                      </a:ln>
                      <a:effectLst/>
                    </p:spPr>
                  </p:pic>
                </p:oleObj>
              </mc:Fallback>
            </mc:AlternateContent>
          </a:graphicData>
        </a:graphic>
      </p:graphicFrame>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三、方差性质的应用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711"/>
                                        </p:tgtEl>
                                        <p:attrNameLst>
                                          <p:attrName>style.visibility</p:attrName>
                                        </p:attrNameLst>
                                      </p:cBhvr>
                                      <p:to>
                                        <p:strVal val="visible"/>
                                      </p:to>
                                    </p:set>
                                    <p:anim calcmode="lin" valueType="num">
                                      <p:cBhvr additive="base">
                                        <p:cTn id="7" dur="500" fill="hold"/>
                                        <p:tgtEl>
                                          <p:spTgt spid="28711"/>
                                        </p:tgtEl>
                                        <p:attrNameLst>
                                          <p:attrName>ppt_x</p:attrName>
                                        </p:attrNameLst>
                                      </p:cBhvr>
                                      <p:tavLst>
                                        <p:tav tm="0">
                                          <p:val>
                                            <p:strVal val="0-#ppt_w/2"/>
                                          </p:val>
                                        </p:tav>
                                        <p:tav tm="100000">
                                          <p:val>
                                            <p:strVal val="#ppt_x"/>
                                          </p:val>
                                        </p:tav>
                                      </p:tavLst>
                                    </p:anim>
                                    <p:anim calcmode="lin" valueType="num">
                                      <p:cBhvr additive="base">
                                        <p:cTn id="8" dur="500" fill="hold"/>
                                        <p:tgtEl>
                                          <p:spTgt spid="287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8712"/>
                                        </p:tgtEl>
                                        <p:attrNameLst>
                                          <p:attrName>style.visibility</p:attrName>
                                        </p:attrNameLst>
                                      </p:cBhvr>
                                      <p:to>
                                        <p:strVal val="visible"/>
                                      </p:to>
                                    </p:set>
                                    <p:anim calcmode="lin" valueType="num">
                                      <p:cBhvr additive="base">
                                        <p:cTn id="13" dur="500" fill="hold"/>
                                        <p:tgtEl>
                                          <p:spTgt spid="28712"/>
                                        </p:tgtEl>
                                        <p:attrNameLst>
                                          <p:attrName>ppt_x</p:attrName>
                                        </p:attrNameLst>
                                      </p:cBhvr>
                                      <p:tavLst>
                                        <p:tav tm="0">
                                          <p:val>
                                            <p:strVal val="0-#ppt_w/2"/>
                                          </p:val>
                                        </p:tav>
                                        <p:tav tm="100000">
                                          <p:val>
                                            <p:strVal val="#ppt_x"/>
                                          </p:val>
                                        </p:tav>
                                      </p:tavLst>
                                    </p:anim>
                                    <p:anim calcmode="lin" valueType="num">
                                      <p:cBhvr additive="base">
                                        <p:cTn id="14" dur="500" fill="hold"/>
                                        <p:tgtEl>
                                          <p:spTgt spid="287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8714"/>
                                        </p:tgtEl>
                                        <p:attrNameLst>
                                          <p:attrName>style.visibility</p:attrName>
                                        </p:attrNameLst>
                                      </p:cBhvr>
                                      <p:to>
                                        <p:strVal val="visible"/>
                                      </p:to>
                                    </p:set>
                                    <p:anim calcmode="lin" valueType="num">
                                      <p:cBhvr additive="base">
                                        <p:cTn id="19" dur="500" fill="hold"/>
                                        <p:tgtEl>
                                          <p:spTgt spid="28714"/>
                                        </p:tgtEl>
                                        <p:attrNameLst>
                                          <p:attrName>ppt_x</p:attrName>
                                        </p:attrNameLst>
                                      </p:cBhvr>
                                      <p:tavLst>
                                        <p:tav tm="0">
                                          <p:val>
                                            <p:strVal val="0-#ppt_w/2"/>
                                          </p:val>
                                        </p:tav>
                                        <p:tav tm="100000">
                                          <p:val>
                                            <p:strVal val="#ppt_x"/>
                                          </p:val>
                                        </p:tav>
                                      </p:tavLst>
                                    </p:anim>
                                    <p:anim calcmode="lin" valueType="num">
                                      <p:cBhvr additive="base">
                                        <p:cTn id="20" dur="500" fill="hold"/>
                                        <p:tgtEl>
                                          <p:spTgt spid="287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8717"/>
                                        </p:tgtEl>
                                        <p:attrNameLst>
                                          <p:attrName>style.visibility</p:attrName>
                                        </p:attrNameLst>
                                      </p:cBhvr>
                                      <p:to>
                                        <p:strVal val="visible"/>
                                      </p:to>
                                    </p:set>
                                    <p:anim calcmode="lin" valueType="num">
                                      <p:cBhvr additive="base">
                                        <p:cTn id="25" dur="500" fill="hold"/>
                                        <p:tgtEl>
                                          <p:spTgt spid="28717"/>
                                        </p:tgtEl>
                                        <p:attrNameLst>
                                          <p:attrName>ppt_x</p:attrName>
                                        </p:attrNameLst>
                                      </p:cBhvr>
                                      <p:tavLst>
                                        <p:tav tm="0">
                                          <p:val>
                                            <p:strVal val="0-#ppt_w/2"/>
                                          </p:val>
                                        </p:tav>
                                        <p:tav tm="100000">
                                          <p:val>
                                            <p:strVal val="#ppt_x"/>
                                          </p:val>
                                        </p:tav>
                                      </p:tavLst>
                                    </p:anim>
                                    <p:anim calcmode="lin" valueType="num">
                                      <p:cBhvr additive="base">
                                        <p:cTn id="26" dur="500" fill="hold"/>
                                        <p:tgtEl>
                                          <p:spTgt spid="287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737" name="Object 41"/>
          <p:cNvGraphicFramePr>
            <a:graphicFrameLocks noChangeAspect="1"/>
          </p:cNvGraphicFramePr>
          <p:nvPr/>
        </p:nvGraphicFramePr>
        <p:xfrm>
          <a:off x="1335307" y="1034916"/>
          <a:ext cx="9783762" cy="1608137"/>
        </p:xfrm>
        <a:graphic>
          <a:graphicData uri="http://schemas.openxmlformats.org/presentationml/2006/ole">
            <mc:AlternateContent xmlns:mc="http://schemas.openxmlformats.org/markup-compatibility/2006">
              <mc:Choice xmlns:v="urn:schemas-microsoft-com:vml" Requires="v">
                <p:oleObj spid="_x0000_s217102" name="Equation" r:id="rId1" imgW="103936800" imgH="17068800" progId="Equation.DSMT4">
                  <p:embed/>
                </p:oleObj>
              </mc:Choice>
              <mc:Fallback>
                <p:oleObj name="Equation" r:id="rId1" imgW="103936800" imgH="17068800" progId="Equation.DSMT4">
                  <p:embed/>
                  <p:pic>
                    <p:nvPicPr>
                      <p:cNvPr id="0" name="Object 41"/>
                      <p:cNvPicPr>
                        <a:picLocks noChangeAspect="1" noChangeArrowheads="1"/>
                      </p:cNvPicPr>
                      <p:nvPr/>
                    </p:nvPicPr>
                    <p:blipFill>
                      <a:blip r:embed="rId2"/>
                      <a:srcRect/>
                      <a:stretch>
                        <a:fillRect/>
                      </a:stretch>
                    </p:blipFill>
                    <p:spPr bwMode="auto">
                      <a:xfrm>
                        <a:off x="1335307" y="1034916"/>
                        <a:ext cx="9783762" cy="1608137"/>
                      </a:xfrm>
                      <a:prstGeom prst="rect">
                        <a:avLst/>
                      </a:prstGeom>
                      <a:noFill/>
                      <a:ln>
                        <a:noFill/>
                      </a:ln>
                      <a:effectLst/>
                    </p:spPr>
                  </p:pic>
                </p:oleObj>
              </mc:Fallback>
            </mc:AlternateContent>
          </a:graphicData>
        </a:graphic>
      </p:graphicFrame>
      <p:sp>
        <p:nvSpPr>
          <p:cNvPr id="29736" name="Text Box 40"/>
          <p:cNvSpPr txBox="1">
            <a:spLocks noChangeArrowheads="1"/>
          </p:cNvSpPr>
          <p:nvPr/>
        </p:nvSpPr>
        <p:spPr bwMode="auto">
          <a:xfrm>
            <a:off x="1320821" y="1062219"/>
            <a:ext cx="7232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8</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40" name="Text Box 44"/>
          <p:cNvSpPr txBox="1">
            <a:spLocks noChangeArrowheads="1"/>
          </p:cNvSpPr>
          <p:nvPr/>
        </p:nvSpPr>
        <p:spPr bwMode="auto">
          <a:xfrm>
            <a:off x="1583541" y="2794914"/>
            <a:ext cx="543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9741" name="Object 45"/>
          <p:cNvGraphicFramePr>
            <a:graphicFrameLocks noChangeAspect="1"/>
          </p:cNvGraphicFramePr>
          <p:nvPr/>
        </p:nvGraphicFramePr>
        <p:xfrm>
          <a:off x="2351584" y="2830363"/>
          <a:ext cx="6247868" cy="523220"/>
        </p:xfrm>
        <a:graphic>
          <a:graphicData uri="http://schemas.openxmlformats.org/presentationml/2006/ole">
            <mc:AlternateContent xmlns:mc="http://schemas.openxmlformats.org/markup-compatibility/2006">
              <mc:Choice xmlns:v="urn:schemas-microsoft-com:vml" Requires="v">
                <p:oleObj spid="_x0000_s217103" name="Equation" r:id="rId3" imgW="61874400" imgH="5181600" progId="Equation.DSMT4">
                  <p:embed/>
                </p:oleObj>
              </mc:Choice>
              <mc:Fallback>
                <p:oleObj name="Equation" r:id="rId3" imgW="61874400" imgH="5181600" progId="Equation.DSMT4">
                  <p:embed/>
                  <p:pic>
                    <p:nvPicPr>
                      <p:cNvPr id="0" name="Object 45"/>
                      <p:cNvPicPr>
                        <a:picLocks noChangeAspect="1" noChangeArrowheads="1"/>
                      </p:cNvPicPr>
                      <p:nvPr/>
                    </p:nvPicPr>
                    <p:blipFill>
                      <a:blip r:embed="rId4"/>
                      <a:srcRect/>
                      <a:stretch>
                        <a:fillRect/>
                      </a:stretch>
                    </p:blipFill>
                    <p:spPr bwMode="auto">
                      <a:xfrm>
                        <a:off x="2351584" y="2830363"/>
                        <a:ext cx="6247868" cy="523220"/>
                      </a:xfrm>
                      <a:prstGeom prst="rect">
                        <a:avLst/>
                      </a:prstGeom>
                      <a:noFill/>
                      <a:ln>
                        <a:noFill/>
                      </a:ln>
                      <a:effectLst/>
                    </p:spPr>
                  </p:pic>
                </p:oleObj>
              </mc:Fallback>
            </mc:AlternateContent>
          </a:graphicData>
        </a:graphic>
      </p:graphicFrame>
      <p:sp>
        <p:nvSpPr>
          <p:cNvPr id="29742" name="Text Box 46"/>
          <p:cNvSpPr txBox="1">
            <a:spLocks noChangeArrowheads="1"/>
          </p:cNvSpPr>
          <p:nvPr/>
        </p:nvSpPr>
        <p:spPr bwMode="auto">
          <a:xfrm>
            <a:off x="1555701" y="3690141"/>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由于</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9743" name="Object 47"/>
          <p:cNvGraphicFramePr>
            <a:graphicFrameLocks noChangeAspect="1"/>
          </p:cNvGraphicFramePr>
          <p:nvPr/>
        </p:nvGraphicFramePr>
        <p:xfrm>
          <a:off x="2622247" y="3691728"/>
          <a:ext cx="4153055" cy="523220"/>
        </p:xfrm>
        <a:graphic>
          <a:graphicData uri="http://schemas.openxmlformats.org/presentationml/2006/ole">
            <mc:AlternateContent xmlns:mc="http://schemas.openxmlformats.org/markup-compatibility/2006">
              <mc:Choice xmlns:v="urn:schemas-microsoft-com:vml" Requires="v">
                <p:oleObj spid="_x0000_s217104" name="Equation" r:id="rId5" imgW="38709600" imgH="4876800" progId="Equation.DSMT4">
                  <p:embed/>
                </p:oleObj>
              </mc:Choice>
              <mc:Fallback>
                <p:oleObj name="Equation" r:id="rId5" imgW="38709600" imgH="4876800" progId="Equation.DSMT4">
                  <p:embed/>
                  <p:pic>
                    <p:nvPicPr>
                      <p:cNvPr id="0" name="Object 47"/>
                      <p:cNvPicPr>
                        <a:picLocks noChangeAspect="1" noChangeArrowheads="1"/>
                      </p:cNvPicPr>
                      <p:nvPr/>
                    </p:nvPicPr>
                    <p:blipFill>
                      <a:blip r:embed="rId6"/>
                      <a:srcRect/>
                      <a:stretch>
                        <a:fillRect/>
                      </a:stretch>
                    </p:blipFill>
                    <p:spPr bwMode="auto">
                      <a:xfrm>
                        <a:off x="2622247" y="3691728"/>
                        <a:ext cx="4153055" cy="523220"/>
                      </a:xfrm>
                      <a:prstGeom prst="rect">
                        <a:avLst/>
                      </a:prstGeom>
                      <a:noFill/>
                      <a:ln>
                        <a:noFill/>
                      </a:ln>
                      <a:effectLst/>
                    </p:spPr>
                  </p:pic>
                </p:oleObj>
              </mc:Fallback>
            </mc:AlternateContent>
          </a:graphicData>
        </a:graphic>
      </p:graphicFrame>
      <p:sp>
        <p:nvSpPr>
          <p:cNvPr id="29744" name="Text Box 48"/>
          <p:cNvSpPr txBox="1">
            <a:spLocks noChangeArrowheads="1"/>
          </p:cNvSpPr>
          <p:nvPr/>
        </p:nvSpPr>
        <p:spPr bwMode="auto">
          <a:xfrm>
            <a:off x="1555701" y="4375941"/>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故有</a:t>
            </a:r>
            <a:endPar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mc:AlternateContent xmlns:mc="http://schemas.openxmlformats.org/markup-compatibility/2006">
        <mc:Choice xmlns:a14="http://schemas.microsoft.com/office/drawing/2010/main" Requires="a14">
          <p:sp>
            <p:nvSpPr>
              <p:cNvPr id="29745" name="Object 49"/>
              <p:cNvSpPr txBox="1"/>
              <p:nvPr/>
            </p:nvSpPr>
            <p:spPr bwMode="auto">
              <a:xfrm>
                <a:off x="2622247" y="4213361"/>
                <a:ext cx="8879292" cy="1379537"/>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300" i="1" smtClean="0">
                          <a:solidFill>
                            <a:srgbClr val="000000"/>
                          </a:solidFill>
                          <a:latin typeface="Cambria Math" panose="02040503050406030204" pitchFamily="18" charset="0"/>
                        </a:rPr>
                        <m:t>𝑃</m:t>
                      </m:r>
                      <m:d>
                        <m:dPr>
                          <m:begChr m:val="{"/>
                          <m:endChr m:val="}"/>
                          <m:ctrlPr>
                            <a:rPr lang="zh-CN" altLang="en-US" sz="2300" i="1">
                              <a:solidFill>
                                <a:srgbClr val="000000"/>
                              </a:solidFill>
                              <a:latin typeface="Cambria Math" panose="02040503050406030204" pitchFamily="18" charset="0"/>
                            </a:rPr>
                          </m:ctrlPr>
                        </m:dPr>
                        <m:e>
                          <m:r>
                            <a:rPr lang="zh-CN" altLang="en-US" sz="2300" i="1">
                              <a:solidFill>
                                <a:srgbClr val="000000"/>
                              </a:solidFill>
                              <a:latin typeface="Cambria Math" panose="02040503050406030204" pitchFamily="18" charset="0"/>
                            </a:rPr>
                            <m:t>𝑋</m:t>
                          </m:r>
                          <m:r>
                            <a:rPr lang="zh-CN" altLang="en-US" sz="2300" i="1">
                              <a:solidFill>
                                <a:srgbClr val="000000"/>
                              </a:solidFill>
                              <a:latin typeface="Cambria Math" panose="02040503050406030204" pitchFamily="18" charset="0"/>
                            </a:rPr>
                            <m:t>&lt;</m:t>
                          </m:r>
                          <m:r>
                            <a:rPr lang="zh-CN" altLang="en-US" sz="2300" i="1">
                              <a:solidFill>
                                <a:srgbClr val="000000"/>
                              </a:solidFill>
                              <a:latin typeface="Cambria Math" panose="02040503050406030204" pitchFamily="18" charset="0"/>
                            </a:rPr>
                            <m:t>𝑌</m:t>
                          </m:r>
                        </m:e>
                      </m:d>
                      <m:r>
                        <a:rPr lang="zh-CN" altLang="en-US" sz="2300" i="1">
                          <a:solidFill>
                            <a:srgbClr val="000000"/>
                          </a:solidFill>
                          <a:latin typeface="Cambria Math" panose="02040503050406030204" pitchFamily="18" charset="0"/>
                        </a:rPr>
                        <m:t>=</m:t>
                      </m:r>
                      <m:r>
                        <a:rPr lang="zh-CN" altLang="en-US" sz="2300" i="1">
                          <a:solidFill>
                            <a:srgbClr val="000000"/>
                          </a:solidFill>
                          <a:latin typeface="Cambria Math" panose="02040503050406030204" pitchFamily="18" charset="0"/>
                        </a:rPr>
                        <m:t>𝑃</m:t>
                      </m:r>
                      <m:d>
                        <m:dPr>
                          <m:begChr m:val="{"/>
                          <m:endChr m:val="}"/>
                          <m:ctrlPr>
                            <a:rPr lang="zh-CN" altLang="en-US" sz="2300" i="1">
                              <a:solidFill>
                                <a:srgbClr val="000000"/>
                              </a:solidFill>
                              <a:latin typeface="Cambria Math" panose="02040503050406030204" pitchFamily="18" charset="0"/>
                            </a:rPr>
                          </m:ctrlPr>
                        </m:dPr>
                        <m:e>
                          <m:r>
                            <a:rPr lang="zh-CN" altLang="en-US" sz="2300" i="1">
                              <a:solidFill>
                                <a:srgbClr val="000000"/>
                              </a:solidFill>
                              <a:latin typeface="Cambria Math" panose="02040503050406030204" pitchFamily="18" charset="0"/>
                            </a:rPr>
                            <m:t>𝑋</m:t>
                          </m:r>
                          <m:r>
                            <a:rPr lang="zh-CN" altLang="en-US" sz="2300" i="1">
                              <a:solidFill>
                                <a:srgbClr val="000000"/>
                              </a:solidFill>
                              <a:latin typeface="Cambria Math" panose="02040503050406030204" pitchFamily="18" charset="0"/>
                            </a:rPr>
                            <m:t>−</m:t>
                          </m:r>
                          <m:r>
                            <a:rPr lang="zh-CN" altLang="en-US" sz="2300" i="1">
                              <a:solidFill>
                                <a:srgbClr val="000000"/>
                              </a:solidFill>
                              <a:latin typeface="Cambria Math" panose="02040503050406030204" pitchFamily="18" charset="0"/>
                            </a:rPr>
                            <m:t>𝑌</m:t>
                          </m:r>
                          <m:r>
                            <a:rPr lang="zh-CN" altLang="en-US" sz="2300" i="1">
                              <a:solidFill>
                                <a:srgbClr val="000000"/>
                              </a:solidFill>
                              <a:latin typeface="Cambria Math" panose="02040503050406030204" pitchFamily="18" charset="0"/>
                            </a:rPr>
                            <m:t>&lt;</m:t>
                          </m:r>
                          <m:r>
                            <a:rPr lang="zh-CN" altLang="en-US" sz="2300" i="1">
                              <a:solidFill>
                                <a:srgbClr val="000000"/>
                              </a:solidFill>
                              <a:latin typeface="Cambria Math" panose="02040503050406030204" pitchFamily="18" charset="0"/>
                            </a:rPr>
                            <m:t>0</m:t>
                          </m:r>
                        </m:e>
                      </m:d>
                      <m:r>
                        <a:rPr lang="zh-CN" altLang="en-US" sz="2300" i="1">
                          <a:solidFill>
                            <a:srgbClr val="000000"/>
                          </a:solidFill>
                          <a:latin typeface="Cambria Math" panose="02040503050406030204" pitchFamily="18" charset="0"/>
                        </a:rPr>
                        <m:t>=</m:t>
                      </m:r>
                      <m:r>
                        <a:rPr lang="zh-CN" altLang="en-US" sz="2300" i="1">
                          <a:solidFill>
                            <a:srgbClr val="000000"/>
                          </a:solidFill>
                          <a:latin typeface="Cambria Math" panose="02040503050406030204" pitchFamily="18" charset="0"/>
                        </a:rPr>
                        <m:t>𝑃</m:t>
                      </m:r>
                      <m:d>
                        <m:dPr>
                          <m:begChr m:val="{"/>
                          <m:endChr m:val="}"/>
                          <m:ctrlPr>
                            <a:rPr lang="zh-CN" altLang="en-US" sz="2300" i="1">
                              <a:solidFill>
                                <a:srgbClr val="000000"/>
                              </a:solidFill>
                              <a:latin typeface="Cambria Math" panose="02040503050406030204" pitchFamily="18" charset="0"/>
                            </a:rPr>
                          </m:ctrlPr>
                        </m:dPr>
                        <m:e>
                          <m:f>
                            <m:fPr>
                              <m:ctrlPr>
                                <a:rPr lang="zh-CN" altLang="en-US" sz="2300" i="1">
                                  <a:solidFill>
                                    <a:srgbClr val="000000"/>
                                  </a:solidFill>
                                  <a:latin typeface="Cambria Math" panose="02040503050406030204" pitchFamily="18" charset="0"/>
                                </a:rPr>
                              </m:ctrlPr>
                            </m:fPr>
                            <m:num>
                              <m:d>
                                <m:dPr>
                                  <m:ctrlPr>
                                    <a:rPr lang="zh-CN" altLang="en-US" sz="2300" i="1">
                                      <a:solidFill>
                                        <a:srgbClr val="000000"/>
                                      </a:solidFill>
                                      <a:latin typeface="Cambria Math" panose="02040503050406030204" pitchFamily="18" charset="0"/>
                                    </a:rPr>
                                  </m:ctrlPr>
                                </m:dPr>
                                <m:e>
                                  <m:r>
                                    <a:rPr lang="zh-CN" altLang="en-US" sz="2300" i="1">
                                      <a:solidFill>
                                        <a:srgbClr val="000000"/>
                                      </a:solidFill>
                                      <a:latin typeface="Cambria Math" panose="02040503050406030204" pitchFamily="18" charset="0"/>
                                    </a:rPr>
                                    <m:t>𝑋</m:t>
                                  </m:r>
                                  <m:r>
                                    <a:rPr lang="zh-CN" altLang="en-US" sz="2300" i="1">
                                      <a:solidFill>
                                        <a:srgbClr val="000000"/>
                                      </a:solidFill>
                                      <a:latin typeface="Cambria Math" panose="02040503050406030204" pitchFamily="18" charset="0"/>
                                    </a:rPr>
                                    <m:t>−</m:t>
                                  </m:r>
                                  <m:r>
                                    <a:rPr lang="zh-CN" altLang="en-US" sz="2300" i="1">
                                      <a:solidFill>
                                        <a:srgbClr val="000000"/>
                                      </a:solidFill>
                                      <a:latin typeface="Cambria Math" panose="02040503050406030204" pitchFamily="18" charset="0"/>
                                    </a:rPr>
                                    <m:t>𝑌</m:t>
                                  </m:r>
                                </m:e>
                              </m:d>
                              <m:r>
                                <a:rPr lang="zh-CN" altLang="en-US" sz="2300" i="1">
                                  <a:solidFill>
                                    <a:srgbClr val="000000"/>
                                  </a:solidFill>
                                  <a:latin typeface="Cambria Math" panose="02040503050406030204" pitchFamily="18" charset="0"/>
                                </a:rPr>
                                <m:t>−</m:t>
                              </m:r>
                              <m:d>
                                <m:dPr>
                                  <m:ctrlPr>
                                    <a:rPr lang="zh-CN" altLang="en-US" sz="2300" i="1">
                                      <a:solidFill>
                                        <a:srgbClr val="000000"/>
                                      </a:solidFill>
                                      <a:latin typeface="Cambria Math" panose="02040503050406030204" pitchFamily="18" charset="0"/>
                                    </a:rPr>
                                  </m:ctrlPr>
                                </m:dPr>
                                <m:e>
                                  <m:r>
                                    <a:rPr lang="zh-CN" altLang="en-US" sz="2300" i="1">
                                      <a:solidFill>
                                        <a:srgbClr val="000000"/>
                                      </a:solidFill>
                                      <a:latin typeface="Cambria Math" panose="02040503050406030204" pitchFamily="18" charset="0"/>
                                    </a:rPr>
                                    <m:t>−</m:t>
                                  </m:r>
                                  <m:r>
                                    <a:rPr lang="zh-CN" altLang="en-US" sz="2300" i="1">
                                      <a:solidFill>
                                        <a:srgbClr val="000000"/>
                                      </a:solidFill>
                                      <a:latin typeface="Cambria Math" panose="02040503050406030204" pitchFamily="18" charset="0"/>
                                    </a:rPr>
                                    <m:t>0</m:t>
                                  </m:r>
                                  <m:r>
                                    <a:rPr lang="zh-CN" altLang="en-US" sz="2300" i="1">
                                      <a:solidFill>
                                        <a:srgbClr val="000000"/>
                                      </a:solidFill>
                                      <a:latin typeface="Cambria Math" panose="02040503050406030204" pitchFamily="18" charset="0"/>
                                    </a:rPr>
                                    <m:t>.</m:t>
                                  </m:r>
                                  <m:r>
                                    <a:rPr lang="zh-CN" altLang="en-US" sz="2300" i="1">
                                      <a:solidFill>
                                        <a:srgbClr val="000000"/>
                                      </a:solidFill>
                                      <a:latin typeface="Cambria Math" panose="02040503050406030204" pitchFamily="18" charset="0"/>
                                    </a:rPr>
                                    <m:t>10</m:t>
                                  </m:r>
                                </m:e>
                              </m:d>
                            </m:num>
                            <m:den>
                              <m:rad>
                                <m:radPr>
                                  <m:degHide m:val="on"/>
                                  <m:ctrlPr>
                                    <a:rPr lang="zh-CN" altLang="en-US" sz="2300" i="1">
                                      <a:solidFill>
                                        <a:srgbClr val="000000"/>
                                      </a:solidFill>
                                      <a:latin typeface="Cambria Math" panose="02040503050406030204" pitchFamily="18" charset="0"/>
                                    </a:rPr>
                                  </m:ctrlPr>
                                </m:radPr>
                                <m:deg/>
                                <m:e>
                                  <m:r>
                                    <a:rPr lang="zh-CN" altLang="en-US" sz="2300" i="1">
                                      <a:solidFill>
                                        <a:srgbClr val="000000"/>
                                      </a:solidFill>
                                      <a:latin typeface="Cambria Math" panose="02040503050406030204" pitchFamily="18" charset="0"/>
                                    </a:rPr>
                                    <m:t>0</m:t>
                                  </m:r>
                                  <m:r>
                                    <a:rPr lang="zh-CN" altLang="en-US" sz="2300" i="1">
                                      <a:solidFill>
                                        <a:srgbClr val="000000"/>
                                      </a:solidFill>
                                      <a:latin typeface="Cambria Math" panose="02040503050406030204" pitchFamily="18" charset="0"/>
                                    </a:rPr>
                                    <m:t>.</m:t>
                                  </m:r>
                                  <m:r>
                                    <a:rPr lang="zh-CN" altLang="en-US" sz="2300" i="1">
                                      <a:solidFill>
                                        <a:srgbClr val="000000"/>
                                      </a:solidFill>
                                      <a:latin typeface="Cambria Math" panose="02040503050406030204" pitchFamily="18" charset="0"/>
                                    </a:rPr>
                                    <m:t>0025</m:t>
                                  </m:r>
                                </m:e>
                              </m:rad>
                            </m:den>
                          </m:f>
                          <m:r>
                            <a:rPr lang="zh-CN" altLang="en-US" sz="2300" i="1">
                              <a:solidFill>
                                <a:srgbClr val="000000"/>
                              </a:solidFill>
                              <a:latin typeface="Cambria Math" panose="02040503050406030204" pitchFamily="18" charset="0"/>
                            </a:rPr>
                            <m:t>&lt;</m:t>
                          </m:r>
                          <m:f>
                            <m:fPr>
                              <m:ctrlPr>
                                <a:rPr lang="zh-CN" altLang="en-US" sz="2300" i="1">
                                  <a:solidFill>
                                    <a:srgbClr val="000000"/>
                                  </a:solidFill>
                                  <a:latin typeface="Cambria Math" panose="02040503050406030204" pitchFamily="18" charset="0"/>
                                </a:rPr>
                              </m:ctrlPr>
                            </m:fPr>
                            <m:num>
                              <m:r>
                                <a:rPr lang="zh-CN" altLang="en-US" sz="2300" i="1">
                                  <a:solidFill>
                                    <a:srgbClr val="000000"/>
                                  </a:solidFill>
                                  <a:latin typeface="Cambria Math" panose="02040503050406030204" pitchFamily="18" charset="0"/>
                                </a:rPr>
                                <m:t>0</m:t>
                              </m:r>
                              <m:r>
                                <a:rPr lang="zh-CN" altLang="en-US" sz="2300" i="1">
                                  <a:solidFill>
                                    <a:srgbClr val="000000"/>
                                  </a:solidFill>
                                  <a:latin typeface="Cambria Math" panose="02040503050406030204" pitchFamily="18" charset="0"/>
                                </a:rPr>
                                <m:t>−</m:t>
                              </m:r>
                              <m:d>
                                <m:dPr>
                                  <m:ctrlPr>
                                    <a:rPr lang="zh-CN" altLang="en-US" sz="2300" i="1">
                                      <a:solidFill>
                                        <a:srgbClr val="000000"/>
                                      </a:solidFill>
                                      <a:latin typeface="Cambria Math" panose="02040503050406030204" pitchFamily="18" charset="0"/>
                                    </a:rPr>
                                  </m:ctrlPr>
                                </m:dPr>
                                <m:e>
                                  <m:r>
                                    <a:rPr lang="zh-CN" altLang="en-US" sz="2300" i="1">
                                      <a:solidFill>
                                        <a:srgbClr val="000000"/>
                                      </a:solidFill>
                                      <a:latin typeface="Cambria Math" panose="02040503050406030204" pitchFamily="18" charset="0"/>
                                    </a:rPr>
                                    <m:t>−</m:t>
                                  </m:r>
                                  <m:r>
                                    <a:rPr lang="zh-CN" altLang="en-US" sz="2300" i="1">
                                      <a:solidFill>
                                        <a:srgbClr val="000000"/>
                                      </a:solidFill>
                                      <a:latin typeface="Cambria Math" panose="02040503050406030204" pitchFamily="18" charset="0"/>
                                    </a:rPr>
                                    <m:t>0</m:t>
                                  </m:r>
                                  <m:r>
                                    <a:rPr lang="zh-CN" altLang="en-US" sz="2300" i="1">
                                      <a:solidFill>
                                        <a:srgbClr val="000000"/>
                                      </a:solidFill>
                                      <a:latin typeface="Cambria Math" panose="02040503050406030204" pitchFamily="18" charset="0"/>
                                    </a:rPr>
                                    <m:t>.</m:t>
                                  </m:r>
                                  <m:r>
                                    <a:rPr lang="zh-CN" altLang="en-US" sz="2300" i="1">
                                      <a:solidFill>
                                        <a:srgbClr val="000000"/>
                                      </a:solidFill>
                                      <a:latin typeface="Cambria Math" panose="02040503050406030204" pitchFamily="18" charset="0"/>
                                    </a:rPr>
                                    <m:t>10</m:t>
                                  </m:r>
                                </m:e>
                              </m:d>
                            </m:num>
                            <m:den>
                              <m:rad>
                                <m:radPr>
                                  <m:degHide m:val="on"/>
                                  <m:ctrlPr>
                                    <a:rPr lang="zh-CN" altLang="en-US" sz="2300" i="1">
                                      <a:solidFill>
                                        <a:srgbClr val="000000"/>
                                      </a:solidFill>
                                      <a:latin typeface="Cambria Math" panose="02040503050406030204" pitchFamily="18" charset="0"/>
                                    </a:rPr>
                                  </m:ctrlPr>
                                </m:radPr>
                                <m:deg/>
                                <m:e>
                                  <m:r>
                                    <a:rPr lang="zh-CN" altLang="en-US" sz="2300" i="1">
                                      <a:solidFill>
                                        <a:srgbClr val="000000"/>
                                      </a:solidFill>
                                      <a:latin typeface="Cambria Math" panose="02040503050406030204" pitchFamily="18" charset="0"/>
                                    </a:rPr>
                                    <m:t>0</m:t>
                                  </m:r>
                                  <m:r>
                                    <a:rPr lang="zh-CN" altLang="en-US" sz="2300" i="1">
                                      <a:solidFill>
                                        <a:srgbClr val="000000"/>
                                      </a:solidFill>
                                      <a:latin typeface="Cambria Math" panose="02040503050406030204" pitchFamily="18" charset="0"/>
                                    </a:rPr>
                                    <m:t>.</m:t>
                                  </m:r>
                                  <m:r>
                                    <a:rPr lang="zh-CN" altLang="en-US" sz="2300" i="1">
                                      <a:solidFill>
                                        <a:srgbClr val="000000"/>
                                      </a:solidFill>
                                      <a:latin typeface="Cambria Math" panose="02040503050406030204" pitchFamily="18" charset="0"/>
                                    </a:rPr>
                                    <m:t>0025</m:t>
                                  </m:r>
                                </m:e>
                              </m:rad>
                            </m:den>
                          </m:f>
                        </m:e>
                      </m:d>
                    </m:oMath>
                  </m:oMathPara>
                </a14:m>
                <a:endParaRPr lang="en-US" altLang="zh-CN" sz="2300" i="1" dirty="0">
                  <a:solidFill>
                    <a:srgbClr val="000000"/>
                  </a:solidFill>
                  <a:latin typeface="Cambria Math" panose="02040503050406030204" pitchFamily="18" charset="0"/>
                </a:endParaRPr>
              </a:p>
              <a:p>
                <a:r>
                  <a:rPr lang="zh-CN" altLang="en-US" sz="2400" dirty="0">
                    <a:solidFill>
                      <a:srgbClr val="000000"/>
                    </a:solidFill>
                  </a:rPr>
                  <a:t>                  </a:t>
                </a:r>
                <a14:m>
                  <m:oMath xmlns:m="http://schemas.openxmlformats.org/officeDocument/2006/math">
                    <m:r>
                      <a:rPr lang="zh-CN" altLang="en-US" sz="2400" i="1">
                        <a:solidFill>
                          <a:srgbClr val="000000"/>
                        </a:solidFill>
                        <a:latin typeface="Cambria Math" panose="02040503050406030204" pitchFamily="18" charset="0"/>
                      </a:rPr>
                      <m:t>=</m:t>
                    </m:r>
                    <m:r>
                      <m:rPr>
                        <m:sty m:val="p"/>
                      </m:rPr>
                      <a:rPr lang="zh-CN" altLang="en-US" sz="2400" i="1">
                        <a:solidFill>
                          <a:srgbClr val="000000"/>
                        </a:solidFill>
                        <a:latin typeface="Cambria Math" panose="02040503050406030204" pitchFamily="18" charset="0"/>
                      </a:rPr>
                      <m:t>Φ</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10</m:t>
                        </m:r>
                      </m:num>
                      <m:den>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05</m:t>
                        </m:r>
                      </m:den>
                    </m:f>
                    <m:r>
                      <a:rPr lang="zh-CN" altLang="en-US" sz="2400" i="1">
                        <a:solidFill>
                          <a:srgbClr val="000000"/>
                        </a:solidFill>
                        <a:latin typeface="Cambria Math" panose="02040503050406030204" pitchFamily="18" charset="0"/>
                      </a:rPr>
                      <m:t>)=</m:t>
                    </m:r>
                    <m:r>
                      <m:rPr>
                        <m:sty m:val="p"/>
                      </m:rPr>
                      <a:rPr lang="zh-CN" altLang="en-US" sz="2400" i="1">
                        <a:solidFill>
                          <a:srgbClr val="000000"/>
                        </a:solidFill>
                        <a:latin typeface="Cambria Math" panose="02040503050406030204" pitchFamily="18" charset="0"/>
                      </a:rPr>
                      <m:t>Φ</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9772</m:t>
                    </m:r>
                  </m:oMath>
                </a14:m>
                <a:endParaRPr lang="zh-CN" altLang="en-US" sz="2400" dirty="0"/>
              </a:p>
            </p:txBody>
          </p:sp>
        </mc:Choice>
        <mc:Fallback>
          <p:sp>
            <p:nvSpPr>
              <p:cNvPr id="29745" name="Object 49"/>
              <p:cNvSpPr txBox="1">
                <a:spLocks noRot="1" noChangeAspect="1" noMove="1" noResize="1" noEditPoints="1" noAdjustHandles="1" noChangeArrowheads="1" noChangeShapeType="1" noTextEdit="1"/>
              </p:cNvSpPr>
              <p:nvPr/>
            </p:nvSpPr>
            <p:spPr bwMode="auto">
              <a:xfrm>
                <a:off x="2622247" y="4213361"/>
                <a:ext cx="8879292" cy="1379537"/>
              </a:xfrm>
              <a:prstGeom prst="rect">
                <a:avLst/>
              </a:prstGeom>
              <a:blipFill rotWithShape="1">
                <a:blip r:embed="rId7"/>
                <a:stretch>
                  <a:fillRect l="-4" t="-10" r="5" b="33"/>
                </a:stretch>
              </a:blipFill>
              <a:ln>
                <a:noFill/>
              </a:ln>
              <a:effectLst/>
            </p:spPr>
            <p:txBody>
              <a:bodyPr/>
              <a:lstStyle/>
              <a:p>
                <a:r>
                  <a:rPr lang="zh-CN" altLang="en-US">
                    <a:noFill/>
                  </a:rPr>
                  <a:t> </a:t>
                </a:r>
              </a:p>
            </p:txBody>
          </p:sp>
        </mc:Fallback>
      </mc:AlternateContent>
      <p:cxnSp>
        <p:nvCxnSpPr>
          <p:cNvPr id="12" name="直接连接符 11"/>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三、方差性质的应用</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4" name="组合 13"/>
          <p:cNvGrpSpPr/>
          <p:nvPr/>
        </p:nvGrpSpPr>
        <p:grpSpPr>
          <a:xfrm>
            <a:off x="851761" y="364781"/>
            <a:ext cx="263341" cy="395013"/>
            <a:chOff x="5284519" y="1508166"/>
            <a:chExt cx="213756" cy="427512"/>
          </a:xfrm>
        </p:grpSpPr>
        <p:cxnSp>
          <p:nvCxnSpPr>
            <p:cNvPr id="15" name="直接连接符 14"/>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6" name="直接连接符 15"/>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737"/>
                                        </p:tgtEl>
                                        <p:attrNameLst>
                                          <p:attrName>style.visibility</p:attrName>
                                        </p:attrNameLst>
                                      </p:cBhvr>
                                      <p:to>
                                        <p:strVal val="visible"/>
                                      </p:to>
                                    </p:set>
                                    <p:anim calcmode="lin" valueType="num">
                                      <p:cBhvr additive="base">
                                        <p:cTn id="7" dur="500" fill="hold"/>
                                        <p:tgtEl>
                                          <p:spTgt spid="29737"/>
                                        </p:tgtEl>
                                        <p:attrNameLst>
                                          <p:attrName>ppt_x</p:attrName>
                                        </p:attrNameLst>
                                      </p:cBhvr>
                                      <p:tavLst>
                                        <p:tav tm="0">
                                          <p:val>
                                            <p:strVal val="0-#ppt_w/2"/>
                                          </p:val>
                                        </p:tav>
                                        <p:tav tm="100000">
                                          <p:val>
                                            <p:strVal val="#ppt_x"/>
                                          </p:val>
                                        </p:tav>
                                      </p:tavLst>
                                    </p:anim>
                                    <p:anim calcmode="lin" valueType="num">
                                      <p:cBhvr additive="base">
                                        <p:cTn id="8" dur="500" fill="hold"/>
                                        <p:tgtEl>
                                          <p:spTgt spid="2973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740"/>
                                        </p:tgtEl>
                                        <p:attrNameLst>
                                          <p:attrName>style.visibility</p:attrName>
                                        </p:attrNameLst>
                                      </p:cBhvr>
                                      <p:to>
                                        <p:strVal val="visible"/>
                                      </p:to>
                                    </p:set>
                                    <p:anim calcmode="lin" valueType="num">
                                      <p:cBhvr additive="base">
                                        <p:cTn id="13" dur="500" fill="hold"/>
                                        <p:tgtEl>
                                          <p:spTgt spid="29740"/>
                                        </p:tgtEl>
                                        <p:attrNameLst>
                                          <p:attrName>ppt_x</p:attrName>
                                        </p:attrNameLst>
                                      </p:cBhvr>
                                      <p:tavLst>
                                        <p:tav tm="0">
                                          <p:val>
                                            <p:strVal val="0-#ppt_w/2"/>
                                          </p:val>
                                        </p:tav>
                                        <p:tav tm="100000">
                                          <p:val>
                                            <p:strVal val="#ppt_x"/>
                                          </p:val>
                                        </p:tav>
                                      </p:tavLst>
                                    </p:anim>
                                    <p:anim calcmode="lin" valueType="num">
                                      <p:cBhvr additive="base">
                                        <p:cTn id="14" dur="500" fill="hold"/>
                                        <p:tgtEl>
                                          <p:spTgt spid="2974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9741"/>
                                        </p:tgtEl>
                                        <p:attrNameLst>
                                          <p:attrName>style.visibility</p:attrName>
                                        </p:attrNameLst>
                                      </p:cBhvr>
                                      <p:to>
                                        <p:strVal val="visible"/>
                                      </p:to>
                                    </p:set>
                                    <p:anim calcmode="lin" valueType="num">
                                      <p:cBhvr additive="base">
                                        <p:cTn id="19" dur="500" fill="hold"/>
                                        <p:tgtEl>
                                          <p:spTgt spid="29741"/>
                                        </p:tgtEl>
                                        <p:attrNameLst>
                                          <p:attrName>ppt_x</p:attrName>
                                        </p:attrNameLst>
                                      </p:cBhvr>
                                      <p:tavLst>
                                        <p:tav tm="0">
                                          <p:val>
                                            <p:strVal val="0-#ppt_w/2"/>
                                          </p:val>
                                        </p:tav>
                                        <p:tav tm="100000">
                                          <p:val>
                                            <p:strVal val="#ppt_x"/>
                                          </p:val>
                                        </p:tav>
                                      </p:tavLst>
                                    </p:anim>
                                    <p:anim calcmode="lin" valueType="num">
                                      <p:cBhvr additive="base">
                                        <p:cTn id="20" dur="500" fill="hold"/>
                                        <p:tgtEl>
                                          <p:spTgt spid="2974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9742"/>
                                        </p:tgtEl>
                                        <p:attrNameLst>
                                          <p:attrName>style.visibility</p:attrName>
                                        </p:attrNameLst>
                                      </p:cBhvr>
                                      <p:to>
                                        <p:strVal val="visible"/>
                                      </p:to>
                                    </p:set>
                                    <p:anim calcmode="lin" valueType="num">
                                      <p:cBhvr additive="base">
                                        <p:cTn id="25" dur="500" fill="hold"/>
                                        <p:tgtEl>
                                          <p:spTgt spid="29742"/>
                                        </p:tgtEl>
                                        <p:attrNameLst>
                                          <p:attrName>ppt_x</p:attrName>
                                        </p:attrNameLst>
                                      </p:cBhvr>
                                      <p:tavLst>
                                        <p:tav tm="0">
                                          <p:val>
                                            <p:strVal val="0-#ppt_w/2"/>
                                          </p:val>
                                        </p:tav>
                                        <p:tav tm="100000">
                                          <p:val>
                                            <p:strVal val="#ppt_x"/>
                                          </p:val>
                                        </p:tav>
                                      </p:tavLst>
                                    </p:anim>
                                    <p:anim calcmode="lin" valueType="num">
                                      <p:cBhvr additive="base">
                                        <p:cTn id="26" dur="500" fill="hold"/>
                                        <p:tgtEl>
                                          <p:spTgt spid="2974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9743"/>
                                        </p:tgtEl>
                                        <p:attrNameLst>
                                          <p:attrName>style.visibility</p:attrName>
                                        </p:attrNameLst>
                                      </p:cBhvr>
                                      <p:to>
                                        <p:strVal val="visible"/>
                                      </p:to>
                                    </p:set>
                                    <p:anim calcmode="lin" valueType="num">
                                      <p:cBhvr additive="base">
                                        <p:cTn id="31" dur="500" fill="hold"/>
                                        <p:tgtEl>
                                          <p:spTgt spid="29743"/>
                                        </p:tgtEl>
                                        <p:attrNameLst>
                                          <p:attrName>ppt_x</p:attrName>
                                        </p:attrNameLst>
                                      </p:cBhvr>
                                      <p:tavLst>
                                        <p:tav tm="0">
                                          <p:val>
                                            <p:strVal val="0-#ppt_w/2"/>
                                          </p:val>
                                        </p:tav>
                                        <p:tav tm="100000">
                                          <p:val>
                                            <p:strVal val="#ppt_x"/>
                                          </p:val>
                                        </p:tav>
                                      </p:tavLst>
                                    </p:anim>
                                    <p:anim calcmode="lin" valueType="num">
                                      <p:cBhvr additive="base">
                                        <p:cTn id="32" dur="500" fill="hold"/>
                                        <p:tgtEl>
                                          <p:spTgt spid="29743"/>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9744"/>
                                        </p:tgtEl>
                                        <p:attrNameLst>
                                          <p:attrName>style.visibility</p:attrName>
                                        </p:attrNameLst>
                                      </p:cBhvr>
                                      <p:to>
                                        <p:strVal val="visible"/>
                                      </p:to>
                                    </p:set>
                                    <p:anim calcmode="lin" valueType="num">
                                      <p:cBhvr additive="base">
                                        <p:cTn id="37" dur="500" fill="hold"/>
                                        <p:tgtEl>
                                          <p:spTgt spid="29744"/>
                                        </p:tgtEl>
                                        <p:attrNameLst>
                                          <p:attrName>ppt_x</p:attrName>
                                        </p:attrNameLst>
                                      </p:cBhvr>
                                      <p:tavLst>
                                        <p:tav tm="0">
                                          <p:val>
                                            <p:strVal val="0-#ppt_w/2"/>
                                          </p:val>
                                        </p:tav>
                                        <p:tav tm="100000">
                                          <p:val>
                                            <p:strVal val="#ppt_x"/>
                                          </p:val>
                                        </p:tav>
                                      </p:tavLst>
                                    </p:anim>
                                    <p:anim calcmode="lin" valueType="num">
                                      <p:cBhvr additive="base">
                                        <p:cTn id="38" dur="500" fill="hold"/>
                                        <p:tgtEl>
                                          <p:spTgt spid="29744"/>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29745"/>
                                        </p:tgtEl>
                                        <p:attrNameLst>
                                          <p:attrName>style.visibility</p:attrName>
                                        </p:attrNameLst>
                                      </p:cBhvr>
                                      <p:to>
                                        <p:strVal val="visible"/>
                                      </p:to>
                                    </p:set>
                                    <p:animEffect transition="in" filter="barn(inVertical)">
                                      <p:cBhvr>
                                        <p:cTn id="43" dur="500"/>
                                        <p:tgtEl>
                                          <p:spTgt spid="297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40" grpId="0" bldLvl="0" animBg="1" autoUpdateAnimBg="0"/>
      <p:bldP spid="29742" grpId="0" bldLvl="0" animBg="1" autoUpdateAnimBg="0"/>
      <p:bldP spid="29744" grpId="0" bldLvl="0" animBg="1" autoUpdateAnimBg="0"/>
      <p:bldP spid="29745"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15398" y="2727150"/>
            <a:ext cx="5040000" cy="923330"/>
          </a:xfrm>
          <a:prstGeom prst="rect">
            <a:avLst/>
          </a:prstGeom>
          <a:noFill/>
        </p:spPr>
        <p:txBody>
          <a:bodyPr wrap="square" rtlCol="0">
            <a:spAutoFit/>
          </a:bodyPr>
          <a:lstStyle/>
          <a:p>
            <a:pPr algn="dist"/>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切比雪夫不等式</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04</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63" name="Rectangle 31"/>
          <p:cNvSpPr>
            <a:spLocks noChangeArrowheads="1"/>
          </p:cNvSpPr>
          <p:nvPr/>
        </p:nvSpPr>
        <p:spPr bwMode="auto">
          <a:xfrm>
            <a:off x="2373860" y="3542572"/>
            <a:ext cx="543739"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a:latin typeface="Times New Roman" panose="02020603050405020304" pitchFamily="18" charset="0"/>
                <a:ea typeface="微软雅黑" panose="020B0503020204020204" pitchFamily="34" charset="-122"/>
                <a:sym typeface="Times New Roman" panose="02020603050405020304" pitchFamily="18" charset="0"/>
              </a:rPr>
              <a:t>或</a:t>
            </a:r>
            <a:endParaRPr lang="zh-CN" altLang="en-US" sz="28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4065" name="Rectangle 33"/>
          <p:cNvSpPr>
            <a:spLocks noChangeArrowheads="1"/>
          </p:cNvSpPr>
          <p:nvPr/>
        </p:nvSpPr>
        <p:spPr bwMode="auto">
          <a:xfrm>
            <a:off x="1406163" y="4271728"/>
            <a:ext cx="9370358" cy="1954959"/>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由切比雪夫不等式可以看出，若 </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σ</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越小，则事件</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&lt; </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ε</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的概率越大，即</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随机变量</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集中在期望附近的可能性越大。</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4068" name="Object 36"/>
          <p:cNvGraphicFramePr>
            <a:graphicFrameLocks noChangeAspect="1"/>
          </p:cNvGraphicFramePr>
          <p:nvPr/>
        </p:nvGraphicFramePr>
        <p:xfrm>
          <a:off x="3297664" y="3167890"/>
          <a:ext cx="4810125" cy="1174750"/>
        </p:xfrm>
        <a:graphic>
          <a:graphicData uri="http://schemas.openxmlformats.org/presentationml/2006/ole">
            <mc:AlternateContent xmlns:mc="http://schemas.openxmlformats.org/markup-compatibility/2006">
              <mc:Choice xmlns:v="urn:schemas-microsoft-com:vml" Requires="v">
                <p:oleObj spid="_x0000_s206855" name="Equation" r:id="rId1" imgW="41148000" imgH="10058400" progId="Equation.DSMT4">
                  <p:embed/>
                </p:oleObj>
              </mc:Choice>
              <mc:Fallback>
                <p:oleObj name="Equation" r:id="rId1" imgW="41148000" imgH="10058400" progId="Equation.DSMT4">
                  <p:embed/>
                  <p:pic>
                    <p:nvPicPr>
                      <p:cNvPr id="0" name="Object 36"/>
                      <p:cNvPicPr>
                        <a:picLocks noChangeAspect="1" noChangeArrowheads="1"/>
                      </p:cNvPicPr>
                      <p:nvPr/>
                    </p:nvPicPr>
                    <p:blipFill>
                      <a:blip r:embed="rId2"/>
                      <a:srcRect/>
                      <a:stretch>
                        <a:fillRect/>
                      </a:stretch>
                    </p:blipFill>
                    <p:spPr bwMode="auto">
                      <a:xfrm>
                        <a:off x="3297664" y="3167890"/>
                        <a:ext cx="4810125"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69" name="Object 37"/>
          <p:cNvGraphicFramePr>
            <a:graphicFrameLocks noChangeAspect="1"/>
          </p:cNvGraphicFramePr>
          <p:nvPr/>
        </p:nvGraphicFramePr>
        <p:xfrm>
          <a:off x="3356436" y="2222002"/>
          <a:ext cx="4275138" cy="1174750"/>
        </p:xfrm>
        <a:graphic>
          <a:graphicData uri="http://schemas.openxmlformats.org/presentationml/2006/ole">
            <mc:AlternateContent xmlns:mc="http://schemas.openxmlformats.org/markup-compatibility/2006">
              <mc:Choice xmlns:v="urn:schemas-microsoft-com:vml" Requires="v">
                <p:oleObj spid="_x0000_s2" name="Equation" r:id="rId3" imgW="36576000" imgH="10058400" progId="Equation.DSMT4">
                  <p:embed/>
                </p:oleObj>
              </mc:Choice>
              <mc:Fallback>
                <p:oleObj name="Equation" r:id="rId3" imgW="36576000" imgH="10058400" progId="Equation.DSMT4">
                  <p:embed/>
                  <p:pic>
                    <p:nvPicPr>
                      <p:cNvPr id="0" name="Object 37"/>
                      <p:cNvPicPr>
                        <a:picLocks noChangeAspect="1" noChangeArrowheads="1"/>
                      </p:cNvPicPr>
                      <p:nvPr/>
                    </p:nvPicPr>
                    <p:blipFill>
                      <a:blip r:embed="rId4"/>
                      <a:srcRect/>
                      <a:stretch>
                        <a:fillRect/>
                      </a:stretch>
                    </p:blipFill>
                    <p:spPr bwMode="auto">
                      <a:xfrm>
                        <a:off x="3356436" y="2222002"/>
                        <a:ext cx="4275138"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12" name="直接连接符 11"/>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4" name="组合 13"/>
          <p:cNvGrpSpPr/>
          <p:nvPr/>
        </p:nvGrpSpPr>
        <p:grpSpPr>
          <a:xfrm>
            <a:off x="851761" y="364781"/>
            <a:ext cx="263341" cy="395013"/>
            <a:chOff x="5284519" y="1508166"/>
            <a:chExt cx="213756" cy="427512"/>
          </a:xfrm>
        </p:grpSpPr>
        <p:cxnSp>
          <p:nvCxnSpPr>
            <p:cNvPr id="15" name="直接连接符 14"/>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6" name="直接连接符 15"/>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7" name="Rectangle 33"/>
          <p:cNvSpPr>
            <a:spLocks noChangeArrowheads="1"/>
          </p:cNvSpPr>
          <p:nvPr/>
        </p:nvSpPr>
        <p:spPr bwMode="auto">
          <a:xfrm>
            <a:off x="1406162" y="1016315"/>
            <a:ext cx="9226341" cy="1307537"/>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定理：</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设随机变量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具有数学期望</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μ</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σ</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，则对于任意正数</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ε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，有不等式</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4069"/>
                                        </p:tgtEl>
                                        <p:attrNameLst>
                                          <p:attrName>style.visibility</p:attrName>
                                        </p:attrNameLst>
                                      </p:cBhvr>
                                      <p:to>
                                        <p:strVal val="visible"/>
                                      </p:to>
                                    </p:set>
                                    <p:anim calcmode="lin" valueType="num">
                                      <p:cBhvr additive="base">
                                        <p:cTn id="13" dur="500" fill="hold"/>
                                        <p:tgtEl>
                                          <p:spTgt spid="44069"/>
                                        </p:tgtEl>
                                        <p:attrNameLst>
                                          <p:attrName>ppt_x</p:attrName>
                                        </p:attrNameLst>
                                      </p:cBhvr>
                                      <p:tavLst>
                                        <p:tav tm="0">
                                          <p:val>
                                            <p:strVal val="0-#ppt_w/2"/>
                                          </p:val>
                                        </p:tav>
                                        <p:tav tm="100000">
                                          <p:val>
                                            <p:strVal val="#ppt_x"/>
                                          </p:val>
                                        </p:tav>
                                      </p:tavLst>
                                    </p:anim>
                                    <p:anim calcmode="lin" valueType="num">
                                      <p:cBhvr additive="base">
                                        <p:cTn id="14" dur="500" fill="hold"/>
                                        <p:tgtEl>
                                          <p:spTgt spid="4406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4063"/>
                                        </p:tgtEl>
                                        <p:attrNameLst>
                                          <p:attrName>style.visibility</p:attrName>
                                        </p:attrNameLst>
                                      </p:cBhvr>
                                      <p:to>
                                        <p:strVal val="visible"/>
                                      </p:to>
                                    </p:set>
                                    <p:anim calcmode="lin" valueType="num">
                                      <p:cBhvr additive="base">
                                        <p:cTn id="19" dur="500" fill="hold"/>
                                        <p:tgtEl>
                                          <p:spTgt spid="44063"/>
                                        </p:tgtEl>
                                        <p:attrNameLst>
                                          <p:attrName>ppt_x</p:attrName>
                                        </p:attrNameLst>
                                      </p:cBhvr>
                                      <p:tavLst>
                                        <p:tav tm="0">
                                          <p:val>
                                            <p:strVal val="0-#ppt_w/2"/>
                                          </p:val>
                                        </p:tav>
                                        <p:tav tm="100000">
                                          <p:val>
                                            <p:strVal val="#ppt_x"/>
                                          </p:val>
                                        </p:tav>
                                      </p:tavLst>
                                    </p:anim>
                                    <p:anim calcmode="lin" valueType="num">
                                      <p:cBhvr additive="base">
                                        <p:cTn id="20" dur="500" fill="hold"/>
                                        <p:tgtEl>
                                          <p:spTgt spid="4406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4068"/>
                                        </p:tgtEl>
                                        <p:attrNameLst>
                                          <p:attrName>style.visibility</p:attrName>
                                        </p:attrNameLst>
                                      </p:cBhvr>
                                      <p:to>
                                        <p:strVal val="visible"/>
                                      </p:to>
                                    </p:set>
                                    <p:anim calcmode="lin" valueType="num">
                                      <p:cBhvr additive="base">
                                        <p:cTn id="25" dur="500" fill="hold"/>
                                        <p:tgtEl>
                                          <p:spTgt spid="44068"/>
                                        </p:tgtEl>
                                        <p:attrNameLst>
                                          <p:attrName>ppt_x</p:attrName>
                                        </p:attrNameLst>
                                      </p:cBhvr>
                                      <p:tavLst>
                                        <p:tav tm="0">
                                          <p:val>
                                            <p:strVal val="0-#ppt_w/2"/>
                                          </p:val>
                                        </p:tav>
                                        <p:tav tm="100000">
                                          <p:val>
                                            <p:strVal val="#ppt_x"/>
                                          </p:val>
                                        </p:tav>
                                      </p:tavLst>
                                    </p:anim>
                                    <p:anim calcmode="lin" valueType="num">
                                      <p:cBhvr additive="base">
                                        <p:cTn id="26" dur="500" fill="hold"/>
                                        <p:tgtEl>
                                          <p:spTgt spid="4406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4065"/>
                                        </p:tgtEl>
                                        <p:attrNameLst>
                                          <p:attrName>style.visibility</p:attrName>
                                        </p:attrNameLst>
                                      </p:cBhvr>
                                      <p:to>
                                        <p:strVal val="visible"/>
                                      </p:to>
                                    </p:set>
                                    <p:anim calcmode="lin" valueType="num">
                                      <p:cBhvr additive="base">
                                        <p:cTn id="31" dur="500" fill="hold"/>
                                        <p:tgtEl>
                                          <p:spTgt spid="44065"/>
                                        </p:tgtEl>
                                        <p:attrNameLst>
                                          <p:attrName>ppt_x</p:attrName>
                                        </p:attrNameLst>
                                      </p:cBhvr>
                                      <p:tavLst>
                                        <p:tav tm="0">
                                          <p:val>
                                            <p:strVal val="0-#ppt_w/2"/>
                                          </p:val>
                                        </p:tav>
                                        <p:tav tm="100000">
                                          <p:val>
                                            <p:strVal val="#ppt_x"/>
                                          </p:val>
                                        </p:tav>
                                      </p:tavLst>
                                    </p:anim>
                                    <p:anim calcmode="lin" valueType="num">
                                      <p:cBhvr additive="base">
                                        <p:cTn id="32" dur="500" fill="hold"/>
                                        <p:tgtEl>
                                          <p:spTgt spid="440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63" grpId="0"/>
      <p:bldP spid="44065"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11" name="Text Box 35"/>
          <p:cNvSpPr txBox="1">
            <a:spLocks noChangeArrowheads="1"/>
          </p:cNvSpPr>
          <p:nvPr/>
        </p:nvSpPr>
        <p:spPr bwMode="auto">
          <a:xfrm>
            <a:off x="2017714" y="1978103"/>
            <a:ext cx="527259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证：</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的概率密度为</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f</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，则有</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5812" name="Text Box 36"/>
          <p:cNvSpPr txBox="1">
            <a:spLocks noChangeArrowheads="1"/>
          </p:cNvSpPr>
          <p:nvPr/>
        </p:nvSpPr>
        <p:spPr bwMode="auto">
          <a:xfrm>
            <a:off x="1248013" y="1276626"/>
            <a:ext cx="664797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我们只就连续型随机变量的情况来证明。</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5814" name="Object 38"/>
          <p:cNvGraphicFramePr>
            <a:graphicFrameLocks noChangeAspect="1"/>
          </p:cNvGraphicFramePr>
          <p:nvPr/>
        </p:nvGraphicFramePr>
        <p:xfrm>
          <a:off x="4223792" y="2672123"/>
          <a:ext cx="6861175" cy="3573463"/>
        </p:xfrm>
        <a:graphic>
          <a:graphicData uri="http://schemas.openxmlformats.org/presentationml/2006/ole">
            <mc:AlternateContent xmlns:mc="http://schemas.openxmlformats.org/markup-compatibility/2006">
              <mc:Choice xmlns:v="urn:schemas-microsoft-com:vml" Requires="v">
                <p:oleObj spid="_x0000_s206855" name="Equation" r:id="rId1" imgW="66141600" imgH="34442400" progId="Equation.DSMT4">
                  <p:embed/>
                </p:oleObj>
              </mc:Choice>
              <mc:Fallback>
                <p:oleObj name="Equation" r:id="rId1" imgW="66141600" imgH="34442400" progId="Equation.DSMT4">
                  <p:embed/>
                  <p:pic>
                    <p:nvPicPr>
                      <p:cNvPr id="0" name="Object 38"/>
                      <p:cNvPicPr>
                        <a:picLocks noChangeAspect="1" noChangeArrowheads="1"/>
                      </p:cNvPicPr>
                      <p:nvPr/>
                    </p:nvPicPr>
                    <p:blipFill>
                      <a:blip r:embed="rId2"/>
                      <a:srcRect/>
                      <a:stretch>
                        <a:fillRect/>
                      </a:stretch>
                    </p:blipFill>
                    <p:spPr bwMode="auto">
                      <a:xfrm>
                        <a:off x="4223792" y="2672123"/>
                        <a:ext cx="6861175" cy="3573463"/>
                      </a:xfrm>
                      <a:prstGeom prst="rect">
                        <a:avLst/>
                      </a:prstGeom>
                      <a:noFill/>
                      <a:ln>
                        <a:noFill/>
                      </a:ln>
                      <a:effectLst/>
                    </p:spPr>
                  </p:pic>
                </p:oleObj>
              </mc:Fallback>
            </mc:AlternateContent>
          </a:graphicData>
        </a:graphic>
      </p:graphicFrame>
      <p:pic>
        <p:nvPicPr>
          <p:cNvPr id="75817"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7488" y="3536219"/>
            <a:ext cx="4365437" cy="2448272"/>
          </a:xfrm>
          <a:prstGeom prst="rect">
            <a:avLst/>
          </a:prstGeom>
          <a:ln w="88900" cap="sq" cmpd="thickThin">
            <a:solidFill>
              <a:srgbClr val="000000"/>
            </a:solidFill>
            <a:prstDash val="solid"/>
            <a:miter lim="800000"/>
            <a:headEnd/>
            <a:tailEnd/>
          </a:ln>
          <a:effectLst>
            <a:innerShdw blurRad="76200">
              <a:srgbClr val="000000"/>
            </a:innerShdw>
          </a:effectLst>
          <a:extLst>
            <a:ext uri="{909E8E84-426E-40DD-AFC4-6F175D3DCCD1}">
              <a14:hiddenFill xmlns:a14="http://schemas.microsoft.com/office/drawing/2010/main">
                <a:solidFill>
                  <a:srgbClr val="FFFFFF"/>
                </a:solidFill>
              </a14:hiddenFill>
            </a:ext>
          </a:extLst>
        </p:spPr>
      </p:pic>
      <p:cxnSp>
        <p:nvCxnSpPr>
          <p:cNvPr id="7" name="直接连接符 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5812"/>
                                        </p:tgtEl>
                                        <p:attrNameLst>
                                          <p:attrName>style.visibility</p:attrName>
                                        </p:attrNameLst>
                                      </p:cBhvr>
                                      <p:to>
                                        <p:strVal val="visible"/>
                                      </p:to>
                                    </p:set>
                                    <p:anim calcmode="lin" valueType="num">
                                      <p:cBhvr additive="base">
                                        <p:cTn id="7" dur="500" fill="hold"/>
                                        <p:tgtEl>
                                          <p:spTgt spid="75812"/>
                                        </p:tgtEl>
                                        <p:attrNameLst>
                                          <p:attrName>ppt_x</p:attrName>
                                        </p:attrNameLst>
                                      </p:cBhvr>
                                      <p:tavLst>
                                        <p:tav tm="0">
                                          <p:val>
                                            <p:strVal val="0-#ppt_w/2"/>
                                          </p:val>
                                        </p:tav>
                                        <p:tav tm="100000">
                                          <p:val>
                                            <p:strVal val="#ppt_x"/>
                                          </p:val>
                                        </p:tav>
                                      </p:tavLst>
                                    </p:anim>
                                    <p:anim calcmode="lin" valueType="num">
                                      <p:cBhvr additive="base">
                                        <p:cTn id="8" dur="500" fill="hold"/>
                                        <p:tgtEl>
                                          <p:spTgt spid="758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5811"/>
                                        </p:tgtEl>
                                        <p:attrNameLst>
                                          <p:attrName>style.visibility</p:attrName>
                                        </p:attrNameLst>
                                      </p:cBhvr>
                                      <p:to>
                                        <p:strVal val="visible"/>
                                      </p:to>
                                    </p:set>
                                    <p:anim calcmode="lin" valueType="num">
                                      <p:cBhvr additive="base">
                                        <p:cTn id="13" dur="500" fill="hold"/>
                                        <p:tgtEl>
                                          <p:spTgt spid="75811"/>
                                        </p:tgtEl>
                                        <p:attrNameLst>
                                          <p:attrName>ppt_x</p:attrName>
                                        </p:attrNameLst>
                                      </p:cBhvr>
                                      <p:tavLst>
                                        <p:tav tm="0">
                                          <p:val>
                                            <p:strVal val="0-#ppt_w/2"/>
                                          </p:val>
                                        </p:tav>
                                        <p:tav tm="100000">
                                          <p:val>
                                            <p:strVal val="#ppt_x"/>
                                          </p:val>
                                        </p:tav>
                                      </p:tavLst>
                                    </p:anim>
                                    <p:anim calcmode="lin" valueType="num">
                                      <p:cBhvr additive="base">
                                        <p:cTn id="14" dur="500" fill="hold"/>
                                        <p:tgtEl>
                                          <p:spTgt spid="758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5814"/>
                                        </p:tgtEl>
                                        <p:attrNameLst>
                                          <p:attrName>style.visibility</p:attrName>
                                        </p:attrNameLst>
                                      </p:cBhvr>
                                      <p:to>
                                        <p:strVal val="visible"/>
                                      </p:to>
                                    </p:set>
                                    <p:anim calcmode="lin" valueType="num">
                                      <p:cBhvr additive="base">
                                        <p:cTn id="19" dur="500" fill="hold"/>
                                        <p:tgtEl>
                                          <p:spTgt spid="75814"/>
                                        </p:tgtEl>
                                        <p:attrNameLst>
                                          <p:attrName>ppt_x</p:attrName>
                                        </p:attrNameLst>
                                      </p:cBhvr>
                                      <p:tavLst>
                                        <p:tav tm="0">
                                          <p:val>
                                            <p:strVal val="0-#ppt_w/2"/>
                                          </p:val>
                                        </p:tav>
                                        <p:tav tm="100000">
                                          <p:val>
                                            <p:strVal val="#ppt_x"/>
                                          </p:val>
                                        </p:tav>
                                      </p:tavLst>
                                    </p:anim>
                                    <p:anim calcmode="lin" valueType="num">
                                      <p:cBhvr additive="base">
                                        <p:cTn id="20" dur="500" fill="hold"/>
                                        <p:tgtEl>
                                          <p:spTgt spid="758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5817"/>
                                        </p:tgtEl>
                                        <p:attrNameLst>
                                          <p:attrName>style.visibility</p:attrName>
                                        </p:attrNameLst>
                                      </p:cBhvr>
                                      <p:to>
                                        <p:strVal val="visible"/>
                                      </p:to>
                                    </p:set>
                                    <p:anim calcmode="lin" valueType="num">
                                      <p:cBhvr additive="base">
                                        <p:cTn id="25" dur="500" fill="hold"/>
                                        <p:tgtEl>
                                          <p:spTgt spid="75817"/>
                                        </p:tgtEl>
                                        <p:attrNameLst>
                                          <p:attrName>ppt_x</p:attrName>
                                        </p:attrNameLst>
                                      </p:cBhvr>
                                      <p:tavLst>
                                        <p:tav tm="0">
                                          <p:val>
                                            <p:strVal val="0-#ppt_w/2"/>
                                          </p:val>
                                        </p:tav>
                                        <p:tav tm="100000">
                                          <p:val>
                                            <p:strVal val="#ppt_x"/>
                                          </p:val>
                                        </p:tav>
                                      </p:tavLst>
                                    </p:anim>
                                    <p:anim calcmode="lin" valueType="num">
                                      <p:cBhvr additive="base">
                                        <p:cTn id="26" dur="500" fill="hold"/>
                                        <p:tgtEl>
                                          <p:spTgt spid="758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11" grpId="0" autoUpdateAnimBg="0"/>
      <p:bldP spid="758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85" name="Text Box 33"/>
          <p:cNvSpPr txBox="1">
            <a:spLocks noChangeArrowheads="1"/>
          </p:cNvSpPr>
          <p:nvPr/>
        </p:nvSpPr>
        <p:spPr bwMode="auto">
          <a:xfrm>
            <a:off x="1385884" y="1906391"/>
            <a:ext cx="9721080" cy="13086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nSpc>
                <a:spcPct val="150000"/>
              </a:lnSpc>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当方差已知时，切比雪夫不等式给出了</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r.v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与它的期望的偏差不小于 </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ε</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的概率的估计式。</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4788" name="Rectangle 36"/>
          <p:cNvSpPr>
            <a:spLocks noChangeArrowheads="1"/>
          </p:cNvSpPr>
          <p:nvPr/>
        </p:nvSpPr>
        <p:spPr bwMode="auto">
          <a:xfrm>
            <a:off x="2105964" y="3414806"/>
            <a:ext cx="172515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如取</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ε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3</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σ</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4790" name="Object 38"/>
          <p:cNvGraphicFramePr>
            <a:graphicFrameLocks noChangeAspect="1"/>
          </p:cNvGraphicFramePr>
          <p:nvPr/>
        </p:nvGraphicFramePr>
        <p:xfrm>
          <a:off x="3831116" y="886598"/>
          <a:ext cx="4275137" cy="1174750"/>
        </p:xfrm>
        <a:graphic>
          <a:graphicData uri="http://schemas.openxmlformats.org/presentationml/2006/ole">
            <mc:AlternateContent xmlns:mc="http://schemas.openxmlformats.org/markup-compatibility/2006">
              <mc:Choice xmlns:v="urn:schemas-microsoft-com:vml" Requires="v">
                <p:oleObj spid="_x0000_s206855" name="Equation" r:id="rId1" imgW="36576000" imgH="10058400" progId="Equation.DSMT4">
                  <p:embed/>
                </p:oleObj>
              </mc:Choice>
              <mc:Fallback>
                <p:oleObj name="Equation" r:id="rId1" imgW="36576000" imgH="10058400" progId="Equation.DSMT4">
                  <p:embed/>
                  <p:pic>
                    <p:nvPicPr>
                      <p:cNvPr id="0" name="Object 38"/>
                      <p:cNvPicPr>
                        <a:picLocks noChangeAspect="1" noChangeArrowheads="1"/>
                      </p:cNvPicPr>
                      <p:nvPr/>
                    </p:nvPicPr>
                    <p:blipFill>
                      <a:blip r:embed="rId2"/>
                      <a:srcRect/>
                      <a:stretch>
                        <a:fillRect/>
                      </a:stretch>
                    </p:blipFill>
                    <p:spPr bwMode="auto">
                      <a:xfrm>
                        <a:off x="3831116" y="886598"/>
                        <a:ext cx="4275137"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4791" name="Object 39"/>
          <p:cNvGraphicFramePr>
            <a:graphicFrameLocks noChangeAspect="1"/>
          </p:cNvGraphicFramePr>
          <p:nvPr/>
        </p:nvGraphicFramePr>
        <p:xfrm>
          <a:off x="3218121" y="3676416"/>
          <a:ext cx="6215062" cy="1198562"/>
        </p:xfrm>
        <a:graphic>
          <a:graphicData uri="http://schemas.openxmlformats.org/presentationml/2006/ole">
            <mc:AlternateContent xmlns:mc="http://schemas.openxmlformats.org/markup-compatibility/2006">
              <mc:Choice xmlns:v="urn:schemas-microsoft-com:vml" Requires="v">
                <p:oleObj spid="_x0000_s2" name="Equation" r:id="rId3" imgW="52120800" imgH="10058400" progId="Equation.DSMT4">
                  <p:embed/>
                </p:oleObj>
              </mc:Choice>
              <mc:Fallback>
                <p:oleObj name="Equation" r:id="rId3" imgW="52120800" imgH="10058400" progId="Equation.DSMT4">
                  <p:embed/>
                  <p:pic>
                    <p:nvPicPr>
                      <p:cNvPr id="0" name="Object 39"/>
                      <p:cNvPicPr>
                        <a:picLocks noChangeAspect="1" noChangeArrowheads="1"/>
                      </p:cNvPicPr>
                      <p:nvPr/>
                    </p:nvPicPr>
                    <p:blipFill>
                      <a:blip r:embed="rId4"/>
                      <a:srcRect/>
                      <a:stretch>
                        <a:fillRect/>
                      </a:stretch>
                    </p:blipFill>
                    <p:spPr bwMode="auto">
                      <a:xfrm>
                        <a:off x="3218121" y="3676416"/>
                        <a:ext cx="6215062" cy="1198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93" name="Rectangle 41"/>
          <p:cNvSpPr>
            <a:spLocks noChangeArrowheads="1"/>
          </p:cNvSpPr>
          <p:nvPr/>
        </p:nvSpPr>
        <p:spPr bwMode="auto">
          <a:xfrm>
            <a:off x="1376567" y="4682061"/>
            <a:ext cx="9721080" cy="130862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可见，对任给的分布，只要期望和方差 </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σ</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存在，则 </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r.v</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取值偏离</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超过 </a:t>
            </a:r>
            <a:r>
              <a:rPr lang="zh-CN"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3</a:t>
            </a:r>
            <a:r>
              <a:rPr lang="el-GR"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σ</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的概率小于</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0.111</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4" name="直接连接符 13"/>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6" name="组合 15"/>
          <p:cNvGrpSpPr/>
          <p:nvPr/>
        </p:nvGrpSpPr>
        <p:grpSpPr>
          <a:xfrm>
            <a:off x="851761" y="364781"/>
            <a:ext cx="263341" cy="395013"/>
            <a:chOff x="5284519" y="1508166"/>
            <a:chExt cx="213756" cy="427512"/>
          </a:xfrm>
        </p:grpSpPr>
        <p:cxnSp>
          <p:nvCxnSpPr>
            <p:cNvPr id="17" name="直接连接符 1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8" name="直接连接符 1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4790"/>
                                        </p:tgtEl>
                                        <p:attrNameLst>
                                          <p:attrName>style.visibility</p:attrName>
                                        </p:attrNameLst>
                                      </p:cBhvr>
                                      <p:to>
                                        <p:strVal val="visible"/>
                                      </p:to>
                                    </p:set>
                                    <p:anim calcmode="lin" valueType="num">
                                      <p:cBhvr additive="base">
                                        <p:cTn id="7" dur="500" fill="hold"/>
                                        <p:tgtEl>
                                          <p:spTgt spid="74790"/>
                                        </p:tgtEl>
                                        <p:attrNameLst>
                                          <p:attrName>ppt_x</p:attrName>
                                        </p:attrNameLst>
                                      </p:cBhvr>
                                      <p:tavLst>
                                        <p:tav tm="0">
                                          <p:val>
                                            <p:strVal val="0-#ppt_w/2"/>
                                          </p:val>
                                        </p:tav>
                                        <p:tav tm="100000">
                                          <p:val>
                                            <p:strVal val="#ppt_x"/>
                                          </p:val>
                                        </p:tav>
                                      </p:tavLst>
                                    </p:anim>
                                    <p:anim calcmode="lin" valueType="num">
                                      <p:cBhvr additive="base">
                                        <p:cTn id="8" dur="500" fill="hold"/>
                                        <p:tgtEl>
                                          <p:spTgt spid="7479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4785"/>
                                        </p:tgtEl>
                                        <p:attrNameLst>
                                          <p:attrName>style.visibility</p:attrName>
                                        </p:attrNameLst>
                                      </p:cBhvr>
                                      <p:to>
                                        <p:strVal val="visible"/>
                                      </p:to>
                                    </p:set>
                                    <p:anim calcmode="lin" valueType="num">
                                      <p:cBhvr additive="base">
                                        <p:cTn id="13" dur="500" fill="hold"/>
                                        <p:tgtEl>
                                          <p:spTgt spid="74785"/>
                                        </p:tgtEl>
                                        <p:attrNameLst>
                                          <p:attrName>ppt_x</p:attrName>
                                        </p:attrNameLst>
                                      </p:cBhvr>
                                      <p:tavLst>
                                        <p:tav tm="0">
                                          <p:val>
                                            <p:strVal val="0-#ppt_w/2"/>
                                          </p:val>
                                        </p:tav>
                                        <p:tav tm="100000">
                                          <p:val>
                                            <p:strVal val="#ppt_x"/>
                                          </p:val>
                                        </p:tav>
                                      </p:tavLst>
                                    </p:anim>
                                    <p:anim calcmode="lin" valueType="num">
                                      <p:cBhvr additive="base">
                                        <p:cTn id="14" dur="500" fill="hold"/>
                                        <p:tgtEl>
                                          <p:spTgt spid="7478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4788"/>
                                        </p:tgtEl>
                                        <p:attrNameLst>
                                          <p:attrName>style.visibility</p:attrName>
                                        </p:attrNameLst>
                                      </p:cBhvr>
                                      <p:to>
                                        <p:strVal val="visible"/>
                                      </p:to>
                                    </p:set>
                                    <p:anim calcmode="lin" valueType="num">
                                      <p:cBhvr additive="base">
                                        <p:cTn id="19" dur="500" fill="hold"/>
                                        <p:tgtEl>
                                          <p:spTgt spid="74788"/>
                                        </p:tgtEl>
                                        <p:attrNameLst>
                                          <p:attrName>ppt_x</p:attrName>
                                        </p:attrNameLst>
                                      </p:cBhvr>
                                      <p:tavLst>
                                        <p:tav tm="0">
                                          <p:val>
                                            <p:strVal val="0-#ppt_w/2"/>
                                          </p:val>
                                        </p:tav>
                                        <p:tav tm="100000">
                                          <p:val>
                                            <p:strVal val="#ppt_x"/>
                                          </p:val>
                                        </p:tav>
                                      </p:tavLst>
                                    </p:anim>
                                    <p:anim calcmode="lin" valueType="num">
                                      <p:cBhvr additive="base">
                                        <p:cTn id="20" dur="500" fill="hold"/>
                                        <p:tgtEl>
                                          <p:spTgt spid="7478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4791"/>
                                        </p:tgtEl>
                                        <p:attrNameLst>
                                          <p:attrName>style.visibility</p:attrName>
                                        </p:attrNameLst>
                                      </p:cBhvr>
                                      <p:to>
                                        <p:strVal val="visible"/>
                                      </p:to>
                                    </p:set>
                                    <p:anim calcmode="lin" valueType="num">
                                      <p:cBhvr additive="base">
                                        <p:cTn id="25" dur="500" fill="hold"/>
                                        <p:tgtEl>
                                          <p:spTgt spid="74791"/>
                                        </p:tgtEl>
                                        <p:attrNameLst>
                                          <p:attrName>ppt_x</p:attrName>
                                        </p:attrNameLst>
                                      </p:cBhvr>
                                      <p:tavLst>
                                        <p:tav tm="0">
                                          <p:val>
                                            <p:strVal val="0-#ppt_w/2"/>
                                          </p:val>
                                        </p:tav>
                                        <p:tav tm="100000">
                                          <p:val>
                                            <p:strVal val="#ppt_x"/>
                                          </p:val>
                                        </p:tav>
                                      </p:tavLst>
                                    </p:anim>
                                    <p:anim calcmode="lin" valueType="num">
                                      <p:cBhvr additive="base">
                                        <p:cTn id="26" dur="500" fill="hold"/>
                                        <p:tgtEl>
                                          <p:spTgt spid="7479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4793"/>
                                        </p:tgtEl>
                                        <p:attrNameLst>
                                          <p:attrName>style.visibility</p:attrName>
                                        </p:attrNameLst>
                                      </p:cBhvr>
                                      <p:to>
                                        <p:strVal val="visible"/>
                                      </p:to>
                                    </p:set>
                                    <p:anim calcmode="lin" valueType="num">
                                      <p:cBhvr additive="base">
                                        <p:cTn id="31" dur="500" fill="hold"/>
                                        <p:tgtEl>
                                          <p:spTgt spid="74793"/>
                                        </p:tgtEl>
                                        <p:attrNameLst>
                                          <p:attrName>ppt_x</p:attrName>
                                        </p:attrNameLst>
                                      </p:cBhvr>
                                      <p:tavLst>
                                        <p:tav tm="0">
                                          <p:val>
                                            <p:strVal val="0-#ppt_w/2"/>
                                          </p:val>
                                        </p:tav>
                                        <p:tav tm="100000">
                                          <p:val>
                                            <p:strVal val="#ppt_x"/>
                                          </p:val>
                                        </p:tav>
                                      </p:tavLst>
                                    </p:anim>
                                    <p:anim calcmode="lin" valueType="num">
                                      <p:cBhvr additive="base">
                                        <p:cTn id="32" dur="500" fill="hold"/>
                                        <p:tgtEl>
                                          <p:spTgt spid="747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85" grpId="0"/>
      <p:bldP spid="74788" grpId="0"/>
      <p:bldP spid="7479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15" name="Text Box 23"/>
          <p:cNvSpPr txBox="1">
            <a:spLocks noChangeArrowheads="1"/>
          </p:cNvSpPr>
          <p:nvPr/>
        </p:nvSpPr>
        <p:spPr bwMode="auto">
          <a:xfrm>
            <a:off x="1199456" y="1196752"/>
            <a:ext cx="9502922" cy="15994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lnSpc>
                <a:spcPct val="120000"/>
              </a:lnSpc>
              <a:spcBef>
                <a:spcPct val="50000"/>
              </a:spcBef>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9</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已知正常男性成人血液中 ，每一毫升白细胞数平均是</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7300</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，均方差是</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700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。利用切比雪夫不等式估计每毫升白细胞数在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5200~9400</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之间的概率。</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5016" name="Rectangle 24"/>
          <p:cNvSpPr>
            <a:spLocks noChangeArrowheads="1"/>
          </p:cNvSpPr>
          <p:nvPr/>
        </p:nvSpPr>
        <p:spPr bwMode="auto">
          <a:xfrm>
            <a:off x="1205366" y="3046928"/>
            <a:ext cx="950292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解：设每毫升白细胞数为</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，依题意，</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)=7300,</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)=700</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5020" name="Rectangle 28"/>
          <p:cNvSpPr>
            <a:spLocks noChangeArrowheads="1"/>
          </p:cNvSpPr>
          <p:nvPr/>
        </p:nvSpPr>
        <p:spPr bwMode="auto">
          <a:xfrm>
            <a:off x="1919536" y="3826584"/>
            <a:ext cx="6248400" cy="52387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所求为 </a:t>
            </a:r>
            <a:r>
              <a:rPr lang="zh-CN" altLang="en-US"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(5200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9400)</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5024" name="Rectangle 32"/>
          <p:cNvSpPr>
            <a:spLocks noChangeArrowheads="1"/>
          </p:cNvSpPr>
          <p:nvPr/>
        </p:nvSpPr>
        <p:spPr bwMode="auto">
          <a:xfrm>
            <a:off x="1422586" y="4672288"/>
            <a:ext cx="3599011" cy="5238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P(5200</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9400)</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5027" name="Rectangle 35"/>
          <p:cNvSpPr>
            <a:spLocks noChangeArrowheads="1"/>
          </p:cNvSpPr>
          <p:nvPr/>
        </p:nvSpPr>
        <p:spPr bwMode="auto">
          <a:xfrm>
            <a:off x="4572000" y="4708051"/>
            <a:ext cx="4986101" cy="5238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(-2100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2100)</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5031" name="Rectangle 39"/>
          <p:cNvSpPr>
            <a:spLocks noChangeArrowheads="1"/>
          </p:cNvSpPr>
          <p:nvPr/>
        </p:nvSpPr>
        <p:spPr bwMode="auto">
          <a:xfrm>
            <a:off x="4866196" y="5422698"/>
            <a:ext cx="4114800" cy="523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2100}</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20" name="直接连接符 1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矩形 20"/>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22" name="组合 21"/>
          <p:cNvGrpSpPr/>
          <p:nvPr/>
        </p:nvGrpSpPr>
        <p:grpSpPr>
          <a:xfrm>
            <a:off x="851761" y="364781"/>
            <a:ext cx="263341" cy="395013"/>
            <a:chOff x="5284519" y="1508166"/>
            <a:chExt cx="213756" cy="427512"/>
          </a:xfrm>
        </p:grpSpPr>
        <p:cxnSp>
          <p:nvCxnSpPr>
            <p:cNvPr id="23" name="直接连接符 2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4" name="直接连接符 2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5015"/>
                                        </p:tgtEl>
                                        <p:attrNameLst>
                                          <p:attrName>style.visibility</p:attrName>
                                        </p:attrNameLst>
                                      </p:cBhvr>
                                      <p:to>
                                        <p:strVal val="visible"/>
                                      </p:to>
                                    </p:set>
                                    <p:anim calcmode="lin" valueType="num">
                                      <p:cBhvr additive="base">
                                        <p:cTn id="7" dur="500" fill="hold"/>
                                        <p:tgtEl>
                                          <p:spTgt spid="85015"/>
                                        </p:tgtEl>
                                        <p:attrNameLst>
                                          <p:attrName>ppt_x</p:attrName>
                                        </p:attrNameLst>
                                      </p:cBhvr>
                                      <p:tavLst>
                                        <p:tav tm="0">
                                          <p:val>
                                            <p:strVal val="0-#ppt_w/2"/>
                                          </p:val>
                                        </p:tav>
                                        <p:tav tm="100000">
                                          <p:val>
                                            <p:strVal val="#ppt_x"/>
                                          </p:val>
                                        </p:tav>
                                      </p:tavLst>
                                    </p:anim>
                                    <p:anim calcmode="lin" valueType="num">
                                      <p:cBhvr additive="base">
                                        <p:cTn id="8" dur="500" fill="hold"/>
                                        <p:tgtEl>
                                          <p:spTgt spid="850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5016"/>
                                        </p:tgtEl>
                                        <p:attrNameLst>
                                          <p:attrName>style.visibility</p:attrName>
                                        </p:attrNameLst>
                                      </p:cBhvr>
                                      <p:to>
                                        <p:strVal val="visible"/>
                                      </p:to>
                                    </p:set>
                                    <p:anim calcmode="lin" valueType="num">
                                      <p:cBhvr additive="base">
                                        <p:cTn id="13" dur="500" fill="hold"/>
                                        <p:tgtEl>
                                          <p:spTgt spid="85016"/>
                                        </p:tgtEl>
                                        <p:attrNameLst>
                                          <p:attrName>ppt_x</p:attrName>
                                        </p:attrNameLst>
                                      </p:cBhvr>
                                      <p:tavLst>
                                        <p:tav tm="0">
                                          <p:val>
                                            <p:strVal val="0-#ppt_w/2"/>
                                          </p:val>
                                        </p:tav>
                                        <p:tav tm="100000">
                                          <p:val>
                                            <p:strVal val="#ppt_x"/>
                                          </p:val>
                                        </p:tav>
                                      </p:tavLst>
                                    </p:anim>
                                    <p:anim calcmode="lin" valueType="num">
                                      <p:cBhvr additive="base">
                                        <p:cTn id="14" dur="500" fill="hold"/>
                                        <p:tgtEl>
                                          <p:spTgt spid="850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5020"/>
                                        </p:tgtEl>
                                        <p:attrNameLst>
                                          <p:attrName>style.visibility</p:attrName>
                                        </p:attrNameLst>
                                      </p:cBhvr>
                                      <p:to>
                                        <p:strVal val="visible"/>
                                      </p:to>
                                    </p:set>
                                    <p:anim calcmode="lin" valueType="num">
                                      <p:cBhvr additive="base">
                                        <p:cTn id="19" dur="500" fill="hold"/>
                                        <p:tgtEl>
                                          <p:spTgt spid="85020"/>
                                        </p:tgtEl>
                                        <p:attrNameLst>
                                          <p:attrName>ppt_x</p:attrName>
                                        </p:attrNameLst>
                                      </p:cBhvr>
                                      <p:tavLst>
                                        <p:tav tm="0">
                                          <p:val>
                                            <p:strVal val="0-#ppt_w/2"/>
                                          </p:val>
                                        </p:tav>
                                        <p:tav tm="100000">
                                          <p:val>
                                            <p:strVal val="#ppt_x"/>
                                          </p:val>
                                        </p:tav>
                                      </p:tavLst>
                                    </p:anim>
                                    <p:anim calcmode="lin" valueType="num">
                                      <p:cBhvr additive="base">
                                        <p:cTn id="20" dur="500" fill="hold"/>
                                        <p:tgtEl>
                                          <p:spTgt spid="8502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5024"/>
                                        </p:tgtEl>
                                        <p:attrNameLst>
                                          <p:attrName>style.visibility</p:attrName>
                                        </p:attrNameLst>
                                      </p:cBhvr>
                                      <p:to>
                                        <p:strVal val="visible"/>
                                      </p:to>
                                    </p:set>
                                    <p:anim calcmode="lin" valueType="num">
                                      <p:cBhvr additive="base">
                                        <p:cTn id="25" dur="500" fill="hold"/>
                                        <p:tgtEl>
                                          <p:spTgt spid="85024"/>
                                        </p:tgtEl>
                                        <p:attrNameLst>
                                          <p:attrName>ppt_x</p:attrName>
                                        </p:attrNameLst>
                                      </p:cBhvr>
                                      <p:tavLst>
                                        <p:tav tm="0">
                                          <p:val>
                                            <p:strVal val="0-#ppt_w/2"/>
                                          </p:val>
                                        </p:tav>
                                        <p:tav tm="100000">
                                          <p:val>
                                            <p:strVal val="#ppt_x"/>
                                          </p:val>
                                        </p:tav>
                                      </p:tavLst>
                                    </p:anim>
                                    <p:anim calcmode="lin" valueType="num">
                                      <p:cBhvr additive="base">
                                        <p:cTn id="26" dur="500" fill="hold"/>
                                        <p:tgtEl>
                                          <p:spTgt spid="8502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5027"/>
                                        </p:tgtEl>
                                        <p:attrNameLst>
                                          <p:attrName>style.visibility</p:attrName>
                                        </p:attrNameLst>
                                      </p:cBhvr>
                                      <p:to>
                                        <p:strVal val="visible"/>
                                      </p:to>
                                    </p:set>
                                    <p:anim calcmode="lin" valueType="num">
                                      <p:cBhvr additive="base">
                                        <p:cTn id="31" dur="500" fill="hold"/>
                                        <p:tgtEl>
                                          <p:spTgt spid="85027"/>
                                        </p:tgtEl>
                                        <p:attrNameLst>
                                          <p:attrName>ppt_x</p:attrName>
                                        </p:attrNameLst>
                                      </p:cBhvr>
                                      <p:tavLst>
                                        <p:tav tm="0">
                                          <p:val>
                                            <p:strVal val="0-#ppt_w/2"/>
                                          </p:val>
                                        </p:tav>
                                        <p:tav tm="100000">
                                          <p:val>
                                            <p:strVal val="#ppt_x"/>
                                          </p:val>
                                        </p:tav>
                                      </p:tavLst>
                                    </p:anim>
                                    <p:anim calcmode="lin" valueType="num">
                                      <p:cBhvr additive="base">
                                        <p:cTn id="32" dur="500" fill="hold"/>
                                        <p:tgtEl>
                                          <p:spTgt spid="8502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85031"/>
                                        </p:tgtEl>
                                        <p:attrNameLst>
                                          <p:attrName>style.visibility</p:attrName>
                                        </p:attrNameLst>
                                      </p:cBhvr>
                                      <p:to>
                                        <p:strVal val="visible"/>
                                      </p:to>
                                    </p:set>
                                    <p:anim calcmode="lin" valueType="num">
                                      <p:cBhvr additive="base">
                                        <p:cTn id="37" dur="500" fill="hold"/>
                                        <p:tgtEl>
                                          <p:spTgt spid="85031"/>
                                        </p:tgtEl>
                                        <p:attrNameLst>
                                          <p:attrName>ppt_x</p:attrName>
                                        </p:attrNameLst>
                                      </p:cBhvr>
                                      <p:tavLst>
                                        <p:tav tm="0">
                                          <p:val>
                                            <p:strVal val="0-#ppt_w/2"/>
                                          </p:val>
                                        </p:tav>
                                        <p:tav tm="100000">
                                          <p:val>
                                            <p:strVal val="#ppt_x"/>
                                          </p:val>
                                        </p:tav>
                                      </p:tavLst>
                                    </p:anim>
                                    <p:anim calcmode="lin" valueType="num">
                                      <p:cBhvr additive="base">
                                        <p:cTn id="38" dur="500" fill="hold"/>
                                        <p:tgtEl>
                                          <p:spTgt spid="850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15" grpId="0"/>
      <p:bldP spid="85016" grpId="0"/>
      <p:bldP spid="85020" grpId="0"/>
      <p:bldP spid="85024" grpId="0"/>
      <p:bldP spid="85027" grpId="0"/>
      <p:bldP spid="8503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833" name="Object 33"/>
          <p:cNvGraphicFramePr>
            <a:graphicFrameLocks noChangeAspect="1"/>
          </p:cNvGraphicFramePr>
          <p:nvPr/>
        </p:nvGraphicFramePr>
        <p:xfrm>
          <a:off x="6816080" y="2592973"/>
          <a:ext cx="2109787" cy="1052513"/>
        </p:xfrm>
        <a:graphic>
          <a:graphicData uri="http://schemas.openxmlformats.org/presentationml/2006/ole">
            <mc:AlternateContent xmlns:mc="http://schemas.openxmlformats.org/markup-compatibility/2006">
              <mc:Choice xmlns:v="urn:schemas-microsoft-com:vml" Requires="v">
                <p:oleObj spid="_x0000_s206855" name="Equation" r:id="rId1" imgW="20116800" imgH="10058400" progId="Equation.DSMT4">
                  <p:embed/>
                </p:oleObj>
              </mc:Choice>
              <mc:Fallback>
                <p:oleObj name="Equation" r:id="rId1" imgW="20116800" imgH="10058400" progId="Equation.DSMT4">
                  <p:embed/>
                  <p:pic>
                    <p:nvPicPr>
                      <p:cNvPr id="0" name="Object 33"/>
                      <p:cNvPicPr>
                        <a:picLocks noChangeAspect="1" noChangeArrowheads="1"/>
                      </p:cNvPicPr>
                      <p:nvPr/>
                    </p:nvPicPr>
                    <p:blipFill>
                      <a:blip r:embed="rId2"/>
                      <a:srcRect/>
                      <a:stretch>
                        <a:fillRect/>
                      </a:stretch>
                    </p:blipFill>
                    <p:spPr bwMode="auto">
                      <a:xfrm>
                        <a:off x="6816080" y="2592973"/>
                        <a:ext cx="2109787" cy="1052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37" name="Rectangle 37"/>
          <p:cNvSpPr>
            <a:spLocks noChangeArrowheads="1"/>
          </p:cNvSpPr>
          <p:nvPr/>
        </p:nvSpPr>
        <p:spPr bwMode="auto">
          <a:xfrm>
            <a:off x="2220654" y="1827714"/>
            <a:ext cx="3057247"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由切比雪夫不等式</a:t>
            </a:r>
            <a:endPar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6839" name="Rectangle 39"/>
          <p:cNvSpPr>
            <a:spLocks noChangeArrowheads="1"/>
          </p:cNvSpPr>
          <p:nvPr/>
        </p:nvSpPr>
        <p:spPr bwMode="auto">
          <a:xfrm>
            <a:off x="3080246" y="2817893"/>
            <a:ext cx="3816424" cy="52387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2100}</a:t>
            </a:r>
            <a:endParaRPr lang="en-US" altLang="zh-CN" sz="2800" b="1" dirty="0">
              <a:solidFill>
                <a:schemeClr val="tx2"/>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6841" name="Object 41"/>
          <p:cNvGraphicFramePr>
            <a:graphicFrameLocks noChangeAspect="1"/>
          </p:cNvGraphicFramePr>
          <p:nvPr/>
        </p:nvGraphicFramePr>
        <p:xfrm>
          <a:off x="3791744" y="3573016"/>
          <a:ext cx="2085975" cy="987425"/>
        </p:xfrm>
        <a:graphic>
          <a:graphicData uri="http://schemas.openxmlformats.org/presentationml/2006/ole">
            <mc:AlternateContent xmlns:mc="http://schemas.openxmlformats.org/markup-compatibility/2006">
              <mc:Choice xmlns:v="urn:schemas-microsoft-com:vml" Requires="v">
                <p:oleObj spid="_x0000_s2" name="Equation" r:id="rId3" imgW="19812000" imgH="9448800" progId="Equation.DSMT4">
                  <p:embed/>
                </p:oleObj>
              </mc:Choice>
              <mc:Fallback>
                <p:oleObj name="Equation" r:id="rId3" imgW="19812000" imgH="9448800" progId="Equation.DSMT4">
                  <p:embed/>
                  <p:pic>
                    <p:nvPicPr>
                      <p:cNvPr id="0" name="Object 41"/>
                      <p:cNvPicPr>
                        <a:picLocks noChangeAspect="1" noChangeArrowheads="1"/>
                      </p:cNvPicPr>
                      <p:nvPr/>
                    </p:nvPicPr>
                    <p:blipFill>
                      <a:blip r:embed="rId4"/>
                      <a:srcRect/>
                      <a:stretch>
                        <a:fillRect/>
                      </a:stretch>
                    </p:blipFill>
                    <p:spPr bwMode="auto">
                      <a:xfrm>
                        <a:off x="3791744" y="3573016"/>
                        <a:ext cx="2085975" cy="987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6842" name="Object 42"/>
          <p:cNvGraphicFramePr>
            <a:graphicFrameLocks noChangeAspect="1"/>
          </p:cNvGraphicFramePr>
          <p:nvPr/>
        </p:nvGraphicFramePr>
        <p:xfrm>
          <a:off x="5850732" y="3541266"/>
          <a:ext cx="1787525" cy="1019175"/>
        </p:xfrm>
        <a:graphic>
          <a:graphicData uri="http://schemas.openxmlformats.org/presentationml/2006/ole">
            <mc:AlternateContent xmlns:mc="http://schemas.openxmlformats.org/markup-compatibility/2006">
              <mc:Choice xmlns:v="urn:schemas-microsoft-com:vml" Requires="v">
                <p:oleObj spid="_x0000_s3" name="Equation" r:id="rId5" imgW="16459200" imgH="9448800" progId="Equation.DSMT4">
                  <p:embed/>
                </p:oleObj>
              </mc:Choice>
              <mc:Fallback>
                <p:oleObj name="Equation" r:id="rId5" imgW="16459200" imgH="9448800" progId="Equation.DSMT4">
                  <p:embed/>
                  <p:pic>
                    <p:nvPicPr>
                      <p:cNvPr id="0" name="Object 42"/>
                      <p:cNvPicPr>
                        <a:picLocks noChangeAspect="1" noChangeArrowheads="1"/>
                      </p:cNvPicPr>
                      <p:nvPr/>
                    </p:nvPicPr>
                    <p:blipFill>
                      <a:blip r:embed="rId6"/>
                      <a:srcRect/>
                      <a:stretch>
                        <a:fillRect/>
                      </a:stretch>
                    </p:blipFill>
                    <p:spPr bwMode="auto">
                      <a:xfrm>
                        <a:off x="5850732" y="3541266"/>
                        <a:ext cx="1787525" cy="1019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43" name="Rectangle 43"/>
          <p:cNvSpPr>
            <a:spLocks noChangeArrowheads="1"/>
          </p:cNvSpPr>
          <p:nvPr/>
        </p:nvSpPr>
        <p:spPr bwMode="auto">
          <a:xfrm>
            <a:off x="1487488" y="4869160"/>
            <a:ext cx="9365728"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spcBef>
                <a:spcPct val="50000"/>
              </a:spcBef>
            </a:pP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即估计每毫升白细胞数在</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5200~9400</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之间的概率不小于</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8/9 </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0" name="直接连接符 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6837"/>
                                        </p:tgtEl>
                                        <p:attrNameLst>
                                          <p:attrName>style.visibility</p:attrName>
                                        </p:attrNameLst>
                                      </p:cBhvr>
                                      <p:to>
                                        <p:strVal val="visible"/>
                                      </p:to>
                                    </p:set>
                                    <p:anim calcmode="lin" valueType="num">
                                      <p:cBhvr additive="base">
                                        <p:cTn id="7" dur="500" fill="hold"/>
                                        <p:tgtEl>
                                          <p:spTgt spid="76837"/>
                                        </p:tgtEl>
                                        <p:attrNameLst>
                                          <p:attrName>ppt_x</p:attrName>
                                        </p:attrNameLst>
                                      </p:cBhvr>
                                      <p:tavLst>
                                        <p:tav tm="0">
                                          <p:val>
                                            <p:strVal val="0-#ppt_w/2"/>
                                          </p:val>
                                        </p:tav>
                                        <p:tav tm="100000">
                                          <p:val>
                                            <p:strVal val="#ppt_x"/>
                                          </p:val>
                                        </p:tav>
                                      </p:tavLst>
                                    </p:anim>
                                    <p:anim calcmode="lin" valueType="num">
                                      <p:cBhvr additive="base">
                                        <p:cTn id="8" dur="500" fill="hold"/>
                                        <p:tgtEl>
                                          <p:spTgt spid="7683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6839"/>
                                        </p:tgtEl>
                                        <p:attrNameLst>
                                          <p:attrName>style.visibility</p:attrName>
                                        </p:attrNameLst>
                                      </p:cBhvr>
                                      <p:to>
                                        <p:strVal val="visible"/>
                                      </p:to>
                                    </p:set>
                                    <p:anim calcmode="lin" valueType="num">
                                      <p:cBhvr additive="base">
                                        <p:cTn id="13" dur="500" fill="hold"/>
                                        <p:tgtEl>
                                          <p:spTgt spid="76839"/>
                                        </p:tgtEl>
                                        <p:attrNameLst>
                                          <p:attrName>ppt_x</p:attrName>
                                        </p:attrNameLst>
                                      </p:cBhvr>
                                      <p:tavLst>
                                        <p:tav tm="0">
                                          <p:val>
                                            <p:strVal val="0-#ppt_w/2"/>
                                          </p:val>
                                        </p:tav>
                                        <p:tav tm="100000">
                                          <p:val>
                                            <p:strVal val="#ppt_x"/>
                                          </p:val>
                                        </p:tav>
                                      </p:tavLst>
                                    </p:anim>
                                    <p:anim calcmode="lin" valueType="num">
                                      <p:cBhvr additive="base">
                                        <p:cTn id="14" dur="500" fill="hold"/>
                                        <p:tgtEl>
                                          <p:spTgt spid="7683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6833"/>
                                        </p:tgtEl>
                                        <p:attrNameLst>
                                          <p:attrName>style.visibility</p:attrName>
                                        </p:attrNameLst>
                                      </p:cBhvr>
                                      <p:to>
                                        <p:strVal val="visible"/>
                                      </p:to>
                                    </p:set>
                                    <p:anim calcmode="lin" valueType="num">
                                      <p:cBhvr additive="base">
                                        <p:cTn id="19" dur="500" fill="hold"/>
                                        <p:tgtEl>
                                          <p:spTgt spid="76833"/>
                                        </p:tgtEl>
                                        <p:attrNameLst>
                                          <p:attrName>ppt_x</p:attrName>
                                        </p:attrNameLst>
                                      </p:cBhvr>
                                      <p:tavLst>
                                        <p:tav tm="0">
                                          <p:val>
                                            <p:strVal val="0-#ppt_w/2"/>
                                          </p:val>
                                        </p:tav>
                                        <p:tav tm="100000">
                                          <p:val>
                                            <p:strVal val="#ppt_x"/>
                                          </p:val>
                                        </p:tav>
                                      </p:tavLst>
                                    </p:anim>
                                    <p:anim calcmode="lin" valueType="num">
                                      <p:cBhvr additive="base">
                                        <p:cTn id="20" dur="500" fill="hold"/>
                                        <p:tgtEl>
                                          <p:spTgt spid="7683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6841"/>
                                        </p:tgtEl>
                                        <p:attrNameLst>
                                          <p:attrName>style.visibility</p:attrName>
                                        </p:attrNameLst>
                                      </p:cBhvr>
                                      <p:to>
                                        <p:strVal val="visible"/>
                                      </p:to>
                                    </p:set>
                                    <p:anim calcmode="lin" valueType="num">
                                      <p:cBhvr additive="base">
                                        <p:cTn id="25" dur="500" fill="hold"/>
                                        <p:tgtEl>
                                          <p:spTgt spid="76841"/>
                                        </p:tgtEl>
                                        <p:attrNameLst>
                                          <p:attrName>ppt_x</p:attrName>
                                        </p:attrNameLst>
                                      </p:cBhvr>
                                      <p:tavLst>
                                        <p:tav tm="0">
                                          <p:val>
                                            <p:strVal val="0-#ppt_w/2"/>
                                          </p:val>
                                        </p:tav>
                                        <p:tav tm="100000">
                                          <p:val>
                                            <p:strVal val="#ppt_x"/>
                                          </p:val>
                                        </p:tav>
                                      </p:tavLst>
                                    </p:anim>
                                    <p:anim calcmode="lin" valueType="num">
                                      <p:cBhvr additive="base">
                                        <p:cTn id="26" dur="500" fill="hold"/>
                                        <p:tgtEl>
                                          <p:spTgt spid="7684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76842"/>
                                        </p:tgtEl>
                                        <p:attrNameLst>
                                          <p:attrName>style.visibility</p:attrName>
                                        </p:attrNameLst>
                                      </p:cBhvr>
                                      <p:to>
                                        <p:strVal val="visible"/>
                                      </p:to>
                                    </p:set>
                                    <p:anim calcmode="lin" valueType="num">
                                      <p:cBhvr additive="base">
                                        <p:cTn id="31" dur="500" fill="hold"/>
                                        <p:tgtEl>
                                          <p:spTgt spid="76842"/>
                                        </p:tgtEl>
                                        <p:attrNameLst>
                                          <p:attrName>ppt_x</p:attrName>
                                        </p:attrNameLst>
                                      </p:cBhvr>
                                      <p:tavLst>
                                        <p:tav tm="0">
                                          <p:val>
                                            <p:strVal val="0-#ppt_w/2"/>
                                          </p:val>
                                        </p:tav>
                                        <p:tav tm="100000">
                                          <p:val>
                                            <p:strVal val="#ppt_x"/>
                                          </p:val>
                                        </p:tav>
                                      </p:tavLst>
                                    </p:anim>
                                    <p:anim calcmode="lin" valueType="num">
                                      <p:cBhvr additive="base">
                                        <p:cTn id="32" dur="500" fill="hold"/>
                                        <p:tgtEl>
                                          <p:spTgt spid="7684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6843"/>
                                        </p:tgtEl>
                                        <p:attrNameLst>
                                          <p:attrName>style.visibility</p:attrName>
                                        </p:attrNameLst>
                                      </p:cBhvr>
                                      <p:to>
                                        <p:strVal val="visible"/>
                                      </p:to>
                                    </p:set>
                                    <p:anim calcmode="lin" valueType="num">
                                      <p:cBhvr additive="base">
                                        <p:cTn id="37" dur="500" fill="hold"/>
                                        <p:tgtEl>
                                          <p:spTgt spid="76843"/>
                                        </p:tgtEl>
                                        <p:attrNameLst>
                                          <p:attrName>ppt_x</p:attrName>
                                        </p:attrNameLst>
                                      </p:cBhvr>
                                      <p:tavLst>
                                        <p:tav tm="0">
                                          <p:val>
                                            <p:strVal val="0-#ppt_w/2"/>
                                          </p:val>
                                        </p:tav>
                                        <p:tav tm="100000">
                                          <p:val>
                                            <p:strVal val="#ppt_x"/>
                                          </p:val>
                                        </p:tav>
                                      </p:tavLst>
                                    </p:anim>
                                    <p:anim calcmode="lin" valueType="num">
                                      <p:cBhvr additive="base">
                                        <p:cTn id="38" dur="500" fill="hold"/>
                                        <p:tgtEl>
                                          <p:spTgt spid="768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37" grpId="0"/>
      <p:bldP spid="76839" grpId="0"/>
      <p:bldP spid="7684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52" name="Text Box 28"/>
          <p:cNvSpPr txBox="1">
            <a:spLocks noChangeArrowheads="1"/>
          </p:cNvSpPr>
          <p:nvPr/>
        </p:nvSpPr>
        <p:spPr bwMode="auto">
          <a:xfrm>
            <a:off x="1271464" y="949877"/>
            <a:ext cx="10009112" cy="19549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lnSpc>
                <a:spcPct val="150000"/>
              </a:lnSpc>
              <a:spcBef>
                <a:spcPct val="50000"/>
              </a:spcBef>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10</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在每次试验中，事件</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发生的概率为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0.75</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，利用切比雪夫不等式求：</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需要多么大时，才能使得在</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次独立重复试验中，事件</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出现的频率在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0.74~0.76</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之间的概率至少为</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0.90?</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53" name="Rectangle 29"/>
          <p:cNvSpPr>
            <a:spLocks noChangeArrowheads="1"/>
          </p:cNvSpPr>
          <p:nvPr/>
        </p:nvSpPr>
        <p:spPr bwMode="auto">
          <a:xfrm>
            <a:off x="1631504" y="3218352"/>
            <a:ext cx="705674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为</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次试验中，事件</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出现的次数，</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54" name="Rectangle 30"/>
          <p:cNvSpPr>
            <a:spLocks noChangeArrowheads="1"/>
          </p:cNvSpPr>
          <p:nvPr/>
        </p:nvSpPr>
        <p:spPr bwMode="auto">
          <a:xfrm>
            <a:off x="2336961" y="4086409"/>
            <a:ext cx="2206053"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)=0.75</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55" name="Rectangle 31"/>
          <p:cNvSpPr>
            <a:spLocks noChangeArrowheads="1"/>
          </p:cNvSpPr>
          <p:nvPr/>
        </p:nvSpPr>
        <p:spPr bwMode="auto">
          <a:xfrm>
            <a:off x="8272970" y="5152905"/>
            <a:ext cx="20955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的最小的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7856" name="Object 32"/>
          <p:cNvGraphicFramePr>
            <a:graphicFrameLocks noChangeAspect="1"/>
          </p:cNvGraphicFramePr>
          <p:nvPr/>
        </p:nvGraphicFramePr>
        <p:xfrm>
          <a:off x="3743039" y="4951759"/>
          <a:ext cx="4344987" cy="925513"/>
        </p:xfrm>
        <a:graphic>
          <a:graphicData uri="http://schemas.openxmlformats.org/presentationml/2006/ole">
            <mc:AlternateContent xmlns:mc="http://schemas.openxmlformats.org/markup-compatibility/2006">
              <mc:Choice xmlns:v="urn:schemas-microsoft-com:vml" Requires="v">
                <p:oleObj spid="_x0000_s206855" name="Equation" r:id="rId1" imgW="39624000" imgH="9448800" progId="Equation.DSMT4">
                  <p:embed/>
                </p:oleObj>
              </mc:Choice>
              <mc:Fallback>
                <p:oleObj name="Equation" r:id="rId1" imgW="39624000" imgH="9448800" progId="Equation.DSMT4">
                  <p:embed/>
                  <p:pic>
                    <p:nvPicPr>
                      <p:cNvPr id="0" name="Object 32"/>
                      <p:cNvPicPr>
                        <a:picLocks noChangeAspect="1" noChangeArrowheads="1"/>
                      </p:cNvPicPr>
                      <p:nvPr/>
                    </p:nvPicPr>
                    <p:blipFill>
                      <a:blip r:embed="rId2"/>
                      <a:srcRect/>
                      <a:stretch>
                        <a:fillRect/>
                      </a:stretch>
                    </p:blipFill>
                    <p:spPr bwMode="auto">
                      <a:xfrm>
                        <a:off x="3743039" y="4951759"/>
                        <a:ext cx="4344987" cy="925513"/>
                      </a:xfrm>
                      <a:prstGeom prst="rect">
                        <a:avLst/>
                      </a:prstGeom>
                      <a:solidFill>
                        <a:srgbClr val="C00000"/>
                      </a:solidFill>
                      <a:ln>
                        <a:noFill/>
                      </a:ln>
                      <a:effectLst/>
                    </p:spPr>
                  </p:pic>
                </p:oleObj>
              </mc:Fallback>
            </mc:AlternateContent>
          </a:graphicData>
        </a:graphic>
      </p:graphicFrame>
      <p:sp>
        <p:nvSpPr>
          <p:cNvPr id="77857" name="Rectangle 33"/>
          <p:cNvSpPr>
            <a:spLocks noChangeArrowheads="1"/>
          </p:cNvSpPr>
          <p:nvPr/>
        </p:nvSpPr>
        <p:spPr bwMode="auto">
          <a:xfrm>
            <a:off x="8464823" y="3218352"/>
            <a:ext cx="2635658"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0.75)</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58" name="Rectangle 34"/>
          <p:cNvSpPr>
            <a:spLocks noChangeArrowheads="1"/>
          </p:cNvSpPr>
          <p:nvPr/>
        </p:nvSpPr>
        <p:spPr bwMode="auto">
          <a:xfrm>
            <a:off x="1726120" y="5146140"/>
            <a:ext cx="1980029"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所求为满足</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7859" name="Rectangle 35"/>
          <p:cNvSpPr>
            <a:spLocks noChangeArrowheads="1"/>
          </p:cNvSpPr>
          <p:nvPr/>
        </p:nvSpPr>
        <p:spPr bwMode="auto">
          <a:xfrm>
            <a:off x="4420360" y="4086409"/>
            <a:ext cx="4253087"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)=0.75×0.25</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=0.1875</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endPar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0" name="直接连接符 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77852"/>
                                        </p:tgtEl>
                                        <p:attrNameLst>
                                          <p:attrName>style.visibility</p:attrName>
                                        </p:attrNameLst>
                                      </p:cBhvr>
                                      <p:to>
                                        <p:strVal val="visible"/>
                                      </p:to>
                                    </p:set>
                                    <p:animEffect transition="in" filter="barn(outVertical)">
                                      <p:cBhvr>
                                        <p:cTn id="7" dur="500"/>
                                        <p:tgtEl>
                                          <p:spTgt spid="778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853"/>
                                        </p:tgtEl>
                                        <p:attrNameLst>
                                          <p:attrName>style.visibility</p:attrName>
                                        </p:attrNameLst>
                                      </p:cBhvr>
                                      <p:to>
                                        <p:strVal val="visible"/>
                                      </p:to>
                                    </p:set>
                                    <p:animEffect transition="in" filter="wipe(left)">
                                      <p:cBhvr>
                                        <p:cTn id="12" dur="500"/>
                                        <p:tgtEl>
                                          <p:spTgt spid="778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7857"/>
                                        </p:tgtEl>
                                        <p:attrNameLst>
                                          <p:attrName>style.visibility</p:attrName>
                                        </p:attrNameLst>
                                      </p:cBhvr>
                                      <p:to>
                                        <p:strVal val="visible"/>
                                      </p:to>
                                    </p:set>
                                    <p:animEffect transition="in" filter="wipe(left)">
                                      <p:cBhvr>
                                        <p:cTn id="17" dur="500"/>
                                        <p:tgtEl>
                                          <p:spTgt spid="7785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77854"/>
                                        </p:tgtEl>
                                        <p:attrNameLst>
                                          <p:attrName>style.visibility</p:attrName>
                                        </p:attrNameLst>
                                      </p:cBhvr>
                                      <p:to>
                                        <p:strVal val="visible"/>
                                      </p:to>
                                    </p:set>
                                    <p:anim calcmode="lin" valueType="num">
                                      <p:cBhvr additive="base">
                                        <p:cTn id="22" dur="500" fill="hold"/>
                                        <p:tgtEl>
                                          <p:spTgt spid="77854"/>
                                        </p:tgtEl>
                                        <p:attrNameLst>
                                          <p:attrName>ppt_x</p:attrName>
                                        </p:attrNameLst>
                                      </p:cBhvr>
                                      <p:tavLst>
                                        <p:tav tm="0">
                                          <p:val>
                                            <p:strVal val="#ppt_x"/>
                                          </p:val>
                                        </p:tav>
                                        <p:tav tm="100000">
                                          <p:val>
                                            <p:strVal val="#ppt_x"/>
                                          </p:val>
                                        </p:tav>
                                      </p:tavLst>
                                    </p:anim>
                                    <p:anim calcmode="lin" valueType="num">
                                      <p:cBhvr additive="base">
                                        <p:cTn id="23" dur="500" fill="hold"/>
                                        <p:tgtEl>
                                          <p:spTgt spid="7785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77859"/>
                                        </p:tgtEl>
                                        <p:attrNameLst>
                                          <p:attrName>style.visibility</p:attrName>
                                        </p:attrNameLst>
                                      </p:cBhvr>
                                      <p:to>
                                        <p:strVal val="visible"/>
                                      </p:to>
                                    </p:set>
                                    <p:anim calcmode="lin" valueType="num">
                                      <p:cBhvr additive="base">
                                        <p:cTn id="28" dur="500" fill="hold"/>
                                        <p:tgtEl>
                                          <p:spTgt spid="77859"/>
                                        </p:tgtEl>
                                        <p:attrNameLst>
                                          <p:attrName>ppt_x</p:attrName>
                                        </p:attrNameLst>
                                      </p:cBhvr>
                                      <p:tavLst>
                                        <p:tav tm="0">
                                          <p:val>
                                            <p:strVal val="1+#ppt_w/2"/>
                                          </p:val>
                                        </p:tav>
                                        <p:tav tm="100000">
                                          <p:val>
                                            <p:strVal val="#ppt_x"/>
                                          </p:val>
                                        </p:tav>
                                      </p:tavLst>
                                    </p:anim>
                                    <p:anim calcmode="lin" valueType="num">
                                      <p:cBhvr additive="base">
                                        <p:cTn id="29" dur="500" fill="hold"/>
                                        <p:tgtEl>
                                          <p:spTgt spid="77859"/>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77858"/>
                                        </p:tgtEl>
                                        <p:attrNameLst>
                                          <p:attrName>style.visibility</p:attrName>
                                        </p:attrNameLst>
                                      </p:cBhvr>
                                      <p:to>
                                        <p:strVal val="visible"/>
                                      </p:to>
                                    </p:set>
                                    <p:anim calcmode="lin" valueType="num">
                                      <p:cBhvr additive="base">
                                        <p:cTn id="34" dur="500" fill="hold"/>
                                        <p:tgtEl>
                                          <p:spTgt spid="77858"/>
                                        </p:tgtEl>
                                        <p:attrNameLst>
                                          <p:attrName>ppt_x</p:attrName>
                                        </p:attrNameLst>
                                      </p:cBhvr>
                                      <p:tavLst>
                                        <p:tav tm="0">
                                          <p:val>
                                            <p:strVal val="0-#ppt_w/2"/>
                                          </p:val>
                                        </p:tav>
                                        <p:tav tm="100000">
                                          <p:val>
                                            <p:strVal val="#ppt_x"/>
                                          </p:val>
                                        </p:tav>
                                      </p:tavLst>
                                    </p:anim>
                                    <p:anim calcmode="lin" valueType="num">
                                      <p:cBhvr additive="base">
                                        <p:cTn id="35" dur="500" fill="hold"/>
                                        <p:tgtEl>
                                          <p:spTgt spid="77858"/>
                                        </p:tgtEl>
                                        <p:attrNameLst>
                                          <p:attrName>ppt_y</p:attrName>
                                        </p:attrNameLst>
                                      </p:cBhvr>
                                      <p:tavLst>
                                        <p:tav tm="0">
                                          <p:val>
                                            <p:strVal val="#ppt_y"/>
                                          </p:val>
                                        </p:tav>
                                        <p:tav tm="100000">
                                          <p:val>
                                            <p:strVal val="#ppt_y"/>
                                          </p:val>
                                        </p:tav>
                                      </p:tavLst>
                                    </p:anim>
                                  </p:childTnLst>
                                </p:cTn>
                              </p:par>
                            </p:childTnLst>
                          </p:cTn>
                        </p:par>
                        <p:par>
                          <p:cTn id="36" fill="hold">
                            <p:stCondLst>
                              <p:cond delay="500"/>
                            </p:stCondLst>
                            <p:childTnLst>
                              <p:par>
                                <p:cTn id="37" presetID="2" presetClass="entr" presetSubtype="2" fill="hold" nodeType="afterEffect">
                                  <p:stCondLst>
                                    <p:cond delay="0"/>
                                  </p:stCondLst>
                                  <p:childTnLst>
                                    <p:set>
                                      <p:cBhvr>
                                        <p:cTn id="38" dur="1" fill="hold">
                                          <p:stCondLst>
                                            <p:cond delay="0"/>
                                          </p:stCondLst>
                                        </p:cTn>
                                        <p:tgtEl>
                                          <p:spTgt spid="77856"/>
                                        </p:tgtEl>
                                        <p:attrNameLst>
                                          <p:attrName>style.visibility</p:attrName>
                                        </p:attrNameLst>
                                      </p:cBhvr>
                                      <p:to>
                                        <p:strVal val="visible"/>
                                      </p:to>
                                    </p:set>
                                    <p:anim calcmode="lin" valueType="num">
                                      <p:cBhvr additive="base">
                                        <p:cTn id="39" dur="500" fill="hold"/>
                                        <p:tgtEl>
                                          <p:spTgt spid="77856"/>
                                        </p:tgtEl>
                                        <p:attrNameLst>
                                          <p:attrName>ppt_x</p:attrName>
                                        </p:attrNameLst>
                                      </p:cBhvr>
                                      <p:tavLst>
                                        <p:tav tm="0">
                                          <p:val>
                                            <p:strVal val="1+#ppt_w/2"/>
                                          </p:val>
                                        </p:tav>
                                        <p:tav tm="100000">
                                          <p:val>
                                            <p:strVal val="#ppt_x"/>
                                          </p:val>
                                        </p:tav>
                                      </p:tavLst>
                                    </p:anim>
                                    <p:anim calcmode="lin" valueType="num">
                                      <p:cBhvr additive="base">
                                        <p:cTn id="40" dur="500" fill="hold"/>
                                        <p:tgtEl>
                                          <p:spTgt spid="77856"/>
                                        </p:tgtEl>
                                        <p:attrNameLst>
                                          <p:attrName>ppt_y</p:attrName>
                                        </p:attrNameLst>
                                      </p:cBhvr>
                                      <p:tavLst>
                                        <p:tav tm="0">
                                          <p:val>
                                            <p:strVal val="#ppt_y"/>
                                          </p:val>
                                        </p:tav>
                                        <p:tav tm="100000">
                                          <p:val>
                                            <p:strVal val="#ppt_y"/>
                                          </p:val>
                                        </p:tav>
                                      </p:tavLst>
                                    </p:anim>
                                  </p:childTnLst>
                                </p:cTn>
                              </p:par>
                            </p:childTnLst>
                          </p:cTn>
                        </p:par>
                        <p:par>
                          <p:cTn id="41" fill="hold">
                            <p:stCondLst>
                              <p:cond delay="1000"/>
                            </p:stCondLst>
                            <p:childTnLst>
                              <p:par>
                                <p:cTn id="42" presetID="2" presetClass="entr" presetSubtype="4" fill="hold" grpId="0" nodeType="afterEffect">
                                  <p:stCondLst>
                                    <p:cond delay="0"/>
                                  </p:stCondLst>
                                  <p:childTnLst>
                                    <p:set>
                                      <p:cBhvr>
                                        <p:cTn id="43" dur="1" fill="hold">
                                          <p:stCondLst>
                                            <p:cond delay="0"/>
                                          </p:stCondLst>
                                        </p:cTn>
                                        <p:tgtEl>
                                          <p:spTgt spid="77855"/>
                                        </p:tgtEl>
                                        <p:attrNameLst>
                                          <p:attrName>style.visibility</p:attrName>
                                        </p:attrNameLst>
                                      </p:cBhvr>
                                      <p:to>
                                        <p:strVal val="visible"/>
                                      </p:to>
                                    </p:set>
                                    <p:anim calcmode="lin" valueType="num">
                                      <p:cBhvr additive="base">
                                        <p:cTn id="44" dur="500" fill="hold"/>
                                        <p:tgtEl>
                                          <p:spTgt spid="77855"/>
                                        </p:tgtEl>
                                        <p:attrNameLst>
                                          <p:attrName>ppt_x</p:attrName>
                                        </p:attrNameLst>
                                      </p:cBhvr>
                                      <p:tavLst>
                                        <p:tav tm="0">
                                          <p:val>
                                            <p:strVal val="#ppt_x"/>
                                          </p:val>
                                        </p:tav>
                                        <p:tav tm="100000">
                                          <p:val>
                                            <p:strVal val="#ppt_x"/>
                                          </p:val>
                                        </p:tav>
                                      </p:tavLst>
                                    </p:anim>
                                    <p:anim calcmode="lin" valueType="num">
                                      <p:cBhvr additive="base">
                                        <p:cTn id="45" dur="500" fill="hold"/>
                                        <p:tgtEl>
                                          <p:spTgt spid="778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52" grpId="0" autoUpdateAnimBg="0"/>
      <p:bldP spid="77853" grpId="0" autoUpdateAnimBg="0"/>
      <p:bldP spid="77854" grpId="0" autoUpdateAnimBg="0"/>
      <p:bldP spid="77855" grpId="0" autoUpdateAnimBg="0"/>
      <p:bldP spid="77857" grpId="0" autoUpdateAnimBg="0"/>
      <p:bldP spid="77858" grpId="0" autoUpdateAnimBg="0"/>
      <p:bldP spid="77859"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67" name="Rectangle 19"/>
          <p:cNvSpPr>
            <a:spLocks noChangeArrowheads="1"/>
          </p:cNvSpPr>
          <p:nvPr/>
        </p:nvSpPr>
        <p:spPr bwMode="auto">
          <a:xfrm>
            <a:off x="5008364" y="2145011"/>
            <a:ext cx="66294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eaLnBrk="1" hangingPunct="1"/>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(-0.01</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&lt;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0.75</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 </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&lt; 0.01</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2"/>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8868" name="Object 20"/>
          <p:cNvGraphicFramePr>
            <a:graphicFrameLocks noChangeAspect="1"/>
          </p:cNvGraphicFramePr>
          <p:nvPr/>
        </p:nvGraphicFramePr>
        <p:xfrm>
          <a:off x="2783632" y="5510577"/>
          <a:ext cx="1948954" cy="927816"/>
        </p:xfrm>
        <a:graphic>
          <a:graphicData uri="http://schemas.openxmlformats.org/presentationml/2006/ole">
            <mc:AlternateContent xmlns:mc="http://schemas.openxmlformats.org/markup-compatibility/2006">
              <mc:Choice xmlns:v="urn:schemas-microsoft-com:vml" Requires="v">
                <p:oleObj spid="_x0000_s206855" name="Equation" r:id="rId1" imgW="21031200" imgH="10058400" progId="Equation.DSMT4">
                  <p:embed/>
                </p:oleObj>
              </mc:Choice>
              <mc:Fallback>
                <p:oleObj name="Equation" r:id="rId1" imgW="21031200" imgH="10058400" progId="Equation.DSMT4">
                  <p:embed/>
                  <p:pic>
                    <p:nvPicPr>
                      <p:cNvPr id="0" name="Object 20"/>
                      <p:cNvPicPr>
                        <a:picLocks noChangeAspect="1" noChangeArrowheads="1"/>
                      </p:cNvPicPr>
                      <p:nvPr/>
                    </p:nvPicPr>
                    <p:blipFill>
                      <a:blip r:embed="rId2"/>
                      <a:srcRect/>
                      <a:stretch>
                        <a:fillRect/>
                      </a:stretch>
                    </p:blipFill>
                    <p:spPr bwMode="auto">
                      <a:xfrm>
                        <a:off x="2783632" y="5510577"/>
                        <a:ext cx="1948954" cy="927816"/>
                      </a:xfrm>
                      <a:prstGeom prst="rect">
                        <a:avLst/>
                      </a:prstGeom>
                      <a:noFill/>
                      <a:ln>
                        <a:noFill/>
                      </a:ln>
                      <a:effectLst/>
                    </p:spPr>
                  </p:pic>
                </p:oleObj>
              </mc:Fallback>
            </mc:AlternateContent>
          </a:graphicData>
        </a:graphic>
      </p:graphicFrame>
      <p:sp>
        <p:nvSpPr>
          <p:cNvPr id="78869" name="Rectangle 21"/>
          <p:cNvSpPr>
            <a:spLocks noChangeArrowheads="1"/>
          </p:cNvSpPr>
          <p:nvPr/>
        </p:nvSpPr>
        <p:spPr bwMode="auto">
          <a:xfrm>
            <a:off x="5264375" y="3007348"/>
            <a:ext cx="3615556" cy="523220"/>
          </a:xfrm>
          <a:prstGeom prst="rect">
            <a:avLst/>
          </a:prstGeom>
          <a:solidFill>
            <a:srgbClr val="C00000"/>
          </a:solidFill>
          <a:ln>
            <a:noFill/>
          </a:ln>
          <a:effectLst/>
        </p:spPr>
        <p:txBody>
          <a:bodyPr wrap="square" anchor="ctr">
            <a:spAutoFit/>
          </a:bodyPr>
          <a:lstStyle/>
          <a:p>
            <a:pPr algn="l" eaLnBrk="1" hangingPunct="1"/>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&lt;0.01</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8870" name="Object 22"/>
          <p:cNvGraphicFramePr>
            <a:graphicFrameLocks noChangeAspect="1"/>
          </p:cNvGraphicFramePr>
          <p:nvPr/>
        </p:nvGraphicFramePr>
        <p:xfrm>
          <a:off x="4665817" y="5520086"/>
          <a:ext cx="2061211" cy="868305"/>
        </p:xfrm>
        <a:graphic>
          <a:graphicData uri="http://schemas.openxmlformats.org/presentationml/2006/ole">
            <mc:AlternateContent xmlns:mc="http://schemas.openxmlformats.org/markup-compatibility/2006">
              <mc:Choice xmlns:v="urn:schemas-microsoft-com:vml" Requires="v">
                <p:oleObj spid="_x0000_s2" name="Equation" r:id="rId3" imgW="22250400" imgH="9448800" progId="Equation.DSMT4">
                  <p:embed/>
                </p:oleObj>
              </mc:Choice>
              <mc:Fallback>
                <p:oleObj name="Equation" r:id="rId3" imgW="22250400" imgH="9448800" progId="Equation.DSMT4">
                  <p:embed/>
                  <p:pic>
                    <p:nvPicPr>
                      <p:cNvPr id="0" name="Object 22"/>
                      <p:cNvPicPr>
                        <a:picLocks noChangeAspect="1" noChangeArrowheads="1"/>
                      </p:cNvPicPr>
                      <p:nvPr/>
                    </p:nvPicPr>
                    <p:blipFill>
                      <a:blip r:embed="rId4"/>
                      <a:srcRect/>
                      <a:stretch>
                        <a:fillRect/>
                      </a:stretch>
                    </p:blipFill>
                    <p:spPr bwMode="auto">
                      <a:xfrm>
                        <a:off x="4665817" y="5520086"/>
                        <a:ext cx="2061211" cy="868305"/>
                      </a:xfrm>
                      <a:prstGeom prst="rect">
                        <a:avLst/>
                      </a:prstGeom>
                      <a:noFill/>
                      <a:ln>
                        <a:noFill/>
                      </a:ln>
                      <a:effectLst/>
                    </p:spPr>
                  </p:pic>
                </p:oleObj>
              </mc:Fallback>
            </mc:AlternateContent>
          </a:graphicData>
        </a:graphic>
      </p:graphicFrame>
      <p:graphicFrame>
        <p:nvGraphicFramePr>
          <p:cNvPr id="78871" name="Object 23"/>
          <p:cNvGraphicFramePr>
            <a:graphicFrameLocks noChangeAspect="1"/>
          </p:cNvGraphicFramePr>
          <p:nvPr/>
        </p:nvGraphicFramePr>
        <p:xfrm>
          <a:off x="6693754" y="5546284"/>
          <a:ext cx="1464758" cy="868306"/>
        </p:xfrm>
        <a:graphic>
          <a:graphicData uri="http://schemas.openxmlformats.org/presentationml/2006/ole">
            <mc:AlternateContent xmlns:mc="http://schemas.openxmlformats.org/markup-compatibility/2006">
              <mc:Choice xmlns:v="urn:schemas-microsoft-com:vml" Requires="v">
                <p:oleObj spid="_x0000_s3" name="Equation" r:id="rId5" imgW="15849600" imgH="9448800" progId="Equation.DSMT4">
                  <p:embed/>
                </p:oleObj>
              </mc:Choice>
              <mc:Fallback>
                <p:oleObj name="Equation" r:id="rId5" imgW="15849600" imgH="9448800" progId="Equation.DSMT4">
                  <p:embed/>
                  <p:pic>
                    <p:nvPicPr>
                      <p:cNvPr id="0" name="Object 23"/>
                      <p:cNvPicPr>
                        <a:picLocks noChangeAspect="1" noChangeArrowheads="1"/>
                      </p:cNvPicPr>
                      <p:nvPr/>
                    </p:nvPicPr>
                    <p:blipFill>
                      <a:blip r:embed="rId6"/>
                      <a:srcRect/>
                      <a:stretch>
                        <a:fillRect/>
                      </a:stretch>
                    </p:blipFill>
                    <p:spPr bwMode="auto">
                      <a:xfrm>
                        <a:off x="6693754" y="5546284"/>
                        <a:ext cx="1464758" cy="868306"/>
                      </a:xfrm>
                      <a:prstGeom prst="rect">
                        <a:avLst/>
                      </a:prstGeom>
                      <a:noFill/>
                      <a:ln>
                        <a:noFill/>
                      </a:ln>
                      <a:effectLst/>
                    </p:spPr>
                  </p:pic>
                </p:oleObj>
              </mc:Fallback>
            </mc:AlternateContent>
          </a:graphicData>
        </a:graphic>
      </p:graphicFrame>
      <p:sp>
        <p:nvSpPr>
          <p:cNvPr id="78872" name="Rectangle 24"/>
          <p:cNvSpPr>
            <a:spLocks noChangeArrowheads="1"/>
          </p:cNvSpPr>
          <p:nvPr/>
        </p:nvSpPr>
        <p:spPr bwMode="auto">
          <a:xfrm>
            <a:off x="1847528" y="2125670"/>
            <a:ext cx="3730625"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(0.74</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&lt;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&lt;0.76</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8873" name="Object 25"/>
          <p:cNvGraphicFramePr>
            <a:graphicFrameLocks noChangeAspect="1"/>
          </p:cNvGraphicFramePr>
          <p:nvPr/>
        </p:nvGraphicFramePr>
        <p:xfrm>
          <a:off x="1952625" y="4379913"/>
          <a:ext cx="3276600" cy="1028700"/>
        </p:xfrm>
        <a:graphic>
          <a:graphicData uri="http://schemas.openxmlformats.org/presentationml/2006/ole">
            <mc:AlternateContent xmlns:mc="http://schemas.openxmlformats.org/markup-compatibility/2006">
              <mc:Choice xmlns:v="urn:schemas-microsoft-com:vml" Requires="v">
                <p:oleObj spid="_x0000_s4" name="Equation" r:id="rId7" imgW="29870400" imgH="9448800" progId="Equation.DSMT4">
                  <p:embed/>
                </p:oleObj>
              </mc:Choice>
              <mc:Fallback>
                <p:oleObj name="Equation" r:id="rId7" imgW="29870400" imgH="9448800" progId="Equation.DSMT4">
                  <p:embed/>
                  <p:pic>
                    <p:nvPicPr>
                      <p:cNvPr id="0" name="Object 25"/>
                      <p:cNvPicPr>
                        <a:picLocks noChangeAspect="1" noChangeArrowheads="1"/>
                      </p:cNvPicPr>
                      <p:nvPr/>
                    </p:nvPicPr>
                    <p:blipFill>
                      <a:blip r:embed="rId8"/>
                      <a:srcRect/>
                      <a:stretch>
                        <a:fillRect/>
                      </a:stretch>
                    </p:blipFill>
                    <p:spPr bwMode="auto">
                      <a:xfrm>
                        <a:off x="1952625" y="4379913"/>
                        <a:ext cx="3276600"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8874" name="Group 26"/>
          <p:cNvGrpSpPr/>
          <p:nvPr/>
        </p:nvGrpSpPr>
        <p:grpSpPr bwMode="auto">
          <a:xfrm>
            <a:off x="2131218" y="1067081"/>
            <a:ext cx="4881563" cy="920750"/>
            <a:chOff x="1052" y="178"/>
            <a:chExt cx="3075" cy="580"/>
          </a:xfrm>
        </p:grpSpPr>
        <p:graphicFrame>
          <p:nvGraphicFramePr>
            <p:cNvPr id="78875" name="Object 27"/>
            <p:cNvGraphicFramePr>
              <a:graphicFrameLocks noChangeAspect="1"/>
            </p:cNvGraphicFramePr>
            <p:nvPr/>
          </p:nvGraphicFramePr>
          <p:xfrm>
            <a:off x="1052" y="178"/>
            <a:ext cx="1846" cy="580"/>
          </p:xfrm>
          <a:graphic>
            <a:graphicData uri="http://schemas.openxmlformats.org/presentationml/2006/ole">
              <mc:AlternateContent xmlns:mc="http://schemas.openxmlformats.org/markup-compatibility/2006">
                <mc:Choice xmlns:v="urn:schemas-microsoft-com:vml" Requires="v">
                  <p:oleObj spid="_x0000_s5" name="Equation" r:id="rId9" imgW="29870400" imgH="9448800" progId="Equation.DSMT4">
                    <p:embed/>
                  </p:oleObj>
                </mc:Choice>
                <mc:Fallback>
                  <p:oleObj name="Equation" r:id="rId9" imgW="29870400" imgH="9448800" progId="Equation.DSMT4">
                    <p:embed/>
                    <p:pic>
                      <p:nvPicPr>
                        <p:cNvPr id="0" name="Object 27"/>
                        <p:cNvPicPr>
                          <a:picLocks noChangeAspect="1" noChangeArrowheads="1"/>
                        </p:cNvPicPr>
                        <p:nvPr/>
                      </p:nvPicPr>
                      <p:blipFill>
                        <a:blip r:embed="rId10"/>
                        <a:srcRect/>
                        <a:stretch>
                          <a:fillRect/>
                        </a:stretch>
                      </p:blipFill>
                      <p:spPr bwMode="auto">
                        <a:xfrm>
                          <a:off x="1052" y="178"/>
                          <a:ext cx="1846" cy="580"/>
                        </a:xfrm>
                        <a:prstGeom prst="rect">
                          <a:avLst/>
                        </a:prstGeom>
                        <a:noFill/>
                        <a:ln>
                          <a:noFill/>
                        </a:ln>
                        <a:effectLst/>
                      </p:spPr>
                    </p:pic>
                  </p:oleObj>
                </mc:Fallback>
              </mc:AlternateContent>
            </a:graphicData>
          </a:graphic>
        </p:graphicFrame>
        <p:sp>
          <p:nvSpPr>
            <p:cNvPr id="78876" name="Rectangle 28"/>
            <p:cNvSpPr>
              <a:spLocks noChangeArrowheads="1"/>
            </p:cNvSpPr>
            <p:nvPr/>
          </p:nvSpPr>
          <p:spPr bwMode="auto">
            <a:xfrm>
              <a:off x="2979" y="303"/>
              <a:ext cx="1148"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sz="2800" b="1">
                  <a:latin typeface="Times New Roman" panose="02020603050405020304" pitchFamily="18" charset="0"/>
                  <a:ea typeface="微软雅黑" panose="020B0503020204020204" pitchFamily="34" charset="-122"/>
                  <a:sym typeface="Times New Roman" panose="02020603050405020304" pitchFamily="18" charset="0"/>
                </a:rPr>
                <a:t>可改写为</a:t>
              </a:r>
              <a:endParaRPr lang="zh-CN" altLang="en-US" sz="2800" b="1">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78877" name="Group 29"/>
          <p:cNvGrpSpPr/>
          <p:nvPr/>
        </p:nvGrpSpPr>
        <p:grpSpPr bwMode="auto">
          <a:xfrm>
            <a:off x="1919289" y="3827466"/>
            <a:ext cx="6510338" cy="523876"/>
            <a:chOff x="543" y="2149"/>
            <a:chExt cx="4101" cy="330"/>
          </a:xfrm>
        </p:grpSpPr>
        <p:sp>
          <p:nvSpPr>
            <p:cNvPr id="78878" name="Rectangle 30"/>
            <p:cNvSpPr>
              <a:spLocks noChangeArrowheads="1"/>
            </p:cNvSpPr>
            <p:nvPr/>
          </p:nvSpPr>
          <p:spPr bwMode="auto">
            <a:xfrm>
              <a:off x="543" y="2149"/>
              <a:ext cx="2378"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a:latin typeface="Times New Roman" panose="02020603050405020304" pitchFamily="18" charset="0"/>
                  <a:ea typeface="微软雅黑" panose="020B0503020204020204" pitchFamily="34" charset="-122"/>
                  <a:sym typeface="Times New Roman" panose="02020603050405020304" pitchFamily="18" charset="0"/>
                </a:rPr>
                <a:t>在切比雪夫不等式中取</a:t>
              </a:r>
              <a:endParaRPr lang="zh-CN" altLang="en-US" sz="2800" b="1">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8879" name="Rectangle 31"/>
            <p:cNvSpPr>
              <a:spLocks noChangeArrowheads="1"/>
            </p:cNvSpPr>
            <p:nvPr/>
          </p:nvSpPr>
          <p:spPr bwMode="auto">
            <a:xfrm>
              <a:off x="3949" y="2149"/>
              <a:ext cx="695"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800" b="1">
                  <a:latin typeface="Times New Roman" panose="02020603050405020304" pitchFamily="18" charset="0"/>
                  <a:ea typeface="微软雅黑" panose="020B0503020204020204" pitchFamily="34" charset="-122"/>
                  <a:sym typeface="Times New Roman" panose="02020603050405020304" pitchFamily="18" charset="0"/>
                </a:rPr>
                <a:t>，则</a:t>
              </a:r>
              <a:endParaRPr lang="zh-CN" altLang="en-US" sz="2800" b="1">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8880" name="Object 32"/>
            <p:cNvGraphicFramePr>
              <a:graphicFrameLocks noChangeAspect="1"/>
            </p:cNvGraphicFramePr>
            <p:nvPr/>
          </p:nvGraphicFramePr>
          <p:xfrm>
            <a:off x="3024" y="2160"/>
            <a:ext cx="927" cy="307"/>
          </p:xfrm>
          <a:graphic>
            <a:graphicData uri="http://schemas.openxmlformats.org/presentationml/2006/ole">
              <mc:AlternateContent xmlns:mc="http://schemas.openxmlformats.org/markup-compatibility/2006">
                <mc:Choice xmlns:v="urn:schemas-microsoft-com:vml" Requires="v">
                  <p:oleObj spid="_x0000_s6" name="Equation" r:id="rId11" imgW="12801600" imgH="4267200" progId="Equation.DSMT4">
                    <p:embed/>
                  </p:oleObj>
                </mc:Choice>
                <mc:Fallback>
                  <p:oleObj name="Equation" r:id="rId11" imgW="12801600" imgH="4267200" progId="Equation.DSMT4">
                    <p:embed/>
                    <p:pic>
                      <p:nvPicPr>
                        <p:cNvPr id="0" name="Object 32"/>
                        <p:cNvPicPr>
                          <a:picLocks noChangeAspect="1" noChangeArrowheads="1"/>
                        </p:cNvPicPr>
                        <p:nvPr/>
                      </p:nvPicPr>
                      <p:blipFill>
                        <a:blip r:embed="rId12"/>
                        <a:srcRect/>
                        <a:stretch>
                          <a:fillRect/>
                        </a:stretch>
                      </p:blipFill>
                      <p:spPr bwMode="auto">
                        <a:xfrm>
                          <a:off x="3024" y="2160"/>
                          <a:ext cx="927"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8881" name="Rectangle 33"/>
          <p:cNvSpPr>
            <a:spLocks noChangeArrowheads="1"/>
          </p:cNvSpPr>
          <p:nvPr/>
        </p:nvSpPr>
        <p:spPr bwMode="auto">
          <a:xfrm>
            <a:off x="5119688" y="4560422"/>
            <a:ext cx="43434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eaLnBrk="1" hangingPunct="1"/>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&lt;0.01</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7" name="直接连接符 1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矩形 17"/>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9" name="组合 18"/>
          <p:cNvGrpSpPr/>
          <p:nvPr/>
        </p:nvGrpSpPr>
        <p:grpSpPr>
          <a:xfrm>
            <a:off x="851761" y="364781"/>
            <a:ext cx="263341" cy="395013"/>
            <a:chOff x="5284519" y="1508166"/>
            <a:chExt cx="213756" cy="427512"/>
          </a:xfrm>
        </p:grpSpPr>
        <p:cxnSp>
          <p:nvCxnSpPr>
            <p:cNvPr id="20" name="直接连接符 1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1" name="直接连接符 2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8874"/>
                                        </p:tgtEl>
                                        <p:attrNameLst>
                                          <p:attrName>style.visibility</p:attrName>
                                        </p:attrNameLst>
                                      </p:cBhvr>
                                      <p:to>
                                        <p:strVal val="visible"/>
                                      </p:to>
                                    </p:set>
                                    <p:anim calcmode="lin" valueType="num">
                                      <p:cBhvr additive="base">
                                        <p:cTn id="7" dur="500" fill="hold"/>
                                        <p:tgtEl>
                                          <p:spTgt spid="78874"/>
                                        </p:tgtEl>
                                        <p:attrNameLst>
                                          <p:attrName>ppt_x</p:attrName>
                                        </p:attrNameLst>
                                      </p:cBhvr>
                                      <p:tavLst>
                                        <p:tav tm="0">
                                          <p:val>
                                            <p:strVal val="0-#ppt_w/2"/>
                                          </p:val>
                                        </p:tav>
                                        <p:tav tm="100000">
                                          <p:val>
                                            <p:strVal val="#ppt_x"/>
                                          </p:val>
                                        </p:tav>
                                      </p:tavLst>
                                    </p:anim>
                                    <p:anim calcmode="lin" valueType="num">
                                      <p:cBhvr additive="base">
                                        <p:cTn id="8" dur="500" fill="hold"/>
                                        <p:tgtEl>
                                          <p:spTgt spid="788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78872"/>
                                        </p:tgtEl>
                                        <p:attrNameLst>
                                          <p:attrName>style.visibility</p:attrName>
                                        </p:attrNameLst>
                                      </p:cBhvr>
                                      <p:to>
                                        <p:strVal val="visible"/>
                                      </p:to>
                                    </p:set>
                                    <p:animEffect transition="in" filter="wipe(left)">
                                      <p:cBhvr>
                                        <p:cTn id="13" dur="500"/>
                                        <p:tgtEl>
                                          <p:spTgt spid="7887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8867"/>
                                        </p:tgtEl>
                                        <p:attrNameLst>
                                          <p:attrName>style.visibility</p:attrName>
                                        </p:attrNameLst>
                                      </p:cBhvr>
                                      <p:to>
                                        <p:strVal val="visible"/>
                                      </p:to>
                                    </p:set>
                                    <p:animEffect transition="in" filter="wipe(left)">
                                      <p:cBhvr>
                                        <p:cTn id="18" dur="500"/>
                                        <p:tgtEl>
                                          <p:spTgt spid="7886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8869"/>
                                        </p:tgtEl>
                                        <p:attrNameLst>
                                          <p:attrName>style.visibility</p:attrName>
                                        </p:attrNameLst>
                                      </p:cBhvr>
                                      <p:to>
                                        <p:strVal val="visible"/>
                                      </p:to>
                                    </p:set>
                                    <p:animEffect transition="in" filter="wipe(left)">
                                      <p:cBhvr>
                                        <p:cTn id="23" dur="500"/>
                                        <p:tgtEl>
                                          <p:spTgt spid="7886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8877"/>
                                        </p:tgtEl>
                                        <p:attrNameLst>
                                          <p:attrName>style.visibility</p:attrName>
                                        </p:attrNameLst>
                                      </p:cBhvr>
                                      <p:to>
                                        <p:strVal val="visible"/>
                                      </p:to>
                                    </p:set>
                                    <p:animEffect transition="in" filter="wipe(left)">
                                      <p:cBhvr>
                                        <p:cTn id="28" dur="500"/>
                                        <p:tgtEl>
                                          <p:spTgt spid="7887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8873"/>
                                        </p:tgtEl>
                                        <p:attrNameLst>
                                          <p:attrName>style.visibility</p:attrName>
                                        </p:attrNameLst>
                                      </p:cBhvr>
                                      <p:to>
                                        <p:strVal val="visible"/>
                                      </p:to>
                                    </p:set>
                                    <p:animEffect transition="in" filter="wipe(left)">
                                      <p:cBhvr>
                                        <p:cTn id="33" dur="500"/>
                                        <p:tgtEl>
                                          <p:spTgt spid="78873"/>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78881"/>
                                        </p:tgtEl>
                                        <p:attrNameLst>
                                          <p:attrName>style.visibility</p:attrName>
                                        </p:attrNameLst>
                                      </p:cBhvr>
                                      <p:to>
                                        <p:strVal val="visible"/>
                                      </p:to>
                                    </p:set>
                                    <p:anim calcmode="lin" valueType="num">
                                      <p:cBhvr additive="base">
                                        <p:cTn id="38" dur="500" fill="hold"/>
                                        <p:tgtEl>
                                          <p:spTgt spid="78881"/>
                                        </p:tgtEl>
                                        <p:attrNameLst>
                                          <p:attrName>ppt_x</p:attrName>
                                        </p:attrNameLst>
                                      </p:cBhvr>
                                      <p:tavLst>
                                        <p:tav tm="0">
                                          <p:val>
                                            <p:strVal val="1+#ppt_w/2"/>
                                          </p:val>
                                        </p:tav>
                                        <p:tav tm="100000">
                                          <p:val>
                                            <p:strVal val="#ppt_x"/>
                                          </p:val>
                                        </p:tav>
                                      </p:tavLst>
                                    </p:anim>
                                    <p:anim calcmode="lin" valueType="num">
                                      <p:cBhvr additive="base">
                                        <p:cTn id="39" dur="500" fill="hold"/>
                                        <p:tgtEl>
                                          <p:spTgt spid="78881"/>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78868"/>
                                        </p:tgtEl>
                                        <p:attrNameLst>
                                          <p:attrName>style.visibility</p:attrName>
                                        </p:attrNameLst>
                                      </p:cBhvr>
                                      <p:to>
                                        <p:strVal val="visible"/>
                                      </p:to>
                                    </p:set>
                                    <p:animEffect transition="in" filter="wipe(left)">
                                      <p:cBhvr>
                                        <p:cTn id="44" dur="500"/>
                                        <p:tgtEl>
                                          <p:spTgt spid="78868"/>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78870"/>
                                        </p:tgtEl>
                                        <p:attrNameLst>
                                          <p:attrName>style.visibility</p:attrName>
                                        </p:attrNameLst>
                                      </p:cBhvr>
                                      <p:to>
                                        <p:strVal val="visible"/>
                                      </p:to>
                                    </p:set>
                                    <p:anim calcmode="lin" valueType="num">
                                      <p:cBhvr additive="base">
                                        <p:cTn id="49" dur="500" fill="hold"/>
                                        <p:tgtEl>
                                          <p:spTgt spid="78870"/>
                                        </p:tgtEl>
                                        <p:attrNameLst>
                                          <p:attrName>ppt_x</p:attrName>
                                        </p:attrNameLst>
                                      </p:cBhvr>
                                      <p:tavLst>
                                        <p:tav tm="0">
                                          <p:val>
                                            <p:strVal val="1+#ppt_w/2"/>
                                          </p:val>
                                        </p:tav>
                                        <p:tav tm="100000">
                                          <p:val>
                                            <p:strVal val="#ppt_x"/>
                                          </p:val>
                                        </p:tav>
                                      </p:tavLst>
                                    </p:anim>
                                    <p:anim calcmode="lin" valueType="num">
                                      <p:cBhvr additive="base">
                                        <p:cTn id="50" dur="500" fill="hold"/>
                                        <p:tgtEl>
                                          <p:spTgt spid="7887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78871"/>
                                        </p:tgtEl>
                                        <p:attrNameLst>
                                          <p:attrName>style.visibility</p:attrName>
                                        </p:attrNameLst>
                                      </p:cBhvr>
                                      <p:to>
                                        <p:strVal val="visible"/>
                                      </p:to>
                                    </p:set>
                                    <p:anim calcmode="lin" valueType="num">
                                      <p:cBhvr additive="base">
                                        <p:cTn id="55" dur="500" fill="hold"/>
                                        <p:tgtEl>
                                          <p:spTgt spid="78871"/>
                                        </p:tgtEl>
                                        <p:attrNameLst>
                                          <p:attrName>ppt_x</p:attrName>
                                        </p:attrNameLst>
                                      </p:cBhvr>
                                      <p:tavLst>
                                        <p:tav tm="0">
                                          <p:val>
                                            <p:strVal val="1+#ppt_w/2"/>
                                          </p:val>
                                        </p:tav>
                                        <p:tav tm="100000">
                                          <p:val>
                                            <p:strVal val="#ppt_x"/>
                                          </p:val>
                                        </p:tav>
                                      </p:tavLst>
                                    </p:anim>
                                    <p:anim calcmode="lin" valueType="num">
                                      <p:cBhvr additive="base">
                                        <p:cTn id="56" dur="500" fill="hold"/>
                                        <p:tgtEl>
                                          <p:spTgt spid="788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67" grpId="0" autoUpdateAnimBg="0"/>
      <p:bldP spid="78869" grpId="0" animBg="1" autoUpdateAnimBg="0"/>
      <p:bldP spid="78872" grpId="0" autoUpdateAnimBg="0"/>
      <p:bldP spid="78881"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894" name="Group 22"/>
          <p:cNvGrpSpPr/>
          <p:nvPr/>
        </p:nvGrpSpPr>
        <p:grpSpPr bwMode="auto">
          <a:xfrm>
            <a:off x="2495600" y="2551441"/>
            <a:ext cx="4756150" cy="1339850"/>
            <a:chOff x="641" y="1026"/>
            <a:chExt cx="2996" cy="844"/>
          </a:xfrm>
        </p:grpSpPr>
        <p:graphicFrame>
          <p:nvGraphicFramePr>
            <p:cNvPr id="79895" name="Object 23"/>
            <p:cNvGraphicFramePr>
              <a:graphicFrameLocks noChangeAspect="1"/>
            </p:cNvGraphicFramePr>
            <p:nvPr/>
          </p:nvGraphicFramePr>
          <p:xfrm>
            <a:off x="1696" y="1228"/>
            <a:ext cx="1941" cy="642"/>
          </p:xfrm>
          <a:graphic>
            <a:graphicData uri="http://schemas.openxmlformats.org/presentationml/2006/ole">
              <mc:AlternateContent xmlns:mc="http://schemas.openxmlformats.org/markup-compatibility/2006">
                <mc:Choice xmlns:v="urn:schemas-microsoft-com:vml" Requires="v">
                  <p:oleObj spid="_x0000_s206855" name="Equation" r:id="rId1" imgW="28346400" imgH="9448800" progId="Equation.DSMT4">
                    <p:embed/>
                  </p:oleObj>
                </mc:Choice>
                <mc:Fallback>
                  <p:oleObj name="Equation" r:id="rId1" imgW="28346400" imgH="9448800" progId="Equation.DSMT4">
                    <p:embed/>
                    <p:pic>
                      <p:nvPicPr>
                        <p:cNvPr id="0" name="Object 23"/>
                        <p:cNvPicPr>
                          <a:picLocks noChangeAspect="1" noChangeArrowheads="1"/>
                        </p:cNvPicPr>
                        <p:nvPr/>
                      </p:nvPicPr>
                      <p:blipFill>
                        <a:blip r:embed="rId2"/>
                        <a:srcRect/>
                        <a:stretch>
                          <a:fillRect/>
                        </a:stretch>
                      </p:blipFill>
                      <p:spPr bwMode="auto">
                        <a:xfrm>
                          <a:off x="1696" y="1228"/>
                          <a:ext cx="1941" cy="6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96" name="Rectangle 24"/>
            <p:cNvSpPr>
              <a:spLocks noChangeArrowheads="1"/>
            </p:cNvSpPr>
            <p:nvPr/>
          </p:nvSpPr>
          <p:spPr bwMode="auto">
            <a:xfrm>
              <a:off x="641" y="1026"/>
              <a:ext cx="569"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解得</a:t>
              </a:r>
              <a:endPar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79897" name="Group 25"/>
          <p:cNvGrpSpPr/>
          <p:nvPr/>
        </p:nvGrpSpPr>
        <p:grpSpPr bwMode="auto">
          <a:xfrm>
            <a:off x="2207568" y="1245254"/>
            <a:ext cx="4462463" cy="1019175"/>
            <a:chOff x="682" y="336"/>
            <a:chExt cx="2811" cy="642"/>
          </a:xfrm>
        </p:grpSpPr>
        <p:sp>
          <p:nvSpPr>
            <p:cNvPr id="79898" name="Rectangle 26"/>
            <p:cNvSpPr>
              <a:spLocks noChangeArrowheads="1"/>
            </p:cNvSpPr>
            <p:nvPr/>
          </p:nvSpPr>
          <p:spPr bwMode="auto">
            <a:xfrm>
              <a:off x="682" y="450"/>
              <a:ext cx="1247"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依题意，取</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79899" name="Object 27"/>
            <p:cNvGraphicFramePr>
              <a:graphicFrameLocks noChangeAspect="1"/>
            </p:cNvGraphicFramePr>
            <p:nvPr/>
          </p:nvGraphicFramePr>
          <p:xfrm>
            <a:off x="2054" y="336"/>
            <a:ext cx="1439" cy="642"/>
          </p:xfrm>
          <a:graphic>
            <a:graphicData uri="http://schemas.openxmlformats.org/presentationml/2006/ole">
              <mc:AlternateContent xmlns:mc="http://schemas.openxmlformats.org/markup-compatibility/2006">
                <mc:Choice xmlns:v="urn:schemas-microsoft-com:vml" Requires="v">
                  <p:oleObj spid="_x0000_s2" name="Equation" r:id="rId3" imgW="21031200" imgH="9448800" progId="Equation.DSMT4">
                    <p:embed/>
                  </p:oleObj>
                </mc:Choice>
                <mc:Fallback>
                  <p:oleObj name="Equation" r:id="rId3" imgW="21031200" imgH="9448800" progId="Equation.DSMT4">
                    <p:embed/>
                    <p:pic>
                      <p:nvPicPr>
                        <p:cNvPr id="0" name="Object 27"/>
                        <p:cNvPicPr>
                          <a:picLocks noChangeAspect="1" noChangeArrowheads="1"/>
                        </p:cNvPicPr>
                        <p:nvPr/>
                      </p:nvPicPr>
                      <p:blipFill>
                        <a:blip r:embed="rId4"/>
                        <a:srcRect/>
                        <a:stretch>
                          <a:fillRect/>
                        </a:stretch>
                      </p:blipFill>
                      <p:spPr bwMode="auto">
                        <a:xfrm>
                          <a:off x="2054" y="336"/>
                          <a:ext cx="1439" cy="6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9900" name="Rectangle 28"/>
          <p:cNvSpPr>
            <a:spLocks noChangeArrowheads="1"/>
          </p:cNvSpPr>
          <p:nvPr/>
        </p:nvSpPr>
        <p:spPr bwMode="auto">
          <a:xfrm>
            <a:off x="1917700" y="4031422"/>
            <a:ext cx="8281988" cy="152407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eaLnBrk="1" hangingPunct="1">
              <a:lnSpc>
                <a:spcPct val="150000"/>
              </a:lnSpc>
              <a:spcBef>
                <a:spcPct val="50000"/>
              </a:spcBef>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n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取</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18750</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时，可以使得在</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n</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次独立重复试验中，</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a:p>
            <a:pPr algn="l" eaLnBrk="1" hangingPunct="1">
              <a:lnSpc>
                <a:spcPct val="150000"/>
              </a:lnSpc>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事件</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出现的频率在</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0.74~0.76</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之间的概率至少为</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0.90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四、切比雪夫不等式</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9897"/>
                                        </p:tgtEl>
                                        <p:attrNameLst>
                                          <p:attrName>style.visibility</p:attrName>
                                        </p:attrNameLst>
                                      </p:cBhvr>
                                      <p:to>
                                        <p:strVal val="visible"/>
                                      </p:to>
                                    </p:set>
                                    <p:animEffect transition="in" filter="wipe(left)">
                                      <p:cBhvr>
                                        <p:cTn id="7" dur="500"/>
                                        <p:tgtEl>
                                          <p:spTgt spid="798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9894"/>
                                        </p:tgtEl>
                                        <p:attrNameLst>
                                          <p:attrName>style.visibility</p:attrName>
                                        </p:attrNameLst>
                                      </p:cBhvr>
                                      <p:to>
                                        <p:strVal val="visible"/>
                                      </p:to>
                                    </p:set>
                                    <p:animEffect transition="in" filter="wipe(left)">
                                      <p:cBhvr>
                                        <p:cTn id="12" dur="500"/>
                                        <p:tgtEl>
                                          <p:spTgt spid="7989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9900"/>
                                        </p:tgtEl>
                                        <p:attrNameLst>
                                          <p:attrName>style.visibility</p:attrName>
                                        </p:attrNameLst>
                                      </p:cBhvr>
                                      <p:to>
                                        <p:strVal val="visible"/>
                                      </p:to>
                                    </p:set>
                                    <p:anim calcmode="lin" valueType="num">
                                      <p:cBhvr additive="base">
                                        <p:cTn id="17" dur="500" fill="hold"/>
                                        <p:tgtEl>
                                          <p:spTgt spid="79900"/>
                                        </p:tgtEl>
                                        <p:attrNameLst>
                                          <p:attrName>ppt_x</p:attrName>
                                        </p:attrNameLst>
                                      </p:cBhvr>
                                      <p:tavLst>
                                        <p:tav tm="0">
                                          <p:val>
                                            <p:strVal val="#ppt_x"/>
                                          </p:val>
                                        </p:tav>
                                        <p:tav tm="100000">
                                          <p:val>
                                            <p:strVal val="#ppt_x"/>
                                          </p:val>
                                        </p:tav>
                                      </p:tavLst>
                                    </p:anim>
                                    <p:anim calcmode="lin" valueType="num">
                                      <p:cBhvr additive="base">
                                        <p:cTn id="18" dur="500" fill="hold"/>
                                        <p:tgtEl>
                                          <p:spTgt spid="799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00"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总结方差的计算方法</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7" name="Rectangle 3"/>
          <p:cNvSpPr txBox="1">
            <a:spLocks noChangeArrowheads="1"/>
          </p:cNvSpPr>
          <p:nvPr/>
        </p:nvSpPr>
        <p:spPr bwMode="auto">
          <a:xfrm>
            <a:off x="1406163" y="1268760"/>
            <a:ext cx="10306461" cy="485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0" indent="0" algn="l" rtl="0" fontAlgn="base">
              <a:lnSpc>
                <a:spcPct val="90000"/>
              </a:lnSpc>
              <a:spcBef>
                <a:spcPts val="1000"/>
              </a:spcBef>
              <a:spcAft>
                <a:spcPct val="0"/>
              </a:spcAft>
              <a:buFont typeface="Arial" panose="020B0604020202020204" pitchFamily="34" charset="0"/>
              <a:buNone/>
              <a:defRPr kumimoji="1" lang="zh-CN" altLang="en-US" sz="2800" b="1" kern="1200">
                <a:solidFill>
                  <a:schemeClr val="tx1">
                    <a:lumMod val="85000"/>
                    <a:lumOff val="15000"/>
                  </a:schemeClr>
                </a:solidFill>
                <a:latin typeface="Times New Roman" panose="02020603050405020304" pitchFamily="18" charset="0"/>
                <a:ea typeface="微软雅黑" panose="020B0503020204020204" pitchFamily="34" charset="-122"/>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Arial" panose="020B0604020202020204" pitchFamily="34" charset="0"/>
                <a:ea typeface="+mn-ea"/>
                <a:cs typeface="等线" panose="02010600030101010101" charset="-122"/>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等线" panose="02010600030101010101" charset="-122"/>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等线" panose="02010600030101010101" charset="-122"/>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等线" panose="0201060003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defTabSz="914400">
              <a:lnSpc>
                <a:spcPct val="150000"/>
              </a:lnSpc>
              <a:spcBef>
                <a:spcPct val="0"/>
              </a:spcBef>
              <a:buFont typeface="Arial" panose="020B0604020202020204" pitchFamily="34" charset="0"/>
              <a:buChar char="•"/>
            </a:pP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定义法：函数的数学期望</a:t>
            </a:r>
            <a:endPar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457200" indent="-457200" defTabSz="914400">
              <a:lnSpc>
                <a:spcPct val="150000"/>
              </a:lnSpc>
              <a:spcBef>
                <a:spcPct val="0"/>
              </a:spcBef>
              <a:buFont typeface="Arial" panose="020B0604020202020204" pitchFamily="34" charset="0"/>
              <a:buChar char="•"/>
            </a:pP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方差的性质</a:t>
            </a:r>
            <a:endPar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457200" indent="-457200" defTabSz="914400">
              <a:lnSpc>
                <a:spcPct val="150000"/>
              </a:lnSpc>
              <a:spcBef>
                <a:spcPct val="0"/>
              </a:spcBef>
              <a:buFont typeface="Arial" panose="020B0604020202020204" pitchFamily="34" charset="0"/>
              <a:buChar char="•"/>
            </a:pP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常用公式：</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D(X)=E(X</a:t>
            </a:r>
            <a:r>
              <a:rPr lang="en-US" altLang="zh-CN" baseline="300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2</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)-[E(X)]</a:t>
            </a:r>
            <a:r>
              <a:rPr lang="en-US" altLang="zh-CN" baseline="300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2</a:t>
            </a:r>
            <a:endPar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marL="457200" indent="-457200" defTabSz="914400">
              <a:lnSpc>
                <a:spcPct val="150000"/>
              </a:lnSpc>
              <a:spcBef>
                <a:spcPct val="0"/>
              </a:spcBef>
              <a:buFont typeface="Arial" panose="020B0604020202020204" pitchFamily="34" charset="0"/>
              <a:buChar char="•"/>
            </a:pP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X</a:t>
            </a: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分解成数个相互独立的随机变量之和，利</a:t>
            </a:r>
            <a:endPar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defTabSz="914400">
              <a:lnSpc>
                <a:spcPct val="150000"/>
              </a:lnSpc>
              <a:spcBef>
                <a:spcPct val="0"/>
              </a:spcBef>
            </a:pP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用</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D(X)=D (X</a:t>
            </a:r>
            <a:r>
              <a:rPr lang="en-US" altLang="zh-CN" baseline="-250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1</a:t>
            </a: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 </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+X</a:t>
            </a:r>
            <a:r>
              <a:rPr lang="en-US" altLang="zh-CN" baseline="-250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2</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en-US" altLang="zh-CN" dirty="0" err="1">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X</a:t>
            </a:r>
            <a:r>
              <a:rPr lang="en-US" altLang="zh-CN" baseline="-25000" dirty="0" err="1">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n</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 D (X</a:t>
            </a:r>
            <a:r>
              <a:rPr lang="en-US" altLang="zh-CN" baseline="-250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1</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 D (X</a:t>
            </a:r>
            <a:r>
              <a:rPr lang="en-US" altLang="zh-CN" baseline="-250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2</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 +D (</a:t>
            </a:r>
            <a:r>
              <a:rPr lang="en-US" altLang="zh-CN" dirty="0" err="1">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X</a:t>
            </a:r>
            <a:r>
              <a:rPr lang="en-US" altLang="zh-CN" baseline="-25000" dirty="0" err="1">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n</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a:t>
            </a:r>
            <a:endPar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defTabSz="914400">
              <a:lnSpc>
                <a:spcPct val="150000"/>
              </a:lnSpc>
              <a:spcBef>
                <a:spcPct val="0"/>
              </a:spcBef>
              <a:buFontTx/>
              <a:buNone/>
            </a:pP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rPr>
              <a:t>根据题型，以上方法可能独立使用，也可能结合使用。</a:t>
            </a:r>
            <a:endPar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15398" y="2727150"/>
            <a:ext cx="5040000" cy="923330"/>
          </a:xfrm>
          <a:prstGeom prst="rect">
            <a:avLst/>
          </a:prstGeom>
          <a:noFill/>
        </p:spPr>
        <p:txBody>
          <a:bodyPr wrap="square" rtlCol="0">
            <a:spAutoFit/>
          </a:bodyPr>
          <a:lstStyle/>
          <a:p>
            <a:pPr algn="dist"/>
            <a:r>
              <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课堂练习</a:t>
            </a:r>
            <a:endParaRPr lang="zh-CN" altLang="en-US" sz="54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05</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6374" name="Object 6"/>
          <p:cNvGraphicFramePr>
            <a:graphicFrameLocks noChangeAspect="1"/>
          </p:cNvGraphicFramePr>
          <p:nvPr/>
        </p:nvGraphicFramePr>
        <p:xfrm>
          <a:off x="6000750" y="4254500"/>
          <a:ext cx="190500" cy="419100"/>
        </p:xfrm>
        <a:graphic>
          <a:graphicData uri="http://schemas.openxmlformats.org/presentationml/2006/ole">
            <mc:AlternateContent xmlns:mc="http://schemas.openxmlformats.org/markup-compatibility/2006">
              <mc:Choice xmlns:v="urn:schemas-microsoft-com:vml" Requires="v">
                <p:oleObj spid="_x0000_s206855" name="Equation" r:id="rId1" imgW="190500" imgH="419100" progId="Equation.3">
                  <p:embed/>
                </p:oleObj>
              </mc:Choice>
              <mc:Fallback>
                <p:oleObj name="Equation" r:id="rId1" imgW="190500" imgH="4191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0" y="4254500"/>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375" name="Object 7"/>
          <p:cNvGraphicFramePr>
            <a:graphicFrameLocks noChangeAspect="1"/>
          </p:cNvGraphicFramePr>
          <p:nvPr/>
        </p:nvGraphicFramePr>
        <p:xfrm>
          <a:off x="1631504" y="1196752"/>
          <a:ext cx="7015162" cy="568325"/>
        </p:xfrm>
        <a:graphic>
          <a:graphicData uri="http://schemas.openxmlformats.org/presentationml/2006/ole">
            <mc:AlternateContent xmlns:mc="http://schemas.openxmlformats.org/markup-compatibility/2006">
              <mc:Choice xmlns:v="urn:schemas-microsoft-com:vml" Requires="v">
                <p:oleObj spid="_x0000_s2" name="Equation" r:id="rId3" imgW="67665600" imgH="5486400" progId="Equation.DSMT4">
                  <p:embed/>
                </p:oleObj>
              </mc:Choice>
              <mc:Fallback>
                <p:oleObj name="Equation" r:id="rId3" imgW="67665600" imgH="5486400" progId="Equation.DSMT4">
                  <p:embed/>
                  <p:pic>
                    <p:nvPicPr>
                      <p:cNvPr id="0" name="Object 7"/>
                      <p:cNvPicPr>
                        <a:picLocks noChangeAspect="1" noChangeArrowheads="1"/>
                      </p:cNvPicPr>
                      <p:nvPr/>
                    </p:nvPicPr>
                    <p:blipFill>
                      <a:blip r:embed="rId4"/>
                      <a:srcRect/>
                      <a:stretch>
                        <a:fillRect/>
                      </a:stretch>
                    </p:blipFill>
                    <p:spPr bwMode="auto">
                      <a:xfrm>
                        <a:off x="1631504" y="1196752"/>
                        <a:ext cx="7015162" cy="568325"/>
                      </a:xfrm>
                      <a:prstGeom prst="rect">
                        <a:avLst/>
                      </a:prstGeom>
                      <a:noFill/>
                      <a:ln>
                        <a:noFill/>
                      </a:ln>
                      <a:effectLst/>
                    </p:spPr>
                  </p:pic>
                </p:oleObj>
              </mc:Fallback>
            </mc:AlternateContent>
          </a:graphicData>
        </a:graphic>
      </p:graphicFrame>
      <p:graphicFrame>
        <p:nvGraphicFramePr>
          <p:cNvPr id="186376" name="Object 8"/>
          <p:cNvGraphicFramePr>
            <a:graphicFrameLocks noChangeAspect="1"/>
          </p:cNvGraphicFramePr>
          <p:nvPr/>
        </p:nvGraphicFramePr>
        <p:xfrm>
          <a:off x="2351584" y="2204864"/>
          <a:ext cx="7139745" cy="2969629"/>
        </p:xfrm>
        <a:graphic>
          <a:graphicData uri="http://schemas.openxmlformats.org/presentationml/2006/ole">
            <mc:AlternateContent xmlns:mc="http://schemas.openxmlformats.org/markup-compatibility/2006">
              <mc:Choice xmlns:v="urn:schemas-microsoft-com:vml" Requires="v">
                <p:oleObj spid="_x0000_s3" name="Equation" r:id="rId5" imgW="68884800" imgH="28651200" progId="Equation.DSMT4">
                  <p:embed/>
                </p:oleObj>
              </mc:Choice>
              <mc:Fallback>
                <p:oleObj name="Equation" r:id="rId5" imgW="68884800" imgH="28651200" progId="Equation.DSMT4">
                  <p:embed/>
                  <p:pic>
                    <p:nvPicPr>
                      <p:cNvPr id="0" name="Object 8"/>
                      <p:cNvPicPr>
                        <a:picLocks noChangeAspect="1" noChangeArrowheads="1"/>
                      </p:cNvPicPr>
                      <p:nvPr/>
                    </p:nvPicPr>
                    <p:blipFill>
                      <a:blip r:embed="rId6"/>
                      <a:srcRect/>
                      <a:stretch>
                        <a:fillRect/>
                      </a:stretch>
                    </p:blipFill>
                    <p:spPr bwMode="auto">
                      <a:xfrm>
                        <a:off x="2351584" y="2204864"/>
                        <a:ext cx="7139745" cy="2969629"/>
                      </a:xfrm>
                      <a:prstGeom prst="rect">
                        <a:avLst/>
                      </a:prstGeom>
                      <a:noFill/>
                      <a:ln>
                        <a:noFill/>
                      </a:ln>
                      <a:effectLst/>
                    </p:spPr>
                  </p:pic>
                </p:oleObj>
              </mc:Fallback>
            </mc:AlternateContent>
          </a:graphicData>
        </a:graphic>
      </p:graphicFrame>
      <p:cxnSp>
        <p:nvCxnSpPr>
          <p:cNvPr id="8"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矩形 8"/>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一、填空题</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0" name="组合 9"/>
          <p:cNvGrpSpPr/>
          <p:nvPr/>
        </p:nvGrpSpPr>
        <p:grpSpPr>
          <a:xfrm>
            <a:off x="851761" y="364781"/>
            <a:ext cx="263341" cy="395013"/>
            <a:chOff x="5284519" y="1508166"/>
            <a:chExt cx="213756" cy="427512"/>
          </a:xfrm>
        </p:grpSpPr>
        <p:cxnSp>
          <p:nvCxnSpPr>
            <p:cNvPr id="11" name="直接连接符 10"/>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2" name="直接连接符 11"/>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4" name="太阳形 3"/>
          <p:cNvSpPr/>
          <p:nvPr/>
        </p:nvSpPr>
        <p:spPr>
          <a:xfrm>
            <a:off x="10416480" y="476672"/>
            <a:ext cx="936104" cy="936104"/>
          </a:xfrm>
          <a:prstGeom prst="su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5" name="矩形 4"/>
          <p:cNvSpPr/>
          <p:nvPr/>
        </p:nvSpPr>
        <p:spPr>
          <a:xfrm>
            <a:off x="7896200" y="1196752"/>
            <a:ext cx="792088"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6375"/>
                                        </p:tgtEl>
                                        <p:attrNameLst>
                                          <p:attrName>style.visibility</p:attrName>
                                        </p:attrNameLst>
                                      </p:cBhvr>
                                      <p:to>
                                        <p:strVal val="visible"/>
                                      </p:to>
                                    </p:set>
                                    <p:animEffect transition="in" filter="fade">
                                      <p:cBhvr>
                                        <p:cTn id="7" dur="2000"/>
                                        <p:tgtEl>
                                          <p:spTgt spid="1863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6376"/>
                                        </p:tgtEl>
                                        <p:attrNameLst>
                                          <p:attrName>style.visibility</p:attrName>
                                        </p:attrNameLst>
                                      </p:cBhvr>
                                      <p:to>
                                        <p:strVal val="visible"/>
                                      </p:to>
                                    </p:set>
                                    <p:animEffect transition="in" filter="fade">
                                      <p:cBhvr>
                                        <p:cTn id="12" dur="2000"/>
                                        <p:tgtEl>
                                          <p:spTgt spid="186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87397" name="Object 5"/>
          <p:cNvGraphicFramePr>
            <a:graphicFrameLocks noChangeAspect="1"/>
          </p:cNvGraphicFramePr>
          <p:nvPr/>
        </p:nvGraphicFramePr>
        <p:xfrm>
          <a:off x="1631504" y="1347591"/>
          <a:ext cx="8804275" cy="1168400"/>
        </p:xfrm>
        <a:graphic>
          <a:graphicData uri="http://schemas.openxmlformats.org/presentationml/2006/ole">
            <mc:AlternateContent xmlns:mc="http://schemas.openxmlformats.org/markup-compatibility/2006">
              <mc:Choice xmlns:v="urn:schemas-microsoft-com:vml" Requires="v">
                <p:oleObj spid="_x0000_s206855" name="Equation" r:id="rId1" imgW="78943200" imgH="10972800" progId="Equation.DSMT4">
                  <p:embed/>
                </p:oleObj>
              </mc:Choice>
              <mc:Fallback>
                <p:oleObj name="Equation" r:id="rId1" imgW="78943200" imgH="10972800" progId="Equation.DSMT4">
                  <p:embed/>
                  <p:pic>
                    <p:nvPicPr>
                      <p:cNvPr id="0" name="Object 5"/>
                      <p:cNvPicPr>
                        <a:picLocks noChangeAspect="1" noChangeArrowheads="1"/>
                      </p:cNvPicPr>
                      <p:nvPr/>
                    </p:nvPicPr>
                    <p:blipFill>
                      <a:blip r:embed="rId2"/>
                      <a:srcRect/>
                      <a:stretch>
                        <a:fillRect/>
                      </a:stretch>
                    </p:blipFill>
                    <p:spPr bwMode="auto">
                      <a:xfrm>
                        <a:off x="1631504" y="1347591"/>
                        <a:ext cx="8804275" cy="1168400"/>
                      </a:xfrm>
                      <a:prstGeom prst="rect">
                        <a:avLst/>
                      </a:prstGeom>
                      <a:noFill/>
                      <a:ln>
                        <a:noFill/>
                      </a:ln>
                      <a:effectLst/>
                    </p:spPr>
                  </p:pic>
                </p:oleObj>
              </mc:Fallback>
            </mc:AlternateContent>
          </a:graphicData>
        </a:graphic>
      </p:graphicFrame>
      <p:graphicFrame>
        <p:nvGraphicFramePr>
          <p:cNvPr id="187398" name="Object 6"/>
          <p:cNvGraphicFramePr>
            <a:graphicFrameLocks noChangeAspect="1"/>
          </p:cNvGraphicFramePr>
          <p:nvPr/>
        </p:nvGraphicFramePr>
        <p:xfrm>
          <a:off x="2063552" y="2996952"/>
          <a:ext cx="5393821" cy="1775606"/>
        </p:xfrm>
        <a:graphic>
          <a:graphicData uri="http://schemas.openxmlformats.org/presentationml/2006/ole">
            <mc:AlternateContent xmlns:mc="http://schemas.openxmlformats.org/markup-compatibility/2006">
              <mc:Choice xmlns:v="urn:schemas-microsoft-com:vml" Requires="v">
                <p:oleObj spid="_x0000_s2" name="Equation" r:id="rId3" imgW="49072800" imgH="16154400" progId="Equation.DSMT4">
                  <p:embed/>
                </p:oleObj>
              </mc:Choice>
              <mc:Fallback>
                <p:oleObj name="Equation" r:id="rId3" imgW="49072800" imgH="16154400" progId="Equation.DSMT4">
                  <p:embed/>
                  <p:pic>
                    <p:nvPicPr>
                      <p:cNvPr id="0" name="Object 6"/>
                      <p:cNvPicPr>
                        <a:picLocks noChangeAspect="1" noChangeArrowheads="1"/>
                      </p:cNvPicPr>
                      <p:nvPr/>
                    </p:nvPicPr>
                    <p:blipFill>
                      <a:blip r:embed="rId4"/>
                      <a:srcRect/>
                      <a:stretch>
                        <a:fillRect/>
                      </a:stretch>
                    </p:blipFill>
                    <p:spPr bwMode="auto">
                      <a:xfrm>
                        <a:off x="2063552" y="2996952"/>
                        <a:ext cx="5393821" cy="1775606"/>
                      </a:xfrm>
                      <a:prstGeom prst="rect">
                        <a:avLst/>
                      </a:prstGeom>
                      <a:noFill/>
                      <a:ln>
                        <a:noFill/>
                      </a:ln>
                      <a:effectLst/>
                    </p:spPr>
                  </p:pic>
                </p:oleObj>
              </mc:Fallback>
            </mc:AlternateContent>
          </a:graphicData>
        </a:graphic>
      </p:graphicFrame>
      <p:cxnSp>
        <p:nvCxnSpPr>
          <p:cNvPr id="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一、填空题</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3" name="太阳形 2"/>
          <p:cNvSpPr/>
          <p:nvPr/>
        </p:nvSpPr>
        <p:spPr>
          <a:xfrm>
            <a:off x="10632504" y="620688"/>
            <a:ext cx="1080120" cy="1080120"/>
          </a:xfrm>
          <a:prstGeom prst="su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 name="矩形 3"/>
          <p:cNvSpPr/>
          <p:nvPr/>
        </p:nvSpPr>
        <p:spPr>
          <a:xfrm>
            <a:off x="4151784" y="1916832"/>
            <a:ext cx="648072"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7397"/>
                                        </p:tgtEl>
                                        <p:attrNameLst>
                                          <p:attrName>style.visibility</p:attrName>
                                        </p:attrNameLst>
                                      </p:cBhvr>
                                      <p:to>
                                        <p:strVal val="visible"/>
                                      </p:to>
                                    </p:set>
                                    <p:animEffect transition="in" filter="wipe(left)">
                                      <p:cBhvr>
                                        <p:cTn id="7" dur="500"/>
                                        <p:tgtEl>
                                          <p:spTgt spid="1873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7398"/>
                                        </p:tgtEl>
                                        <p:attrNameLst>
                                          <p:attrName>style.visibility</p:attrName>
                                        </p:attrNameLst>
                                      </p:cBhvr>
                                      <p:to>
                                        <p:strVal val="visible"/>
                                      </p:to>
                                    </p:set>
                                    <p:animEffect transition="in" filter="wipe(left)">
                                      <p:cBhvr>
                                        <p:cTn id="12" dur="500"/>
                                        <p:tgtEl>
                                          <p:spTgt spid="18739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xit" presetSubtype="21" fill="hold" grpId="0" nodeType="clickEffect">
                                  <p:stCondLst>
                                    <p:cond delay="0"/>
                                  </p:stCondLst>
                                  <p:childTnLst>
                                    <p:animEffect transition="out" filter="barn(inVertical)">
                                      <p:cBhvr>
                                        <p:cTn id="16" dur="500"/>
                                        <p:tgtEl>
                                          <p:spTgt spid="3"/>
                                        </p:tgtEl>
                                      </p:cBhvr>
                                    </p:animEffect>
                                    <p:set>
                                      <p:cBhvr>
                                        <p:cTn id="1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90470" name="Object 6"/>
          <p:cNvGraphicFramePr>
            <a:graphicFrameLocks noChangeAspect="1"/>
          </p:cNvGraphicFramePr>
          <p:nvPr/>
        </p:nvGraphicFramePr>
        <p:xfrm>
          <a:off x="1392384" y="1221228"/>
          <a:ext cx="8459788" cy="2122487"/>
        </p:xfrm>
        <a:graphic>
          <a:graphicData uri="http://schemas.openxmlformats.org/presentationml/2006/ole">
            <mc:AlternateContent xmlns:mc="http://schemas.openxmlformats.org/markup-compatibility/2006">
              <mc:Choice xmlns:v="urn:schemas-microsoft-com:vml" Requires="v">
                <p:oleObj spid="_x0000_s206855" name="Equation" r:id="rId1" imgW="82600800" imgH="20726400" progId="Equation.DSMT4">
                  <p:embed/>
                </p:oleObj>
              </mc:Choice>
              <mc:Fallback>
                <p:oleObj name="Equation" r:id="rId1" imgW="82600800" imgH="20726400" progId="Equation.DSMT4">
                  <p:embed/>
                  <p:pic>
                    <p:nvPicPr>
                      <p:cNvPr id="0" name="Object 6"/>
                      <p:cNvPicPr>
                        <a:picLocks noChangeAspect="1" noChangeArrowheads="1"/>
                      </p:cNvPicPr>
                      <p:nvPr/>
                    </p:nvPicPr>
                    <p:blipFill>
                      <a:blip r:embed="rId2"/>
                      <a:srcRect/>
                      <a:stretch>
                        <a:fillRect/>
                      </a:stretch>
                    </p:blipFill>
                    <p:spPr bwMode="auto">
                      <a:xfrm>
                        <a:off x="1392384" y="1221228"/>
                        <a:ext cx="8459788" cy="2122487"/>
                      </a:xfrm>
                      <a:prstGeom prst="rect">
                        <a:avLst/>
                      </a:prstGeom>
                      <a:noFill/>
                      <a:ln>
                        <a:noFill/>
                      </a:ln>
                      <a:effectLst/>
                    </p:spPr>
                  </p:pic>
                </p:oleObj>
              </mc:Fallback>
            </mc:AlternateContent>
          </a:graphicData>
        </a:graphic>
      </p:graphicFrame>
      <p:graphicFrame>
        <p:nvGraphicFramePr>
          <p:cNvPr id="190471" name="Object 7"/>
          <p:cNvGraphicFramePr>
            <a:graphicFrameLocks noChangeAspect="1"/>
          </p:cNvGraphicFramePr>
          <p:nvPr/>
        </p:nvGraphicFramePr>
        <p:xfrm>
          <a:off x="1919536" y="3514286"/>
          <a:ext cx="7183362" cy="2658160"/>
        </p:xfrm>
        <a:graphic>
          <a:graphicData uri="http://schemas.openxmlformats.org/presentationml/2006/ole">
            <mc:AlternateContent xmlns:mc="http://schemas.openxmlformats.org/markup-compatibility/2006">
              <mc:Choice xmlns:v="urn:schemas-microsoft-com:vml" Requires="v">
                <p:oleObj spid="_x0000_s2" name="Equation" r:id="rId3" imgW="69189600" imgH="25603200" progId="Equation.DSMT4">
                  <p:embed/>
                </p:oleObj>
              </mc:Choice>
              <mc:Fallback>
                <p:oleObj name="Equation" r:id="rId3" imgW="69189600" imgH="25603200" progId="Equation.DSMT4">
                  <p:embed/>
                  <p:pic>
                    <p:nvPicPr>
                      <p:cNvPr id="0" name="Object 7"/>
                      <p:cNvPicPr>
                        <a:picLocks noChangeAspect="1" noChangeArrowheads="1"/>
                      </p:cNvPicPr>
                      <p:nvPr/>
                    </p:nvPicPr>
                    <p:blipFill>
                      <a:blip r:embed="rId4"/>
                      <a:srcRect/>
                      <a:stretch>
                        <a:fillRect/>
                      </a:stretch>
                    </p:blipFill>
                    <p:spPr bwMode="auto">
                      <a:xfrm>
                        <a:off x="1919536" y="3514286"/>
                        <a:ext cx="7183362" cy="2658160"/>
                      </a:xfrm>
                      <a:prstGeom prst="rect">
                        <a:avLst/>
                      </a:prstGeom>
                      <a:noFill/>
                      <a:ln>
                        <a:noFill/>
                      </a:ln>
                      <a:effectLst/>
                    </p:spPr>
                  </p:pic>
                </p:oleObj>
              </mc:Fallback>
            </mc:AlternateContent>
          </a:graphicData>
        </a:graphic>
      </p:graphicFrame>
      <p:cxnSp>
        <p:nvCxnSpPr>
          <p:cNvPr id="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二、选择题</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3" name="太阳形 2"/>
          <p:cNvSpPr/>
          <p:nvPr/>
        </p:nvSpPr>
        <p:spPr>
          <a:xfrm>
            <a:off x="10560496" y="759795"/>
            <a:ext cx="1008112" cy="1008112"/>
          </a:xfrm>
          <a:prstGeom prst="su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 name="矩形 3"/>
          <p:cNvSpPr/>
          <p:nvPr/>
        </p:nvSpPr>
        <p:spPr>
          <a:xfrm>
            <a:off x="6672064" y="2060848"/>
            <a:ext cx="288032" cy="36004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0470"/>
                                        </p:tgtEl>
                                        <p:attrNameLst>
                                          <p:attrName>style.visibility</p:attrName>
                                        </p:attrNameLst>
                                      </p:cBhvr>
                                      <p:to>
                                        <p:strVal val="visible"/>
                                      </p:to>
                                    </p:set>
                                    <p:animEffect transition="in" filter="wipe(left)">
                                      <p:cBhvr>
                                        <p:cTn id="7" dur="500"/>
                                        <p:tgtEl>
                                          <p:spTgt spid="1904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0471"/>
                                        </p:tgtEl>
                                        <p:attrNameLst>
                                          <p:attrName>style.visibility</p:attrName>
                                        </p:attrNameLst>
                                      </p:cBhvr>
                                      <p:to>
                                        <p:strVal val="visible"/>
                                      </p:to>
                                    </p:set>
                                    <p:animEffect transition="in" filter="wipe(left)">
                                      <p:cBhvr>
                                        <p:cTn id="12" dur="500"/>
                                        <p:tgtEl>
                                          <p:spTgt spid="19047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xit" presetSubtype="21" fill="hold" grpId="0" nodeType="clickEffect">
                                  <p:stCondLst>
                                    <p:cond delay="0"/>
                                  </p:stCondLst>
                                  <p:childTnLst>
                                    <p:animEffect transition="out" filter="barn(inVertical)">
                                      <p:cBhvr>
                                        <p:cTn id="16" dur="500"/>
                                        <p:tgtEl>
                                          <p:spTgt spid="4"/>
                                        </p:tgtEl>
                                      </p:cBhvr>
                                    </p:animEffect>
                                    <p:set>
                                      <p:cBhvr>
                                        <p:cTn id="1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92517" name="Object 5"/>
          <p:cNvGraphicFramePr>
            <a:graphicFrameLocks noChangeAspect="1"/>
          </p:cNvGraphicFramePr>
          <p:nvPr/>
        </p:nvGraphicFramePr>
        <p:xfrm>
          <a:off x="1333617" y="1268760"/>
          <a:ext cx="9426575" cy="1674813"/>
        </p:xfrm>
        <a:graphic>
          <a:graphicData uri="http://schemas.openxmlformats.org/presentationml/2006/ole">
            <mc:AlternateContent xmlns:mc="http://schemas.openxmlformats.org/markup-compatibility/2006">
              <mc:Choice xmlns:v="urn:schemas-microsoft-com:vml" Requires="v">
                <p:oleObj spid="_x0000_s206855" name="Equation" r:id="rId1" imgW="92659200" imgH="16459200" progId="Equation.DSMT4">
                  <p:embed/>
                </p:oleObj>
              </mc:Choice>
              <mc:Fallback>
                <p:oleObj name="Equation" r:id="rId1" imgW="92659200" imgH="16459200" progId="Equation.DSMT4">
                  <p:embed/>
                  <p:pic>
                    <p:nvPicPr>
                      <p:cNvPr id="0" name="Object 5"/>
                      <p:cNvPicPr>
                        <a:picLocks noChangeAspect="1" noChangeArrowheads="1"/>
                      </p:cNvPicPr>
                      <p:nvPr/>
                    </p:nvPicPr>
                    <p:blipFill>
                      <a:blip r:embed="rId2"/>
                      <a:srcRect/>
                      <a:stretch>
                        <a:fillRect/>
                      </a:stretch>
                    </p:blipFill>
                    <p:spPr bwMode="auto">
                      <a:xfrm>
                        <a:off x="1333617" y="1268760"/>
                        <a:ext cx="9426575" cy="1674813"/>
                      </a:xfrm>
                      <a:prstGeom prst="rect">
                        <a:avLst/>
                      </a:prstGeom>
                      <a:noFill/>
                      <a:ln>
                        <a:noFill/>
                      </a:ln>
                      <a:effectLst/>
                    </p:spPr>
                  </p:pic>
                </p:oleObj>
              </mc:Fallback>
            </mc:AlternateContent>
          </a:graphicData>
        </a:graphic>
      </p:graphicFrame>
      <p:graphicFrame>
        <p:nvGraphicFramePr>
          <p:cNvPr id="192518" name="Object 6"/>
          <p:cNvGraphicFramePr>
            <a:graphicFrameLocks noChangeAspect="1"/>
          </p:cNvGraphicFramePr>
          <p:nvPr/>
        </p:nvGraphicFramePr>
        <p:xfrm>
          <a:off x="1919536" y="3420062"/>
          <a:ext cx="6696734" cy="1643180"/>
        </p:xfrm>
        <a:graphic>
          <a:graphicData uri="http://schemas.openxmlformats.org/presentationml/2006/ole">
            <mc:AlternateContent xmlns:mc="http://schemas.openxmlformats.org/markup-compatibility/2006">
              <mc:Choice xmlns:v="urn:schemas-microsoft-com:vml" Requires="v">
                <p:oleObj spid="_x0000_s2" name="Equation" r:id="rId3" imgW="65836800" imgH="16154400" progId="Equation.DSMT4">
                  <p:embed/>
                </p:oleObj>
              </mc:Choice>
              <mc:Fallback>
                <p:oleObj name="Equation" r:id="rId3" imgW="65836800" imgH="16154400" progId="Equation.DSMT4">
                  <p:embed/>
                  <p:pic>
                    <p:nvPicPr>
                      <p:cNvPr id="0" name="Object 6"/>
                      <p:cNvPicPr>
                        <a:picLocks noChangeAspect="1" noChangeArrowheads="1"/>
                      </p:cNvPicPr>
                      <p:nvPr/>
                    </p:nvPicPr>
                    <p:blipFill>
                      <a:blip r:embed="rId4"/>
                      <a:srcRect/>
                      <a:stretch>
                        <a:fillRect/>
                      </a:stretch>
                    </p:blipFill>
                    <p:spPr bwMode="auto">
                      <a:xfrm>
                        <a:off x="1919536" y="3420062"/>
                        <a:ext cx="6696734" cy="1643180"/>
                      </a:xfrm>
                      <a:prstGeom prst="rect">
                        <a:avLst/>
                      </a:prstGeom>
                      <a:noFill/>
                      <a:ln>
                        <a:noFill/>
                      </a:ln>
                      <a:effectLst/>
                    </p:spPr>
                  </p:pic>
                </p:oleObj>
              </mc:Fallback>
            </mc:AlternateContent>
          </a:graphicData>
        </a:graphic>
      </p:graphicFrame>
      <p:cxnSp>
        <p:nvCxnSpPr>
          <p:cNvPr id="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二、选择题</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3" name="矩形 2"/>
          <p:cNvSpPr/>
          <p:nvPr/>
        </p:nvSpPr>
        <p:spPr>
          <a:xfrm>
            <a:off x="10482737" y="1251507"/>
            <a:ext cx="271704"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太阳形 3"/>
          <p:cNvSpPr/>
          <p:nvPr/>
        </p:nvSpPr>
        <p:spPr>
          <a:xfrm>
            <a:off x="10780663" y="364781"/>
            <a:ext cx="1152128" cy="1152128"/>
          </a:xfrm>
          <a:prstGeom prst="su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Tree>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2517"/>
                                        </p:tgtEl>
                                        <p:attrNameLst>
                                          <p:attrName>style.visibility</p:attrName>
                                        </p:attrNameLst>
                                      </p:cBhvr>
                                      <p:to>
                                        <p:strVal val="visible"/>
                                      </p:to>
                                    </p:set>
                                    <p:animEffect transition="in" filter="wipe(left)">
                                      <p:cBhvr>
                                        <p:cTn id="7" dur="500"/>
                                        <p:tgtEl>
                                          <p:spTgt spid="1925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2518"/>
                                        </p:tgtEl>
                                        <p:attrNameLst>
                                          <p:attrName>style.visibility</p:attrName>
                                        </p:attrNameLst>
                                      </p:cBhvr>
                                      <p:to>
                                        <p:strVal val="visible"/>
                                      </p:to>
                                    </p:set>
                                    <p:animEffect transition="in" filter="wipe(left)">
                                      <p:cBhvr>
                                        <p:cTn id="12" dur="500"/>
                                        <p:tgtEl>
                                          <p:spTgt spid="192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4" name="Rectangle 14"/>
          <p:cNvSpPr>
            <a:spLocks noChangeArrowheads="1"/>
          </p:cNvSpPr>
          <p:nvPr/>
        </p:nvSpPr>
        <p:spPr bwMode="auto">
          <a:xfrm>
            <a:off x="1335307" y="1118783"/>
            <a:ext cx="75243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设随机变量</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服从几何分布，概率分布为</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2175" name="Rectangle 15"/>
          <p:cNvSpPr>
            <a:spLocks noChangeArrowheads="1"/>
          </p:cNvSpPr>
          <p:nvPr/>
        </p:nvSpPr>
        <p:spPr bwMode="auto">
          <a:xfrm>
            <a:off x="3183784" y="1715969"/>
            <a:ext cx="419698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=1,2,…</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2176" name="Rectangle 16"/>
          <p:cNvSpPr>
            <a:spLocks noChangeArrowheads="1"/>
          </p:cNvSpPr>
          <p:nvPr/>
        </p:nvSpPr>
        <p:spPr bwMode="auto">
          <a:xfrm>
            <a:off x="2041341" y="2348910"/>
            <a:ext cx="440697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其中0</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&lt;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&lt;1</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求</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1" name="直接连接符 10"/>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五、课堂练习</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8" name="Rectangle 19"/>
          <p:cNvSpPr>
            <a:spLocks noChangeArrowheads="1"/>
          </p:cNvSpPr>
          <p:nvPr/>
        </p:nvSpPr>
        <p:spPr bwMode="auto">
          <a:xfrm>
            <a:off x="1487488" y="3266908"/>
            <a:ext cx="90281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zh-CN" sz="2800" b="1" dirty="0">
                <a:latin typeface="Times New Roman" panose="02020603050405020304" pitchFamily="18" charset="0"/>
                <a:ea typeface="微软雅黑" panose="020B0503020204020204" pitchFamily="34" charset="-122"/>
                <a:sym typeface="Times New Roman" panose="02020603050405020304" pitchFamily="18" charset="0"/>
              </a:rPr>
              <a:t>解：</a:t>
            </a:r>
            <a:endPar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 name="Rectangle 20"/>
          <p:cNvSpPr>
            <a:spLocks noChangeArrowheads="1"/>
          </p:cNvSpPr>
          <p:nvPr/>
        </p:nvSpPr>
        <p:spPr bwMode="auto">
          <a:xfrm>
            <a:off x="2196828" y="3266908"/>
            <a:ext cx="217805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zh-CN" sz="2800" b="1" dirty="0">
                <a:latin typeface="Times New Roman" panose="02020603050405020304" pitchFamily="18" charset="0"/>
                <a:ea typeface="微软雅黑" panose="020B0503020204020204" pitchFamily="34" charset="-122"/>
                <a:sym typeface="Times New Roman" panose="02020603050405020304" pitchFamily="18" charset="0"/>
              </a:rPr>
              <a:t>记</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q</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p</a:t>
            </a:r>
            <a:endPar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0" name="Object 21"/>
          <p:cNvGraphicFramePr>
            <a:graphicFrameLocks noChangeAspect="1"/>
          </p:cNvGraphicFramePr>
          <p:nvPr/>
        </p:nvGraphicFramePr>
        <p:xfrm>
          <a:off x="2598729" y="3985871"/>
          <a:ext cx="2476054" cy="963485"/>
        </p:xfrm>
        <a:graphic>
          <a:graphicData uri="http://schemas.openxmlformats.org/presentationml/2006/ole">
            <mc:AlternateContent xmlns:mc="http://schemas.openxmlformats.org/markup-compatibility/2006">
              <mc:Choice xmlns:v="urn:schemas-microsoft-com:vml" Requires="v">
                <p:oleObj spid="_x0000_s206855" name="Equation" r:id="rId1" imgW="26517600" imgH="10363200" progId="Equation.DSMT4">
                  <p:embed/>
                </p:oleObj>
              </mc:Choice>
              <mc:Fallback>
                <p:oleObj name="Equation" r:id="rId1" imgW="26517600" imgH="10363200" progId="Equation.DSMT4">
                  <p:embed/>
                  <p:pic>
                    <p:nvPicPr>
                      <p:cNvPr id="0" name="Object 21"/>
                      <p:cNvPicPr>
                        <a:picLocks noChangeAspect="1" noChangeArrowheads="1"/>
                      </p:cNvPicPr>
                      <p:nvPr/>
                    </p:nvPicPr>
                    <p:blipFill>
                      <a:blip r:embed="rId2"/>
                      <a:srcRect/>
                      <a:stretch>
                        <a:fillRect/>
                      </a:stretch>
                    </p:blipFill>
                    <p:spPr bwMode="auto">
                      <a:xfrm>
                        <a:off x="2598729" y="3985871"/>
                        <a:ext cx="2476054" cy="963485"/>
                      </a:xfrm>
                      <a:prstGeom prst="rect">
                        <a:avLst/>
                      </a:prstGeom>
                      <a:noFill/>
                      <a:ln>
                        <a:noFill/>
                      </a:ln>
                      <a:effectLst/>
                    </p:spPr>
                  </p:pic>
                </p:oleObj>
              </mc:Fallback>
            </mc:AlternateContent>
          </a:graphicData>
        </a:graphic>
      </p:graphicFrame>
      <p:graphicFrame>
        <p:nvGraphicFramePr>
          <p:cNvPr id="21" name="Object 22"/>
          <p:cNvGraphicFramePr>
            <a:graphicFrameLocks noChangeAspect="1"/>
          </p:cNvGraphicFramePr>
          <p:nvPr/>
        </p:nvGraphicFramePr>
        <p:xfrm>
          <a:off x="5044213" y="3954043"/>
          <a:ext cx="1675739" cy="962190"/>
        </p:xfrm>
        <a:graphic>
          <a:graphicData uri="http://schemas.openxmlformats.org/presentationml/2006/ole">
            <mc:AlternateContent xmlns:mc="http://schemas.openxmlformats.org/markup-compatibility/2006">
              <mc:Choice xmlns:v="urn:schemas-microsoft-com:vml" Requires="v">
                <p:oleObj spid="_x0000_s2" name="Equation" r:id="rId3" imgW="17983200" imgH="10363200" progId="Equation.DSMT4">
                  <p:embed/>
                </p:oleObj>
              </mc:Choice>
              <mc:Fallback>
                <p:oleObj name="Equation" r:id="rId3" imgW="17983200" imgH="10363200" progId="Equation.DSMT4">
                  <p:embed/>
                  <p:pic>
                    <p:nvPicPr>
                      <p:cNvPr id="0" name="Object 22"/>
                      <p:cNvPicPr>
                        <a:picLocks noChangeAspect="1" noChangeArrowheads="1"/>
                      </p:cNvPicPr>
                      <p:nvPr/>
                    </p:nvPicPr>
                    <p:blipFill>
                      <a:blip r:embed="rId4"/>
                      <a:srcRect/>
                      <a:stretch>
                        <a:fillRect/>
                      </a:stretch>
                    </p:blipFill>
                    <p:spPr bwMode="auto">
                      <a:xfrm>
                        <a:off x="5044213" y="3954043"/>
                        <a:ext cx="1675739" cy="962190"/>
                      </a:xfrm>
                      <a:prstGeom prst="rect">
                        <a:avLst/>
                      </a:prstGeom>
                      <a:noFill/>
                      <a:ln>
                        <a:noFill/>
                      </a:ln>
                      <a:effectLst/>
                    </p:spPr>
                  </p:pic>
                </p:oleObj>
              </mc:Fallback>
            </mc:AlternateContent>
          </a:graphicData>
        </a:graphic>
      </p:graphicFrame>
      <p:graphicFrame>
        <p:nvGraphicFramePr>
          <p:cNvPr id="22" name="Object 23"/>
          <p:cNvGraphicFramePr>
            <a:graphicFrameLocks noChangeAspect="1"/>
          </p:cNvGraphicFramePr>
          <p:nvPr/>
        </p:nvGraphicFramePr>
        <p:xfrm>
          <a:off x="6726863" y="3968387"/>
          <a:ext cx="1737900" cy="998451"/>
        </p:xfrm>
        <a:graphic>
          <a:graphicData uri="http://schemas.openxmlformats.org/presentationml/2006/ole">
            <mc:AlternateContent xmlns:mc="http://schemas.openxmlformats.org/markup-compatibility/2006">
              <mc:Choice xmlns:v="urn:schemas-microsoft-com:vml" Requires="v">
                <p:oleObj spid="_x0000_s3" name="Equation" r:id="rId5" imgW="17983200" imgH="10363200" progId="Equation.DSMT4">
                  <p:embed/>
                </p:oleObj>
              </mc:Choice>
              <mc:Fallback>
                <p:oleObj name="Equation" r:id="rId5" imgW="17983200" imgH="10363200" progId="Equation.DSMT4">
                  <p:embed/>
                  <p:pic>
                    <p:nvPicPr>
                      <p:cNvPr id="0" name="Object 23"/>
                      <p:cNvPicPr>
                        <a:picLocks noChangeAspect="1" noChangeArrowheads="1"/>
                      </p:cNvPicPr>
                      <p:nvPr/>
                    </p:nvPicPr>
                    <p:blipFill>
                      <a:blip r:embed="rId6"/>
                      <a:srcRect/>
                      <a:stretch>
                        <a:fillRect/>
                      </a:stretch>
                    </p:blipFill>
                    <p:spPr bwMode="auto">
                      <a:xfrm>
                        <a:off x="6726863" y="3968387"/>
                        <a:ext cx="1737900" cy="998451"/>
                      </a:xfrm>
                      <a:prstGeom prst="rect">
                        <a:avLst/>
                      </a:prstGeom>
                      <a:noFill/>
                      <a:ln>
                        <a:noFill/>
                      </a:ln>
                      <a:effectLst/>
                    </p:spPr>
                  </p:pic>
                </p:oleObj>
              </mc:Fallback>
            </mc:AlternateContent>
          </a:graphicData>
        </a:graphic>
      </p:graphicFrame>
      <p:graphicFrame>
        <p:nvGraphicFramePr>
          <p:cNvPr id="23" name="Object 24"/>
          <p:cNvGraphicFramePr>
            <a:graphicFrameLocks noChangeAspect="1"/>
          </p:cNvGraphicFramePr>
          <p:nvPr/>
        </p:nvGraphicFramePr>
        <p:xfrm>
          <a:off x="8438148" y="4001396"/>
          <a:ext cx="1569549" cy="941470"/>
        </p:xfrm>
        <a:graphic>
          <a:graphicData uri="http://schemas.openxmlformats.org/presentationml/2006/ole">
            <mc:AlternateContent xmlns:mc="http://schemas.openxmlformats.org/markup-compatibility/2006">
              <mc:Choice xmlns:v="urn:schemas-microsoft-com:vml" Requires="v">
                <p:oleObj spid="_x0000_s4" name="Equation" r:id="rId7" imgW="16764000" imgH="10058400" progId="Equation.DSMT4">
                  <p:embed/>
                </p:oleObj>
              </mc:Choice>
              <mc:Fallback>
                <p:oleObj name="Equation" r:id="rId7" imgW="16764000" imgH="10058400" progId="Equation.DSMT4">
                  <p:embed/>
                  <p:pic>
                    <p:nvPicPr>
                      <p:cNvPr id="0" name="Object 24"/>
                      <p:cNvPicPr>
                        <a:picLocks noChangeAspect="1" noChangeArrowheads="1"/>
                      </p:cNvPicPr>
                      <p:nvPr/>
                    </p:nvPicPr>
                    <p:blipFill>
                      <a:blip r:embed="rId8"/>
                      <a:srcRect/>
                      <a:stretch>
                        <a:fillRect/>
                      </a:stretch>
                    </p:blipFill>
                    <p:spPr bwMode="auto">
                      <a:xfrm>
                        <a:off x="8438148" y="4001396"/>
                        <a:ext cx="1569549" cy="941470"/>
                      </a:xfrm>
                      <a:prstGeom prst="rect">
                        <a:avLst/>
                      </a:prstGeom>
                      <a:noFill/>
                      <a:ln>
                        <a:noFill/>
                      </a:ln>
                      <a:effectLst/>
                    </p:spPr>
                  </p:pic>
                </p:oleObj>
              </mc:Fallback>
            </mc:AlternateContent>
          </a:graphicData>
        </a:graphic>
      </p:graphicFrame>
      <p:graphicFrame>
        <p:nvGraphicFramePr>
          <p:cNvPr id="24" name="Object 25"/>
          <p:cNvGraphicFramePr>
            <a:graphicFrameLocks noChangeAspect="1"/>
          </p:cNvGraphicFramePr>
          <p:nvPr/>
        </p:nvGraphicFramePr>
        <p:xfrm>
          <a:off x="3523364" y="5164093"/>
          <a:ext cx="626784" cy="905211"/>
        </p:xfrm>
        <a:graphic>
          <a:graphicData uri="http://schemas.openxmlformats.org/presentationml/2006/ole">
            <mc:AlternateContent xmlns:mc="http://schemas.openxmlformats.org/markup-compatibility/2006">
              <mc:Choice xmlns:v="urn:schemas-microsoft-com:vml" Requires="v">
                <p:oleObj spid="_x0000_s5" name="Equation" r:id="rId9" imgW="7010400" imgH="10058400" progId="Equation.DSMT4">
                  <p:embed/>
                </p:oleObj>
              </mc:Choice>
              <mc:Fallback>
                <p:oleObj name="Equation" r:id="rId9" imgW="7010400" imgH="10058400" progId="Equation.DSMT4">
                  <p:embed/>
                  <p:pic>
                    <p:nvPicPr>
                      <p:cNvPr id="0" name="Object 25"/>
                      <p:cNvPicPr>
                        <a:picLocks noChangeAspect="1" noChangeArrowheads="1"/>
                      </p:cNvPicPr>
                      <p:nvPr/>
                    </p:nvPicPr>
                    <p:blipFill>
                      <a:blip r:embed="rId10"/>
                      <a:srcRect/>
                      <a:stretch>
                        <a:fillRect/>
                      </a:stretch>
                    </p:blipFill>
                    <p:spPr bwMode="auto">
                      <a:xfrm>
                        <a:off x="3523364" y="5164093"/>
                        <a:ext cx="626784" cy="905211"/>
                      </a:xfrm>
                      <a:prstGeom prst="rect">
                        <a:avLst/>
                      </a:prstGeom>
                      <a:noFill/>
                      <a:ln>
                        <a:noFill/>
                      </a:ln>
                      <a:effectLst/>
                    </p:spPr>
                  </p:pic>
                </p:oleObj>
              </mc:Fallback>
            </mc:AlternateContent>
          </a:graphicData>
        </a:graphic>
      </p:graphicFrame>
      <p:sp>
        <p:nvSpPr>
          <p:cNvPr id="25" name="AutoShape 26"/>
          <p:cNvSpPr>
            <a:spLocks noChangeArrowheads="1"/>
          </p:cNvSpPr>
          <p:nvPr/>
        </p:nvSpPr>
        <p:spPr bwMode="auto">
          <a:xfrm>
            <a:off x="7680176" y="5243917"/>
            <a:ext cx="1744414" cy="990600"/>
          </a:xfrm>
          <a:prstGeom prst="wedgeRectCallout">
            <a:avLst>
              <a:gd name="adj1" fmla="val -34622"/>
              <a:gd name="adj2" fmla="val -94819"/>
            </a:avLst>
          </a:prstGeom>
          <a:solidFill>
            <a:srgbClr val="C00000"/>
          </a:solidFill>
          <a:ln w="9525">
            <a:solidFill>
              <a:schemeClr val="tx1"/>
            </a:solidFill>
            <a:miter lim="800000"/>
          </a:ln>
          <a:effectLst/>
        </p:spPr>
        <p:txBody>
          <a:bodyPr wrap="none" anchor="ctr"/>
          <a:lstStyle/>
          <a:p>
            <a:pPr algn="ctr" eaLnBrk="1" hangingPunct="1">
              <a:spcBef>
                <a:spcPct val="50000"/>
              </a:spcBef>
            </a:pPr>
            <a:r>
              <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求和与求导</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spcBef>
                <a:spcPct val="50000"/>
              </a:spcBef>
            </a:pPr>
            <a:r>
              <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交换次序</a:t>
            </a:r>
            <a:endParaRPr lang="zh-CN" altLang="en-US"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AutoShape 27"/>
          <p:cNvSpPr>
            <a:spLocks noChangeArrowheads="1"/>
          </p:cNvSpPr>
          <p:nvPr/>
        </p:nvSpPr>
        <p:spPr bwMode="auto">
          <a:xfrm>
            <a:off x="9222922" y="2692010"/>
            <a:ext cx="2209800" cy="1066800"/>
          </a:xfrm>
          <a:prstGeom prst="wedgeRectCallout">
            <a:avLst>
              <a:gd name="adj1" fmla="val -44536"/>
              <a:gd name="adj2" fmla="val 82146"/>
            </a:avLst>
          </a:prstGeom>
          <a:solidFill>
            <a:srgbClr val="C00000"/>
          </a:solidFill>
          <a:ln w="9525">
            <a:solidFill>
              <a:schemeClr val="tx1"/>
            </a:solidFill>
            <a:miter lim="800000"/>
          </a:ln>
          <a:effectLst/>
        </p:spPr>
        <p:txBody>
          <a:bodyPr wrap="none" anchor="ctr"/>
          <a:lstStyle/>
          <a:p>
            <a:pPr algn="ctr" eaLnBrk="1" hangingPunct="1">
              <a:spcBef>
                <a:spcPct val="50000"/>
              </a:spcBef>
            </a:pPr>
            <a:r>
              <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无穷递缩等比</a:t>
            </a:r>
            <a:endPar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spcBef>
                <a:spcPct val="50000"/>
              </a:spcBef>
            </a:pPr>
            <a:r>
              <a:rPr lang="zh-CN" altLang="en-US" sz="24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级数求和公式</a:t>
            </a:r>
            <a:endParaRPr lang="zh-CN" altLang="en-US"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2174"/>
                                        </p:tgtEl>
                                        <p:attrNameLst>
                                          <p:attrName>style.visibility</p:attrName>
                                        </p:attrNameLst>
                                      </p:cBhvr>
                                      <p:to>
                                        <p:strVal val="visible"/>
                                      </p:to>
                                    </p:set>
                                    <p:anim calcmode="lin" valueType="num">
                                      <p:cBhvr additive="base">
                                        <p:cTn id="7" dur="500" fill="hold"/>
                                        <p:tgtEl>
                                          <p:spTgt spid="92174"/>
                                        </p:tgtEl>
                                        <p:attrNameLst>
                                          <p:attrName>ppt_x</p:attrName>
                                        </p:attrNameLst>
                                      </p:cBhvr>
                                      <p:tavLst>
                                        <p:tav tm="0">
                                          <p:val>
                                            <p:strVal val="0-#ppt_w/2"/>
                                          </p:val>
                                        </p:tav>
                                        <p:tav tm="100000">
                                          <p:val>
                                            <p:strVal val="#ppt_x"/>
                                          </p:val>
                                        </p:tav>
                                      </p:tavLst>
                                    </p:anim>
                                    <p:anim calcmode="lin" valueType="num">
                                      <p:cBhvr additive="base">
                                        <p:cTn id="8" dur="500" fill="hold"/>
                                        <p:tgtEl>
                                          <p:spTgt spid="921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2175"/>
                                        </p:tgtEl>
                                        <p:attrNameLst>
                                          <p:attrName>style.visibility</p:attrName>
                                        </p:attrNameLst>
                                      </p:cBhvr>
                                      <p:to>
                                        <p:strVal val="visible"/>
                                      </p:to>
                                    </p:set>
                                    <p:anim calcmode="lin" valueType="num">
                                      <p:cBhvr additive="base">
                                        <p:cTn id="13" dur="500" fill="hold"/>
                                        <p:tgtEl>
                                          <p:spTgt spid="92175"/>
                                        </p:tgtEl>
                                        <p:attrNameLst>
                                          <p:attrName>ppt_x</p:attrName>
                                        </p:attrNameLst>
                                      </p:cBhvr>
                                      <p:tavLst>
                                        <p:tav tm="0">
                                          <p:val>
                                            <p:strVal val="0-#ppt_w/2"/>
                                          </p:val>
                                        </p:tav>
                                        <p:tav tm="100000">
                                          <p:val>
                                            <p:strVal val="#ppt_x"/>
                                          </p:val>
                                        </p:tav>
                                      </p:tavLst>
                                    </p:anim>
                                    <p:anim calcmode="lin" valueType="num">
                                      <p:cBhvr additive="base">
                                        <p:cTn id="14" dur="500" fill="hold"/>
                                        <p:tgtEl>
                                          <p:spTgt spid="9217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2176"/>
                                        </p:tgtEl>
                                        <p:attrNameLst>
                                          <p:attrName>style.visibility</p:attrName>
                                        </p:attrNameLst>
                                      </p:cBhvr>
                                      <p:to>
                                        <p:strVal val="visible"/>
                                      </p:to>
                                    </p:set>
                                    <p:anim calcmode="lin" valueType="num">
                                      <p:cBhvr additive="base">
                                        <p:cTn id="19" dur="500" fill="hold"/>
                                        <p:tgtEl>
                                          <p:spTgt spid="92176"/>
                                        </p:tgtEl>
                                        <p:attrNameLst>
                                          <p:attrName>ppt_x</p:attrName>
                                        </p:attrNameLst>
                                      </p:cBhvr>
                                      <p:tavLst>
                                        <p:tav tm="0">
                                          <p:val>
                                            <p:strVal val="0-#ppt_w/2"/>
                                          </p:val>
                                        </p:tav>
                                        <p:tav tm="100000">
                                          <p:val>
                                            <p:strVal val="#ppt_x"/>
                                          </p:val>
                                        </p:tav>
                                      </p:tavLst>
                                    </p:anim>
                                    <p:anim calcmode="lin" valueType="num">
                                      <p:cBhvr additive="base">
                                        <p:cTn id="20" dur="500" fill="hold"/>
                                        <p:tgtEl>
                                          <p:spTgt spid="9217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0-#ppt_w/2"/>
                                          </p:val>
                                        </p:tav>
                                        <p:tav tm="100000">
                                          <p:val>
                                            <p:strVal val="#ppt_x"/>
                                          </p:val>
                                        </p:tav>
                                      </p:tavLst>
                                    </p:anim>
                                    <p:anim calcmode="lin" valueType="num">
                                      <p:cBhvr additive="base">
                                        <p:cTn id="26" dur="500" fill="hold"/>
                                        <p:tgtEl>
                                          <p:spTgt spid="18"/>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2" presetClass="entr" presetSubtype="2" fill="hold" grpId="0" nodeType="after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fill="hold"/>
                                        <p:tgtEl>
                                          <p:spTgt spid="19"/>
                                        </p:tgtEl>
                                        <p:attrNameLst>
                                          <p:attrName>ppt_x</p:attrName>
                                        </p:attrNameLst>
                                      </p:cBhvr>
                                      <p:tavLst>
                                        <p:tav tm="0">
                                          <p:val>
                                            <p:strVal val="1+#ppt_w/2"/>
                                          </p:val>
                                        </p:tav>
                                        <p:tav tm="100000">
                                          <p:val>
                                            <p:strVal val="#ppt_x"/>
                                          </p:val>
                                        </p:tav>
                                      </p:tavLst>
                                    </p:anim>
                                    <p:anim calcmode="lin" valueType="num">
                                      <p:cBhvr additive="base">
                                        <p:cTn id="31"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0"/>
                                        </p:tgtEl>
                                        <p:attrNameLst>
                                          <p:attrName>style.visibility</p:attrName>
                                        </p:attrNameLst>
                                      </p:cBhvr>
                                      <p:to>
                                        <p:strVal val="visible"/>
                                      </p:to>
                                    </p:set>
                                    <p:anim calcmode="lin" valueType="num">
                                      <p:cBhvr additive="base">
                                        <p:cTn id="36" dur="500" fill="hold"/>
                                        <p:tgtEl>
                                          <p:spTgt spid="20"/>
                                        </p:tgtEl>
                                        <p:attrNameLst>
                                          <p:attrName>ppt_x</p:attrName>
                                        </p:attrNameLst>
                                      </p:cBhvr>
                                      <p:tavLst>
                                        <p:tav tm="0">
                                          <p:val>
                                            <p:strVal val="#ppt_x"/>
                                          </p:val>
                                        </p:tav>
                                        <p:tav tm="100000">
                                          <p:val>
                                            <p:strVal val="#ppt_x"/>
                                          </p:val>
                                        </p:tav>
                                      </p:tavLst>
                                    </p:anim>
                                    <p:anim calcmode="lin" valueType="num">
                                      <p:cBhvr additive="base">
                                        <p:cTn id="3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additive="base">
                                        <p:cTn id="42" dur="500" fill="hold"/>
                                        <p:tgtEl>
                                          <p:spTgt spid="21"/>
                                        </p:tgtEl>
                                        <p:attrNameLst>
                                          <p:attrName>ppt_x</p:attrName>
                                        </p:attrNameLst>
                                      </p:cBhvr>
                                      <p:tavLst>
                                        <p:tav tm="0">
                                          <p:val>
                                            <p:strVal val="1+#ppt_w/2"/>
                                          </p:val>
                                        </p:tav>
                                        <p:tav tm="100000">
                                          <p:val>
                                            <p:strVal val="#ppt_x"/>
                                          </p:val>
                                        </p:tav>
                                      </p:tavLst>
                                    </p:anim>
                                    <p:anim calcmode="lin" valueType="num">
                                      <p:cBhvr additive="base">
                                        <p:cTn id="43"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anim calcmode="lin" valueType="num">
                                      <p:cBhvr additive="base">
                                        <p:cTn id="48" dur="500" fill="hold"/>
                                        <p:tgtEl>
                                          <p:spTgt spid="22"/>
                                        </p:tgtEl>
                                        <p:attrNameLst>
                                          <p:attrName>ppt_x</p:attrName>
                                        </p:attrNameLst>
                                      </p:cBhvr>
                                      <p:tavLst>
                                        <p:tav tm="0">
                                          <p:val>
                                            <p:strVal val="1+#ppt_w/2"/>
                                          </p:val>
                                        </p:tav>
                                        <p:tav tm="100000">
                                          <p:val>
                                            <p:strVal val="#ppt_x"/>
                                          </p:val>
                                        </p:tav>
                                      </p:tavLst>
                                    </p:anim>
                                    <p:anim calcmode="lin" valueType="num">
                                      <p:cBhvr additive="base">
                                        <p:cTn id="49" dur="500" fill="hold"/>
                                        <p:tgtEl>
                                          <p:spTgt spid="22"/>
                                        </p:tgtEl>
                                        <p:attrNameLst>
                                          <p:attrName>ppt_y</p:attrName>
                                        </p:attrNameLst>
                                      </p:cBhvr>
                                      <p:tavLst>
                                        <p:tav tm="0">
                                          <p:val>
                                            <p:strVal val="#ppt_y"/>
                                          </p:val>
                                        </p:tav>
                                        <p:tav tm="100000">
                                          <p:val>
                                            <p:strVal val="#ppt_y"/>
                                          </p:val>
                                        </p:tav>
                                      </p:tavLst>
                                    </p:anim>
                                  </p:childTnLst>
                                </p:cTn>
                              </p:par>
                            </p:childTnLst>
                          </p:cTn>
                        </p:par>
                        <p:par>
                          <p:cTn id="50" fill="hold">
                            <p:stCondLst>
                              <p:cond delay="500"/>
                            </p:stCondLst>
                            <p:childTnLst>
                              <p:par>
                                <p:cTn id="51" presetID="2" presetClass="entr" presetSubtype="8" fill="hold" nodeType="afterEffect">
                                  <p:stCondLst>
                                    <p:cond delay="0"/>
                                  </p:stCondLst>
                                  <p:childTnLst>
                                    <p:set>
                                      <p:cBhvr>
                                        <p:cTn id="52" dur="1" fill="hold">
                                          <p:stCondLst>
                                            <p:cond delay="0"/>
                                          </p:stCondLst>
                                        </p:cTn>
                                        <p:tgtEl>
                                          <p:spTgt spid="25"/>
                                        </p:tgtEl>
                                        <p:attrNameLst>
                                          <p:attrName>style.visibility</p:attrName>
                                        </p:attrNameLst>
                                      </p:cBhvr>
                                      <p:to>
                                        <p:strVal val="visible"/>
                                      </p:to>
                                    </p:set>
                                    <p:anim calcmode="lin" valueType="num">
                                      <p:cBhvr additive="base">
                                        <p:cTn id="53" dur="500" fill="hold"/>
                                        <p:tgtEl>
                                          <p:spTgt spid="25"/>
                                        </p:tgtEl>
                                        <p:attrNameLst>
                                          <p:attrName>ppt_x</p:attrName>
                                        </p:attrNameLst>
                                      </p:cBhvr>
                                      <p:tavLst>
                                        <p:tav tm="0">
                                          <p:val>
                                            <p:strVal val="0-#ppt_w/2"/>
                                          </p:val>
                                        </p:tav>
                                        <p:tav tm="100000">
                                          <p:val>
                                            <p:strVal val="#ppt_x"/>
                                          </p:val>
                                        </p:tav>
                                      </p:tavLst>
                                    </p:anim>
                                    <p:anim calcmode="lin" valueType="num">
                                      <p:cBhvr additive="base">
                                        <p:cTn id="54"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nodeType="click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additive="base">
                                        <p:cTn id="59" dur="500" fill="hold"/>
                                        <p:tgtEl>
                                          <p:spTgt spid="23"/>
                                        </p:tgtEl>
                                        <p:attrNameLst>
                                          <p:attrName>ppt_x</p:attrName>
                                        </p:attrNameLst>
                                      </p:cBhvr>
                                      <p:tavLst>
                                        <p:tav tm="0">
                                          <p:val>
                                            <p:strVal val="1+#ppt_w/2"/>
                                          </p:val>
                                        </p:tav>
                                        <p:tav tm="100000">
                                          <p:val>
                                            <p:strVal val="#ppt_x"/>
                                          </p:val>
                                        </p:tav>
                                      </p:tavLst>
                                    </p:anim>
                                    <p:anim calcmode="lin" valueType="num">
                                      <p:cBhvr additive="base">
                                        <p:cTn id="60" dur="500" fill="hold"/>
                                        <p:tgtEl>
                                          <p:spTgt spid="23"/>
                                        </p:tgtEl>
                                        <p:attrNameLst>
                                          <p:attrName>ppt_y</p:attrName>
                                        </p:attrNameLst>
                                      </p:cBhvr>
                                      <p:tavLst>
                                        <p:tav tm="0">
                                          <p:val>
                                            <p:strVal val="#ppt_y"/>
                                          </p:val>
                                        </p:tav>
                                        <p:tav tm="100000">
                                          <p:val>
                                            <p:strVal val="#ppt_y"/>
                                          </p:val>
                                        </p:tav>
                                      </p:tavLst>
                                    </p:anim>
                                  </p:childTnLst>
                                </p:cTn>
                              </p:par>
                            </p:childTnLst>
                          </p:cTn>
                        </p:par>
                        <p:par>
                          <p:cTn id="61" fill="hold">
                            <p:stCondLst>
                              <p:cond delay="500"/>
                            </p:stCondLst>
                            <p:childTnLst>
                              <p:par>
                                <p:cTn id="62" presetID="2" presetClass="entr" presetSubtype="2"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 calcmode="lin" valueType="num">
                                      <p:cBhvr additive="base">
                                        <p:cTn id="64" dur="500" fill="hold"/>
                                        <p:tgtEl>
                                          <p:spTgt spid="26"/>
                                        </p:tgtEl>
                                        <p:attrNameLst>
                                          <p:attrName>ppt_x</p:attrName>
                                        </p:attrNameLst>
                                      </p:cBhvr>
                                      <p:tavLst>
                                        <p:tav tm="0">
                                          <p:val>
                                            <p:strVal val="1+#ppt_w/2"/>
                                          </p:val>
                                        </p:tav>
                                        <p:tav tm="100000">
                                          <p:val>
                                            <p:strVal val="#ppt_x"/>
                                          </p:val>
                                        </p:tav>
                                      </p:tavLst>
                                    </p:anim>
                                    <p:anim calcmode="lin" valueType="num">
                                      <p:cBhvr additive="base">
                                        <p:cTn id="65"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nodeType="clickEffect">
                                  <p:stCondLst>
                                    <p:cond delay="0"/>
                                  </p:stCondLst>
                                  <p:childTnLst>
                                    <p:set>
                                      <p:cBhvr>
                                        <p:cTn id="69" dur="1" fill="hold">
                                          <p:stCondLst>
                                            <p:cond delay="0"/>
                                          </p:stCondLst>
                                        </p:cTn>
                                        <p:tgtEl>
                                          <p:spTgt spid="24"/>
                                        </p:tgtEl>
                                        <p:attrNameLst>
                                          <p:attrName>style.visibility</p:attrName>
                                        </p:attrNameLst>
                                      </p:cBhvr>
                                      <p:to>
                                        <p:strVal val="visible"/>
                                      </p:to>
                                    </p:set>
                                    <p:anim calcmode="lin" valueType="num">
                                      <p:cBhvr additive="base">
                                        <p:cTn id="70" dur="500" fill="hold"/>
                                        <p:tgtEl>
                                          <p:spTgt spid="24"/>
                                        </p:tgtEl>
                                        <p:attrNameLst>
                                          <p:attrName>ppt_x</p:attrName>
                                        </p:attrNameLst>
                                      </p:cBhvr>
                                      <p:tavLst>
                                        <p:tav tm="0">
                                          <p:val>
                                            <p:strVal val="1+#ppt_w/2"/>
                                          </p:val>
                                        </p:tav>
                                        <p:tav tm="100000">
                                          <p:val>
                                            <p:strVal val="#ppt_x"/>
                                          </p:val>
                                        </p:tav>
                                      </p:tavLst>
                                    </p:anim>
                                    <p:anim calcmode="lin" valueType="num">
                                      <p:cBhvr additive="base">
                                        <p:cTn id="71"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74" grpId="0" autoUpdateAnimBg="0"/>
      <p:bldP spid="92175" grpId="0" autoUpdateAnimBg="0"/>
      <p:bldP spid="92176" grpId="0" autoUpdateAnimBg="0"/>
      <p:bldP spid="18" grpId="0"/>
      <p:bldP spid="19" grpId="0" autoUpdateAnimBg="0"/>
      <p:bldP spid="26"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8" name="Rectangle 12"/>
          <p:cNvSpPr>
            <a:spLocks noChangeArrowheads="1"/>
          </p:cNvSpPr>
          <p:nvPr/>
        </p:nvSpPr>
        <p:spPr bwMode="auto">
          <a:xfrm>
            <a:off x="7084045" y="3503773"/>
            <a:ext cx="145460" cy="601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endParaRPr lang="zh-CN" altLang="zh-CN" sz="4400">
              <a:solidFill>
                <a:schemeClr val="tx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1151" name="Rectangle 15"/>
          <p:cNvSpPr>
            <a:spLocks noChangeArrowheads="1"/>
          </p:cNvSpPr>
          <p:nvPr/>
        </p:nvSpPr>
        <p:spPr bwMode="auto">
          <a:xfrm>
            <a:off x="7084045" y="3595849"/>
            <a:ext cx="145461" cy="457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endParaRPr lang="zh-CN" altLang="zh-CN" sz="3200" b="1">
              <a:solidFill>
                <a:schemeClr val="accent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1152" name="Rectangle 16"/>
          <p:cNvSpPr>
            <a:spLocks noChangeArrowheads="1"/>
          </p:cNvSpPr>
          <p:nvPr/>
        </p:nvSpPr>
        <p:spPr bwMode="auto">
          <a:xfrm>
            <a:off x="7084045" y="3595849"/>
            <a:ext cx="145461" cy="457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endParaRPr lang="zh-CN" altLang="zh-CN" sz="3200" b="1">
              <a:solidFill>
                <a:schemeClr val="accent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1153" name="Rectangle 17"/>
          <p:cNvSpPr>
            <a:spLocks noChangeArrowheads="1"/>
          </p:cNvSpPr>
          <p:nvPr/>
        </p:nvSpPr>
        <p:spPr bwMode="auto">
          <a:xfrm>
            <a:off x="7084045" y="3503773"/>
            <a:ext cx="145460" cy="601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endParaRPr lang="zh-CN" altLang="zh-CN" sz="4400">
              <a:solidFill>
                <a:schemeClr val="tx2"/>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1154" name="Text Box 18"/>
          <p:cNvSpPr txBox="1">
            <a:spLocks noChangeArrowheads="1"/>
          </p:cNvSpPr>
          <p:nvPr/>
        </p:nvSpPr>
        <p:spPr bwMode="auto">
          <a:xfrm>
            <a:off x="2067439" y="5237576"/>
            <a:ext cx="3771527"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just"/>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91155" name="Object 19"/>
          <p:cNvGraphicFramePr>
            <a:graphicFrameLocks noChangeAspect="1"/>
          </p:cNvGraphicFramePr>
          <p:nvPr/>
        </p:nvGraphicFramePr>
        <p:xfrm>
          <a:off x="5022762" y="1412669"/>
          <a:ext cx="4392339" cy="1041235"/>
        </p:xfrm>
        <a:graphic>
          <a:graphicData uri="http://schemas.openxmlformats.org/presentationml/2006/ole">
            <mc:AlternateContent xmlns:mc="http://schemas.openxmlformats.org/markup-compatibility/2006">
              <mc:Choice xmlns:v="urn:schemas-microsoft-com:vml" Requires="v">
                <p:oleObj spid="_x0000_s206855" name="Equation" r:id="rId1" imgW="43586400" imgH="10363200" progId="Equation.DSMT4">
                  <p:embed/>
                </p:oleObj>
              </mc:Choice>
              <mc:Fallback>
                <p:oleObj name="Equation" r:id="rId1" imgW="43586400" imgH="10363200" progId="Equation.DSMT4">
                  <p:embed/>
                  <p:pic>
                    <p:nvPicPr>
                      <p:cNvPr id="0" name="Object 19"/>
                      <p:cNvPicPr>
                        <a:picLocks noChangeAspect="1" noChangeArrowheads="1"/>
                      </p:cNvPicPr>
                      <p:nvPr/>
                    </p:nvPicPr>
                    <p:blipFill>
                      <a:blip r:embed="rId2"/>
                      <a:srcRect/>
                      <a:stretch>
                        <a:fillRect/>
                      </a:stretch>
                    </p:blipFill>
                    <p:spPr bwMode="auto">
                      <a:xfrm>
                        <a:off x="5022762" y="1412669"/>
                        <a:ext cx="4392339" cy="1041235"/>
                      </a:xfrm>
                      <a:prstGeom prst="rect">
                        <a:avLst/>
                      </a:prstGeom>
                      <a:noFill/>
                      <a:ln>
                        <a:noFill/>
                      </a:ln>
                      <a:effectLst/>
                    </p:spPr>
                  </p:pic>
                </p:oleObj>
              </mc:Fallback>
            </mc:AlternateContent>
          </a:graphicData>
        </a:graphic>
      </p:graphicFrame>
      <p:grpSp>
        <p:nvGrpSpPr>
          <p:cNvPr id="3" name="组 2"/>
          <p:cNvGrpSpPr/>
          <p:nvPr/>
        </p:nvGrpSpPr>
        <p:grpSpPr>
          <a:xfrm>
            <a:off x="3229452" y="2585174"/>
            <a:ext cx="2912187" cy="1023239"/>
            <a:chOff x="3229452" y="2585174"/>
            <a:chExt cx="2912187" cy="1023239"/>
          </a:xfrm>
        </p:grpSpPr>
        <p:graphicFrame>
          <p:nvGraphicFramePr>
            <p:cNvPr id="91156" name="Object 20"/>
            <p:cNvGraphicFramePr>
              <a:graphicFrameLocks noChangeAspect="1"/>
            </p:cNvGraphicFramePr>
            <p:nvPr/>
          </p:nvGraphicFramePr>
          <p:xfrm>
            <a:off x="3229452" y="2585174"/>
            <a:ext cx="1929859" cy="1023239"/>
          </p:xfrm>
          <a:graphic>
            <a:graphicData uri="http://schemas.openxmlformats.org/presentationml/2006/ole">
              <mc:AlternateContent xmlns:mc="http://schemas.openxmlformats.org/markup-compatibility/2006">
                <mc:Choice xmlns:v="urn:schemas-microsoft-com:vml" Requires="v">
                  <p:oleObj spid="_x0000_s2" name="Equation" r:id="rId3" imgW="19507200" imgH="10363200" progId="Equation.DSMT4">
                    <p:embed/>
                  </p:oleObj>
                </mc:Choice>
                <mc:Fallback>
                  <p:oleObj name="Equation" r:id="rId3" imgW="19507200" imgH="10363200" progId="Equation.DSMT4">
                    <p:embed/>
                    <p:pic>
                      <p:nvPicPr>
                        <p:cNvPr id="0" name="Object 20"/>
                        <p:cNvPicPr>
                          <a:picLocks noChangeAspect="1" noChangeArrowheads="1"/>
                        </p:cNvPicPr>
                        <p:nvPr/>
                      </p:nvPicPr>
                      <p:blipFill>
                        <a:blip r:embed="rId4"/>
                        <a:srcRect/>
                        <a:stretch>
                          <a:fillRect/>
                        </a:stretch>
                      </p:blipFill>
                      <p:spPr bwMode="auto">
                        <a:xfrm>
                          <a:off x="3229452" y="2585174"/>
                          <a:ext cx="1929859" cy="1023239"/>
                        </a:xfrm>
                        <a:prstGeom prst="rect">
                          <a:avLst/>
                        </a:prstGeom>
                        <a:noFill/>
                        <a:ln>
                          <a:noFill/>
                        </a:ln>
                        <a:effectLst/>
                      </p:spPr>
                    </p:pic>
                  </p:oleObj>
                </mc:Fallback>
              </mc:AlternateContent>
            </a:graphicData>
          </a:graphic>
        </p:graphicFrame>
        <p:sp>
          <p:nvSpPr>
            <p:cNvPr id="91157" name="Rectangle 21"/>
            <p:cNvSpPr>
              <a:spLocks noChangeArrowheads="1"/>
            </p:cNvSpPr>
            <p:nvPr/>
          </p:nvSpPr>
          <p:spPr bwMode="auto">
            <a:xfrm>
              <a:off x="5162601" y="2813866"/>
              <a:ext cx="979038"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zh-CN"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graphicFrame>
        <p:nvGraphicFramePr>
          <p:cNvPr id="91158" name="Object 22"/>
          <p:cNvGraphicFramePr>
            <a:graphicFrameLocks noChangeAspect="1"/>
          </p:cNvGraphicFramePr>
          <p:nvPr/>
        </p:nvGraphicFramePr>
        <p:xfrm>
          <a:off x="6231381" y="2624376"/>
          <a:ext cx="2289749" cy="931700"/>
        </p:xfrm>
        <a:graphic>
          <a:graphicData uri="http://schemas.openxmlformats.org/presentationml/2006/ole">
            <mc:AlternateContent xmlns:mc="http://schemas.openxmlformats.org/markup-compatibility/2006">
              <mc:Choice xmlns:v="urn:schemas-microsoft-com:vml" Requires="v">
                <p:oleObj spid="_x0000_s4" name="Equation" r:id="rId5" imgW="24688800" imgH="10058400" progId="Equation.DSMT4">
                  <p:embed/>
                </p:oleObj>
              </mc:Choice>
              <mc:Fallback>
                <p:oleObj name="Equation" r:id="rId5" imgW="24688800" imgH="10058400" progId="Equation.DSMT4">
                  <p:embed/>
                  <p:pic>
                    <p:nvPicPr>
                      <p:cNvPr id="0" name="Object 22"/>
                      <p:cNvPicPr>
                        <a:picLocks noChangeAspect="1" noChangeArrowheads="1"/>
                      </p:cNvPicPr>
                      <p:nvPr/>
                    </p:nvPicPr>
                    <p:blipFill>
                      <a:blip r:embed="rId6"/>
                      <a:srcRect/>
                      <a:stretch>
                        <a:fillRect/>
                      </a:stretch>
                    </p:blipFill>
                    <p:spPr bwMode="auto">
                      <a:xfrm>
                        <a:off x="6231381" y="2624376"/>
                        <a:ext cx="2289749" cy="931700"/>
                      </a:xfrm>
                      <a:prstGeom prst="rect">
                        <a:avLst/>
                      </a:prstGeom>
                      <a:noFill/>
                      <a:ln>
                        <a:noFill/>
                      </a:ln>
                      <a:effectLst/>
                    </p:spPr>
                  </p:pic>
                </p:oleObj>
              </mc:Fallback>
            </mc:AlternateContent>
          </a:graphicData>
        </a:graphic>
      </p:graphicFrame>
      <p:graphicFrame>
        <p:nvGraphicFramePr>
          <p:cNvPr id="91159" name="Object 23"/>
          <p:cNvGraphicFramePr>
            <a:graphicFrameLocks noChangeAspect="1"/>
          </p:cNvGraphicFramePr>
          <p:nvPr/>
        </p:nvGraphicFramePr>
        <p:xfrm>
          <a:off x="3229452" y="3761175"/>
          <a:ext cx="2299780" cy="914144"/>
        </p:xfrm>
        <a:graphic>
          <a:graphicData uri="http://schemas.openxmlformats.org/presentationml/2006/ole">
            <mc:AlternateContent xmlns:mc="http://schemas.openxmlformats.org/markup-compatibility/2006">
              <mc:Choice xmlns:v="urn:schemas-microsoft-com:vml" Requires="v">
                <p:oleObj spid="_x0000_s5" name="Equation" r:id="rId7" imgW="25298400" imgH="10058400" progId="Equation.DSMT4">
                  <p:embed/>
                </p:oleObj>
              </mc:Choice>
              <mc:Fallback>
                <p:oleObj name="Equation" r:id="rId7" imgW="25298400" imgH="10058400" progId="Equation.DSMT4">
                  <p:embed/>
                  <p:pic>
                    <p:nvPicPr>
                      <p:cNvPr id="0" name="Object 23"/>
                      <p:cNvPicPr>
                        <a:picLocks noChangeAspect="1" noChangeArrowheads="1"/>
                      </p:cNvPicPr>
                      <p:nvPr/>
                    </p:nvPicPr>
                    <p:blipFill>
                      <a:blip r:embed="rId8"/>
                      <a:srcRect/>
                      <a:stretch>
                        <a:fillRect/>
                      </a:stretch>
                    </p:blipFill>
                    <p:spPr bwMode="auto">
                      <a:xfrm>
                        <a:off x="3229452" y="3761175"/>
                        <a:ext cx="2299780" cy="914144"/>
                      </a:xfrm>
                      <a:prstGeom prst="rect">
                        <a:avLst/>
                      </a:prstGeom>
                      <a:noFill/>
                      <a:ln>
                        <a:noFill/>
                      </a:ln>
                      <a:effectLst/>
                    </p:spPr>
                  </p:pic>
                </p:oleObj>
              </mc:Fallback>
            </mc:AlternateContent>
          </a:graphicData>
        </a:graphic>
      </p:graphicFrame>
      <p:graphicFrame>
        <p:nvGraphicFramePr>
          <p:cNvPr id="91160" name="Object 24"/>
          <p:cNvGraphicFramePr>
            <a:graphicFrameLocks noChangeAspect="1"/>
          </p:cNvGraphicFramePr>
          <p:nvPr/>
        </p:nvGraphicFramePr>
        <p:xfrm>
          <a:off x="5550935" y="3801745"/>
          <a:ext cx="1266509" cy="871509"/>
        </p:xfrm>
        <a:graphic>
          <a:graphicData uri="http://schemas.openxmlformats.org/presentationml/2006/ole">
            <mc:AlternateContent xmlns:mc="http://schemas.openxmlformats.org/markup-compatibility/2006">
              <mc:Choice xmlns:v="urn:schemas-microsoft-com:vml" Requires="v">
                <p:oleObj spid="_x0000_s6" name="Equation" r:id="rId9" imgW="14630400" imgH="10058400" progId="Equation.DSMT4">
                  <p:embed/>
                </p:oleObj>
              </mc:Choice>
              <mc:Fallback>
                <p:oleObj name="Equation" r:id="rId9" imgW="14630400" imgH="10058400" progId="Equation.DSMT4">
                  <p:embed/>
                  <p:pic>
                    <p:nvPicPr>
                      <p:cNvPr id="0" name="Object 24"/>
                      <p:cNvPicPr>
                        <a:picLocks noChangeAspect="1" noChangeArrowheads="1"/>
                      </p:cNvPicPr>
                      <p:nvPr/>
                    </p:nvPicPr>
                    <p:blipFill>
                      <a:blip r:embed="rId10"/>
                      <a:srcRect/>
                      <a:stretch>
                        <a:fillRect/>
                      </a:stretch>
                    </p:blipFill>
                    <p:spPr bwMode="auto">
                      <a:xfrm>
                        <a:off x="5550935" y="3801745"/>
                        <a:ext cx="1266509" cy="871509"/>
                      </a:xfrm>
                      <a:prstGeom prst="rect">
                        <a:avLst/>
                      </a:prstGeom>
                      <a:noFill/>
                      <a:ln>
                        <a:noFill/>
                      </a:ln>
                      <a:effectLst/>
                    </p:spPr>
                  </p:pic>
                </p:oleObj>
              </mc:Fallback>
            </mc:AlternateContent>
          </a:graphicData>
        </a:graphic>
      </p:graphicFrame>
      <p:graphicFrame>
        <p:nvGraphicFramePr>
          <p:cNvPr id="91161" name="Object 25"/>
          <p:cNvGraphicFramePr>
            <a:graphicFrameLocks noChangeAspect="1"/>
          </p:cNvGraphicFramePr>
          <p:nvPr/>
        </p:nvGraphicFramePr>
        <p:xfrm>
          <a:off x="6870907" y="3819831"/>
          <a:ext cx="1010699" cy="855207"/>
        </p:xfrm>
        <a:graphic>
          <a:graphicData uri="http://schemas.openxmlformats.org/presentationml/2006/ole">
            <mc:AlternateContent xmlns:mc="http://schemas.openxmlformats.org/markup-compatibility/2006">
              <mc:Choice xmlns:v="urn:schemas-microsoft-com:vml" Requires="v">
                <p:oleObj spid="_x0000_s7" name="Equation" r:id="rId11" imgW="11887200" imgH="10058400" progId="Equation.DSMT4">
                  <p:embed/>
                </p:oleObj>
              </mc:Choice>
              <mc:Fallback>
                <p:oleObj name="Equation" r:id="rId11" imgW="11887200" imgH="10058400" progId="Equation.DSMT4">
                  <p:embed/>
                  <p:pic>
                    <p:nvPicPr>
                      <p:cNvPr id="0" name="Object 25"/>
                      <p:cNvPicPr>
                        <a:picLocks noChangeAspect="1" noChangeArrowheads="1"/>
                      </p:cNvPicPr>
                      <p:nvPr/>
                    </p:nvPicPr>
                    <p:blipFill>
                      <a:blip r:embed="rId12"/>
                      <a:srcRect/>
                      <a:stretch>
                        <a:fillRect/>
                      </a:stretch>
                    </p:blipFill>
                    <p:spPr bwMode="auto">
                      <a:xfrm>
                        <a:off x="6870907" y="3819831"/>
                        <a:ext cx="1010699" cy="855207"/>
                      </a:xfrm>
                      <a:prstGeom prst="rect">
                        <a:avLst/>
                      </a:prstGeom>
                      <a:noFill/>
                      <a:ln>
                        <a:noFill/>
                      </a:ln>
                      <a:effectLst/>
                    </p:spPr>
                  </p:pic>
                </p:oleObj>
              </mc:Fallback>
            </mc:AlternateContent>
          </a:graphicData>
        </a:graphic>
      </p:graphicFrame>
      <p:grpSp>
        <p:nvGrpSpPr>
          <p:cNvPr id="8" name="组 3"/>
          <p:cNvGrpSpPr/>
          <p:nvPr/>
        </p:nvGrpSpPr>
        <p:grpSpPr>
          <a:xfrm>
            <a:off x="5168754" y="5096292"/>
            <a:ext cx="1858342" cy="909484"/>
            <a:chOff x="5168754" y="5096292"/>
            <a:chExt cx="1858342" cy="909484"/>
          </a:xfrm>
        </p:grpSpPr>
        <p:graphicFrame>
          <p:nvGraphicFramePr>
            <p:cNvPr id="91162" name="Object 26"/>
            <p:cNvGraphicFramePr>
              <a:graphicFrameLocks noChangeAspect="1"/>
            </p:cNvGraphicFramePr>
            <p:nvPr/>
          </p:nvGraphicFramePr>
          <p:xfrm>
            <a:off x="5168754" y="5099156"/>
            <a:ext cx="1072143" cy="906620"/>
          </p:xfrm>
          <a:graphic>
            <a:graphicData uri="http://schemas.openxmlformats.org/presentationml/2006/ole">
              <mc:AlternateContent xmlns:mc="http://schemas.openxmlformats.org/markup-compatibility/2006">
                <mc:Choice xmlns:v="urn:schemas-microsoft-com:vml" Requires="v">
                  <p:oleObj spid="_x0000_s9" name="Equation" r:id="rId13" imgW="11887200" imgH="10058400" progId="Equation.DSMT4">
                    <p:embed/>
                  </p:oleObj>
                </mc:Choice>
                <mc:Fallback>
                  <p:oleObj name="Equation" r:id="rId13" imgW="11887200" imgH="10058400" progId="Equation.DSMT4">
                    <p:embed/>
                    <p:pic>
                      <p:nvPicPr>
                        <p:cNvPr id="0" name="Object 26"/>
                        <p:cNvPicPr>
                          <a:picLocks noChangeAspect="1" noChangeArrowheads="1"/>
                        </p:cNvPicPr>
                        <p:nvPr/>
                      </p:nvPicPr>
                      <p:blipFill>
                        <a:blip r:embed="rId14"/>
                        <a:srcRect/>
                        <a:stretch>
                          <a:fillRect/>
                        </a:stretch>
                      </p:blipFill>
                      <p:spPr bwMode="auto">
                        <a:xfrm>
                          <a:off x="5168754" y="5099156"/>
                          <a:ext cx="1072143" cy="906620"/>
                        </a:xfrm>
                        <a:prstGeom prst="rect">
                          <a:avLst/>
                        </a:prstGeom>
                        <a:noFill/>
                        <a:ln>
                          <a:noFill/>
                        </a:ln>
                        <a:effectLst/>
                      </p:spPr>
                    </p:pic>
                  </p:oleObj>
                </mc:Fallback>
              </mc:AlternateContent>
            </a:graphicData>
          </a:graphic>
        </p:graphicFrame>
        <p:graphicFrame>
          <p:nvGraphicFramePr>
            <p:cNvPr id="91163" name="Object 27"/>
            <p:cNvGraphicFramePr>
              <a:graphicFrameLocks noChangeAspect="1"/>
            </p:cNvGraphicFramePr>
            <p:nvPr/>
          </p:nvGraphicFramePr>
          <p:xfrm>
            <a:off x="6289762" y="5096292"/>
            <a:ext cx="737334" cy="902858"/>
          </p:xfrm>
          <a:graphic>
            <a:graphicData uri="http://schemas.openxmlformats.org/presentationml/2006/ole">
              <mc:AlternateContent xmlns:mc="http://schemas.openxmlformats.org/markup-compatibility/2006">
                <mc:Choice xmlns:v="urn:schemas-microsoft-com:vml" Requires="v">
                  <p:oleObj spid="_x0000_s10" name="Equation" r:id="rId15" imgW="8229600" imgH="10058400" progId="Equation.DSMT4">
                    <p:embed/>
                  </p:oleObj>
                </mc:Choice>
                <mc:Fallback>
                  <p:oleObj name="Equation" r:id="rId15" imgW="8229600" imgH="10058400" progId="Equation.DSMT4">
                    <p:embed/>
                    <p:pic>
                      <p:nvPicPr>
                        <p:cNvPr id="0" name="Object 27"/>
                        <p:cNvPicPr>
                          <a:picLocks noChangeAspect="1" noChangeArrowheads="1"/>
                        </p:cNvPicPr>
                        <p:nvPr/>
                      </p:nvPicPr>
                      <p:blipFill>
                        <a:blip r:embed="rId16"/>
                        <a:srcRect/>
                        <a:stretch>
                          <a:fillRect/>
                        </a:stretch>
                      </p:blipFill>
                      <p:spPr bwMode="auto">
                        <a:xfrm>
                          <a:off x="6289762" y="5096292"/>
                          <a:ext cx="737334" cy="902858"/>
                        </a:xfrm>
                        <a:prstGeom prst="rect">
                          <a:avLst/>
                        </a:prstGeom>
                        <a:noFill/>
                        <a:ln>
                          <a:noFill/>
                        </a:ln>
                        <a:effectLst/>
                      </p:spPr>
                    </p:pic>
                  </p:oleObj>
                </mc:Fallback>
              </mc:AlternateContent>
            </a:graphicData>
          </a:graphic>
        </p:graphicFrame>
      </p:grpSp>
      <p:graphicFrame>
        <p:nvGraphicFramePr>
          <p:cNvPr id="91164" name="Object 28"/>
          <p:cNvGraphicFramePr>
            <a:graphicFrameLocks noChangeAspect="1"/>
          </p:cNvGraphicFramePr>
          <p:nvPr/>
        </p:nvGraphicFramePr>
        <p:xfrm>
          <a:off x="7041127" y="5098381"/>
          <a:ext cx="998160" cy="891572"/>
        </p:xfrm>
        <a:graphic>
          <a:graphicData uri="http://schemas.openxmlformats.org/presentationml/2006/ole">
            <mc:AlternateContent xmlns:mc="http://schemas.openxmlformats.org/markup-compatibility/2006">
              <mc:Choice xmlns:v="urn:schemas-microsoft-com:vml" Requires="v">
                <p:oleObj spid="_x0000_s11" name="Equation" r:id="rId17" imgW="11277600" imgH="10058400" progId="Equation.DSMT4">
                  <p:embed/>
                </p:oleObj>
              </mc:Choice>
              <mc:Fallback>
                <p:oleObj name="Equation" r:id="rId17" imgW="11277600" imgH="10058400" progId="Equation.DSMT4">
                  <p:embed/>
                  <p:pic>
                    <p:nvPicPr>
                      <p:cNvPr id="0" name="Object 28"/>
                      <p:cNvPicPr>
                        <a:picLocks noChangeAspect="1" noChangeArrowheads="1"/>
                      </p:cNvPicPr>
                      <p:nvPr/>
                    </p:nvPicPr>
                    <p:blipFill>
                      <a:blip r:embed="rId18"/>
                      <a:srcRect/>
                      <a:stretch>
                        <a:fillRect/>
                      </a:stretch>
                    </p:blipFill>
                    <p:spPr bwMode="auto">
                      <a:xfrm>
                        <a:off x="7041127" y="5098381"/>
                        <a:ext cx="998160" cy="891572"/>
                      </a:xfrm>
                      <a:prstGeom prst="rect">
                        <a:avLst/>
                      </a:prstGeom>
                      <a:noFill/>
                      <a:ln>
                        <a:noFill/>
                      </a:ln>
                      <a:effectLst/>
                    </p:spPr>
                  </p:pic>
                </p:oleObj>
              </mc:Fallback>
            </mc:AlternateContent>
          </a:graphicData>
        </a:graphic>
      </p:graphicFrame>
      <p:graphicFrame>
        <p:nvGraphicFramePr>
          <p:cNvPr id="91165" name="Object 29"/>
          <p:cNvGraphicFramePr>
            <a:graphicFrameLocks noChangeAspect="1"/>
          </p:cNvGraphicFramePr>
          <p:nvPr/>
        </p:nvGraphicFramePr>
        <p:xfrm>
          <a:off x="2207568" y="1410032"/>
          <a:ext cx="2815194" cy="964107"/>
        </p:xfrm>
        <a:graphic>
          <a:graphicData uri="http://schemas.openxmlformats.org/presentationml/2006/ole">
            <mc:AlternateContent xmlns:mc="http://schemas.openxmlformats.org/markup-compatibility/2006">
              <mc:Choice xmlns:v="urn:schemas-microsoft-com:vml" Requires="v">
                <p:oleObj spid="_x0000_s12" name="Equation" r:id="rId19" imgW="30175200" imgH="10363200" progId="Equation.DSMT4">
                  <p:embed/>
                </p:oleObj>
              </mc:Choice>
              <mc:Fallback>
                <p:oleObj name="Equation" r:id="rId19" imgW="30175200" imgH="10363200" progId="Equation.DSMT4">
                  <p:embed/>
                  <p:pic>
                    <p:nvPicPr>
                      <p:cNvPr id="0" name="Object 29"/>
                      <p:cNvPicPr>
                        <a:picLocks noChangeAspect="1" noChangeArrowheads="1"/>
                      </p:cNvPicPr>
                      <p:nvPr/>
                    </p:nvPicPr>
                    <p:blipFill>
                      <a:blip r:embed="rId20"/>
                      <a:srcRect/>
                      <a:stretch>
                        <a:fillRect/>
                      </a:stretch>
                    </p:blipFill>
                    <p:spPr bwMode="auto">
                      <a:xfrm>
                        <a:off x="2207568" y="1410032"/>
                        <a:ext cx="2815194" cy="964107"/>
                      </a:xfrm>
                      <a:prstGeom prst="rect">
                        <a:avLst/>
                      </a:prstGeom>
                      <a:noFill/>
                      <a:ln>
                        <a:noFill/>
                      </a:ln>
                      <a:effectLst/>
                    </p:spPr>
                  </p:pic>
                </p:oleObj>
              </mc:Fallback>
            </mc:AlternateContent>
          </a:graphicData>
        </a:graphic>
      </p:graphicFrame>
      <p:cxnSp>
        <p:nvCxnSpPr>
          <p:cNvPr id="20" name="直接连接符 19"/>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矩形 20"/>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五、课堂练习</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22" name="组合 21"/>
          <p:cNvGrpSpPr/>
          <p:nvPr/>
        </p:nvGrpSpPr>
        <p:grpSpPr>
          <a:xfrm>
            <a:off x="851761" y="364781"/>
            <a:ext cx="263341" cy="395013"/>
            <a:chOff x="5284519" y="1508166"/>
            <a:chExt cx="213756" cy="427512"/>
          </a:xfrm>
        </p:grpSpPr>
        <p:cxnSp>
          <p:nvCxnSpPr>
            <p:cNvPr id="23" name="直接连接符 2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4" name="直接连接符 2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1165"/>
                                        </p:tgtEl>
                                        <p:attrNameLst>
                                          <p:attrName>style.visibility</p:attrName>
                                        </p:attrNameLst>
                                      </p:cBhvr>
                                      <p:to>
                                        <p:strVal val="visible"/>
                                      </p:to>
                                    </p:set>
                                    <p:anim calcmode="lin" valueType="num">
                                      <p:cBhvr additive="base">
                                        <p:cTn id="7" dur="500" fill="hold"/>
                                        <p:tgtEl>
                                          <p:spTgt spid="91165"/>
                                        </p:tgtEl>
                                        <p:attrNameLst>
                                          <p:attrName>ppt_x</p:attrName>
                                        </p:attrNameLst>
                                      </p:cBhvr>
                                      <p:tavLst>
                                        <p:tav tm="0">
                                          <p:val>
                                            <p:strVal val="0-#ppt_w/2"/>
                                          </p:val>
                                        </p:tav>
                                        <p:tav tm="100000">
                                          <p:val>
                                            <p:strVal val="#ppt_x"/>
                                          </p:val>
                                        </p:tav>
                                      </p:tavLst>
                                    </p:anim>
                                    <p:anim calcmode="lin" valueType="num">
                                      <p:cBhvr additive="base">
                                        <p:cTn id="8" dur="500" fill="hold"/>
                                        <p:tgtEl>
                                          <p:spTgt spid="911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91155"/>
                                        </p:tgtEl>
                                        <p:attrNameLst>
                                          <p:attrName>style.visibility</p:attrName>
                                        </p:attrNameLst>
                                      </p:cBhvr>
                                      <p:to>
                                        <p:strVal val="visible"/>
                                      </p:to>
                                    </p:set>
                                    <p:anim calcmode="lin" valueType="num">
                                      <p:cBhvr additive="base">
                                        <p:cTn id="13" dur="500" fill="hold"/>
                                        <p:tgtEl>
                                          <p:spTgt spid="91155"/>
                                        </p:tgtEl>
                                        <p:attrNameLst>
                                          <p:attrName>ppt_x</p:attrName>
                                        </p:attrNameLst>
                                      </p:cBhvr>
                                      <p:tavLst>
                                        <p:tav tm="0">
                                          <p:val>
                                            <p:strVal val="0-#ppt_w/2"/>
                                          </p:val>
                                        </p:tav>
                                        <p:tav tm="100000">
                                          <p:val>
                                            <p:strVal val="#ppt_x"/>
                                          </p:val>
                                        </p:tav>
                                      </p:tavLst>
                                    </p:anim>
                                    <p:anim calcmode="lin" valueType="num">
                                      <p:cBhvr additive="base">
                                        <p:cTn id="14" dur="500" fill="hold"/>
                                        <p:tgtEl>
                                          <p:spTgt spid="9115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91158"/>
                                        </p:tgtEl>
                                        <p:attrNameLst>
                                          <p:attrName>style.visibility</p:attrName>
                                        </p:attrNameLst>
                                      </p:cBhvr>
                                      <p:to>
                                        <p:strVal val="visible"/>
                                      </p:to>
                                    </p:set>
                                    <p:anim calcmode="lin" valueType="num">
                                      <p:cBhvr additive="base">
                                        <p:cTn id="25" dur="500" fill="hold"/>
                                        <p:tgtEl>
                                          <p:spTgt spid="91158"/>
                                        </p:tgtEl>
                                        <p:attrNameLst>
                                          <p:attrName>ppt_x</p:attrName>
                                        </p:attrNameLst>
                                      </p:cBhvr>
                                      <p:tavLst>
                                        <p:tav tm="0">
                                          <p:val>
                                            <p:strVal val="0-#ppt_w/2"/>
                                          </p:val>
                                        </p:tav>
                                        <p:tav tm="100000">
                                          <p:val>
                                            <p:strVal val="#ppt_x"/>
                                          </p:val>
                                        </p:tav>
                                      </p:tavLst>
                                    </p:anim>
                                    <p:anim calcmode="lin" valueType="num">
                                      <p:cBhvr additive="base">
                                        <p:cTn id="26" dur="500" fill="hold"/>
                                        <p:tgtEl>
                                          <p:spTgt spid="9115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91159"/>
                                        </p:tgtEl>
                                        <p:attrNameLst>
                                          <p:attrName>style.visibility</p:attrName>
                                        </p:attrNameLst>
                                      </p:cBhvr>
                                      <p:to>
                                        <p:strVal val="visible"/>
                                      </p:to>
                                    </p:set>
                                    <p:anim calcmode="lin" valueType="num">
                                      <p:cBhvr additive="base">
                                        <p:cTn id="31" dur="500" fill="hold"/>
                                        <p:tgtEl>
                                          <p:spTgt spid="91159"/>
                                        </p:tgtEl>
                                        <p:attrNameLst>
                                          <p:attrName>ppt_x</p:attrName>
                                        </p:attrNameLst>
                                      </p:cBhvr>
                                      <p:tavLst>
                                        <p:tav tm="0">
                                          <p:val>
                                            <p:strVal val="0-#ppt_w/2"/>
                                          </p:val>
                                        </p:tav>
                                        <p:tav tm="100000">
                                          <p:val>
                                            <p:strVal val="#ppt_x"/>
                                          </p:val>
                                        </p:tav>
                                      </p:tavLst>
                                    </p:anim>
                                    <p:anim calcmode="lin" valueType="num">
                                      <p:cBhvr additive="base">
                                        <p:cTn id="32" dur="500" fill="hold"/>
                                        <p:tgtEl>
                                          <p:spTgt spid="9115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91160"/>
                                        </p:tgtEl>
                                        <p:attrNameLst>
                                          <p:attrName>style.visibility</p:attrName>
                                        </p:attrNameLst>
                                      </p:cBhvr>
                                      <p:to>
                                        <p:strVal val="visible"/>
                                      </p:to>
                                    </p:set>
                                    <p:anim calcmode="lin" valueType="num">
                                      <p:cBhvr additive="base">
                                        <p:cTn id="37" dur="500" fill="hold"/>
                                        <p:tgtEl>
                                          <p:spTgt spid="91160"/>
                                        </p:tgtEl>
                                        <p:attrNameLst>
                                          <p:attrName>ppt_x</p:attrName>
                                        </p:attrNameLst>
                                      </p:cBhvr>
                                      <p:tavLst>
                                        <p:tav tm="0">
                                          <p:val>
                                            <p:strVal val="0-#ppt_w/2"/>
                                          </p:val>
                                        </p:tav>
                                        <p:tav tm="100000">
                                          <p:val>
                                            <p:strVal val="#ppt_x"/>
                                          </p:val>
                                        </p:tav>
                                      </p:tavLst>
                                    </p:anim>
                                    <p:anim calcmode="lin" valueType="num">
                                      <p:cBhvr additive="base">
                                        <p:cTn id="38" dur="500" fill="hold"/>
                                        <p:tgtEl>
                                          <p:spTgt spid="9116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91161"/>
                                        </p:tgtEl>
                                        <p:attrNameLst>
                                          <p:attrName>style.visibility</p:attrName>
                                        </p:attrNameLst>
                                      </p:cBhvr>
                                      <p:to>
                                        <p:strVal val="visible"/>
                                      </p:to>
                                    </p:set>
                                    <p:anim calcmode="lin" valueType="num">
                                      <p:cBhvr additive="base">
                                        <p:cTn id="43" dur="500" fill="hold"/>
                                        <p:tgtEl>
                                          <p:spTgt spid="91161"/>
                                        </p:tgtEl>
                                        <p:attrNameLst>
                                          <p:attrName>ppt_x</p:attrName>
                                        </p:attrNameLst>
                                      </p:cBhvr>
                                      <p:tavLst>
                                        <p:tav tm="0">
                                          <p:val>
                                            <p:strVal val="0-#ppt_w/2"/>
                                          </p:val>
                                        </p:tav>
                                        <p:tav tm="100000">
                                          <p:val>
                                            <p:strVal val="#ppt_x"/>
                                          </p:val>
                                        </p:tav>
                                      </p:tavLst>
                                    </p:anim>
                                    <p:anim calcmode="lin" valueType="num">
                                      <p:cBhvr additive="base">
                                        <p:cTn id="44" dur="500" fill="hold"/>
                                        <p:tgtEl>
                                          <p:spTgt spid="9116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91154"/>
                                        </p:tgtEl>
                                        <p:attrNameLst>
                                          <p:attrName>style.visibility</p:attrName>
                                        </p:attrNameLst>
                                      </p:cBhvr>
                                      <p:to>
                                        <p:strVal val="visible"/>
                                      </p:to>
                                    </p:set>
                                    <p:anim calcmode="lin" valueType="num">
                                      <p:cBhvr additive="base">
                                        <p:cTn id="49" dur="500" fill="hold"/>
                                        <p:tgtEl>
                                          <p:spTgt spid="91154"/>
                                        </p:tgtEl>
                                        <p:attrNameLst>
                                          <p:attrName>ppt_x</p:attrName>
                                        </p:attrNameLst>
                                      </p:cBhvr>
                                      <p:tavLst>
                                        <p:tav tm="0">
                                          <p:val>
                                            <p:strVal val="0-#ppt_w/2"/>
                                          </p:val>
                                        </p:tav>
                                        <p:tav tm="100000">
                                          <p:val>
                                            <p:strVal val="#ppt_x"/>
                                          </p:val>
                                        </p:tav>
                                      </p:tavLst>
                                    </p:anim>
                                    <p:anim calcmode="lin" valueType="num">
                                      <p:cBhvr additive="base">
                                        <p:cTn id="50" dur="500" fill="hold"/>
                                        <p:tgtEl>
                                          <p:spTgt spid="9115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91164"/>
                                        </p:tgtEl>
                                        <p:attrNameLst>
                                          <p:attrName>style.visibility</p:attrName>
                                        </p:attrNameLst>
                                      </p:cBhvr>
                                      <p:to>
                                        <p:strVal val="visible"/>
                                      </p:to>
                                    </p:set>
                                    <p:anim calcmode="lin" valueType="num">
                                      <p:cBhvr additive="base">
                                        <p:cTn id="55" dur="500" fill="hold"/>
                                        <p:tgtEl>
                                          <p:spTgt spid="91164"/>
                                        </p:tgtEl>
                                        <p:attrNameLst>
                                          <p:attrName>ppt_x</p:attrName>
                                        </p:attrNameLst>
                                      </p:cBhvr>
                                      <p:tavLst>
                                        <p:tav tm="0">
                                          <p:val>
                                            <p:strVal val="0-#ppt_w/2"/>
                                          </p:val>
                                        </p:tav>
                                        <p:tav tm="100000">
                                          <p:val>
                                            <p:strVal val="#ppt_x"/>
                                          </p:val>
                                        </p:tav>
                                      </p:tavLst>
                                    </p:anim>
                                    <p:anim calcmode="lin" valueType="num">
                                      <p:cBhvr additive="base">
                                        <p:cTn id="56" dur="500" fill="hold"/>
                                        <p:tgtEl>
                                          <p:spTgt spid="9116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5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06" name="Text Box 18"/>
          <p:cNvSpPr txBox="1">
            <a:spLocks noChangeArrowheads="1"/>
          </p:cNvSpPr>
          <p:nvPr/>
        </p:nvSpPr>
        <p:spPr bwMode="auto">
          <a:xfrm>
            <a:off x="1947694" y="4509752"/>
            <a:ext cx="9028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解：</a:t>
            </a:r>
            <a:endPar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89107" name="Object 19"/>
          <p:cNvGraphicFramePr>
            <a:graphicFrameLocks noChangeAspect="1"/>
          </p:cNvGraphicFramePr>
          <p:nvPr/>
        </p:nvGraphicFramePr>
        <p:xfrm>
          <a:off x="2899013" y="4226948"/>
          <a:ext cx="5939963" cy="1115700"/>
        </p:xfrm>
        <a:graphic>
          <a:graphicData uri="http://schemas.openxmlformats.org/presentationml/2006/ole">
            <mc:AlternateContent xmlns:mc="http://schemas.openxmlformats.org/markup-compatibility/2006">
              <mc:Choice xmlns:v="urn:schemas-microsoft-com:vml" Requires="v">
                <p:oleObj spid="_x0000_s206855" name="Equation" r:id="rId1" imgW="64922400" imgH="12192000" progId="Equation.DSMT4">
                  <p:embed/>
                </p:oleObj>
              </mc:Choice>
              <mc:Fallback>
                <p:oleObj name="Equation" r:id="rId1" imgW="64922400" imgH="12192000" progId="Equation.DSMT4">
                  <p:embed/>
                  <p:pic>
                    <p:nvPicPr>
                      <p:cNvPr id="0" name="Object 19"/>
                      <p:cNvPicPr>
                        <a:picLocks noChangeAspect="1" noChangeArrowheads="1"/>
                      </p:cNvPicPr>
                      <p:nvPr/>
                    </p:nvPicPr>
                    <p:blipFill>
                      <a:blip r:embed="rId2"/>
                      <a:srcRect/>
                      <a:stretch>
                        <a:fillRect/>
                      </a:stretch>
                    </p:blipFill>
                    <p:spPr bwMode="auto">
                      <a:xfrm>
                        <a:off x="2899013" y="4226948"/>
                        <a:ext cx="5939963" cy="1115700"/>
                      </a:xfrm>
                      <a:prstGeom prst="rect">
                        <a:avLst/>
                      </a:prstGeom>
                      <a:noFill/>
                      <a:ln>
                        <a:noFill/>
                      </a:ln>
                      <a:effectLst/>
                    </p:spPr>
                  </p:pic>
                </p:oleObj>
              </mc:Fallback>
            </mc:AlternateContent>
          </a:graphicData>
        </a:graphic>
      </p:graphicFrame>
      <p:graphicFrame>
        <p:nvGraphicFramePr>
          <p:cNvPr id="89108" name="Object 20"/>
          <p:cNvGraphicFramePr>
            <a:graphicFrameLocks noChangeAspect="1"/>
          </p:cNvGraphicFramePr>
          <p:nvPr/>
        </p:nvGraphicFramePr>
        <p:xfrm>
          <a:off x="2162032" y="5315775"/>
          <a:ext cx="7143877" cy="975791"/>
        </p:xfrm>
        <a:graphic>
          <a:graphicData uri="http://schemas.openxmlformats.org/presentationml/2006/ole">
            <mc:AlternateContent xmlns:mc="http://schemas.openxmlformats.org/markup-compatibility/2006">
              <mc:Choice xmlns:v="urn:schemas-microsoft-com:vml" Requires="v">
                <p:oleObj spid="_x0000_s2" name="Equation" r:id="rId3" imgW="82600800" imgH="11277600" progId="Equation.DSMT4">
                  <p:embed/>
                </p:oleObj>
              </mc:Choice>
              <mc:Fallback>
                <p:oleObj name="Equation" r:id="rId3" imgW="82600800" imgH="11277600" progId="Equation.DSMT4">
                  <p:embed/>
                  <p:pic>
                    <p:nvPicPr>
                      <p:cNvPr id="0" name="Object 20"/>
                      <p:cNvPicPr>
                        <a:picLocks noChangeAspect="1" noChangeArrowheads="1"/>
                      </p:cNvPicPr>
                      <p:nvPr/>
                    </p:nvPicPr>
                    <p:blipFill>
                      <a:blip r:embed="rId4"/>
                      <a:srcRect/>
                      <a:stretch>
                        <a:fillRect/>
                      </a:stretch>
                    </p:blipFill>
                    <p:spPr bwMode="auto">
                      <a:xfrm>
                        <a:off x="2162032" y="5315775"/>
                        <a:ext cx="7143877" cy="975791"/>
                      </a:xfrm>
                      <a:prstGeom prst="rect">
                        <a:avLst/>
                      </a:prstGeom>
                      <a:noFill/>
                      <a:ln>
                        <a:noFill/>
                      </a:ln>
                      <a:effectLst/>
                    </p:spPr>
                  </p:pic>
                </p:oleObj>
              </mc:Fallback>
            </mc:AlternateContent>
          </a:graphicData>
        </a:graphic>
      </p:graphicFrame>
      <p:graphicFrame>
        <p:nvGraphicFramePr>
          <p:cNvPr id="6" name="Object 19"/>
          <p:cNvGraphicFramePr>
            <a:graphicFrameLocks noChangeAspect="1"/>
          </p:cNvGraphicFramePr>
          <p:nvPr/>
        </p:nvGraphicFramePr>
        <p:xfrm>
          <a:off x="3215680" y="1826376"/>
          <a:ext cx="3477348" cy="1609352"/>
        </p:xfrm>
        <a:graphic>
          <a:graphicData uri="http://schemas.openxmlformats.org/presentationml/2006/ole">
            <mc:AlternateContent xmlns:mc="http://schemas.openxmlformats.org/markup-compatibility/2006">
              <mc:Choice xmlns:v="urn:schemas-microsoft-com:vml" Requires="v">
                <p:oleObj spid="_x0000_s3" name="Equation" r:id="rId5" imgW="36880800" imgH="17068800" progId="Equation.DSMT4">
                  <p:embed/>
                </p:oleObj>
              </mc:Choice>
              <mc:Fallback>
                <p:oleObj name="Equation" r:id="rId5" imgW="36880800" imgH="17068800" progId="Equation.DSMT4">
                  <p:embed/>
                  <p:pic>
                    <p:nvPicPr>
                      <p:cNvPr id="0" name="Object 19"/>
                      <p:cNvPicPr>
                        <a:picLocks noChangeAspect="1" noChangeArrowheads="1"/>
                      </p:cNvPicPr>
                      <p:nvPr/>
                    </p:nvPicPr>
                    <p:blipFill>
                      <a:blip r:embed="rId6"/>
                      <a:srcRect/>
                      <a:stretch>
                        <a:fillRect/>
                      </a:stretch>
                    </p:blipFill>
                    <p:spPr bwMode="auto">
                      <a:xfrm>
                        <a:off x="3215680" y="1826376"/>
                        <a:ext cx="3477348" cy="1609352"/>
                      </a:xfrm>
                      <a:prstGeom prst="rect">
                        <a:avLst/>
                      </a:prstGeom>
                      <a:noFill/>
                      <a:ln>
                        <a:noFill/>
                      </a:ln>
                      <a:effectLst/>
                    </p:spPr>
                  </p:pic>
                </p:oleObj>
              </mc:Fallback>
            </mc:AlternateContent>
          </a:graphicData>
        </a:graphic>
      </p:graphicFrame>
      <p:sp>
        <p:nvSpPr>
          <p:cNvPr id="7" name="Rectangle 14"/>
          <p:cNvSpPr>
            <a:spLocks noChangeArrowheads="1"/>
          </p:cNvSpPr>
          <p:nvPr/>
        </p:nvSpPr>
        <p:spPr bwMode="auto">
          <a:xfrm>
            <a:off x="1438059" y="1336261"/>
            <a:ext cx="878895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设随机变量</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服从瑞利分布，其概率密度为</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 name="Rectangle 16"/>
          <p:cNvSpPr>
            <a:spLocks noChangeArrowheads="1"/>
          </p:cNvSpPr>
          <p:nvPr/>
        </p:nvSpPr>
        <p:spPr bwMode="auto">
          <a:xfrm>
            <a:off x="2090108" y="3518351"/>
            <a:ext cx="531587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其中</a:t>
            </a:r>
            <a:r>
              <a:rPr lang="el-GR"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σ</a:t>
            </a:r>
            <a:r>
              <a:rPr lang="el-GR"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&gt; </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是常数，</a:t>
            </a:r>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求</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D(X)</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9"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五、课堂练习</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1" name="组合 10"/>
          <p:cNvGrpSpPr/>
          <p:nvPr/>
        </p:nvGrpSpPr>
        <p:grpSpPr>
          <a:xfrm>
            <a:off x="851761" y="364781"/>
            <a:ext cx="263341" cy="395013"/>
            <a:chOff x="5284519" y="1508166"/>
            <a:chExt cx="213756" cy="427512"/>
          </a:xfrm>
        </p:grpSpPr>
        <p:cxnSp>
          <p:nvCxnSpPr>
            <p:cNvPr id="12" name="直接连接符 11"/>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3" name="直接连接符 12"/>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9106"/>
                                        </p:tgtEl>
                                        <p:attrNameLst>
                                          <p:attrName>style.visibility</p:attrName>
                                        </p:attrNameLst>
                                      </p:cBhvr>
                                      <p:to>
                                        <p:strVal val="visible"/>
                                      </p:to>
                                    </p:set>
                                    <p:anim calcmode="lin" valueType="num">
                                      <p:cBhvr additive="base">
                                        <p:cTn id="25" dur="500" fill="hold"/>
                                        <p:tgtEl>
                                          <p:spTgt spid="89106"/>
                                        </p:tgtEl>
                                        <p:attrNameLst>
                                          <p:attrName>ppt_x</p:attrName>
                                        </p:attrNameLst>
                                      </p:cBhvr>
                                      <p:tavLst>
                                        <p:tav tm="0">
                                          <p:val>
                                            <p:strVal val="0-#ppt_w/2"/>
                                          </p:val>
                                        </p:tav>
                                        <p:tav tm="100000">
                                          <p:val>
                                            <p:strVal val="#ppt_x"/>
                                          </p:val>
                                        </p:tav>
                                      </p:tavLst>
                                    </p:anim>
                                    <p:anim calcmode="lin" valueType="num">
                                      <p:cBhvr additive="base">
                                        <p:cTn id="26" dur="500" fill="hold"/>
                                        <p:tgtEl>
                                          <p:spTgt spid="8910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89107"/>
                                        </p:tgtEl>
                                        <p:attrNameLst>
                                          <p:attrName>style.visibility</p:attrName>
                                        </p:attrNameLst>
                                      </p:cBhvr>
                                      <p:to>
                                        <p:strVal val="visible"/>
                                      </p:to>
                                    </p:set>
                                    <p:anim calcmode="lin" valueType="num">
                                      <p:cBhvr additive="base">
                                        <p:cTn id="31" dur="500" fill="hold"/>
                                        <p:tgtEl>
                                          <p:spTgt spid="89107"/>
                                        </p:tgtEl>
                                        <p:attrNameLst>
                                          <p:attrName>ppt_x</p:attrName>
                                        </p:attrNameLst>
                                      </p:cBhvr>
                                      <p:tavLst>
                                        <p:tav tm="0">
                                          <p:val>
                                            <p:strVal val="0-#ppt_w/2"/>
                                          </p:val>
                                        </p:tav>
                                        <p:tav tm="100000">
                                          <p:val>
                                            <p:strVal val="#ppt_x"/>
                                          </p:val>
                                        </p:tav>
                                      </p:tavLst>
                                    </p:anim>
                                    <p:anim calcmode="lin" valueType="num">
                                      <p:cBhvr additive="base">
                                        <p:cTn id="32" dur="500" fill="hold"/>
                                        <p:tgtEl>
                                          <p:spTgt spid="8910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89108"/>
                                        </p:tgtEl>
                                        <p:attrNameLst>
                                          <p:attrName>style.visibility</p:attrName>
                                        </p:attrNameLst>
                                      </p:cBhvr>
                                      <p:to>
                                        <p:strVal val="visible"/>
                                      </p:to>
                                    </p:set>
                                    <p:anim calcmode="lin" valueType="num">
                                      <p:cBhvr additive="base">
                                        <p:cTn id="37" dur="500" fill="hold"/>
                                        <p:tgtEl>
                                          <p:spTgt spid="89108"/>
                                        </p:tgtEl>
                                        <p:attrNameLst>
                                          <p:attrName>ppt_x</p:attrName>
                                        </p:attrNameLst>
                                      </p:cBhvr>
                                      <p:tavLst>
                                        <p:tav tm="0">
                                          <p:val>
                                            <p:strVal val="0-#ppt_w/2"/>
                                          </p:val>
                                        </p:tav>
                                        <p:tav tm="100000">
                                          <p:val>
                                            <p:strVal val="#ppt_x"/>
                                          </p:val>
                                        </p:tav>
                                      </p:tavLst>
                                    </p:anim>
                                    <p:anim calcmode="lin" valueType="num">
                                      <p:cBhvr additive="base">
                                        <p:cTn id="38" dur="500" fill="hold"/>
                                        <p:tgtEl>
                                          <p:spTgt spid="891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06" grpId="0"/>
      <p:bldP spid="7" grpId="0"/>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1406163" y="1556792"/>
            <a:ext cx="9373744" cy="4081088"/>
            <a:chOff x="1042739" y="2058271"/>
            <a:chExt cx="10106525" cy="4081088"/>
          </a:xfrm>
        </p:grpSpPr>
        <p:sp>
          <p:nvSpPr>
            <p:cNvPr id="13" name="矩形 12"/>
            <p:cNvSpPr/>
            <p:nvPr/>
          </p:nvSpPr>
          <p:spPr>
            <a:xfrm>
              <a:off x="1042739" y="2132314"/>
              <a:ext cx="10106525" cy="4007045"/>
            </a:xfrm>
            <a:prstGeom prst="rect">
              <a:avLst/>
            </a:prstGeom>
            <a:solidFill>
              <a:schemeClr val="bg1">
                <a:lumMod val="65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 name="矩形 13"/>
            <p:cNvSpPr/>
            <p:nvPr/>
          </p:nvSpPr>
          <p:spPr>
            <a:xfrm>
              <a:off x="1177638" y="2058271"/>
              <a:ext cx="9836727" cy="3958560"/>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82957" name="Rectangle 13"/>
          <p:cNvSpPr>
            <a:spLocks noChangeArrowheads="1"/>
          </p:cNvSpPr>
          <p:nvPr/>
        </p:nvSpPr>
        <p:spPr bwMode="auto">
          <a:xfrm>
            <a:off x="2790068" y="2353901"/>
            <a:ext cx="7160935" cy="5847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这一讲，我们介绍了随机变量的方差。</a:t>
            </a:r>
            <a:endPar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82958" name="Rectangle 14"/>
          <p:cNvSpPr>
            <a:spLocks noChangeArrowheads="1"/>
          </p:cNvSpPr>
          <p:nvPr/>
        </p:nvSpPr>
        <p:spPr bwMode="auto">
          <a:xfrm>
            <a:off x="1907958" y="3026791"/>
            <a:ext cx="8043862" cy="1482329"/>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nSpc>
                <a:spcPct val="150000"/>
              </a:lnSpc>
              <a:spcBef>
                <a:spcPct val="50000"/>
              </a:spcBef>
            </a:pP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它是刻划随机变量取值在其中心附近离散程度的一个数字特征。</a:t>
            </a:r>
            <a:endParaRPr lang="en-US" altLang="zh-CN" sz="32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7" name="直接连接符 6"/>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六、归纳总结</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82957"/>
                                        </p:tgtEl>
                                        <p:attrNameLst>
                                          <p:attrName>style.visibility</p:attrName>
                                        </p:attrNameLst>
                                      </p:cBhvr>
                                      <p:to>
                                        <p:strVal val="visible"/>
                                      </p:to>
                                    </p:set>
                                    <p:animEffect transition="in" filter="barn(outVertical)">
                                      <p:cBhvr>
                                        <p:cTn id="7" dur="500"/>
                                        <p:tgtEl>
                                          <p:spTgt spid="829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958"/>
                                        </p:tgtEl>
                                        <p:attrNameLst>
                                          <p:attrName>style.visibility</p:attrName>
                                        </p:attrNameLst>
                                      </p:cBhvr>
                                      <p:to>
                                        <p:strVal val="visible"/>
                                      </p:to>
                                    </p:set>
                                    <p:animEffect transition="in" filter="wipe(left)">
                                      <p:cBhvr>
                                        <p:cTn id="12" dur="500"/>
                                        <p:tgtEl>
                                          <p:spTgt spid="82958"/>
                                        </p:tgtEl>
                                      </p:cBhvr>
                                    </p:animEffect>
                                  </p:childTnLst>
                                </p:cTn>
                              </p:par>
                              <p:par>
                                <p:cTn id="13" presetID="2" presetClass="entr" presetSubtype="4"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ppt_x"/>
                                          </p:val>
                                        </p:tav>
                                        <p:tav tm="100000">
                                          <p:val>
                                            <p:strVal val="#ppt_x"/>
                                          </p:val>
                                        </p:tav>
                                      </p:tavLst>
                                    </p:anim>
                                    <p:anim calcmode="lin" valueType="num">
                                      <p:cBhvr additive="base">
                                        <p:cTn id="1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7" grpId="0" autoUpdateAnimBg="0"/>
      <p:bldP spid="82958"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矩形 188"/>
          <p:cNvSpPr/>
          <p:nvPr/>
        </p:nvSpPr>
        <p:spPr bwMode="auto">
          <a:xfrm>
            <a:off x="7928887" y="1529674"/>
            <a:ext cx="4263114" cy="3801676"/>
          </a:xfrm>
          <a:prstGeom prst="rect">
            <a:avLst/>
          </a:prstGeom>
          <a:solidFill>
            <a:srgbClr val="FEFEFE"/>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eaLnBrk="0" fontAlgn="base" hangingPunct="0">
              <a:spcBef>
                <a:spcPct val="0"/>
              </a:spcBef>
              <a:spcAft>
                <a:spcPct val="0"/>
              </a:spcAft>
            </a:pPr>
            <a:endParaRPr lang="zh-CN" altLang="en-US" sz="2400"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 name="矩形 19"/>
          <p:cNvSpPr/>
          <p:nvPr/>
        </p:nvSpPr>
        <p:spPr>
          <a:xfrm>
            <a:off x="0" y="1529673"/>
            <a:ext cx="7939595" cy="3801677"/>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7" name="组合 7"/>
          <p:cNvGrpSpPr/>
          <p:nvPr/>
        </p:nvGrpSpPr>
        <p:grpSpPr bwMode="auto">
          <a:xfrm>
            <a:off x="3154876" y="3082680"/>
            <a:ext cx="4559681" cy="2335482"/>
            <a:chOff x="0" y="-1"/>
            <a:chExt cx="7767664" cy="3827470"/>
          </a:xfrm>
          <a:solidFill>
            <a:schemeClr val="bg1">
              <a:lumMod val="95000"/>
              <a:alpha val="12000"/>
            </a:schemeClr>
          </a:solidFill>
        </p:grpSpPr>
        <p:sp>
          <p:nvSpPr>
            <p:cNvPr id="198" name="Freeform 4"/>
            <p:cNvSpPr>
              <a:spLocks noChangeArrowheads="1"/>
            </p:cNvSpPr>
            <p:nvPr/>
          </p:nvSpPr>
          <p:spPr bwMode="auto">
            <a:xfrm>
              <a:off x="3898913" y="2844804"/>
              <a:ext cx="276226" cy="273050"/>
            </a:xfrm>
            <a:custGeom>
              <a:avLst/>
              <a:gdLst>
                <a:gd name="T0" fmla="*/ 53 w 144"/>
                <a:gd name="T1" fmla="*/ 137 h 143"/>
                <a:gd name="T2" fmla="*/ 60 w 144"/>
                <a:gd name="T3" fmla="*/ 133 h 143"/>
                <a:gd name="T4" fmla="*/ 66 w 144"/>
                <a:gd name="T5" fmla="*/ 141 h 143"/>
                <a:gd name="T6" fmla="*/ 80 w 144"/>
                <a:gd name="T7" fmla="*/ 141 h 143"/>
                <a:gd name="T8" fmla="*/ 87 w 144"/>
                <a:gd name="T9" fmla="*/ 134 h 143"/>
                <a:gd name="T10" fmla="*/ 87 w 144"/>
                <a:gd name="T11" fmla="*/ 59 h 143"/>
                <a:gd name="T12" fmla="*/ 99 w 144"/>
                <a:gd name="T13" fmla="*/ 55 h 143"/>
                <a:gd name="T14" fmla="*/ 99 w 144"/>
                <a:gd name="T15" fmla="*/ 16 h 143"/>
                <a:gd name="T16" fmla="*/ 109 w 144"/>
                <a:gd name="T17" fmla="*/ 15 h 143"/>
                <a:gd name="T18" fmla="*/ 122 w 144"/>
                <a:gd name="T19" fmla="*/ 11 h 143"/>
                <a:gd name="T20" fmla="*/ 128 w 144"/>
                <a:gd name="T21" fmla="*/ 16 h 143"/>
                <a:gd name="T22" fmla="*/ 136 w 144"/>
                <a:gd name="T23" fmla="*/ 11 h 143"/>
                <a:gd name="T24" fmla="*/ 144 w 144"/>
                <a:gd name="T25" fmla="*/ 9 h 143"/>
                <a:gd name="T26" fmla="*/ 143 w 144"/>
                <a:gd name="T27" fmla="*/ 6 h 143"/>
                <a:gd name="T28" fmla="*/ 119 w 144"/>
                <a:gd name="T29" fmla="*/ 8 h 143"/>
                <a:gd name="T30" fmla="*/ 102 w 144"/>
                <a:gd name="T31" fmla="*/ 9 h 143"/>
                <a:gd name="T32" fmla="*/ 77 w 144"/>
                <a:gd name="T33" fmla="*/ 9 h 143"/>
                <a:gd name="T34" fmla="*/ 73 w 144"/>
                <a:gd name="T35" fmla="*/ 5 h 143"/>
                <a:gd name="T36" fmla="*/ 34 w 144"/>
                <a:gd name="T37" fmla="*/ 5 h 143"/>
                <a:gd name="T38" fmla="*/ 24 w 144"/>
                <a:gd name="T39" fmla="*/ 3 h 143"/>
                <a:gd name="T40" fmla="*/ 13 w 144"/>
                <a:gd name="T41" fmla="*/ 2 h 143"/>
                <a:gd name="T42" fmla="*/ 8 w 144"/>
                <a:gd name="T43" fmla="*/ 0 h 143"/>
                <a:gd name="T44" fmla="*/ 4 w 144"/>
                <a:gd name="T45" fmla="*/ 3 h 143"/>
                <a:gd name="T46" fmla="*/ 1 w 144"/>
                <a:gd name="T47" fmla="*/ 3 h 143"/>
                <a:gd name="T48" fmla="*/ 7 w 144"/>
                <a:gd name="T49" fmla="*/ 18 h 143"/>
                <a:gd name="T50" fmla="*/ 18 w 144"/>
                <a:gd name="T51" fmla="*/ 41 h 143"/>
                <a:gd name="T52" fmla="*/ 29 w 144"/>
                <a:gd name="T53" fmla="*/ 65 h 143"/>
                <a:gd name="T54" fmla="*/ 30 w 144"/>
                <a:gd name="T55" fmla="*/ 84 h 143"/>
                <a:gd name="T56" fmla="*/ 34 w 144"/>
                <a:gd name="T57" fmla="*/ 101 h 143"/>
                <a:gd name="T58" fmla="*/ 42 w 144"/>
                <a:gd name="T59" fmla="*/ 129 h 143"/>
                <a:gd name="T60" fmla="*/ 49 w 144"/>
                <a:gd name="T61" fmla="*/ 138 h 143"/>
                <a:gd name="T62" fmla="*/ 53 w 144"/>
                <a:gd name="T63" fmla="*/ 137 h 14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44"/>
                <a:gd name="T97" fmla="*/ 0 h 143"/>
                <a:gd name="T98" fmla="*/ 144 w 144"/>
                <a:gd name="T99" fmla="*/ 143 h 14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44" h="143">
                  <a:moveTo>
                    <a:pt x="53" y="137"/>
                  </a:moveTo>
                  <a:cubicBezTo>
                    <a:pt x="53" y="134"/>
                    <a:pt x="57" y="130"/>
                    <a:pt x="60" y="133"/>
                  </a:cubicBezTo>
                  <a:cubicBezTo>
                    <a:pt x="62" y="137"/>
                    <a:pt x="61" y="141"/>
                    <a:pt x="66" y="141"/>
                  </a:cubicBezTo>
                  <a:cubicBezTo>
                    <a:pt x="70" y="141"/>
                    <a:pt x="79" y="143"/>
                    <a:pt x="80" y="141"/>
                  </a:cubicBezTo>
                  <a:cubicBezTo>
                    <a:pt x="81" y="139"/>
                    <a:pt x="87" y="137"/>
                    <a:pt x="87" y="134"/>
                  </a:cubicBezTo>
                  <a:cubicBezTo>
                    <a:pt x="87" y="130"/>
                    <a:pt x="87" y="62"/>
                    <a:pt x="87" y="59"/>
                  </a:cubicBezTo>
                  <a:cubicBezTo>
                    <a:pt x="87" y="57"/>
                    <a:pt x="99" y="59"/>
                    <a:pt x="99" y="55"/>
                  </a:cubicBezTo>
                  <a:cubicBezTo>
                    <a:pt x="99" y="51"/>
                    <a:pt x="99" y="16"/>
                    <a:pt x="99" y="16"/>
                  </a:cubicBezTo>
                  <a:cubicBezTo>
                    <a:pt x="99" y="16"/>
                    <a:pt x="107" y="16"/>
                    <a:pt x="109" y="15"/>
                  </a:cubicBezTo>
                  <a:cubicBezTo>
                    <a:pt x="112" y="14"/>
                    <a:pt x="120" y="10"/>
                    <a:pt x="122" y="11"/>
                  </a:cubicBezTo>
                  <a:cubicBezTo>
                    <a:pt x="124" y="13"/>
                    <a:pt x="127" y="17"/>
                    <a:pt x="128" y="16"/>
                  </a:cubicBezTo>
                  <a:cubicBezTo>
                    <a:pt x="129" y="14"/>
                    <a:pt x="133" y="11"/>
                    <a:pt x="136" y="11"/>
                  </a:cubicBezTo>
                  <a:cubicBezTo>
                    <a:pt x="138" y="11"/>
                    <a:pt x="141" y="10"/>
                    <a:pt x="144" y="9"/>
                  </a:cubicBezTo>
                  <a:cubicBezTo>
                    <a:pt x="143" y="8"/>
                    <a:pt x="143" y="7"/>
                    <a:pt x="143" y="6"/>
                  </a:cubicBezTo>
                  <a:cubicBezTo>
                    <a:pt x="143" y="4"/>
                    <a:pt x="122" y="7"/>
                    <a:pt x="119" y="8"/>
                  </a:cubicBezTo>
                  <a:cubicBezTo>
                    <a:pt x="116" y="9"/>
                    <a:pt x="105" y="11"/>
                    <a:pt x="102" y="9"/>
                  </a:cubicBezTo>
                  <a:cubicBezTo>
                    <a:pt x="98" y="8"/>
                    <a:pt x="77" y="9"/>
                    <a:pt x="77" y="9"/>
                  </a:cubicBezTo>
                  <a:cubicBezTo>
                    <a:pt x="73" y="5"/>
                    <a:pt x="73" y="5"/>
                    <a:pt x="73" y="5"/>
                  </a:cubicBezTo>
                  <a:cubicBezTo>
                    <a:pt x="73" y="5"/>
                    <a:pt x="38" y="5"/>
                    <a:pt x="34" y="5"/>
                  </a:cubicBezTo>
                  <a:cubicBezTo>
                    <a:pt x="30" y="5"/>
                    <a:pt x="27" y="5"/>
                    <a:pt x="24" y="3"/>
                  </a:cubicBezTo>
                  <a:cubicBezTo>
                    <a:pt x="20" y="0"/>
                    <a:pt x="17" y="0"/>
                    <a:pt x="13" y="2"/>
                  </a:cubicBezTo>
                  <a:cubicBezTo>
                    <a:pt x="9" y="4"/>
                    <a:pt x="11" y="0"/>
                    <a:pt x="8" y="0"/>
                  </a:cubicBezTo>
                  <a:cubicBezTo>
                    <a:pt x="5" y="0"/>
                    <a:pt x="4" y="3"/>
                    <a:pt x="4" y="3"/>
                  </a:cubicBezTo>
                  <a:cubicBezTo>
                    <a:pt x="1" y="3"/>
                    <a:pt x="1" y="3"/>
                    <a:pt x="1" y="3"/>
                  </a:cubicBezTo>
                  <a:cubicBezTo>
                    <a:pt x="0" y="7"/>
                    <a:pt x="3" y="13"/>
                    <a:pt x="7" y="18"/>
                  </a:cubicBezTo>
                  <a:cubicBezTo>
                    <a:pt x="11" y="23"/>
                    <a:pt x="15" y="33"/>
                    <a:pt x="18" y="41"/>
                  </a:cubicBezTo>
                  <a:cubicBezTo>
                    <a:pt x="20" y="49"/>
                    <a:pt x="28" y="59"/>
                    <a:pt x="29" y="65"/>
                  </a:cubicBezTo>
                  <a:cubicBezTo>
                    <a:pt x="31" y="71"/>
                    <a:pt x="28" y="80"/>
                    <a:pt x="30" y="84"/>
                  </a:cubicBezTo>
                  <a:cubicBezTo>
                    <a:pt x="32" y="88"/>
                    <a:pt x="33" y="95"/>
                    <a:pt x="34" y="101"/>
                  </a:cubicBezTo>
                  <a:cubicBezTo>
                    <a:pt x="35" y="108"/>
                    <a:pt x="35" y="123"/>
                    <a:pt x="42" y="129"/>
                  </a:cubicBezTo>
                  <a:cubicBezTo>
                    <a:pt x="44" y="131"/>
                    <a:pt x="46" y="134"/>
                    <a:pt x="49" y="138"/>
                  </a:cubicBezTo>
                  <a:cubicBezTo>
                    <a:pt x="51" y="138"/>
                    <a:pt x="53" y="138"/>
                    <a:pt x="53" y="1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9" name="Freeform 5"/>
            <p:cNvSpPr>
              <a:spLocks noChangeArrowheads="1"/>
            </p:cNvSpPr>
            <p:nvPr/>
          </p:nvSpPr>
          <p:spPr bwMode="auto">
            <a:xfrm>
              <a:off x="4175139" y="2813054"/>
              <a:ext cx="171451" cy="149225"/>
            </a:xfrm>
            <a:custGeom>
              <a:avLst/>
              <a:gdLst>
                <a:gd name="T0" fmla="*/ 59 w 90"/>
                <a:gd name="T1" fmla="*/ 4 h 78"/>
                <a:gd name="T2" fmla="*/ 58 w 90"/>
                <a:gd name="T3" fmla="*/ 0 h 78"/>
                <a:gd name="T4" fmla="*/ 48 w 90"/>
                <a:gd name="T5" fmla="*/ 0 h 78"/>
                <a:gd name="T6" fmla="*/ 42 w 90"/>
                <a:gd name="T7" fmla="*/ 6 h 78"/>
                <a:gd name="T8" fmla="*/ 31 w 90"/>
                <a:gd name="T9" fmla="*/ 14 h 78"/>
                <a:gd name="T10" fmla="*/ 20 w 90"/>
                <a:gd name="T11" fmla="*/ 27 h 78"/>
                <a:gd name="T12" fmla="*/ 5 w 90"/>
                <a:gd name="T13" fmla="*/ 24 h 78"/>
                <a:gd name="T14" fmla="*/ 0 w 90"/>
                <a:gd name="T15" fmla="*/ 25 h 78"/>
                <a:gd name="T16" fmla="*/ 6 w 90"/>
                <a:gd name="T17" fmla="*/ 31 h 78"/>
                <a:gd name="T18" fmla="*/ 12 w 90"/>
                <a:gd name="T19" fmla="*/ 45 h 78"/>
                <a:gd name="T20" fmla="*/ 23 w 90"/>
                <a:gd name="T21" fmla="*/ 53 h 78"/>
                <a:gd name="T22" fmla="*/ 28 w 90"/>
                <a:gd name="T23" fmla="*/ 61 h 78"/>
                <a:gd name="T24" fmla="*/ 36 w 90"/>
                <a:gd name="T25" fmla="*/ 69 h 78"/>
                <a:gd name="T26" fmla="*/ 44 w 90"/>
                <a:gd name="T27" fmla="*/ 74 h 78"/>
                <a:gd name="T28" fmla="*/ 55 w 90"/>
                <a:gd name="T29" fmla="*/ 76 h 78"/>
                <a:gd name="T30" fmla="*/ 67 w 90"/>
                <a:gd name="T31" fmla="*/ 78 h 78"/>
                <a:gd name="T32" fmla="*/ 79 w 90"/>
                <a:gd name="T33" fmla="*/ 67 h 78"/>
                <a:gd name="T34" fmla="*/ 82 w 90"/>
                <a:gd name="T35" fmla="*/ 56 h 78"/>
                <a:gd name="T36" fmla="*/ 88 w 90"/>
                <a:gd name="T37" fmla="*/ 48 h 78"/>
                <a:gd name="T38" fmla="*/ 84 w 90"/>
                <a:gd name="T39" fmla="*/ 39 h 78"/>
                <a:gd name="T40" fmla="*/ 87 w 90"/>
                <a:gd name="T41" fmla="*/ 29 h 78"/>
                <a:gd name="T42" fmla="*/ 87 w 90"/>
                <a:gd name="T43" fmla="*/ 12 h 78"/>
                <a:gd name="T44" fmla="*/ 74 w 90"/>
                <a:gd name="T45" fmla="*/ 7 h 78"/>
                <a:gd name="T46" fmla="*/ 59 w 90"/>
                <a:gd name="T47" fmla="*/ 4 h 7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0"/>
                <a:gd name="T73" fmla="*/ 0 h 78"/>
                <a:gd name="T74" fmla="*/ 90 w 90"/>
                <a:gd name="T75" fmla="*/ 78 h 7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0" h="78">
                  <a:moveTo>
                    <a:pt x="59" y="4"/>
                  </a:moveTo>
                  <a:cubicBezTo>
                    <a:pt x="58" y="0"/>
                    <a:pt x="58" y="0"/>
                    <a:pt x="58" y="0"/>
                  </a:cubicBezTo>
                  <a:cubicBezTo>
                    <a:pt x="48" y="0"/>
                    <a:pt x="48" y="0"/>
                    <a:pt x="48" y="0"/>
                  </a:cubicBezTo>
                  <a:cubicBezTo>
                    <a:pt x="42" y="2"/>
                    <a:pt x="42" y="4"/>
                    <a:pt x="42" y="6"/>
                  </a:cubicBezTo>
                  <a:cubicBezTo>
                    <a:pt x="42" y="8"/>
                    <a:pt x="36" y="13"/>
                    <a:pt x="31" y="14"/>
                  </a:cubicBezTo>
                  <a:cubicBezTo>
                    <a:pt x="27" y="15"/>
                    <a:pt x="22" y="25"/>
                    <a:pt x="20" y="27"/>
                  </a:cubicBezTo>
                  <a:cubicBezTo>
                    <a:pt x="17" y="28"/>
                    <a:pt x="8" y="25"/>
                    <a:pt x="5" y="24"/>
                  </a:cubicBezTo>
                  <a:cubicBezTo>
                    <a:pt x="4" y="24"/>
                    <a:pt x="2" y="25"/>
                    <a:pt x="0" y="25"/>
                  </a:cubicBezTo>
                  <a:cubicBezTo>
                    <a:pt x="1" y="28"/>
                    <a:pt x="5" y="31"/>
                    <a:pt x="6" y="31"/>
                  </a:cubicBezTo>
                  <a:cubicBezTo>
                    <a:pt x="8" y="31"/>
                    <a:pt x="8" y="43"/>
                    <a:pt x="12" y="45"/>
                  </a:cubicBezTo>
                  <a:cubicBezTo>
                    <a:pt x="16" y="47"/>
                    <a:pt x="23" y="51"/>
                    <a:pt x="23" y="53"/>
                  </a:cubicBezTo>
                  <a:cubicBezTo>
                    <a:pt x="23" y="55"/>
                    <a:pt x="28" y="58"/>
                    <a:pt x="28" y="61"/>
                  </a:cubicBezTo>
                  <a:cubicBezTo>
                    <a:pt x="28" y="65"/>
                    <a:pt x="32" y="69"/>
                    <a:pt x="36" y="69"/>
                  </a:cubicBezTo>
                  <a:cubicBezTo>
                    <a:pt x="43" y="69"/>
                    <a:pt x="44" y="72"/>
                    <a:pt x="44" y="74"/>
                  </a:cubicBezTo>
                  <a:cubicBezTo>
                    <a:pt x="44" y="76"/>
                    <a:pt x="53" y="74"/>
                    <a:pt x="55" y="76"/>
                  </a:cubicBezTo>
                  <a:cubicBezTo>
                    <a:pt x="56" y="78"/>
                    <a:pt x="65" y="77"/>
                    <a:pt x="67" y="78"/>
                  </a:cubicBezTo>
                  <a:cubicBezTo>
                    <a:pt x="71" y="75"/>
                    <a:pt x="77" y="70"/>
                    <a:pt x="79" y="67"/>
                  </a:cubicBezTo>
                  <a:cubicBezTo>
                    <a:pt x="82" y="63"/>
                    <a:pt x="79" y="58"/>
                    <a:pt x="82" y="56"/>
                  </a:cubicBezTo>
                  <a:cubicBezTo>
                    <a:pt x="84" y="55"/>
                    <a:pt x="90" y="48"/>
                    <a:pt x="88" y="48"/>
                  </a:cubicBezTo>
                  <a:cubicBezTo>
                    <a:pt x="86" y="47"/>
                    <a:pt x="87" y="42"/>
                    <a:pt x="84" y="39"/>
                  </a:cubicBezTo>
                  <a:cubicBezTo>
                    <a:pt x="81" y="36"/>
                    <a:pt x="88" y="35"/>
                    <a:pt x="87" y="29"/>
                  </a:cubicBezTo>
                  <a:cubicBezTo>
                    <a:pt x="87" y="24"/>
                    <a:pt x="88" y="13"/>
                    <a:pt x="87" y="12"/>
                  </a:cubicBezTo>
                  <a:cubicBezTo>
                    <a:pt x="85" y="11"/>
                    <a:pt x="78" y="10"/>
                    <a:pt x="74" y="7"/>
                  </a:cubicBezTo>
                  <a:cubicBezTo>
                    <a:pt x="69" y="4"/>
                    <a:pt x="59" y="4"/>
                    <a:pt x="59"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0" name="Freeform 6"/>
            <p:cNvSpPr>
              <a:spLocks noChangeArrowheads="1"/>
            </p:cNvSpPr>
            <p:nvPr/>
          </p:nvSpPr>
          <p:spPr bwMode="auto">
            <a:xfrm>
              <a:off x="4065601" y="2862265"/>
              <a:ext cx="193676" cy="207963"/>
            </a:xfrm>
            <a:custGeom>
              <a:avLst/>
              <a:gdLst>
                <a:gd name="T0" fmla="*/ 93 w 101"/>
                <a:gd name="T1" fmla="*/ 44 h 109"/>
                <a:gd name="T2" fmla="*/ 85 w 101"/>
                <a:gd name="T3" fmla="*/ 36 h 109"/>
                <a:gd name="T4" fmla="*/ 80 w 101"/>
                <a:gd name="T5" fmla="*/ 28 h 109"/>
                <a:gd name="T6" fmla="*/ 69 w 101"/>
                <a:gd name="T7" fmla="*/ 20 h 109"/>
                <a:gd name="T8" fmla="*/ 63 w 101"/>
                <a:gd name="T9" fmla="*/ 6 h 109"/>
                <a:gd name="T10" fmla="*/ 57 w 101"/>
                <a:gd name="T11" fmla="*/ 0 h 109"/>
                <a:gd name="T12" fmla="*/ 49 w 101"/>
                <a:gd name="T13" fmla="*/ 2 h 109"/>
                <a:gd name="T14" fmla="*/ 41 w 101"/>
                <a:gd name="T15" fmla="*/ 7 h 109"/>
                <a:gd name="T16" fmla="*/ 35 w 101"/>
                <a:gd name="T17" fmla="*/ 2 h 109"/>
                <a:gd name="T18" fmla="*/ 22 w 101"/>
                <a:gd name="T19" fmla="*/ 6 h 109"/>
                <a:gd name="T20" fmla="*/ 12 w 101"/>
                <a:gd name="T21" fmla="*/ 7 h 109"/>
                <a:gd name="T22" fmla="*/ 12 w 101"/>
                <a:gd name="T23" fmla="*/ 46 h 109"/>
                <a:gd name="T24" fmla="*/ 0 w 101"/>
                <a:gd name="T25" fmla="*/ 50 h 109"/>
                <a:gd name="T26" fmla="*/ 0 w 101"/>
                <a:gd name="T27" fmla="*/ 83 h 109"/>
                <a:gd name="T28" fmla="*/ 6 w 101"/>
                <a:gd name="T29" fmla="*/ 87 h 109"/>
                <a:gd name="T30" fmla="*/ 9 w 101"/>
                <a:gd name="T31" fmla="*/ 100 h 109"/>
                <a:gd name="T32" fmla="*/ 7 w 101"/>
                <a:gd name="T33" fmla="*/ 102 h 109"/>
                <a:gd name="T34" fmla="*/ 9 w 101"/>
                <a:gd name="T35" fmla="*/ 107 h 109"/>
                <a:gd name="T36" fmla="*/ 20 w 101"/>
                <a:gd name="T37" fmla="*/ 107 h 109"/>
                <a:gd name="T38" fmla="*/ 31 w 101"/>
                <a:gd name="T39" fmla="*/ 95 h 109"/>
                <a:gd name="T40" fmla="*/ 38 w 101"/>
                <a:gd name="T41" fmla="*/ 89 h 109"/>
                <a:gd name="T42" fmla="*/ 52 w 101"/>
                <a:gd name="T43" fmla="*/ 93 h 109"/>
                <a:gd name="T44" fmla="*/ 62 w 101"/>
                <a:gd name="T45" fmla="*/ 88 h 109"/>
                <a:gd name="T46" fmla="*/ 67 w 101"/>
                <a:gd name="T47" fmla="*/ 80 h 109"/>
                <a:gd name="T48" fmla="*/ 76 w 101"/>
                <a:gd name="T49" fmla="*/ 73 h 109"/>
                <a:gd name="T50" fmla="*/ 81 w 101"/>
                <a:gd name="T51" fmla="*/ 65 h 109"/>
                <a:gd name="T52" fmla="*/ 90 w 101"/>
                <a:gd name="T53" fmla="*/ 59 h 109"/>
                <a:gd name="T54" fmla="*/ 97 w 101"/>
                <a:gd name="T55" fmla="*/ 55 h 109"/>
                <a:gd name="T56" fmla="*/ 101 w 101"/>
                <a:gd name="T57" fmla="*/ 49 h 109"/>
                <a:gd name="T58" fmla="*/ 101 w 101"/>
                <a:gd name="T59" fmla="*/ 49 h 109"/>
                <a:gd name="T60" fmla="*/ 93 w 101"/>
                <a:gd name="T61" fmla="*/ 44 h 10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1"/>
                <a:gd name="T94" fmla="*/ 0 h 109"/>
                <a:gd name="T95" fmla="*/ 101 w 101"/>
                <a:gd name="T96" fmla="*/ 109 h 10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1" h="109">
                  <a:moveTo>
                    <a:pt x="93" y="44"/>
                  </a:moveTo>
                  <a:cubicBezTo>
                    <a:pt x="89" y="44"/>
                    <a:pt x="85" y="40"/>
                    <a:pt x="85" y="36"/>
                  </a:cubicBezTo>
                  <a:cubicBezTo>
                    <a:pt x="85" y="33"/>
                    <a:pt x="80" y="30"/>
                    <a:pt x="80" y="28"/>
                  </a:cubicBezTo>
                  <a:cubicBezTo>
                    <a:pt x="80" y="26"/>
                    <a:pt x="73" y="22"/>
                    <a:pt x="69" y="20"/>
                  </a:cubicBezTo>
                  <a:cubicBezTo>
                    <a:pt x="65" y="18"/>
                    <a:pt x="65" y="6"/>
                    <a:pt x="63" y="6"/>
                  </a:cubicBezTo>
                  <a:cubicBezTo>
                    <a:pt x="62" y="6"/>
                    <a:pt x="58" y="3"/>
                    <a:pt x="57" y="0"/>
                  </a:cubicBezTo>
                  <a:cubicBezTo>
                    <a:pt x="54" y="1"/>
                    <a:pt x="51" y="2"/>
                    <a:pt x="49" y="2"/>
                  </a:cubicBezTo>
                  <a:cubicBezTo>
                    <a:pt x="46" y="2"/>
                    <a:pt x="42" y="5"/>
                    <a:pt x="41" y="7"/>
                  </a:cubicBezTo>
                  <a:cubicBezTo>
                    <a:pt x="40" y="8"/>
                    <a:pt x="37" y="4"/>
                    <a:pt x="35" y="2"/>
                  </a:cubicBezTo>
                  <a:cubicBezTo>
                    <a:pt x="33" y="1"/>
                    <a:pt x="25" y="5"/>
                    <a:pt x="22" y="6"/>
                  </a:cubicBezTo>
                  <a:cubicBezTo>
                    <a:pt x="20" y="7"/>
                    <a:pt x="12" y="7"/>
                    <a:pt x="12" y="7"/>
                  </a:cubicBezTo>
                  <a:cubicBezTo>
                    <a:pt x="12" y="7"/>
                    <a:pt x="12" y="42"/>
                    <a:pt x="12" y="46"/>
                  </a:cubicBezTo>
                  <a:cubicBezTo>
                    <a:pt x="12" y="50"/>
                    <a:pt x="0" y="48"/>
                    <a:pt x="0" y="50"/>
                  </a:cubicBezTo>
                  <a:cubicBezTo>
                    <a:pt x="0" y="51"/>
                    <a:pt x="0" y="67"/>
                    <a:pt x="0" y="83"/>
                  </a:cubicBezTo>
                  <a:cubicBezTo>
                    <a:pt x="3" y="84"/>
                    <a:pt x="5" y="85"/>
                    <a:pt x="6" y="87"/>
                  </a:cubicBezTo>
                  <a:cubicBezTo>
                    <a:pt x="7" y="90"/>
                    <a:pt x="10" y="98"/>
                    <a:pt x="9" y="100"/>
                  </a:cubicBezTo>
                  <a:cubicBezTo>
                    <a:pt x="9" y="102"/>
                    <a:pt x="7" y="100"/>
                    <a:pt x="7" y="102"/>
                  </a:cubicBezTo>
                  <a:cubicBezTo>
                    <a:pt x="7" y="104"/>
                    <a:pt x="6" y="107"/>
                    <a:pt x="9" y="107"/>
                  </a:cubicBezTo>
                  <a:cubicBezTo>
                    <a:pt x="12" y="107"/>
                    <a:pt x="18" y="109"/>
                    <a:pt x="20" y="107"/>
                  </a:cubicBezTo>
                  <a:cubicBezTo>
                    <a:pt x="23" y="104"/>
                    <a:pt x="30" y="98"/>
                    <a:pt x="31" y="95"/>
                  </a:cubicBezTo>
                  <a:cubicBezTo>
                    <a:pt x="31" y="92"/>
                    <a:pt x="33" y="85"/>
                    <a:pt x="38" y="89"/>
                  </a:cubicBezTo>
                  <a:cubicBezTo>
                    <a:pt x="44" y="93"/>
                    <a:pt x="44" y="93"/>
                    <a:pt x="52" y="93"/>
                  </a:cubicBezTo>
                  <a:cubicBezTo>
                    <a:pt x="59" y="93"/>
                    <a:pt x="61" y="93"/>
                    <a:pt x="62" y="88"/>
                  </a:cubicBezTo>
                  <a:cubicBezTo>
                    <a:pt x="64" y="84"/>
                    <a:pt x="62" y="80"/>
                    <a:pt x="67" y="80"/>
                  </a:cubicBezTo>
                  <a:cubicBezTo>
                    <a:pt x="71" y="80"/>
                    <a:pt x="76" y="76"/>
                    <a:pt x="76" y="73"/>
                  </a:cubicBezTo>
                  <a:cubicBezTo>
                    <a:pt x="76" y="70"/>
                    <a:pt x="78" y="65"/>
                    <a:pt x="81" y="65"/>
                  </a:cubicBezTo>
                  <a:cubicBezTo>
                    <a:pt x="84" y="65"/>
                    <a:pt x="89" y="62"/>
                    <a:pt x="90" y="59"/>
                  </a:cubicBezTo>
                  <a:cubicBezTo>
                    <a:pt x="91" y="55"/>
                    <a:pt x="95" y="57"/>
                    <a:pt x="97" y="55"/>
                  </a:cubicBezTo>
                  <a:cubicBezTo>
                    <a:pt x="98" y="54"/>
                    <a:pt x="99" y="51"/>
                    <a:pt x="101" y="49"/>
                  </a:cubicBezTo>
                  <a:cubicBezTo>
                    <a:pt x="101" y="49"/>
                    <a:pt x="101" y="49"/>
                    <a:pt x="101" y="49"/>
                  </a:cubicBezTo>
                  <a:cubicBezTo>
                    <a:pt x="101" y="47"/>
                    <a:pt x="100" y="44"/>
                    <a:pt x="93"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1" name="Freeform 7"/>
            <p:cNvSpPr>
              <a:spLocks noChangeArrowheads="1"/>
            </p:cNvSpPr>
            <p:nvPr/>
          </p:nvSpPr>
          <p:spPr bwMode="auto">
            <a:xfrm>
              <a:off x="4292615" y="3041654"/>
              <a:ext cx="30163" cy="36513"/>
            </a:xfrm>
            <a:custGeom>
              <a:avLst/>
              <a:gdLst>
                <a:gd name="T0" fmla="*/ 7 w 15"/>
                <a:gd name="T1" fmla="*/ 0 h 19"/>
                <a:gd name="T2" fmla="*/ 0 w 15"/>
                <a:gd name="T3" fmla="*/ 8 h 19"/>
                <a:gd name="T4" fmla="*/ 7 w 15"/>
                <a:gd name="T5" fmla="*/ 19 h 19"/>
                <a:gd name="T6" fmla="*/ 13 w 15"/>
                <a:gd name="T7" fmla="*/ 16 h 19"/>
                <a:gd name="T8" fmla="*/ 15 w 15"/>
                <a:gd name="T9" fmla="*/ 13 h 19"/>
                <a:gd name="T10" fmla="*/ 14 w 15"/>
                <a:gd name="T11" fmla="*/ 3 h 19"/>
                <a:gd name="T12" fmla="*/ 7 w 15"/>
                <a:gd name="T13" fmla="*/ 0 h 19"/>
                <a:gd name="T14" fmla="*/ 0 60000 65536"/>
                <a:gd name="T15" fmla="*/ 0 60000 65536"/>
                <a:gd name="T16" fmla="*/ 0 60000 65536"/>
                <a:gd name="T17" fmla="*/ 0 60000 65536"/>
                <a:gd name="T18" fmla="*/ 0 60000 65536"/>
                <a:gd name="T19" fmla="*/ 0 60000 65536"/>
                <a:gd name="T20" fmla="*/ 0 60000 65536"/>
                <a:gd name="T21" fmla="*/ 0 w 15"/>
                <a:gd name="T22" fmla="*/ 0 h 19"/>
                <a:gd name="T23" fmla="*/ 15 w 15"/>
                <a:gd name="T24" fmla="*/ 19 h 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19">
                  <a:moveTo>
                    <a:pt x="7" y="0"/>
                  </a:moveTo>
                  <a:cubicBezTo>
                    <a:pt x="5" y="0"/>
                    <a:pt x="0" y="7"/>
                    <a:pt x="0" y="8"/>
                  </a:cubicBezTo>
                  <a:cubicBezTo>
                    <a:pt x="0" y="10"/>
                    <a:pt x="3" y="18"/>
                    <a:pt x="7" y="19"/>
                  </a:cubicBezTo>
                  <a:cubicBezTo>
                    <a:pt x="10" y="19"/>
                    <a:pt x="13" y="19"/>
                    <a:pt x="13" y="16"/>
                  </a:cubicBezTo>
                  <a:cubicBezTo>
                    <a:pt x="13" y="15"/>
                    <a:pt x="14" y="14"/>
                    <a:pt x="15" y="13"/>
                  </a:cubicBezTo>
                  <a:cubicBezTo>
                    <a:pt x="15" y="11"/>
                    <a:pt x="14" y="6"/>
                    <a:pt x="14" y="3"/>
                  </a:cubicBezTo>
                  <a:cubicBezTo>
                    <a:pt x="12" y="2"/>
                    <a:pt x="9" y="0"/>
                    <a:pt x="7"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2" name="Freeform 8"/>
            <p:cNvSpPr>
              <a:spLocks noChangeArrowheads="1"/>
            </p:cNvSpPr>
            <p:nvPr/>
          </p:nvSpPr>
          <p:spPr bwMode="auto">
            <a:xfrm>
              <a:off x="4214827" y="3101979"/>
              <a:ext cx="47626" cy="53975"/>
            </a:xfrm>
            <a:custGeom>
              <a:avLst/>
              <a:gdLst>
                <a:gd name="T0" fmla="*/ 18 w 25"/>
                <a:gd name="T1" fmla="*/ 3 h 28"/>
                <a:gd name="T2" fmla="*/ 7 w 25"/>
                <a:gd name="T3" fmla="*/ 8 h 28"/>
                <a:gd name="T4" fmla="*/ 0 w 25"/>
                <a:gd name="T5" fmla="*/ 18 h 28"/>
                <a:gd name="T6" fmla="*/ 7 w 25"/>
                <a:gd name="T7" fmla="*/ 27 h 28"/>
                <a:gd name="T8" fmla="*/ 11 w 25"/>
                <a:gd name="T9" fmla="*/ 28 h 28"/>
                <a:gd name="T10" fmla="*/ 14 w 25"/>
                <a:gd name="T11" fmla="*/ 22 h 28"/>
                <a:gd name="T12" fmla="*/ 21 w 25"/>
                <a:gd name="T13" fmla="*/ 20 h 28"/>
                <a:gd name="T14" fmla="*/ 25 w 25"/>
                <a:gd name="T15" fmla="*/ 12 h 28"/>
                <a:gd name="T16" fmla="*/ 18 w 25"/>
                <a:gd name="T17" fmla="*/ 3 h 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5"/>
                <a:gd name="T28" fmla="*/ 0 h 28"/>
                <a:gd name="T29" fmla="*/ 25 w 25"/>
                <a:gd name="T30" fmla="*/ 28 h 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5" h="28">
                  <a:moveTo>
                    <a:pt x="18" y="3"/>
                  </a:moveTo>
                  <a:cubicBezTo>
                    <a:pt x="17" y="0"/>
                    <a:pt x="8" y="5"/>
                    <a:pt x="7" y="8"/>
                  </a:cubicBezTo>
                  <a:cubicBezTo>
                    <a:pt x="5" y="10"/>
                    <a:pt x="0" y="18"/>
                    <a:pt x="0" y="18"/>
                  </a:cubicBezTo>
                  <a:cubicBezTo>
                    <a:pt x="7" y="27"/>
                    <a:pt x="7" y="27"/>
                    <a:pt x="7" y="27"/>
                  </a:cubicBezTo>
                  <a:cubicBezTo>
                    <a:pt x="11" y="28"/>
                    <a:pt x="11" y="28"/>
                    <a:pt x="11" y="28"/>
                  </a:cubicBezTo>
                  <a:cubicBezTo>
                    <a:pt x="11" y="28"/>
                    <a:pt x="13" y="24"/>
                    <a:pt x="14" y="22"/>
                  </a:cubicBezTo>
                  <a:cubicBezTo>
                    <a:pt x="15" y="19"/>
                    <a:pt x="21" y="22"/>
                    <a:pt x="21" y="20"/>
                  </a:cubicBezTo>
                  <a:cubicBezTo>
                    <a:pt x="21" y="17"/>
                    <a:pt x="25" y="14"/>
                    <a:pt x="25" y="12"/>
                  </a:cubicBezTo>
                  <a:cubicBezTo>
                    <a:pt x="25" y="9"/>
                    <a:pt x="19" y="6"/>
                    <a:pt x="18"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3" name="Freeform 9"/>
            <p:cNvSpPr>
              <a:spLocks noEditPoints="1" noChangeArrowheads="1"/>
            </p:cNvSpPr>
            <p:nvPr/>
          </p:nvSpPr>
          <p:spPr bwMode="auto">
            <a:xfrm>
              <a:off x="3992576" y="2954341"/>
              <a:ext cx="346077" cy="304801"/>
            </a:xfrm>
            <a:custGeom>
              <a:avLst/>
              <a:gdLst>
                <a:gd name="T0" fmla="*/ 172 w 181"/>
                <a:gd name="T1" fmla="*/ 59 h 159"/>
                <a:gd name="T2" fmla="*/ 172 w 181"/>
                <a:gd name="T3" fmla="*/ 58 h 159"/>
                <a:gd name="T4" fmla="*/ 170 w 181"/>
                <a:gd name="T5" fmla="*/ 61 h 159"/>
                <a:gd name="T6" fmla="*/ 164 w 181"/>
                <a:gd name="T7" fmla="*/ 64 h 159"/>
                <a:gd name="T8" fmla="*/ 157 w 181"/>
                <a:gd name="T9" fmla="*/ 53 h 159"/>
                <a:gd name="T10" fmla="*/ 164 w 181"/>
                <a:gd name="T11" fmla="*/ 45 h 159"/>
                <a:gd name="T12" fmla="*/ 171 w 181"/>
                <a:gd name="T13" fmla="*/ 48 h 159"/>
                <a:gd name="T14" fmla="*/ 171 w 181"/>
                <a:gd name="T15" fmla="*/ 46 h 159"/>
                <a:gd name="T16" fmla="*/ 170 w 181"/>
                <a:gd name="T17" fmla="*/ 26 h 159"/>
                <a:gd name="T18" fmla="*/ 163 w 181"/>
                <a:gd name="T19" fmla="*/ 5 h 159"/>
                <a:gd name="T20" fmla="*/ 150 w 181"/>
                <a:gd name="T21" fmla="*/ 2 h 159"/>
                <a:gd name="T22" fmla="*/ 139 w 181"/>
                <a:gd name="T23" fmla="*/ 0 h 159"/>
                <a:gd name="T24" fmla="*/ 135 w 181"/>
                <a:gd name="T25" fmla="*/ 6 h 159"/>
                <a:gd name="T26" fmla="*/ 128 w 181"/>
                <a:gd name="T27" fmla="*/ 10 h 159"/>
                <a:gd name="T28" fmla="*/ 119 w 181"/>
                <a:gd name="T29" fmla="*/ 16 h 159"/>
                <a:gd name="T30" fmla="*/ 114 w 181"/>
                <a:gd name="T31" fmla="*/ 24 h 159"/>
                <a:gd name="T32" fmla="*/ 105 w 181"/>
                <a:gd name="T33" fmla="*/ 31 h 159"/>
                <a:gd name="T34" fmla="*/ 100 w 181"/>
                <a:gd name="T35" fmla="*/ 39 h 159"/>
                <a:gd name="T36" fmla="*/ 90 w 181"/>
                <a:gd name="T37" fmla="*/ 44 h 159"/>
                <a:gd name="T38" fmla="*/ 76 w 181"/>
                <a:gd name="T39" fmla="*/ 40 h 159"/>
                <a:gd name="T40" fmla="*/ 69 w 181"/>
                <a:gd name="T41" fmla="*/ 46 h 159"/>
                <a:gd name="T42" fmla="*/ 58 w 181"/>
                <a:gd name="T43" fmla="*/ 58 h 159"/>
                <a:gd name="T44" fmla="*/ 47 w 181"/>
                <a:gd name="T45" fmla="*/ 58 h 159"/>
                <a:gd name="T46" fmla="*/ 45 w 181"/>
                <a:gd name="T47" fmla="*/ 53 h 159"/>
                <a:gd name="T48" fmla="*/ 47 w 181"/>
                <a:gd name="T49" fmla="*/ 51 h 159"/>
                <a:gd name="T50" fmla="*/ 44 w 181"/>
                <a:gd name="T51" fmla="*/ 38 h 159"/>
                <a:gd name="T52" fmla="*/ 38 w 181"/>
                <a:gd name="T53" fmla="*/ 34 h 159"/>
                <a:gd name="T54" fmla="*/ 38 w 181"/>
                <a:gd name="T55" fmla="*/ 76 h 159"/>
                <a:gd name="T56" fmla="*/ 31 w 181"/>
                <a:gd name="T57" fmla="*/ 83 h 159"/>
                <a:gd name="T58" fmla="*/ 17 w 181"/>
                <a:gd name="T59" fmla="*/ 83 h 159"/>
                <a:gd name="T60" fmla="*/ 11 w 181"/>
                <a:gd name="T61" fmla="*/ 75 h 159"/>
                <a:gd name="T62" fmla="*/ 4 w 181"/>
                <a:gd name="T63" fmla="*/ 79 h 159"/>
                <a:gd name="T64" fmla="*/ 0 w 181"/>
                <a:gd name="T65" fmla="*/ 80 h 159"/>
                <a:gd name="T66" fmla="*/ 8 w 181"/>
                <a:gd name="T67" fmla="*/ 98 h 159"/>
                <a:gd name="T68" fmla="*/ 19 w 181"/>
                <a:gd name="T69" fmla="*/ 120 h 159"/>
                <a:gd name="T70" fmla="*/ 19 w 181"/>
                <a:gd name="T71" fmla="*/ 131 h 159"/>
                <a:gd name="T72" fmla="*/ 19 w 181"/>
                <a:gd name="T73" fmla="*/ 140 h 159"/>
                <a:gd name="T74" fmla="*/ 23 w 181"/>
                <a:gd name="T75" fmla="*/ 149 h 159"/>
                <a:gd name="T76" fmla="*/ 27 w 181"/>
                <a:gd name="T77" fmla="*/ 152 h 159"/>
                <a:gd name="T78" fmla="*/ 33 w 181"/>
                <a:gd name="T79" fmla="*/ 157 h 159"/>
                <a:gd name="T80" fmla="*/ 41 w 181"/>
                <a:gd name="T81" fmla="*/ 157 h 159"/>
                <a:gd name="T82" fmla="*/ 54 w 181"/>
                <a:gd name="T83" fmla="*/ 153 h 159"/>
                <a:gd name="T84" fmla="*/ 64 w 181"/>
                <a:gd name="T85" fmla="*/ 149 h 159"/>
                <a:gd name="T86" fmla="*/ 82 w 181"/>
                <a:gd name="T87" fmla="*/ 149 h 159"/>
                <a:gd name="T88" fmla="*/ 93 w 181"/>
                <a:gd name="T89" fmla="*/ 147 h 159"/>
                <a:gd name="T90" fmla="*/ 100 w 181"/>
                <a:gd name="T91" fmla="*/ 146 h 159"/>
                <a:gd name="T92" fmla="*/ 109 w 181"/>
                <a:gd name="T93" fmla="*/ 143 h 159"/>
                <a:gd name="T94" fmla="*/ 132 w 181"/>
                <a:gd name="T95" fmla="*/ 128 h 159"/>
                <a:gd name="T96" fmla="*/ 159 w 181"/>
                <a:gd name="T97" fmla="*/ 95 h 159"/>
                <a:gd name="T98" fmla="*/ 175 w 181"/>
                <a:gd name="T99" fmla="*/ 77 h 159"/>
                <a:gd name="T100" fmla="*/ 181 w 181"/>
                <a:gd name="T101" fmla="*/ 59 h 159"/>
                <a:gd name="T102" fmla="*/ 172 w 181"/>
                <a:gd name="T103" fmla="*/ 59 h 159"/>
                <a:gd name="T104" fmla="*/ 137 w 181"/>
                <a:gd name="T105" fmla="*/ 97 h 159"/>
                <a:gd name="T106" fmla="*/ 130 w 181"/>
                <a:gd name="T107" fmla="*/ 99 h 159"/>
                <a:gd name="T108" fmla="*/ 127 w 181"/>
                <a:gd name="T109" fmla="*/ 105 h 159"/>
                <a:gd name="T110" fmla="*/ 123 w 181"/>
                <a:gd name="T111" fmla="*/ 104 h 159"/>
                <a:gd name="T112" fmla="*/ 116 w 181"/>
                <a:gd name="T113" fmla="*/ 95 h 159"/>
                <a:gd name="T114" fmla="*/ 123 w 181"/>
                <a:gd name="T115" fmla="*/ 85 h 159"/>
                <a:gd name="T116" fmla="*/ 134 w 181"/>
                <a:gd name="T117" fmla="*/ 80 h 159"/>
                <a:gd name="T118" fmla="*/ 141 w 181"/>
                <a:gd name="T119" fmla="*/ 89 h 159"/>
                <a:gd name="T120" fmla="*/ 137 w 181"/>
                <a:gd name="T121" fmla="*/ 97 h 15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
                <a:gd name="T184" fmla="*/ 0 h 159"/>
                <a:gd name="T185" fmla="*/ 181 w 181"/>
                <a:gd name="T186" fmla="*/ 159 h 15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 h="159">
                  <a:moveTo>
                    <a:pt x="172" y="59"/>
                  </a:moveTo>
                  <a:cubicBezTo>
                    <a:pt x="172" y="59"/>
                    <a:pt x="172" y="59"/>
                    <a:pt x="172" y="58"/>
                  </a:cubicBezTo>
                  <a:cubicBezTo>
                    <a:pt x="171" y="59"/>
                    <a:pt x="170" y="60"/>
                    <a:pt x="170" y="61"/>
                  </a:cubicBezTo>
                  <a:cubicBezTo>
                    <a:pt x="170" y="64"/>
                    <a:pt x="167" y="64"/>
                    <a:pt x="164" y="64"/>
                  </a:cubicBezTo>
                  <a:cubicBezTo>
                    <a:pt x="160" y="63"/>
                    <a:pt x="157" y="55"/>
                    <a:pt x="157" y="53"/>
                  </a:cubicBezTo>
                  <a:cubicBezTo>
                    <a:pt x="157" y="52"/>
                    <a:pt x="162" y="45"/>
                    <a:pt x="164" y="45"/>
                  </a:cubicBezTo>
                  <a:cubicBezTo>
                    <a:pt x="166" y="45"/>
                    <a:pt x="169" y="47"/>
                    <a:pt x="171" y="48"/>
                  </a:cubicBezTo>
                  <a:cubicBezTo>
                    <a:pt x="171" y="47"/>
                    <a:pt x="171" y="47"/>
                    <a:pt x="171" y="46"/>
                  </a:cubicBezTo>
                  <a:cubicBezTo>
                    <a:pt x="171" y="45"/>
                    <a:pt x="173" y="28"/>
                    <a:pt x="170" y="26"/>
                  </a:cubicBezTo>
                  <a:cubicBezTo>
                    <a:pt x="167" y="24"/>
                    <a:pt x="164" y="7"/>
                    <a:pt x="163" y="5"/>
                  </a:cubicBezTo>
                  <a:cubicBezTo>
                    <a:pt x="162" y="3"/>
                    <a:pt x="151" y="4"/>
                    <a:pt x="150" y="2"/>
                  </a:cubicBezTo>
                  <a:cubicBezTo>
                    <a:pt x="148" y="0"/>
                    <a:pt x="139" y="2"/>
                    <a:pt x="139" y="0"/>
                  </a:cubicBezTo>
                  <a:cubicBezTo>
                    <a:pt x="137" y="2"/>
                    <a:pt x="136" y="5"/>
                    <a:pt x="135" y="6"/>
                  </a:cubicBezTo>
                  <a:cubicBezTo>
                    <a:pt x="133" y="8"/>
                    <a:pt x="129" y="6"/>
                    <a:pt x="128" y="10"/>
                  </a:cubicBezTo>
                  <a:cubicBezTo>
                    <a:pt x="127" y="13"/>
                    <a:pt x="122" y="16"/>
                    <a:pt x="119" y="16"/>
                  </a:cubicBezTo>
                  <a:cubicBezTo>
                    <a:pt x="116" y="16"/>
                    <a:pt x="114" y="21"/>
                    <a:pt x="114" y="24"/>
                  </a:cubicBezTo>
                  <a:cubicBezTo>
                    <a:pt x="114" y="27"/>
                    <a:pt x="109" y="31"/>
                    <a:pt x="105" y="31"/>
                  </a:cubicBezTo>
                  <a:cubicBezTo>
                    <a:pt x="100" y="31"/>
                    <a:pt x="102" y="35"/>
                    <a:pt x="100" y="39"/>
                  </a:cubicBezTo>
                  <a:cubicBezTo>
                    <a:pt x="99" y="44"/>
                    <a:pt x="97" y="44"/>
                    <a:pt x="90" y="44"/>
                  </a:cubicBezTo>
                  <a:cubicBezTo>
                    <a:pt x="82" y="44"/>
                    <a:pt x="82" y="44"/>
                    <a:pt x="76" y="40"/>
                  </a:cubicBezTo>
                  <a:cubicBezTo>
                    <a:pt x="71" y="36"/>
                    <a:pt x="69" y="43"/>
                    <a:pt x="69" y="46"/>
                  </a:cubicBezTo>
                  <a:cubicBezTo>
                    <a:pt x="68" y="49"/>
                    <a:pt x="61" y="55"/>
                    <a:pt x="58" y="58"/>
                  </a:cubicBezTo>
                  <a:cubicBezTo>
                    <a:pt x="56" y="60"/>
                    <a:pt x="50" y="58"/>
                    <a:pt x="47" y="58"/>
                  </a:cubicBezTo>
                  <a:cubicBezTo>
                    <a:pt x="44" y="58"/>
                    <a:pt x="45" y="55"/>
                    <a:pt x="45" y="53"/>
                  </a:cubicBezTo>
                  <a:cubicBezTo>
                    <a:pt x="45" y="51"/>
                    <a:pt x="47" y="53"/>
                    <a:pt x="47" y="51"/>
                  </a:cubicBezTo>
                  <a:cubicBezTo>
                    <a:pt x="48" y="49"/>
                    <a:pt x="45" y="41"/>
                    <a:pt x="44" y="38"/>
                  </a:cubicBezTo>
                  <a:cubicBezTo>
                    <a:pt x="43" y="36"/>
                    <a:pt x="41" y="35"/>
                    <a:pt x="38" y="34"/>
                  </a:cubicBezTo>
                  <a:cubicBezTo>
                    <a:pt x="38" y="53"/>
                    <a:pt x="38" y="74"/>
                    <a:pt x="38" y="76"/>
                  </a:cubicBezTo>
                  <a:cubicBezTo>
                    <a:pt x="38" y="79"/>
                    <a:pt x="32" y="81"/>
                    <a:pt x="31" y="83"/>
                  </a:cubicBezTo>
                  <a:cubicBezTo>
                    <a:pt x="30" y="85"/>
                    <a:pt x="21" y="83"/>
                    <a:pt x="17" y="83"/>
                  </a:cubicBezTo>
                  <a:cubicBezTo>
                    <a:pt x="12" y="83"/>
                    <a:pt x="13" y="79"/>
                    <a:pt x="11" y="75"/>
                  </a:cubicBezTo>
                  <a:cubicBezTo>
                    <a:pt x="8" y="72"/>
                    <a:pt x="4" y="76"/>
                    <a:pt x="4" y="79"/>
                  </a:cubicBezTo>
                  <a:cubicBezTo>
                    <a:pt x="4" y="80"/>
                    <a:pt x="2" y="80"/>
                    <a:pt x="0" y="80"/>
                  </a:cubicBezTo>
                  <a:cubicBezTo>
                    <a:pt x="3" y="85"/>
                    <a:pt x="6" y="92"/>
                    <a:pt x="8" y="98"/>
                  </a:cubicBezTo>
                  <a:cubicBezTo>
                    <a:pt x="11" y="107"/>
                    <a:pt x="17" y="115"/>
                    <a:pt x="19" y="120"/>
                  </a:cubicBezTo>
                  <a:cubicBezTo>
                    <a:pt x="21" y="125"/>
                    <a:pt x="22" y="130"/>
                    <a:pt x="19" y="131"/>
                  </a:cubicBezTo>
                  <a:cubicBezTo>
                    <a:pt x="15" y="131"/>
                    <a:pt x="15" y="134"/>
                    <a:pt x="19" y="140"/>
                  </a:cubicBezTo>
                  <a:cubicBezTo>
                    <a:pt x="23" y="145"/>
                    <a:pt x="20" y="149"/>
                    <a:pt x="23" y="149"/>
                  </a:cubicBezTo>
                  <a:cubicBezTo>
                    <a:pt x="26" y="150"/>
                    <a:pt x="25" y="152"/>
                    <a:pt x="27" y="152"/>
                  </a:cubicBezTo>
                  <a:cubicBezTo>
                    <a:pt x="30" y="152"/>
                    <a:pt x="32" y="155"/>
                    <a:pt x="33" y="157"/>
                  </a:cubicBezTo>
                  <a:cubicBezTo>
                    <a:pt x="35" y="159"/>
                    <a:pt x="39" y="159"/>
                    <a:pt x="41" y="157"/>
                  </a:cubicBezTo>
                  <a:cubicBezTo>
                    <a:pt x="43" y="154"/>
                    <a:pt x="48" y="153"/>
                    <a:pt x="54" y="153"/>
                  </a:cubicBezTo>
                  <a:cubicBezTo>
                    <a:pt x="60" y="153"/>
                    <a:pt x="59" y="151"/>
                    <a:pt x="64" y="149"/>
                  </a:cubicBezTo>
                  <a:cubicBezTo>
                    <a:pt x="70" y="147"/>
                    <a:pt x="77" y="147"/>
                    <a:pt x="82" y="149"/>
                  </a:cubicBezTo>
                  <a:cubicBezTo>
                    <a:pt x="87" y="150"/>
                    <a:pt x="90" y="149"/>
                    <a:pt x="93" y="147"/>
                  </a:cubicBezTo>
                  <a:cubicBezTo>
                    <a:pt x="95" y="146"/>
                    <a:pt x="99" y="150"/>
                    <a:pt x="100" y="146"/>
                  </a:cubicBezTo>
                  <a:cubicBezTo>
                    <a:pt x="100" y="142"/>
                    <a:pt x="105" y="143"/>
                    <a:pt x="109" y="143"/>
                  </a:cubicBezTo>
                  <a:cubicBezTo>
                    <a:pt x="113" y="143"/>
                    <a:pt x="124" y="136"/>
                    <a:pt x="132" y="128"/>
                  </a:cubicBezTo>
                  <a:cubicBezTo>
                    <a:pt x="141" y="120"/>
                    <a:pt x="154" y="103"/>
                    <a:pt x="159" y="95"/>
                  </a:cubicBezTo>
                  <a:cubicBezTo>
                    <a:pt x="164" y="87"/>
                    <a:pt x="171" y="81"/>
                    <a:pt x="175" y="77"/>
                  </a:cubicBezTo>
                  <a:cubicBezTo>
                    <a:pt x="178" y="75"/>
                    <a:pt x="180" y="65"/>
                    <a:pt x="181" y="59"/>
                  </a:cubicBezTo>
                  <a:cubicBezTo>
                    <a:pt x="177" y="59"/>
                    <a:pt x="172" y="59"/>
                    <a:pt x="172" y="59"/>
                  </a:cubicBezTo>
                  <a:close/>
                  <a:moveTo>
                    <a:pt x="137" y="97"/>
                  </a:moveTo>
                  <a:cubicBezTo>
                    <a:pt x="137" y="99"/>
                    <a:pt x="131" y="96"/>
                    <a:pt x="130" y="99"/>
                  </a:cubicBezTo>
                  <a:cubicBezTo>
                    <a:pt x="129" y="101"/>
                    <a:pt x="127" y="105"/>
                    <a:pt x="127" y="105"/>
                  </a:cubicBezTo>
                  <a:cubicBezTo>
                    <a:pt x="123" y="104"/>
                    <a:pt x="123" y="104"/>
                    <a:pt x="123" y="104"/>
                  </a:cubicBezTo>
                  <a:cubicBezTo>
                    <a:pt x="116" y="95"/>
                    <a:pt x="116" y="95"/>
                    <a:pt x="116" y="95"/>
                  </a:cubicBezTo>
                  <a:cubicBezTo>
                    <a:pt x="116" y="95"/>
                    <a:pt x="121" y="87"/>
                    <a:pt x="123" y="85"/>
                  </a:cubicBezTo>
                  <a:cubicBezTo>
                    <a:pt x="124" y="82"/>
                    <a:pt x="133" y="77"/>
                    <a:pt x="134" y="80"/>
                  </a:cubicBezTo>
                  <a:cubicBezTo>
                    <a:pt x="135" y="83"/>
                    <a:pt x="141" y="86"/>
                    <a:pt x="141" y="89"/>
                  </a:cubicBezTo>
                  <a:cubicBezTo>
                    <a:pt x="141" y="91"/>
                    <a:pt x="137" y="94"/>
                    <a:pt x="137" y="9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4" name="Freeform 10"/>
            <p:cNvSpPr>
              <a:spLocks noChangeArrowheads="1"/>
            </p:cNvSpPr>
            <p:nvPr/>
          </p:nvSpPr>
          <p:spPr bwMode="auto">
            <a:xfrm>
              <a:off x="3898913" y="2597153"/>
              <a:ext cx="252414" cy="268288"/>
            </a:xfrm>
            <a:custGeom>
              <a:avLst/>
              <a:gdLst>
                <a:gd name="T0" fmla="*/ 8 w 132"/>
                <a:gd name="T1" fmla="*/ 129 h 140"/>
                <a:gd name="T2" fmla="*/ 13 w 132"/>
                <a:gd name="T3" fmla="*/ 131 h 140"/>
                <a:gd name="T4" fmla="*/ 24 w 132"/>
                <a:gd name="T5" fmla="*/ 132 h 140"/>
                <a:gd name="T6" fmla="*/ 34 w 132"/>
                <a:gd name="T7" fmla="*/ 134 h 140"/>
                <a:gd name="T8" fmla="*/ 73 w 132"/>
                <a:gd name="T9" fmla="*/ 134 h 140"/>
                <a:gd name="T10" fmla="*/ 77 w 132"/>
                <a:gd name="T11" fmla="*/ 138 h 140"/>
                <a:gd name="T12" fmla="*/ 102 w 132"/>
                <a:gd name="T13" fmla="*/ 138 h 140"/>
                <a:gd name="T14" fmla="*/ 119 w 132"/>
                <a:gd name="T15" fmla="*/ 137 h 140"/>
                <a:gd name="T16" fmla="*/ 122 w 132"/>
                <a:gd name="T17" fmla="*/ 136 h 140"/>
                <a:gd name="T18" fmla="*/ 109 w 132"/>
                <a:gd name="T19" fmla="*/ 119 h 140"/>
                <a:gd name="T20" fmla="*/ 110 w 132"/>
                <a:gd name="T21" fmla="*/ 81 h 140"/>
                <a:gd name="T22" fmla="*/ 127 w 132"/>
                <a:gd name="T23" fmla="*/ 82 h 140"/>
                <a:gd name="T24" fmla="*/ 130 w 132"/>
                <a:gd name="T25" fmla="*/ 79 h 140"/>
                <a:gd name="T26" fmla="*/ 132 w 132"/>
                <a:gd name="T27" fmla="*/ 57 h 140"/>
                <a:gd name="T28" fmla="*/ 129 w 132"/>
                <a:gd name="T29" fmla="*/ 57 h 140"/>
                <a:gd name="T30" fmla="*/ 119 w 132"/>
                <a:gd name="T31" fmla="*/ 58 h 140"/>
                <a:gd name="T32" fmla="*/ 113 w 132"/>
                <a:gd name="T33" fmla="*/ 61 h 140"/>
                <a:gd name="T34" fmla="*/ 113 w 132"/>
                <a:gd name="T35" fmla="*/ 52 h 140"/>
                <a:gd name="T36" fmla="*/ 108 w 132"/>
                <a:gd name="T37" fmla="*/ 43 h 140"/>
                <a:gd name="T38" fmla="*/ 109 w 132"/>
                <a:gd name="T39" fmla="*/ 27 h 140"/>
                <a:gd name="T40" fmla="*/ 107 w 132"/>
                <a:gd name="T41" fmla="*/ 18 h 140"/>
                <a:gd name="T42" fmla="*/ 100 w 132"/>
                <a:gd name="T43" fmla="*/ 16 h 140"/>
                <a:gd name="T44" fmla="*/ 94 w 132"/>
                <a:gd name="T45" fmla="*/ 14 h 140"/>
                <a:gd name="T46" fmla="*/ 85 w 132"/>
                <a:gd name="T47" fmla="*/ 14 h 140"/>
                <a:gd name="T48" fmla="*/ 81 w 132"/>
                <a:gd name="T49" fmla="*/ 24 h 140"/>
                <a:gd name="T50" fmla="*/ 68 w 132"/>
                <a:gd name="T51" fmla="*/ 26 h 140"/>
                <a:gd name="T52" fmla="*/ 58 w 132"/>
                <a:gd name="T53" fmla="*/ 19 h 140"/>
                <a:gd name="T54" fmla="*/ 54 w 132"/>
                <a:gd name="T55" fmla="*/ 10 h 140"/>
                <a:gd name="T56" fmla="*/ 52 w 132"/>
                <a:gd name="T57" fmla="*/ 1 h 140"/>
                <a:gd name="T58" fmla="*/ 15 w 132"/>
                <a:gd name="T59" fmla="*/ 1 h 140"/>
                <a:gd name="T60" fmla="*/ 9 w 132"/>
                <a:gd name="T61" fmla="*/ 4 h 140"/>
                <a:gd name="T62" fmla="*/ 19 w 132"/>
                <a:gd name="T63" fmla="*/ 28 h 140"/>
                <a:gd name="T64" fmla="*/ 17 w 132"/>
                <a:gd name="T65" fmla="*/ 39 h 140"/>
                <a:gd name="T66" fmla="*/ 24 w 132"/>
                <a:gd name="T67" fmla="*/ 63 h 140"/>
                <a:gd name="T68" fmla="*/ 16 w 132"/>
                <a:gd name="T69" fmla="*/ 79 h 140"/>
                <a:gd name="T70" fmla="*/ 8 w 132"/>
                <a:gd name="T71" fmla="*/ 101 h 140"/>
                <a:gd name="T72" fmla="*/ 2 w 132"/>
                <a:gd name="T73" fmla="*/ 117 h 140"/>
                <a:gd name="T74" fmla="*/ 1 w 132"/>
                <a:gd name="T75" fmla="*/ 132 h 140"/>
                <a:gd name="T76" fmla="*/ 1 w 132"/>
                <a:gd name="T77" fmla="*/ 132 h 140"/>
                <a:gd name="T78" fmla="*/ 4 w 132"/>
                <a:gd name="T79" fmla="*/ 132 h 140"/>
                <a:gd name="T80" fmla="*/ 8 w 132"/>
                <a:gd name="T81" fmla="*/ 129 h 14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2"/>
                <a:gd name="T124" fmla="*/ 0 h 140"/>
                <a:gd name="T125" fmla="*/ 132 w 132"/>
                <a:gd name="T126" fmla="*/ 140 h 14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2" h="140">
                  <a:moveTo>
                    <a:pt x="8" y="129"/>
                  </a:moveTo>
                  <a:cubicBezTo>
                    <a:pt x="11" y="129"/>
                    <a:pt x="9" y="133"/>
                    <a:pt x="13" y="131"/>
                  </a:cubicBezTo>
                  <a:cubicBezTo>
                    <a:pt x="17" y="129"/>
                    <a:pt x="20" y="129"/>
                    <a:pt x="24" y="132"/>
                  </a:cubicBezTo>
                  <a:cubicBezTo>
                    <a:pt x="27" y="134"/>
                    <a:pt x="30" y="134"/>
                    <a:pt x="34" y="134"/>
                  </a:cubicBezTo>
                  <a:cubicBezTo>
                    <a:pt x="38" y="134"/>
                    <a:pt x="73" y="134"/>
                    <a:pt x="73" y="134"/>
                  </a:cubicBezTo>
                  <a:cubicBezTo>
                    <a:pt x="77" y="138"/>
                    <a:pt x="77" y="138"/>
                    <a:pt x="77" y="138"/>
                  </a:cubicBezTo>
                  <a:cubicBezTo>
                    <a:pt x="77" y="138"/>
                    <a:pt x="98" y="137"/>
                    <a:pt x="102" y="138"/>
                  </a:cubicBezTo>
                  <a:cubicBezTo>
                    <a:pt x="105" y="140"/>
                    <a:pt x="116" y="138"/>
                    <a:pt x="119" y="137"/>
                  </a:cubicBezTo>
                  <a:cubicBezTo>
                    <a:pt x="120" y="137"/>
                    <a:pt x="121" y="137"/>
                    <a:pt x="122" y="136"/>
                  </a:cubicBezTo>
                  <a:cubicBezTo>
                    <a:pt x="109" y="119"/>
                    <a:pt x="109" y="119"/>
                    <a:pt x="109" y="119"/>
                  </a:cubicBezTo>
                  <a:cubicBezTo>
                    <a:pt x="110" y="81"/>
                    <a:pt x="110" y="81"/>
                    <a:pt x="110" y="81"/>
                  </a:cubicBezTo>
                  <a:cubicBezTo>
                    <a:pt x="127" y="82"/>
                    <a:pt x="127" y="82"/>
                    <a:pt x="127" y="82"/>
                  </a:cubicBezTo>
                  <a:cubicBezTo>
                    <a:pt x="130" y="79"/>
                    <a:pt x="130" y="79"/>
                    <a:pt x="130" y="79"/>
                  </a:cubicBezTo>
                  <a:cubicBezTo>
                    <a:pt x="132" y="57"/>
                    <a:pt x="132" y="57"/>
                    <a:pt x="132" y="57"/>
                  </a:cubicBezTo>
                  <a:cubicBezTo>
                    <a:pt x="132" y="56"/>
                    <a:pt x="131" y="56"/>
                    <a:pt x="129" y="57"/>
                  </a:cubicBezTo>
                  <a:cubicBezTo>
                    <a:pt x="126" y="58"/>
                    <a:pt x="123" y="58"/>
                    <a:pt x="119" y="58"/>
                  </a:cubicBezTo>
                  <a:cubicBezTo>
                    <a:pt x="116" y="58"/>
                    <a:pt x="115" y="61"/>
                    <a:pt x="113" y="61"/>
                  </a:cubicBezTo>
                  <a:cubicBezTo>
                    <a:pt x="111" y="60"/>
                    <a:pt x="113" y="54"/>
                    <a:pt x="113" y="52"/>
                  </a:cubicBezTo>
                  <a:cubicBezTo>
                    <a:pt x="114" y="49"/>
                    <a:pt x="110" y="45"/>
                    <a:pt x="108" y="43"/>
                  </a:cubicBezTo>
                  <a:cubicBezTo>
                    <a:pt x="105" y="41"/>
                    <a:pt x="111" y="28"/>
                    <a:pt x="109" y="27"/>
                  </a:cubicBezTo>
                  <a:cubicBezTo>
                    <a:pt x="108" y="25"/>
                    <a:pt x="107" y="21"/>
                    <a:pt x="107" y="18"/>
                  </a:cubicBezTo>
                  <a:cubicBezTo>
                    <a:pt x="107" y="14"/>
                    <a:pt x="105" y="16"/>
                    <a:pt x="100" y="16"/>
                  </a:cubicBezTo>
                  <a:cubicBezTo>
                    <a:pt x="95" y="16"/>
                    <a:pt x="94" y="14"/>
                    <a:pt x="94" y="14"/>
                  </a:cubicBezTo>
                  <a:cubicBezTo>
                    <a:pt x="94" y="14"/>
                    <a:pt x="88" y="12"/>
                    <a:pt x="85" y="14"/>
                  </a:cubicBezTo>
                  <a:cubicBezTo>
                    <a:pt x="82" y="15"/>
                    <a:pt x="83" y="24"/>
                    <a:pt x="81" y="24"/>
                  </a:cubicBezTo>
                  <a:cubicBezTo>
                    <a:pt x="79" y="23"/>
                    <a:pt x="73" y="24"/>
                    <a:pt x="68" y="26"/>
                  </a:cubicBezTo>
                  <a:cubicBezTo>
                    <a:pt x="63" y="27"/>
                    <a:pt x="61" y="25"/>
                    <a:pt x="58" y="19"/>
                  </a:cubicBezTo>
                  <a:cubicBezTo>
                    <a:pt x="56" y="13"/>
                    <a:pt x="53" y="15"/>
                    <a:pt x="54" y="10"/>
                  </a:cubicBezTo>
                  <a:cubicBezTo>
                    <a:pt x="55" y="6"/>
                    <a:pt x="52" y="1"/>
                    <a:pt x="52" y="1"/>
                  </a:cubicBezTo>
                  <a:cubicBezTo>
                    <a:pt x="52" y="1"/>
                    <a:pt x="19" y="0"/>
                    <a:pt x="15" y="1"/>
                  </a:cubicBezTo>
                  <a:cubicBezTo>
                    <a:pt x="14" y="1"/>
                    <a:pt x="11" y="2"/>
                    <a:pt x="9" y="4"/>
                  </a:cubicBezTo>
                  <a:cubicBezTo>
                    <a:pt x="11" y="12"/>
                    <a:pt x="17" y="25"/>
                    <a:pt x="19" y="28"/>
                  </a:cubicBezTo>
                  <a:cubicBezTo>
                    <a:pt x="20" y="31"/>
                    <a:pt x="17" y="34"/>
                    <a:pt x="17" y="39"/>
                  </a:cubicBezTo>
                  <a:cubicBezTo>
                    <a:pt x="17" y="45"/>
                    <a:pt x="23" y="56"/>
                    <a:pt x="24" y="63"/>
                  </a:cubicBezTo>
                  <a:cubicBezTo>
                    <a:pt x="25" y="70"/>
                    <a:pt x="20" y="75"/>
                    <a:pt x="16" y="79"/>
                  </a:cubicBezTo>
                  <a:cubicBezTo>
                    <a:pt x="12" y="84"/>
                    <a:pt x="8" y="95"/>
                    <a:pt x="8" y="101"/>
                  </a:cubicBezTo>
                  <a:cubicBezTo>
                    <a:pt x="8" y="108"/>
                    <a:pt x="2" y="114"/>
                    <a:pt x="2" y="117"/>
                  </a:cubicBezTo>
                  <a:cubicBezTo>
                    <a:pt x="2" y="120"/>
                    <a:pt x="1" y="129"/>
                    <a:pt x="1" y="132"/>
                  </a:cubicBezTo>
                  <a:cubicBezTo>
                    <a:pt x="0" y="132"/>
                    <a:pt x="1" y="132"/>
                    <a:pt x="1" y="132"/>
                  </a:cubicBezTo>
                  <a:cubicBezTo>
                    <a:pt x="4" y="132"/>
                    <a:pt x="4" y="132"/>
                    <a:pt x="4" y="132"/>
                  </a:cubicBezTo>
                  <a:cubicBezTo>
                    <a:pt x="4" y="132"/>
                    <a:pt x="5" y="129"/>
                    <a:pt x="8" y="12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5" name="Freeform 11"/>
            <p:cNvSpPr>
              <a:spLocks noChangeArrowheads="1"/>
            </p:cNvSpPr>
            <p:nvPr/>
          </p:nvSpPr>
          <p:spPr bwMode="auto">
            <a:xfrm>
              <a:off x="4108463" y="2647953"/>
              <a:ext cx="247651" cy="219075"/>
            </a:xfrm>
            <a:custGeom>
              <a:avLst/>
              <a:gdLst>
                <a:gd name="T0" fmla="*/ 100 w 130"/>
                <a:gd name="T1" fmla="*/ 5 h 115"/>
                <a:gd name="T2" fmla="*/ 92 w 130"/>
                <a:gd name="T3" fmla="*/ 0 h 115"/>
                <a:gd name="T4" fmla="*/ 78 w 130"/>
                <a:gd name="T5" fmla="*/ 3 h 115"/>
                <a:gd name="T6" fmla="*/ 75 w 130"/>
                <a:gd name="T7" fmla="*/ 10 h 115"/>
                <a:gd name="T8" fmla="*/ 74 w 130"/>
                <a:gd name="T9" fmla="*/ 16 h 115"/>
                <a:gd name="T10" fmla="*/ 73 w 130"/>
                <a:gd name="T11" fmla="*/ 29 h 115"/>
                <a:gd name="T12" fmla="*/ 71 w 130"/>
                <a:gd name="T13" fmla="*/ 39 h 115"/>
                <a:gd name="T14" fmla="*/ 78 w 130"/>
                <a:gd name="T15" fmla="*/ 48 h 115"/>
                <a:gd name="T16" fmla="*/ 86 w 130"/>
                <a:gd name="T17" fmla="*/ 46 h 115"/>
                <a:gd name="T18" fmla="*/ 87 w 130"/>
                <a:gd name="T19" fmla="*/ 54 h 115"/>
                <a:gd name="T20" fmla="*/ 85 w 130"/>
                <a:gd name="T21" fmla="*/ 59 h 115"/>
                <a:gd name="T22" fmla="*/ 77 w 130"/>
                <a:gd name="T23" fmla="*/ 59 h 115"/>
                <a:gd name="T24" fmla="*/ 73 w 130"/>
                <a:gd name="T25" fmla="*/ 49 h 115"/>
                <a:gd name="T26" fmla="*/ 64 w 130"/>
                <a:gd name="T27" fmla="*/ 47 h 115"/>
                <a:gd name="T28" fmla="*/ 58 w 130"/>
                <a:gd name="T29" fmla="*/ 41 h 115"/>
                <a:gd name="T30" fmla="*/ 54 w 130"/>
                <a:gd name="T31" fmla="*/ 43 h 115"/>
                <a:gd name="T32" fmla="*/ 49 w 130"/>
                <a:gd name="T33" fmla="*/ 44 h 115"/>
                <a:gd name="T34" fmla="*/ 40 w 130"/>
                <a:gd name="T35" fmla="*/ 41 h 115"/>
                <a:gd name="T36" fmla="*/ 36 w 130"/>
                <a:gd name="T37" fmla="*/ 36 h 115"/>
                <a:gd name="T38" fmla="*/ 29 w 130"/>
                <a:gd name="T39" fmla="*/ 36 h 115"/>
                <a:gd name="T40" fmla="*/ 26 w 130"/>
                <a:gd name="T41" fmla="*/ 34 h 115"/>
                <a:gd name="T42" fmla="*/ 23 w 130"/>
                <a:gd name="T43" fmla="*/ 31 h 115"/>
                <a:gd name="T44" fmla="*/ 21 w 130"/>
                <a:gd name="T45" fmla="*/ 53 h 115"/>
                <a:gd name="T46" fmla="*/ 18 w 130"/>
                <a:gd name="T47" fmla="*/ 56 h 115"/>
                <a:gd name="T48" fmla="*/ 1 w 130"/>
                <a:gd name="T49" fmla="*/ 55 h 115"/>
                <a:gd name="T50" fmla="*/ 0 w 130"/>
                <a:gd name="T51" fmla="*/ 93 h 115"/>
                <a:gd name="T52" fmla="*/ 13 w 130"/>
                <a:gd name="T53" fmla="*/ 110 h 115"/>
                <a:gd name="T54" fmla="*/ 34 w 130"/>
                <a:gd name="T55" fmla="*/ 109 h 115"/>
                <a:gd name="T56" fmla="*/ 35 w 130"/>
                <a:gd name="T57" fmla="*/ 112 h 115"/>
                <a:gd name="T58" fmla="*/ 40 w 130"/>
                <a:gd name="T59" fmla="*/ 111 h 115"/>
                <a:gd name="T60" fmla="*/ 55 w 130"/>
                <a:gd name="T61" fmla="*/ 114 h 115"/>
                <a:gd name="T62" fmla="*/ 66 w 130"/>
                <a:gd name="T63" fmla="*/ 101 h 115"/>
                <a:gd name="T64" fmla="*/ 77 w 130"/>
                <a:gd name="T65" fmla="*/ 93 h 115"/>
                <a:gd name="T66" fmla="*/ 83 w 130"/>
                <a:gd name="T67" fmla="*/ 87 h 115"/>
                <a:gd name="T68" fmla="*/ 93 w 130"/>
                <a:gd name="T69" fmla="*/ 87 h 115"/>
                <a:gd name="T70" fmla="*/ 93 w 130"/>
                <a:gd name="T71" fmla="*/ 87 h 115"/>
                <a:gd name="T72" fmla="*/ 91 w 130"/>
                <a:gd name="T73" fmla="*/ 79 h 115"/>
                <a:gd name="T74" fmla="*/ 122 w 130"/>
                <a:gd name="T75" fmla="*/ 67 h 115"/>
                <a:gd name="T76" fmla="*/ 120 w 130"/>
                <a:gd name="T77" fmla="*/ 62 h 115"/>
                <a:gd name="T78" fmla="*/ 122 w 130"/>
                <a:gd name="T79" fmla="*/ 51 h 115"/>
                <a:gd name="T80" fmla="*/ 127 w 130"/>
                <a:gd name="T81" fmla="*/ 48 h 115"/>
                <a:gd name="T82" fmla="*/ 126 w 130"/>
                <a:gd name="T83" fmla="*/ 30 h 115"/>
                <a:gd name="T84" fmla="*/ 130 w 130"/>
                <a:gd name="T85" fmla="*/ 28 h 115"/>
                <a:gd name="T86" fmla="*/ 125 w 130"/>
                <a:gd name="T87" fmla="*/ 16 h 115"/>
                <a:gd name="T88" fmla="*/ 110 w 130"/>
                <a:gd name="T89" fmla="*/ 9 h 115"/>
                <a:gd name="T90" fmla="*/ 100 w 130"/>
                <a:gd name="T91" fmla="*/ 5 h 1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0"/>
                <a:gd name="T139" fmla="*/ 0 h 115"/>
                <a:gd name="T140" fmla="*/ 130 w 130"/>
                <a:gd name="T141" fmla="*/ 115 h 1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0" h="115">
                  <a:moveTo>
                    <a:pt x="100" y="5"/>
                  </a:moveTo>
                  <a:cubicBezTo>
                    <a:pt x="99" y="5"/>
                    <a:pt x="95" y="3"/>
                    <a:pt x="92" y="0"/>
                  </a:cubicBezTo>
                  <a:cubicBezTo>
                    <a:pt x="90" y="3"/>
                    <a:pt x="82" y="3"/>
                    <a:pt x="78" y="3"/>
                  </a:cubicBezTo>
                  <a:cubicBezTo>
                    <a:pt x="74" y="3"/>
                    <a:pt x="78" y="8"/>
                    <a:pt x="75" y="10"/>
                  </a:cubicBezTo>
                  <a:cubicBezTo>
                    <a:pt x="73" y="12"/>
                    <a:pt x="72" y="15"/>
                    <a:pt x="74" y="16"/>
                  </a:cubicBezTo>
                  <a:cubicBezTo>
                    <a:pt x="76" y="17"/>
                    <a:pt x="73" y="26"/>
                    <a:pt x="73" y="29"/>
                  </a:cubicBezTo>
                  <a:cubicBezTo>
                    <a:pt x="73" y="32"/>
                    <a:pt x="69" y="38"/>
                    <a:pt x="71" y="39"/>
                  </a:cubicBezTo>
                  <a:cubicBezTo>
                    <a:pt x="72" y="40"/>
                    <a:pt x="75" y="47"/>
                    <a:pt x="78" y="48"/>
                  </a:cubicBezTo>
                  <a:cubicBezTo>
                    <a:pt x="82" y="49"/>
                    <a:pt x="84" y="46"/>
                    <a:pt x="86" y="46"/>
                  </a:cubicBezTo>
                  <a:cubicBezTo>
                    <a:pt x="87" y="46"/>
                    <a:pt x="87" y="50"/>
                    <a:pt x="87" y="54"/>
                  </a:cubicBezTo>
                  <a:cubicBezTo>
                    <a:pt x="87" y="57"/>
                    <a:pt x="85" y="59"/>
                    <a:pt x="85" y="59"/>
                  </a:cubicBezTo>
                  <a:cubicBezTo>
                    <a:pt x="85" y="59"/>
                    <a:pt x="80" y="61"/>
                    <a:pt x="77" y="59"/>
                  </a:cubicBezTo>
                  <a:cubicBezTo>
                    <a:pt x="75" y="57"/>
                    <a:pt x="73" y="51"/>
                    <a:pt x="73" y="49"/>
                  </a:cubicBezTo>
                  <a:cubicBezTo>
                    <a:pt x="73" y="47"/>
                    <a:pt x="67" y="47"/>
                    <a:pt x="64" y="47"/>
                  </a:cubicBezTo>
                  <a:cubicBezTo>
                    <a:pt x="62" y="47"/>
                    <a:pt x="59" y="43"/>
                    <a:pt x="58" y="41"/>
                  </a:cubicBezTo>
                  <a:cubicBezTo>
                    <a:pt x="57" y="39"/>
                    <a:pt x="54" y="41"/>
                    <a:pt x="54" y="43"/>
                  </a:cubicBezTo>
                  <a:cubicBezTo>
                    <a:pt x="54" y="44"/>
                    <a:pt x="52" y="44"/>
                    <a:pt x="49" y="44"/>
                  </a:cubicBezTo>
                  <a:cubicBezTo>
                    <a:pt x="47" y="44"/>
                    <a:pt x="42" y="40"/>
                    <a:pt x="40" y="41"/>
                  </a:cubicBezTo>
                  <a:cubicBezTo>
                    <a:pt x="38" y="42"/>
                    <a:pt x="36" y="38"/>
                    <a:pt x="36" y="36"/>
                  </a:cubicBezTo>
                  <a:cubicBezTo>
                    <a:pt x="37" y="34"/>
                    <a:pt x="31" y="35"/>
                    <a:pt x="29" y="36"/>
                  </a:cubicBezTo>
                  <a:cubicBezTo>
                    <a:pt x="27" y="37"/>
                    <a:pt x="26" y="34"/>
                    <a:pt x="26" y="34"/>
                  </a:cubicBezTo>
                  <a:cubicBezTo>
                    <a:pt x="26" y="34"/>
                    <a:pt x="25" y="32"/>
                    <a:pt x="23" y="31"/>
                  </a:cubicBezTo>
                  <a:cubicBezTo>
                    <a:pt x="21" y="53"/>
                    <a:pt x="21" y="53"/>
                    <a:pt x="21" y="53"/>
                  </a:cubicBezTo>
                  <a:cubicBezTo>
                    <a:pt x="18" y="56"/>
                    <a:pt x="18" y="56"/>
                    <a:pt x="18" y="56"/>
                  </a:cubicBezTo>
                  <a:cubicBezTo>
                    <a:pt x="1" y="55"/>
                    <a:pt x="1" y="55"/>
                    <a:pt x="1" y="55"/>
                  </a:cubicBezTo>
                  <a:cubicBezTo>
                    <a:pt x="0" y="93"/>
                    <a:pt x="0" y="93"/>
                    <a:pt x="0" y="93"/>
                  </a:cubicBezTo>
                  <a:cubicBezTo>
                    <a:pt x="13" y="110"/>
                    <a:pt x="13" y="110"/>
                    <a:pt x="13" y="110"/>
                  </a:cubicBezTo>
                  <a:cubicBezTo>
                    <a:pt x="20" y="109"/>
                    <a:pt x="34" y="107"/>
                    <a:pt x="34" y="109"/>
                  </a:cubicBezTo>
                  <a:cubicBezTo>
                    <a:pt x="34" y="110"/>
                    <a:pt x="34" y="111"/>
                    <a:pt x="35" y="112"/>
                  </a:cubicBezTo>
                  <a:cubicBezTo>
                    <a:pt x="37" y="112"/>
                    <a:pt x="39" y="111"/>
                    <a:pt x="40" y="111"/>
                  </a:cubicBezTo>
                  <a:cubicBezTo>
                    <a:pt x="43" y="112"/>
                    <a:pt x="52" y="115"/>
                    <a:pt x="55" y="114"/>
                  </a:cubicBezTo>
                  <a:cubicBezTo>
                    <a:pt x="57" y="112"/>
                    <a:pt x="62" y="102"/>
                    <a:pt x="66" y="101"/>
                  </a:cubicBezTo>
                  <a:cubicBezTo>
                    <a:pt x="71" y="100"/>
                    <a:pt x="77" y="95"/>
                    <a:pt x="77" y="93"/>
                  </a:cubicBezTo>
                  <a:cubicBezTo>
                    <a:pt x="77" y="91"/>
                    <a:pt x="77" y="89"/>
                    <a:pt x="83" y="87"/>
                  </a:cubicBezTo>
                  <a:cubicBezTo>
                    <a:pt x="93" y="87"/>
                    <a:pt x="93" y="87"/>
                    <a:pt x="93" y="87"/>
                  </a:cubicBezTo>
                  <a:cubicBezTo>
                    <a:pt x="93" y="87"/>
                    <a:pt x="93" y="87"/>
                    <a:pt x="93" y="87"/>
                  </a:cubicBezTo>
                  <a:cubicBezTo>
                    <a:pt x="91" y="79"/>
                    <a:pt x="91" y="79"/>
                    <a:pt x="91" y="79"/>
                  </a:cubicBezTo>
                  <a:cubicBezTo>
                    <a:pt x="91" y="79"/>
                    <a:pt x="121" y="67"/>
                    <a:pt x="122" y="67"/>
                  </a:cubicBezTo>
                  <a:cubicBezTo>
                    <a:pt x="121" y="65"/>
                    <a:pt x="120" y="63"/>
                    <a:pt x="120" y="62"/>
                  </a:cubicBezTo>
                  <a:cubicBezTo>
                    <a:pt x="121" y="62"/>
                    <a:pt x="122" y="54"/>
                    <a:pt x="122" y="51"/>
                  </a:cubicBezTo>
                  <a:cubicBezTo>
                    <a:pt x="122" y="49"/>
                    <a:pt x="129" y="51"/>
                    <a:pt x="127" y="48"/>
                  </a:cubicBezTo>
                  <a:cubicBezTo>
                    <a:pt x="124" y="46"/>
                    <a:pt x="125" y="33"/>
                    <a:pt x="126" y="30"/>
                  </a:cubicBezTo>
                  <a:cubicBezTo>
                    <a:pt x="127" y="27"/>
                    <a:pt x="130" y="30"/>
                    <a:pt x="130" y="28"/>
                  </a:cubicBezTo>
                  <a:cubicBezTo>
                    <a:pt x="130" y="25"/>
                    <a:pt x="127" y="18"/>
                    <a:pt x="125" y="16"/>
                  </a:cubicBezTo>
                  <a:cubicBezTo>
                    <a:pt x="124" y="14"/>
                    <a:pt x="113" y="10"/>
                    <a:pt x="110" y="9"/>
                  </a:cubicBezTo>
                  <a:cubicBezTo>
                    <a:pt x="108" y="9"/>
                    <a:pt x="103" y="5"/>
                    <a:pt x="100"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6" name="Freeform 12"/>
            <p:cNvSpPr>
              <a:spLocks noChangeArrowheads="1"/>
            </p:cNvSpPr>
            <p:nvPr/>
          </p:nvSpPr>
          <p:spPr bwMode="auto">
            <a:xfrm>
              <a:off x="4254514" y="2492378"/>
              <a:ext cx="42863" cy="38100"/>
            </a:xfrm>
            <a:custGeom>
              <a:avLst/>
              <a:gdLst>
                <a:gd name="T0" fmla="*/ 18 w 22"/>
                <a:gd name="T1" fmla="*/ 0 h 20"/>
                <a:gd name="T2" fmla="*/ 12 w 22"/>
                <a:gd name="T3" fmla="*/ 2 h 20"/>
                <a:gd name="T4" fmla="*/ 6 w 22"/>
                <a:gd name="T5" fmla="*/ 3 h 20"/>
                <a:gd name="T6" fmla="*/ 5 w 22"/>
                <a:gd name="T7" fmla="*/ 5 h 20"/>
                <a:gd name="T8" fmla="*/ 3 w 22"/>
                <a:gd name="T9" fmla="*/ 12 h 20"/>
                <a:gd name="T10" fmla="*/ 0 w 22"/>
                <a:gd name="T11" fmla="*/ 15 h 20"/>
                <a:gd name="T12" fmla="*/ 3 w 22"/>
                <a:gd name="T13" fmla="*/ 18 h 20"/>
                <a:gd name="T14" fmla="*/ 6 w 22"/>
                <a:gd name="T15" fmla="*/ 19 h 20"/>
                <a:gd name="T16" fmla="*/ 12 w 22"/>
                <a:gd name="T17" fmla="*/ 15 h 20"/>
                <a:gd name="T18" fmla="*/ 22 w 22"/>
                <a:gd name="T19" fmla="*/ 13 h 20"/>
                <a:gd name="T20" fmla="*/ 20 w 22"/>
                <a:gd name="T21" fmla="*/ 5 h 20"/>
                <a:gd name="T22" fmla="*/ 18 w 22"/>
                <a:gd name="T23" fmla="*/ 0 h 2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0"/>
                <a:gd name="T38" fmla="*/ 22 w 22"/>
                <a:gd name="T39" fmla="*/ 20 h 2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0">
                  <a:moveTo>
                    <a:pt x="18" y="0"/>
                  </a:moveTo>
                  <a:cubicBezTo>
                    <a:pt x="16" y="1"/>
                    <a:pt x="13" y="2"/>
                    <a:pt x="12" y="2"/>
                  </a:cubicBezTo>
                  <a:cubicBezTo>
                    <a:pt x="11" y="3"/>
                    <a:pt x="10" y="4"/>
                    <a:pt x="6" y="3"/>
                  </a:cubicBezTo>
                  <a:cubicBezTo>
                    <a:pt x="6" y="4"/>
                    <a:pt x="6" y="4"/>
                    <a:pt x="5" y="5"/>
                  </a:cubicBezTo>
                  <a:cubicBezTo>
                    <a:pt x="2" y="6"/>
                    <a:pt x="3" y="12"/>
                    <a:pt x="3" y="12"/>
                  </a:cubicBezTo>
                  <a:cubicBezTo>
                    <a:pt x="3" y="12"/>
                    <a:pt x="0" y="12"/>
                    <a:pt x="0" y="15"/>
                  </a:cubicBezTo>
                  <a:cubicBezTo>
                    <a:pt x="0" y="17"/>
                    <a:pt x="2" y="18"/>
                    <a:pt x="3" y="18"/>
                  </a:cubicBezTo>
                  <a:cubicBezTo>
                    <a:pt x="4" y="18"/>
                    <a:pt x="5" y="18"/>
                    <a:pt x="6" y="19"/>
                  </a:cubicBezTo>
                  <a:cubicBezTo>
                    <a:pt x="13" y="20"/>
                    <a:pt x="12" y="15"/>
                    <a:pt x="12" y="15"/>
                  </a:cubicBezTo>
                  <a:cubicBezTo>
                    <a:pt x="12" y="15"/>
                    <a:pt x="21" y="16"/>
                    <a:pt x="22" y="13"/>
                  </a:cubicBezTo>
                  <a:cubicBezTo>
                    <a:pt x="22" y="10"/>
                    <a:pt x="20" y="5"/>
                    <a:pt x="20" y="5"/>
                  </a:cubicBezTo>
                  <a:lnTo>
                    <a:pt x="18" y="0"/>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7" name="Freeform 13"/>
            <p:cNvSpPr>
              <a:spLocks noChangeArrowheads="1"/>
            </p:cNvSpPr>
            <p:nvPr/>
          </p:nvSpPr>
          <p:spPr bwMode="auto">
            <a:xfrm>
              <a:off x="4514865" y="2205039"/>
              <a:ext cx="223839" cy="298451"/>
            </a:xfrm>
            <a:custGeom>
              <a:avLst/>
              <a:gdLst>
                <a:gd name="T0" fmla="*/ 27 w 117"/>
                <a:gd name="T1" fmla="*/ 30 h 157"/>
                <a:gd name="T2" fmla="*/ 35 w 117"/>
                <a:gd name="T3" fmla="*/ 37 h 157"/>
                <a:gd name="T4" fmla="*/ 58 w 117"/>
                <a:gd name="T5" fmla="*/ 45 h 157"/>
                <a:gd name="T6" fmla="*/ 73 w 117"/>
                <a:gd name="T7" fmla="*/ 48 h 157"/>
                <a:gd name="T8" fmla="*/ 77 w 117"/>
                <a:gd name="T9" fmla="*/ 51 h 157"/>
                <a:gd name="T10" fmla="*/ 47 w 117"/>
                <a:gd name="T11" fmla="*/ 81 h 157"/>
                <a:gd name="T12" fmla="*/ 35 w 117"/>
                <a:gd name="T13" fmla="*/ 83 h 157"/>
                <a:gd name="T14" fmla="*/ 20 w 117"/>
                <a:gd name="T15" fmla="*/ 91 h 157"/>
                <a:gd name="T16" fmla="*/ 11 w 117"/>
                <a:gd name="T17" fmla="*/ 92 h 157"/>
                <a:gd name="T18" fmla="*/ 5 w 117"/>
                <a:gd name="T19" fmla="*/ 100 h 157"/>
                <a:gd name="T20" fmla="*/ 0 w 117"/>
                <a:gd name="T21" fmla="*/ 108 h 157"/>
                <a:gd name="T22" fmla="*/ 1 w 117"/>
                <a:gd name="T23" fmla="*/ 148 h 157"/>
                <a:gd name="T24" fmla="*/ 6 w 117"/>
                <a:gd name="T25" fmla="*/ 157 h 157"/>
                <a:gd name="T26" fmla="*/ 31 w 117"/>
                <a:gd name="T27" fmla="*/ 131 h 157"/>
                <a:gd name="T28" fmla="*/ 51 w 117"/>
                <a:gd name="T29" fmla="*/ 116 h 157"/>
                <a:gd name="T30" fmla="*/ 79 w 117"/>
                <a:gd name="T31" fmla="*/ 88 h 157"/>
                <a:gd name="T32" fmla="*/ 92 w 117"/>
                <a:gd name="T33" fmla="*/ 67 h 157"/>
                <a:gd name="T34" fmla="*/ 102 w 117"/>
                <a:gd name="T35" fmla="*/ 50 h 157"/>
                <a:gd name="T36" fmla="*/ 113 w 117"/>
                <a:gd name="T37" fmla="*/ 28 h 157"/>
                <a:gd name="T38" fmla="*/ 117 w 117"/>
                <a:gd name="T39" fmla="*/ 8 h 157"/>
                <a:gd name="T40" fmla="*/ 109 w 117"/>
                <a:gd name="T41" fmla="*/ 4 h 157"/>
                <a:gd name="T42" fmla="*/ 84 w 117"/>
                <a:gd name="T43" fmla="*/ 11 h 157"/>
                <a:gd name="T44" fmla="*/ 66 w 117"/>
                <a:gd name="T45" fmla="*/ 15 h 157"/>
                <a:gd name="T46" fmla="*/ 51 w 117"/>
                <a:gd name="T47" fmla="*/ 18 h 157"/>
                <a:gd name="T48" fmla="*/ 33 w 117"/>
                <a:gd name="T49" fmla="*/ 16 h 157"/>
                <a:gd name="T50" fmla="*/ 27 w 117"/>
                <a:gd name="T51" fmla="*/ 10 h 157"/>
                <a:gd name="T52" fmla="*/ 20 w 117"/>
                <a:gd name="T53" fmla="*/ 20 h 157"/>
                <a:gd name="T54" fmla="*/ 27 w 117"/>
                <a:gd name="T55" fmla="*/ 30 h 15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17"/>
                <a:gd name="T85" fmla="*/ 0 h 157"/>
                <a:gd name="T86" fmla="*/ 117 w 117"/>
                <a:gd name="T87" fmla="*/ 157 h 15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17" h="157">
                  <a:moveTo>
                    <a:pt x="27" y="30"/>
                  </a:moveTo>
                  <a:cubicBezTo>
                    <a:pt x="29" y="31"/>
                    <a:pt x="33" y="36"/>
                    <a:pt x="35" y="37"/>
                  </a:cubicBezTo>
                  <a:cubicBezTo>
                    <a:pt x="37" y="37"/>
                    <a:pt x="50" y="41"/>
                    <a:pt x="58" y="45"/>
                  </a:cubicBezTo>
                  <a:cubicBezTo>
                    <a:pt x="66" y="48"/>
                    <a:pt x="71" y="48"/>
                    <a:pt x="73" y="48"/>
                  </a:cubicBezTo>
                  <a:cubicBezTo>
                    <a:pt x="76" y="48"/>
                    <a:pt x="79" y="49"/>
                    <a:pt x="77" y="51"/>
                  </a:cubicBezTo>
                  <a:cubicBezTo>
                    <a:pt x="75" y="52"/>
                    <a:pt x="50" y="77"/>
                    <a:pt x="47" y="81"/>
                  </a:cubicBezTo>
                  <a:cubicBezTo>
                    <a:pt x="44" y="84"/>
                    <a:pt x="42" y="83"/>
                    <a:pt x="35" y="83"/>
                  </a:cubicBezTo>
                  <a:cubicBezTo>
                    <a:pt x="27" y="83"/>
                    <a:pt x="22" y="91"/>
                    <a:pt x="20" y="91"/>
                  </a:cubicBezTo>
                  <a:cubicBezTo>
                    <a:pt x="19" y="90"/>
                    <a:pt x="14" y="91"/>
                    <a:pt x="11" y="92"/>
                  </a:cubicBezTo>
                  <a:cubicBezTo>
                    <a:pt x="5" y="100"/>
                    <a:pt x="5" y="100"/>
                    <a:pt x="5" y="100"/>
                  </a:cubicBezTo>
                  <a:cubicBezTo>
                    <a:pt x="0" y="108"/>
                    <a:pt x="0" y="108"/>
                    <a:pt x="0" y="108"/>
                  </a:cubicBezTo>
                  <a:cubicBezTo>
                    <a:pt x="1" y="148"/>
                    <a:pt x="1" y="148"/>
                    <a:pt x="1" y="148"/>
                  </a:cubicBezTo>
                  <a:cubicBezTo>
                    <a:pt x="6" y="157"/>
                    <a:pt x="6" y="157"/>
                    <a:pt x="6" y="157"/>
                  </a:cubicBezTo>
                  <a:cubicBezTo>
                    <a:pt x="11" y="151"/>
                    <a:pt x="23" y="140"/>
                    <a:pt x="31" y="131"/>
                  </a:cubicBezTo>
                  <a:cubicBezTo>
                    <a:pt x="41" y="121"/>
                    <a:pt x="46" y="118"/>
                    <a:pt x="51" y="116"/>
                  </a:cubicBezTo>
                  <a:cubicBezTo>
                    <a:pt x="56" y="113"/>
                    <a:pt x="70" y="100"/>
                    <a:pt x="79" y="88"/>
                  </a:cubicBezTo>
                  <a:cubicBezTo>
                    <a:pt x="85" y="81"/>
                    <a:pt x="91" y="73"/>
                    <a:pt x="92" y="67"/>
                  </a:cubicBezTo>
                  <a:cubicBezTo>
                    <a:pt x="93" y="62"/>
                    <a:pt x="98" y="55"/>
                    <a:pt x="102" y="50"/>
                  </a:cubicBezTo>
                  <a:cubicBezTo>
                    <a:pt x="106" y="45"/>
                    <a:pt x="113" y="32"/>
                    <a:pt x="113" y="28"/>
                  </a:cubicBezTo>
                  <a:cubicBezTo>
                    <a:pt x="113" y="24"/>
                    <a:pt x="116" y="15"/>
                    <a:pt x="117" y="8"/>
                  </a:cubicBezTo>
                  <a:cubicBezTo>
                    <a:pt x="117" y="1"/>
                    <a:pt x="111" y="0"/>
                    <a:pt x="109" y="4"/>
                  </a:cubicBezTo>
                  <a:cubicBezTo>
                    <a:pt x="107" y="8"/>
                    <a:pt x="93" y="11"/>
                    <a:pt x="84" y="11"/>
                  </a:cubicBezTo>
                  <a:cubicBezTo>
                    <a:pt x="75" y="11"/>
                    <a:pt x="69" y="12"/>
                    <a:pt x="66" y="15"/>
                  </a:cubicBezTo>
                  <a:cubicBezTo>
                    <a:pt x="63" y="18"/>
                    <a:pt x="54" y="14"/>
                    <a:pt x="51" y="18"/>
                  </a:cubicBezTo>
                  <a:cubicBezTo>
                    <a:pt x="48" y="21"/>
                    <a:pt x="36" y="24"/>
                    <a:pt x="33" y="16"/>
                  </a:cubicBezTo>
                  <a:cubicBezTo>
                    <a:pt x="31" y="13"/>
                    <a:pt x="29" y="11"/>
                    <a:pt x="27" y="10"/>
                  </a:cubicBezTo>
                  <a:cubicBezTo>
                    <a:pt x="24" y="13"/>
                    <a:pt x="20" y="18"/>
                    <a:pt x="20" y="20"/>
                  </a:cubicBezTo>
                  <a:cubicBezTo>
                    <a:pt x="21" y="22"/>
                    <a:pt x="25" y="29"/>
                    <a:pt x="27"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8" name="Freeform 14"/>
            <p:cNvSpPr>
              <a:spLocks noChangeArrowheads="1"/>
            </p:cNvSpPr>
            <p:nvPr/>
          </p:nvSpPr>
          <p:spPr bwMode="auto">
            <a:xfrm>
              <a:off x="3363924" y="1655764"/>
              <a:ext cx="260351" cy="206375"/>
            </a:xfrm>
            <a:custGeom>
              <a:avLst/>
              <a:gdLst>
                <a:gd name="T0" fmla="*/ 50 w 136"/>
                <a:gd name="T1" fmla="*/ 108 h 108"/>
                <a:gd name="T2" fmla="*/ 50 w 136"/>
                <a:gd name="T3" fmla="*/ 93 h 108"/>
                <a:gd name="T4" fmla="*/ 68 w 136"/>
                <a:gd name="T5" fmla="*/ 81 h 108"/>
                <a:gd name="T6" fmla="*/ 75 w 136"/>
                <a:gd name="T7" fmla="*/ 79 h 108"/>
                <a:gd name="T8" fmla="*/ 85 w 136"/>
                <a:gd name="T9" fmla="*/ 77 h 108"/>
                <a:gd name="T10" fmla="*/ 91 w 136"/>
                <a:gd name="T11" fmla="*/ 70 h 108"/>
                <a:gd name="T12" fmla="*/ 99 w 136"/>
                <a:gd name="T13" fmla="*/ 67 h 108"/>
                <a:gd name="T14" fmla="*/ 104 w 136"/>
                <a:gd name="T15" fmla="*/ 64 h 108"/>
                <a:gd name="T16" fmla="*/ 106 w 136"/>
                <a:gd name="T17" fmla="*/ 57 h 108"/>
                <a:gd name="T18" fmla="*/ 110 w 136"/>
                <a:gd name="T19" fmla="*/ 54 h 108"/>
                <a:gd name="T20" fmla="*/ 116 w 136"/>
                <a:gd name="T21" fmla="*/ 50 h 108"/>
                <a:gd name="T22" fmla="*/ 133 w 136"/>
                <a:gd name="T23" fmla="*/ 49 h 108"/>
                <a:gd name="T24" fmla="*/ 135 w 136"/>
                <a:gd name="T25" fmla="*/ 45 h 108"/>
                <a:gd name="T26" fmla="*/ 131 w 136"/>
                <a:gd name="T27" fmla="*/ 37 h 108"/>
                <a:gd name="T28" fmla="*/ 130 w 136"/>
                <a:gd name="T29" fmla="*/ 27 h 108"/>
                <a:gd name="T30" fmla="*/ 127 w 136"/>
                <a:gd name="T31" fmla="*/ 15 h 108"/>
                <a:gd name="T32" fmla="*/ 125 w 136"/>
                <a:gd name="T33" fmla="*/ 11 h 108"/>
                <a:gd name="T34" fmla="*/ 112 w 136"/>
                <a:gd name="T35" fmla="*/ 8 h 108"/>
                <a:gd name="T36" fmla="*/ 93 w 136"/>
                <a:gd name="T37" fmla="*/ 6 h 108"/>
                <a:gd name="T38" fmla="*/ 82 w 136"/>
                <a:gd name="T39" fmla="*/ 2 h 108"/>
                <a:gd name="T40" fmla="*/ 70 w 136"/>
                <a:gd name="T41" fmla="*/ 25 h 108"/>
                <a:gd name="T42" fmla="*/ 53 w 136"/>
                <a:gd name="T43" fmla="*/ 33 h 108"/>
                <a:gd name="T44" fmla="*/ 44 w 136"/>
                <a:gd name="T45" fmla="*/ 42 h 108"/>
                <a:gd name="T46" fmla="*/ 38 w 136"/>
                <a:gd name="T47" fmla="*/ 53 h 108"/>
                <a:gd name="T48" fmla="*/ 38 w 136"/>
                <a:gd name="T49" fmla="*/ 70 h 108"/>
                <a:gd name="T50" fmla="*/ 25 w 136"/>
                <a:gd name="T51" fmla="*/ 89 h 108"/>
                <a:gd name="T52" fmla="*/ 8 w 136"/>
                <a:gd name="T53" fmla="*/ 100 h 108"/>
                <a:gd name="T54" fmla="*/ 0 w 136"/>
                <a:gd name="T55" fmla="*/ 104 h 108"/>
                <a:gd name="T56" fmla="*/ 42 w 136"/>
                <a:gd name="T57" fmla="*/ 104 h 108"/>
                <a:gd name="T58" fmla="*/ 50 w 136"/>
                <a:gd name="T59" fmla="*/ 108 h 10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6"/>
                <a:gd name="T91" fmla="*/ 0 h 108"/>
                <a:gd name="T92" fmla="*/ 136 w 136"/>
                <a:gd name="T93" fmla="*/ 108 h 10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6" h="108">
                  <a:moveTo>
                    <a:pt x="50" y="108"/>
                  </a:moveTo>
                  <a:cubicBezTo>
                    <a:pt x="50" y="101"/>
                    <a:pt x="49" y="94"/>
                    <a:pt x="50" y="93"/>
                  </a:cubicBezTo>
                  <a:cubicBezTo>
                    <a:pt x="50" y="91"/>
                    <a:pt x="65" y="83"/>
                    <a:pt x="68" y="81"/>
                  </a:cubicBezTo>
                  <a:cubicBezTo>
                    <a:pt x="70" y="80"/>
                    <a:pt x="75" y="82"/>
                    <a:pt x="75" y="79"/>
                  </a:cubicBezTo>
                  <a:cubicBezTo>
                    <a:pt x="75" y="76"/>
                    <a:pt x="81" y="77"/>
                    <a:pt x="85" y="77"/>
                  </a:cubicBezTo>
                  <a:cubicBezTo>
                    <a:pt x="89" y="76"/>
                    <a:pt x="91" y="73"/>
                    <a:pt x="91" y="70"/>
                  </a:cubicBezTo>
                  <a:cubicBezTo>
                    <a:pt x="91" y="67"/>
                    <a:pt x="96" y="67"/>
                    <a:pt x="99" y="67"/>
                  </a:cubicBezTo>
                  <a:cubicBezTo>
                    <a:pt x="103" y="67"/>
                    <a:pt x="102" y="64"/>
                    <a:pt x="104" y="64"/>
                  </a:cubicBezTo>
                  <a:cubicBezTo>
                    <a:pt x="107" y="64"/>
                    <a:pt x="105" y="60"/>
                    <a:pt x="106" y="57"/>
                  </a:cubicBezTo>
                  <a:cubicBezTo>
                    <a:pt x="106" y="53"/>
                    <a:pt x="106" y="54"/>
                    <a:pt x="110" y="54"/>
                  </a:cubicBezTo>
                  <a:cubicBezTo>
                    <a:pt x="113" y="54"/>
                    <a:pt x="116" y="52"/>
                    <a:pt x="116" y="50"/>
                  </a:cubicBezTo>
                  <a:cubicBezTo>
                    <a:pt x="116" y="48"/>
                    <a:pt x="130" y="49"/>
                    <a:pt x="133" y="49"/>
                  </a:cubicBezTo>
                  <a:cubicBezTo>
                    <a:pt x="135" y="49"/>
                    <a:pt x="136" y="46"/>
                    <a:pt x="135" y="45"/>
                  </a:cubicBezTo>
                  <a:cubicBezTo>
                    <a:pt x="135" y="43"/>
                    <a:pt x="133" y="37"/>
                    <a:pt x="131" y="37"/>
                  </a:cubicBezTo>
                  <a:cubicBezTo>
                    <a:pt x="129" y="37"/>
                    <a:pt x="130" y="31"/>
                    <a:pt x="130" y="27"/>
                  </a:cubicBezTo>
                  <a:cubicBezTo>
                    <a:pt x="130" y="22"/>
                    <a:pt x="129" y="18"/>
                    <a:pt x="127" y="15"/>
                  </a:cubicBezTo>
                  <a:cubicBezTo>
                    <a:pt x="126" y="14"/>
                    <a:pt x="126" y="13"/>
                    <a:pt x="125" y="11"/>
                  </a:cubicBezTo>
                  <a:cubicBezTo>
                    <a:pt x="121" y="11"/>
                    <a:pt x="116" y="8"/>
                    <a:pt x="112" y="8"/>
                  </a:cubicBezTo>
                  <a:cubicBezTo>
                    <a:pt x="106" y="8"/>
                    <a:pt x="97" y="11"/>
                    <a:pt x="93" y="6"/>
                  </a:cubicBezTo>
                  <a:cubicBezTo>
                    <a:pt x="88" y="2"/>
                    <a:pt x="85" y="0"/>
                    <a:pt x="82" y="2"/>
                  </a:cubicBezTo>
                  <a:cubicBezTo>
                    <a:pt x="79" y="3"/>
                    <a:pt x="73" y="20"/>
                    <a:pt x="70" y="25"/>
                  </a:cubicBezTo>
                  <a:cubicBezTo>
                    <a:pt x="67" y="29"/>
                    <a:pt x="57" y="33"/>
                    <a:pt x="53" y="33"/>
                  </a:cubicBezTo>
                  <a:cubicBezTo>
                    <a:pt x="48" y="33"/>
                    <a:pt x="48" y="40"/>
                    <a:pt x="44" y="42"/>
                  </a:cubicBezTo>
                  <a:cubicBezTo>
                    <a:pt x="41" y="45"/>
                    <a:pt x="42" y="50"/>
                    <a:pt x="38" y="53"/>
                  </a:cubicBezTo>
                  <a:cubicBezTo>
                    <a:pt x="34" y="56"/>
                    <a:pt x="36" y="67"/>
                    <a:pt x="38" y="70"/>
                  </a:cubicBezTo>
                  <a:cubicBezTo>
                    <a:pt x="40" y="74"/>
                    <a:pt x="30" y="85"/>
                    <a:pt x="25" y="89"/>
                  </a:cubicBezTo>
                  <a:cubicBezTo>
                    <a:pt x="19" y="92"/>
                    <a:pt x="17" y="98"/>
                    <a:pt x="8" y="100"/>
                  </a:cubicBezTo>
                  <a:cubicBezTo>
                    <a:pt x="5" y="100"/>
                    <a:pt x="2" y="102"/>
                    <a:pt x="0" y="104"/>
                  </a:cubicBezTo>
                  <a:cubicBezTo>
                    <a:pt x="14" y="104"/>
                    <a:pt x="35" y="104"/>
                    <a:pt x="42" y="104"/>
                  </a:cubicBezTo>
                  <a:cubicBezTo>
                    <a:pt x="50" y="104"/>
                    <a:pt x="48" y="106"/>
                    <a:pt x="50" y="10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09" name="Freeform 15"/>
            <p:cNvSpPr>
              <a:spLocks noChangeArrowheads="1"/>
            </p:cNvSpPr>
            <p:nvPr/>
          </p:nvSpPr>
          <p:spPr bwMode="auto">
            <a:xfrm>
              <a:off x="3805251" y="1619252"/>
              <a:ext cx="93663" cy="174626"/>
            </a:xfrm>
            <a:custGeom>
              <a:avLst/>
              <a:gdLst>
                <a:gd name="T0" fmla="*/ 13 w 49"/>
                <a:gd name="T1" fmla="*/ 23 h 91"/>
                <a:gd name="T2" fmla="*/ 10 w 49"/>
                <a:gd name="T3" fmla="*/ 35 h 91"/>
                <a:gd name="T4" fmla="*/ 3 w 49"/>
                <a:gd name="T5" fmla="*/ 42 h 91"/>
                <a:gd name="T6" fmla="*/ 7 w 49"/>
                <a:gd name="T7" fmla="*/ 54 h 91"/>
                <a:gd name="T8" fmla="*/ 12 w 49"/>
                <a:gd name="T9" fmla="*/ 62 h 91"/>
                <a:gd name="T10" fmla="*/ 21 w 49"/>
                <a:gd name="T11" fmla="*/ 68 h 91"/>
                <a:gd name="T12" fmla="*/ 26 w 49"/>
                <a:gd name="T13" fmla="*/ 88 h 91"/>
                <a:gd name="T14" fmla="*/ 27 w 49"/>
                <a:gd name="T15" fmla="*/ 91 h 91"/>
                <a:gd name="T16" fmla="*/ 32 w 49"/>
                <a:gd name="T17" fmla="*/ 87 h 91"/>
                <a:gd name="T18" fmla="*/ 34 w 49"/>
                <a:gd name="T19" fmla="*/ 78 h 91"/>
                <a:gd name="T20" fmla="*/ 35 w 49"/>
                <a:gd name="T21" fmla="*/ 73 h 91"/>
                <a:gd name="T22" fmla="*/ 43 w 49"/>
                <a:gd name="T23" fmla="*/ 65 h 91"/>
                <a:gd name="T24" fmla="*/ 48 w 49"/>
                <a:gd name="T25" fmla="*/ 61 h 91"/>
                <a:gd name="T26" fmla="*/ 49 w 49"/>
                <a:gd name="T27" fmla="*/ 55 h 91"/>
                <a:gd name="T28" fmla="*/ 44 w 49"/>
                <a:gd name="T29" fmla="*/ 51 h 91"/>
                <a:gd name="T30" fmla="*/ 40 w 49"/>
                <a:gd name="T31" fmla="*/ 47 h 91"/>
                <a:gd name="T32" fmla="*/ 31 w 49"/>
                <a:gd name="T33" fmla="*/ 43 h 91"/>
                <a:gd name="T34" fmla="*/ 40 w 49"/>
                <a:gd name="T35" fmla="*/ 35 h 91"/>
                <a:gd name="T36" fmla="*/ 40 w 49"/>
                <a:gd name="T37" fmla="*/ 20 h 91"/>
                <a:gd name="T38" fmla="*/ 42 w 49"/>
                <a:gd name="T39" fmla="*/ 10 h 91"/>
                <a:gd name="T40" fmla="*/ 40 w 49"/>
                <a:gd name="T41" fmla="*/ 6 h 91"/>
                <a:gd name="T42" fmla="*/ 35 w 49"/>
                <a:gd name="T43" fmla="*/ 4 h 91"/>
                <a:gd name="T44" fmla="*/ 20 w 49"/>
                <a:gd name="T45" fmla="*/ 4 h 91"/>
                <a:gd name="T46" fmla="*/ 13 w 49"/>
                <a:gd name="T47" fmla="*/ 5 h 91"/>
                <a:gd name="T48" fmla="*/ 13 w 49"/>
                <a:gd name="T49" fmla="*/ 23 h 9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9"/>
                <a:gd name="T76" fmla="*/ 0 h 91"/>
                <a:gd name="T77" fmla="*/ 49 w 49"/>
                <a:gd name="T78" fmla="*/ 91 h 9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9" h="91">
                  <a:moveTo>
                    <a:pt x="13" y="23"/>
                  </a:moveTo>
                  <a:cubicBezTo>
                    <a:pt x="16" y="27"/>
                    <a:pt x="13" y="34"/>
                    <a:pt x="10" y="35"/>
                  </a:cubicBezTo>
                  <a:cubicBezTo>
                    <a:pt x="7" y="36"/>
                    <a:pt x="5" y="42"/>
                    <a:pt x="3" y="42"/>
                  </a:cubicBezTo>
                  <a:cubicBezTo>
                    <a:pt x="0" y="42"/>
                    <a:pt x="3" y="52"/>
                    <a:pt x="7" y="54"/>
                  </a:cubicBezTo>
                  <a:cubicBezTo>
                    <a:pt x="12" y="56"/>
                    <a:pt x="12" y="60"/>
                    <a:pt x="12" y="62"/>
                  </a:cubicBezTo>
                  <a:cubicBezTo>
                    <a:pt x="12" y="64"/>
                    <a:pt x="19" y="66"/>
                    <a:pt x="21" y="68"/>
                  </a:cubicBezTo>
                  <a:cubicBezTo>
                    <a:pt x="23" y="71"/>
                    <a:pt x="26" y="84"/>
                    <a:pt x="26" y="88"/>
                  </a:cubicBezTo>
                  <a:cubicBezTo>
                    <a:pt x="26" y="89"/>
                    <a:pt x="26" y="90"/>
                    <a:pt x="27" y="91"/>
                  </a:cubicBezTo>
                  <a:cubicBezTo>
                    <a:pt x="29" y="90"/>
                    <a:pt x="31" y="89"/>
                    <a:pt x="32" y="87"/>
                  </a:cubicBezTo>
                  <a:cubicBezTo>
                    <a:pt x="33" y="84"/>
                    <a:pt x="34" y="79"/>
                    <a:pt x="34" y="78"/>
                  </a:cubicBezTo>
                  <a:cubicBezTo>
                    <a:pt x="33" y="77"/>
                    <a:pt x="33" y="74"/>
                    <a:pt x="35" y="73"/>
                  </a:cubicBezTo>
                  <a:cubicBezTo>
                    <a:pt x="36" y="72"/>
                    <a:pt x="42" y="65"/>
                    <a:pt x="43" y="65"/>
                  </a:cubicBezTo>
                  <a:cubicBezTo>
                    <a:pt x="45" y="64"/>
                    <a:pt x="48" y="65"/>
                    <a:pt x="48" y="61"/>
                  </a:cubicBezTo>
                  <a:cubicBezTo>
                    <a:pt x="48" y="60"/>
                    <a:pt x="48" y="58"/>
                    <a:pt x="49" y="55"/>
                  </a:cubicBezTo>
                  <a:cubicBezTo>
                    <a:pt x="46" y="54"/>
                    <a:pt x="44" y="52"/>
                    <a:pt x="44" y="51"/>
                  </a:cubicBezTo>
                  <a:cubicBezTo>
                    <a:pt x="44" y="49"/>
                    <a:pt x="41" y="45"/>
                    <a:pt x="40" y="47"/>
                  </a:cubicBezTo>
                  <a:cubicBezTo>
                    <a:pt x="38" y="49"/>
                    <a:pt x="32" y="47"/>
                    <a:pt x="31" y="43"/>
                  </a:cubicBezTo>
                  <a:cubicBezTo>
                    <a:pt x="30" y="39"/>
                    <a:pt x="35" y="39"/>
                    <a:pt x="40" y="35"/>
                  </a:cubicBezTo>
                  <a:cubicBezTo>
                    <a:pt x="44" y="31"/>
                    <a:pt x="45" y="24"/>
                    <a:pt x="40" y="20"/>
                  </a:cubicBezTo>
                  <a:cubicBezTo>
                    <a:pt x="35" y="16"/>
                    <a:pt x="38" y="14"/>
                    <a:pt x="42" y="10"/>
                  </a:cubicBezTo>
                  <a:cubicBezTo>
                    <a:pt x="45" y="7"/>
                    <a:pt x="42" y="5"/>
                    <a:pt x="40" y="6"/>
                  </a:cubicBezTo>
                  <a:cubicBezTo>
                    <a:pt x="39" y="8"/>
                    <a:pt x="36" y="8"/>
                    <a:pt x="35" y="4"/>
                  </a:cubicBezTo>
                  <a:cubicBezTo>
                    <a:pt x="35" y="0"/>
                    <a:pt x="24" y="0"/>
                    <a:pt x="20" y="4"/>
                  </a:cubicBezTo>
                  <a:cubicBezTo>
                    <a:pt x="18" y="5"/>
                    <a:pt x="16" y="5"/>
                    <a:pt x="13" y="5"/>
                  </a:cubicBezTo>
                  <a:cubicBezTo>
                    <a:pt x="12" y="12"/>
                    <a:pt x="12" y="20"/>
                    <a:pt x="13" y="2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0" name="Freeform 16"/>
            <p:cNvSpPr>
              <a:spLocks noChangeArrowheads="1"/>
            </p:cNvSpPr>
            <p:nvPr/>
          </p:nvSpPr>
          <p:spPr bwMode="auto">
            <a:xfrm>
              <a:off x="3457587" y="1625602"/>
              <a:ext cx="449265" cy="430214"/>
            </a:xfrm>
            <a:custGeom>
              <a:avLst/>
              <a:gdLst>
                <a:gd name="T0" fmla="*/ 81 w 235"/>
                <a:gd name="T1" fmla="*/ 43 h 225"/>
                <a:gd name="T2" fmla="*/ 82 w 235"/>
                <a:gd name="T3" fmla="*/ 53 h 225"/>
                <a:gd name="T4" fmla="*/ 86 w 235"/>
                <a:gd name="T5" fmla="*/ 61 h 225"/>
                <a:gd name="T6" fmla="*/ 84 w 235"/>
                <a:gd name="T7" fmla="*/ 65 h 225"/>
                <a:gd name="T8" fmla="*/ 67 w 235"/>
                <a:gd name="T9" fmla="*/ 66 h 225"/>
                <a:gd name="T10" fmla="*/ 61 w 235"/>
                <a:gd name="T11" fmla="*/ 70 h 225"/>
                <a:gd name="T12" fmla="*/ 57 w 235"/>
                <a:gd name="T13" fmla="*/ 73 h 225"/>
                <a:gd name="T14" fmla="*/ 55 w 235"/>
                <a:gd name="T15" fmla="*/ 80 h 225"/>
                <a:gd name="T16" fmla="*/ 50 w 235"/>
                <a:gd name="T17" fmla="*/ 83 h 225"/>
                <a:gd name="T18" fmla="*/ 42 w 235"/>
                <a:gd name="T19" fmla="*/ 86 h 225"/>
                <a:gd name="T20" fmla="*/ 36 w 235"/>
                <a:gd name="T21" fmla="*/ 93 h 225"/>
                <a:gd name="T22" fmla="*/ 26 w 235"/>
                <a:gd name="T23" fmla="*/ 95 h 225"/>
                <a:gd name="T24" fmla="*/ 19 w 235"/>
                <a:gd name="T25" fmla="*/ 97 h 225"/>
                <a:gd name="T26" fmla="*/ 1 w 235"/>
                <a:gd name="T27" fmla="*/ 109 h 225"/>
                <a:gd name="T28" fmla="*/ 1 w 235"/>
                <a:gd name="T29" fmla="*/ 124 h 225"/>
                <a:gd name="T30" fmla="*/ 3 w 235"/>
                <a:gd name="T31" fmla="*/ 126 h 225"/>
                <a:gd name="T32" fmla="*/ 112 w 235"/>
                <a:gd name="T33" fmla="*/ 199 h 225"/>
                <a:gd name="T34" fmla="*/ 120 w 235"/>
                <a:gd name="T35" fmla="*/ 209 h 225"/>
                <a:gd name="T36" fmla="*/ 132 w 235"/>
                <a:gd name="T37" fmla="*/ 213 h 225"/>
                <a:gd name="T38" fmla="*/ 138 w 235"/>
                <a:gd name="T39" fmla="*/ 225 h 225"/>
                <a:gd name="T40" fmla="*/ 149 w 235"/>
                <a:gd name="T41" fmla="*/ 223 h 225"/>
                <a:gd name="T42" fmla="*/ 166 w 235"/>
                <a:gd name="T43" fmla="*/ 217 h 225"/>
                <a:gd name="T44" fmla="*/ 187 w 235"/>
                <a:gd name="T45" fmla="*/ 201 h 225"/>
                <a:gd name="T46" fmla="*/ 235 w 235"/>
                <a:gd name="T47" fmla="*/ 171 h 225"/>
                <a:gd name="T48" fmla="*/ 235 w 235"/>
                <a:gd name="T49" fmla="*/ 171 h 225"/>
                <a:gd name="T50" fmla="*/ 230 w 235"/>
                <a:gd name="T51" fmla="*/ 161 h 225"/>
                <a:gd name="T52" fmla="*/ 221 w 235"/>
                <a:gd name="T53" fmla="*/ 158 h 225"/>
                <a:gd name="T54" fmla="*/ 214 w 235"/>
                <a:gd name="T55" fmla="*/ 154 h 225"/>
                <a:gd name="T56" fmla="*/ 212 w 235"/>
                <a:gd name="T57" fmla="*/ 145 h 225"/>
                <a:gd name="T58" fmla="*/ 207 w 235"/>
                <a:gd name="T59" fmla="*/ 138 h 225"/>
                <a:gd name="T60" fmla="*/ 212 w 235"/>
                <a:gd name="T61" fmla="*/ 133 h 225"/>
                <a:gd name="T62" fmla="*/ 211 w 235"/>
                <a:gd name="T63" fmla="*/ 127 h 225"/>
                <a:gd name="T64" fmla="*/ 211 w 235"/>
                <a:gd name="T65" fmla="*/ 120 h 225"/>
                <a:gd name="T66" fmla="*/ 211 w 235"/>
                <a:gd name="T67" fmla="*/ 113 h 225"/>
                <a:gd name="T68" fmla="*/ 212 w 235"/>
                <a:gd name="T69" fmla="*/ 101 h 225"/>
                <a:gd name="T70" fmla="*/ 207 w 235"/>
                <a:gd name="T71" fmla="*/ 91 h 225"/>
                <a:gd name="T72" fmla="*/ 209 w 235"/>
                <a:gd name="T73" fmla="*/ 88 h 225"/>
                <a:gd name="T74" fmla="*/ 208 w 235"/>
                <a:gd name="T75" fmla="*/ 85 h 225"/>
                <a:gd name="T76" fmla="*/ 203 w 235"/>
                <a:gd name="T77" fmla="*/ 65 h 225"/>
                <a:gd name="T78" fmla="*/ 194 w 235"/>
                <a:gd name="T79" fmla="*/ 59 h 225"/>
                <a:gd name="T80" fmla="*/ 189 w 235"/>
                <a:gd name="T81" fmla="*/ 51 h 225"/>
                <a:gd name="T82" fmla="*/ 185 w 235"/>
                <a:gd name="T83" fmla="*/ 39 h 225"/>
                <a:gd name="T84" fmla="*/ 192 w 235"/>
                <a:gd name="T85" fmla="*/ 32 h 225"/>
                <a:gd name="T86" fmla="*/ 195 w 235"/>
                <a:gd name="T87" fmla="*/ 20 h 225"/>
                <a:gd name="T88" fmla="*/ 195 w 235"/>
                <a:gd name="T89" fmla="*/ 2 h 225"/>
                <a:gd name="T90" fmla="*/ 185 w 235"/>
                <a:gd name="T91" fmla="*/ 0 h 225"/>
                <a:gd name="T92" fmla="*/ 173 w 235"/>
                <a:gd name="T93" fmla="*/ 1 h 225"/>
                <a:gd name="T94" fmla="*/ 158 w 235"/>
                <a:gd name="T95" fmla="*/ 5 h 225"/>
                <a:gd name="T96" fmla="*/ 115 w 235"/>
                <a:gd name="T97" fmla="*/ 7 h 225"/>
                <a:gd name="T98" fmla="*/ 98 w 235"/>
                <a:gd name="T99" fmla="*/ 16 h 225"/>
                <a:gd name="T100" fmla="*/ 80 w 235"/>
                <a:gd name="T101" fmla="*/ 26 h 225"/>
                <a:gd name="T102" fmla="*/ 76 w 235"/>
                <a:gd name="T103" fmla="*/ 27 h 225"/>
                <a:gd name="T104" fmla="*/ 78 w 235"/>
                <a:gd name="T105" fmla="*/ 31 h 225"/>
                <a:gd name="T106" fmla="*/ 81 w 235"/>
                <a:gd name="T107" fmla="*/ 43 h 22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35"/>
                <a:gd name="T163" fmla="*/ 0 h 225"/>
                <a:gd name="T164" fmla="*/ 235 w 235"/>
                <a:gd name="T165" fmla="*/ 225 h 225"/>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35" h="225">
                  <a:moveTo>
                    <a:pt x="81" y="43"/>
                  </a:moveTo>
                  <a:cubicBezTo>
                    <a:pt x="81" y="47"/>
                    <a:pt x="80" y="53"/>
                    <a:pt x="82" y="53"/>
                  </a:cubicBezTo>
                  <a:cubicBezTo>
                    <a:pt x="84" y="53"/>
                    <a:pt x="86" y="59"/>
                    <a:pt x="86" y="61"/>
                  </a:cubicBezTo>
                  <a:cubicBezTo>
                    <a:pt x="87" y="62"/>
                    <a:pt x="86" y="65"/>
                    <a:pt x="84" y="65"/>
                  </a:cubicBezTo>
                  <a:cubicBezTo>
                    <a:pt x="81" y="65"/>
                    <a:pt x="67" y="64"/>
                    <a:pt x="67" y="66"/>
                  </a:cubicBezTo>
                  <a:cubicBezTo>
                    <a:pt x="67" y="68"/>
                    <a:pt x="64" y="70"/>
                    <a:pt x="61" y="70"/>
                  </a:cubicBezTo>
                  <a:cubicBezTo>
                    <a:pt x="57" y="70"/>
                    <a:pt x="57" y="69"/>
                    <a:pt x="57" y="73"/>
                  </a:cubicBezTo>
                  <a:cubicBezTo>
                    <a:pt x="56" y="76"/>
                    <a:pt x="58" y="80"/>
                    <a:pt x="55" y="80"/>
                  </a:cubicBezTo>
                  <a:cubicBezTo>
                    <a:pt x="53" y="80"/>
                    <a:pt x="54" y="83"/>
                    <a:pt x="50" y="83"/>
                  </a:cubicBezTo>
                  <a:cubicBezTo>
                    <a:pt x="47" y="83"/>
                    <a:pt x="42" y="83"/>
                    <a:pt x="42" y="86"/>
                  </a:cubicBezTo>
                  <a:cubicBezTo>
                    <a:pt x="42" y="89"/>
                    <a:pt x="40" y="92"/>
                    <a:pt x="36" y="93"/>
                  </a:cubicBezTo>
                  <a:cubicBezTo>
                    <a:pt x="32" y="93"/>
                    <a:pt x="26" y="92"/>
                    <a:pt x="26" y="95"/>
                  </a:cubicBezTo>
                  <a:cubicBezTo>
                    <a:pt x="26" y="98"/>
                    <a:pt x="21" y="96"/>
                    <a:pt x="19" y="97"/>
                  </a:cubicBezTo>
                  <a:cubicBezTo>
                    <a:pt x="16" y="99"/>
                    <a:pt x="1" y="107"/>
                    <a:pt x="1" y="109"/>
                  </a:cubicBezTo>
                  <a:cubicBezTo>
                    <a:pt x="0" y="110"/>
                    <a:pt x="1" y="117"/>
                    <a:pt x="1" y="124"/>
                  </a:cubicBezTo>
                  <a:cubicBezTo>
                    <a:pt x="1" y="125"/>
                    <a:pt x="2" y="126"/>
                    <a:pt x="3" y="126"/>
                  </a:cubicBezTo>
                  <a:cubicBezTo>
                    <a:pt x="9" y="129"/>
                    <a:pt x="109" y="196"/>
                    <a:pt x="112" y="199"/>
                  </a:cubicBezTo>
                  <a:cubicBezTo>
                    <a:pt x="116" y="202"/>
                    <a:pt x="120" y="209"/>
                    <a:pt x="120" y="209"/>
                  </a:cubicBezTo>
                  <a:cubicBezTo>
                    <a:pt x="120" y="209"/>
                    <a:pt x="127" y="210"/>
                    <a:pt x="132" y="213"/>
                  </a:cubicBezTo>
                  <a:cubicBezTo>
                    <a:pt x="138" y="217"/>
                    <a:pt x="138" y="225"/>
                    <a:pt x="138" y="225"/>
                  </a:cubicBezTo>
                  <a:cubicBezTo>
                    <a:pt x="138" y="225"/>
                    <a:pt x="145" y="224"/>
                    <a:pt x="149" y="223"/>
                  </a:cubicBezTo>
                  <a:cubicBezTo>
                    <a:pt x="153" y="222"/>
                    <a:pt x="166" y="217"/>
                    <a:pt x="166" y="217"/>
                  </a:cubicBezTo>
                  <a:cubicBezTo>
                    <a:pt x="187" y="201"/>
                    <a:pt x="187" y="201"/>
                    <a:pt x="187" y="201"/>
                  </a:cubicBezTo>
                  <a:cubicBezTo>
                    <a:pt x="235" y="171"/>
                    <a:pt x="235" y="171"/>
                    <a:pt x="235" y="171"/>
                  </a:cubicBezTo>
                  <a:cubicBezTo>
                    <a:pt x="235" y="171"/>
                    <a:pt x="235" y="171"/>
                    <a:pt x="235" y="171"/>
                  </a:cubicBezTo>
                  <a:cubicBezTo>
                    <a:pt x="234" y="165"/>
                    <a:pt x="232" y="161"/>
                    <a:pt x="230" y="161"/>
                  </a:cubicBezTo>
                  <a:cubicBezTo>
                    <a:pt x="227" y="161"/>
                    <a:pt x="225" y="158"/>
                    <a:pt x="221" y="158"/>
                  </a:cubicBezTo>
                  <a:cubicBezTo>
                    <a:pt x="218" y="158"/>
                    <a:pt x="214" y="157"/>
                    <a:pt x="214" y="154"/>
                  </a:cubicBezTo>
                  <a:cubicBezTo>
                    <a:pt x="213" y="151"/>
                    <a:pt x="215" y="149"/>
                    <a:pt x="212" y="145"/>
                  </a:cubicBezTo>
                  <a:cubicBezTo>
                    <a:pt x="210" y="141"/>
                    <a:pt x="207" y="140"/>
                    <a:pt x="207" y="138"/>
                  </a:cubicBezTo>
                  <a:cubicBezTo>
                    <a:pt x="207" y="136"/>
                    <a:pt x="212" y="133"/>
                    <a:pt x="212" y="133"/>
                  </a:cubicBezTo>
                  <a:cubicBezTo>
                    <a:pt x="213" y="132"/>
                    <a:pt x="211" y="129"/>
                    <a:pt x="211" y="127"/>
                  </a:cubicBezTo>
                  <a:cubicBezTo>
                    <a:pt x="211" y="126"/>
                    <a:pt x="209" y="122"/>
                    <a:pt x="211" y="120"/>
                  </a:cubicBezTo>
                  <a:cubicBezTo>
                    <a:pt x="212" y="118"/>
                    <a:pt x="213" y="116"/>
                    <a:pt x="211" y="113"/>
                  </a:cubicBezTo>
                  <a:cubicBezTo>
                    <a:pt x="210" y="109"/>
                    <a:pt x="214" y="106"/>
                    <a:pt x="212" y="101"/>
                  </a:cubicBezTo>
                  <a:cubicBezTo>
                    <a:pt x="210" y="96"/>
                    <a:pt x="206" y="92"/>
                    <a:pt x="207" y="91"/>
                  </a:cubicBezTo>
                  <a:cubicBezTo>
                    <a:pt x="207" y="90"/>
                    <a:pt x="208" y="89"/>
                    <a:pt x="209" y="88"/>
                  </a:cubicBezTo>
                  <a:cubicBezTo>
                    <a:pt x="208" y="87"/>
                    <a:pt x="208" y="86"/>
                    <a:pt x="208" y="85"/>
                  </a:cubicBezTo>
                  <a:cubicBezTo>
                    <a:pt x="208" y="81"/>
                    <a:pt x="205" y="68"/>
                    <a:pt x="203" y="65"/>
                  </a:cubicBezTo>
                  <a:cubicBezTo>
                    <a:pt x="201" y="63"/>
                    <a:pt x="194" y="61"/>
                    <a:pt x="194" y="59"/>
                  </a:cubicBezTo>
                  <a:cubicBezTo>
                    <a:pt x="194" y="57"/>
                    <a:pt x="194" y="53"/>
                    <a:pt x="189" y="51"/>
                  </a:cubicBezTo>
                  <a:cubicBezTo>
                    <a:pt x="185" y="49"/>
                    <a:pt x="182" y="39"/>
                    <a:pt x="185" y="39"/>
                  </a:cubicBezTo>
                  <a:cubicBezTo>
                    <a:pt x="187" y="39"/>
                    <a:pt x="189" y="33"/>
                    <a:pt x="192" y="32"/>
                  </a:cubicBezTo>
                  <a:cubicBezTo>
                    <a:pt x="195" y="31"/>
                    <a:pt x="198" y="24"/>
                    <a:pt x="195" y="20"/>
                  </a:cubicBezTo>
                  <a:cubicBezTo>
                    <a:pt x="194" y="17"/>
                    <a:pt x="194" y="9"/>
                    <a:pt x="195" y="2"/>
                  </a:cubicBezTo>
                  <a:cubicBezTo>
                    <a:pt x="191" y="2"/>
                    <a:pt x="186" y="1"/>
                    <a:pt x="185" y="0"/>
                  </a:cubicBezTo>
                  <a:cubicBezTo>
                    <a:pt x="183" y="0"/>
                    <a:pt x="177" y="1"/>
                    <a:pt x="173" y="1"/>
                  </a:cubicBezTo>
                  <a:cubicBezTo>
                    <a:pt x="170" y="2"/>
                    <a:pt x="161" y="7"/>
                    <a:pt x="158" y="5"/>
                  </a:cubicBezTo>
                  <a:cubicBezTo>
                    <a:pt x="155" y="2"/>
                    <a:pt x="124" y="7"/>
                    <a:pt x="115" y="7"/>
                  </a:cubicBezTo>
                  <a:cubicBezTo>
                    <a:pt x="107" y="7"/>
                    <a:pt x="103" y="16"/>
                    <a:pt x="98" y="16"/>
                  </a:cubicBezTo>
                  <a:cubicBezTo>
                    <a:pt x="93" y="16"/>
                    <a:pt x="85" y="21"/>
                    <a:pt x="80" y="26"/>
                  </a:cubicBezTo>
                  <a:cubicBezTo>
                    <a:pt x="79" y="27"/>
                    <a:pt x="78" y="27"/>
                    <a:pt x="76" y="27"/>
                  </a:cubicBezTo>
                  <a:cubicBezTo>
                    <a:pt x="77" y="29"/>
                    <a:pt x="77" y="30"/>
                    <a:pt x="78" y="31"/>
                  </a:cubicBezTo>
                  <a:cubicBezTo>
                    <a:pt x="80" y="34"/>
                    <a:pt x="81" y="38"/>
                    <a:pt x="81" y="4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1" name="Freeform 17"/>
            <p:cNvSpPr>
              <a:spLocks noChangeArrowheads="1"/>
            </p:cNvSpPr>
            <p:nvPr/>
          </p:nvSpPr>
          <p:spPr bwMode="auto">
            <a:xfrm>
              <a:off x="3851288" y="1724027"/>
              <a:ext cx="328614" cy="315914"/>
            </a:xfrm>
            <a:custGeom>
              <a:avLst/>
              <a:gdLst>
                <a:gd name="T0" fmla="*/ 19 w 172"/>
                <a:gd name="T1" fmla="*/ 10 h 165"/>
                <a:gd name="T2" fmla="*/ 11 w 172"/>
                <a:gd name="T3" fmla="*/ 18 h 165"/>
                <a:gd name="T4" fmla="*/ 10 w 172"/>
                <a:gd name="T5" fmla="*/ 23 h 165"/>
                <a:gd name="T6" fmla="*/ 8 w 172"/>
                <a:gd name="T7" fmla="*/ 32 h 165"/>
                <a:gd name="T8" fmla="*/ 1 w 172"/>
                <a:gd name="T9" fmla="*/ 39 h 165"/>
                <a:gd name="T10" fmla="*/ 6 w 172"/>
                <a:gd name="T11" fmla="*/ 49 h 165"/>
                <a:gd name="T12" fmla="*/ 5 w 172"/>
                <a:gd name="T13" fmla="*/ 61 h 165"/>
                <a:gd name="T14" fmla="*/ 5 w 172"/>
                <a:gd name="T15" fmla="*/ 68 h 165"/>
                <a:gd name="T16" fmla="*/ 5 w 172"/>
                <a:gd name="T17" fmla="*/ 75 h 165"/>
                <a:gd name="T18" fmla="*/ 6 w 172"/>
                <a:gd name="T19" fmla="*/ 81 h 165"/>
                <a:gd name="T20" fmla="*/ 1 w 172"/>
                <a:gd name="T21" fmla="*/ 86 h 165"/>
                <a:gd name="T22" fmla="*/ 6 w 172"/>
                <a:gd name="T23" fmla="*/ 93 h 165"/>
                <a:gd name="T24" fmla="*/ 8 w 172"/>
                <a:gd name="T25" fmla="*/ 102 h 165"/>
                <a:gd name="T26" fmla="*/ 15 w 172"/>
                <a:gd name="T27" fmla="*/ 106 h 165"/>
                <a:gd name="T28" fmla="*/ 24 w 172"/>
                <a:gd name="T29" fmla="*/ 109 h 165"/>
                <a:gd name="T30" fmla="*/ 29 w 172"/>
                <a:gd name="T31" fmla="*/ 119 h 165"/>
                <a:gd name="T32" fmla="*/ 46 w 172"/>
                <a:gd name="T33" fmla="*/ 122 h 165"/>
                <a:gd name="T34" fmla="*/ 53 w 172"/>
                <a:gd name="T35" fmla="*/ 129 h 165"/>
                <a:gd name="T36" fmla="*/ 72 w 172"/>
                <a:gd name="T37" fmla="*/ 119 h 165"/>
                <a:gd name="T38" fmla="*/ 158 w 172"/>
                <a:gd name="T39" fmla="*/ 165 h 165"/>
                <a:gd name="T40" fmla="*/ 158 w 172"/>
                <a:gd name="T41" fmla="*/ 159 h 165"/>
                <a:gd name="T42" fmla="*/ 169 w 172"/>
                <a:gd name="T43" fmla="*/ 159 h 165"/>
                <a:gd name="T44" fmla="*/ 169 w 172"/>
                <a:gd name="T45" fmla="*/ 48 h 165"/>
                <a:gd name="T46" fmla="*/ 169 w 172"/>
                <a:gd name="T47" fmla="*/ 32 h 165"/>
                <a:gd name="T48" fmla="*/ 170 w 172"/>
                <a:gd name="T49" fmla="*/ 18 h 165"/>
                <a:gd name="T50" fmla="*/ 171 w 172"/>
                <a:gd name="T51" fmla="*/ 15 h 165"/>
                <a:gd name="T52" fmla="*/ 171 w 172"/>
                <a:gd name="T53" fmla="*/ 15 h 165"/>
                <a:gd name="T54" fmla="*/ 156 w 172"/>
                <a:gd name="T55" fmla="*/ 11 h 165"/>
                <a:gd name="T56" fmla="*/ 138 w 172"/>
                <a:gd name="T57" fmla="*/ 2 h 165"/>
                <a:gd name="T58" fmla="*/ 113 w 172"/>
                <a:gd name="T59" fmla="*/ 15 h 165"/>
                <a:gd name="T60" fmla="*/ 115 w 172"/>
                <a:gd name="T61" fmla="*/ 29 h 165"/>
                <a:gd name="T62" fmla="*/ 97 w 172"/>
                <a:gd name="T63" fmla="*/ 29 h 165"/>
                <a:gd name="T64" fmla="*/ 77 w 172"/>
                <a:gd name="T65" fmla="*/ 22 h 165"/>
                <a:gd name="T66" fmla="*/ 65 w 172"/>
                <a:gd name="T67" fmla="*/ 14 h 165"/>
                <a:gd name="T68" fmla="*/ 58 w 172"/>
                <a:gd name="T69" fmla="*/ 7 h 165"/>
                <a:gd name="T70" fmla="*/ 38 w 172"/>
                <a:gd name="T71" fmla="*/ 3 h 165"/>
                <a:gd name="T72" fmla="*/ 25 w 172"/>
                <a:gd name="T73" fmla="*/ 0 h 165"/>
                <a:gd name="T74" fmla="*/ 24 w 172"/>
                <a:gd name="T75" fmla="*/ 6 h 165"/>
                <a:gd name="T76" fmla="*/ 19 w 172"/>
                <a:gd name="T77" fmla="*/ 10 h 16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2"/>
                <a:gd name="T118" fmla="*/ 0 h 165"/>
                <a:gd name="T119" fmla="*/ 172 w 172"/>
                <a:gd name="T120" fmla="*/ 165 h 16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2" h="165">
                  <a:moveTo>
                    <a:pt x="19" y="10"/>
                  </a:moveTo>
                  <a:cubicBezTo>
                    <a:pt x="18" y="10"/>
                    <a:pt x="12" y="17"/>
                    <a:pt x="11" y="18"/>
                  </a:cubicBezTo>
                  <a:cubicBezTo>
                    <a:pt x="9" y="19"/>
                    <a:pt x="9" y="22"/>
                    <a:pt x="10" y="23"/>
                  </a:cubicBezTo>
                  <a:cubicBezTo>
                    <a:pt x="10" y="24"/>
                    <a:pt x="9" y="29"/>
                    <a:pt x="8" y="32"/>
                  </a:cubicBezTo>
                  <a:cubicBezTo>
                    <a:pt x="6" y="35"/>
                    <a:pt x="1" y="37"/>
                    <a:pt x="1" y="39"/>
                  </a:cubicBezTo>
                  <a:cubicBezTo>
                    <a:pt x="0" y="40"/>
                    <a:pt x="4" y="44"/>
                    <a:pt x="6" y="49"/>
                  </a:cubicBezTo>
                  <a:cubicBezTo>
                    <a:pt x="8" y="54"/>
                    <a:pt x="4" y="57"/>
                    <a:pt x="5" y="61"/>
                  </a:cubicBezTo>
                  <a:cubicBezTo>
                    <a:pt x="7" y="64"/>
                    <a:pt x="6" y="66"/>
                    <a:pt x="5" y="68"/>
                  </a:cubicBezTo>
                  <a:cubicBezTo>
                    <a:pt x="3" y="70"/>
                    <a:pt x="5" y="74"/>
                    <a:pt x="5" y="75"/>
                  </a:cubicBezTo>
                  <a:cubicBezTo>
                    <a:pt x="5" y="77"/>
                    <a:pt x="7" y="80"/>
                    <a:pt x="6" y="81"/>
                  </a:cubicBezTo>
                  <a:cubicBezTo>
                    <a:pt x="6" y="81"/>
                    <a:pt x="1" y="84"/>
                    <a:pt x="1" y="86"/>
                  </a:cubicBezTo>
                  <a:cubicBezTo>
                    <a:pt x="1" y="88"/>
                    <a:pt x="4" y="89"/>
                    <a:pt x="6" y="93"/>
                  </a:cubicBezTo>
                  <a:cubicBezTo>
                    <a:pt x="9" y="97"/>
                    <a:pt x="7" y="99"/>
                    <a:pt x="8" y="102"/>
                  </a:cubicBezTo>
                  <a:cubicBezTo>
                    <a:pt x="8" y="105"/>
                    <a:pt x="12" y="106"/>
                    <a:pt x="15" y="106"/>
                  </a:cubicBezTo>
                  <a:cubicBezTo>
                    <a:pt x="19" y="106"/>
                    <a:pt x="21" y="109"/>
                    <a:pt x="24" y="109"/>
                  </a:cubicBezTo>
                  <a:cubicBezTo>
                    <a:pt x="26" y="109"/>
                    <a:pt x="28" y="113"/>
                    <a:pt x="29" y="119"/>
                  </a:cubicBezTo>
                  <a:cubicBezTo>
                    <a:pt x="31" y="119"/>
                    <a:pt x="41" y="119"/>
                    <a:pt x="46" y="122"/>
                  </a:cubicBezTo>
                  <a:cubicBezTo>
                    <a:pt x="51" y="125"/>
                    <a:pt x="53" y="129"/>
                    <a:pt x="53" y="129"/>
                  </a:cubicBezTo>
                  <a:cubicBezTo>
                    <a:pt x="72" y="119"/>
                    <a:pt x="72" y="119"/>
                    <a:pt x="72" y="119"/>
                  </a:cubicBezTo>
                  <a:cubicBezTo>
                    <a:pt x="158" y="165"/>
                    <a:pt x="158" y="165"/>
                    <a:pt x="158" y="165"/>
                  </a:cubicBezTo>
                  <a:cubicBezTo>
                    <a:pt x="158" y="159"/>
                    <a:pt x="158" y="159"/>
                    <a:pt x="158" y="159"/>
                  </a:cubicBezTo>
                  <a:cubicBezTo>
                    <a:pt x="169" y="159"/>
                    <a:pt x="169" y="159"/>
                    <a:pt x="169" y="159"/>
                  </a:cubicBezTo>
                  <a:cubicBezTo>
                    <a:pt x="169" y="159"/>
                    <a:pt x="169" y="56"/>
                    <a:pt x="169" y="48"/>
                  </a:cubicBezTo>
                  <a:cubicBezTo>
                    <a:pt x="169" y="41"/>
                    <a:pt x="165" y="36"/>
                    <a:pt x="169" y="32"/>
                  </a:cubicBezTo>
                  <a:cubicBezTo>
                    <a:pt x="172" y="27"/>
                    <a:pt x="167" y="25"/>
                    <a:pt x="170" y="18"/>
                  </a:cubicBezTo>
                  <a:cubicBezTo>
                    <a:pt x="170" y="17"/>
                    <a:pt x="171" y="16"/>
                    <a:pt x="171" y="15"/>
                  </a:cubicBezTo>
                  <a:cubicBezTo>
                    <a:pt x="171" y="15"/>
                    <a:pt x="171" y="15"/>
                    <a:pt x="171" y="15"/>
                  </a:cubicBezTo>
                  <a:cubicBezTo>
                    <a:pt x="170" y="12"/>
                    <a:pt x="165" y="12"/>
                    <a:pt x="156" y="11"/>
                  </a:cubicBezTo>
                  <a:cubicBezTo>
                    <a:pt x="146" y="9"/>
                    <a:pt x="149" y="2"/>
                    <a:pt x="138" y="2"/>
                  </a:cubicBezTo>
                  <a:cubicBezTo>
                    <a:pt x="127" y="1"/>
                    <a:pt x="113" y="10"/>
                    <a:pt x="113" y="15"/>
                  </a:cubicBezTo>
                  <a:cubicBezTo>
                    <a:pt x="113" y="19"/>
                    <a:pt x="118" y="24"/>
                    <a:pt x="115" y="29"/>
                  </a:cubicBezTo>
                  <a:cubicBezTo>
                    <a:pt x="111" y="34"/>
                    <a:pt x="103" y="35"/>
                    <a:pt x="97" y="29"/>
                  </a:cubicBezTo>
                  <a:cubicBezTo>
                    <a:pt x="92" y="24"/>
                    <a:pt x="83" y="22"/>
                    <a:pt x="77" y="22"/>
                  </a:cubicBezTo>
                  <a:cubicBezTo>
                    <a:pt x="70" y="22"/>
                    <a:pt x="65" y="18"/>
                    <a:pt x="65" y="14"/>
                  </a:cubicBezTo>
                  <a:cubicBezTo>
                    <a:pt x="66" y="10"/>
                    <a:pt x="64" y="9"/>
                    <a:pt x="58" y="7"/>
                  </a:cubicBezTo>
                  <a:cubicBezTo>
                    <a:pt x="52" y="6"/>
                    <a:pt x="48" y="2"/>
                    <a:pt x="38" y="3"/>
                  </a:cubicBezTo>
                  <a:cubicBezTo>
                    <a:pt x="32" y="4"/>
                    <a:pt x="28" y="2"/>
                    <a:pt x="25" y="0"/>
                  </a:cubicBezTo>
                  <a:cubicBezTo>
                    <a:pt x="24" y="3"/>
                    <a:pt x="24" y="5"/>
                    <a:pt x="24" y="6"/>
                  </a:cubicBezTo>
                  <a:cubicBezTo>
                    <a:pt x="24" y="10"/>
                    <a:pt x="21" y="9"/>
                    <a:pt x="19"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2" name="Freeform 18"/>
            <p:cNvSpPr>
              <a:spLocks noChangeArrowheads="1"/>
            </p:cNvSpPr>
            <p:nvPr/>
          </p:nvSpPr>
          <p:spPr bwMode="auto">
            <a:xfrm>
              <a:off x="3287724" y="2163765"/>
              <a:ext cx="61913" cy="22225"/>
            </a:xfrm>
            <a:custGeom>
              <a:avLst/>
              <a:gdLst>
                <a:gd name="T0" fmla="*/ 16 w 32"/>
                <a:gd name="T1" fmla="*/ 7 h 11"/>
                <a:gd name="T2" fmla="*/ 25 w 32"/>
                <a:gd name="T3" fmla="*/ 10 h 11"/>
                <a:gd name="T4" fmla="*/ 32 w 32"/>
                <a:gd name="T5" fmla="*/ 8 h 11"/>
                <a:gd name="T6" fmla="*/ 26 w 32"/>
                <a:gd name="T7" fmla="*/ 7 h 11"/>
                <a:gd name="T8" fmla="*/ 15 w 32"/>
                <a:gd name="T9" fmla="*/ 2 h 11"/>
                <a:gd name="T10" fmla="*/ 1 w 32"/>
                <a:gd name="T11" fmla="*/ 5 h 11"/>
                <a:gd name="T12" fmla="*/ 0 w 32"/>
                <a:gd name="T13" fmla="*/ 11 h 11"/>
                <a:gd name="T14" fmla="*/ 3 w 32"/>
                <a:gd name="T15" fmla="*/ 11 h 11"/>
                <a:gd name="T16" fmla="*/ 16 w 32"/>
                <a:gd name="T17" fmla="*/ 7 h 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11"/>
                <a:gd name="T29" fmla="*/ 32 w 32"/>
                <a:gd name="T30" fmla="*/ 11 h 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11">
                  <a:moveTo>
                    <a:pt x="16" y="7"/>
                  </a:moveTo>
                  <a:cubicBezTo>
                    <a:pt x="18" y="5"/>
                    <a:pt x="22" y="9"/>
                    <a:pt x="25" y="10"/>
                  </a:cubicBezTo>
                  <a:cubicBezTo>
                    <a:pt x="29" y="10"/>
                    <a:pt x="32" y="8"/>
                    <a:pt x="32" y="8"/>
                  </a:cubicBezTo>
                  <a:cubicBezTo>
                    <a:pt x="32" y="8"/>
                    <a:pt x="32" y="7"/>
                    <a:pt x="26" y="7"/>
                  </a:cubicBezTo>
                  <a:cubicBezTo>
                    <a:pt x="21" y="7"/>
                    <a:pt x="20" y="0"/>
                    <a:pt x="15" y="2"/>
                  </a:cubicBezTo>
                  <a:cubicBezTo>
                    <a:pt x="10" y="5"/>
                    <a:pt x="7" y="5"/>
                    <a:pt x="1" y="5"/>
                  </a:cubicBezTo>
                  <a:cubicBezTo>
                    <a:pt x="1" y="6"/>
                    <a:pt x="0" y="9"/>
                    <a:pt x="0" y="11"/>
                  </a:cubicBezTo>
                  <a:cubicBezTo>
                    <a:pt x="1" y="11"/>
                    <a:pt x="2" y="11"/>
                    <a:pt x="3" y="11"/>
                  </a:cubicBezTo>
                  <a:cubicBezTo>
                    <a:pt x="6" y="11"/>
                    <a:pt x="13" y="9"/>
                    <a:pt x="16"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3" name="Freeform 19"/>
            <p:cNvSpPr>
              <a:spLocks noChangeArrowheads="1"/>
            </p:cNvSpPr>
            <p:nvPr/>
          </p:nvSpPr>
          <p:spPr bwMode="auto">
            <a:xfrm>
              <a:off x="3275024" y="2105027"/>
              <a:ext cx="125413" cy="101600"/>
            </a:xfrm>
            <a:custGeom>
              <a:avLst/>
              <a:gdLst>
                <a:gd name="T0" fmla="*/ 15 w 66"/>
                <a:gd name="T1" fmla="*/ 51 h 53"/>
                <a:gd name="T2" fmla="*/ 21 w 66"/>
                <a:gd name="T3" fmla="*/ 48 h 53"/>
                <a:gd name="T4" fmla="*/ 37 w 66"/>
                <a:gd name="T5" fmla="*/ 47 h 53"/>
                <a:gd name="T6" fmla="*/ 40 w 66"/>
                <a:gd name="T7" fmla="*/ 48 h 53"/>
                <a:gd name="T8" fmla="*/ 40 w 66"/>
                <a:gd name="T9" fmla="*/ 47 h 53"/>
                <a:gd name="T10" fmla="*/ 48 w 66"/>
                <a:gd name="T11" fmla="*/ 50 h 53"/>
                <a:gd name="T12" fmla="*/ 65 w 66"/>
                <a:gd name="T13" fmla="*/ 51 h 53"/>
                <a:gd name="T14" fmla="*/ 66 w 66"/>
                <a:gd name="T15" fmla="*/ 50 h 53"/>
                <a:gd name="T16" fmla="*/ 66 w 66"/>
                <a:gd name="T17" fmla="*/ 43 h 53"/>
                <a:gd name="T18" fmla="*/ 60 w 66"/>
                <a:gd name="T19" fmla="*/ 36 h 53"/>
                <a:gd name="T20" fmla="*/ 58 w 66"/>
                <a:gd name="T21" fmla="*/ 29 h 53"/>
                <a:gd name="T22" fmla="*/ 56 w 66"/>
                <a:gd name="T23" fmla="*/ 26 h 53"/>
                <a:gd name="T24" fmla="*/ 50 w 66"/>
                <a:gd name="T25" fmla="*/ 18 h 53"/>
                <a:gd name="T26" fmla="*/ 42 w 66"/>
                <a:gd name="T27" fmla="*/ 8 h 53"/>
                <a:gd name="T28" fmla="*/ 38 w 66"/>
                <a:gd name="T29" fmla="*/ 8 h 53"/>
                <a:gd name="T30" fmla="*/ 32 w 66"/>
                <a:gd name="T31" fmla="*/ 2 h 53"/>
                <a:gd name="T32" fmla="*/ 23 w 66"/>
                <a:gd name="T33" fmla="*/ 3 h 53"/>
                <a:gd name="T34" fmla="*/ 13 w 66"/>
                <a:gd name="T35" fmla="*/ 3 h 53"/>
                <a:gd name="T36" fmla="*/ 6 w 66"/>
                <a:gd name="T37" fmla="*/ 8 h 53"/>
                <a:gd name="T38" fmla="*/ 6 w 66"/>
                <a:gd name="T39" fmla="*/ 8 h 53"/>
                <a:gd name="T40" fmla="*/ 3 w 66"/>
                <a:gd name="T41" fmla="*/ 18 h 53"/>
                <a:gd name="T42" fmla="*/ 7 w 66"/>
                <a:gd name="T43" fmla="*/ 34 h 53"/>
                <a:gd name="T44" fmla="*/ 8 w 66"/>
                <a:gd name="T45" fmla="*/ 36 h 53"/>
                <a:gd name="T46" fmla="*/ 22 w 66"/>
                <a:gd name="T47" fmla="*/ 33 h 53"/>
                <a:gd name="T48" fmla="*/ 33 w 66"/>
                <a:gd name="T49" fmla="*/ 38 h 53"/>
                <a:gd name="T50" fmla="*/ 39 w 66"/>
                <a:gd name="T51" fmla="*/ 39 h 53"/>
                <a:gd name="T52" fmla="*/ 32 w 66"/>
                <a:gd name="T53" fmla="*/ 41 h 53"/>
                <a:gd name="T54" fmla="*/ 23 w 66"/>
                <a:gd name="T55" fmla="*/ 38 h 53"/>
                <a:gd name="T56" fmla="*/ 10 w 66"/>
                <a:gd name="T57" fmla="*/ 42 h 53"/>
                <a:gd name="T58" fmla="*/ 7 w 66"/>
                <a:gd name="T59" fmla="*/ 42 h 53"/>
                <a:gd name="T60" fmla="*/ 8 w 66"/>
                <a:gd name="T61" fmla="*/ 48 h 53"/>
                <a:gd name="T62" fmla="*/ 9 w 66"/>
                <a:gd name="T63" fmla="*/ 49 h 53"/>
                <a:gd name="T64" fmla="*/ 15 w 66"/>
                <a:gd name="T65" fmla="*/ 51 h 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6"/>
                <a:gd name="T100" fmla="*/ 0 h 53"/>
                <a:gd name="T101" fmla="*/ 66 w 66"/>
                <a:gd name="T102" fmla="*/ 53 h 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6" h="53">
                  <a:moveTo>
                    <a:pt x="15" y="51"/>
                  </a:moveTo>
                  <a:cubicBezTo>
                    <a:pt x="17" y="51"/>
                    <a:pt x="21" y="48"/>
                    <a:pt x="21" y="48"/>
                  </a:cubicBezTo>
                  <a:cubicBezTo>
                    <a:pt x="21" y="48"/>
                    <a:pt x="35" y="47"/>
                    <a:pt x="37" y="47"/>
                  </a:cubicBezTo>
                  <a:cubicBezTo>
                    <a:pt x="38" y="47"/>
                    <a:pt x="39" y="47"/>
                    <a:pt x="40" y="48"/>
                  </a:cubicBezTo>
                  <a:cubicBezTo>
                    <a:pt x="40" y="47"/>
                    <a:pt x="40" y="47"/>
                    <a:pt x="40" y="47"/>
                  </a:cubicBezTo>
                  <a:cubicBezTo>
                    <a:pt x="40" y="47"/>
                    <a:pt x="48" y="48"/>
                    <a:pt x="48" y="50"/>
                  </a:cubicBezTo>
                  <a:cubicBezTo>
                    <a:pt x="49" y="52"/>
                    <a:pt x="59" y="53"/>
                    <a:pt x="65" y="51"/>
                  </a:cubicBezTo>
                  <a:cubicBezTo>
                    <a:pt x="65" y="51"/>
                    <a:pt x="66" y="50"/>
                    <a:pt x="66" y="50"/>
                  </a:cubicBezTo>
                  <a:cubicBezTo>
                    <a:pt x="66" y="48"/>
                    <a:pt x="66" y="44"/>
                    <a:pt x="66" y="43"/>
                  </a:cubicBezTo>
                  <a:cubicBezTo>
                    <a:pt x="66" y="42"/>
                    <a:pt x="62" y="38"/>
                    <a:pt x="60" y="36"/>
                  </a:cubicBezTo>
                  <a:cubicBezTo>
                    <a:pt x="58" y="34"/>
                    <a:pt x="58" y="29"/>
                    <a:pt x="58" y="29"/>
                  </a:cubicBezTo>
                  <a:cubicBezTo>
                    <a:pt x="56" y="26"/>
                    <a:pt x="56" y="26"/>
                    <a:pt x="56" y="26"/>
                  </a:cubicBezTo>
                  <a:cubicBezTo>
                    <a:pt x="56" y="26"/>
                    <a:pt x="55" y="19"/>
                    <a:pt x="50" y="18"/>
                  </a:cubicBezTo>
                  <a:cubicBezTo>
                    <a:pt x="45" y="16"/>
                    <a:pt x="42" y="8"/>
                    <a:pt x="42" y="8"/>
                  </a:cubicBezTo>
                  <a:cubicBezTo>
                    <a:pt x="38" y="8"/>
                    <a:pt x="38" y="8"/>
                    <a:pt x="38" y="8"/>
                  </a:cubicBezTo>
                  <a:cubicBezTo>
                    <a:pt x="38" y="8"/>
                    <a:pt x="35" y="4"/>
                    <a:pt x="32" y="2"/>
                  </a:cubicBezTo>
                  <a:cubicBezTo>
                    <a:pt x="29" y="0"/>
                    <a:pt x="23" y="3"/>
                    <a:pt x="23" y="3"/>
                  </a:cubicBezTo>
                  <a:cubicBezTo>
                    <a:pt x="23" y="3"/>
                    <a:pt x="17" y="4"/>
                    <a:pt x="13" y="3"/>
                  </a:cubicBezTo>
                  <a:cubicBezTo>
                    <a:pt x="9" y="2"/>
                    <a:pt x="10" y="8"/>
                    <a:pt x="6" y="8"/>
                  </a:cubicBezTo>
                  <a:cubicBezTo>
                    <a:pt x="6" y="8"/>
                    <a:pt x="6" y="8"/>
                    <a:pt x="6" y="8"/>
                  </a:cubicBezTo>
                  <a:cubicBezTo>
                    <a:pt x="5" y="12"/>
                    <a:pt x="5" y="15"/>
                    <a:pt x="3" y="18"/>
                  </a:cubicBezTo>
                  <a:cubicBezTo>
                    <a:pt x="0" y="23"/>
                    <a:pt x="5" y="31"/>
                    <a:pt x="7" y="34"/>
                  </a:cubicBezTo>
                  <a:cubicBezTo>
                    <a:pt x="8" y="34"/>
                    <a:pt x="8" y="35"/>
                    <a:pt x="8" y="36"/>
                  </a:cubicBezTo>
                  <a:cubicBezTo>
                    <a:pt x="14" y="36"/>
                    <a:pt x="17" y="36"/>
                    <a:pt x="22" y="33"/>
                  </a:cubicBezTo>
                  <a:cubicBezTo>
                    <a:pt x="27" y="31"/>
                    <a:pt x="28" y="38"/>
                    <a:pt x="33" y="38"/>
                  </a:cubicBezTo>
                  <a:cubicBezTo>
                    <a:pt x="39" y="38"/>
                    <a:pt x="39" y="39"/>
                    <a:pt x="39" y="39"/>
                  </a:cubicBezTo>
                  <a:cubicBezTo>
                    <a:pt x="39" y="39"/>
                    <a:pt x="36" y="41"/>
                    <a:pt x="32" y="41"/>
                  </a:cubicBezTo>
                  <a:cubicBezTo>
                    <a:pt x="29" y="40"/>
                    <a:pt x="25" y="36"/>
                    <a:pt x="23" y="38"/>
                  </a:cubicBezTo>
                  <a:cubicBezTo>
                    <a:pt x="20" y="40"/>
                    <a:pt x="13" y="42"/>
                    <a:pt x="10" y="42"/>
                  </a:cubicBezTo>
                  <a:cubicBezTo>
                    <a:pt x="9" y="42"/>
                    <a:pt x="8" y="42"/>
                    <a:pt x="7" y="42"/>
                  </a:cubicBezTo>
                  <a:cubicBezTo>
                    <a:pt x="6" y="44"/>
                    <a:pt x="6" y="46"/>
                    <a:pt x="8" y="48"/>
                  </a:cubicBezTo>
                  <a:cubicBezTo>
                    <a:pt x="8" y="48"/>
                    <a:pt x="9" y="49"/>
                    <a:pt x="9" y="49"/>
                  </a:cubicBezTo>
                  <a:cubicBezTo>
                    <a:pt x="15" y="48"/>
                    <a:pt x="13" y="50"/>
                    <a:pt x="15" y="5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4" name="Freeform 20"/>
            <p:cNvSpPr>
              <a:spLocks noChangeArrowheads="1"/>
            </p:cNvSpPr>
            <p:nvPr/>
          </p:nvSpPr>
          <p:spPr bwMode="auto">
            <a:xfrm>
              <a:off x="3290899" y="2195514"/>
              <a:ext cx="60325" cy="33338"/>
            </a:xfrm>
            <a:custGeom>
              <a:avLst/>
              <a:gdLst>
                <a:gd name="T0" fmla="*/ 16 w 31"/>
                <a:gd name="T1" fmla="*/ 17 h 18"/>
                <a:gd name="T2" fmla="*/ 26 w 31"/>
                <a:gd name="T3" fmla="*/ 12 h 18"/>
                <a:gd name="T4" fmla="*/ 30 w 31"/>
                <a:gd name="T5" fmla="*/ 10 h 18"/>
                <a:gd name="T6" fmla="*/ 29 w 31"/>
                <a:gd name="T7" fmla="*/ 5 h 18"/>
                <a:gd name="T8" fmla="*/ 31 w 31"/>
                <a:gd name="T9" fmla="*/ 1 h 18"/>
                <a:gd name="T10" fmla="*/ 28 w 31"/>
                <a:gd name="T11" fmla="*/ 0 h 18"/>
                <a:gd name="T12" fmla="*/ 12 w 31"/>
                <a:gd name="T13" fmla="*/ 1 h 18"/>
                <a:gd name="T14" fmla="*/ 6 w 31"/>
                <a:gd name="T15" fmla="*/ 4 h 18"/>
                <a:gd name="T16" fmla="*/ 0 w 31"/>
                <a:gd name="T17" fmla="*/ 2 h 18"/>
                <a:gd name="T18" fmla="*/ 9 w 31"/>
                <a:gd name="T19" fmla="*/ 9 h 18"/>
                <a:gd name="T20" fmla="*/ 14 w 31"/>
                <a:gd name="T21" fmla="*/ 18 h 18"/>
                <a:gd name="T22" fmla="*/ 15 w 31"/>
                <a:gd name="T23" fmla="*/ 18 h 18"/>
                <a:gd name="T24" fmla="*/ 16 w 31"/>
                <a:gd name="T25" fmla="*/ 17 h 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
                <a:gd name="T40" fmla="*/ 0 h 18"/>
                <a:gd name="T41" fmla="*/ 31 w 31"/>
                <a:gd name="T42" fmla="*/ 18 h 1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 h="18">
                  <a:moveTo>
                    <a:pt x="16" y="17"/>
                  </a:moveTo>
                  <a:cubicBezTo>
                    <a:pt x="19" y="16"/>
                    <a:pt x="24" y="11"/>
                    <a:pt x="26" y="12"/>
                  </a:cubicBezTo>
                  <a:cubicBezTo>
                    <a:pt x="27" y="13"/>
                    <a:pt x="30" y="11"/>
                    <a:pt x="30" y="10"/>
                  </a:cubicBezTo>
                  <a:cubicBezTo>
                    <a:pt x="30" y="9"/>
                    <a:pt x="26" y="6"/>
                    <a:pt x="29" y="5"/>
                  </a:cubicBezTo>
                  <a:cubicBezTo>
                    <a:pt x="31" y="4"/>
                    <a:pt x="31" y="2"/>
                    <a:pt x="31" y="1"/>
                  </a:cubicBezTo>
                  <a:cubicBezTo>
                    <a:pt x="30" y="0"/>
                    <a:pt x="29" y="0"/>
                    <a:pt x="28" y="0"/>
                  </a:cubicBezTo>
                  <a:cubicBezTo>
                    <a:pt x="26" y="0"/>
                    <a:pt x="12" y="1"/>
                    <a:pt x="12" y="1"/>
                  </a:cubicBezTo>
                  <a:cubicBezTo>
                    <a:pt x="12" y="1"/>
                    <a:pt x="8" y="4"/>
                    <a:pt x="6" y="4"/>
                  </a:cubicBezTo>
                  <a:cubicBezTo>
                    <a:pt x="4" y="3"/>
                    <a:pt x="6" y="1"/>
                    <a:pt x="0" y="2"/>
                  </a:cubicBezTo>
                  <a:cubicBezTo>
                    <a:pt x="3" y="6"/>
                    <a:pt x="3" y="7"/>
                    <a:pt x="9" y="9"/>
                  </a:cubicBezTo>
                  <a:cubicBezTo>
                    <a:pt x="16" y="11"/>
                    <a:pt x="9" y="14"/>
                    <a:pt x="14" y="18"/>
                  </a:cubicBezTo>
                  <a:cubicBezTo>
                    <a:pt x="14" y="18"/>
                    <a:pt x="15" y="18"/>
                    <a:pt x="15" y="18"/>
                  </a:cubicBezTo>
                  <a:cubicBezTo>
                    <a:pt x="16" y="18"/>
                    <a:pt x="16" y="17"/>
                    <a:pt x="16"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5" name="Freeform 21"/>
            <p:cNvSpPr>
              <a:spLocks noChangeArrowheads="1"/>
            </p:cNvSpPr>
            <p:nvPr/>
          </p:nvSpPr>
          <p:spPr bwMode="auto">
            <a:xfrm>
              <a:off x="3959238" y="2227264"/>
              <a:ext cx="263526" cy="185739"/>
            </a:xfrm>
            <a:custGeom>
              <a:avLst/>
              <a:gdLst>
                <a:gd name="T0" fmla="*/ 128 w 138"/>
                <a:gd name="T1" fmla="*/ 55 h 97"/>
                <a:gd name="T2" fmla="*/ 124 w 138"/>
                <a:gd name="T3" fmla="*/ 47 h 97"/>
                <a:gd name="T4" fmla="*/ 117 w 138"/>
                <a:gd name="T5" fmla="*/ 41 h 97"/>
                <a:gd name="T6" fmla="*/ 112 w 138"/>
                <a:gd name="T7" fmla="*/ 34 h 97"/>
                <a:gd name="T8" fmla="*/ 103 w 138"/>
                <a:gd name="T9" fmla="*/ 30 h 97"/>
                <a:gd name="T10" fmla="*/ 101 w 138"/>
                <a:gd name="T11" fmla="*/ 27 h 97"/>
                <a:gd name="T12" fmla="*/ 97 w 138"/>
                <a:gd name="T13" fmla="*/ 26 h 97"/>
                <a:gd name="T14" fmla="*/ 98 w 138"/>
                <a:gd name="T15" fmla="*/ 22 h 97"/>
                <a:gd name="T16" fmla="*/ 97 w 138"/>
                <a:gd name="T17" fmla="*/ 12 h 97"/>
                <a:gd name="T18" fmla="*/ 89 w 138"/>
                <a:gd name="T19" fmla="*/ 1 h 97"/>
                <a:gd name="T20" fmla="*/ 87 w 138"/>
                <a:gd name="T21" fmla="*/ 1 h 97"/>
                <a:gd name="T22" fmla="*/ 78 w 138"/>
                <a:gd name="T23" fmla="*/ 5 h 97"/>
                <a:gd name="T24" fmla="*/ 76 w 138"/>
                <a:gd name="T25" fmla="*/ 10 h 97"/>
                <a:gd name="T26" fmla="*/ 65 w 138"/>
                <a:gd name="T27" fmla="*/ 21 h 97"/>
                <a:gd name="T28" fmla="*/ 49 w 138"/>
                <a:gd name="T29" fmla="*/ 25 h 97"/>
                <a:gd name="T30" fmla="*/ 48 w 138"/>
                <a:gd name="T31" fmla="*/ 31 h 97"/>
                <a:gd name="T32" fmla="*/ 38 w 138"/>
                <a:gd name="T33" fmla="*/ 36 h 97"/>
                <a:gd name="T34" fmla="*/ 26 w 138"/>
                <a:gd name="T35" fmla="*/ 40 h 97"/>
                <a:gd name="T36" fmla="*/ 18 w 138"/>
                <a:gd name="T37" fmla="*/ 40 h 97"/>
                <a:gd name="T38" fmla="*/ 12 w 138"/>
                <a:gd name="T39" fmla="*/ 42 h 97"/>
                <a:gd name="T40" fmla="*/ 11 w 138"/>
                <a:gd name="T41" fmla="*/ 41 h 97"/>
                <a:gd name="T42" fmla="*/ 5 w 138"/>
                <a:gd name="T43" fmla="*/ 48 h 97"/>
                <a:gd name="T44" fmla="*/ 0 w 138"/>
                <a:gd name="T45" fmla="*/ 59 h 97"/>
                <a:gd name="T46" fmla="*/ 1 w 138"/>
                <a:gd name="T47" fmla="*/ 69 h 97"/>
                <a:gd name="T48" fmla="*/ 5 w 138"/>
                <a:gd name="T49" fmla="*/ 78 h 97"/>
                <a:gd name="T50" fmla="*/ 6 w 138"/>
                <a:gd name="T51" fmla="*/ 84 h 97"/>
                <a:gd name="T52" fmla="*/ 9 w 138"/>
                <a:gd name="T53" fmla="*/ 88 h 97"/>
                <a:gd name="T54" fmla="*/ 16 w 138"/>
                <a:gd name="T55" fmla="*/ 95 h 97"/>
                <a:gd name="T56" fmla="*/ 18 w 138"/>
                <a:gd name="T57" fmla="*/ 97 h 97"/>
                <a:gd name="T58" fmla="*/ 19 w 138"/>
                <a:gd name="T59" fmla="*/ 96 h 97"/>
                <a:gd name="T60" fmla="*/ 21 w 138"/>
                <a:gd name="T61" fmla="*/ 88 h 97"/>
                <a:gd name="T62" fmla="*/ 27 w 138"/>
                <a:gd name="T63" fmla="*/ 86 h 97"/>
                <a:gd name="T64" fmla="*/ 32 w 138"/>
                <a:gd name="T65" fmla="*/ 85 h 97"/>
                <a:gd name="T66" fmla="*/ 42 w 138"/>
                <a:gd name="T67" fmla="*/ 86 h 97"/>
                <a:gd name="T68" fmla="*/ 42 w 138"/>
                <a:gd name="T69" fmla="*/ 79 h 97"/>
                <a:gd name="T70" fmla="*/ 53 w 138"/>
                <a:gd name="T71" fmla="*/ 70 h 97"/>
                <a:gd name="T72" fmla="*/ 63 w 138"/>
                <a:gd name="T73" fmla="*/ 76 h 97"/>
                <a:gd name="T74" fmla="*/ 84 w 138"/>
                <a:gd name="T75" fmla="*/ 80 h 97"/>
                <a:gd name="T76" fmla="*/ 88 w 138"/>
                <a:gd name="T77" fmla="*/ 72 h 97"/>
                <a:gd name="T78" fmla="*/ 97 w 138"/>
                <a:gd name="T79" fmla="*/ 72 h 97"/>
                <a:gd name="T80" fmla="*/ 108 w 138"/>
                <a:gd name="T81" fmla="*/ 69 h 97"/>
                <a:gd name="T82" fmla="*/ 117 w 138"/>
                <a:gd name="T83" fmla="*/ 68 h 97"/>
                <a:gd name="T84" fmla="*/ 130 w 138"/>
                <a:gd name="T85" fmla="*/ 69 h 97"/>
                <a:gd name="T86" fmla="*/ 138 w 138"/>
                <a:gd name="T87" fmla="*/ 68 h 97"/>
                <a:gd name="T88" fmla="*/ 136 w 138"/>
                <a:gd name="T89" fmla="*/ 61 h 97"/>
                <a:gd name="T90" fmla="*/ 128 w 138"/>
                <a:gd name="T91" fmla="*/ 55 h 9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38"/>
                <a:gd name="T139" fmla="*/ 0 h 97"/>
                <a:gd name="T140" fmla="*/ 138 w 138"/>
                <a:gd name="T141" fmla="*/ 97 h 9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38" h="97">
                  <a:moveTo>
                    <a:pt x="128" y="55"/>
                  </a:moveTo>
                  <a:cubicBezTo>
                    <a:pt x="128" y="53"/>
                    <a:pt x="128" y="51"/>
                    <a:pt x="124" y="47"/>
                  </a:cubicBezTo>
                  <a:cubicBezTo>
                    <a:pt x="120" y="44"/>
                    <a:pt x="117" y="43"/>
                    <a:pt x="117" y="41"/>
                  </a:cubicBezTo>
                  <a:cubicBezTo>
                    <a:pt x="117" y="39"/>
                    <a:pt x="115" y="38"/>
                    <a:pt x="112" y="34"/>
                  </a:cubicBezTo>
                  <a:cubicBezTo>
                    <a:pt x="108" y="30"/>
                    <a:pt x="103" y="30"/>
                    <a:pt x="103" y="30"/>
                  </a:cubicBezTo>
                  <a:cubicBezTo>
                    <a:pt x="101" y="27"/>
                    <a:pt x="101" y="27"/>
                    <a:pt x="101" y="27"/>
                  </a:cubicBezTo>
                  <a:cubicBezTo>
                    <a:pt x="97" y="26"/>
                    <a:pt x="97" y="26"/>
                    <a:pt x="97" y="26"/>
                  </a:cubicBezTo>
                  <a:cubicBezTo>
                    <a:pt x="97" y="26"/>
                    <a:pt x="94" y="24"/>
                    <a:pt x="98" y="22"/>
                  </a:cubicBezTo>
                  <a:cubicBezTo>
                    <a:pt x="102" y="20"/>
                    <a:pt x="98" y="14"/>
                    <a:pt x="97" y="12"/>
                  </a:cubicBezTo>
                  <a:cubicBezTo>
                    <a:pt x="97" y="10"/>
                    <a:pt x="91" y="3"/>
                    <a:pt x="89" y="1"/>
                  </a:cubicBezTo>
                  <a:cubicBezTo>
                    <a:pt x="89" y="1"/>
                    <a:pt x="88" y="1"/>
                    <a:pt x="87" y="1"/>
                  </a:cubicBezTo>
                  <a:cubicBezTo>
                    <a:pt x="85" y="0"/>
                    <a:pt x="80" y="2"/>
                    <a:pt x="78" y="5"/>
                  </a:cubicBezTo>
                  <a:cubicBezTo>
                    <a:pt x="76" y="7"/>
                    <a:pt x="77" y="8"/>
                    <a:pt x="76" y="10"/>
                  </a:cubicBezTo>
                  <a:cubicBezTo>
                    <a:pt x="74" y="12"/>
                    <a:pt x="68" y="17"/>
                    <a:pt x="65" y="21"/>
                  </a:cubicBezTo>
                  <a:cubicBezTo>
                    <a:pt x="61" y="26"/>
                    <a:pt x="52" y="23"/>
                    <a:pt x="49" y="25"/>
                  </a:cubicBezTo>
                  <a:cubicBezTo>
                    <a:pt x="46" y="26"/>
                    <a:pt x="50" y="29"/>
                    <a:pt x="48" y="31"/>
                  </a:cubicBezTo>
                  <a:cubicBezTo>
                    <a:pt x="46" y="32"/>
                    <a:pt x="40" y="35"/>
                    <a:pt x="38" y="36"/>
                  </a:cubicBezTo>
                  <a:cubicBezTo>
                    <a:pt x="36" y="37"/>
                    <a:pt x="28" y="37"/>
                    <a:pt x="26" y="40"/>
                  </a:cubicBezTo>
                  <a:cubicBezTo>
                    <a:pt x="23" y="43"/>
                    <a:pt x="21" y="36"/>
                    <a:pt x="18" y="40"/>
                  </a:cubicBezTo>
                  <a:cubicBezTo>
                    <a:pt x="16" y="43"/>
                    <a:pt x="13" y="43"/>
                    <a:pt x="12" y="42"/>
                  </a:cubicBezTo>
                  <a:cubicBezTo>
                    <a:pt x="12" y="42"/>
                    <a:pt x="11" y="42"/>
                    <a:pt x="11" y="41"/>
                  </a:cubicBezTo>
                  <a:cubicBezTo>
                    <a:pt x="9" y="43"/>
                    <a:pt x="6" y="45"/>
                    <a:pt x="5" y="48"/>
                  </a:cubicBezTo>
                  <a:cubicBezTo>
                    <a:pt x="4" y="53"/>
                    <a:pt x="0" y="57"/>
                    <a:pt x="0" y="59"/>
                  </a:cubicBezTo>
                  <a:cubicBezTo>
                    <a:pt x="0" y="62"/>
                    <a:pt x="1" y="65"/>
                    <a:pt x="1" y="69"/>
                  </a:cubicBezTo>
                  <a:cubicBezTo>
                    <a:pt x="1" y="73"/>
                    <a:pt x="2" y="75"/>
                    <a:pt x="5" y="78"/>
                  </a:cubicBezTo>
                  <a:cubicBezTo>
                    <a:pt x="7" y="81"/>
                    <a:pt x="6" y="84"/>
                    <a:pt x="6" y="84"/>
                  </a:cubicBezTo>
                  <a:cubicBezTo>
                    <a:pt x="6" y="84"/>
                    <a:pt x="7" y="86"/>
                    <a:pt x="9" y="88"/>
                  </a:cubicBezTo>
                  <a:cubicBezTo>
                    <a:pt x="11" y="90"/>
                    <a:pt x="16" y="94"/>
                    <a:pt x="16" y="95"/>
                  </a:cubicBezTo>
                  <a:cubicBezTo>
                    <a:pt x="16" y="96"/>
                    <a:pt x="17" y="97"/>
                    <a:pt x="18" y="97"/>
                  </a:cubicBezTo>
                  <a:cubicBezTo>
                    <a:pt x="18" y="97"/>
                    <a:pt x="18" y="96"/>
                    <a:pt x="19" y="96"/>
                  </a:cubicBezTo>
                  <a:cubicBezTo>
                    <a:pt x="22" y="93"/>
                    <a:pt x="21" y="88"/>
                    <a:pt x="21" y="88"/>
                  </a:cubicBezTo>
                  <a:cubicBezTo>
                    <a:pt x="27" y="86"/>
                    <a:pt x="27" y="86"/>
                    <a:pt x="27" y="86"/>
                  </a:cubicBezTo>
                  <a:cubicBezTo>
                    <a:pt x="32" y="85"/>
                    <a:pt x="32" y="85"/>
                    <a:pt x="32" y="85"/>
                  </a:cubicBezTo>
                  <a:cubicBezTo>
                    <a:pt x="42" y="86"/>
                    <a:pt x="42" y="86"/>
                    <a:pt x="42" y="86"/>
                  </a:cubicBezTo>
                  <a:cubicBezTo>
                    <a:pt x="42" y="79"/>
                    <a:pt x="42" y="79"/>
                    <a:pt x="42" y="79"/>
                  </a:cubicBezTo>
                  <a:cubicBezTo>
                    <a:pt x="42" y="79"/>
                    <a:pt x="49" y="70"/>
                    <a:pt x="53" y="70"/>
                  </a:cubicBezTo>
                  <a:cubicBezTo>
                    <a:pt x="58" y="70"/>
                    <a:pt x="63" y="76"/>
                    <a:pt x="63" y="76"/>
                  </a:cubicBezTo>
                  <a:cubicBezTo>
                    <a:pt x="84" y="80"/>
                    <a:pt x="84" y="80"/>
                    <a:pt x="84" y="80"/>
                  </a:cubicBezTo>
                  <a:cubicBezTo>
                    <a:pt x="84" y="80"/>
                    <a:pt x="85" y="74"/>
                    <a:pt x="88" y="72"/>
                  </a:cubicBezTo>
                  <a:cubicBezTo>
                    <a:pt x="90" y="71"/>
                    <a:pt x="94" y="74"/>
                    <a:pt x="97" y="72"/>
                  </a:cubicBezTo>
                  <a:cubicBezTo>
                    <a:pt x="99" y="71"/>
                    <a:pt x="104" y="69"/>
                    <a:pt x="108" y="69"/>
                  </a:cubicBezTo>
                  <a:cubicBezTo>
                    <a:pt x="113" y="69"/>
                    <a:pt x="115" y="72"/>
                    <a:pt x="117" y="68"/>
                  </a:cubicBezTo>
                  <a:cubicBezTo>
                    <a:pt x="120" y="63"/>
                    <a:pt x="130" y="69"/>
                    <a:pt x="130" y="69"/>
                  </a:cubicBezTo>
                  <a:cubicBezTo>
                    <a:pt x="138" y="68"/>
                    <a:pt x="138" y="68"/>
                    <a:pt x="138" y="68"/>
                  </a:cubicBezTo>
                  <a:cubicBezTo>
                    <a:pt x="136" y="61"/>
                    <a:pt x="136" y="61"/>
                    <a:pt x="136" y="61"/>
                  </a:cubicBezTo>
                  <a:cubicBezTo>
                    <a:pt x="136" y="61"/>
                    <a:pt x="128" y="57"/>
                    <a:pt x="128" y="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6" name="Freeform 22"/>
            <p:cNvSpPr>
              <a:spLocks noChangeArrowheads="1"/>
            </p:cNvSpPr>
            <p:nvPr/>
          </p:nvSpPr>
          <p:spPr bwMode="auto">
            <a:xfrm>
              <a:off x="3706825" y="2165353"/>
              <a:ext cx="255589" cy="212725"/>
            </a:xfrm>
            <a:custGeom>
              <a:avLst/>
              <a:gdLst>
                <a:gd name="T0" fmla="*/ 83 w 134"/>
                <a:gd name="T1" fmla="*/ 81 h 111"/>
                <a:gd name="T2" fmla="*/ 89 w 134"/>
                <a:gd name="T3" fmla="*/ 80 h 111"/>
                <a:gd name="T4" fmla="*/ 97 w 134"/>
                <a:gd name="T5" fmla="*/ 86 h 111"/>
                <a:gd name="T6" fmla="*/ 102 w 134"/>
                <a:gd name="T7" fmla="*/ 81 h 111"/>
                <a:gd name="T8" fmla="*/ 110 w 134"/>
                <a:gd name="T9" fmla="*/ 63 h 111"/>
                <a:gd name="T10" fmla="*/ 116 w 134"/>
                <a:gd name="T11" fmla="*/ 57 h 111"/>
                <a:gd name="T12" fmla="*/ 117 w 134"/>
                <a:gd name="T13" fmla="*/ 51 h 111"/>
                <a:gd name="T14" fmla="*/ 120 w 134"/>
                <a:gd name="T15" fmla="*/ 43 h 111"/>
                <a:gd name="T16" fmla="*/ 126 w 134"/>
                <a:gd name="T17" fmla="*/ 31 h 111"/>
                <a:gd name="T18" fmla="*/ 133 w 134"/>
                <a:gd name="T19" fmla="*/ 27 h 111"/>
                <a:gd name="T20" fmla="*/ 132 w 134"/>
                <a:gd name="T21" fmla="*/ 20 h 111"/>
                <a:gd name="T22" fmla="*/ 128 w 134"/>
                <a:gd name="T23" fmla="*/ 16 h 111"/>
                <a:gd name="T24" fmla="*/ 128 w 134"/>
                <a:gd name="T25" fmla="*/ 9 h 111"/>
                <a:gd name="T26" fmla="*/ 124 w 134"/>
                <a:gd name="T27" fmla="*/ 5 h 111"/>
                <a:gd name="T28" fmla="*/ 120 w 134"/>
                <a:gd name="T29" fmla="*/ 3 h 111"/>
                <a:gd name="T30" fmla="*/ 112 w 134"/>
                <a:gd name="T31" fmla="*/ 10 h 111"/>
                <a:gd name="T32" fmla="*/ 103 w 134"/>
                <a:gd name="T33" fmla="*/ 8 h 111"/>
                <a:gd name="T34" fmla="*/ 88 w 134"/>
                <a:gd name="T35" fmla="*/ 7 h 111"/>
                <a:gd name="T36" fmla="*/ 80 w 134"/>
                <a:gd name="T37" fmla="*/ 13 h 111"/>
                <a:gd name="T38" fmla="*/ 69 w 134"/>
                <a:gd name="T39" fmla="*/ 13 h 111"/>
                <a:gd name="T40" fmla="*/ 60 w 134"/>
                <a:gd name="T41" fmla="*/ 8 h 111"/>
                <a:gd name="T42" fmla="*/ 51 w 134"/>
                <a:gd name="T43" fmla="*/ 11 h 111"/>
                <a:gd name="T44" fmla="*/ 45 w 134"/>
                <a:gd name="T45" fmla="*/ 5 h 111"/>
                <a:gd name="T46" fmla="*/ 36 w 134"/>
                <a:gd name="T47" fmla="*/ 2 h 111"/>
                <a:gd name="T48" fmla="*/ 29 w 134"/>
                <a:gd name="T49" fmla="*/ 4 h 111"/>
                <a:gd name="T50" fmla="*/ 19 w 134"/>
                <a:gd name="T51" fmla="*/ 4 h 111"/>
                <a:gd name="T52" fmla="*/ 16 w 134"/>
                <a:gd name="T53" fmla="*/ 13 h 111"/>
                <a:gd name="T54" fmla="*/ 11 w 134"/>
                <a:gd name="T55" fmla="*/ 21 h 111"/>
                <a:gd name="T56" fmla="*/ 10 w 134"/>
                <a:gd name="T57" fmla="*/ 23 h 111"/>
                <a:gd name="T58" fmla="*/ 11 w 134"/>
                <a:gd name="T59" fmla="*/ 31 h 111"/>
                <a:gd name="T60" fmla="*/ 10 w 134"/>
                <a:gd name="T61" fmla="*/ 47 h 111"/>
                <a:gd name="T62" fmla="*/ 6 w 134"/>
                <a:gd name="T63" fmla="*/ 54 h 111"/>
                <a:gd name="T64" fmla="*/ 1 w 134"/>
                <a:gd name="T65" fmla="*/ 62 h 111"/>
                <a:gd name="T66" fmla="*/ 1 w 134"/>
                <a:gd name="T67" fmla="*/ 75 h 111"/>
                <a:gd name="T68" fmla="*/ 5 w 134"/>
                <a:gd name="T69" fmla="*/ 84 h 111"/>
                <a:gd name="T70" fmla="*/ 5 w 134"/>
                <a:gd name="T71" fmla="*/ 84 h 111"/>
                <a:gd name="T72" fmla="*/ 22 w 134"/>
                <a:gd name="T73" fmla="*/ 88 h 111"/>
                <a:gd name="T74" fmla="*/ 32 w 134"/>
                <a:gd name="T75" fmla="*/ 100 h 111"/>
                <a:gd name="T76" fmla="*/ 38 w 134"/>
                <a:gd name="T77" fmla="*/ 110 h 111"/>
                <a:gd name="T78" fmla="*/ 50 w 134"/>
                <a:gd name="T79" fmla="*/ 107 h 111"/>
                <a:gd name="T80" fmla="*/ 65 w 134"/>
                <a:gd name="T81" fmla="*/ 105 h 111"/>
                <a:gd name="T82" fmla="*/ 66 w 134"/>
                <a:gd name="T83" fmla="*/ 105 h 111"/>
                <a:gd name="T84" fmla="*/ 70 w 134"/>
                <a:gd name="T85" fmla="*/ 93 h 111"/>
                <a:gd name="T86" fmla="*/ 83 w 134"/>
                <a:gd name="T87" fmla="*/ 81 h 11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34"/>
                <a:gd name="T133" fmla="*/ 0 h 111"/>
                <a:gd name="T134" fmla="*/ 134 w 134"/>
                <a:gd name="T135" fmla="*/ 111 h 111"/>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34" h="111">
                  <a:moveTo>
                    <a:pt x="83" y="81"/>
                  </a:moveTo>
                  <a:cubicBezTo>
                    <a:pt x="84" y="81"/>
                    <a:pt x="87" y="82"/>
                    <a:pt x="89" y="80"/>
                  </a:cubicBezTo>
                  <a:cubicBezTo>
                    <a:pt x="92" y="78"/>
                    <a:pt x="97" y="82"/>
                    <a:pt x="97" y="86"/>
                  </a:cubicBezTo>
                  <a:cubicBezTo>
                    <a:pt x="98" y="89"/>
                    <a:pt x="100" y="84"/>
                    <a:pt x="102" y="81"/>
                  </a:cubicBezTo>
                  <a:cubicBezTo>
                    <a:pt x="104" y="77"/>
                    <a:pt x="110" y="66"/>
                    <a:pt x="110" y="63"/>
                  </a:cubicBezTo>
                  <a:cubicBezTo>
                    <a:pt x="110" y="61"/>
                    <a:pt x="116" y="58"/>
                    <a:pt x="116" y="57"/>
                  </a:cubicBezTo>
                  <a:cubicBezTo>
                    <a:pt x="116" y="55"/>
                    <a:pt x="115" y="51"/>
                    <a:pt x="117" y="51"/>
                  </a:cubicBezTo>
                  <a:cubicBezTo>
                    <a:pt x="119" y="50"/>
                    <a:pt x="120" y="45"/>
                    <a:pt x="120" y="43"/>
                  </a:cubicBezTo>
                  <a:cubicBezTo>
                    <a:pt x="119" y="42"/>
                    <a:pt x="125" y="32"/>
                    <a:pt x="126" y="31"/>
                  </a:cubicBezTo>
                  <a:cubicBezTo>
                    <a:pt x="127" y="30"/>
                    <a:pt x="133" y="30"/>
                    <a:pt x="133" y="27"/>
                  </a:cubicBezTo>
                  <a:cubicBezTo>
                    <a:pt x="133" y="24"/>
                    <a:pt x="134" y="21"/>
                    <a:pt x="132" y="20"/>
                  </a:cubicBezTo>
                  <a:cubicBezTo>
                    <a:pt x="130" y="20"/>
                    <a:pt x="128" y="17"/>
                    <a:pt x="128" y="16"/>
                  </a:cubicBezTo>
                  <a:cubicBezTo>
                    <a:pt x="128" y="15"/>
                    <a:pt x="128" y="12"/>
                    <a:pt x="128" y="9"/>
                  </a:cubicBezTo>
                  <a:cubicBezTo>
                    <a:pt x="126" y="9"/>
                    <a:pt x="126" y="6"/>
                    <a:pt x="124" y="5"/>
                  </a:cubicBezTo>
                  <a:cubicBezTo>
                    <a:pt x="122" y="3"/>
                    <a:pt x="122" y="2"/>
                    <a:pt x="120" y="3"/>
                  </a:cubicBezTo>
                  <a:cubicBezTo>
                    <a:pt x="118" y="3"/>
                    <a:pt x="115" y="9"/>
                    <a:pt x="112" y="10"/>
                  </a:cubicBezTo>
                  <a:cubicBezTo>
                    <a:pt x="109" y="11"/>
                    <a:pt x="105" y="9"/>
                    <a:pt x="103" y="8"/>
                  </a:cubicBezTo>
                  <a:cubicBezTo>
                    <a:pt x="101" y="7"/>
                    <a:pt x="91" y="8"/>
                    <a:pt x="88" y="7"/>
                  </a:cubicBezTo>
                  <a:cubicBezTo>
                    <a:pt x="85" y="7"/>
                    <a:pt x="82" y="11"/>
                    <a:pt x="80" y="13"/>
                  </a:cubicBezTo>
                  <a:cubicBezTo>
                    <a:pt x="78" y="14"/>
                    <a:pt x="71" y="13"/>
                    <a:pt x="69" y="13"/>
                  </a:cubicBezTo>
                  <a:cubicBezTo>
                    <a:pt x="67" y="12"/>
                    <a:pt x="62" y="8"/>
                    <a:pt x="60" y="8"/>
                  </a:cubicBezTo>
                  <a:cubicBezTo>
                    <a:pt x="58" y="8"/>
                    <a:pt x="54" y="9"/>
                    <a:pt x="51" y="11"/>
                  </a:cubicBezTo>
                  <a:cubicBezTo>
                    <a:pt x="48" y="13"/>
                    <a:pt x="47" y="7"/>
                    <a:pt x="45" y="5"/>
                  </a:cubicBezTo>
                  <a:cubicBezTo>
                    <a:pt x="43" y="2"/>
                    <a:pt x="38" y="4"/>
                    <a:pt x="36" y="2"/>
                  </a:cubicBezTo>
                  <a:cubicBezTo>
                    <a:pt x="33" y="0"/>
                    <a:pt x="31" y="5"/>
                    <a:pt x="29" y="4"/>
                  </a:cubicBezTo>
                  <a:cubicBezTo>
                    <a:pt x="27" y="4"/>
                    <a:pt x="21" y="3"/>
                    <a:pt x="19" y="4"/>
                  </a:cubicBezTo>
                  <a:cubicBezTo>
                    <a:pt x="17" y="6"/>
                    <a:pt x="17" y="12"/>
                    <a:pt x="16" y="13"/>
                  </a:cubicBezTo>
                  <a:cubicBezTo>
                    <a:pt x="15" y="14"/>
                    <a:pt x="11" y="19"/>
                    <a:pt x="11" y="21"/>
                  </a:cubicBezTo>
                  <a:cubicBezTo>
                    <a:pt x="11" y="22"/>
                    <a:pt x="11" y="23"/>
                    <a:pt x="10" y="23"/>
                  </a:cubicBezTo>
                  <a:cubicBezTo>
                    <a:pt x="10" y="26"/>
                    <a:pt x="11" y="30"/>
                    <a:pt x="11" y="31"/>
                  </a:cubicBezTo>
                  <a:cubicBezTo>
                    <a:pt x="11" y="33"/>
                    <a:pt x="12" y="45"/>
                    <a:pt x="10" y="47"/>
                  </a:cubicBezTo>
                  <a:cubicBezTo>
                    <a:pt x="7" y="50"/>
                    <a:pt x="6" y="54"/>
                    <a:pt x="6" y="54"/>
                  </a:cubicBezTo>
                  <a:cubicBezTo>
                    <a:pt x="6" y="54"/>
                    <a:pt x="2" y="56"/>
                    <a:pt x="1" y="62"/>
                  </a:cubicBezTo>
                  <a:cubicBezTo>
                    <a:pt x="0" y="67"/>
                    <a:pt x="1" y="71"/>
                    <a:pt x="1" y="75"/>
                  </a:cubicBezTo>
                  <a:cubicBezTo>
                    <a:pt x="1" y="78"/>
                    <a:pt x="3" y="80"/>
                    <a:pt x="5" y="84"/>
                  </a:cubicBezTo>
                  <a:cubicBezTo>
                    <a:pt x="5" y="84"/>
                    <a:pt x="5" y="84"/>
                    <a:pt x="5" y="84"/>
                  </a:cubicBezTo>
                  <a:cubicBezTo>
                    <a:pt x="7" y="87"/>
                    <a:pt x="16" y="87"/>
                    <a:pt x="22" y="88"/>
                  </a:cubicBezTo>
                  <a:cubicBezTo>
                    <a:pt x="27" y="90"/>
                    <a:pt x="32" y="97"/>
                    <a:pt x="32" y="100"/>
                  </a:cubicBezTo>
                  <a:cubicBezTo>
                    <a:pt x="32" y="103"/>
                    <a:pt x="36" y="108"/>
                    <a:pt x="38" y="110"/>
                  </a:cubicBezTo>
                  <a:cubicBezTo>
                    <a:pt x="41" y="111"/>
                    <a:pt x="47" y="107"/>
                    <a:pt x="50" y="107"/>
                  </a:cubicBezTo>
                  <a:cubicBezTo>
                    <a:pt x="53" y="107"/>
                    <a:pt x="63" y="107"/>
                    <a:pt x="65" y="105"/>
                  </a:cubicBezTo>
                  <a:cubicBezTo>
                    <a:pt x="65" y="105"/>
                    <a:pt x="66" y="105"/>
                    <a:pt x="66" y="105"/>
                  </a:cubicBezTo>
                  <a:cubicBezTo>
                    <a:pt x="69" y="99"/>
                    <a:pt x="70" y="93"/>
                    <a:pt x="70" y="93"/>
                  </a:cubicBezTo>
                  <a:cubicBezTo>
                    <a:pt x="70" y="93"/>
                    <a:pt x="81" y="81"/>
                    <a:pt x="83" y="8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7" name="Freeform 23"/>
            <p:cNvSpPr>
              <a:spLocks noChangeArrowheads="1"/>
            </p:cNvSpPr>
            <p:nvPr/>
          </p:nvSpPr>
          <p:spPr bwMode="auto">
            <a:xfrm>
              <a:off x="3663962" y="2198689"/>
              <a:ext cx="65088" cy="133350"/>
            </a:xfrm>
            <a:custGeom>
              <a:avLst/>
              <a:gdLst>
                <a:gd name="T0" fmla="*/ 23 w 34"/>
                <a:gd name="T1" fmla="*/ 45 h 70"/>
                <a:gd name="T2" fmla="*/ 28 w 34"/>
                <a:gd name="T3" fmla="*/ 37 h 70"/>
                <a:gd name="T4" fmla="*/ 32 w 34"/>
                <a:gd name="T5" fmla="*/ 30 h 70"/>
                <a:gd name="T6" fmla="*/ 33 w 34"/>
                <a:gd name="T7" fmla="*/ 14 h 70"/>
                <a:gd name="T8" fmla="*/ 32 w 34"/>
                <a:gd name="T9" fmla="*/ 6 h 70"/>
                <a:gd name="T10" fmla="*/ 28 w 34"/>
                <a:gd name="T11" fmla="*/ 6 h 70"/>
                <a:gd name="T12" fmla="*/ 25 w 34"/>
                <a:gd name="T13" fmla="*/ 1 h 70"/>
                <a:gd name="T14" fmla="*/ 21 w 34"/>
                <a:gd name="T15" fmla="*/ 6 h 70"/>
                <a:gd name="T16" fmla="*/ 18 w 34"/>
                <a:gd name="T17" fmla="*/ 11 h 70"/>
                <a:gd name="T18" fmla="*/ 8 w 34"/>
                <a:gd name="T19" fmla="*/ 13 h 70"/>
                <a:gd name="T20" fmla="*/ 2 w 34"/>
                <a:gd name="T21" fmla="*/ 17 h 70"/>
                <a:gd name="T22" fmla="*/ 0 w 34"/>
                <a:gd name="T23" fmla="*/ 17 h 70"/>
                <a:gd name="T24" fmla="*/ 6 w 34"/>
                <a:gd name="T25" fmla="*/ 28 h 70"/>
                <a:gd name="T26" fmla="*/ 9 w 34"/>
                <a:gd name="T27" fmla="*/ 36 h 70"/>
                <a:gd name="T28" fmla="*/ 10 w 34"/>
                <a:gd name="T29" fmla="*/ 49 h 70"/>
                <a:gd name="T30" fmla="*/ 11 w 34"/>
                <a:gd name="T31" fmla="*/ 70 h 70"/>
                <a:gd name="T32" fmla="*/ 19 w 34"/>
                <a:gd name="T33" fmla="*/ 69 h 70"/>
                <a:gd name="T34" fmla="*/ 27 w 34"/>
                <a:gd name="T35" fmla="*/ 67 h 70"/>
                <a:gd name="T36" fmla="*/ 23 w 34"/>
                <a:gd name="T37" fmla="*/ 58 h 70"/>
                <a:gd name="T38" fmla="*/ 23 w 34"/>
                <a:gd name="T39" fmla="*/ 45 h 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
                <a:gd name="T61" fmla="*/ 0 h 70"/>
                <a:gd name="T62" fmla="*/ 34 w 34"/>
                <a:gd name="T63" fmla="*/ 70 h 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 h="70">
                  <a:moveTo>
                    <a:pt x="23" y="45"/>
                  </a:moveTo>
                  <a:cubicBezTo>
                    <a:pt x="24" y="39"/>
                    <a:pt x="28" y="37"/>
                    <a:pt x="28" y="37"/>
                  </a:cubicBezTo>
                  <a:cubicBezTo>
                    <a:pt x="28" y="37"/>
                    <a:pt x="29" y="33"/>
                    <a:pt x="32" y="30"/>
                  </a:cubicBezTo>
                  <a:cubicBezTo>
                    <a:pt x="34" y="28"/>
                    <a:pt x="33" y="16"/>
                    <a:pt x="33" y="14"/>
                  </a:cubicBezTo>
                  <a:cubicBezTo>
                    <a:pt x="33" y="13"/>
                    <a:pt x="32" y="9"/>
                    <a:pt x="32" y="6"/>
                  </a:cubicBezTo>
                  <a:cubicBezTo>
                    <a:pt x="31" y="7"/>
                    <a:pt x="30" y="7"/>
                    <a:pt x="28" y="6"/>
                  </a:cubicBezTo>
                  <a:cubicBezTo>
                    <a:pt x="25" y="5"/>
                    <a:pt x="28" y="2"/>
                    <a:pt x="25" y="1"/>
                  </a:cubicBezTo>
                  <a:cubicBezTo>
                    <a:pt x="21" y="0"/>
                    <a:pt x="20" y="4"/>
                    <a:pt x="21" y="6"/>
                  </a:cubicBezTo>
                  <a:cubicBezTo>
                    <a:pt x="21" y="9"/>
                    <a:pt x="19" y="9"/>
                    <a:pt x="18" y="11"/>
                  </a:cubicBezTo>
                  <a:cubicBezTo>
                    <a:pt x="16" y="12"/>
                    <a:pt x="10" y="13"/>
                    <a:pt x="8" y="13"/>
                  </a:cubicBezTo>
                  <a:cubicBezTo>
                    <a:pt x="6" y="13"/>
                    <a:pt x="4" y="16"/>
                    <a:pt x="2" y="17"/>
                  </a:cubicBezTo>
                  <a:cubicBezTo>
                    <a:pt x="2" y="17"/>
                    <a:pt x="1" y="17"/>
                    <a:pt x="0" y="17"/>
                  </a:cubicBezTo>
                  <a:cubicBezTo>
                    <a:pt x="1" y="26"/>
                    <a:pt x="2" y="25"/>
                    <a:pt x="6" y="28"/>
                  </a:cubicBezTo>
                  <a:cubicBezTo>
                    <a:pt x="11" y="30"/>
                    <a:pt x="7" y="34"/>
                    <a:pt x="9" y="36"/>
                  </a:cubicBezTo>
                  <a:cubicBezTo>
                    <a:pt x="11" y="38"/>
                    <a:pt x="10" y="43"/>
                    <a:pt x="10" y="49"/>
                  </a:cubicBezTo>
                  <a:cubicBezTo>
                    <a:pt x="11" y="53"/>
                    <a:pt x="11" y="63"/>
                    <a:pt x="11" y="70"/>
                  </a:cubicBezTo>
                  <a:cubicBezTo>
                    <a:pt x="14" y="70"/>
                    <a:pt x="17" y="69"/>
                    <a:pt x="19" y="69"/>
                  </a:cubicBezTo>
                  <a:cubicBezTo>
                    <a:pt x="22" y="69"/>
                    <a:pt x="25" y="65"/>
                    <a:pt x="27" y="67"/>
                  </a:cubicBezTo>
                  <a:cubicBezTo>
                    <a:pt x="25" y="63"/>
                    <a:pt x="23" y="61"/>
                    <a:pt x="23" y="58"/>
                  </a:cubicBezTo>
                  <a:cubicBezTo>
                    <a:pt x="23" y="54"/>
                    <a:pt x="22" y="50"/>
                    <a:pt x="23" y="4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8" name="Freeform 24"/>
            <p:cNvSpPr>
              <a:spLocks noChangeArrowheads="1"/>
            </p:cNvSpPr>
            <p:nvPr/>
          </p:nvSpPr>
          <p:spPr bwMode="auto">
            <a:xfrm>
              <a:off x="3644913" y="2227264"/>
              <a:ext cx="41275" cy="112713"/>
            </a:xfrm>
            <a:custGeom>
              <a:avLst/>
              <a:gdLst>
                <a:gd name="T0" fmla="*/ 19 w 21"/>
                <a:gd name="T1" fmla="*/ 21 h 59"/>
                <a:gd name="T2" fmla="*/ 16 w 21"/>
                <a:gd name="T3" fmla="*/ 13 h 59"/>
                <a:gd name="T4" fmla="*/ 10 w 21"/>
                <a:gd name="T5" fmla="*/ 2 h 59"/>
                <a:gd name="T6" fmla="*/ 2 w 21"/>
                <a:gd name="T7" fmla="*/ 1 h 59"/>
                <a:gd name="T8" fmla="*/ 0 w 21"/>
                <a:gd name="T9" fmla="*/ 1 h 59"/>
                <a:gd name="T10" fmla="*/ 3 w 21"/>
                <a:gd name="T11" fmla="*/ 8 h 59"/>
                <a:gd name="T12" fmla="*/ 5 w 21"/>
                <a:gd name="T13" fmla="*/ 15 h 59"/>
                <a:gd name="T14" fmla="*/ 6 w 21"/>
                <a:gd name="T15" fmla="*/ 31 h 59"/>
                <a:gd name="T16" fmla="*/ 9 w 21"/>
                <a:gd name="T17" fmla="*/ 46 h 59"/>
                <a:gd name="T18" fmla="*/ 13 w 21"/>
                <a:gd name="T19" fmla="*/ 59 h 59"/>
                <a:gd name="T20" fmla="*/ 15 w 21"/>
                <a:gd name="T21" fmla="*/ 58 h 59"/>
                <a:gd name="T22" fmla="*/ 21 w 21"/>
                <a:gd name="T23" fmla="*/ 55 h 59"/>
                <a:gd name="T24" fmla="*/ 20 w 21"/>
                <a:gd name="T25" fmla="*/ 34 h 59"/>
                <a:gd name="T26" fmla="*/ 19 w 21"/>
                <a:gd name="T27" fmla="*/ 21 h 5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1"/>
                <a:gd name="T43" fmla="*/ 0 h 59"/>
                <a:gd name="T44" fmla="*/ 21 w 21"/>
                <a:gd name="T45" fmla="*/ 59 h 5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 h="59">
                  <a:moveTo>
                    <a:pt x="19" y="21"/>
                  </a:moveTo>
                  <a:cubicBezTo>
                    <a:pt x="17" y="19"/>
                    <a:pt x="21" y="15"/>
                    <a:pt x="16" y="13"/>
                  </a:cubicBezTo>
                  <a:cubicBezTo>
                    <a:pt x="12" y="10"/>
                    <a:pt x="11" y="11"/>
                    <a:pt x="10" y="2"/>
                  </a:cubicBezTo>
                  <a:cubicBezTo>
                    <a:pt x="8" y="2"/>
                    <a:pt x="4" y="1"/>
                    <a:pt x="2" y="1"/>
                  </a:cubicBezTo>
                  <a:cubicBezTo>
                    <a:pt x="1" y="0"/>
                    <a:pt x="1" y="1"/>
                    <a:pt x="0" y="1"/>
                  </a:cubicBezTo>
                  <a:cubicBezTo>
                    <a:pt x="1" y="4"/>
                    <a:pt x="2" y="7"/>
                    <a:pt x="3" y="8"/>
                  </a:cubicBezTo>
                  <a:cubicBezTo>
                    <a:pt x="4" y="9"/>
                    <a:pt x="6" y="11"/>
                    <a:pt x="5" y="15"/>
                  </a:cubicBezTo>
                  <a:cubicBezTo>
                    <a:pt x="5" y="19"/>
                    <a:pt x="4" y="27"/>
                    <a:pt x="6" y="31"/>
                  </a:cubicBezTo>
                  <a:cubicBezTo>
                    <a:pt x="7" y="34"/>
                    <a:pt x="9" y="40"/>
                    <a:pt x="9" y="46"/>
                  </a:cubicBezTo>
                  <a:cubicBezTo>
                    <a:pt x="9" y="50"/>
                    <a:pt x="11" y="55"/>
                    <a:pt x="13" y="59"/>
                  </a:cubicBezTo>
                  <a:cubicBezTo>
                    <a:pt x="14" y="59"/>
                    <a:pt x="14" y="58"/>
                    <a:pt x="15" y="58"/>
                  </a:cubicBezTo>
                  <a:cubicBezTo>
                    <a:pt x="17" y="56"/>
                    <a:pt x="19" y="55"/>
                    <a:pt x="21" y="55"/>
                  </a:cubicBezTo>
                  <a:cubicBezTo>
                    <a:pt x="21" y="48"/>
                    <a:pt x="21" y="38"/>
                    <a:pt x="20" y="34"/>
                  </a:cubicBezTo>
                  <a:cubicBezTo>
                    <a:pt x="20" y="28"/>
                    <a:pt x="21" y="23"/>
                    <a:pt x="19" y="2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9" name="Freeform 25"/>
            <p:cNvSpPr>
              <a:spLocks noChangeArrowheads="1"/>
            </p:cNvSpPr>
            <p:nvPr/>
          </p:nvSpPr>
          <p:spPr bwMode="auto">
            <a:xfrm>
              <a:off x="3832237" y="2182815"/>
              <a:ext cx="160339" cy="249238"/>
            </a:xfrm>
            <a:custGeom>
              <a:avLst/>
              <a:gdLst>
                <a:gd name="T0" fmla="*/ 35 w 84"/>
                <a:gd name="T1" fmla="*/ 124 h 130"/>
                <a:gd name="T2" fmla="*/ 65 w 84"/>
                <a:gd name="T3" fmla="*/ 125 h 130"/>
                <a:gd name="T4" fmla="*/ 81 w 84"/>
                <a:gd name="T5" fmla="*/ 130 h 130"/>
                <a:gd name="T6" fmla="*/ 84 w 84"/>
                <a:gd name="T7" fmla="*/ 120 h 130"/>
                <a:gd name="T8" fmla="*/ 82 w 84"/>
                <a:gd name="T9" fmla="*/ 118 h 130"/>
                <a:gd name="T10" fmla="*/ 75 w 84"/>
                <a:gd name="T11" fmla="*/ 111 h 130"/>
                <a:gd name="T12" fmla="*/ 72 w 84"/>
                <a:gd name="T13" fmla="*/ 107 h 130"/>
                <a:gd name="T14" fmla="*/ 71 w 84"/>
                <a:gd name="T15" fmla="*/ 101 h 130"/>
                <a:gd name="T16" fmla="*/ 67 w 84"/>
                <a:gd name="T17" fmla="*/ 92 h 130"/>
                <a:gd name="T18" fmla="*/ 66 w 84"/>
                <a:gd name="T19" fmla="*/ 82 h 130"/>
                <a:gd name="T20" fmla="*/ 71 w 84"/>
                <a:gd name="T21" fmla="*/ 71 h 130"/>
                <a:gd name="T22" fmla="*/ 77 w 84"/>
                <a:gd name="T23" fmla="*/ 64 h 130"/>
                <a:gd name="T24" fmla="*/ 74 w 84"/>
                <a:gd name="T25" fmla="*/ 56 h 130"/>
                <a:gd name="T26" fmla="*/ 64 w 84"/>
                <a:gd name="T27" fmla="*/ 46 h 130"/>
                <a:gd name="T28" fmla="*/ 62 w 84"/>
                <a:gd name="T29" fmla="*/ 38 h 130"/>
                <a:gd name="T30" fmla="*/ 71 w 84"/>
                <a:gd name="T31" fmla="*/ 37 h 130"/>
                <a:gd name="T32" fmla="*/ 76 w 84"/>
                <a:gd name="T33" fmla="*/ 35 h 130"/>
                <a:gd name="T34" fmla="*/ 71 w 84"/>
                <a:gd name="T35" fmla="*/ 21 h 130"/>
                <a:gd name="T36" fmla="*/ 70 w 84"/>
                <a:gd name="T37" fmla="*/ 11 h 130"/>
                <a:gd name="T38" fmla="*/ 63 w 84"/>
                <a:gd name="T39" fmla="*/ 1 h 130"/>
                <a:gd name="T40" fmla="*/ 62 w 84"/>
                <a:gd name="T41" fmla="*/ 0 h 130"/>
                <a:gd name="T42" fmla="*/ 62 w 84"/>
                <a:gd name="T43" fmla="*/ 7 h 130"/>
                <a:gd name="T44" fmla="*/ 66 w 84"/>
                <a:gd name="T45" fmla="*/ 11 h 130"/>
                <a:gd name="T46" fmla="*/ 67 w 84"/>
                <a:gd name="T47" fmla="*/ 18 h 130"/>
                <a:gd name="T48" fmla="*/ 60 w 84"/>
                <a:gd name="T49" fmla="*/ 22 h 130"/>
                <a:gd name="T50" fmla="*/ 54 w 84"/>
                <a:gd name="T51" fmla="*/ 34 h 130"/>
                <a:gd name="T52" fmla="*/ 51 w 84"/>
                <a:gd name="T53" fmla="*/ 42 h 130"/>
                <a:gd name="T54" fmla="*/ 50 w 84"/>
                <a:gd name="T55" fmla="*/ 48 h 130"/>
                <a:gd name="T56" fmla="*/ 44 w 84"/>
                <a:gd name="T57" fmla="*/ 54 h 130"/>
                <a:gd name="T58" fmla="*/ 36 w 84"/>
                <a:gd name="T59" fmla="*/ 72 h 130"/>
                <a:gd name="T60" fmla="*/ 31 w 84"/>
                <a:gd name="T61" fmla="*/ 77 h 130"/>
                <a:gd name="T62" fmla="*/ 23 w 84"/>
                <a:gd name="T63" fmla="*/ 71 h 130"/>
                <a:gd name="T64" fmla="*/ 17 w 84"/>
                <a:gd name="T65" fmla="*/ 72 h 130"/>
                <a:gd name="T66" fmla="*/ 4 w 84"/>
                <a:gd name="T67" fmla="*/ 84 h 130"/>
                <a:gd name="T68" fmla="*/ 0 w 84"/>
                <a:gd name="T69" fmla="*/ 96 h 130"/>
                <a:gd name="T70" fmla="*/ 5 w 84"/>
                <a:gd name="T71" fmla="*/ 103 h 130"/>
                <a:gd name="T72" fmla="*/ 14 w 84"/>
                <a:gd name="T73" fmla="*/ 104 h 130"/>
                <a:gd name="T74" fmla="*/ 17 w 84"/>
                <a:gd name="T75" fmla="*/ 115 h 130"/>
                <a:gd name="T76" fmla="*/ 15 w 84"/>
                <a:gd name="T77" fmla="*/ 125 h 130"/>
                <a:gd name="T78" fmla="*/ 31 w 84"/>
                <a:gd name="T79" fmla="*/ 125 h 130"/>
                <a:gd name="T80" fmla="*/ 35 w 84"/>
                <a:gd name="T81" fmla="*/ 124 h 1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4"/>
                <a:gd name="T124" fmla="*/ 0 h 130"/>
                <a:gd name="T125" fmla="*/ 84 w 84"/>
                <a:gd name="T126" fmla="*/ 130 h 1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4" h="130">
                  <a:moveTo>
                    <a:pt x="35" y="124"/>
                  </a:moveTo>
                  <a:cubicBezTo>
                    <a:pt x="35" y="124"/>
                    <a:pt x="62" y="125"/>
                    <a:pt x="65" y="125"/>
                  </a:cubicBezTo>
                  <a:cubicBezTo>
                    <a:pt x="69" y="124"/>
                    <a:pt x="81" y="130"/>
                    <a:pt x="81" y="130"/>
                  </a:cubicBezTo>
                  <a:cubicBezTo>
                    <a:pt x="81" y="130"/>
                    <a:pt x="82" y="124"/>
                    <a:pt x="84" y="120"/>
                  </a:cubicBezTo>
                  <a:cubicBezTo>
                    <a:pt x="83" y="120"/>
                    <a:pt x="82" y="119"/>
                    <a:pt x="82" y="118"/>
                  </a:cubicBezTo>
                  <a:cubicBezTo>
                    <a:pt x="82" y="117"/>
                    <a:pt x="77" y="113"/>
                    <a:pt x="75" y="111"/>
                  </a:cubicBezTo>
                  <a:cubicBezTo>
                    <a:pt x="73" y="109"/>
                    <a:pt x="72" y="107"/>
                    <a:pt x="72" y="107"/>
                  </a:cubicBezTo>
                  <a:cubicBezTo>
                    <a:pt x="72" y="107"/>
                    <a:pt x="73" y="104"/>
                    <a:pt x="71" y="101"/>
                  </a:cubicBezTo>
                  <a:cubicBezTo>
                    <a:pt x="68" y="98"/>
                    <a:pt x="67" y="96"/>
                    <a:pt x="67" y="92"/>
                  </a:cubicBezTo>
                  <a:cubicBezTo>
                    <a:pt x="67" y="88"/>
                    <a:pt x="66" y="85"/>
                    <a:pt x="66" y="82"/>
                  </a:cubicBezTo>
                  <a:cubicBezTo>
                    <a:pt x="66" y="80"/>
                    <a:pt x="70" y="76"/>
                    <a:pt x="71" y="71"/>
                  </a:cubicBezTo>
                  <a:cubicBezTo>
                    <a:pt x="72" y="68"/>
                    <a:pt x="75" y="66"/>
                    <a:pt x="77" y="64"/>
                  </a:cubicBezTo>
                  <a:cubicBezTo>
                    <a:pt x="76" y="62"/>
                    <a:pt x="75" y="59"/>
                    <a:pt x="74" y="56"/>
                  </a:cubicBezTo>
                  <a:cubicBezTo>
                    <a:pt x="72" y="52"/>
                    <a:pt x="69" y="50"/>
                    <a:pt x="64" y="46"/>
                  </a:cubicBezTo>
                  <a:cubicBezTo>
                    <a:pt x="60" y="42"/>
                    <a:pt x="62" y="40"/>
                    <a:pt x="62" y="38"/>
                  </a:cubicBezTo>
                  <a:cubicBezTo>
                    <a:pt x="62" y="37"/>
                    <a:pt x="67" y="37"/>
                    <a:pt x="71" y="37"/>
                  </a:cubicBezTo>
                  <a:cubicBezTo>
                    <a:pt x="75" y="37"/>
                    <a:pt x="78" y="36"/>
                    <a:pt x="76" y="35"/>
                  </a:cubicBezTo>
                  <a:cubicBezTo>
                    <a:pt x="74" y="34"/>
                    <a:pt x="71" y="27"/>
                    <a:pt x="71" y="21"/>
                  </a:cubicBezTo>
                  <a:cubicBezTo>
                    <a:pt x="72" y="16"/>
                    <a:pt x="70" y="14"/>
                    <a:pt x="70" y="11"/>
                  </a:cubicBezTo>
                  <a:cubicBezTo>
                    <a:pt x="70" y="8"/>
                    <a:pt x="66" y="1"/>
                    <a:pt x="63" y="1"/>
                  </a:cubicBezTo>
                  <a:cubicBezTo>
                    <a:pt x="63" y="1"/>
                    <a:pt x="63" y="0"/>
                    <a:pt x="62" y="0"/>
                  </a:cubicBezTo>
                  <a:cubicBezTo>
                    <a:pt x="62" y="3"/>
                    <a:pt x="62" y="6"/>
                    <a:pt x="62" y="7"/>
                  </a:cubicBezTo>
                  <a:cubicBezTo>
                    <a:pt x="62" y="8"/>
                    <a:pt x="64" y="11"/>
                    <a:pt x="66" y="11"/>
                  </a:cubicBezTo>
                  <a:cubicBezTo>
                    <a:pt x="68" y="12"/>
                    <a:pt x="67" y="15"/>
                    <a:pt x="67" y="18"/>
                  </a:cubicBezTo>
                  <a:cubicBezTo>
                    <a:pt x="67" y="21"/>
                    <a:pt x="61" y="21"/>
                    <a:pt x="60" y="22"/>
                  </a:cubicBezTo>
                  <a:cubicBezTo>
                    <a:pt x="59" y="23"/>
                    <a:pt x="53" y="33"/>
                    <a:pt x="54" y="34"/>
                  </a:cubicBezTo>
                  <a:cubicBezTo>
                    <a:pt x="54" y="36"/>
                    <a:pt x="53" y="41"/>
                    <a:pt x="51" y="42"/>
                  </a:cubicBezTo>
                  <a:cubicBezTo>
                    <a:pt x="49" y="42"/>
                    <a:pt x="50" y="46"/>
                    <a:pt x="50" y="48"/>
                  </a:cubicBezTo>
                  <a:cubicBezTo>
                    <a:pt x="50" y="49"/>
                    <a:pt x="44" y="52"/>
                    <a:pt x="44" y="54"/>
                  </a:cubicBezTo>
                  <a:cubicBezTo>
                    <a:pt x="44" y="57"/>
                    <a:pt x="38" y="68"/>
                    <a:pt x="36" y="72"/>
                  </a:cubicBezTo>
                  <a:cubicBezTo>
                    <a:pt x="34" y="75"/>
                    <a:pt x="32" y="80"/>
                    <a:pt x="31" y="77"/>
                  </a:cubicBezTo>
                  <a:cubicBezTo>
                    <a:pt x="31" y="73"/>
                    <a:pt x="26" y="69"/>
                    <a:pt x="23" y="71"/>
                  </a:cubicBezTo>
                  <a:cubicBezTo>
                    <a:pt x="21" y="73"/>
                    <a:pt x="18" y="72"/>
                    <a:pt x="17" y="72"/>
                  </a:cubicBezTo>
                  <a:cubicBezTo>
                    <a:pt x="15" y="72"/>
                    <a:pt x="4" y="84"/>
                    <a:pt x="4" y="84"/>
                  </a:cubicBezTo>
                  <a:cubicBezTo>
                    <a:pt x="4" y="84"/>
                    <a:pt x="3" y="90"/>
                    <a:pt x="0" y="96"/>
                  </a:cubicBezTo>
                  <a:cubicBezTo>
                    <a:pt x="2" y="97"/>
                    <a:pt x="4" y="100"/>
                    <a:pt x="5" y="103"/>
                  </a:cubicBezTo>
                  <a:cubicBezTo>
                    <a:pt x="8" y="106"/>
                    <a:pt x="12" y="103"/>
                    <a:pt x="14" y="104"/>
                  </a:cubicBezTo>
                  <a:cubicBezTo>
                    <a:pt x="16" y="105"/>
                    <a:pt x="18" y="113"/>
                    <a:pt x="17" y="115"/>
                  </a:cubicBezTo>
                  <a:cubicBezTo>
                    <a:pt x="16" y="117"/>
                    <a:pt x="14" y="123"/>
                    <a:pt x="15" y="125"/>
                  </a:cubicBezTo>
                  <a:cubicBezTo>
                    <a:pt x="31" y="125"/>
                    <a:pt x="31" y="125"/>
                    <a:pt x="31" y="125"/>
                  </a:cubicBezTo>
                  <a:lnTo>
                    <a:pt x="35" y="124"/>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0" name="Freeform 26"/>
            <p:cNvSpPr>
              <a:spLocks noChangeArrowheads="1"/>
            </p:cNvSpPr>
            <p:nvPr/>
          </p:nvSpPr>
          <p:spPr bwMode="auto">
            <a:xfrm>
              <a:off x="3462350" y="2236789"/>
              <a:ext cx="131763" cy="134938"/>
            </a:xfrm>
            <a:custGeom>
              <a:avLst/>
              <a:gdLst>
                <a:gd name="T0" fmla="*/ 66 w 69"/>
                <a:gd name="T1" fmla="*/ 60 h 71"/>
                <a:gd name="T2" fmla="*/ 61 w 69"/>
                <a:gd name="T3" fmla="*/ 47 h 71"/>
                <a:gd name="T4" fmla="*/ 65 w 69"/>
                <a:gd name="T5" fmla="*/ 36 h 71"/>
                <a:gd name="T6" fmla="*/ 69 w 69"/>
                <a:gd name="T7" fmla="*/ 29 h 71"/>
                <a:gd name="T8" fmla="*/ 65 w 69"/>
                <a:gd name="T9" fmla="*/ 11 h 71"/>
                <a:gd name="T10" fmla="*/ 63 w 69"/>
                <a:gd name="T11" fmla="*/ 10 h 71"/>
                <a:gd name="T12" fmla="*/ 50 w 69"/>
                <a:gd name="T13" fmla="*/ 12 h 71"/>
                <a:gd name="T14" fmla="*/ 40 w 69"/>
                <a:gd name="T15" fmla="*/ 7 h 71"/>
                <a:gd name="T16" fmla="*/ 31 w 69"/>
                <a:gd name="T17" fmla="*/ 4 h 71"/>
                <a:gd name="T18" fmla="*/ 27 w 69"/>
                <a:gd name="T19" fmla="*/ 3 h 71"/>
                <a:gd name="T20" fmla="*/ 22 w 69"/>
                <a:gd name="T21" fmla="*/ 4 h 71"/>
                <a:gd name="T22" fmla="*/ 15 w 69"/>
                <a:gd name="T23" fmla="*/ 7 h 71"/>
                <a:gd name="T24" fmla="*/ 10 w 69"/>
                <a:gd name="T25" fmla="*/ 5 h 71"/>
                <a:gd name="T26" fmla="*/ 6 w 69"/>
                <a:gd name="T27" fmla="*/ 6 h 71"/>
                <a:gd name="T28" fmla="*/ 6 w 69"/>
                <a:gd name="T29" fmla="*/ 15 h 71"/>
                <a:gd name="T30" fmla="*/ 8 w 69"/>
                <a:gd name="T31" fmla="*/ 20 h 71"/>
                <a:gd name="T32" fmla="*/ 10 w 69"/>
                <a:gd name="T33" fmla="*/ 27 h 71"/>
                <a:gd name="T34" fmla="*/ 5 w 69"/>
                <a:gd name="T35" fmla="*/ 28 h 71"/>
                <a:gd name="T36" fmla="*/ 6 w 69"/>
                <a:gd name="T37" fmla="*/ 35 h 71"/>
                <a:gd name="T38" fmla="*/ 2 w 69"/>
                <a:gd name="T39" fmla="*/ 41 h 71"/>
                <a:gd name="T40" fmla="*/ 1 w 69"/>
                <a:gd name="T41" fmla="*/ 49 h 71"/>
                <a:gd name="T42" fmla="*/ 5 w 69"/>
                <a:gd name="T43" fmla="*/ 52 h 71"/>
                <a:gd name="T44" fmla="*/ 14 w 69"/>
                <a:gd name="T45" fmla="*/ 61 h 71"/>
                <a:gd name="T46" fmla="*/ 10 w 69"/>
                <a:gd name="T47" fmla="*/ 71 h 71"/>
                <a:gd name="T48" fmla="*/ 44 w 69"/>
                <a:gd name="T49" fmla="*/ 64 h 71"/>
                <a:gd name="T50" fmla="*/ 65 w 69"/>
                <a:gd name="T51" fmla="*/ 65 h 71"/>
                <a:gd name="T52" fmla="*/ 66 w 69"/>
                <a:gd name="T53" fmla="*/ 60 h 7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69"/>
                <a:gd name="T82" fmla="*/ 0 h 71"/>
                <a:gd name="T83" fmla="*/ 69 w 69"/>
                <a:gd name="T84" fmla="*/ 71 h 7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69" h="71">
                  <a:moveTo>
                    <a:pt x="66" y="60"/>
                  </a:moveTo>
                  <a:cubicBezTo>
                    <a:pt x="64" y="58"/>
                    <a:pt x="61" y="49"/>
                    <a:pt x="61" y="47"/>
                  </a:cubicBezTo>
                  <a:cubicBezTo>
                    <a:pt x="61" y="45"/>
                    <a:pt x="65" y="39"/>
                    <a:pt x="65" y="36"/>
                  </a:cubicBezTo>
                  <a:cubicBezTo>
                    <a:pt x="65" y="33"/>
                    <a:pt x="69" y="31"/>
                    <a:pt x="69" y="29"/>
                  </a:cubicBezTo>
                  <a:cubicBezTo>
                    <a:pt x="69" y="27"/>
                    <a:pt x="68" y="17"/>
                    <a:pt x="65" y="11"/>
                  </a:cubicBezTo>
                  <a:cubicBezTo>
                    <a:pt x="65" y="11"/>
                    <a:pt x="64" y="11"/>
                    <a:pt x="63" y="10"/>
                  </a:cubicBezTo>
                  <a:cubicBezTo>
                    <a:pt x="61" y="8"/>
                    <a:pt x="53" y="9"/>
                    <a:pt x="50" y="12"/>
                  </a:cubicBezTo>
                  <a:cubicBezTo>
                    <a:pt x="47" y="15"/>
                    <a:pt x="41" y="9"/>
                    <a:pt x="40" y="7"/>
                  </a:cubicBezTo>
                  <a:cubicBezTo>
                    <a:pt x="39" y="6"/>
                    <a:pt x="35" y="2"/>
                    <a:pt x="31" y="4"/>
                  </a:cubicBezTo>
                  <a:cubicBezTo>
                    <a:pt x="28" y="7"/>
                    <a:pt x="27" y="6"/>
                    <a:pt x="27" y="3"/>
                  </a:cubicBezTo>
                  <a:cubicBezTo>
                    <a:pt x="28" y="0"/>
                    <a:pt x="22" y="1"/>
                    <a:pt x="22" y="4"/>
                  </a:cubicBezTo>
                  <a:cubicBezTo>
                    <a:pt x="21" y="6"/>
                    <a:pt x="17" y="9"/>
                    <a:pt x="15" y="7"/>
                  </a:cubicBezTo>
                  <a:cubicBezTo>
                    <a:pt x="14" y="5"/>
                    <a:pt x="11" y="2"/>
                    <a:pt x="10" y="5"/>
                  </a:cubicBezTo>
                  <a:cubicBezTo>
                    <a:pt x="9" y="7"/>
                    <a:pt x="7" y="7"/>
                    <a:pt x="6" y="6"/>
                  </a:cubicBezTo>
                  <a:cubicBezTo>
                    <a:pt x="5" y="9"/>
                    <a:pt x="4" y="14"/>
                    <a:pt x="6" y="15"/>
                  </a:cubicBezTo>
                  <a:cubicBezTo>
                    <a:pt x="8" y="16"/>
                    <a:pt x="8" y="19"/>
                    <a:pt x="8" y="20"/>
                  </a:cubicBezTo>
                  <a:cubicBezTo>
                    <a:pt x="7" y="22"/>
                    <a:pt x="12" y="25"/>
                    <a:pt x="10" y="27"/>
                  </a:cubicBezTo>
                  <a:cubicBezTo>
                    <a:pt x="8" y="29"/>
                    <a:pt x="6" y="25"/>
                    <a:pt x="5" y="28"/>
                  </a:cubicBezTo>
                  <a:cubicBezTo>
                    <a:pt x="3" y="30"/>
                    <a:pt x="7" y="33"/>
                    <a:pt x="6" y="35"/>
                  </a:cubicBezTo>
                  <a:cubicBezTo>
                    <a:pt x="4" y="37"/>
                    <a:pt x="2" y="37"/>
                    <a:pt x="2" y="41"/>
                  </a:cubicBezTo>
                  <a:cubicBezTo>
                    <a:pt x="3" y="45"/>
                    <a:pt x="3" y="48"/>
                    <a:pt x="1" y="49"/>
                  </a:cubicBezTo>
                  <a:cubicBezTo>
                    <a:pt x="0" y="50"/>
                    <a:pt x="1" y="50"/>
                    <a:pt x="5" y="52"/>
                  </a:cubicBezTo>
                  <a:cubicBezTo>
                    <a:pt x="8" y="55"/>
                    <a:pt x="14" y="57"/>
                    <a:pt x="14" y="61"/>
                  </a:cubicBezTo>
                  <a:cubicBezTo>
                    <a:pt x="13" y="64"/>
                    <a:pt x="12" y="65"/>
                    <a:pt x="10" y="71"/>
                  </a:cubicBezTo>
                  <a:cubicBezTo>
                    <a:pt x="17" y="71"/>
                    <a:pt x="29" y="66"/>
                    <a:pt x="44" y="64"/>
                  </a:cubicBezTo>
                  <a:cubicBezTo>
                    <a:pt x="52" y="62"/>
                    <a:pt x="60" y="64"/>
                    <a:pt x="65" y="65"/>
                  </a:cubicBezTo>
                  <a:cubicBezTo>
                    <a:pt x="66" y="63"/>
                    <a:pt x="66" y="61"/>
                    <a:pt x="66" y="6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1" name="Freeform 27"/>
            <p:cNvSpPr>
              <a:spLocks noChangeArrowheads="1"/>
            </p:cNvSpPr>
            <p:nvPr/>
          </p:nvSpPr>
          <p:spPr bwMode="auto">
            <a:xfrm>
              <a:off x="3578237" y="2228852"/>
              <a:ext cx="92076" cy="139700"/>
            </a:xfrm>
            <a:custGeom>
              <a:avLst/>
              <a:gdLst>
                <a:gd name="T0" fmla="*/ 41 w 48"/>
                <a:gd name="T1" fmla="*/ 30 h 73"/>
                <a:gd name="T2" fmla="*/ 40 w 48"/>
                <a:gd name="T3" fmla="*/ 14 h 73"/>
                <a:gd name="T4" fmla="*/ 38 w 48"/>
                <a:gd name="T5" fmla="*/ 7 h 73"/>
                <a:gd name="T6" fmla="*/ 35 w 48"/>
                <a:gd name="T7" fmla="*/ 0 h 73"/>
                <a:gd name="T8" fmla="*/ 32 w 48"/>
                <a:gd name="T9" fmla="*/ 3 h 73"/>
                <a:gd name="T10" fmla="*/ 4 w 48"/>
                <a:gd name="T11" fmla="*/ 2 h 73"/>
                <a:gd name="T12" fmla="*/ 6 w 48"/>
                <a:gd name="T13" fmla="*/ 13 h 73"/>
                <a:gd name="T14" fmla="*/ 4 w 48"/>
                <a:gd name="T15" fmla="*/ 15 h 73"/>
                <a:gd name="T16" fmla="*/ 8 w 48"/>
                <a:gd name="T17" fmla="*/ 33 h 73"/>
                <a:gd name="T18" fmla="*/ 4 w 48"/>
                <a:gd name="T19" fmla="*/ 40 h 73"/>
                <a:gd name="T20" fmla="*/ 0 w 48"/>
                <a:gd name="T21" fmla="*/ 51 h 73"/>
                <a:gd name="T22" fmla="*/ 5 w 48"/>
                <a:gd name="T23" fmla="*/ 64 h 73"/>
                <a:gd name="T24" fmla="*/ 4 w 48"/>
                <a:gd name="T25" fmla="*/ 69 h 73"/>
                <a:gd name="T26" fmla="*/ 13 w 48"/>
                <a:gd name="T27" fmla="*/ 72 h 73"/>
                <a:gd name="T28" fmla="*/ 35 w 48"/>
                <a:gd name="T29" fmla="*/ 64 h 73"/>
                <a:gd name="T30" fmla="*/ 48 w 48"/>
                <a:gd name="T31" fmla="*/ 58 h 73"/>
                <a:gd name="T32" fmla="*/ 44 w 48"/>
                <a:gd name="T33" fmla="*/ 45 h 73"/>
                <a:gd name="T34" fmla="*/ 41 w 48"/>
                <a:gd name="T35" fmla="*/ 30 h 7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73"/>
                <a:gd name="T56" fmla="*/ 48 w 48"/>
                <a:gd name="T57" fmla="*/ 73 h 7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73">
                  <a:moveTo>
                    <a:pt x="41" y="30"/>
                  </a:moveTo>
                  <a:cubicBezTo>
                    <a:pt x="39" y="26"/>
                    <a:pt x="40" y="18"/>
                    <a:pt x="40" y="14"/>
                  </a:cubicBezTo>
                  <a:cubicBezTo>
                    <a:pt x="41" y="10"/>
                    <a:pt x="39" y="8"/>
                    <a:pt x="38" y="7"/>
                  </a:cubicBezTo>
                  <a:cubicBezTo>
                    <a:pt x="37" y="6"/>
                    <a:pt x="36" y="3"/>
                    <a:pt x="35" y="0"/>
                  </a:cubicBezTo>
                  <a:cubicBezTo>
                    <a:pt x="33" y="1"/>
                    <a:pt x="33" y="4"/>
                    <a:pt x="32" y="3"/>
                  </a:cubicBezTo>
                  <a:cubicBezTo>
                    <a:pt x="31" y="1"/>
                    <a:pt x="5" y="0"/>
                    <a:pt x="4" y="2"/>
                  </a:cubicBezTo>
                  <a:cubicBezTo>
                    <a:pt x="3" y="4"/>
                    <a:pt x="6" y="11"/>
                    <a:pt x="6" y="13"/>
                  </a:cubicBezTo>
                  <a:cubicBezTo>
                    <a:pt x="6" y="14"/>
                    <a:pt x="5" y="15"/>
                    <a:pt x="4" y="15"/>
                  </a:cubicBezTo>
                  <a:cubicBezTo>
                    <a:pt x="7" y="21"/>
                    <a:pt x="8" y="31"/>
                    <a:pt x="8" y="33"/>
                  </a:cubicBezTo>
                  <a:cubicBezTo>
                    <a:pt x="8" y="35"/>
                    <a:pt x="4" y="37"/>
                    <a:pt x="4" y="40"/>
                  </a:cubicBezTo>
                  <a:cubicBezTo>
                    <a:pt x="4" y="43"/>
                    <a:pt x="0" y="49"/>
                    <a:pt x="0" y="51"/>
                  </a:cubicBezTo>
                  <a:cubicBezTo>
                    <a:pt x="0" y="53"/>
                    <a:pt x="3" y="62"/>
                    <a:pt x="5" y="64"/>
                  </a:cubicBezTo>
                  <a:cubicBezTo>
                    <a:pt x="5" y="65"/>
                    <a:pt x="5" y="67"/>
                    <a:pt x="4" y="69"/>
                  </a:cubicBezTo>
                  <a:cubicBezTo>
                    <a:pt x="9" y="71"/>
                    <a:pt x="12" y="72"/>
                    <a:pt x="13" y="72"/>
                  </a:cubicBezTo>
                  <a:cubicBezTo>
                    <a:pt x="15" y="73"/>
                    <a:pt x="29" y="66"/>
                    <a:pt x="35" y="64"/>
                  </a:cubicBezTo>
                  <a:cubicBezTo>
                    <a:pt x="39" y="61"/>
                    <a:pt x="44" y="60"/>
                    <a:pt x="48" y="58"/>
                  </a:cubicBezTo>
                  <a:cubicBezTo>
                    <a:pt x="46" y="54"/>
                    <a:pt x="44" y="49"/>
                    <a:pt x="44" y="45"/>
                  </a:cubicBezTo>
                  <a:cubicBezTo>
                    <a:pt x="44" y="39"/>
                    <a:pt x="42" y="33"/>
                    <a:pt x="41"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2" name="Freeform 28"/>
            <p:cNvSpPr>
              <a:spLocks noChangeArrowheads="1"/>
            </p:cNvSpPr>
            <p:nvPr/>
          </p:nvSpPr>
          <p:spPr bwMode="auto">
            <a:xfrm>
              <a:off x="3319474" y="2195514"/>
              <a:ext cx="165101" cy="122238"/>
            </a:xfrm>
            <a:custGeom>
              <a:avLst/>
              <a:gdLst>
                <a:gd name="T0" fmla="*/ 29 w 86"/>
                <a:gd name="T1" fmla="*/ 34 h 64"/>
                <a:gd name="T2" fmla="*/ 34 w 86"/>
                <a:gd name="T3" fmla="*/ 33 h 64"/>
                <a:gd name="T4" fmla="*/ 42 w 86"/>
                <a:gd name="T5" fmla="*/ 31 h 64"/>
                <a:gd name="T6" fmla="*/ 51 w 86"/>
                <a:gd name="T7" fmla="*/ 42 h 64"/>
                <a:gd name="T8" fmla="*/ 53 w 86"/>
                <a:gd name="T9" fmla="*/ 49 h 64"/>
                <a:gd name="T10" fmla="*/ 53 w 86"/>
                <a:gd name="T11" fmla="*/ 50 h 64"/>
                <a:gd name="T12" fmla="*/ 61 w 86"/>
                <a:gd name="T13" fmla="*/ 48 h 64"/>
                <a:gd name="T14" fmla="*/ 65 w 86"/>
                <a:gd name="T15" fmla="*/ 58 h 64"/>
                <a:gd name="T16" fmla="*/ 70 w 86"/>
                <a:gd name="T17" fmla="*/ 62 h 64"/>
                <a:gd name="T18" fmla="*/ 74 w 86"/>
                <a:gd name="T19" fmla="*/ 58 h 64"/>
                <a:gd name="T20" fmla="*/ 77 w 86"/>
                <a:gd name="T21" fmla="*/ 60 h 64"/>
                <a:gd name="T22" fmla="*/ 80 w 86"/>
                <a:gd name="T23" fmla="*/ 57 h 64"/>
                <a:gd name="T24" fmla="*/ 79 w 86"/>
                <a:gd name="T25" fmla="*/ 50 h 64"/>
                <a:gd name="T26" fmla="*/ 84 w 86"/>
                <a:gd name="T27" fmla="*/ 49 h 64"/>
                <a:gd name="T28" fmla="*/ 82 w 86"/>
                <a:gd name="T29" fmla="*/ 42 h 64"/>
                <a:gd name="T30" fmla="*/ 80 w 86"/>
                <a:gd name="T31" fmla="*/ 37 h 64"/>
                <a:gd name="T32" fmla="*/ 80 w 86"/>
                <a:gd name="T33" fmla="*/ 28 h 64"/>
                <a:gd name="T34" fmla="*/ 78 w 86"/>
                <a:gd name="T35" fmla="*/ 26 h 64"/>
                <a:gd name="T36" fmla="*/ 76 w 86"/>
                <a:gd name="T37" fmla="*/ 20 h 64"/>
                <a:gd name="T38" fmla="*/ 76 w 86"/>
                <a:gd name="T39" fmla="*/ 16 h 64"/>
                <a:gd name="T40" fmla="*/ 72 w 86"/>
                <a:gd name="T41" fmla="*/ 11 h 64"/>
                <a:gd name="T42" fmla="*/ 67 w 86"/>
                <a:gd name="T43" fmla="*/ 2 h 64"/>
                <a:gd name="T44" fmla="*/ 59 w 86"/>
                <a:gd name="T45" fmla="*/ 8 h 64"/>
                <a:gd name="T46" fmla="*/ 52 w 86"/>
                <a:gd name="T47" fmla="*/ 7 h 64"/>
                <a:gd name="T48" fmla="*/ 45 w 86"/>
                <a:gd name="T49" fmla="*/ 8 h 64"/>
                <a:gd name="T50" fmla="*/ 42 w 86"/>
                <a:gd name="T51" fmla="*/ 5 h 64"/>
                <a:gd name="T52" fmla="*/ 42 w 86"/>
                <a:gd name="T53" fmla="*/ 3 h 64"/>
                <a:gd name="T54" fmla="*/ 41 w 86"/>
                <a:gd name="T55" fmla="*/ 4 h 64"/>
                <a:gd name="T56" fmla="*/ 24 w 86"/>
                <a:gd name="T57" fmla="*/ 3 h 64"/>
                <a:gd name="T58" fmla="*/ 16 w 86"/>
                <a:gd name="T59" fmla="*/ 0 h 64"/>
                <a:gd name="T60" fmla="*/ 14 w 86"/>
                <a:gd name="T61" fmla="*/ 5 h 64"/>
                <a:gd name="T62" fmla="*/ 15 w 86"/>
                <a:gd name="T63" fmla="*/ 10 h 64"/>
                <a:gd name="T64" fmla="*/ 11 w 86"/>
                <a:gd name="T65" fmla="*/ 12 h 64"/>
                <a:gd name="T66" fmla="*/ 1 w 86"/>
                <a:gd name="T67" fmla="*/ 17 h 64"/>
                <a:gd name="T68" fmla="*/ 0 w 86"/>
                <a:gd name="T69" fmla="*/ 18 h 64"/>
                <a:gd name="T70" fmla="*/ 8 w 86"/>
                <a:gd name="T71" fmla="*/ 28 h 64"/>
                <a:gd name="T72" fmla="*/ 21 w 86"/>
                <a:gd name="T73" fmla="*/ 42 h 64"/>
                <a:gd name="T74" fmla="*/ 29 w 86"/>
                <a:gd name="T75" fmla="*/ 34 h 6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6"/>
                <a:gd name="T115" fmla="*/ 0 h 64"/>
                <a:gd name="T116" fmla="*/ 86 w 86"/>
                <a:gd name="T117" fmla="*/ 64 h 6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6" h="64">
                  <a:moveTo>
                    <a:pt x="29" y="34"/>
                  </a:moveTo>
                  <a:cubicBezTo>
                    <a:pt x="29" y="31"/>
                    <a:pt x="31" y="32"/>
                    <a:pt x="34" y="33"/>
                  </a:cubicBezTo>
                  <a:cubicBezTo>
                    <a:pt x="37" y="33"/>
                    <a:pt x="40" y="31"/>
                    <a:pt x="42" y="31"/>
                  </a:cubicBezTo>
                  <a:cubicBezTo>
                    <a:pt x="45" y="31"/>
                    <a:pt x="51" y="40"/>
                    <a:pt x="51" y="42"/>
                  </a:cubicBezTo>
                  <a:cubicBezTo>
                    <a:pt x="51" y="45"/>
                    <a:pt x="52" y="47"/>
                    <a:pt x="53" y="49"/>
                  </a:cubicBezTo>
                  <a:cubicBezTo>
                    <a:pt x="53" y="49"/>
                    <a:pt x="53" y="49"/>
                    <a:pt x="53" y="50"/>
                  </a:cubicBezTo>
                  <a:cubicBezTo>
                    <a:pt x="57" y="49"/>
                    <a:pt x="61" y="48"/>
                    <a:pt x="61" y="48"/>
                  </a:cubicBezTo>
                  <a:cubicBezTo>
                    <a:pt x="63" y="48"/>
                    <a:pt x="65" y="54"/>
                    <a:pt x="65" y="58"/>
                  </a:cubicBezTo>
                  <a:cubicBezTo>
                    <a:pt x="64" y="61"/>
                    <a:pt x="68" y="64"/>
                    <a:pt x="70" y="62"/>
                  </a:cubicBezTo>
                  <a:cubicBezTo>
                    <a:pt x="72" y="59"/>
                    <a:pt x="74" y="56"/>
                    <a:pt x="74" y="58"/>
                  </a:cubicBezTo>
                  <a:cubicBezTo>
                    <a:pt x="75" y="59"/>
                    <a:pt x="75" y="59"/>
                    <a:pt x="77" y="60"/>
                  </a:cubicBezTo>
                  <a:cubicBezTo>
                    <a:pt x="77" y="58"/>
                    <a:pt x="79" y="58"/>
                    <a:pt x="80" y="57"/>
                  </a:cubicBezTo>
                  <a:cubicBezTo>
                    <a:pt x="81" y="55"/>
                    <a:pt x="77" y="52"/>
                    <a:pt x="79" y="50"/>
                  </a:cubicBezTo>
                  <a:cubicBezTo>
                    <a:pt x="80" y="47"/>
                    <a:pt x="82" y="51"/>
                    <a:pt x="84" y="49"/>
                  </a:cubicBezTo>
                  <a:cubicBezTo>
                    <a:pt x="86" y="47"/>
                    <a:pt x="81" y="44"/>
                    <a:pt x="82" y="42"/>
                  </a:cubicBezTo>
                  <a:cubicBezTo>
                    <a:pt x="82" y="41"/>
                    <a:pt x="82" y="38"/>
                    <a:pt x="80" y="37"/>
                  </a:cubicBezTo>
                  <a:cubicBezTo>
                    <a:pt x="78" y="36"/>
                    <a:pt x="79" y="31"/>
                    <a:pt x="80" y="28"/>
                  </a:cubicBezTo>
                  <a:cubicBezTo>
                    <a:pt x="79" y="27"/>
                    <a:pt x="79" y="27"/>
                    <a:pt x="78" y="26"/>
                  </a:cubicBezTo>
                  <a:cubicBezTo>
                    <a:pt x="77" y="24"/>
                    <a:pt x="78" y="20"/>
                    <a:pt x="76" y="20"/>
                  </a:cubicBezTo>
                  <a:cubicBezTo>
                    <a:pt x="73" y="20"/>
                    <a:pt x="74" y="17"/>
                    <a:pt x="76" y="16"/>
                  </a:cubicBezTo>
                  <a:cubicBezTo>
                    <a:pt x="78" y="15"/>
                    <a:pt x="72" y="13"/>
                    <a:pt x="72" y="11"/>
                  </a:cubicBezTo>
                  <a:cubicBezTo>
                    <a:pt x="72" y="8"/>
                    <a:pt x="69" y="3"/>
                    <a:pt x="67" y="2"/>
                  </a:cubicBezTo>
                  <a:cubicBezTo>
                    <a:pt x="66" y="2"/>
                    <a:pt x="61" y="8"/>
                    <a:pt x="59" y="8"/>
                  </a:cubicBezTo>
                  <a:cubicBezTo>
                    <a:pt x="57" y="8"/>
                    <a:pt x="53" y="4"/>
                    <a:pt x="52" y="7"/>
                  </a:cubicBezTo>
                  <a:cubicBezTo>
                    <a:pt x="50" y="11"/>
                    <a:pt x="47" y="6"/>
                    <a:pt x="45" y="8"/>
                  </a:cubicBezTo>
                  <a:cubicBezTo>
                    <a:pt x="43" y="11"/>
                    <a:pt x="42" y="5"/>
                    <a:pt x="42" y="5"/>
                  </a:cubicBezTo>
                  <a:cubicBezTo>
                    <a:pt x="42" y="5"/>
                    <a:pt x="42" y="4"/>
                    <a:pt x="42" y="3"/>
                  </a:cubicBezTo>
                  <a:cubicBezTo>
                    <a:pt x="42" y="3"/>
                    <a:pt x="41" y="4"/>
                    <a:pt x="41" y="4"/>
                  </a:cubicBezTo>
                  <a:cubicBezTo>
                    <a:pt x="35" y="6"/>
                    <a:pt x="25" y="5"/>
                    <a:pt x="24" y="3"/>
                  </a:cubicBezTo>
                  <a:cubicBezTo>
                    <a:pt x="24" y="1"/>
                    <a:pt x="16" y="0"/>
                    <a:pt x="16" y="0"/>
                  </a:cubicBezTo>
                  <a:cubicBezTo>
                    <a:pt x="16" y="0"/>
                    <a:pt x="17" y="4"/>
                    <a:pt x="14" y="5"/>
                  </a:cubicBezTo>
                  <a:cubicBezTo>
                    <a:pt x="11" y="6"/>
                    <a:pt x="15" y="9"/>
                    <a:pt x="15" y="10"/>
                  </a:cubicBezTo>
                  <a:cubicBezTo>
                    <a:pt x="15" y="11"/>
                    <a:pt x="12" y="13"/>
                    <a:pt x="11" y="12"/>
                  </a:cubicBezTo>
                  <a:cubicBezTo>
                    <a:pt x="9" y="11"/>
                    <a:pt x="4" y="16"/>
                    <a:pt x="1" y="17"/>
                  </a:cubicBezTo>
                  <a:cubicBezTo>
                    <a:pt x="1" y="17"/>
                    <a:pt x="1" y="18"/>
                    <a:pt x="0" y="18"/>
                  </a:cubicBezTo>
                  <a:cubicBezTo>
                    <a:pt x="4" y="22"/>
                    <a:pt x="4" y="25"/>
                    <a:pt x="8" y="28"/>
                  </a:cubicBezTo>
                  <a:cubicBezTo>
                    <a:pt x="12" y="31"/>
                    <a:pt x="18" y="36"/>
                    <a:pt x="21" y="42"/>
                  </a:cubicBezTo>
                  <a:cubicBezTo>
                    <a:pt x="24" y="39"/>
                    <a:pt x="28" y="36"/>
                    <a:pt x="29" y="3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3" name="Freeform 29"/>
            <p:cNvSpPr>
              <a:spLocks noChangeArrowheads="1"/>
            </p:cNvSpPr>
            <p:nvPr/>
          </p:nvSpPr>
          <p:spPr bwMode="auto">
            <a:xfrm>
              <a:off x="3398850" y="2286003"/>
              <a:ext cx="88900" cy="85725"/>
            </a:xfrm>
            <a:custGeom>
              <a:avLst/>
              <a:gdLst>
                <a:gd name="T0" fmla="*/ 38 w 47"/>
                <a:gd name="T1" fmla="*/ 26 h 45"/>
                <a:gd name="T2" fmla="*/ 34 w 47"/>
                <a:gd name="T3" fmla="*/ 23 h 45"/>
                <a:gd name="T4" fmla="*/ 35 w 47"/>
                <a:gd name="T5" fmla="*/ 15 h 45"/>
                <a:gd name="T6" fmla="*/ 36 w 47"/>
                <a:gd name="T7" fmla="*/ 12 h 45"/>
                <a:gd name="T8" fmla="*/ 33 w 47"/>
                <a:gd name="T9" fmla="*/ 10 h 45"/>
                <a:gd name="T10" fmla="*/ 29 w 47"/>
                <a:gd name="T11" fmla="*/ 14 h 45"/>
                <a:gd name="T12" fmla="*/ 24 w 47"/>
                <a:gd name="T13" fmla="*/ 10 h 45"/>
                <a:gd name="T14" fmla="*/ 20 w 47"/>
                <a:gd name="T15" fmla="*/ 0 h 45"/>
                <a:gd name="T16" fmla="*/ 12 w 47"/>
                <a:gd name="T17" fmla="*/ 2 h 45"/>
                <a:gd name="T18" fmla="*/ 11 w 47"/>
                <a:gd name="T19" fmla="*/ 7 h 45"/>
                <a:gd name="T20" fmla="*/ 2 w 47"/>
                <a:gd name="T21" fmla="*/ 15 h 45"/>
                <a:gd name="T22" fmla="*/ 0 w 47"/>
                <a:gd name="T23" fmla="*/ 19 h 45"/>
                <a:gd name="T24" fmla="*/ 14 w 47"/>
                <a:gd name="T25" fmla="*/ 28 h 45"/>
                <a:gd name="T26" fmla="*/ 41 w 47"/>
                <a:gd name="T27" fmla="*/ 45 h 45"/>
                <a:gd name="T28" fmla="*/ 43 w 47"/>
                <a:gd name="T29" fmla="*/ 45 h 45"/>
                <a:gd name="T30" fmla="*/ 47 w 47"/>
                <a:gd name="T31" fmla="*/ 35 h 45"/>
                <a:gd name="T32" fmla="*/ 38 w 47"/>
                <a:gd name="T33" fmla="*/ 26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7"/>
                <a:gd name="T52" fmla="*/ 0 h 45"/>
                <a:gd name="T53" fmla="*/ 47 w 47"/>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7" h="45">
                  <a:moveTo>
                    <a:pt x="38" y="26"/>
                  </a:moveTo>
                  <a:cubicBezTo>
                    <a:pt x="34" y="24"/>
                    <a:pt x="33" y="24"/>
                    <a:pt x="34" y="23"/>
                  </a:cubicBezTo>
                  <a:cubicBezTo>
                    <a:pt x="36" y="22"/>
                    <a:pt x="36" y="19"/>
                    <a:pt x="35" y="15"/>
                  </a:cubicBezTo>
                  <a:cubicBezTo>
                    <a:pt x="35" y="13"/>
                    <a:pt x="35" y="13"/>
                    <a:pt x="36" y="12"/>
                  </a:cubicBezTo>
                  <a:cubicBezTo>
                    <a:pt x="34" y="11"/>
                    <a:pt x="34" y="11"/>
                    <a:pt x="33" y="10"/>
                  </a:cubicBezTo>
                  <a:cubicBezTo>
                    <a:pt x="33" y="8"/>
                    <a:pt x="31" y="11"/>
                    <a:pt x="29" y="14"/>
                  </a:cubicBezTo>
                  <a:cubicBezTo>
                    <a:pt x="27" y="16"/>
                    <a:pt x="23" y="13"/>
                    <a:pt x="24" y="10"/>
                  </a:cubicBezTo>
                  <a:cubicBezTo>
                    <a:pt x="24" y="6"/>
                    <a:pt x="22" y="0"/>
                    <a:pt x="20" y="0"/>
                  </a:cubicBezTo>
                  <a:cubicBezTo>
                    <a:pt x="20" y="0"/>
                    <a:pt x="16" y="1"/>
                    <a:pt x="12" y="2"/>
                  </a:cubicBezTo>
                  <a:cubicBezTo>
                    <a:pt x="13" y="3"/>
                    <a:pt x="12" y="5"/>
                    <a:pt x="11" y="7"/>
                  </a:cubicBezTo>
                  <a:cubicBezTo>
                    <a:pt x="11" y="10"/>
                    <a:pt x="5" y="13"/>
                    <a:pt x="2" y="15"/>
                  </a:cubicBezTo>
                  <a:cubicBezTo>
                    <a:pt x="1" y="15"/>
                    <a:pt x="0" y="17"/>
                    <a:pt x="0" y="19"/>
                  </a:cubicBezTo>
                  <a:cubicBezTo>
                    <a:pt x="4" y="22"/>
                    <a:pt x="10" y="25"/>
                    <a:pt x="14" y="28"/>
                  </a:cubicBezTo>
                  <a:cubicBezTo>
                    <a:pt x="22" y="35"/>
                    <a:pt x="35" y="43"/>
                    <a:pt x="41" y="45"/>
                  </a:cubicBezTo>
                  <a:cubicBezTo>
                    <a:pt x="41" y="45"/>
                    <a:pt x="42" y="45"/>
                    <a:pt x="43" y="45"/>
                  </a:cubicBezTo>
                  <a:cubicBezTo>
                    <a:pt x="45" y="39"/>
                    <a:pt x="46" y="38"/>
                    <a:pt x="47" y="35"/>
                  </a:cubicBezTo>
                  <a:cubicBezTo>
                    <a:pt x="47" y="31"/>
                    <a:pt x="41" y="29"/>
                    <a:pt x="38" y="2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4" name="Freeform 30"/>
            <p:cNvSpPr>
              <a:spLocks noChangeArrowheads="1"/>
            </p:cNvSpPr>
            <p:nvPr/>
          </p:nvSpPr>
          <p:spPr bwMode="auto">
            <a:xfrm>
              <a:off x="3360750" y="2254253"/>
              <a:ext cx="63500" cy="68263"/>
            </a:xfrm>
            <a:custGeom>
              <a:avLst/>
              <a:gdLst>
                <a:gd name="T0" fmla="*/ 31 w 33"/>
                <a:gd name="T1" fmla="*/ 24 h 36"/>
                <a:gd name="T2" fmla="*/ 32 w 33"/>
                <a:gd name="T3" fmla="*/ 18 h 36"/>
                <a:gd name="T4" fmla="*/ 30 w 33"/>
                <a:gd name="T5" fmla="*/ 11 h 36"/>
                <a:gd name="T6" fmla="*/ 21 w 33"/>
                <a:gd name="T7" fmla="*/ 0 h 36"/>
                <a:gd name="T8" fmla="*/ 13 w 33"/>
                <a:gd name="T9" fmla="*/ 2 h 36"/>
                <a:gd name="T10" fmla="*/ 8 w 33"/>
                <a:gd name="T11" fmla="*/ 3 h 36"/>
                <a:gd name="T12" fmla="*/ 0 w 33"/>
                <a:gd name="T13" fmla="*/ 11 h 36"/>
                <a:gd name="T14" fmla="*/ 2 w 33"/>
                <a:gd name="T15" fmla="*/ 15 h 36"/>
                <a:gd name="T16" fmla="*/ 11 w 33"/>
                <a:gd name="T17" fmla="*/ 30 h 36"/>
                <a:gd name="T18" fmla="*/ 20 w 33"/>
                <a:gd name="T19" fmla="*/ 36 h 36"/>
                <a:gd name="T20" fmla="*/ 22 w 33"/>
                <a:gd name="T21" fmla="*/ 32 h 36"/>
                <a:gd name="T22" fmla="*/ 31 w 33"/>
                <a:gd name="T23" fmla="*/ 24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6"/>
                <a:gd name="T38" fmla="*/ 33 w 33"/>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6">
                  <a:moveTo>
                    <a:pt x="31" y="24"/>
                  </a:moveTo>
                  <a:cubicBezTo>
                    <a:pt x="32" y="22"/>
                    <a:pt x="33" y="20"/>
                    <a:pt x="32" y="18"/>
                  </a:cubicBezTo>
                  <a:cubicBezTo>
                    <a:pt x="31" y="16"/>
                    <a:pt x="30" y="14"/>
                    <a:pt x="30" y="11"/>
                  </a:cubicBezTo>
                  <a:cubicBezTo>
                    <a:pt x="30" y="9"/>
                    <a:pt x="24" y="0"/>
                    <a:pt x="21" y="0"/>
                  </a:cubicBezTo>
                  <a:cubicBezTo>
                    <a:pt x="19" y="0"/>
                    <a:pt x="16" y="2"/>
                    <a:pt x="13" y="2"/>
                  </a:cubicBezTo>
                  <a:cubicBezTo>
                    <a:pt x="10" y="1"/>
                    <a:pt x="8" y="0"/>
                    <a:pt x="8" y="3"/>
                  </a:cubicBezTo>
                  <a:cubicBezTo>
                    <a:pt x="7" y="5"/>
                    <a:pt x="3" y="8"/>
                    <a:pt x="0" y="11"/>
                  </a:cubicBezTo>
                  <a:cubicBezTo>
                    <a:pt x="1" y="12"/>
                    <a:pt x="1" y="14"/>
                    <a:pt x="2" y="15"/>
                  </a:cubicBezTo>
                  <a:cubicBezTo>
                    <a:pt x="4" y="25"/>
                    <a:pt x="7" y="26"/>
                    <a:pt x="11" y="30"/>
                  </a:cubicBezTo>
                  <a:cubicBezTo>
                    <a:pt x="12" y="31"/>
                    <a:pt x="16" y="33"/>
                    <a:pt x="20" y="36"/>
                  </a:cubicBezTo>
                  <a:cubicBezTo>
                    <a:pt x="20" y="34"/>
                    <a:pt x="21" y="32"/>
                    <a:pt x="22" y="32"/>
                  </a:cubicBezTo>
                  <a:cubicBezTo>
                    <a:pt x="25" y="30"/>
                    <a:pt x="31" y="27"/>
                    <a:pt x="31" y="2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5" name="Freeform 31"/>
            <p:cNvSpPr>
              <a:spLocks noChangeArrowheads="1"/>
            </p:cNvSpPr>
            <p:nvPr/>
          </p:nvSpPr>
          <p:spPr bwMode="auto">
            <a:xfrm>
              <a:off x="3279786" y="1854202"/>
              <a:ext cx="179389" cy="147638"/>
            </a:xfrm>
            <a:custGeom>
              <a:avLst/>
              <a:gdLst>
                <a:gd name="T0" fmla="*/ 44 w 94"/>
                <a:gd name="T1" fmla="*/ 59 h 77"/>
                <a:gd name="T2" fmla="*/ 56 w 94"/>
                <a:gd name="T3" fmla="*/ 51 h 77"/>
                <a:gd name="T4" fmla="*/ 56 w 94"/>
                <a:gd name="T5" fmla="*/ 20 h 77"/>
                <a:gd name="T6" fmla="*/ 94 w 94"/>
                <a:gd name="T7" fmla="*/ 20 h 77"/>
                <a:gd name="T8" fmla="*/ 94 w 94"/>
                <a:gd name="T9" fmla="*/ 4 h 77"/>
                <a:gd name="T10" fmla="*/ 86 w 94"/>
                <a:gd name="T11" fmla="*/ 0 h 77"/>
                <a:gd name="T12" fmla="*/ 44 w 94"/>
                <a:gd name="T13" fmla="*/ 0 h 77"/>
                <a:gd name="T14" fmla="*/ 38 w 94"/>
                <a:gd name="T15" fmla="*/ 10 h 77"/>
                <a:gd name="T16" fmla="*/ 23 w 94"/>
                <a:gd name="T17" fmla="*/ 31 h 77"/>
                <a:gd name="T18" fmla="*/ 3 w 94"/>
                <a:gd name="T19" fmla="*/ 66 h 77"/>
                <a:gd name="T20" fmla="*/ 0 w 94"/>
                <a:gd name="T21" fmla="*/ 77 h 77"/>
                <a:gd name="T22" fmla="*/ 44 w 94"/>
                <a:gd name="T23" fmla="*/ 77 h 77"/>
                <a:gd name="T24" fmla="*/ 44 w 94"/>
                <a:gd name="T25" fmla="*/ 59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4"/>
                <a:gd name="T40" fmla="*/ 0 h 77"/>
                <a:gd name="T41" fmla="*/ 94 w 94"/>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4" h="77">
                  <a:moveTo>
                    <a:pt x="44" y="59"/>
                  </a:moveTo>
                  <a:cubicBezTo>
                    <a:pt x="44" y="56"/>
                    <a:pt x="56" y="53"/>
                    <a:pt x="56" y="51"/>
                  </a:cubicBezTo>
                  <a:cubicBezTo>
                    <a:pt x="56" y="48"/>
                    <a:pt x="56" y="20"/>
                    <a:pt x="56" y="20"/>
                  </a:cubicBezTo>
                  <a:cubicBezTo>
                    <a:pt x="56" y="20"/>
                    <a:pt x="93" y="21"/>
                    <a:pt x="94" y="20"/>
                  </a:cubicBezTo>
                  <a:cubicBezTo>
                    <a:pt x="94" y="20"/>
                    <a:pt x="94" y="12"/>
                    <a:pt x="94" y="4"/>
                  </a:cubicBezTo>
                  <a:cubicBezTo>
                    <a:pt x="92" y="2"/>
                    <a:pt x="94" y="0"/>
                    <a:pt x="86" y="0"/>
                  </a:cubicBezTo>
                  <a:cubicBezTo>
                    <a:pt x="79" y="0"/>
                    <a:pt x="58" y="0"/>
                    <a:pt x="44" y="0"/>
                  </a:cubicBezTo>
                  <a:cubicBezTo>
                    <a:pt x="41" y="3"/>
                    <a:pt x="39" y="7"/>
                    <a:pt x="38" y="10"/>
                  </a:cubicBezTo>
                  <a:cubicBezTo>
                    <a:pt x="36" y="16"/>
                    <a:pt x="23" y="23"/>
                    <a:pt x="23" y="31"/>
                  </a:cubicBezTo>
                  <a:cubicBezTo>
                    <a:pt x="22" y="38"/>
                    <a:pt x="11" y="50"/>
                    <a:pt x="3" y="66"/>
                  </a:cubicBezTo>
                  <a:cubicBezTo>
                    <a:pt x="1" y="70"/>
                    <a:pt x="0" y="74"/>
                    <a:pt x="0" y="77"/>
                  </a:cubicBezTo>
                  <a:cubicBezTo>
                    <a:pt x="44" y="77"/>
                    <a:pt x="44" y="77"/>
                    <a:pt x="44" y="77"/>
                  </a:cubicBezTo>
                  <a:cubicBezTo>
                    <a:pt x="44" y="77"/>
                    <a:pt x="44" y="62"/>
                    <a:pt x="44" y="5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6" name="Freeform 32"/>
            <p:cNvSpPr>
              <a:spLocks noChangeArrowheads="1"/>
            </p:cNvSpPr>
            <p:nvPr/>
          </p:nvSpPr>
          <p:spPr bwMode="auto">
            <a:xfrm>
              <a:off x="3278199" y="1862139"/>
              <a:ext cx="261939" cy="287339"/>
            </a:xfrm>
            <a:custGeom>
              <a:avLst/>
              <a:gdLst>
                <a:gd name="T0" fmla="*/ 11 w 137"/>
                <a:gd name="T1" fmla="*/ 130 h 150"/>
                <a:gd name="T2" fmla="*/ 21 w 137"/>
                <a:gd name="T3" fmla="*/ 130 h 150"/>
                <a:gd name="T4" fmla="*/ 30 w 137"/>
                <a:gd name="T5" fmla="*/ 129 h 150"/>
                <a:gd name="T6" fmla="*/ 36 w 137"/>
                <a:gd name="T7" fmla="*/ 135 h 150"/>
                <a:gd name="T8" fmla="*/ 40 w 137"/>
                <a:gd name="T9" fmla="*/ 135 h 150"/>
                <a:gd name="T10" fmla="*/ 48 w 137"/>
                <a:gd name="T11" fmla="*/ 145 h 150"/>
                <a:gd name="T12" fmla="*/ 53 w 137"/>
                <a:gd name="T13" fmla="*/ 150 h 150"/>
                <a:gd name="T14" fmla="*/ 59 w 137"/>
                <a:gd name="T15" fmla="*/ 147 h 150"/>
                <a:gd name="T16" fmla="*/ 66 w 137"/>
                <a:gd name="T17" fmla="*/ 144 h 150"/>
                <a:gd name="T18" fmla="*/ 72 w 137"/>
                <a:gd name="T19" fmla="*/ 143 h 150"/>
                <a:gd name="T20" fmla="*/ 80 w 137"/>
                <a:gd name="T21" fmla="*/ 144 h 150"/>
                <a:gd name="T22" fmla="*/ 87 w 137"/>
                <a:gd name="T23" fmla="*/ 141 h 150"/>
                <a:gd name="T24" fmla="*/ 131 w 137"/>
                <a:gd name="T25" fmla="*/ 141 h 150"/>
                <a:gd name="T26" fmla="*/ 132 w 137"/>
                <a:gd name="T27" fmla="*/ 131 h 150"/>
                <a:gd name="T28" fmla="*/ 129 w 137"/>
                <a:gd name="T29" fmla="*/ 128 h 150"/>
                <a:gd name="T30" fmla="*/ 118 w 137"/>
                <a:gd name="T31" fmla="*/ 28 h 150"/>
                <a:gd name="T32" fmla="*/ 137 w 137"/>
                <a:gd name="T33" fmla="*/ 28 h 150"/>
                <a:gd name="T34" fmla="*/ 97 w 137"/>
                <a:gd name="T35" fmla="*/ 2 h 150"/>
                <a:gd name="T36" fmla="*/ 95 w 137"/>
                <a:gd name="T37" fmla="*/ 0 h 150"/>
                <a:gd name="T38" fmla="*/ 95 w 137"/>
                <a:gd name="T39" fmla="*/ 16 h 150"/>
                <a:gd name="T40" fmla="*/ 57 w 137"/>
                <a:gd name="T41" fmla="*/ 16 h 150"/>
                <a:gd name="T42" fmla="*/ 57 w 137"/>
                <a:gd name="T43" fmla="*/ 47 h 150"/>
                <a:gd name="T44" fmla="*/ 45 w 137"/>
                <a:gd name="T45" fmla="*/ 55 h 150"/>
                <a:gd name="T46" fmla="*/ 45 w 137"/>
                <a:gd name="T47" fmla="*/ 73 h 150"/>
                <a:gd name="T48" fmla="*/ 1 w 137"/>
                <a:gd name="T49" fmla="*/ 73 h 150"/>
                <a:gd name="T50" fmla="*/ 7 w 137"/>
                <a:gd name="T51" fmla="*/ 85 h 150"/>
                <a:gd name="T52" fmla="*/ 9 w 137"/>
                <a:gd name="T53" fmla="*/ 104 h 150"/>
                <a:gd name="T54" fmla="*/ 6 w 137"/>
                <a:gd name="T55" fmla="*/ 126 h 150"/>
                <a:gd name="T56" fmla="*/ 4 w 137"/>
                <a:gd name="T57" fmla="*/ 135 h 150"/>
                <a:gd name="T58" fmla="*/ 4 w 137"/>
                <a:gd name="T59" fmla="*/ 135 h 150"/>
                <a:gd name="T60" fmla="*/ 11 w 137"/>
                <a:gd name="T61" fmla="*/ 130 h 15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37"/>
                <a:gd name="T94" fmla="*/ 0 h 150"/>
                <a:gd name="T95" fmla="*/ 137 w 137"/>
                <a:gd name="T96" fmla="*/ 150 h 15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37" h="150">
                  <a:moveTo>
                    <a:pt x="11" y="130"/>
                  </a:moveTo>
                  <a:cubicBezTo>
                    <a:pt x="15" y="131"/>
                    <a:pt x="21" y="130"/>
                    <a:pt x="21" y="130"/>
                  </a:cubicBezTo>
                  <a:cubicBezTo>
                    <a:pt x="21" y="130"/>
                    <a:pt x="27" y="127"/>
                    <a:pt x="30" y="129"/>
                  </a:cubicBezTo>
                  <a:cubicBezTo>
                    <a:pt x="33" y="131"/>
                    <a:pt x="36" y="135"/>
                    <a:pt x="36" y="135"/>
                  </a:cubicBezTo>
                  <a:cubicBezTo>
                    <a:pt x="40" y="135"/>
                    <a:pt x="40" y="135"/>
                    <a:pt x="40" y="135"/>
                  </a:cubicBezTo>
                  <a:cubicBezTo>
                    <a:pt x="40" y="135"/>
                    <a:pt x="43" y="143"/>
                    <a:pt x="48" y="145"/>
                  </a:cubicBezTo>
                  <a:cubicBezTo>
                    <a:pt x="51" y="146"/>
                    <a:pt x="52" y="148"/>
                    <a:pt x="53" y="150"/>
                  </a:cubicBezTo>
                  <a:cubicBezTo>
                    <a:pt x="57" y="150"/>
                    <a:pt x="59" y="149"/>
                    <a:pt x="59" y="147"/>
                  </a:cubicBezTo>
                  <a:cubicBezTo>
                    <a:pt x="59" y="144"/>
                    <a:pt x="61" y="139"/>
                    <a:pt x="66" y="144"/>
                  </a:cubicBezTo>
                  <a:cubicBezTo>
                    <a:pt x="71" y="149"/>
                    <a:pt x="71" y="145"/>
                    <a:pt x="72" y="143"/>
                  </a:cubicBezTo>
                  <a:cubicBezTo>
                    <a:pt x="73" y="141"/>
                    <a:pt x="76" y="144"/>
                    <a:pt x="80" y="144"/>
                  </a:cubicBezTo>
                  <a:cubicBezTo>
                    <a:pt x="83" y="144"/>
                    <a:pt x="87" y="141"/>
                    <a:pt x="87" y="141"/>
                  </a:cubicBezTo>
                  <a:cubicBezTo>
                    <a:pt x="87" y="141"/>
                    <a:pt x="129" y="142"/>
                    <a:pt x="131" y="141"/>
                  </a:cubicBezTo>
                  <a:cubicBezTo>
                    <a:pt x="133" y="140"/>
                    <a:pt x="132" y="131"/>
                    <a:pt x="132" y="131"/>
                  </a:cubicBezTo>
                  <a:cubicBezTo>
                    <a:pt x="129" y="128"/>
                    <a:pt x="129" y="128"/>
                    <a:pt x="129" y="128"/>
                  </a:cubicBezTo>
                  <a:cubicBezTo>
                    <a:pt x="118" y="28"/>
                    <a:pt x="118" y="28"/>
                    <a:pt x="118" y="28"/>
                  </a:cubicBezTo>
                  <a:cubicBezTo>
                    <a:pt x="137" y="28"/>
                    <a:pt x="137" y="28"/>
                    <a:pt x="137" y="28"/>
                  </a:cubicBezTo>
                  <a:cubicBezTo>
                    <a:pt x="117" y="15"/>
                    <a:pt x="99" y="3"/>
                    <a:pt x="97" y="2"/>
                  </a:cubicBezTo>
                  <a:cubicBezTo>
                    <a:pt x="96" y="2"/>
                    <a:pt x="95" y="1"/>
                    <a:pt x="95" y="0"/>
                  </a:cubicBezTo>
                  <a:cubicBezTo>
                    <a:pt x="95" y="8"/>
                    <a:pt x="95" y="16"/>
                    <a:pt x="95" y="16"/>
                  </a:cubicBezTo>
                  <a:cubicBezTo>
                    <a:pt x="94" y="17"/>
                    <a:pt x="57" y="16"/>
                    <a:pt x="57" y="16"/>
                  </a:cubicBezTo>
                  <a:cubicBezTo>
                    <a:pt x="57" y="16"/>
                    <a:pt x="57" y="44"/>
                    <a:pt x="57" y="47"/>
                  </a:cubicBezTo>
                  <a:cubicBezTo>
                    <a:pt x="57" y="49"/>
                    <a:pt x="45" y="52"/>
                    <a:pt x="45" y="55"/>
                  </a:cubicBezTo>
                  <a:cubicBezTo>
                    <a:pt x="45" y="58"/>
                    <a:pt x="45" y="73"/>
                    <a:pt x="45" y="73"/>
                  </a:cubicBezTo>
                  <a:cubicBezTo>
                    <a:pt x="1" y="73"/>
                    <a:pt x="1" y="73"/>
                    <a:pt x="1" y="73"/>
                  </a:cubicBezTo>
                  <a:cubicBezTo>
                    <a:pt x="0" y="80"/>
                    <a:pt x="4" y="82"/>
                    <a:pt x="7" y="85"/>
                  </a:cubicBezTo>
                  <a:cubicBezTo>
                    <a:pt x="10" y="89"/>
                    <a:pt x="4" y="96"/>
                    <a:pt x="9" y="104"/>
                  </a:cubicBezTo>
                  <a:cubicBezTo>
                    <a:pt x="15" y="111"/>
                    <a:pt x="8" y="122"/>
                    <a:pt x="6" y="126"/>
                  </a:cubicBezTo>
                  <a:cubicBezTo>
                    <a:pt x="4" y="128"/>
                    <a:pt x="4" y="132"/>
                    <a:pt x="4" y="135"/>
                  </a:cubicBezTo>
                  <a:cubicBezTo>
                    <a:pt x="4" y="135"/>
                    <a:pt x="4" y="135"/>
                    <a:pt x="4" y="135"/>
                  </a:cubicBezTo>
                  <a:cubicBezTo>
                    <a:pt x="8" y="135"/>
                    <a:pt x="7" y="129"/>
                    <a:pt x="11" y="1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7" name="Freeform 33"/>
            <p:cNvSpPr>
              <a:spLocks noChangeArrowheads="1"/>
            </p:cNvSpPr>
            <p:nvPr/>
          </p:nvSpPr>
          <p:spPr bwMode="auto">
            <a:xfrm>
              <a:off x="3379799" y="1916114"/>
              <a:ext cx="360364" cy="338138"/>
            </a:xfrm>
            <a:custGeom>
              <a:avLst/>
              <a:gdLst>
                <a:gd name="T0" fmla="*/ 179 w 189"/>
                <a:gd name="T1" fmla="*/ 73 h 177"/>
                <a:gd name="T2" fmla="*/ 173 w 189"/>
                <a:gd name="T3" fmla="*/ 61 h 177"/>
                <a:gd name="T4" fmla="*/ 161 w 189"/>
                <a:gd name="T5" fmla="*/ 57 h 177"/>
                <a:gd name="T6" fmla="*/ 153 w 189"/>
                <a:gd name="T7" fmla="*/ 47 h 177"/>
                <a:gd name="T8" fmla="*/ 84 w 189"/>
                <a:gd name="T9" fmla="*/ 0 h 177"/>
                <a:gd name="T10" fmla="*/ 65 w 189"/>
                <a:gd name="T11" fmla="*/ 0 h 177"/>
                <a:gd name="T12" fmla="*/ 76 w 189"/>
                <a:gd name="T13" fmla="*/ 100 h 177"/>
                <a:gd name="T14" fmla="*/ 79 w 189"/>
                <a:gd name="T15" fmla="*/ 103 h 177"/>
                <a:gd name="T16" fmla="*/ 78 w 189"/>
                <a:gd name="T17" fmla="*/ 113 h 177"/>
                <a:gd name="T18" fmla="*/ 34 w 189"/>
                <a:gd name="T19" fmla="*/ 113 h 177"/>
                <a:gd name="T20" fmla="*/ 27 w 189"/>
                <a:gd name="T21" fmla="*/ 116 h 177"/>
                <a:gd name="T22" fmla="*/ 19 w 189"/>
                <a:gd name="T23" fmla="*/ 115 h 177"/>
                <a:gd name="T24" fmla="*/ 13 w 189"/>
                <a:gd name="T25" fmla="*/ 116 h 177"/>
                <a:gd name="T26" fmla="*/ 6 w 189"/>
                <a:gd name="T27" fmla="*/ 119 h 177"/>
                <a:gd name="T28" fmla="*/ 0 w 189"/>
                <a:gd name="T29" fmla="*/ 122 h 177"/>
                <a:gd name="T30" fmla="*/ 1 w 189"/>
                <a:gd name="T31" fmla="*/ 125 h 177"/>
                <a:gd name="T32" fmla="*/ 3 w 189"/>
                <a:gd name="T33" fmla="*/ 128 h 177"/>
                <a:gd name="T34" fmla="*/ 5 w 189"/>
                <a:gd name="T35" fmla="*/ 135 h 177"/>
                <a:gd name="T36" fmla="*/ 11 w 189"/>
                <a:gd name="T37" fmla="*/ 142 h 177"/>
                <a:gd name="T38" fmla="*/ 11 w 189"/>
                <a:gd name="T39" fmla="*/ 151 h 177"/>
                <a:gd name="T40" fmla="*/ 14 w 189"/>
                <a:gd name="T41" fmla="*/ 154 h 177"/>
                <a:gd name="T42" fmla="*/ 21 w 189"/>
                <a:gd name="T43" fmla="*/ 153 h 177"/>
                <a:gd name="T44" fmla="*/ 28 w 189"/>
                <a:gd name="T45" fmla="*/ 154 h 177"/>
                <a:gd name="T46" fmla="*/ 36 w 189"/>
                <a:gd name="T47" fmla="*/ 148 h 177"/>
                <a:gd name="T48" fmla="*/ 41 w 189"/>
                <a:gd name="T49" fmla="*/ 157 h 177"/>
                <a:gd name="T50" fmla="*/ 45 w 189"/>
                <a:gd name="T51" fmla="*/ 162 h 177"/>
                <a:gd name="T52" fmla="*/ 45 w 189"/>
                <a:gd name="T53" fmla="*/ 166 h 177"/>
                <a:gd name="T54" fmla="*/ 47 w 189"/>
                <a:gd name="T55" fmla="*/ 172 h 177"/>
                <a:gd name="T56" fmla="*/ 53 w 189"/>
                <a:gd name="T57" fmla="*/ 173 h 177"/>
                <a:gd name="T58" fmla="*/ 58 w 189"/>
                <a:gd name="T59" fmla="*/ 175 h 177"/>
                <a:gd name="T60" fmla="*/ 65 w 189"/>
                <a:gd name="T61" fmla="*/ 172 h 177"/>
                <a:gd name="T62" fmla="*/ 70 w 189"/>
                <a:gd name="T63" fmla="*/ 171 h 177"/>
                <a:gd name="T64" fmla="*/ 74 w 189"/>
                <a:gd name="T65" fmla="*/ 172 h 177"/>
                <a:gd name="T66" fmla="*/ 78 w 189"/>
                <a:gd name="T67" fmla="*/ 172 h 177"/>
                <a:gd name="T68" fmla="*/ 81 w 189"/>
                <a:gd name="T69" fmla="*/ 163 h 177"/>
                <a:gd name="T70" fmla="*/ 80 w 189"/>
                <a:gd name="T71" fmla="*/ 156 h 177"/>
                <a:gd name="T72" fmla="*/ 89 w 189"/>
                <a:gd name="T73" fmla="*/ 152 h 177"/>
                <a:gd name="T74" fmla="*/ 93 w 189"/>
                <a:gd name="T75" fmla="*/ 145 h 177"/>
                <a:gd name="T76" fmla="*/ 96 w 189"/>
                <a:gd name="T77" fmla="*/ 136 h 177"/>
                <a:gd name="T78" fmla="*/ 103 w 189"/>
                <a:gd name="T79" fmla="*/ 137 h 177"/>
                <a:gd name="T80" fmla="*/ 108 w 189"/>
                <a:gd name="T81" fmla="*/ 131 h 177"/>
                <a:gd name="T82" fmla="*/ 114 w 189"/>
                <a:gd name="T83" fmla="*/ 129 h 177"/>
                <a:gd name="T84" fmla="*/ 118 w 189"/>
                <a:gd name="T85" fmla="*/ 126 h 177"/>
                <a:gd name="T86" fmla="*/ 128 w 189"/>
                <a:gd name="T87" fmla="*/ 122 h 177"/>
                <a:gd name="T88" fmla="*/ 136 w 189"/>
                <a:gd name="T89" fmla="*/ 119 h 177"/>
                <a:gd name="T90" fmla="*/ 150 w 189"/>
                <a:gd name="T91" fmla="*/ 119 h 177"/>
                <a:gd name="T92" fmla="*/ 159 w 189"/>
                <a:gd name="T93" fmla="*/ 116 h 177"/>
                <a:gd name="T94" fmla="*/ 177 w 189"/>
                <a:gd name="T95" fmla="*/ 115 h 177"/>
                <a:gd name="T96" fmla="*/ 184 w 189"/>
                <a:gd name="T97" fmla="*/ 110 h 177"/>
                <a:gd name="T98" fmla="*/ 188 w 189"/>
                <a:gd name="T99" fmla="*/ 101 h 177"/>
                <a:gd name="T100" fmla="*/ 188 w 189"/>
                <a:gd name="T101" fmla="*/ 71 h 177"/>
                <a:gd name="T102" fmla="*/ 179 w 189"/>
                <a:gd name="T103" fmla="*/ 73 h 17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89"/>
                <a:gd name="T157" fmla="*/ 0 h 177"/>
                <a:gd name="T158" fmla="*/ 189 w 189"/>
                <a:gd name="T159" fmla="*/ 177 h 17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89" h="177">
                  <a:moveTo>
                    <a:pt x="179" y="73"/>
                  </a:moveTo>
                  <a:cubicBezTo>
                    <a:pt x="179" y="73"/>
                    <a:pt x="179" y="65"/>
                    <a:pt x="173" y="61"/>
                  </a:cubicBezTo>
                  <a:cubicBezTo>
                    <a:pt x="168" y="58"/>
                    <a:pt x="161" y="57"/>
                    <a:pt x="161" y="57"/>
                  </a:cubicBezTo>
                  <a:cubicBezTo>
                    <a:pt x="161" y="57"/>
                    <a:pt x="157" y="50"/>
                    <a:pt x="153" y="47"/>
                  </a:cubicBezTo>
                  <a:cubicBezTo>
                    <a:pt x="152" y="45"/>
                    <a:pt x="114" y="20"/>
                    <a:pt x="84" y="0"/>
                  </a:cubicBezTo>
                  <a:cubicBezTo>
                    <a:pt x="65" y="0"/>
                    <a:pt x="65" y="0"/>
                    <a:pt x="65" y="0"/>
                  </a:cubicBezTo>
                  <a:cubicBezTo>
                    <a:pt x="76" y="100"/>
                    <a:pt x="76" y="100"/>
                    <a:pt x="76" y="100"/>
                  </a:cubicBezTo>
                  <a:cubicBezTo>
                    <a:pt x="79" y="103"/>
                    <a:pt x="79" y="103"/>
                    <a:pt x="79" y="103"/>
                  </a:cubicBezTo>
                  <a:cubicBezTo>
                    <a:pt x="79" y="103"/>
                    <a:pt x="80" y="112"/>
                    <a:pt x="78" y="113"/>
                  </a:cubicBezTo>
                  <a:cubicBezTo>
                    <a:pt x="76" y="114"/>
                    <a:pt x="34" y="113"/>
                    <a:pt x="34" y="113"/>
                  </a:cubicBezTo>
                  <a:cubicBezTo>
                    <a:pt x="34" y="113"/>
                    <a:pt x="30" y="116"/>
                    <a:pt x="27" y="116"/>
                  </a:cubicBezTo>
                  <a:cubicBezTo>
                    <a:pt x="23" y="116"/>
                    <a:pt x="20" y="113"/>
                    <a:pt x="19" y="115"/>
                  </a:cubicBezTo>
                  <a:cubicBezTo>
                    <a:pt x="18" y="117"/>
                    <a:pt x="18" y="121"/>
                    <a:pt x="13" y="116"/>
                  </a:cubicBezTo>
                  <a:cubicBezTo>
                    <a:pt x="8" y="111"/>
                    <a:pt x="6" y="116"/>
                    <a:pt x="6" y="119"/>
                  </a:cubicBezTo>
                  <a:cubicBezTo>
                    <a:pt x="6" y="121"/>
                    <a:pt x="4" y="122"/>
                    <a:pt x="0" y="122"/>
                  </a:cubicBezTo>
                  <a:cubicBezTo>
                    <a:pt x="1" y="124"/>
                    <a:pt x="1" y="125"/>
                    <a:pt x="1" y="125"/>
                  </a:cubicBezTo>
                  <a:cubicBezTo>
                    <a:pt x="3" y="128"/>
                    <a:pt x="3" y="128"/>
                    <a:pt x="3" y="128"/>
                  </a:cubicBezTo>
                  <a:cubicBezTo>
                    <a:pt x="3" y="128"/>
                    <a:pt x="3" y="133"/>
                    <a:pt x="5" y="135"/>
                  </a:cubicBezTo>
                  <a:cubicBezTo>
                    <a:pt x="7" y="137"/>
                    <a:pt x="11" y="141"/>
                    <a:pt x="11" y="142"/>
                  </a:cubicBezTo>
                  <a:cubicBezTo>
                    <a:pt x="11" y="144"/>
                    <a:pt x="11" y="151"/>
                    <a:pt x="11" y="151"/>
                  </a:cubicBezTo>
                  <a:cubicBezTo>
                    <a:pt x="11" y="151"/>
                    <a:pt x="12" y="157"/>
                    <a:pt x="14" y="154"/>
                  </a:cubicBezTo>
                  <a:cubicBezTo>
                    <a:pt x="16" y="152"/>
                    <a:pt x="19" y="157"/>
                    <a:pt x="21" y="153"/>
                  </a:cubicBezTo>
                  <a:cubicBezTo>
                    <a:pt x="22" y="150"/>
                    <a:pt x="26" y="154"/>
                    <a:pt x="28" y="154"/>
                  </a:cubicBezTo>
                  <a:cubicBezTo>
                    <a:pt x="30" y="154"/>
                    <a:pt x="35" y="148"/>
                    <a:pt x="36" y="148"/>
                  </a:cubicBezTo>
                  <a:cubicBezTo>
                    <a:pt x="38" y="149"/>
                    <a:pt x="41" y="154"/>
                    <a:pt x="41" y="157"/>
                  </a:cubicBezTo>
                  <a:cubicBezTo>
                    <a:pt x="41" y="159"/>
                    <a:pt x="47" y="161"/>
                    <a:pt x="45" y="162"/>
                  </a:cubicBezTo>
                  <a:cubicBezTo>
                    <a:pt x="43" y="163"/>
                    <a:pt x="42" y="166"/>
                    <a:pt x="45" y="166"/>
                  </a:cubicBezTo>
                  <a:cubicBezTo>
                    <a:pt x="47" y="166"/>
                    <a:pt x="46" y="170"/>
                    <a:pt x="47" y="172"/>
                  </a:cubicBezTo>
                  <a:cubicBezTo>
                    <a:pt x="49" y="174"/>
                    <a:pt x="51" y="176"/>
                    <a:pt x="53" y="173"/>
                  </a:cubicBezTo>
                  <a:cubicBezTo>
                    <a:pt x="54" y="170"/>
                    <a:pt x="57" y="173"/>
                    <a:pt x="58" y="175"/>
                  </a:cubicBezTo>
                  <a:cubicBezTo>
                    <a:pt x="60" y="177"/>
                    <a:pt x="64" y="174"/>
                    <a:pt x="65" y="172"/>
                  </a:cubicBezTo>
                  <a:cubicBezTo>
                    <a:pt x="65" y="169"/>
                    <a:pt x="71" y="168"/>
                    <a:pt x="70" y="171"/>
                  </a:cubicBezTo>
                  <a:cubicBezTo>
                    <a:pt x="70" y="174"/>
                    <a:pt x="71" y="175"/>
                    <a:pt x="74" y="172"/>
                  </a:cubicBezTo>
                  <a:cubicBezTo>
                    <a:pt x="75" y="171"/>
                    <a:pt x="76" y="171"/>
                    <a:pt x="78" y="172"/>
                  </a:cubicBezTo>
                  <a:cubicBezTo>
                    <a:pt x="79" y="168"/>
                    <a:pt x="80" y="164"/>
                    <a:pt x="81" y="163"/>
                  </a:cubicBezTo>
                  <a:cubicBezTo>
                    <a:pt x="82" y="161"/>
                    <a:pt x="78" y="156"/>
                    <a:pt x="80" y="156"/>
                  </a:cubicBezTo>
                  <a:cubicBezTo>
                    <a:pt x="82" y="155"/>
                    <a:pt x="87" y="156"/>
                    <a:pt x="89" y="152"/>
                  </a:cubicBezTo>
                  <a:cubicBezTo>
                    <a:pt x="91" y="147"/>
                    <a:pt x="93" y="145"/>
                    <a:pt x="93" y="145"/>
                  </a:cubicBezTo>
                  <a:cubicBezTo>
                    <a:pt x="93" y="145"/>
                    <a:pt x="93" y="135"/>
                    <a:pt x="96" y="136"/>
                  </a:cubicBezTo>
                  <a:cubicBezTo>
                    <a:pt x="99" y="138"/>
                    <a:pt x="103" y="141"/>
                    <a:pt x="103" y="137"/>
                  </a:cubicBezTo>
                  <a:cubicBezTo>
                    <a:pt x="104" y="133"/>
                    <a:pt x="107" y="135"/>
                    <a:pt x="108" y="131"/>
                  </a:cubicBezTo>
                  <a:cubicBezTo>
                    <a:pt x="109" y="128"/>
                    <a:pt x="111" y="128"/>
                    <a:pt x="114" y="129"/>
                  </a:cubicBezTo>
                  <a:cubicBezTo>
                    <a:pt x="116" y="129"/>
                    <a:pt x="118" y="128"/>
                    <a:pt x="118" y="126"/>
                  </a:cubicBezTo>
                  <a:cubicBezTo>
                    <a:pt x="118" y="124"/>
                    <a:pt x="123" y="125"/>
                    <a:pt x="128" y="122"/>
                  </a:cubicBezTo>
                  <a:cubicBezTo>
                    <a:pt x="132" y="119"/>
                    <a:pt x="134" y="117"/>
                    <a:pt x="136" y="119"/>
                  </a:cubicBezTo>
                  <a:cubicBezTo>
                    <a:pt x="138" y="120"/>
                    <a:pt x="149" y="120"/>
                    <a:pt x="150" y="119"/>
                  </a:cubicBezTo>
                  <a:cubicBezTo>
                    <a:pt x="152" y="119"/>
                    <a:pt x="155" y="116"/>
                    <a:pt x="159" y="116"/>
                  </a:cubicBezTo>
                  <a:cubicBezTo>
                    <a:pt x="163" y="117"/>
                    <a:pt x="173" y="115"/>
                    <a:pt x="177" y="115"/>
                  </a:cubicBezTo>
                  <a:cubicBezTo>
                    <a:pt x="181" y="115"/>
                    <a:pt x="183" y="111"/>
                    <a:pt x="184" y="110"/>
                  </a:cubicBezTo>
                  <a:cubicBezTo>
                    <a:pt x="185" y="108"/>
                    <a:pt x="186" y="102"/>
                    <a:pt x="188" y="101"/>
                  </a:cubicBezTo>
                  <a:cubicBezTo>
                    <a:pt x="189" y="100"/>
                    <a:pt x="189" y="79"/>
                    <a:pt x="188" y="71"/>
                  </a:cubicBezTo>
                  <a:cubicBezTo>
                    <a:pt x="184" y="72"/>
                    <a:pt x="179" y="73"/>
                    <a:pt x="179" y="7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8" name="Freeform 34"/>
            <p:cNvSpPr>
              <a:spLocks noChangeArrowheads="1"/>
            </p:cNvSpPr>
            <p:nvPr/>
          </p:nvSpPr>
          <p:spPr bwMode="auto">
            <a:xfrm>
              <a:off x="3529025" y="2139953"/>
              <a:ext cx="176213" cy="125413"/>
            </a:xfrm>
            <a:custGeom>
              <a:avLst/>
              <a:gdLst>
                <a:gd name="T0" fmla="*/ 92 w 92"/>
                <a:gd name="T1" fmla="*/ 37 h 66"/>
                <a:gd name="T2" fmla="*/ 87 w 92"/>
                <a:gd name="T3" fmla="*/ 35 h 66"/>
                <a:gd name="T4" fmla="*/ 86 w 92"/>
                <a:gd name="T5" fmla="*/ 29 h 66"/>
                <a:gd name="T6" fmla="*/ 81 w 92"/>
                <a:gd name="T7" fmla="*/ 30 h 66"/>
                <a:gd name="T8" fmla="*/ 76 w 92"/>
                <a:gd name="T9" fmla="*/ 26 h 66"/>
                <a:gd name="T10" fmla="*/ 74 w 92"/>
                <a:gd name="T11" fmla="*/ 21 h 66"/>
                <a:gd name="T12" fmla="*/ 69 w 92"/>
                <a:gd name="T13" fmla="*/ 15 h 66"/>
                <a:gd name="T14" fmla="*/ 65 w 92"/>
                <a:gd name="T15" fmla="*/ 9 h 66"/>
                <a:gd name="T16" fmla="*/ 65 w 92"/>
                <a:gd name="T17" fmla="*/ 3 h 66"/>
                <a:gd name="T18" fmla="*/ 58 w 92"/>
                <a:gd name="T19" fmla="*/ 2 h 66"/>
                <a:gd name="T20" fmla="*/ 50 w 92"/>
                <a:gd name="T21" fmla="*/ 5 h 66"/>
                <a:gd name="T22" fmla="*/ 40 w 92"/>
                <a:gd name="T23" fmla="*/ 9 h 66"/>
                <a:gd name="T24" fmla="*/ 36 w 92"/>
                <a:gd name="T25" fmla="*/ 12 h 66"/>
                <a:gd name="T26" fmla="*/ 30 w 92"/>
                <a:gd name="T27" fmla="*/ 14 h 66"/>
                <a:gd name="T28" fmla="*/ 25 w 92"/>
                <a:gd name="T29" fmla="*/ 20 h 66"/>
                <a:gd name="T30" fmla="*/ 18 w 92"/>
                <a:gd name="T31" fmla="*/ 19 h 66"/>
                <a:gd name="T32" fmla="*/ 15 w 92"/>
                <a:gd name="T33" fmla="*/ 28 h 66"/>
                <a:gd name="T34" fmla="*/ 11 w 92"/>
                <a:gd name="T35" fmla="*/ 35 h 66"/>
                <a:gd name="T36" fmla="*/ 2 w 92"/>
                <a:gd name="T37" fmla="*/ 39 h 66"/>
                <a:gd name="T38" fmla="*/ 3 w 92"/>
                <a:gd name="T39" fmla="*/ 46 h 66"/>
                <a:gd name="T40" fmla="*/ 0 w 92"/>
                <a:gd name="T41" fmla="*/ 55 h 66"/>
                <a:gd name="T42" fmla="*/ 5 w 92"/>
                <a:gd name="T43" fmla="*/ 58 h 66"/>
                <a:gd name="T44" fmla="*/ 15 w 92"/>
                <a:gd name="T45" fmla="*/ 63 h 66"/>
                <a:gd name="T46" fmla="*/ 28 w 92"/>
                <a:gd name="T47" fmla="*/ 61 h 66"/>
                <a:gd name="T48" fmla="*/ 32 w 92"/>
                <a:gd name="T49" fmla="*/ 60 h 66"/>
                <a:gd name="T50" fmla="*/ 30 w 92"/>
                <a:gd name="T51" fmla="*/ 49 h 66"/>
                <a:gd name="T52" fmla="*/ 58 w 92"/>
                <a:gd name="T53" fmla="*/ 50 h 66"/>
                <a:gd name="T54" fmla="*/ 63 w 92"/>
                <a:gd name="T55" fmla="*/ 47 h 66"/>
                <a:gd name="T56" fmla="*/ 73 w 92"/>
                <a:gd name="T57" fmla="*/ 48 h 66"/>
                <a:gd name="T58" fmla="*/ 79 w 92"/>
                <a:gd name="T59" fmla="*/ 44 h 66"/>
                <a:gd name="T60" fmla="*/ 89 w 92"/>
                <a:gd name="T61" fmla="*/ 42 h 66"/>
                <a:gd name="T62" fmla="*/ 92 w 92"/>
                <a:gd name="T63" fmla="*/ 37 h 66"/>
                <a:gd name="T64" fmla="*/ 92 w 92"/>
                <a:gd name="T65" fmla="*/ 37 h 6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2"/>
                <a:gd name="T100" fmla="*/ 0 h 66"/>
                <a:gd name="T101" fmla="*/ 92 w 92"/>
                <a:gd name="T102" fmla="*/ 66 h 6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2" h="66">
                  <a:moveTo>
                    <a:pt x="92" y="37"/>
                  </a:moveTo>
                  <a:cubicBezTo>
                    <a:pt x="90" y="35"/>
                    <a:pt x="88" y="35"/>
                    <a:pt x="87" y="35"/>
                  </a:cubicBezTo>
                  <a:cubicBezTo>
                    <a:pt x="86" y="35"/>
                    <a:pt x="87" y="30"/>
                    <a:pt x="86" y="29"/>
                  </a:cubicBezTo>
                  <a:cubicBezTo>
                    <a:pt x="86" y="28"/>
                    <a:pt x="83" y="30"/>
                    <a:pt x="81" y="30"/>
                  </a:cubicBezTo>
                  <a:cubicBezTo>
                    <a:pt x="79" y="29"/>
                    <a:pt x="78" y="26"/>
                    <a:pt x="76" y="26"/>
                  </a:cubicBezTo>
                  <a:cubicBezTo>
                    <a:pt x="74" y="26"/>
                    <a:pt x="74" y="24"/>
                    <a:pt x="74" y="21"/>
                  </a:cubicBezTo>
                  <a:cubicBezTo>
                    <a:pt x="74" y="19"/>
                    <a:pt x="71" y="17"/>
                    <a:pt x="69" y="15"/>
                  </a:cubicBezTo>
                  <a:cubicBezTo>
                    <a:pt x="67" y="14"/>
                    <a:pt x="66" y="10"/>
                    <a:pt x="65" y="9"/>
                  </a:cubicBezTo>
                  <a:cubicBezTo>
                    <a:pt x="64" y="8"/>
                    <a:pt x="65" y="5"/>
                    <a:pt x="65" y="3"/>
                  </a:cubicBezTo>
                  <a:cubicBezTo>
                    <a:pt x="62" y="3"/>
                    <a:pt x="59" y="2"/>
                    <a:pt x="58" y="2"/>
                  </a:cubicBezTo>
                  <a:cubicBezTo>
                    <a:pt x="56" y="0"/>
                    <a:pt x="54" y="2"/>
                    <a:pt x="50" y="5"/>
                  </a:cubicBezTo>
                  <a:cubicBezTo>
                    <a:pt x="45" y="8"/>
                    <a:pt x="40" y="7"/>
                    <a:pt x="40" y="9"/>
                  </a:cubicBezTo>
                  <a:cubicBezTo>
                    <a:pt x="40" y="11"/>
                    <a:pt x="38" y="12"/>
                    <a:pt x="36" y="12"/>
                  </a:cubicBezTo>
                  <a:cubicBezTo>
                    <a:pt x="33" y="11"/>
                    <a:pt x="31" y="11"/>
                    <a:pt x="30" y="14"/>
                  </a:cubicBezTo>
                  <a:cubicBezTo>
                    <a:pt x="29" y="18"/>
                    <a:pt x="26" y="16"/>
                    <a:pt x="25" y="20"/>
                  </a:cubicBezTo>
                  <a:cubicBezTo>
                    <a:pt x="25" y="24"/>
                    <a:pt x="21" y="21"/>
                    <a:pt x="18" y="19"/>
                  </a:cubicBezTo>
                  <a:cubicBezTo>
                    <a:pt x="15" y="18"/>
                    <a:pt x="15" y="28"/>
                    <a:pt x="15" y="28"/>
                  </a:cubicBezTo>
                  <a:cubicBezTo>
                    <a:pt x="15" y="28"/>
                    <a:pt x="13" y="30"/>
                    <a:pt x="11" y="35"/>
                  </a:cubicBezTo>
                  <a:cubicBezTo>
                    <a:pt x="9" y="39"/>
                    <a:pt x="4" y="38"/>
                    <a:pt x="2" y="39"/>
                  </a:cubicBezTo>
                  <a:cubicBezTo>
                    <a:pt x="0" y="39"/>
                    <a:pt x="4" y="44"/>
                    <a:pt x="3" y="46"/>
                  </a:cubicBezTo>
                  <a:cubicBezTo>
                    <a:pt x="2" y="47"/>
                    <a:pt x="1" y="51"/>
                    <a:pt x="0" y="55"/>
                  </a:cubicBezTo>
                  <a:cubicBezTo>
                    <a:pt x="2" y="55"/>
                    <a:pt x="4" y="57"/>
                    <a:pt x="5" y="58"/>
                  </a:cubicBezTo>
                  <a:cubicBezTo>
                    <a:pt x="6" y="60"/>
                    <a:pt x="12" y="66"/>
                    <a:pt x="15" y="63"/>
                  </a:cubicBezTo>
                  <a:cubicBezTo>
                    <a:pt x="18" y="60"/>
                    <a:pt x="26" y="59"/>
                    <a:pt x="28" y="61"/>
                  </a:cubicBezTo>
                  <a:cubicBezTo>
                    <a:pt x="30" y="63"/>
                    <a:pt x="32" y="62"/>
                    <a:pt x="32" y="60"/>
                  </a:cubicBezTo>
                  <a:cubicBezTo>
                    <a:pt x="32" y="58"/>
                    <a:pt x="29" y="51"/>
                    <a:pt x="30" y="49"/>
                  </a:cubicBezTo>
                  <a:cubicBezTo>
                    <a:pt x="31" y="47"/>
                    <a:pt x="57" y="48"/>
                    <a:pt x="58" y="50"/>
                  </a:cubicBezTo>
                  <a:cubicBezTo>
                    <a:pt x="59" y="51"/>
                    <a:pt x="59" y="46"/>
                    <a:pt x="63" y="47"/>
                  </a:cubicBezTo>
                  <a:cubicBezTo>
                    <a:pt x="66" y="47"/>
                    <a:pt x="71" y="49"/>
                    <a:pt x="73" y="48"/>
                  </a:cubicBezTo>
                  <a:cubicBezTo>
                    <a:pt x="75" y="47"/>
                    <a:pt x="77" y="44"/>
                    <a:pt x="79" y="44"/>
                  </a:cubicBezTo>
                  <a:cubicBezTo>
                    <a:pt x="81" y="44"/>
                    <a:pt x="87" y="43"/>
                    <a:pt x="89" y="42"/>
                  </a:cubicBezTo>
                  <a:cubicBezTo>
                    <a:pt x="90" y="40"/>
                    <a:pt x="92" y="40"/>
                    <a:pt x="92" y="37"/>
                  </a:cubicBezTo>
                  <a:cubicBezTo>
                    <a:pt x="92" y="37"/>
                    <a:pt x="92" y="37"/>
                    <a:pt x="92" y="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9" name="Freeform 35"/>
            <p:cNvSpPr>
              <a:spLocks noChangeArrowheads="1"/>
            </p:cNvSpPr>
            <p:nvPr/>
          </p:nvSpPr>
          <p:spPr bwMode="auto">
            <a:xfrm>
              <a:off x="3651263" y="1952627"/>
              <a:ext cx="336551" cy="261938"/>
            </a:xfrm>
            <a:custGeom>
              <a:avLst/>
              <a:gdLst>
                <a:gd name="T0" fmla="*/ 168 w 176"/>
                <a:gd name="T1" fmla="*/ 20 h 137"/>
                <a:gd name="T2" fmla="*/ 167 w 176"/>
                <a:gd name="T3" fmla="*/ 5 h 137"/>
                <a:gd name="T4" fmla="*/ 158 w 176"/>
                <a:gd name="T5" fmla="*/ 10 h 137"/>
                <a:gd name="T6" fmla="*/ 151 w 176"/>
                <a:gd name="T7" fmla="*/ 3 h 137"/>
                <a:gd name="T8" fmla="*/ 134 w 176"/>
                <a:gd name="T9" fmla="*/ 0 h 137"/>
                <a:gd name="T10" fmla="*/ 86 w 176"/>
                <a:gd name="T11" fmla="*/ 30 h 137"/>
                <a:gd name="T12" fmla="*/ 65 w 176"/>
                <a:gd name="T13" fmla="*/ 46 h 137"/>
                <a:gd name="T14" fmla="*/ 48 w 176"/>
                <a:gd name="T15" fmla="*/ 52 h 137"/>
                <a:gd name="T16" fmla="*/ 46 w 176"/>
                <a:gd name="T17" fmla="*/ 52 h 137"/>
                <a:gd name="T18" fmla="*/ 46 w 176"/>
                <a:gd name="T19" fmla="*/ 82 h 137"/>
                <a:gd name="T20" fmla="*/ 42 w 176"/>
                <a:gd name="T21" fmla="*/ 91 h 137"/>
                <a:gd name="T22" fmla="*/ 35 w 176"/>
                <a:gd name="T23" fmla="*/ 96 h 137"/>
                <a:gd name="T24" fmla="*/ 17 w 176"/>
                <a:gd name="T25" fmla="*/ 97 h 137"/>
                <a:gd name="T26" fmla="*/ 8 w 176"/>
                <a:gd name="T27" fmla="*/ 100 h 137"/>
                <a:gd name="T28" fmla="*/ 1 w 176"/>
                <a:gd name="T29" fmla="*/ 101 h 137"/>
                <a:gd name="T30" fmla="*/ 1 w 176"/>
                <a:gd name="T31" fmla="*/ 107 h 137"/>
                <a:gd name="T32" fmla="*/ 5 w 176"/>
                <a:gd name="T33" fmla="*/ 113 h 137"/>
                <a:gd name="T34" fmla="*/ 10 w 176"/>
                <a:gd name="T35" fmla="*/ 119 h 137"/>
                <a:gd name="T36" fmla="*/ 12 w 176"/>
                <a:gd name="T37" fmla="*/ 124 h 137"/>
                <a:gd name="T38" fmla="*/ 17 w 176"/>
                <a:gd name="T39" fmla="*/ 128 h 137"/>
                <a:gd name="T40" fmla="*/ 22 w 176"/>
                <a:gd name="T41" fmla="*/ 127 h 137"/>
                <a:gd name="T42" fmla="*/ 23 w 176"/>
                <a:gd name="T43" fmla="*/ 133 h 137"/>
                <a:gd name="T44" fmla="*/ 28 w 176"/>
                <a:gd name="T45" fmla="*/ 135 h 137"/>
                <a:gd name="T46" fmla="*/ 32 w 176"/>
                <a:gd name="T47" fmla="*/ 130 h 137"/>
                <a:gd name="T48" fmla="*/ 35 w 176"/>
                <a:gd name="T49" fmla="*/ 135 h 137"/>
                <a:gd name="T50" fmla="*/ 40 w 176"/>
                <a:gd name="T51" fmla="*/ 133 h 137"/>
                <a:gd name="T52" fmla="*/ 45 w 176"/>
                <a:gd name="T53" fmla="*/ 125 h 137"/>
                <a:gd name="T54" fmla="*/ 48 w 176"/>
                <a:gd name="T55" fmla="*/ 116 h 137"/>
                <a:gd name="T56" fmla="*/ 58 w 176"/>
                <a:gd name="T57" fmla="*/ 116 h 137"/>
                <a:gd name="T58" fmla="*/ 65 w 176"/>
                <a:gd name="T59" fmla="*/ 114 h 137"/>
                <a:gd name="T60" fmla="*/ 74 w 176"/>
                <a:gd name="T61" fmla="*/ 117 h 137"/>
                <a:gd name="T62" fmla="*/ 80 w 176"/>
                <a:gd name="T63" fmla="*/ 123 h 137"/>
                <a:gd name="T64" fmla="*/ 89 w 176"/>
                <a:gd name="T65" fmla="*/ 120 h 137"/>
                <a:gd name="T66" fmla="*/ 98 w 176"/>
                <a:gd name="T67" fmla="*/ 125 h 137"/>
                <a:gd name="T68" fmla="*/ 109 w 176"/>
                <a:gd name="T69" fmla="*/ 125 h 137"/>
                <a:gd name="T70" fmla="*/ 117 w 176"/>
                <a:gd name="T71" fmla="*/ 119 h 137"/>
                <a:gd name="T72" fmla="*/ 132 w 176"/>
                <a:gd name="T73" fmla="*/ 120 h 137"/>
                <a:gd name="T74" fmla="*/ 141 w 176"/>
                <a:gd name="T75" fmla="*/ 122 h 137"/>
                <a:gd name="T76" fmla="*/ 149 w 176"/>
                <a:gd name="T77" fmla="*/ 115 h 137"/>
                <a:gd name="T78" fmla="*/ 151 w 176"/>
                <a:gd name="T79" fmla="*/ 114 h 137"/>
                <a:gd name="T80" fmla="*/ 151 w 176"/>
                <a:gd name="T81" fmla="*/ 111 h 137"/>
                <a:gd name="T82" fmla="*/ 153 w 176"/>
                <a:gd name="T83" fmla="*/ 101 h 137"/>
                <a:gd name="T84" fmla="*/ 171 w 176"/>
                <a:gd name="T85" fmla="*/ 79 h 137"/>
                <a:gd name="T86" fmla="*/ 172 w 176"/>
                <a:gd name="T87" fmla="*/ 51 h 137"/>
                <a:gd name="T88" fmla="*/ 174 w 176"/>
                <a:gd name="T89" fmla="*/ 39 h 137"/>
                <a:gd name="T90" fmla="*/ 172 w 176"/>
                <a:gd name="T91" fmla="*/ 30 h 137"/>
                <a:gd name="T92" fmla="*/ 168 w 176"/>
                <a:gd name="T93" fmla="*/ 20 h 13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6"/>
                <a:gd name="T142" fmla="*/ 0 h 137"/>
                <a:gd name="T143" fmla="*/ 176 w 176"/>
                <a:gd name="T144" fmla="*/ 137 h 13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6" h="137">
                  <a:moveTo>
                    <a:pt x="168" y="20"/>
                  </a:moveTo>
                  <a:cubicBezTo>
                    <a:pt x="168" y="18"/>
                    <a:pt x="167" y="11"/>
                    <a:pt x="167" y="5"/>
                  </a:cubicBezTo>
                  <a:cubicBezTo>
                    <a:pt x="158" y="10"/>
                    <a:pt x="158" y="10"/>
                    <a:pt x="158" y="10"/>
                  </a:cubicBezTo>
                  <a:cubicBezTo>
                    <a:pt x="158" y="10"/>
                    <a:pt x="156" y="6"/>
                    <a:pt x="151" y="3"/>
                  </a:cubicBezTo>
                  <a:cubicBezTo>
                    <a:pt x="146" y="0"/>
                    <a:pt x="134" y="0"/>
                    <a:pt x="134" y="0"/>
                  </a:cubicBezTo>
                  <a:cubicBezTo>
                    <a:pt x="86" y="30"/>
                    <a:pt x="86" y="30"/>
                    <a:pt x="86" y="30"/>
                  </a:cubicBezTo>
                  <a:cubicBezTo>
                    <a:pt x="65" y="46"/>
                    <a:pt x="65" y="46"/>
                    <a:pt x="65" y="46"/>
                  </a:cubicBezTo>
                  <a:cubicBezTo>
                    <a:pt x="65" y="46"/>
                    <a:pt x="52" y="51"/>
                    <a:pt x="48" y="52"/>
                  </a:cubicBezTo>
                  <a:cubicBezTo>
                    <a:pt x="47" y="52"/>
                    <a:pt x="47" y="52"/>
                    <a:pt x="46" y="52"/>
                  </a:cubicBezTo>
                  <a:cubicBezTo>
                    <a:pt x="47" y="60"/>
                    <a:pt x="47" y="81"/>
                    <a:pt x="46" y="82"/>
                  </a:cubicBezTo>
                  <a:cubicBezTo>
                    <a:pt x="44" y="83"/>
                    <a:pt x="43" y="89"/>
                    <a:pt x="42" y="91"/>
                  </a:cubicBezTo>
                  <a:cubicBezTo>
                    <a:pt x="41" y="92"/>
                    <a:pt x="39" y="96"/>
                    <a:pt x="35" y="96"/>
                  </a:cubicBezTo>
                  <a:cubicBezTo>
                    <a:pt x="31" y="96"/>
                    <a:pt x="21" y="98"/>
                    <a:pt x="17" y="97"/>
                  </a:cubicBezTo>
                  <a:cubicBezTo>
                    <a:pt x="13" y="97"/>
                    <a:pt x="10" y="100"/>
                    <a:pt x="8" y="100"/>
                  </a:cubicBezTo>
                  <a:cubicBezTo>
                    <a:pt x="8" y="101"/>
                    <a:pt x="4" y="101"/>
                    <a:pt x="1" y="101"/>
                  </a:cubicBezTo>
                  <a:cubicBezTo>
                    <a:pt x="1" y="103"/>
                    <a:pt x="0" y="106"/>
                    <a:pt x="1" y="107"/>
                  </a:cubicBezTo>
                  <a:cubicBezTo>
                    <a:pt x="2" y="108"/>
                    <a:pt x="3" y="112"/>
                    <a:pt x="5" y="113"/>
                  </a:cubicBezTo>
                  <a:cubicBezTo>
                    <a:pt x="7" y="115"/>
                    <a:pt x="10" y="117"/>
                    <a:pt x="10" y="119"/>
                  </a:cubicBezTo>
                  <a:cubicBezTo>
                    <a:pt x="10" y="122"/>
                    <a:pt x="10" y="124"/>
                    <a:pt x="12" y="124"/>
                  </a:cubicBezTo>
                  <a:cubicBezTo>
                    <a:pt x="14" y="124"/>
                    <a:pt x="15" y="127"/>
                    <a:pt x="17" y="128"/>
                  </a:cubicBezTo>
                  <a:cubicBezTo>
                    <a:pt x="19" y="128"/>
                    <a:pt x="22" y="126"/>
                    <a:pt x="22" y="127"/>
                  </a:cubicBezTo>
                  <a:cubicBezTo>
                    <a:pt x="23" y="128"/>
                    <a:pt x="22" y="133"/>
                    <a:pt x="23" y="133"/>
                  </a:cubicBezTo>
                  <a:cubicBezTo>
                    <a:pt x="24" y="133"/>
                    <a:pt x="26" y="133"/>
                    <a:pt x="28" y="135"/>
                  </a:cubicBezTo>
                  <a:cubicBezTo>
                    <a:pt x="27" y="132"/>
                    <a:pt x="28" y="129"/>
                    <a:pt x="32" y="130"/>
                  </a:cubicBezTo>
                  <a:cubicBezTo>
                    <a:pt x="35" y="131"/>
                    <a:pt x="32" y="134"/>
                    <a:pt x="35" y="135"/>
                  </a:cubicBezTo>
                  <a:cubicBezTo>
                    <a:pt x="38" y="137"/>
                    <a:pt x="40" y="136"/>
                    <a:pt x="40" y="133"/>
                  </a:cubicBezTo>
                  <a:cubicBezTo>
                    <a:pt x="40" y="131"/>
                    <a:pt x="44" y="126"/>
                    <a:pt x="45" y="125"/>
                  </a:cubicBezTo>
                  <a:cubicBezTo>
                    <a:pt x="46" y="124"/>
                    <a:pt x="46" y="118"/>
                    <a:pt x="48" y="116"/>
                  </a:cubicBezTo>
                  <a:cubicBezTo>
                    <a:pt x="50" y="115"/>
                    <a:pt x="56" y="116"/>
                    <a:pt x="58" y="116"/>
                  </a:cubicBezTo>
                  <a:cubicBezTo>
                    <a:pt x="60" y="117"/>
                    <a:pt x="62" y="112"/>
                    <a:pt x="65" y="114"/>
                  </a:cubicBezTo>
                  <a:cubicBezTo>
                    <a:pt x="67" y="116"/>
                    <a:pt x="72" y="114"/>
                    <a:pt x="74" y="117"/>
                  </a:cubicBezTo>
                  <a:cubicBezTo>
                    <a:pt x="76" y="119"/>
                    <a:pt x="77" y="125"/>
                    <a:pt x="80" y="123"/>
                  </a:cubicBezTo>
                  <a:cubicBezTo>
                    <a:pt x="83" y="121"/>
                    <a:pt x="87" y="120"/>
                    <a:pt x="89" y="120"/>
                  </a:cubicBezTo>
                  <a:cubicBezTo>
                    <a:pt x="91" y="120"/>
                    <a:pt x="96" y="124"/>
                    <a:pt x="98" y="125"/>
                  </a:cubicBezTo>
                  <a:cubicBezTo>
                    <a:pt x="100" y="125"/>
                    <a:pt x="107" y="126"/>
                    <a:pt x="109" y="125"/>
                  </a:cubicBezTo>
                  <a:cubicBezTo>
                    <a:pt x="111" y="123"/>
                    <a:pt x="114" y="119"/>
                    <a:pt x="117" y="119"/>
                  </a:cubicBezTo>
                  <a:cubicBezTo>
                    <a:pt x="120" y="120"/>
                    <a:pt x="130" y="119"/>
                    <a:pt x="132" y="120"/>
                  </a:cubicBezTo>
                  <a:cubicBezTo>
                    <a:pt x="134" y="121"/>
                    <a:pt x="138" y="123"/>
                    <a:pt x="141" y="122"/>
                  </a:cubicBezTo>
                  <a:cubicBezTo>
                    <a:pt x="144" y="121"/>
                    <a:pt x="147" y="115"/>
                    <a:pt x="149" y="115"/>
                  </a:cubicBezTo>
                  <a:cubicBezTo>
                    <a:pt x="150" y="114"/>
                    <a:pt x="150" y="114"/>
                    <a:pt x="151" y="114"/>
                  </a:cubicBezTo>
                  <a:cubicBezTo>
                    <a:pt x="151" y="113"/>
                    <a:pt x="151" y="112"/>
                    <a:pt x="151" y="111"/>
                  </a:cubicBezTo>
                  <a:cubicBezTo>
                    <a:pt x="151" y="105"/>
                    <a:pt x="152" y="107"/>
                    <a:pt x="153" y="101"/>
                  </a:cubicBezTo>
                  <a:cubicBezTo>
                    <a:pt x="154" y="95"/>
                    <a:pt x="170" y="80"/>
                    <a:pt x="171" y="79"/>
                  </a:cubicBezTo>
                  <a:cubicBezTo>
                    <a:pt x="172" y="78"/>
                    <a:pt x="172" y="54"/>
                    <a:pt x="172" y="51"/>
                  </a:cubicBezTo>
                  <a:cubicBezTo>
                    <a:pt x="172" y="47"/>
                    <a:pt x="173" y="43"/>
                    <a:pt x="174" y="39"/>
                  </a:cubicBezTo>
                  <a:cubicBezTo>
                    <a:pt x="176" y="34"/>
                    <a:pt x="172" y="34"/>
                    <a:pt x="172" y="30"/>
                  </a:cubicBezTo>
                  <a:cubicBezTo>
                    <a:pt x="173" y="26"/>
                    <a:pt x="168" y="22"/>
                    <a:pt x="168" y="2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0" name="Freeform 36"/>
            <p:cNvSpPr>
              <a:spLocks noChangeArrowheads="1"/>
            </p:cNvSpPr>
            <p:nvPr/>
          </p:nvSpPr>
          <p:spPr bwMode="auto">
            <a:xfrm>
              <a:off x="3940188" y="1952627"/>
              <a:ext cx="215901" cy="357188"/>
            </a:xfrm>
            <a:custGeom>
              <a:avLst/>
              <a:gdLst>
                <a:gd name="T0" fmla="*/ 112 w 113"/>
                <a:gd name="T1" fmla="*/ 46 h 187"/>
                <a:gd name="T2" fmla="*/ 26 w 113"/>
                <a:gd name="T3" fmla="*/ 0 h 187"/>
                <a:gd name="T4" fmla="*/ 16 w 113"/>
                <a:gd name="T5" fmla="*/ 5 h 187"/>
                <a:gd name="T6" fmla="*/ 17 w 113"/>
                <a:gd name="T7" fmla="*/ 20 h 187"/>
                <a:gd name="T8" fmla="*/ 21 w 113"/>
                <a:gd name="T9" fmla="*/ 30 h 187"/>
                <a:gd name="T10" fmla="*/ 23 w 113"/>
                <a:gd name="T11" fmla="*/ 39 h 187"/>
                <a:gd name="T12" fmla="*/ 21 w 113"/>
                <a:gd name="T13" fmla="*/ 51 h 187"/>
                <a:gd name="T14" fmla="*/ 20 w 113"/>
                <a:gd name="T15" fmla="*/ 79 h 187"/>
                <a:gd name="T16" fmla="*/ 2 w 113"/>
                <a:gd name="T17" fmla="*/ 101 h 187"/>
                <a:gd name="T18" fmla="*/ 0 w 113"/>
                <a:gd name="T19" fmla="*/ 111 h 187"/>
                <a:gd name="T20" fmla="*/ 0 w 113"/>
                <a:gd name="T21" fmla="*/ 114 h 187"/>
                <a:gd name="T22" fmla="*/ 2 w 113"/>
                <a:gd name="T23" fmla="*/ 117 h 187"/>
                <a:gd name="T24" fmla="*/ 7 w 113"/>
                <a:gd name="T25" fmla="*/ 122 h 187"/>
                <a:gd name="T26" fmla="*/ 14 w 113"/>
                <a:gd name="T27" fmla="*/ 132 h 187"/>
                <a:gd name="T28" fmla="*/ 15 w 113"/>
                <a:gd name="T29" fmla="*/ 142 h 187"/>
                <a:gd name="T30" fmla="*/ 20 w 113"/>
                <a:gd name="T31" fmla="*/ 156 h 187"/>
                <a:gd name="T32" fmla="*/ 15 w 113"/>
                <a:gd name="T33" fmla="*/ 158 h 187"/>
                <a:gd name="T34" fmla="*/ 6 w 113"/>
                <a:gd name="T35" fmla="*/ 159 h 187"/>
                <a:gd name="T36" fmla="*/ 8 w 113"/>
                <a:gd name="T37" fmla="*/ 167 h 187"/>
                <a:gd name="T38" fmla="*/ 18 w 113"/>
                <a:gd name="T39" fmla="*/ 177 h 187"/>
                <a:gd name="T40" fmla="*/ 22 w 113"/>
                <a:gd name="T41" fmla="*/ 186 h 187"/>
                <a:gd name="T42" fmla="*/ 28 w 113"/>
                <a:gd name="T43" fmla="*/ 184 h 187"/>
                <a:gd name="T44" fmla="*/ 36 w 113"/>
                <a:gd name="T45" fmla="*/ 184 h 187"/>
                <a:gd name="T46" fmla="*/ 48 w 113"/>
                <a:gd name="T47" fmla="*/ 180 h 187"/>
                <a:gd name="T48" fmla="*/ 58 w 113"/>
                <a:gd name="T49" fmla="*/ 175 h 187"/>
                <a:gd name="T50" fmla="*/ 59 w 113"/>
                <a:gd name="T51" fmla="*/ 169 h 187"/>
                <a:gd name="T52" fmla="*/ 75 w 113"/>
                <a:gd name="T53" fmla="*/ 165 h 187"/>
                <a:gd name="T54" fmla="*/ 86 w 113"/>
                <a:gd name="T55" fmla="*/ 154 h 187"/>
                <a:gd name="T56" fmla="*/ 88 w 113"/>
                <a:gd name="T57" fmla="*/ 149 h 187"/>
                <a:gd name="T58" fmla="*/ 97 w 113"/>
                <a:gd name="T59" fmla="*/ 145 h 187"/>
                <a:gd name="T60" fmla="*/ 99 w 113"/>
                <a:gd name="T61" fmla="*/ 145 h 187"/>
                <a:gd name="T62" fmla="*/ 99 w 113"/>
                <a:gd name="T63" fmla="*/ 145 h 187"/>
                <a:gd name="T64" fmla="*/ 100 w 113"/>
                <a:gd name="T65" fmla="*/ 140 h 187"/>
                <a:gd name="T66" fmla="*/ 95 w 113"/>
                <a:gd name="T67" fmla="*/ 133 h 187"/>
                <a:gd name="T68" fmla="*/ 93 w 113"/>
                <a:gd name="T69" fmla="*/ 125 h 187"/>
                <a:gd name="T70" fmla="*/ 91 w 113"/>
                <a:gd name="T71" fmla="*/ 118 h 187"/>
                <a:gd name="T72" fmla="*/ 92 w 113"/>
                <a:gd name="T73" fmla="*/ 110 h 187"/>
                <a:gd name="T74" fmla="*/ 97 w 113"/>
                <a:gd name="T75" fmla="*/ 102 h 187"/>
                <a:gd name="T76" fmla="*/ 101 w 113"/>
                <a:gd name="T77" fmla="*/ 95 h 187"/>
                <a:gd name="T78" fmla="*/ 111 w 113"/>
                <a:gd name="T79" fmla="*/ 89 h 187"/>
                <a:gd name="T80" fmla="*/ 112 w 113"/>
                <a:gd name="T81" fmla="*/ 77 h 187"/>
                <a:gd name="T82" fmla="*/ 112 w 113"/>
                <a:gd name="T83" fmla="*/ 46 h 18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13"/>
                <a:gd name="T127" fmla="*/ 0 h 187"/>
                <a:gd name="T128" fmla="*/ 113 w 113"/>
                <a:gd name="T129" fmla="*/ 187 h 18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13" h="187">
                  <a:moveTo>
                    <a:pt x="112" y="46"/>
                  </a:moveTo>
                  <a:cubicBezTo>
                    <a:pt x="26" y="0"/>
                    <a:pt x="26" y="0"/>
                    <a:pt x="26" y="0"/>
                  </a:cubicBezTo>
                  <a:cubicBezTo>
                    <a:pt x="16" y="5"/>
                    <a:pt x="16" y="5"/>
                    <a:pt x="16" y="5"/>
                  </a:cubicBezTo>
                  <a:cubicBezTo>
                    <a:pt x="16" y="11"/>
                    <a:pt x="17" y="18"/>
                    <a:pt x="17" y="20"/>
                  </a:cubicBezTo>
                  <a:cubicBezTo>
                    <a:pt x="17" y="22"/>
                    <a:pt x="22" y="26"/>
                    <a:pt x="21" y="30"/>
                  </a:cubicBezTo>
                  <a:cubicBezTo>
                    <a:pt x="21" y="34"/>
                    <a:pt x="25" y="34"/>
                    <a:pt x="23" y="39"/>
                  </a:cubicBezTo>
                  <a:cubicBezTo>
                    <a:pt x="22" y="43"/>
                    <a:pt x="21" y="47"/>
                    <a:pt x="21" y="51"/>
                  </a:cubicBezTo>
                  <a:cubicBezTo>
                    <a:pt x="21" y="54"/>
                    <a:pt x="21" y="78"/>
                    <a:pt x="20" y="79"/>
                  </a:cubicBezTo>
                  <a:cubicBezTo>
                    <a:pt x="19" y="80"/>
                    <a:pt x="3" y="95"/>
                    <a:pt x="2" y="101"/>
                  </a:cubicBezTo>
                  <a:cubicBezTo>
                    <a:pt x="1" y="107"/>
                    <a:pt x="0" y="105"/>
                    <a:pt x="0" y="111"/>
                  </a:cubicBezTo>
                  <a:cubicBezTo>
                    <a:pt x="0" y="112"/>
                    <a:pt x="0" y="113"/>
                    <a:pt x="0" y="114"/>
                  </a:cubicBezTo>
                  <a:cubicBezTo>
                    <a:pt x="0" y="115"/>
                    <a:pt x="1" y="116"/>
                    <a:pt x="2" y="117"/>
                  </a:cubicBezTo>
                  <a:cubicBezTo>
                    <a:pt x="4" y="119"/>
                    <a:pt x="4" y="122"/>
                    <a:pt x="7" y="122"/>
                  </a:cubicBezTo>
                  <a:cubicBezTo>
                    <a:pt x="10" y="122"/>
                    <a:pt x="14" y="129"/>
                    <a:pt x="14" y="132"/>
                  </a:cubicBezTo>
                  <a:cubicBezTo>
                    <a:pt x="14" y="135"/>
                    <a:pt x="16" y="137"/>
                    <a:pt x="15" y="142"/>
                  </a:cubicBezTo>
                  <a:cubicBezTo>
                    <a:pt x="15" y="148"/>
                    <a:pt x="18" y="155"/>
                    <a:pt x="20" y="156"/>
                  </a:cubicBezTo>
                  <a:cubicBezTo>
                    <a:pt x="22" y="157"/>
                    <a:pt x="19" y="158"/>
                    <a:pt x="15" y="158"/>
                  </a:cubicBezTo>
                  <a:cubicBezTo>
                    <a:pt x="11" y="158"/>
                    <a:pt x="6" y="158"/>
                    <a:pt x="6" y="159"/>
                  </a:cubicBezTo>
                  <a:cubicBezTo>
                    <a:pt x="6" y="161"/>
                    <a:pt x="4" y="163"/>
                    <a:pt x="8" y="167"/>
                  </a:cubicBezTo>
                  <a:cubicBezTo>
                    <a:pt x="13" y="171"/>
                    <a:pt x="16" y="173"/>
                    <a:pt x="18" y="177"/>
                  </a:cubicBezTo>
                  <a:cubicBezTo>
                    <a:pt x="19" y="181"/>
                    <a:pt x="21" y="185"/>
                    <a:pt x="22" y="186"/>
                  </a:cubicBezTo>
                  <a:cubicBezTo>
                    <a:pt x="23" y="187"/>
                    <a:pt x="26" y="187"/>
                    <a:pt x="28" y="184"/>
                  </a:cubicBezTo>
                  <a:cubicBezTo>
                    <a:pt x="31" y="180"/>
                    <a:pt x="33" y="187"/>
                    <a:pt x="36" y="184"/>
                  </a:cubicBezTo>
                  <a:cubicBezTo>
                    <a:pt x="38" y="181"/>
                    <a:pt x="46" y="181"/>
                    <a:pt x="48" y="180"/>
                  </a:cubicBezTo>
                  <a:cubicBezTo>
                    <a:pt x="50" y="179"/>
                    <a:pt x="56" y="176"/>
                    <a:pt x="58" y="175"/>
                  </a:cubicBezTo>
                  <a:cubicBezTo>
                    <a:pt x="60" y="173"/>
                    <a:pt x="56" y="170"/>
                    <a:pt x="59" y="169"/>
                  </a:cubicBezTo>
                  <a:cubicBezTo>
                    <a:pt x="62" y="167"/>
                    <a:pt x="71" y="170"/>
                    <a:pt x="75" y="165"/>
                  </a:cubicBezTo>
                  <a:cubicBezTo>
                    <a:pt x="78" y="161"/>
                    <a:pt x="84" y="156"/>
                    <a:pt x="86" y="154"/>
                  </a:cubicBezTo>
                  <a:cubicBezTo>
                    <a:pt x="87" y="152"/>
                    <a:pt x="86" y="151"/>
                    <a:pt x="88" y="149"/>
                  </a:cubicBezTo>
                  <a:cubicBezTo>
                    <a:pt x="90" y="146"/>
                    <a:pt x="95" y="144"/>
                    <a:pt x="97" y="145"/>
                  </a:cubicBezTo>
                  <a:cubicBezTo>
                    <a:pt x="98" y="145"/>
                    <a:pt x="99" y="145"/>
                    <a:pt x="99" y="145"/>
                  </a:cubicBezTo>
                  <a:cubicBezTo>
                    <a:pt x="99" y="145"/>
                    <a:pt x="99" y="145"/>
                    <a:pt x="99" y="145"/>
                  </a:cubicBezTo>
                  <a:cubicBezTo>
                    <a:pt x="100" y="140"/>
                    <a:pt x="100" y="140"/>
                    <a:pt x="100" y="140"/>
                  </a:cubicBezTo>
                  <a:cubicBezTo>
                    <a:pt x="100" y="140"/>
                    <a:pt x="95" y="137"/>
                    <a:pt x="95" y="133"/>
                  </a:cubicBezTo>
                  <a:cubicBezTo>
                    <a:pt x="95" y="129"/>
                    <a:pt x="96" y="125"/>
                    <a:pt x="93" y="125"/>
                  </a:cubicBezTo>
                  <a:cubicBezTo>
                    <a:pt x="89" y="125"/>
                    <a:pt x="89" y="121"/>
                    <a:pt x="91" y="118"/>
                  </a:cubicBezTo>
                  <a:cubicBezTo>
                    <a:pt x="94" y="116"/>
                    <a:pt x="87" y="110"/>
                    <a:pt x="92" y="110"/>
                  </a:cubicBezTo>
                  <a:cubicBezTo>
                    <a:pt x="97" y="110"/>
                    <a:pt x="93" y="102"/>
                    <a:pt x="97" y="102"/>
                  </a:cubicBezTo>
                  <a:cubicBezTo>
                    <a:pt x="100" y="101"/>
                    <a:pt x="101" y="98"/>
                    <a:pt x="101" y="95"/>
                  </a:cubicBezTo>
                  <a:cubicBezTo>
                    <a:pt x="101" y="91"/>
                    <a:pt x="109" y="89"/>
                    <a:pt x="111" y="89"/>
                  </a:cubicBezTo>
                  <a:cubicBezTo>
                    <a:pt x="113" y="88"/>
                    <a:pt x="112" y="77"/>
                    <a:pt x="112" y="77"/>
                  </a:cubicBezTo>
                  <a:lnTo>
                    <a:pt x="112" y="46"/>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1" name="Freeform 37"/>
            <p:cNvSpPr>
              <a:spLocks noChangeArrowheads="1"/>
            </p:cNvSpPr>
            <p:nvPr/>
          </p:nvSpPr>
          <p:spPr bwMode="auto">
            <a:xfrm>
              <a:off x="4167202" y="1754189"/>
              <a:ext cx="236538" cy="234950"/>
            </a:xfrm>
            <a:custGeom>
              <a:avLst/>
              <a:gdLst>
                <a:gd name="T0" fmla="*/ 115 w 124"/>
                <a:gd name="T1" fmla="*/ 27 h 123"/>
                <a:gd name="T2" fmla="*/ 107 w 124"/>
                <a:gd name="T3" fmla="*/ 7 h 123"/>
                <a:gd name="T4" fmla="*/ 106 w 124"/>
                <a:gd name="T5" fmla="*/ 9 h 123"/>
                <a:gd name="T6" fmla="*/ 94 w 124"/>
                <a:gd name="T7" fmla="*/ 8 h 123"/>
                <a:gd name="T8" fmla="*/ 80 w 124"/>
                <a:gd name="T9" fmla="*/ 5 h 123"/>
                <a:gd name="T10" fmla="*/ 56 w 124"/>
                <a:gd name="T11" fmla="*/ 9 h 123"/>
                <a:gd name="T12" fmla="*/ 44 w 124"/>
                <a:gd name="T13" fmla="*/ 10 h 123"/>
                <a:gd name="T14" fmla="*/ 23 w 124"/>
                <a:gd name="T15" fmla="*/ 4 h 123"/>
                <a:gd name="T16" fmla="*/ 6 w 124"/>
                <a:gd name="T17" fmla="*/ 0 h 123"/>
                <a:gd name="T18" fmla="*/ 5 w 124"/>
                <a:gd name="T19" fmla="*/ 3 h 123"/>
                <a:gd name="T20" fmla="*/ 4 w 124"/>
                <a:gd name="T21" fmla="*/ 17 h 123"/>
                <a:gd name="T22" fmla="*/ 4 w 124"/>
                <a:gd name="T23" fmla="*/ 33 h 123"/>
                <a:gd name="T24" fmla="*/ 4 w 124"/>
                <a:gd name="T25" fmla="*/ 120 h 123"/>
                <a:gd name="T26" fmla="*/ 72 w 124"/>
                <a:gd name="T27" fmla="*/ 120 h 123"/>
                <a:gd name="T28" fmla="*/ 76 w 124"/>
                <a:gd name="T29" fmla="*/ 118 h 123"/>
                <a:gd name="T30" fmla="*/ 82 w 124"/>
                <a:gd name="T31" fmla="*/ 120 h 123"/>
                <a:gd name="T32" fmla="*/ 96 w 124"/>
                <a:gd name="T33" fmla="*/ 120 h 123"/>
                <a:gd name="T34" fmla="*/ 102 w 124"/>
                <a:gd name="T35" fmla="*/ 123 h 123"/>
                <a:gd name="T36" fmla="*/ 109 w 124"/>
                <a:gd name="T37" fmla="*/ 118 h 123"/>
                <a:gd name="T38" fmla="*/ 116 w 124"/>
                <a:gd name="T39" fmla="*/ 110 h 123"/>
                <a:gd name="T40" fmla="*/ 122 w 124"/>
                <a:gd name="T41" fmla="*/ 106 h 123"/>
                <a:gd name="T42" fmla="*/ 123 w 124"/>
                <a:gd name="T43" fmla="*/ 105 h 123"/>
                <a:gd name="T44" fmla="*/ 123 w 124"/>
                <a:gd name="T45" fmla="*/ 101 h 123"/>
                <a:gd name="T46" fmla="*/ 118 w 124"/>
                <a:gd name="T47" fmla="*/ 88 h 123"/>
                <a:gd name="T48" fmla="*/ 106 w 124"/>
                <a:gd name="T49" fmla="*/ 65 h 123"/>
                <a:gd name="T50" fmla="*/ 100 w 124"/>
                <a:gd name="T51" fmla="*/ 54 h 123"/>
                <a:gd name="T52" fmla="*/ 93 w 124"/>
                <a:gd name="T53" fmla="*/ 41 h 123"/>
                <a:gd name="T54" fmla="*/ 87 w 124"/>
                <a:gd name="T55" fmla="*/ 20 h 123"/>
                <a:gd name="T56" fmla="*/ 95 w 124"/>
                <a:gd name="T57" fmla="*/ 35 h 123"/>
                <a:gd name="T58" fmla="*/ 106 w 124"/>
                <a:gd name="T59" fmla="*/ 50 h 123"/>
                <a:gd name="T60" fmla="*/ 113 w 124"/>
                <a:gd name="T61" fmla="*/ 34 h 123"/>
                <a:gd name="T62" fmla="*/ 113 w 124"/>
                <a:gd name="T63" fmla="*/ 34 h 123"/>
                <a:gd name="T64" fmla="*/ 114 w 124"/>
                <a:gd name="T65" fmla="*/ 31 h 123"/>
                <a:gd name="T66" fmla="*/ 115 w 124"/>
                <a:gd name="T67" fmla="*/ 27 h 1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24"/>
                <a:gd name="T103" fmla="*/ 0 h 123"/>
                <a:gd name="T104" fmla="*/ 124 w 124"/>
                <a:gd name="T105" fmla="*/ 123 h 1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24" h="123">
                  <a:moveTo>
                    <a:pt x="115" y="27"/>
                  </a:moveTo>
                  <a:cubicBezTo>
                    <a:pt x="107" y="7"/>
                    <a:pt x="107" y="7"/>
                    <a:pt x="107" y="7"/>
                  </a:cubicBezTo>
                  <a:cubicBezTo>
                    <a:pt x="107" y="8"/>
                    <a:pt x="106" y="8"/>
                    <a:pt x="106" y="9"/>
                  </a:cubicBezTo>
                  <a:cubicBezTo>
                    <a:pt x="105" y="10"/>
                    <a:pt x="99" y="7"/>
                    <a:pt x="94" y="8"/>
                  </a:cubicBezTo>
                  <a:cubicBezTo>
                    <a:pt x="89" y="9"/>
                    <a:pt x="85" y="7"/>
                    <a:pt x="80" y="5"/>
                  </a:cubicBezTo>
                  <a:cubicBezTo>
                    <a:pt x="75" y="2"/>
                    <a:pt x="59" y="6"/>
                    <a:pt x="56" y="9"/>
                  </a:cubicBezTo>
                  <a:cubicBezTo>
                    <a:pt x="54" y="12"/>
                    <a:pt x="49" y="12"/>
                    <a:pt x="44" y="10"/>
                  </a:cubicBezTo>
                  <a:cubicBezTo>
                    <a:pt x="39" y="8"/>
                    <a:pt x="32" y="5"/>
                    <a:pt x="23" y="4"/>
                  </a:cubicBezTo>
                  <a:cubicBezTo>
                    <a:pt x="14" y="3"/>
                    <a:pt x="8" y="2"/>
                    <a:pt x="6" y="0"/>
                  </a:cubicBezTo>
                  <a:cubicBezTo>
                    <a:pt x="6" y="1"/>
                    <a:pt x="5" y="2"/>
                    <a:pt x="5" y="3"/>
                  </a:cubicBezTo>
                  <a:cubicBezTo>
                    <a:pt x="2" y="10"/>
                    <a:pt x="7" y="12"/>
                    <a:pt x="4" y="17"/>
                  </a:cubicBezTo>
                  <a:cubicBezTo>
                    <a:pt x="0" y="21"/>
                    <a:pt x="4" y="26"/>
                    <a:pt x="4" y="33"/>
                  </a:cubicBezTo>
                  <a:cubicBezTo>
                    <a:pt x="4" y="39"/>
                    <a:pt x="4" y="89"/>
                    <a:pt x="4" y="120"/>
                  </a:cubicBezTo>
                  <a:cubicBezTo>
                    <a:pt x="72" y="120"/>
                    <a:pt x="72" y="120"/>
                    <a:pt x="72" y="120"/>
                  </a:cubicBezTo>
                  <a:cubicBezTo>
                    <a:pt x="72" y="120"/>
                    <a:pt x="74" y="119"/>
                    <a:pt x="76" y="118"/>
                  </a:cubicBezTo>
                  <a:cubicBezTo>
                    <a:pt x="78" y="116"/>
                    <a:pt x="82" y="120"/>
                    <a:pt x="82" y="120"/>
                  </a:cubicBezTo>
                  <a:cubicBezTo>
                    <a:pt x="96" y="120"/>
                    <a:pt x="96" y="120"/>
                    <a:pt x="96" y="120"/>
                  </a:cubicBezTo>
                  <a:cubicBezTo>
                    <a:pt x="96" y="120"/>
                    <a:pt x="99" y="123"/>
                    <a:pt x="102" y="123"/>
                  </a:cubicBezTo>
                  <a:cubicBezTo>
                    <a:pt x="106" y="123"/>
                    <a:pt x="104" y="118"/>
                    <a:pt x="109" y="118"/>
                  </a:cubicBezTo>
                  <a:cubicBezTo>
                    <a:pt x="114" y="118"/>
                    <a:pt x="113" y="110"/>
                    <a:pt x="116" y="110"/>
                  </a:cubicBezTo>
                  <a:cubicBezTo>
                    <a:pt x="120" y="110"/>
                    <a:pt x="119" y="110"/>
                    <a:pt x="122" y="106"/>
                  </a:cubicBezTo>
                  <a:cubicBezTo>
                    <a:pt x="122" y="105"/>
                    <a:pt x="123" y="105"/>
                    <a:pt x="123" y="105"/>
                  </a:cubicBezTo>
                  <a:cubicBezTo>
                    <a:pt x="122" y="104"/>
                    <a:pt x="122" y="102"/>
                    <a:pt x="123" y="101"/>
                  </a:cubicBezTo>
                  <a:cubicBezTo>
                    <a:pt x="124" y="95"/>
                    <a:pt x="120" y="96"/>
                    <a:pt x="118" y="88"/>
                  </a:cubicBezTo>
                  <a:cubicBezTo>
                    <a:pt x="115" y="81"/>
                    <a:pt x="106" y="69"/>
                    <a:pt x="106" y="65"/>
                  </a:cubicBezTo>
                  <a:cubicBezTo>
                    <a:pt x="105" y="61"/>
                    <a:pt x="100" y="58"/>
                    <a:pt x="100" y="54"/>
                  </a:cubicBezTo>
                  <a:cubicBezTo>
                    <a:pt x="100" y="49"/>
                    <a:pt x="98" y="48"/>
                    <a:pt x="93" y="41"/>
                  </a:cubicBezTo>
                  <a:cubicBezTo>
                    <a:pt x="87" y="34"/>
                    <a:pt x="86" y="21"/>
                    <a:pt x="87" y="20"/>
                  </a:cubicBezTo>
                  <a:cubicBezTo>
                    <a:pt x="89" y="20"/>
                    <a:pt x="93" y="31"/>
                    <a:pt x="95" y="35"/>
                  </a:cubicBezTo>
                  <a:cubicBezTo>
                    <a:pt x="97" y="39"/>
                    <a:pt x="102" y="50"/>
                    <a:pt x="106" y="50"/>
                  </a:cubicBezTo>
                  <a:cubicBezTo>
                    <a:pt x="110" y="50"/>
                    <a:pt x="112" y="33"/>
                    <a:pt x="113" y="34"/>
                  </a:cubicBezTo>
                  <a:cubicBezTo>
                    <a:pt x="113" y="34"/>
                    <a:pt x="113" y="34"/>
                    <a:pt x="113" y="34"/>
                  </a:cubicBezTo>
                  <a:cubicBezTo>
                    <a:pt x="114" y="31"/>
                    <a:pt x="114" y="31"/>
                    <a:pt x="114" y="31"/>
                  </a:cubicBezTo>
                  <a:lnTo>
                    <a:pt x="115" y="27"/>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2" name="Freeform 38"/>
            <p:cNvSpPr>
              <a:spLocks noChangeArrowheads="1"/>
            </p:cNvSpPr>
            <p:nvPr/>
          </p:nvSpPr>
          <p:spPr bwMode="auto">
            <a:xfrm>
              <a:off x="3837001" y="2420940"/>
              <a:ext cx="122239" cy="134938"/>
            </a:xfrm>
            <a:custGeom>
              <a:avLst/>
              <a:gdLst>
                <a:gd name="T0" fmla="*/ 32 w 64"/>
                <a:gd name="T1" fmla="*/ 67 h 71"/>
                <a:gd name="T2" fmla="*/ 34 w 64"/>
                <a:gd name="T3" fmla="*/ 58 h 71"/>
                <a:gd name="T4" fmla="*/ 41 w 64"/>
                <a:gd name="T5" fmla="*/ 53 h 71"/>
                <a:gd name="T6" fmla="*/ 45 w 64"/>
                <a:gd name="T7" fmla="*/ 47 h 71"/>
                <a:gd name="T8" fmla="*/ 52 w 64"/>
                <a:gd name="T9" fmla="*/ 54 h 71"/>
                <a:gd name="T10" fmla="*/ 60 w 64"/>
                <a:gd name="T11" fmla="*/ 56 h 71"/>
                <a:gd name="T12" fmla="*/ 64 w 64"/>
                <a:gd name="T13" fmla="*/ 42 h 71"/>
                <a:gd name="T14" fmla="*/ 61 w 64"/>
                <a:gd name="T15" fmla="*/ 30 h 71"/>
                <a:gd name="T16" fmla="*/ 59 w 64"/>
                <a:gd name="T17" fmla="*/ 21 h 71"/>
                <a:gd name="T18" fmla="*/ 60 w 64"/>
                <a:gd name="T19" fmla="*/ 12 h 71"/>
                <a:gd name="T20" fmla="*/ 49 w 64"/>
                <a:gd name="T21" fmla="*/ 12 h 71"/>
                <a:gd name="T22" fmla="*/ 50 w 64"/>
                <a:gd name="T23" fmla="*/ 1 h 71"/>
                <a:gd name="T24" fmla="*/ 33 w 64"/>
                <a:gd name="T25" fmla="*/ 0 h 71"/>
                <a:gd name="T26" fmla="*/ 31 w 64"/>
                <a:gd name="T27" fmla="*/ 1 h 71"/>
                <a:gd name="T28" fmla="*/ 31 w 64"/>
                <a:gd name="T29" fmla="*/ 15 h 71"/>
                <a:gd name="T30" fmla="*/ 15 w 64"/>
                <a:gd name="T31" fmla="*/ 16 h 71"/>
                <a:gd name="T32" fmla="*/ 10 w 64"/>
                <a:gd name="T33" fmla="*/ 16 h 71"/>
                <a:gd name="T34" fmla="*/ 8 w 64"/>
                <a:gd name="T35" fmla="*/ 19 h 71"/>
                <a:gd name="T36" fmla="*/ 13 w 64"/>
                <a:gd name="T37" fmla="*/ 25 h 71"/>
                <a:gd name="T38" fmla="*/ 7 w 64"/>
                <a:gd name="T39" fmla="*/ 29 h 71"/>
                <a:gd name="T40" fmla="*/ 2 w 64"/>
                <a:gd name="T41" fmla="*/ 36 h 71"/>
                <a:gd name="T42" fmla="*/ 8 w 64"/>
                <a:gd name="T43" fmla="*/ 46 h 71"/>
                <a:gd name="T44" fmla="*/ 16 w 64"/>
                <a:gd name="T45" fmla="*/ 57 h 71"/>
                <a:gd name="T46" fmla="*/ 27 w 64"/>
                <a:gd name="T47" fmla="*/ 71 h 71"/>
                <a:gd name="T48" fmla="*/ 32 w 64"/>
                <a:gd name="T49" fmla="*/ 67 h 7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4"/>
                <a:gd name="T76" fmla="*/ 0 h 71"/>
                <a:gd name="T77" fmla="*/ 64 w 64"/>
                <a:gd name="T78" fmla="*/ 71 h 7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4" h="71">
                  <a:moveTo>
                    <a:pt x="32" y="67"/>
                  </a:moveTo>
                  <a:cubicBezTo>
                    <a:pt x="38" y="67"/>
                    <a:pt x="36" y="64"/>
                    <a:pt x="34" y="58"/>
                  </a:cubicBezTo>
                  <a:cubicBezTo>
                    <a:pt x="32" y="53"/>
                    <a:pt x="37" y="53"/>
                    <a:pt x="41" y="53"/>
                  </a:cubicBezTo>
                  <a:cubicBezTo>
                    <a:pt x="44" y="53"/>
                    <a:pt x="43" y="47"/>
                    <a:pt x="45" y="47"/>
                  </a:cubicBezTo>
                  <a:cubicBezTo>
                    <a:pt x="48" y="47"/>
                    <a:pt x="49" y="55"/>
                    <a:pt x="52" y="54"/>
                  </a:cubicBezTo>
                  <a:cubicBezTo>
                    <a:pt x="55" y="53"/>
                    <a:pt x="57" y="56"/>
                    <a:pt x="60" y="56"/>
                  </a:cubicBezTo>
                  <a:cubicBezTo>
                    <a:pt x="64" y="55"/>
                    <a:pt x="64" y="48"/>
                    <a:pt x="64" y="42"/>
                  </a:cubicBezTo>
                  <a:cubicBezTo>
                    <a:pt x="64" y="37"/>
                    <a:pt x="64" y="33"/>
                    <a:pt x="61" y="30"/>
                  </a:cubicBezTo>
                  <a:cubicBezTo>
                    <a:pt x="57" y="28"/>
                    <a:pt x="55" y="23"/>
                    <a:pt x="59" y="21"/>
                  </a:cubicBezTo>
                  <a:cubicBezTo>
                    <a:pt x="63" y="19"/>
                    <a:pt x="64" y="15"/>
                    <a:pt x="60" y="12"/>
                  </a:cubicBezTo>
                  <a:cubicBezTo>
                    <a:pt x="57" y="10"/>
                    <a:pt x="49" y="15"/>
                    <a:pt x="49" y="12"/>
                  </a:cubicBezTo>
                  <a:cubicBezTo>
                    <a:pt x="49" y="11"/>
                    <a:pt x="50" y="5"/>
                    <a:pt x="50" y="1"/>
                  </a:cubicBezTo>
                  <a:cubicBezTo>
                    <a:pt x="42" y="0"/>
                    <a:pt x="33" y="0"/>
                    <a:pt x="33" y="0"/>
                  </a:cubicBezTo>
                  <a:cubicBezTo>
                    <a:pt x="31" y="1"/>
                    <a:pt x="31" y="1"/>
                    <a:pt x="31" y="1"/>
                  </a:cubicBezTo>
                  <a:cubicBezTo>
                    <a:pt x="32" y="9"/>
                    <a:pt x="31" y="15"/>
                    <a:pt x="31" y="15"/>
                  </a:cubicBezTo>
                  <a:cubicBezTo>
                    <a:pt x="31" y="15"/>
                    <a:pt x="18" y="16"/>
                    <a:pt x="15" y="16"/>
                  </a:cubicBezTo>
                  <a:cubicBezTo>
                    <a:pt x="15" y="16"/>
                    <a:pt x="13" y="16"/>
                    <a:pt x="10" y="16"/>
                  </a:cubicBezTo>
                  <a:cubicBezTo>
                    <a:pt x="10" y="17"/>
                    <a:pt x="9" y="18"/>
                    <a:pt x="8" y="19"/>
                  </a:cubicBezTo>
                  <a:cubicBezTo>
                    <a:pt x="7" y="20"/>
                    <a:pt x="12" y="22"/>
                    <a:pt x="13" y="25"/>
                  </a:cubicBezTo>
                  <a:cubicBezTo>
                    <a:pt x="14" y="27"/>
                    <a:pt x="6" y="26"/>
                    <a:pt x="7" y="29"/>
                  </a:cubicBezTo>
                  <a:cubicBezTo>
                    <a:pt x="7" y="32"/>
                    <a:pt x="4" y="35"/>
                    <a:pt x="2" y="36"/>
                  </a:cubicBezTo>
                  <a:cubicBezTo>
                    <a:pt x="0" y="38"/>
                    <a:pt x="7" y="44"/>
                    <a:pt x="8" y="46"/>
                  </a:cubicBezTo>
                  <a:cubicBezTo>
                    <a:pt x="8" y="49"/>
                    <a:pt x="9" y="51"/>
                    <a:pt x="16" y="57"/>
                  </a:cubicBezTo>
                  <a:cubicBezTo>
                    <a:pt x="22" y="63"/>
                    <a:pt x="19" y="64"/>
                    <a:pt x="27" y="71"/>
                  </a:cubicBezTo>
                  <a:cubicBezTo>
                    <a:pt x="28" y="69"/>
                    <a:pt x="30" y="67"/>
                    <a:pt x="32" y="6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3" name="Freeform 39"/>
            <p:cNvSpPr>
              <a:spLocks noChangeArrowheads="1"/>
            </p:cNvSpPr>
            <p:nvPr/>
          </p:nvSpPr>
          <p:spPr bwMode="auto">
            <a:xfrm>
              <a:off x="3849701" y="2422528"/>
              <a:ext cx="47626" cy="28575"/>
            </a:xfrm>
            <a:custGeom>
              <a:avLst/>
              <a:gdLst>
                <a:gd name="T0" fmla="*/ 24 w 25"/>
                <a:gd name="T1" fmla="*/ 14 h 15"/>
                <a:gd name="T2" fmla="*/ 24 w 25"/>
                <a:gd name="T3" fmla="*/ 0 h 15"/>
                <a:gd name="T4" fmla="*/ 22 w 25"/>
                <a:gd name="T5" fmla="*/ 0 h 15"/>
                <a:gd name="T6" fmla="*/ 6 w 25"/>
                <a:gd name="T7" fmla="*/ 0 h 15"/>
                <a:gd name="T8" fmla="*/ 6 w 25"/>
                <a:gd name="T9" fmla="*/ 1 h 15"/>
                <a:gd name="T10" fmla="*/ 3 w 25"/>
                <a:gd name="T11" fmla="*/ 8 h 15"/>
                <a:gd name="T12" fmla="*/ 3 w 25"/>
                <a:gd name="T13" fmla="*/ 13 h 15"/>
                <a:gd name="T14" fmla="*/ 3 w 25"/>
                <a:gd name="T15" fmla="*/ 15 h 15"/>
                <a:gd name="T16" fmla="*/ 8 w 25"/>
                <a:gd name="T17" fmla="*/ 15 h 15"/>
                <a:gd name="T18" fmla="*/ 24 w 25"/>
                <a:gd name="T19" fmla="*/ 14 h 1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
                <a:gd name="T31" fmla="*/ 0 h 15"/>
                <a:gd name="T32" fmla="*/ 25 w 25"/>
                <a:gd name="T33" fmla="*/ 15 h 1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 h="15">
                  <a:moveTo>
                    <a:pt x="24" y="14"/>
                  </a:moveTo>
                  <a:cubicBezTo>
                    <a:pt x="24" y="14"/>
                    <a:pt x="25" y="8"/>
                    <a:pt x="24" y="0"/>
                  </a:cubicBezTo>
                  <a:cubicBezTo>
                    <a:pt x="22" y="0"/>
                    <a:pt x="22" y="0"/>
                    <a:pt x="22" y="0"/>
                  </a:cubicBezTo>
                  <a:cubicBezTo>
                    <a:pt x="6" y="0"/>
                    <a:pt x="6" y="0"/>
                    <a:pt x="6" y="0"/>
                  </a:cubicBezTo>
                  <a:cubicBezTo>
                    <a:pt x="6" y="0"/>
                    <a:pt x="6" y="1"/>
                    <a:pt x="6" y="1"/>
                  </a:cubicBezTo>
                  <a:cubicBezTo>
                    <a:pt x="8" y="3"/>
                    <a:pt x="7" y="7"/>
                    <a:pt x="3" y="8"/>
                  </a:cubicBezTo>
                  <a:cubicBezTo>
                    <a:pt x="0" y="9"/>
                    <a:pt x="0" y="12"/>
                    <a:pt x="3" y="13"/>
                  </a:cubicBezTo>
                  <a:cubicBezTo>
                    <a:pt x="5" y="13"/>
                    <a:pt x="4" y="14"/>
                    <a:pt x="3" y="15"/>
                  </a:cubicBezTo>
                  <a:cubicBezTo>
                    <a:pt x="6" y="15"/>
                    <a:pt x="8" y="15"/>
                    <a:pt x="8" y="15"/>
                  </a:cubicBezTo>
                  <a:cubicBezTo>
                    <a:pt x="11" y="15"/>
                    <a:pt x="24" y="14"/>
                    <a:pt x="24" y="1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4" name="Freeform 40"/>
            <p:cNvSpPr>
              <a:spLocks noChangeArrowheads="1"/>
            </p:cNvSpPr>
            <p:nvPr/>
          </p:nvSpPr>
          <p:spPr bwMode="auto">
            <a:xfrm>
              <a:off x="3887801" y="2389190"/>
              <a:ext cx="153988" cy="188914"/>
            </a:xfrm>
            <a:custGeom>
              <a:avLst/>
              <a:gdLst>
                <a:gd name="T0" fmla="*/ 21 w 80"/>
                <a:gd name="T1" fmla="*/ 94 h 99"/>
                <a:gd name="T2" fmla="*/ 29 w 80"/>
                <a:gd name="T3" fmla="*/ 95 h 99"/>
                <a:gd name="T4" fmla="*/ 38 w 80"/>
                <a:gd name="T5" fmla="*/ 95 h 99"/>
                <a:gd name="T6" fmla="*/ 43 w 80"/>
                <a:gd name="T7" fmla="*/ 95 h 99"/>
                <a:gd name="T8" fmla="*/ 50 w 80"/>
                <a:gd name="T9" fmla="*/ 88 h 99"/>
                <a:gd name="T10" fmla="*/ 54 w 80"/>
                <a:gd name="T11" fmla="*/ 80 h 99"/>
                <a:gd name="T12" fmla="*/ 55 w 80"/>
                <a:gd name="T13" fmla="*/ 61 h 99"/>
                <a:gd name="T14" fmla="*/ 64 w 80"/>
                <a:gd name="T15" fmla="*/ 49 h 99"/>
                <a:gd name="T16" fmla="*/ 73 w 80"/>
                <a:gd name="T17" fmla="*/ 25 h 99"/>
                <a:gd name="T18" fmla="*/ 77 w 80"/>
                <a:gd name="T19" fmla="*/ 13 h 99"/>
                <a:gd name="T20" fmla="*/ 79 w 80"/>
                <a:gd name="T21" fmla="*/ 1 h 99"/>
                <a:gd name="T22" fmla="*/ 79 w 80"/>
                <a:gd name="T23" fmla="*/ 1 h 99"/>
                <a:gd name="T24" fmla="*/ 69 w 80"/>
                <a:gd name="T25" fmla="*/ 0 h 99"/>
                <a:gd name="T26" fmla="*/ 64 w 80"/>
                <a:gd name="T27" fmla="*/ 1 h 99"/>
                <a:gd name="T28" fmla="*/ 58 w 80"/>
                <a:gd name="T29" fmla="*/ 3 h 99"/>
                <a:gd name="T30" fmla="*/ 56 w 80"/>
                <a:gd name="T31" fmla="*/ 11 h 99"/>
                <a:gd name="T32" fmla="*/ 52 w 80"/>
                <a:gd name="T33" fmla="*/ 22 h 99"/>
                <a:gd name="T34" fmla="*/ 36 w 80"/>
                <a:gd name="T35" fmla="*/ 17 h 99"/>
                <a:gd name="T36" fmla="*/ 23 w 80"/>
                <a:gd name="T37" fmla="*/ 17 h 99"/>
                <a:gd name="T38" fmla="*/ 22 w 80"/>
                <a:gd name="T39" fmla="*/ 28 h 99"/>
                <a:gd name="T40" fmla="*/ 33 w 80"/>
                <a:gd name="T41" fmla="*/ 28 h 99"/>
                <a:gd name="T42" fmla="*/ 32 w 80"/>
                <a:gd name="T43" fmla="*/ 37 h 99"/>
                <a:gd name="T44" fmla="*/ 34 w 80"/>
                <a:gd name="T45" fmla="*/ 46 h 99"/>
                <a:gd name="T46" fmla="*/ 37 w 80"/>
                <a:gd name="T47" fmla="*/ 58 h 99"/>
                <a:gd name="T48" fmla="*/ 33 w 80"/>
                <a:gd name="T49" fmla="*/ 72 h 99"/>
                <a:gd name="T50" fmla="*/ 25 w 80"/>
                <a:gd name="T51" fmla="*/ 70 h 99"/>
                <a:gd name="T52" fmla="*/ 18 w 80"/>
                <a:gd name="T53" fmla="*/ 63 h 99"/>
                <a:gd name="T54" fmla="*/ 14 w 80"/>
                <a:gd name="T55" fmla="*/ 69 h 99"/>
                <a:gd name="T56" fmla="*/ 7 w 80"/>
                <a:gd name="T57" fmla="*/ 74 h 99"/>
                <a:gd name="T58" fmla="*/ 5 w 80"/>
                <a:gd name="T59" fmla="*/ 83 h 99"/>
                <a:gd name="T60" fmla="*/ 0 w 80"/>
                <a:gd name="T61" fmla="*/ 87 h 99"/>
                <a:gd name="T62" fmla="*/ 1 w 80"/>
                <a:gd name="T63" fmla="*/ 88 h 99"/>
                <a:gd name="T64" fmla="*/ 11 w 80"/>
                <a:gd name="T65" fmla="*/ 99 h 99"/>
                <a:gd name="T66" fmla="*/ 21 w 80"/>
                <a:gd name="T67" fmla="*/ 94 h 9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80"/>
                <a:gd name="T103" fmla="*/ 0 h 99"/>
                <a:gd name="T104" fmla="*/ 80 w 80"/>
                <a:gd name="T105" fmla="*/ 99 h 9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80" h="99">
                  <a:moveTo>
                    <a:pt x="21" y="94"/>
                  </a:moveTo>
                  <a:cubicBezTo>
                    <a:pt x="23" y="95"/>
                    <a:pt x="25" y="98"/>
                    <a:pt x="29" y="95"/>
                  </a:cubicBezTo>
                  <a:cubicBezTo>
                    <a:pt x="33" y="91"/>
                    <a:pt x="38" y="92"/>
                    <a:pt x="38" y="95"/>
                  </a:cubicBezTo>
                  <a:cubicBezTo>
                    <a:pt x="38" y="99"/>
                    <a:pt x="39" y="98"/>
                    <a:pt x="43" y="95"/>
                  </a:cubicBezTo>
                  <a:cubicBezTo>
                    <a:pt x="46" y="91"/>
                    <a:pt x="50" y="95"/>
                    <a:pt x="50" y="88"/>
                  </a:cubicBezTo>
                  <a:cubicBezTo>
                    <a:pt x="50" y="81"/>
                    <a:pt x="54" y="88"/>
                    <a:pt x="54" y="80"/>
                  </a:cubicBezTo>
                  <a:cubicBezTo>
                    <a:pt x="54" y="72"/>
                    <a:pt x="55" y="65"/>
                    <a:pt x="55" y="61"/>
                  </a:cubicBezTo>
                  <a:cubicBezTo>
                    <a:pt x="55" y="58"/>
                    <a:pt x="64" y="54"/>
                    <a:pt x="64" y="49"/>
                  </a:cubicBezTo>
                  <a:cubicBezTo>
                    <a:pt x="64" y="43"/>
                    <a:pt x="73" y="32"/>
                    <a:pt x="73" y="25"/>
                  </a:cubicBezTo>
                  <a:cubicBezTo>
                    <a:pt x="73" y="18"/>
                    <a:pt x="75" y="16"/>
                    <a:pt x="77" y="13"/>
                  </a:cubicBezTo>
                  <a:cubicBezTo>
                    <a:pt x="78" y="11"/>
                    <a:pt x="80" y="6"/>
                    <a:pt x="79" y="1"/>
                  </a:cubicBezTo>
                  <a:cubicBezTo>
                    <a:pt x="79" y="1"/>
                    <a:pt x="79" y="1"/>
                    <a:pt x="79" y="1"/>
                  </a:cubicBezTo>
                  <a:cubicBezTo>
                    <a:pt x="69" y="0"/>
                    <a:pt x="69" y="0"/>
                    <a:pt x="69" y="0"/>
                  </a:cubicBezTo>
                  <a:cubicBezTo>
                    <a:pt x="64" y="1"/>
                    <a:pt x="64" y="1"/>
                    <a:pt x="64" y="1"/>
                  </a:cubicBezTo>
                  <a:cubicBezTo>
                    <a:pt x="58" y="3"/>
                    <a:pt x="58" y="3"/>
                    <a:pt x="58" y="3"/>
                  </a:cubicBezTo>
                  <a:cubicBezTo>
                    <a:pt x="58" y="3"/>
                    <a:pt x="59" y="8"/>
                    <a:pt x="56" y="11"/>
                  </a:cubicBezTo>
                  <a:cubicBezTo>
                    <a:pt x="53" y="15"/>
                    <a:pt x="52" y="22"/>
                    <a:pt x="52" y="22"/>
                  </a:cubicBezTo>
                  <a:cubicBezTo>
                    <a:pt x="52" y="22"/>
                    <a:pt x="40" y="16"/>
                    <a:pt x="36" y="17"/>
                  </a:cubicBezTo>
                  <a:cubicBezTo>
                    <a:pt x="35" y="17"/>
                    <a:pt x="29" y="17"/>
                    <a:pt x="23" y="17"/>
                  </a:cubicBezTo>
                  <a:cubicBezTo>
                    <a:pt x="23" y="21"/>
                    <a:pt x="22" y="27"/>
                    <a:pt x="22" y="28"/>
                  </a:cubicBezTo>
                  <a:cubicBezTo>
                    <a:pt x="22" y="31"/>
                    <a:pt x="30" y="26"/>
                    <a:pt x="33" y="28"/>
                  </a:cubicBezTo>
                  <a:cubicBezTo>
                    <a:pt x="37" y="31"/>
                    <a:pt x="36" y="35"/>
                    <a:pt x="32" y="37"/>
                  </a:cubicBezTo>
                  <a:cubicBezTo>
                    <a:pt x="28" y="39"/>
                    <a:pt x="30" y="44"/>
                    <a:pt x="34" y="46"/>
                  </a:cubicBezTo>
                  <a:cubicBezTo>
                    <a:pt x="37" y="49"/>
                    <a:pt x="37" y="53"/>
                    <a:pt x="37" y="58"/>
                  </a:cubicBezTo>
                  <a:cubicBezTo>
                    <a:pt x="37" y="64"/>
                    <a:pt x="37" y="71"/>
                    <a:pt x="33" y="72"/>
                  </a:cubicBezTo>
                  <a:cubicBezTo>
                    <a:pt x="30" y="72"/>
                    <a:pt x="28" y="69"/>
                    <a:pt x="25" y="70"/>
                  </a:cubicBezTo>
                  <a:cubicBezTo>
                    <a:pt x="22" y="71"/>
                    <a:pt x="21" y="63"/>
                    <a:pt x="18" y="63"/>
                  </a:cubicBezTo>
                  <a:cubicBezTo>
                    <a:pt x="16" y="63"/>
                    <a:pt x="17" y="69"/>
                    <a:pt x="14" y="69"/>
                  </a:cubicBezTo>
                  <a:cubicBezTo>
                    <a:pt x="10" y="69"/>
                    <a:pt x="5" y="69"/>
                    <a:pt x="7" y="74"/>
                  </a:cubicBezTo>
                  <a:cubicBezTo>
                    <a:pt x="9" y="80"/>
                    <a:pt x="11" y="83"/>
                    <a:pt x="5" y="83"/>
                  </a:cubicBezTo>
                  <a:cubicBezTo>
                    <a:pt x="3" y="83"/>
                    <a:pt x="1" y="85"/>
                    <a:pt x="0" y="87"/>
                  </a:cubicBezTo>
                  <a:cubicBezTo>
                    <a:pt x="0" y="87"/>
                    <a:pt x="1" y="87"/>
                    <a:pt x="1" y="88"/>
                  </a:cubicBezTo>
                  <a:cubicBezTo>
                    <a:pt x="6" y="91"/>
                    <a:pt x="9" y="95"/>
                    <a:pt x="11" y="99"/>
                  </a:cubicBezTo>
                  <a:cubicBezTo>
                    <a:pt x="15" y="96"/>
                    <a:pt x="20" y="93"/>
                    <a:pt x="21" y="9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Freeform 41"/>
            <p:cNvSpPr>
              <a:spLocks noChangeArrowheads="1"/>
            </p:cNvSpPr>
            <p:nvPr/>
          </p:nvSpPr>
          <p:spPr bwMode="auto">
            <a:xfrm>
              <a:off x="4105289" y="1954214"/>
              <a:ext cx="358776" cy="441326"/>
            </a:xfrm>
            <a:custGeom>
              <a:avLst/>
              <a:gdLst>
                <a:gd name="T0" fmla="*/ 141 w 187"/>
                <a:gd name="T1" fmla="*/ 13 h 231"/>
                <a:gd name="T2" fmla="*/ 128 w 187"/>
                <a:gd name="T3" fmla="*/ 15 h 231"/>
                <a:gd name="T4" fmla="*/ 108 w 187"/>
                <a:gd name="T5" fmla="*/ 13 h 231"/>
                <a:gd name="T6" fmla="*/ 36 w 187"/>
                <a:gd name="T7" fmla="*/ 15 h 231"/>
                <a:gd name="T8" fmla="*/ 25 w 187"/>
                <a:gd name="T9" fmla="*/ 39 h 231"/>
                <a:gd name="T10" fmla="*/ 24 w 187"/>
                <a:gd name="T11" fmla="*/ 88 h 231"/>
                <a:gd name="T12" fmla="*/ 10 w 187"/>
                <a:gd name="T13" fmla="*/ 101 h 231"/>
                <a:gd name="T14" fmla="*/ 4 w 187"/>
                <a:gd name="T15" fmla="*/ 117 h 231"/>
                <a:gd name="T16" fmla="*/ 8 w 187"/>
                <a:gd name="T17" fmla="*/ 132 h 231"/>
                <a:gd name="T18" fmla="*/ 12 w 187"/>
                <a:gd name="T19" fmla="*/ 144 h 231"/>
                <a:gd name="T20" fmla="*/ 21 w 187"/>
                <a:gd name="T21" fmla="*/ 165 h 231"/>
                <a:gd name="T22" fmla="*/ 24 w 187"/>
                <a:gd name="T23" fmla="*/ 170 h 231"/>
                <a:gd name="T24" fmla="*/ 35 w 187"/>
                <a:gd name="T25" fmla="*/ 177 h 231"/>
                <a:gd name="T26" fmla="*/ 47 w 187"/>
                <a:gd name="T27" fmla="*/ 190 h 231"/>
                <a:gd name="T28" fmla="*/ 59 w 187"/>
                <a:gd name="T29" fmla="*/ 204 h 231"/>
                <a:gd name="T30" fmla="*/ 64 w 187"/>
                <a:gd name="T31" fmla="*/ 213 h 231"/>
                <a:gd name="T32" fmla="*/ 76 w 187"/>
                <a:gd name="T33" fmla="*/ 219 h 231"/>
                <a:gd name="T34" fmla="*/ 88 w 187"/>
                <a:gd name="T35" fmla="*/ 218 h 231"/>
                <a:gd name="T36" fmla="*/ 109 w 187"/>
                <a:gd name="T37" fmla="*/ 227 h 231"/>
                <a:gd name="T38" fmla="*/ 124 w 187"/>
                <a:gd name="T39" fmla="*/ 226 h 231"/>
                <a:gd name="T40" fmla="*/ 135 w 187"/>
                <a:gd name="T41" fmla="*/ 222 h 231"/>
                <a:gd name="T42" fmla="*/ 146 w 187"/>
                <a:gd name="T43" fmla="*/ 214 h 231"/>
                <a:gd name="T44" fmla="*/ 155 w 187"/>
                <a:gd name="T45" fmla="*/ 217 h 231"/>
                <a:gd name="T46" fmla="*/ 145 w 187"/>
                <a:gd name="T47" fmla="*/ 198 h 231"/>
                <a:gd name="T48" fmla="*/ 125 w 187"/>
                <a:gd name="T49" fmla="*/ 180 h 231"/>
                <a:gd name="T50" fmla="*/ 136 w 187"/>
                <a:gd name="T51" fmla="*/ 172 h 231"/>
                <a:gd name="T52" fmla="*/ 141 w 187"/>
                <a:gd name="T53" fmla="*/ 149 h 231"/>
                <a:gd name="T54" fmla="*/ 149 w 187"/>
                <a:gd name="T55" fmla="*/ 133 h 231"/>
                <a:gd name="T56" fmla="*/ 161 w 187"/>
                <a:gd name="T57" fmla="*/ 119 h 231"/>
                <a:gd name="T58" fmla="*/ 166 w 187"/>
                <a:gd name="T59" fmla="*/ 90 h 231"/>
                <a:gd name="T60" fmla="*/ 176 w 187"/>
                <a:gd name="T61" fmla="*/ 73 h 231"/>
                <a:gd name="T62" fmla="*/ 180 w 187"/>
                <a:gd name="T63" fmla="*/ 57 h 231"/>
                <a:gd name="T64" fmla="*/ 171 w 187"/>
                <a:gd name="T65" fmla="*/ 20 h 231"/>
                <a:gd name="T66" fmla="*/ 155 w 187"/>
                <a:gd name="T67" fmla="*/ 0 h 231"/>
                <a:gd name="T68" fmla="*/ 148 w 187"/>
                <a:gd name="T69" fmla="*/ 5 h 23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7"/>
                <a:gd name="T106" fmla="*/ 0 h 231"/>
                <a:gd name="T107" fmla="*/ 187 w 187"/>
                <a:gd name="T108" fmla="*/ 231 h 23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7" h="231">
                  <a:moveTo>
                    <a:pt x="148" y="5"/>
                  </a:moveTo>
                  <a:cubicBezTo>
                    <a:pt x="145" y="5"/>
                    <a:pt x="146" y="13"/>
                    <a:pt x="141" y="13"/>
                  </a:cubicBezTo>
                  <a:cubicBezTo>
                    <a:pt x="136" y="13"/>
                    <a:pt x="138" y="18"/>
                    <a:pt x="134" y="18"/>
                  </a:cubicBezTo>
                  <a:cubicBezTo>
                    <a:pt x="131" y="18"/>
                    <a:pt x="128" y="15"/>
                    <a:pt x="128" y="15"/>
                  </a:cubicBezTo>
                  <a:cubicBezTo>
                    <a:pt x="114" y="15"/>
                    <a:pt x="114" y="15"/>
                    <a:pt x="114" y="15"/>
                  </a:cubicBezTo>
                  <a:cubicBezTo>
                    <a:pt x="114" y="15"/>
                    <a:pt x="110" y="11"/>
                    <a:pt x="108" y="13"/>
                  </a:cubicBezTo>
                  <a:cubicBezTo>
                    <a:pt x="106" y="14"/>
                    <a:pt x="104" y="15"/>
                    <a:pt x="104" y="15"/>
                  </a:cubicBezTo>
                  <a:cubicBezTo>
                    <a:pt x="36" y="15"/>
                    <a:pt x="36" y="15"/>
                    <a:pt x="36" y="15"/>
                  </a:cubicBezTo>
                  <a:cubicBezTo>
                    <a:pt x="36" y="29"/>
                    <a:pt x="36" y="39"/>
                    <a:pt x="36" y="39"/>
                  </a:cubicBezTo>
                  <a:cubicBezTo>
                    <a:pt x="25" y="39"/>
                    <a:pt x="25" y="39"/>
                    <a:pt x="25" y="39"/>
                  </a:cubicBezTo>
                  <a:cubicBezTo>
                    <a:pt x="25" y="76"/>
                    <a:pt x="25" y="76"/>
                    <a:pt x="25" y="76"/>
                  </a:cubicBezTo>
                  <a:cubicBezTo>
                    <a:pt x="25" y="76"/>
                    <a:pt x="26" y="87"/>
                    <a:pt x="24" y="88"/>
                  </a:cubicBezTo>
                  <a:cubicBezTo>
                    <a:pt x="22" y="88"/>
                    <a:pt x="14" y="90"/>
                    <a:pt x="14" y="94"/>
                  </a:cubicBezTo>
                  <a:cubicBezTo>
                    <a:pt x="14" y="97"/>
                    <a:pt x="13" y="100"/>
                    <a:pt x="10" y="101"/>
                  </a:cubicBezTo>
                  <a:cubicBezTo>
                    <a:pt x="6" y="101"/>
                    <a:pt x="10" y="109"/>
                    <a:pt x="5" y="109"/>
                  </a:cubicBezTo>
                  <a:cubicBezTo>
                    <a:pt x="0" y="109"/>
                    <a:pt x="7" y="115"/>
                    <a:pt x="4" y="117"/>
                  </a:cubicBezTo>
                  <a:cubicBezTo>
                    <a:pt x="2" y="120"/>
                    <a:pt x="2" y="124"/>
                    <a:pt x="6" y="124"/>
                  </a:cubicBezTo>
                  <a:cubicBezTo>
                    <a:pt x="9" y="124"/>
                    <a:pt x="8" y="128"/>
                    <a:pt x="8" y="132"/>
                  </a:cubicBezTo>
                  <a:cubicBezTo>
                    <a:pt x="8" y="136"/>
                    <a:pt x="13" y="139"/>
                    <a:pt x="13" y="139"/>
                  </a:cubicBezTo>
                  <a:cubicBezTo>
                    <a:pt x="12" y="144"/>
                    <a:pt x="12" y="144"/>
                    <a:pt x="12" y="144"/>
                  </a:cubicBezTo>
                  <a:cubicBezTo>
                    <a:pt x="12" y="144"/>
                    <a:pt x="20" y="153"/>
                    <a:pt x="20" y="155"/>
                  </a:cubicBezTo>
                  <a:cubicBezTo>
                    <a:pt x="21" y="157"/>
                    <a:pt x="25" y="163"/>
                    <a:pt x="21" y="165"/>
                  </a:cubicBezTo>
                  <a:cubicBezTo>
                    <a:pt x="17" y="167"/>
                    <a:pt x="20" y="169"/>
                    <a:pt x="20" y="169"/>
                  </a:cubicBezTo>
                  <a:cubicBezTo>
                    <a:pt x="24" y="170"/>
                    <a:pt x="24" y="170"/>
                    <a:pt x="24" y="170"/>
                  </a:cubicBezTo>
                  <a:cubicBezTo>
                    <a:pt x="26" y="173"/>
                    <a:pt x="26" y="173"/>
                    <a:pt x="26" y="173"/>
                  </a:cubicBezTo>
                  <a:cubicBezTo>
                    <a:pt x="26" y="173"/>
                    <a:pt x="31" y="173"/>
                    <a:pt x="35" y="177"/>
                  </a:cubicBezTo>
                  <a:cubicBezTo>
                    <a:pt x="38" y="181"/>
                    <a:pt x="40" y="182"/>
                    <a:pt x="40" y="184"/>
                  </a:cubicBezTo>
                  <a:cubicBezTo>
                    <a:pt x="40" y="186"/>
                    <a:pt x="43" y="187"/>
                    <a:pt x="47" y="190"/>
                  </a:cubicBezTo>
                  <a:cubicBezTo>
                    <a:pt x="51" y="194"/>
                    <a:pt x="51" y="196"/>
                    <a:pt x="51" y="198"/>
                  </a:cubicBezTo>
                  <a:cubicBezTo>
                    <a:pt x="51" y="200"/>
                    <a:pt x="59" y="204"/>
                    <a:pt x="59" y="204"/>
                  </a:cubicBezTo>
                  <a:cubicBezTo>
                    <a:pt x="61" y="210"/>
                    <a:pt x="61" y="210"/>
                    <a:pt x="61" y="210"/>
                  </a:cubicBezTo>
                  <a:cubicBezTo>
                    <a:pt x="62" y="211"/>
                    <a:pt x="63" y="212"/>
                    <a:pt x="64" y="213"/>
                  </a:cubicBezTo>
                  <a:cubicBezTo>
                    <a:pt x="65" y="217"/>
                    <a:pt x="69" y="219"/>
                    <a:pt x="69" y="219"/>
                  </a:cubicBezTo>
                  <a:cubicBezTo>
                    <a:pt x="69" y="219"/>
                    <a:pt x="73" y="221"/>
                    <a:pt x="76" y="219"/>
                  </a:cubicBezTo>
                  <a:cubicBezTo>
                    <a:pt x="79" y="216"/>
                    <a:pt x="82" y="219"/>
                    <a:pt x="82" y="219"/>
                  </a:cubicBezTo>
                  <a:cubicBezTo>
                    <a:pt x="82" y="219"/>
                    <a:pt x="86" y="217"/>
                    <a:pt x="88" y="218"/>
                  </a:cubicBezTo>
                  <a:cubicBezTo>
                    <a:pt x="89" y="219"/>
                    <a:pt x="95" y="224"/>
                    <a:pt x="101" y="229"/>
                  </a:cubicBezTo>
                  <a:cubicBezTo>
                    <a:pt x="102" y="229"/>
                    <a:pt x="107" y="227"/>
                    <a:pt x="109" y="227"/>
                  </a:cubicBezTo>
                  <a:cubicBezTo>
                    <a:pt x="112" y="226"/>
                    <a:pt x="115" y="231"/>
                    <a:pt x="116" y="229"/>
                  </a:cubicBezTo>
                  <a:cubicBezTo>
                    <a:pt x="117" y="228"/>
                    <a:pt x="122" y="225"/>
                    <a:pt x="124" y="226"/>
                  </a:cubicBezTo>
                  <a:cubicBezTo>
                    <a:pt x="126" y="227"/>
                    <a:pt x="131" y="228"/>
                    <a:pt x="131" y="226"/>
                  </a:cubicBezTo>
                  <a:cubicBezTo>
                    <a:pt x="132" y="225"/>
                    <a:pt x="134" y="223"/>
                    <a:pt x="135" y="222"/>
                  </a:cubicBezTo>
                  <a:cubicBezTo>
                    <a:pt x="136" y="222"/>
                    <a:pt x="136" y="221"/>
                    <a:pt x="137" y="220"/>
                  </a:cubicBezTo>
                  <a:cubicBezTo>
                    <a:pt x="137" y="218"/>
                    <a:pt x="143" y="215"/>
                    <a:pt x="146" y="214"/>
                  </a:cubicBezTo>
                  <a:cubicBezTo>
                    <a:pt x="148" y="214"/>
                    <a:pt x="151" y="214"/>
                    <a:pt x="152" y="215"/>
                  </a:cubicBezTo>
                  <a:cubicBezTo>
                    <a:pt x="153" y="216"/>
                    <a:pt x="154" y="216"/>
                    <a:pt x="155" y="217"/>
                  </a:cubicBezTo>
                  <a:cubicBezTo>
                    <a:pt x="156" y="210"/>
                    <a:pt x="157" y="207"/>
                    <a:pt x="155" y="207"/>
                  </a:cubicBezTo>
                  <a:cubicBezTo>
                    <a:pt x="153" y="207"/>
                    <a:pt x="147" y="204"/>
                    <a:pt x="145" y="198"/>
                  </a:cubicBezTo>
                  <a:cubicBezTo>
                    <a:pt x="143" y="193"/>
                    <a:pt x="137" y="189"/>
                    <a:pt x="135" y="186"/>
                  </a:cubicBezTo>
                  <a:cubicBezTo>
                    <a:pt x="134" y="182"/>
                    <a:pt x="126" y="183"/>
                    <a:pt x="125" y="180"/>
                  </a:cubicBezTo>
                  <a:cubicBezTo>
                    <a:pt x="123" y="178"/>
                    <a:pt x="127" y="178"/>
                    <a:pt x="127" y="174"/>
                  </a:cubicBezTo>
                  <a:cubicBezTo>
                    <a:pt x="127" y="171"/>
                    <a:pt x="135" y="173"/>
                    <a:pt x="136" y="172"/>
                  </a:cubicBezTo>
                  <a:cubicBezTo>
                    <a:pt x="137" y="171"/>
                    <a:pt x="137" y="164"/>
                    <a:pt x="137" y="159"/>
                  </a:cubicBezTo>
                  <a:cubicBezTo>
                    <a:pt x="137" y="155"/>
                    <a:pt x="143" y="151"/>
                    <a:pt x="141" y="149"/>
                  </a:cubicBezTo>
                  <a:cubicBezTo>
                    <a:pt x="139" y="147"/>
                    <a:pt x="143" y="146"/>
                    <a:pt x="146" y="144"/>
                  </a:cubicBezTo>
                  <a:cubicBezTo>
                    <a:pt x="148" y="142"/>
                    <a:pt x="146" y="136"/>
                    <a:pt x="149" y="133"/>
                  </a:cubicBezTo>
                  <a:cubicBezTo>
                    <a:pt x="152" y="130"/>
                    <a:pt x="154" y="125"/>
                    <a:pt x="156" y="125"/>
                  </a:cubicBezTo>
                  <a:cubicBezTo>
                    <a:pt x="158" y="125"/>
                    <a:pt x="161" y="122"/>
                    <a:pt x="161" y="119"/>
                  </a:cubicBezTo>
                  <a:cubicBezTo>
                    <a:pt x="161" y="116"/>
                    <a:pt x="166" y="111"/>
                    <a:pt x="165" y="106"/>
                  </a:cubicBezTo>
                  <a:cubicBezTo>
                    <a:pt x="164" y="101"/>
                    <a:pt x="162" y="95"/>
                    <a:pt x="166" y="90"/>
                  </a:cubicBezTo>
                  <a:cubicBezTo>
                    <a:pt x="169" y="86"/>
                    <a:pt x="171" y="83"/>
                    <a:pt x="170" y="79"/>
                  </a:cubicBezTo>
                  <a:cubicBezTo>
                    <a:pt x="169" y="76"/>
                    <a:pt x="174" y="75"/>
                    <a:pt x="176" y="73"/>
                  </a:cubicBezTo>
                  <a:cubicBezTo>
                    <a:pt x="178" y="72"/>
                    <a:pt x="183" y="69"/>
                    <a:pt x="187" y="63"/>
                  </a:cubicBezTo>
                  <a:cubicBezTo>
                    <a:pt x="184" y="60"/>
                    <a:pt x="182" y="57"/>
                    <a:pt x="180" y="57"/>
                  </a:cubicBezTo>
                  <a:cubicBezTo>
                    <a:pt x="176" y="55"/>
                    <a:pt x="173" y="48"/>
                    <a:pt x="173" y="39"/>
                  </a:cubicBezTo>
                  <a:cubicBezTo>
                    <a:pt x="173" y="30"/>
                    <a:pt x="171" y="23"/>
                    <a:pt x="171" y="20"/>
                  </a:cubicBezTo>
                  <a:cubicBezTo>
                    <a:pt x="171" y="17"/>
                    <a:pt x="166" y="11"/>
                    <a:pt x="161" y="9"/>
                  </a:cubicBezTo>
                  <a:cubicBezTo>
                    <a:pt x="157" y="7"/>
                    <a:pt x="155" y="4"/>
                    <a:pt x="155" y="0"/>
                  </a:cubicBezTo>
                  <a:cubicBezTo>
                    <a:pt x="155" y="0"/>
                    <a:pt x="154" y="0"/>
                    <a:pt x="154" y="1"/>
                  </a:cubicBezTo>
                  <a:cubicBezTo>
                    <a:pt x="151" y="5"/>
                    <a:pt x="152" y="5"/>
                    <a:pt x="148"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6" name="Freeform 42"/>
            <p:cNvSpPr>
              <a:spLocks noChangeArrowheads="1"/>
            </p:cNvSpPr>
            <p:nvPr/>
          </p:nvSpPr>
          <p:spPr bwMode="auto">
            <a:xfrm>
              <a:off x="4530740" y="2192339"/>
              <a:ext cx="41275" cy="41275"/>
            </a:xfrm>
            <a:custGeom>
              <a:avLst/>
              <a:gdLst>
                <a:gd name="T0" fmla="*/ 8 w 22"/>
                <a:gd name="T1" fmla="*/ 3 h 21"/>
                <a:gd name="T2" fmla="*/ 3 w 22"/>
                <a:gd name="T3" fmla="*/ 10 h 21"/>
                <a:gd name="T4" fmla="*/ 2 w 22"/>
                <a:gd name="T5" fmla="*/ 20 h 21"/>
                <a:gd name="T6" fmla="*/ 9 w 22"/>
                <a:gd name="T7" fmla="*/ 19 h 21"/>
                <a:gd name="T8" fmla="*/ 14 w 22"/>
                <a:gd name="T9" fmla="*/ 21 h 21"/>
                <a:gd name="T10" fmla="*/ 19 w 22"/>
                <a:gd name="T11" fmla="*/ 16 h 21"/>
                <a:gd name="T12" fmla="*/ 13 w 22"/>
                <a:gd name="T13" fmla="*/ 13 h 21"/>
                <a:gd name="T14" fmla="*/ 19 w 22"/>
                <a:gd name="T15" fmla="*/ 8 h 21"/>
                <a:gd name="T16" fmla="*/ 18 w 22"/>
                <a:gd name="T17" fmla="*/ 1 h 21"/>
                <a:gd name="T18" fmla="*/ 17 w 22"/>
                <a:gd name="T19" fmla="*/ 0 h 21"/>
                <a:gd name="T20" fmla="*/ 14 w 22"/>
                <a:gd name="T21" fmla="*/ 2 h 21"/>
                <a:gd name="T22" fmla="*/ 8 w 22"/>
                <a:gd name="T23" fmla="*/ 3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21"/>
                <a:gd name="T38" fmla="*/ 22 w 22"/>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21">
                  <a:moveTo>
                    <a:pt x="8" y="3"/>
                  </a:moveTo>
                  <a:cubicBezTo>
                    <a:pt x="8" y="4"/>
                    <a:pt x="5" y="8"/>
                    <a:pt x="3" y="10"/>
                  </a:cubicBezTo>
                  <a:cubicBezTo>
                    <a:pt x="0" y="13"/>
                    <a:pt x="2" y="18"/>
                    <a:pt x="2" y="20"/>
                  </a:cubicBezTo>
                  <a:cubicBezTo>
                    <a:pt x="3" y="21"/>
                    <a:pt x="7" y="21"/>
                    <a:pt x="9" y="19"/>
                  </a:cubicBezTo>
                  <a:cubicBezTo>
                    <a:pt x="10" y="18"/>
                    <a:pt x="12" y="19"/>
                    <a:pt x="14" y="21"/>
                  </a:cubicBezTo>
                  <a:cubicBezTo>
                    <a:pt x="15" y="19"/>
                    <a:pt x="17" y="17"/>
                    <a:pt x="19" y="16"/>
                  </a:cubicBezTo>
                  <a:cubicBezTo>
                    <a:pt x="16" y="14"/>
                    <a:pt x="13" y="14"/>
                    <a:pt x="13" y="13"/>
                  </a:cubicBezTo>
                  <a:cubicBezTo>
                    <a:pt x="12" y="12"/>
                    <a:pt x="16" y="9"/>
                    <a:pt x="19" y="8"/>
                  </a:cubicBezTo>
                  <a:cubicBezTo>
                    <a:pt x="22" y="7"/>
                    <a:pt x="21" y="4"/>
                    <a:pt x="18" y="1"/>
                  </a:cubicBezTo>
                  <a:cubicBezTo>
                    <a:pt x="18" y="1"/>
                    <a:pt x="17" y="0"/>
                    <a:pt x="17" y="0"/>
                  </a:cubicBezTo>
                  <a:cubicBezTo>
                    <a:pt x="15" y="1"/>
                    <a:pt x="14" y="2"/>
                    <a:pt x="14" y="2"/>
                  </a:cubicBezTo>
                  <a:cubicBezTo>
                    <a:pt x="13" y="3"/>
                    <a:pt x="11" y="3"/>
                    <a:pt x="8"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7" name="Freeform 43"/>
            <p:cNvSpPr>
              <a:spLocks noChangeArrowheads="1"/>
            </p:cNvSpPr>
            <p:nvPr/>
          </p:nvSpPr>
          <p:spPr bwMode="auto">
            <a:xfrm>
              <a:off x="4416440" y="2074864"/>
              <a:ext cx="146050" cy="123825"/>
            </a:xfrm>
            <a:custGeom>
              <a:avLst/>
              <a:gdLst>
                <a:gd name="T0" fmla="*/ 14 w 77"/>
                <a:gd name="T1" fmla="*/ 10 h 65"/>
                <a:gd name="T2" fmla="*/ 8 w 77"/>
                <a:gd name="T3" fmla="*/ 16 h 65"/>
                <a:gd name="T4" fmla="*/ 4 w 77"/>
                <a:gd name="T5" fmla="*/ 27 h 65"/>
                <a:gd name="T6" fmla="*/ 3 w 77"/>
                <a:gd name="T7" fmla="*/ 43 h 65"/>
                <a:gd name="T8" fmla="*/ 13 w 77"/>
                <a:gd name="T9" fmla="*/ 43 h 65"/>
                <a:gd name="T10" fmla="*/ 16 w 77"/>
                <a:gd name="T11" fmla="*/ 40 h 65"/>
                <a:gd name="T12" fmla="*/ 21 w 77"/>
                <a:gd name="T13" fmla="*/ 38 h 65"/>
                <a:gd name="T14" fmla="*/ 28 w 77"/>
                <a:gd name="T15" fmla="*/ 41 h 65"/>
                <a:gd name="T16" fmla="*/ 33 w 77"/>
                <a:gd name="T17" fmla="*/ 41 h 65"/>
                <a:gd name="T18" fmla="*/ 45 w 77"/>
                <a:gd name="T19" fmla="*/ 41 h 65"/>
                <a:gd name="T20" fmla="*/ 68 w 77"/>
                <a:gd name="T21" fmla="*/ 64 h 65"/>
                <a:gd name="T22" fmla="*/ 68 w 77"/>
                <a:gd name="T23" fmla="*/ 65 h 65"/>
                <a:gd name="T24" fmla="*/ 74 w 77"/>
                <a:gd name="T25" fmla="*/ 64 h 65"/>
                <a:gd name="T26" fmla="*/ 77 w 77"/>
                <a:gd name="T27" fmla="*/ 62 h 65"/>
                <a:gd name="T28" fmla="*/ 65 w 77"/>
                <a:gd name="T29" fmla="*/ 49 h 65"/>
                <a:gd name="T30" fmla="*/ 47 w 77"/>
                <a:gd name="T31" fmla="*/ 36 h 65"/>
                <a:gd name="T32" fmla="*/ 40 w 77"/>
                <a:gd name="T33" fmla="*/ 29 h 65"/>
                <a:gd name="T34" fmla="*/ 31 w 77"/>
                <a:gd name="T35" fmla="*/ 13 h 65"/>
                <a:gd name="T36" fmla="*/ 25 w 77"/>
                <a:gd name="T37" fmla="*/ 0 h 65"/>
                <a:gd name="T38" fmla="*/ 14 w 77"/>
                <a:gd name="T39" fmla="*/ 10 h 6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7"/>
                <a:gd name="T61" fmla="*/ 0 h 65"/>
                <a:gd name="T62" fmla="*/ 77 w 77"/>
                <a:gd name="T63" fmla="*/ 65 h 6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7" h="65">
                  <a:moveTo>
                    <a:pt x="14" y="10"/>
                  </a:moveTo>
                  <a:cubicBezTo>
                    <a:pt x="12" y="12"/>
                    <a:pt x="7" y="13"/>
                    <a:pt x="8" y="16"/>
                  </a:cubicBezTo>
                  <a:cubicBezTo>
                    <a:pt x="9" y="20"/>
                    <a:pt x="7" y="23"/>
                    <a:pt x="4" y="27"/>
                  </a:cubicBezTo>
                  <a:cubicBezTo>
                    <a:pt x="0" y="32"/>
                    <a:pt x="2" y="38"/>
                    <a:pt x="3" y="43"/>
                  </a:cubicBezTo>
                  <a:cubicBezTo>
                    <a:pt x="7" y="42"/>
                    <a:pt x="12" y="42"/>
                    <a:pt x="13" y="43"/>
                  </a:cubicBezTo>
                  <a:cubicBezTo>
                    <a:pt x="14" y="45"/>
                    <a:pt x="15" y="43"/>
                    <a:pt x="16" y="40"/>
                  </a:cubicBezTo>
                  <a:cubicBezTo>
                    <a:pt x="17" y="36"/>
                    <a:pt x="19" y="36"/>
                    <a:pt x="21" y="38"/>
                  </a:cubicBezTo>
                  <a:cubicBezTo>
                    <a:pt x="23" y="40"/>
                    <a:pt x="25" y="43"/>
                    <a:pt x="28" y="41"/>
                  </a:cubicBezTo>
                  <a:cubicBezTo>
                    <a:pt x="32" y="39"/>
                    <a:pt x="32" y="40"/>
                    <a:pt x="33" y="41"/>
                  </a:cubicBezTo>
                  <a:cubicBezTo>
                    <a:pt x="35" y="42"/>
                    <a:pt x="42" y="41"/>
                    <a:pt x="45" y="41"/>
                  </a:cubicBezTo>
                  <a:cubicBezTo>
                    <a:pt x="47" y="41"/>
                    <a:pt x="68" y="64"/>
                    <a:pt x="68" y="64"/>
                  </a:cubicBezTo>
                  <a:cubicBezTo>
                    <a:pt x="68" y="64"/>
                    <a:pt x="68" y="64"/>
                    <a:pt x="68" y="65"/>
                  </a:cubicBezTo>
                  <a:cubicBezTo>
                    <a:pt x="71" y="65"/>
                    <a:pt x="73" y="65"/>
                    <a:pt x="74" y="64"/>
                  </a:cubicBezTo>
                  <a:cubicBezTo>
                    <a:pt x="74" y="64"/>
                    <a:pt x="75" y="63"/>
                    <a:pt x="77" y="62"/>
                  </a:cubicBezTo>
                  <a:cubicBezTo>
                    <a:pt x="74" y="59"/>
                    <a:pt x="70" y="55"/>
                    <a:pt x="65" y="49"/>
                  </a:cubicBezTo>
                  <a:cubicBezTo>
                    <a:pt x="58" y="41"/>
                    <a:pt x="51" y="36"/>
                    <a:pt x="47" y="36"/>
                  </a:cubicBezTo>
                  <a:cubicBezTo>
                    <a:pt x="43" y="36"/>
                    <a:pt x="42" y="29"/>
                    <a:pt x="40" y="29"/>
                  </a:cubicBezTo>
                  <a:cubicBezTo>
                    <a:pt x="37" y="29"/>
                    <a:pt x="32" y="19"/>
                    <a:pt x="31" y="13"/>
                  </a:cubicBezTo>
                  <a:cubicBezTo>
                    <a:pt x="31" y="9"/>
                    <a:pt x="28" y="4"/>
                    <a:pt x="25" y="0"/>
                  </a:cubicBezTo>
                  <a:cubicBezTo>
                    <a:pt x="21" y="6"/>
                    <a:pt x="16" y="9"/>
                    <a:pt x="14"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Freeform 44"/>
            <p:cNvSpPr>
              <a:spLocks noChangeArrowheads="1"/>
            </p:cNvSpPr>
            <p:nvPr/>
          </p:nvSpPr>
          <p:spPr bwMode="auto">
            <a:xfrm>
              <a:off x="4341827" y="2143128"/>
              <a:ext cx="323851" cy="252413"/>
            </a:xfrm>
            <a:custGeom>
              <a:avLst/>
              <a:gdLst>
                <a:gd name="T0" fmla="*/ 12 w 170"/>
                <a:gd name="T1" fmla="*/ 87 h 132"/>
                <a:gd name="T2" fmla="*/ 22 w 170"/>
                <a:gd name="T3" fmla="*/ 99 h 132"/>
                <a:gd name="T4" fmla="*/ 32 w 170"/>
                <a:gd name="T5" fmla="*/ 108 h 132"/>
                <a:gd name="T6" fmla="*/ 32 w 170"/>
                <a:gd name="T7" fmla="*/ 118 h 132"/>
                <a:gd name="T8" fmla="*/ 36 w 170"/>
                <a:gd name="T9" fmla="*/ 119 h 132"/>
                <a:gd name="T10" fmla="*/ 47 w 170"/>
                <a:gd name="T11" fmla="*/ 122 h 132"/>
                <a:gd name="T12" fmla="*/ 60 w 170"/>
                <a:gd name="T13" fmla="*/ 129 h 132"/>
                <a:gd name="T14" fmla="*/ 73 w 170"/>
                <a:gd name="T15" fmla="*/ 131 h 132"/>
                <a:gd name="T16" fmla="*/ 81 w 170"/>
                <a:gd name="T17" fmla="*/ 125 h 132"/>
                <a:gd name="T18" fmla="*/ 91 w 170"/>
                <a:gd name="T19" fmla="*/ 123 h 132"/>
                <a:gd name="T20" fmla="*/ 96 w 170"/>
                <a:gd name="T21" fmla="*/ 126 h 132"/>
                <a:gd name="T22" fmla="*/ 102 w 170"/>
                <a:gd name="T23" fmla="*/ 124 h 132"/>
                <a:gd name="T24" fmla="*/ 111 w 170"/>
                <a:gd name="T25" fmla="*/ 123 h 132"/>
                <a:gd name="T26" fmla="*/ 126 w 170"/>
                <a:gd name="T27" fmla="*/ 115 h 132"/>
                <a:gd name="T28" fmla="*/ 138 w 170"/>
                <a:gd name="T29" fmla="*/ 113 h 132"/>
                <a:gd name="T30" fmla="*/ 168 w 170"/>
                <a:gd name="T31" fmla="*/ 83 h 132"/>
                <a:gd name="T32" fmla="*/ 164 w 170"/>
                <a:gd name="T33" fmla="*/ 80 h 132"/>
                <a:gd name="T34" fmla="*/ 149 w 170"/>
                <a:gd name="T35" fmla="*/ 77 h 132"/>
                <a:gd name="T36" fmla="*/ 126 w 170"/>
                <a:gd name="T37" fmla="*/ 69 h 132"/>
                <a:gd name="T38" fmla="*/ 118 w 170"/>
                <a:gd name="T39" fmla="*/ 62 h 132"/>
                <a:gd name="T40" fmla="*/ 111 w 170"/>
                <a:gd name="T41" fmla="*/ 52 h 132"/>
                <a:gd name="T42" fmla="*/ 113 w 170"/>
                <a:gd name="T43" fmla="*/ 47 h 132"/>
                <a:gd name="T44" fmla="*/ 108 w 170"/>
                <a:gd name="T45" fmla="*/ 45 h 132"/>
                <a:gd name="T46" fmla="*/ 101 w 170"/>
                <a:gd name="T47" fmla="*/ 46 h 132"/>
                <a:gd name="T48" fmla="*/ 102 w 170"/>
                <a:gd name="T49" fmla="*/ 36 h 132"/>
                <a:gd name="T50" fmla="*/ 107 w 170"/>
                <a:gd name="T51" fmla="*/ 28 h 132"/>
                <a:gd name="T52" fmla="*/ 84 w 170"/>
                <a:gd name="T53" fmla="*/ 5 h 132"/>
                <a:gd name="T54" fmla="*/ 72 w 170"/>
                <a:gd name="T55" fmla="*/ 5 h 132"/>
                <a:gd name="T56" fmla="*/ 67 w 170"/>
                <a:gd name="T57" fmla="*/ 5 h 132"/>
                <a:gd name="T58" fmla="*/ 60 w 170"/>
                <a:gd name="T59" fmla="*/ 2 h 132"/>
                <a:gd name="T60" fmla="*/ 55 w 170"/>
                <a:gd name="T61" fmla="*/ 4 h 132"/>
                <a:gd name="T62" fmla="*/ 52 w 170"/>
                <a:gd name="T63" fmla="*/ 7 h 132"/>
                <a:gd name="T64" fmla="*/ 42 w 170"/>
                <a:gd name="T65" fmla="*/ 7 h 132"/>
                <a:gd name="T66" fmla="*/ 42 w 170"/>
                <a:gd name="T67" fmla="*/ 7 h 132"/>
                <a:gd name="T68" fmla="*/ 38 w 170"/>
                <a:gd name="T69" fmla="*/ 20 h 132"/>
                <a:gd name="T70" fmla="*/ 33 w 170"/>
                <a:gd name="T71" fmla="*/ 26 h 132"/>
                <a:gd name="T72" fmla="*/ 26 w 170"/>
                <a:gd name="T73" fmla="*/ 34 h 132"/>
                <a:gd name="T74" fmla="*/ 23 w 170"/>
                <a:gd name="T75" fmla="*/ 45 h 132"/>
                <a:gd name="T76" fmla="*/ 18 w 170"/>
                <a:gd name="T77" fmla="*/ 50 h 132"/>
                <a:gd name="T78" fmla="*/ 14 w 170"/>
                <a:gd name="T79" fmla="*/ 60 h 132"/>
                <a:gd name="T80" fmla="*/ 13 w 170"/>
                <a:gd name="T81" fmla="*/ 73 h 132"/>
                <a:gd name="T82" fmla="*/ 4 w 170"/>
                <a:gd name="T83" fmla="*/ 75 h 132"/>
                <a:gd name="T84" fmla="*/ 2 w 170"/>
                <a:gd name="T85" fmla="*/ 81 h 132"/>
                <a:gd name="T86" fmla="*/ 12 w 170"/>
                <a:gd name="T87" fmla="*/ 87 h 13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70"/>
                <a:gd name="T133" fmla="*/ 0 h 132"/>
                <a:gd name="T134" fmla="*/ 170 w 170"/>
                <a:gd name="T135" fmla="*/ 132 h 13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70" h="132">
                  <a:moveTo>
                    <a:pt x="12" y="87"/>
                  </a:moveTo>
                  <a:cubicBezTo>
                    <a:pt x="14" y="90"/>
                    <a:pt x="20" y="94"/>
                    <a:pt x="22" y="99"/>
                  </a:cubicBezTo>
                  <a:cubicBezTo>
                    <a:pt x="24" y="105"/>
                    <a:pt x="30" y="108"/>
                    <a:pt x="32" y="108"/>
                  </a:cubicBezTo>
                  <a:cubicBezTo>
                    <a:pt x="34" y="108"/>
                    <a:pt x="33" y="111"/>
                    <a:pt x="32" y="118"/>
                  </a:cubicBezTo>
                  <a:cubicBezTo>
                    <a:pt x="33" y="118"/>
                    <a:pt x="35" y="119"/>
                    <a:pt x="36" y="119"/>
                  </a:cubicBezTo>
                  <a:cubicBezTo>
                    <a:pt x="38" y="120"/>
                    <a:pt x="45" y="119"/>
                    <a:pt x="47" y="122"/>
                  </a:cubicBezTo>
                  <a:cubicBezTo>
                    <a:pt x="50" y="124"/>
                    <a:pt x="58" y="129"/>
                    <a:pt x="60" y="129"/>
                  </a:cubicBezTo>
                  <a:cubicBezTo>
                    <a:pt x="63" y="129"/>
                    <a:pt x="72" y="130"/>
                    <a:pt x="73" y="131"/>
                  </a:cubicBezTo>
                  <a:cubicBezTo>
                    <a:pt x="75" y="132"/>
                    <a:pt x="77" y="128"/>
                    <a:pt x="81" y="125"/>
                  </a:cubicBezTo>
                  <a:cubicBezTo>
                    <a:pt x="85" y="123"/>
                    <a:pt x="90" y="122"/>
                    <a:pt x="91" y="123"/>
                  </a:cubicBezTo>
                  <a:cubicBezTo>
                    <a:pt x="91" y="125"/>
                    <a:pt x="94" y="127"/>
                    <a:pt x="96" y="126"/>
                  </a:cubicBezTo>
                  <a:cubicBezTo>
                    <a:pt x="97" y="125"/>
                    <a:pt x="99" y="125"/>
                    <a:pt x="102" y="124"/>
                  </a:cubicBezTo>
                  <a:cubicBezTo>
                    <a:pt x="105" y="123"/>
                    <a:pt x="110" y="122"/>
                    <a:pt x="111" y="123"/>
                  </a:cubicBezTo>
                  <a:cubicBezTo>
                    <a:pt x="113" y="123"/>
                    <a:pt x="118" y="115"/>
                    <a:pt x="126" y="115"/>
                  </a:cubicBezTo>
                  <a:cubicBezTo>
                    <a:pt x="133" y="115"/>
                    <a:pt x="135" y="116"/>
                    <a:pt x="138" y="113"/>
                  </a:cubicBezTo>
                  <a:cubicBezTo>
                    <a:pt x="141" y="109"/>
                    <a:pt x="166" y="84"/>
                    <a:pt x="168" y="83"/>
                  </a:cubicBezTo>
                  <a:cubicBezTo>
                    <a:pt x="170" y="81"/>
                    <a:pt x="167" y="80"/>
                    <a:pt x="164" y="80"/>
                  </a:cubicBezTo>
                  <a:cubicBezTo>
                    <a:pt x="162" y="80"/>
                    <a:pt x="157" y="80"/>
                    <a:pt x="149" y="77"/>
                  </a:cubicBezTo>
                  <a:cubicBezTo>
                    <a:pt x="141" y="73"/>
                    <a:pt x="128" y="69"/>
                    <a:pt x="126" y="69"/>
                  </a:cubicBezTo>
                  <a:cubicBezTo>
                    <a:pt x="124" y="68"/>
                    <a:pt x="120" y="63"/>
                    <a:pt x="118" y="62"/>
                  </a:cubicBezTo>
                  <a:cubicBezTo>
                    <a:pt x="116" y="61"/>
                    <a:pt x="112" y="54"/>
                    <a:pt x="111" y="52"/>
                  </a:cubicBezTo>
                  <a:cubicBezTo>
                    <a:pt x="111" y="51"/>
                    <a:pt x="112" y="49"/>
                    <a:pt x="113" y="47"/>
                  </a:cubicBezTo>
                  <a:cubicBezTo>
                    <a:pt x="111" y="45"/>
                    <a:pt x="109" y="44"/>
                    <a:pt x="108" y="45"/>
                  </a:cubicBezTo>
                  <a:cubicBezTo>
                    <a:pt x="106" y="47"/>
                    <a:pt x="102" y="47"/>
                    <a:pt x="101" y="46"/>
                  </a:cubicBezTo>
                  <a:cubicBezTo>
                    <a:pt x="101" y="44"/>
                    <a:pt x="99" y="39"/>
                    <a:pt x="102" y="36"/>
                  </a:cubicBezTo>
                  <a:cubicBezTo>
                    <a:pt x="104" y="34"/>
                    <a:pt x="107" y="28"/>
                    <a:pt x="107" y="28"/>
                  </a:cubicBezTo>
                  <a:cubicBezTo>
                    <a:pt x="107" y="28"/>
                    <a:pt x="86" y="5"/>
                    <a:pt x="84" y="5"/>
                  </a:cubicBezTo>
                  <a:cubicBezTo>
                    <a:pt x="81" y="5"/>
                    <a:pt x="74" y="6"/>
                    <a:pt x="72" y="5"/>
                  </a:cubicBezTo>
                  <a:cubicBezTo>
                    <a:pt x="71" y="4"/>
                    <a:pt x="71" y="3"/>
                    <a:pt x="67" y="5"/>
                  </a:cubicBezTo>
                  <a:cubicBezTo>
                    <a:pt x="64" y="7"/>
                    <a:pt x="62" y="4"/>
                    <a:pt x="60" y="2"/>
                  </a:cubicBezTo>
                  <a:cubicBezTo>
                    <a:pt x="58" y="0"/>
                    <a:pt x="56" y="0"/>
                    <a:pt x="55" y="4"/>
                  </a:cubicBezTo>
                  <a:cubicBezTo>
                    <a:pt x="54" y="7"/>
                    <a:pt x="53" y="9"/>
                    <a:pt x="52" y="7"/>
                  </a:cubicBezTo>
                  <a:cubicBezTo>
                    <a:pt x="51" y="6"/>
                    <a:pt x="46" y="6"/>
                    <a:pt x="42" y="7"/>
                  </a:cubicBezTo>
                  <a:cubicBezTo>
                    <a:pt x="42" y="7"/>
                    <a:pt x="42" y="7"/>
                    <a:pt x="42" y="7"/>
                  </a:cubicBezTo>
                  <a:cubicBezTo>
                    <a:pt x="43" y="12"/>
                    <a:pt x="38" y="17"/>
                    <a:pt x="38" y="20"/>
                  </a:cubicBezTo>
                  <a:cubicBezTo>
                    <a:pt x="38" y="23"/>
                    <a:pt x="35" y="26"/>
                    <a:pt x="33" y="26"/>
                  </a:cubicBezTo>
                  <a:cubicBezTo>
                    <a:pt x="31" y="26"/>
                    <a:pt x="29" y="31"/>
                    <a:pt x="26" y="34"/>
                  </a:cubicBezTo>
                  <a:cubicBezTo>
                    <a:pt x="23" y="37"/>
                    <a:pt x="25" y="43"/>
                    <a:pt x="23" y="45"/>
                  </a:cubicBezTo>
                  <a:cubicBezTo>
                    <a:pt x="20" y="47"/>
                    <a:pt x="16" y="48"/>
                    <a:pt x="18" y="50"/>
                  </a:cubicBezTo>
                  <a:cubicBezTo>
                    <a:pt x="20" y="52"/>
                    <a:pt x="14" y="56"/>
                    <a:pt x="14" y="60"/>
                  </a:cubicBezTo>
                  <a:cubicBezTo>
                    <a:pt x="14" y="65"/>
                    <a:pt x="14" y="72"/>
                    <a:pt x="13" y="73"/>
                  </a:cubicBezTo>
                  <a:cubicBezTo>
                    <a:pt x="12" y="74"/>
                    <a:pt x="4" y="72"/>
                    <a:pt x="4" y="75"/>
                  </a:cubicBezTo>
                  <a:cubicBezTo>
                    <a:pt x="4" y="79"/>
                    <a:pt x="0" y="79"/>
                    <a:pt x="2" y="81"/>
                  </a:cubicBezTo>
                  <a:cubicBezTo>
                    <a:pt x="3" y="84"/>
                    <a:pt x="11" y="83"/>
                    <a:pt x="12" y="8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9" name="Freeform 45"/>
            <p:cNvSpPr>
              <a:spLocks noChangeArrowheads="1"/>
            </p:cNvSpPr>
            <p:nvPr/>
          </p:nvSpPr>
          <p:spPr bwMode="auto">
            <a:xfrm>
              <a:off x="4392627" y="1682751"/>
              <a:ext cx="33339" cy="39688"/>
            </a:xfrm>
            <a:custGeom>
              <a:avLst/>
              <a:gdLst>
                <a:gd name="T0" fmla="*/ 14 w 17"/>
                <a:gd name="T1" fmla="*/ 9 h 21"/>
                <a:gd name="T2" fmla="*/ 8 w 17"/>
                <a:gd name="T3" fmla="*/ 0 h 21"/>
                <a:gd name="T4" fmla="*/ 8 w 17"/>
                <a:gd name="T5" fmla="*/ 2 h 21"/>
                <a:gd name="T6" fmla="*/ 0 w 17"/>
                <a:gd name="T7" fmla="*/ 18 h 21"/>
                <a:gd name="T8" fmla="*/ 5 w 17"/>
                <a:gd name="T9" fmla="*/ 21 h 21"/>
                <a:gd name="T10" fmla="*/ 14 w 17"/>
                <a:gd name="T11" fmla="*/ 9 h 21"/>
                <a:gd name="T12" fmla="*/ 0 60000 65536"/>
                <a:gd name="T13" fmla="*/ 0 60000 65536"/>
                <a:gd name="T14" fmla="*/ 0 60000 65536"/>
                <a:gd name="T15" fmla="*/ 0 60000 65536"/>
                <a:gd name="T16" fmla="*/ 0 60000 65536"/>
                <a:gd name="T17" fmla="*/ 0 60000 65536"/>
                <a:gd name="T18" fmla="*/ 0 w 17"/>
                <a:gd name="T19" fmla="*/ 0 h 21"/>
                <a:gd name="T20" fmla="*/ 17 w 17"/>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7" h="21">
                  <a:moveTo>
                    <a:pt x="14" y="9"/>
                  </a:moveTo>
                  <a:cubicBezTo>
                    <a:pt x="16" y="7"/>
                    <a:pt x="17" y="0"/>
                    <a:pt x="8" y="0"/>
                  </a:cubicBezTo>
                  <a:cubicBezTo>
                    <a:pt x="8" y="1"/>
                    <a:pt x="8" y="1"/>
                    <a:pt x="8" y="2"/>
                  </a:cubicBezTo>
                  <a:cubicBezTo>
                    <a:pt x="8" y="5"/>
                    <a:pt x="3" y="12"/>
                    <a:pt x="0" y="18"/>
                  </a:cubicBezTo>
                  <a:cubicBezTo>
                    <a:pt x="5" y="21"/>
                    <a:pt x="5" y="21"/>
                    <a:pt x="5" y="21"/>
                  </a:cubicBezTo>
                  <a:cubicBezTo>
                    <a:pt x="8" y="16"/>
                    <a:pt x="12" y="10"/>
                    <a:pt x="14"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0" name="Freeform 46"/>
            <p:cNvSpPr>
              <a:spLocks noChangeArrowheads="1"/>
            </p:cNvSpPr>
            <p:nvPr/>
          </p:nvSpPr>
          <p:spPr bwMode="auto">
            <a:xfrm>
              <a:off x="4402153" y="1620839"/>
              <a:ext cx="149225" cy="119063"/>
            </a:xfrm>
            <a:custGeom>
              <a:avLst/>
              <a:gdLst>
                <a:gd name="T0" fmla="*/ 9 w 78"/>
                <a:gd name="T1" fmla="*/ 41 h 62"/>
                <a:gd name="T2" fmla="*/ 0 w 78"/>
                <a:gd name="T3" fmla="*/ 53 h 62"/>
                <a:gd name="T4" fmla="*/ 1 w 78"/>
                <a:gd name="T5" fmla="*/ 53 h 62"/>
                <a:gd name="T6" fmla="*/ 2 w 78"/>
                <a:gd name="T7" fmla="*/ 57 h 62"/>
                <a:gd name="T8" fmla="*/ 12 w 78"/>
                <a:gd name="T9" fmla="*/ 62 h 62"/>
                <a:gd name="T10" fmla="*/ 23 w 78"/>
                <a:gd name="T11" fmla="*/ 56 h 62"/>
                <a:gd name="T12" fmla="*/ 61 w 78"/>
                <a:gd name="T13" fmla="*/ 37 h 62"/>
                <a:gd name="T14" fmla="*/ 64 w 78"/>
                <a:gd name="T15" fmla="*/ 30 h 62"/>
                <a:gd name="T16" fmla="*/ 65 w 78"/>
                <a:gd name="T17" fmla="*/ 21 h 62"/>
                <a:gd name="T18" fmla="*/ 64 w 78"/>
                <a:gd name="T19" fmla="*/ 12 h 62"/>
                <a:gd name="T20" fmla="*/ 71 w 78"/>
                <a:gd name="T21" fmla="*/ 7 h 62"/>
                <a:gd name="T22" fmla="*/ 78 w 78"/>
                <a:gd name="T23" fmla="*/ 2 h 62"/>
                <a:gd name="T24" fmla="*/ 73 w 78"/>
                <a:gd name="T25" fmla="*/ 0 h 62"/>
                <a:gd name="T26" fmla="*/ 61 w 78"/>
                <a:gd name="T27" fmla="*/ 2 h 62"/>
                <a:gd name="T28" fmla="*/ 46 w 78"/>
                <a:gd name="T29" fmla="*/ 7 h 62"/>
                <a:gd name="T30" fmla="*/ 33 w 78"/>
                <a:gd name="T31" fmla="*/ 6 h 62"/>
                <a:gd name="T32" fmla="*/ 26 w 78"/>
                <a:gd name="T33" fmla="*/ 8 h 62"/>
                <a:gd name="T34" fmla="*/ 16 w 78"/>
                <a:gd name="T35" fmla="*/ 8 h 62"/>
                <a:gd name="T36" fmla="*/ 11 w 78"/>
                <a:gd name="T37" fmla="*/ 10 h 62"/>
                <a:gd name="T38" fmla="*/ 4 w 78"/>
                <a:gd name="T39" fmla="*/ 18 h 62"/>
                <a:gd name="T40" fmla="*/ 4 w 78"/>
                <a:gd name="T41" fmla="*/ 24 h 62"/>
                <a:gd name="T42" fmla="*/ 3 w 78"/>
                <a:gd name="T43" fmla="*/ 32 h 62"/>
                <a:gd name="T44" fmla="*/ 9 w 78"/>
                <a:gd name="T45" fmla="*/ 41 h 6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62"/>
                <a:gd name="T71" fmla="*/ 78 w 78"/>
                <a:gd name="T72" fmla="*/ 62 h 6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62">
                  <a:moveTo>
                    <a:pt x="9" y="41"/>
                  </a:moveTo>
                  <a:cubicBezTo>
                    <a:pt x="7" y="42"/>
                    <a:pt x="3" y="48"/>
                    <a:pt x="0" y="53"/>
                  </a:cubicBezTo>
                  <a:cubicBezTo>
                    <a:pt x="1" y="53"/>
                    <a:pt x="1" y="53"/>
                    <a:pt x="1" y="53"/>
                  </a:cubicBezTo>
                  <a:cubicBezTo>
                    <a:pt x="2" y="57"/>
                    <a:pt x="2" y="57"/>
                    <a:pt x="2" y="57"/>
                  </a:cubicBezTo>
                  <a:cubicBezTo>
                    <a:pt x="12" y="62"/>
                    <a:pt x="12" y="62"/>
                    <a:pt x="12" y="62"/>
                  </a:cubicBezTo>
                  <a:cubicBezTo>
                    <a:pt x="12" y="62"/>
                    <a:pt x="20" y="57"/>
                    <a:pt x="23" y="56"/>
                  </a:cubicBezTo>
                  <a:cubicBezTo>
                    <a:pt x="26" y="56"/>
                    <a:pt x="61" y="37"/>
                    <a:pt x="61" y="37"/>
                  </a:cubicBezTo>
                  <a:cubicBezTo>
                    <a:pt x="61" y="37"/>
                    <a:pt x="65" y="32"/>
                    <a:pt x="64" y="30"/>
                  </a:cubicBezTo>
                  <a:cubicBezTo>
                    <a:pt x="64" y="28"/>
                    <a:pt x="63" y="24"/>
                    <a:pt x="65" y="21"/>
                  </a:cubicBezTo>
                  <a:cubicBezTo>
                    <a:pt x="67" y="19"/>
                    <a:pt x="63" y="16"/>
                    <a:pt x="64" y="12"/>
                  </a:cubicBezTo>
                  <a:cubicBezTo>
                    <a:pt x="65" y="8"/>
                    <a:pt x="71" y="7"/>
                    <a:pt x="71" y="7"/>
                  </a:cubicBezTo>
                  <a:cubicBezTo>
                    <a:pt x="78" y="2"/>
                    <a:pt x="78" y="2"/>
                    <a:pt x="78" y="2"/>
                  </a:cubicBezTo>
                  <a:cubicBezTo>
                    <a:pt x="73" y="0"/>
                    <a:pt x="73" y="0"/>
                    <a:pt x="73" y="0"/>
                  </a:cubicBezTo>
                  <a:cubicBezTo>
                    <a:pt x="73" y="0"/>
                    <a:pt x="68" y="3"/>
                    <a:pt x="61" y="2"/>
                  </a:cubicBezTo>
                  <a:cubicBezTo>
                    <a:pt x="54" y="2"/>
                    <a:pt x="53" y="7"/>
                    <a:pt x="46" y="7"/>
                  </a:cubicBezTo>
                  <a:cubicBezTo>
                    <a:pt x="39" y="7"/>
                    <a:pt x="35" y="8"/>
                    <a:pt x="33" y="6"/>
                  </a:cubicBezTo>
                  <a:cubicBezTo>
                    <a:pt x="31" y="4"/>
                    <a:pt x="31" y="5"/>
                    <a:pt x="26" y="8"/>
                  </a:cubicBezTo>
                  <a:cubicBezTo>
                    <a:pt x="21" y="10"/>
                    <a:pt x="18" y="9"/>
                    <a:pt x="16" y="8"/>
                  </a:cubicBezTo>
                  <a:cubicBezTo>
                    <a:pt x="13" y="6"/>
                    <a:pt x="12" y="8"/>
                    <a:pt x="11" y="10"/>
                  </a:cubicBezTo>
                  <a:cubicBezTo>
                    <a:pt x="11" y="12"/>
                    <a:pt x="11" y="17"/>
                    <a:pt x="4" y="18"/>
                  </a:cubicBezTo>
                  <a:cubicBezTo>
                    <a:pt x="4" y="20"/>
                    <a:pt x="3" y="22"/>
                    <a:pt x="4" y="24"/>
                  </a:cubicBezTo>
                  <a:cubicBezTo>
                    <a:pt x="6" y="26"/>
                    <a:pt x="4" y="28"/>
                    <a:pt x="3" y="32"/>
                  </a:cubicBezTo>
                  <a:cubicBezTo>
                    <a:pt x="12" y="32"/>
                    <a:pt x="11" y="39"/>
                    <a:pt x="9" y="4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1" name="Freeform 47"/>
            <p:cNvSpPr>
              <a:spLocks noChangeArrowheads="1"/>
            </p:cNvSpPr>
            <p:nvPr/>
          </p:nvSpPr>
          <p:spPr bwMode="auto">
            <a:xfrm>
              <a:off x="6343671" y="1597027"/>
              <a:ext cx="80963" cy="101600"/>
            </a:xfrm>
            <a:custGeom>
              <a:avLst/>
              <a:gdLst>
                <a:gd name="T0" fmla="*/ 10 w 43"/>
                <a:gd name="T1" fmla="*/ 4 h 53"/>
                <a:gd name="T2" fmla="*/ 4 w 43"/>
                <a:gd name="T3" fmla="*/ 9 h 53"/>
                <a:gd name="T4" fmla="*/ 7 w 43"/>
                <a:gd name="T5" fmla="*/ 15 h 53"/>
                <a:gd name="T6" fmla="*/ 7 w 43"/>
                <a:gd name="T7" fmla="*/ 20 h 53"/>
                <a:gd name="T8" fmla="*/ 6 w 43"/>
                <a:gd name="T9" fmla="*/ 30 h 53"/>
                <a:gd name="T10" fmla="*/ 3 w 43"/>
                <a:gd name="T11" fmla="*/ 44 h 53"/>
                <a:gd name="T12" fmla="*/ 4 w 43"/>
                <a:gd name="T13" fmla="*/ 51 h 53"/>
                <a:gd name="T14" fmla="*/ 26 w 43"/>
                <a:gd name="T15" fmla="*/ 44 h 53"/>
                <a:gd name="T16" fmla="*/ 37 w 43"/>
                <a:gd name="T17" fmla="*/ 40 h 53"/>
                <a:gd name="T18" fmla="*/ 41 w 43"/>
                <a:gd name="T19" fmla="*/ 35 h 53"/>
                <a:gd name="T20" fmla="*/ 38 w 43"/>
                <a:gd name="T21" fmla="*/ 19 h 53"/>
                <a:gd name="T22" fmla="*/ 27 w 43"/>
                <a:gd name="T23" fmla="*/ 0 h 53"/>
                <a:gd name="T24" fmla="*/ 21 w 43"/>
                <a:gd name="T25" fmla="*/ 2 h 53"/>
                <a:gd name="T26" fmla="*/ 10 w 43"/>
                <a:gd name="T27" fmla="*/ 4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53"/>
                <a:gd name="T44" fmla="*/ 43 w 43"/>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53">
                  <a:moveTo>
                    <a:pt x="10" y="4"/>
                  </a:moveTo>
                  <a:cubicBezTo>
                    <a:pt x="9" y="5"/>
                    <a:pt x="6" y="7"/>
                    <a:pt x="4" y="9"/>
                  </a:cubicBezTo>
                  <a:cubicBezTo>
                    <a:pt x="5" y="11"/>
                    <a:pt x="5" y="15"/>
                    <a:pt x="7" y="15"/>
                  </a:cubicBezTo>
                  <a:cubicBezTo>
                    <a:pt x="11" y="15"/>
                    <a:pt x="11" y="21"/>
                    <a:pt x="7" y="20"/>
                  </a:cubicBezTo>
                  <a:cubicBezTo>
                    <a:pt x="3" y="19"/>
                    <a:pt x="3" y="25"/>
                    <a:pt x="6" y="30"/>
                  </a:cubicBezTo>
                  <a:cubicBezTo>
                    <a:pt x="10" y="35"/>
                    <a:pt x="0" y="41"/>
                    <a:pt x="3" y="44"/>
                  </a:cubicBezTo>
                  <a:cubicBezTo>
                    <a:pt x="5" y="47"/>
                    <a:pt x="3" y="50"/>
                    <a:pt x="4" y="51"/>
                  </a:cubicBezTo>
                  <a:cubicBezTo>
                    <a:pt x="5" y="53"/>
                    <a:pt x="20" y="51"/>
                    <a:pt x="26" y="44"/>
                  </a:cubicBezTo>
                  <a:cubicBezTo>
                    <a:pt x="32" y="38"/>
                    <a:pt x="34" y="39"/>
                    <a:pt x="37" y="40"/>
                  </a:cubicBezTo>
                  <a:cubicBezTo>
                    <a:pt x="40" y="41"/>
                    <a:pt x="43" y="37"/>
                    <a:pt x="41" y="35"/>
                  </a:cubicBezTo>
                  <a:cubicBezTo>
                    <a:pt x="40" y="32"/>
                    <a:pt x="38" y="26"/>
                    <a:pt x="38" y="19"/>
                  </a:cubicBezTo>
                  <a:cubicBezTo>
                    <a:pt x="39" y="14"/>
                    <a:pt x="33" y="6"/>
                    <a:pt x="27" y="0"/>
                  </a:cubicBezTo>
                  <a:cubicBezTo>
                    <a:pt x="25" y="1"/>
                    <a:pt x="23" y="2"/>
                    <a:pt x="21" y="2"/>
                  </a:cubicBezTo>
                  <a:cubicBezTo>
                    <a:pt x="17" y="2"/>
                    <a:pt x="12" y="2"/>
                    <a:pt x="10"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2" name="Freeform 48"/>
            <p:cNvSpPr>
              <a:spLocks noChangeArrowheads="1"/>
            </p:cNvSpPr>
            <p:nvPr/>
          </p:nvSpPr>
          <p:spPr bwMode="auto">
            <a:xfrm>
              <a:off x="5532457" y="1882777"/>
              <a:ext cx="95250" cy="128588"/>
            </a:xfrm>
            <a:custGeom>
              <a:avLst/>
              <a:gdLst>
                <a:gd name="T0" fmla="*/ 50 w 50"/>
                <a:gd name="T1" fmla="*/ 56 h 67"/>
                <a:gd name="T2" fmla="*/ 46 w 50"/>
                <a:gd name="T3" fmla="*/ 34 h 67"/>
                <a:gd name="T4" fmla="*/ 37 w 50"/>
                <a:gd name="T5" fmla="*/ 43 h 67"/>
                <a:gd name="T6" fmla="*/ 38 w 50"/>
                <a:gd name="T7" fmla="*/ 31 h 67"/>
                <a:gd name="T8" fmla="*/ 47 w 50"/>
                <a:gd name="T9" fmla="*/ 19 h 67"/>
                <a:gd name="T10" fmla="*/ 39 w 50"/>
                <a:gd name="T11" fmla="*/ 17 h 67"/>
                <a:gd name="T12" fmla="*/ 26 w 50"/>
                <a:gd name="T13" fmla="*/ 17 h 67"/>
                <a:gd name="T14" fmla="*/ 21 w 50"/>
                <a:gd name="T15" fmla="*/ 12 h 67"/>
                <a:gd name="T16" fmla="*/ 13 w 50"/>
                <a:gd name="T17" fmla="*/ 6 h 67"/>
                <a:gd name="T18" fmla="*/ 4 w 50"/>
                <a:gd name="T19" fmla="*/ 6 h 67"/>
                <a:gd name="T20" fmla="*/ 11 w 50"/>
                <a:gd name="T21" fmla="*/ 15 h 67"/>
                <a:gd name="T22" fmla="*/ 5 w 50"/>
                <a:gd name="T23" fmla="*/ 20 h 67"/>
                <a:gd name="T24" fmla="*/ 8 w 50"/>
                <a:gd name="T25" fmla="*/ 37 h 67"/>
                <a:gd name="T26" fmla="*/ 12 w 50"/>
                <a:gd name="T27" fmla="*/ 57 h 67"/>
                <a:gd name="T28" fmla="*/ 19 w 50"/>
                <a:gd name="T29" fmla="*/ 55 h 67"/>
                <a:gd name="T30" fmla="*/ 28 w 50"/>
                <a:gd name="T31" fmla="*/ 51 h 67"/>
                <a:gd name="T32" fmla="*/ 35 w 50"/>
                <a:gd name="T33" fmla="*/ 46 h 67"/>
                <a:gd name="T34" fmla="*/ 41 w 50"/>
                <a:gd name="T35" fmla="*/ 61 h 67"/>
                <a:gd name="T36" fmla="*/ 43 w 50"/>
                <a:gd name="T37" fmla="*/ 67 h 67"/>
                <a:gd name="T38" fmla="*/ 47 w 50"/>
                <a:gd name="T39" fmla="*/ 63 h 67"/>
                <a:gd name="T40" fmla="*/ 50 w 50"/>
                <a:gd name="T41" fmla="*/ 56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0"/>
                <a:gd name="T64" fmla="*/ 0 h 67"/>
                <a:gd name="T65" fmla="*/ 50 w 50"/>
                <a:gd name="T66" fmla="*/ 67 h 6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0" h="67">
                  <a:moveTo>
                    <a:pt x="50" y="56"/>
                  </a:moveTo>
                  <a:cubicBezTo>
                    <a:pt x="48" y="45"/>
                    <a:pt x="47" y="34"/>
                    <a:pt x="46" y="34"/>
                  </a:cubicBezTo>
                  <a:cubicBezTo>
                    <a:pt x="43" y="34"/>
                    <a:pt x="41" y="44"/>
                    <a:pt x="37" y="43"/>
                  </a:cubicBezTo>
                  <a:cubicBezTo>
                    <a:pt x="34" y="42"/>
                    <a:pt x="34" y="31"/>
                    <a:pt x="38" y="31"/>
                  </a:cubicBezTo>
                  <a:cubicBezTo>
                    <a:pt x="42" y="31"/>
                    <a:pt x="47" y="22"/>
                    <a:pt x="47" y="19"/>
                  </a:cubicBezTo>
                  <a:cubicBezTo>
                    <a:pt x="47" y="17"/>
                    <a:pt x="43" y="17"/>
                    <a:pt x="39" y="17"/>
                  </a:cubicBezTo>
                  <a:cubicBezTo>
                    <a:pt x="35" y="17"/>
                    <a:pt x="26" y="17"/>
                    <a:pt x="26" y="17"/>
                  </a:cubicBezTo>
                  <a:cubicBezTo>
                    <a:pt x="26" y="17"/>
                    <a:pt x="21" y="15"/>
                    <a:pt x="21" y="12"/>
                  </a:cubicBezTo>
                  <a:cubicBezTo>
                    <a:pt x="21" y="8"/>
                    <a:pt x="18" y="6"/>
                    <a:pt x="13" y="6"/>
                  </a:cubicBezTo>
                  <a:cubicBezTo>
                    <a:pt x="8" y="6"/>
                    <a:pt x="8" y="0"/>
                    <a:pt x="4" y="6"/>
                  </a:cubicBezTo>
                  <a:cubicBezTo>
                    <a:pt x="0" y="11"/>
                    <a:pt x="12" y="11"/>
                    <a:pt x="11" y="15"/>
                  </a:cubicBezTo>
                  <a:cubicBezTo>
                    <a:pt x="10" y="19"/>
                    <a:pt x="6" y="17"/>
                    <a:pt x="5" y="20"/>
                  </a:cubicBezTo>
                  <a:cubicBezTo>
                    <a:pt x="4" y="23"/>
                    <a:pt x="6" y="32"/>
                    <a:pt x="8" y="37"/>
                  </a:cubicBezTo>
                  <a:cubicBezTo>
                    <a:pt x="9" y="40"/>
                    <a:pt x="12" y="50"/>
                    <a:pt x="12" y="57"/>
                  </a:cubicBezTo>
                  <a:cubicBezTo>
                    <a:pt x="15" y="57"/>
                    <a:pt x="16" y="55"/>
                    <a:pt x="19" y="55"/>
                  </a:cubicBezTo>
                  <a:cubicBezTo>
                    <a:pt x="23" y="55"/>
                    <a:pt x="28" y="55"/>
                    <a:pt x="28" y="51"/>
                  </a:cubicBezTo>
                  <a:cubicBezTo>
                    <a:pt x="29" y="47"/>
                    <a:pt x="33" y="44"/>
                    <a:pt x="35" y="46"/>
                  </a:cubicBezTo>
                  <a:cubicBezTo>
                    <a:pt x="37" y="47"/>
                    <a:pt x="41" y="56"/>
                    <a:pt x="41" y="61"/>
                  </a:cubicBezTo>
                  <a:cubicBezTo>
                    <a:pt x="41" y="62"/>
                    <a:pt x="42" y="64"/>
                    <a:pt x="43" y="67"/>
                  </a:cubicBezTo>
                  <a:cubicBezTo>
                    <a:pt x="45" y="65"/>
                    <a:pt x="47" y="63"/>
                    <a:pt x="47" y="63"/>
                  </a:cubicBezTo>
                  <a:cubicBezTo>
                    <a:pt x="47" y="63"/>
                    <a:pt x="48" y="58"/>
                    <a:pt x="50" y="5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3" name="Freeform 49"/>
            <p:cNvSpPr>
              <a:spLocks noChangeArrowheads="1"/>
            </p:cNvSpPr>
            <p:nvPr/>
          </p:nvSpPr>
          <p:spPr bwMode="auto">
            <a:xfrm>
              <a:off x="5118117" y="1666876"/>
              <a:ext cx="601665" cy="635001"/>
            </a:xfrm>
            <a:custGeom>
              <a:avLst/>
              <a:gdLst>
                <a:gd name="T0" fmla="*/ 222 w 315"/>
                <a:gd name="T1" fmla="*/ 133 h 332"/>
                <a:gd name="T2" fmla="*/ 221 w 315"/>
                <a:gd name="T3" fmla="*/ 119 h 332"/>
                <a:gd name="T4" fmla="*/ 238 w 315"/>
                <a:gd name="T5" fmla="*/ 125 h 332"/>
                <a:gd name="T6" fmla="*/ 256 w 315"/>
                <a:gd name="T7" fmla="*/ 130 h 332"/>
                <a:gd name="T8" fmla="*/ 255 w 315"/>
                <a:gd name="T9" fmla="*/ 144 h 332"/>
                <a:gd name="T10" fmla="*/ 263 w 315"/>
                <a:gd name="T11" fmla="*/ 147 h 332"/>
                <a:gd name="T12" fmla="*/ 269 w 315"/>
                <a:gd name="T13" fmla="*/ 168 h 332"/>
                <a:gd name="T14" fmla="*/ 274 w 315"/>
                <a:gd name="T15" fmla="*/ 145 h 332"/>
                <a:gd name="T16" fmla="*/ 287 w 315"/>
                <a:gd name="T17" fmla="*/ 131 h 332"/>
                <a:gd name="T18" fmla="*/ 298 w 315"/>
                <a:gd name="T19" fmla="*/ 109 h 332"/>
                <a:gd name="T20" fmla="*/ 312 w 315"/>
                <a:gd name="T21" fmla="*/ 105 h 332"/>
                <a:gd name="T22" fmla="*/ 314 w 315"/>
                <a:gd name="T23" fmla="*/ 92 h 332"/>
                <a:gd name="T24" fmla="*/ 303 w 315"/>
                <a:gd name="T25" fmla="*/ 81 h 332"/>
                <a:gd name="T26" fmla="*/ 283 w 315"/>
                <a:gd name="T27" fmla="*/ 82 h 332"/>
                <a:gd name="T28" fmla="*/ 269 w 315"/>
                <a:gd name="T29" fmla="*/ 93 h 332"/>
                <a:gd name="T30" fmla="*/ 258 w 315"/>
                <a:gd name="T31" fmla="*/ 100 h 332"/>
                <a:gd name="T32" fmla="*/ 248 w 315"/>
                <a:gd name="T33" fmla="*/ 111 h 332"/>
                <a:gd name="T34" fmla="*/ 230 w 315"/>
                <a:gd name="T35" fmla="*/ 108 h 332"/>
                <a:gd name="T36" fmla="*/ 223 w 315"/>
                <a:gd name="T37" fmla="*/ 95 h 332"/>
                <a:gd name="T38" fmla="*/ 218 w 315"/>
                <a:gd name="T39" fmla="*/ 112 h 332"/>
                <a:gd name="T40" fmla="*/ 184 w 315"/>
                <a:gd name="T41" fmla="*/ 108 h 332"/>
                <a:gd name="T42" fmla="*/ 167 w 315"/>
                <a:gd name="T43" fmla="*/ 103 h 332"/>
                <a:gd name="T44" fmla="*/ 149 w 315"/>
                <a:gd name="T45" fmla="*/ 93 h 332"/>
                <a:gd name="T46" fmla="*/ 134 w 315"/>
                <a:gd name="T47" fmla="*/ 85 h 332"/>
                <a:gd name="T48" fmla="*/ 141 w 315"/>
                <a:gd name="T49" fmla="*/ 69 h 332"/>
                <a:gd name="T50" fmla="*/ 130 w 315"/>
                <a:gd name="T51" fmla="*/ 58 h 332"/>
                <a:gd name="T52" fmla="*/ 116 w 315"/>
                <a:gd name="T53" fmla="*/ 43 h 332"/>
                <a:gd name="T54" fmla="*/ 126 w 315"/>
                <a:gd name="T55" fmla="*/ 34 h 332"/>
                <a:gd name="T56" fmla="*/ 119 w 315"/>
                <a:gd name="T57" fmla="*/ 13 h 332"/>
                <a:gd name="T58" fmla="*/ 108 w 315"/>
                <a:gd name="T59" fmla="*/ 0 h 332"/>
                <a:gd name="T60" fmla="*/ 99 w 315"/>
                <a:gd name="T61" fmla="*/ 9 h 332"/>
                <a:gd name="T62" fmla="*/ 71 w 315"/>
                <a:gd name="T63" fmla="*/ 10 h 332"/>
                <a:gd name="T64" fmla="*/ 67 w 315"/>
                <a:gd name="T65" fmla="*/ 27 h 332"/>
                <a:gd name="T66" fmla="*/ 79 w 315"/>
                <a:gd name="T67" fmla="*/ 43 h 332"/>
                <a:gd name="T68" fmla="*/ 71 w 315"/>
                <a:gd name="T69" fmla="*/ 60 h 332"/>
                <a:gd name="T70" fmla="*/ 59 w 315"/>
                <a:gd name="T71" fmla="*/ 71 h 332"/>
                <a:gd name="T72" fmla="*/ 45 w 315"/>
                <a:gd name="T73" fmla="*/ 89 h 332"/>
                <a:gd name="T74" fmla="*/ 31 w 315"/>
                <a:gd name="T75" fmla="*/ 98 h 332"/>
                <a:gd name="T76" fmla="*/ 15 w 315"/>
                <a:gd name="T77" fmla="*/ 108 h 332"/>
                <a:gd name="T78" fmla="*/ 27 w 315"/>
                <a:gd name="T79" fmla="*/ 127 h 332"/>
                <a:gd name="T80" fmla="*/ 22 w 315"/>
                <a:gd name="T81" fmla="*/ 140 h 332"/>
                <a:gd name="T82" fmla="*/ 1 w 315"/>
                <a:gd name="T83" fmla="*/ 147 h 332"/>
                <a:gd name="T84" fmla="*/ 11 w 315"/>
                <a:gd name="T85" fmla="*/ 158 h 332"/>
                <a:gd name="T86" fmla="*/ 8 w 315"/>
                <a:gd name="T87" fmla="*/ 164 h 332"/>
                <a:gd name="T88" fmla="*/ 43 w 315"/>
                <a:gd name="T89" fmla="*/ 172 h 332"/>
                <a:gd name="T90" fmla="*/ 50 w 315"/>
                <a:gd name="T91" fmla="*/ 177 h 332"/>
                <a:gd name="T92" fmla="*/ 52 w 315"/>
                <a:gd name="T93" fmla="*/ 207 h 332"/>
                <a:gd name="T94" fmla="*/ 68 w 315"/>
                <a:gd name="T95" fmla="*/ 257 h 332"/>
                <a:gd name="T96" fmla="*/ 89 w 315"/>
                <a:gd name="T97" fmla="*/ 310 h 332"/>
                <a:gd name="T98" fmla="*/ 111 w 315"/>
                <a:gd name="T99" fmla="*/ 323 h 332"/>
                <a:gd name="T100" fmla="*/ 126 w 315"/>
                <a:gd name="T101" fmla="*/ 305 h 332"/>
                <a:gd name="T102" fmla="*/ 132 w 315"/>
                <a:gd name="T103" fmla="*/ 283 h 332"/>
                <a:gd name="T104" fmla="*/ 134 w 315"/>
                <a:gd name="T105" fmla="*/ 250 h 332"/>
                <a:gd name="T106" fmla="*/ 150 w 315"/>
                <a:gd name="T107" fmla="*/ 233 h 332"/>
                <a:gd name="T108" fmla="*/ 185 w 315"/>
                <a:gd name="T109" fmla="*/ 201 h 332"/>
                <a:gd name="T110" fmla="*/ 206 w 315"/>
                <a:gd name="T111" fmla="*/ 178 h 332"/>
                <a:gd name="T112" fmla="*/ 229 w 315"/>
                <a:gd name="T113" fmla="*/ 170 h 33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315"/>
                <a:gd name="T172" fmla="*/ 0 h 332"/>
                <a:gd name="T173" fmla="*/ 315 w 315"/>
                <a:gd name="T174" fmla="*/ 332 h 33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315" h="332">
                  <a:moveTo>
                    <a:pt x="225" y="150"/>
                  </a:moveTo>
                  <a:cubicBezTo>
                    <a:pt x="223" y="145"/>
                    <a:pt x="221" y="136"/>
                    <a:pt x="222" y="133"/>
                  </a:cubicBezTo>
                  <a:cubicBezTo>
                    <a:pt x="223" y="130"/>
                    <a:pt x="227" y="132"/>
                    <a:pt x="228" y="128"/>
                  </a:cubicBezTo>
                  <a:cubicBezTo>
                    <a:pt x="229" y="124"/>
                    <a:pt x="217" y="124"/>
                    <a:pt x="221" y="119"/>
                  </a:cubicBezTo>
                  <a:cubicBezTo>
                    <a:pt x="225" y="113"/>
                    <a:pt x="225" y="119"/>
                    <a:pt x="230" y="119"/>
                  </a:cubicBezTo>
                  <a:cubicBezTo>
                    <a:pt x="235" y="119"/>
                    <a:pt x="238" y="121"/>
                    <a:pt x="238" y="125"/>
                  </a:cubicBezTo>
                  <a:cubicBezTo>
                    <a:pt x="238" y="128"/>
                    <a:pt x="243" y="130"/>
                    <a:pt x="243" y="130"/>
                  </a:cubicBezTo>
                  <a:cubicBezTo>
                    <a:pt x="243" y="130"/>
                    <a:pt x="252" y="130"/>
                    <a:pt x="256" y="130"/>
                  </a:cubicBezTo>
                  <a:cubicBezTo>
                    <a:pt x="260" y="130"/>
                    <a:pt x="264" y="130"/>
                    <a:pt x="264" y="132"/>
                  </a:cubicBezTo>
                  <a:cubicBezTo>
                    <a:pt x="264" y="135"/>
                    <a:pt x="259" y="144"/>
                    <a:pt x="255" y="144"/>
                  </a:cubicBezTo>
                  <a:cubicBezTo>
                    <a:pt x="251" y="144"/>
                    <a:pt x="251" y="155"/>
                    <a:pt x="254" y="156"/>
                  </a:cubicBezTo>
                  <a:cubicBezTo>
                    <a:pt x="258" y="157"/>
                    <a:pt x="260" y="147"/>
                    <a:pt x="263" y="147"/>
                  </a:cubicBezTo>
                  <a:cubicBezTo>
                    <a:pt x="264" y="147"/>
                    <a:pt x="265" y="158"/>
                    <a:pt x="267" y="169"/>
                  </a:cubicBezTo>
                  <a:cubicBezTo>
                    <a:pt x="268" y="168"/>
                    <a:pt x="268" y="168"/>
                    <a:pt x="269" y="168"/>
                  </a:cubicBezTo>
                  <a:cubicBezTo>
                    <a:pt x="271" y="168"/>
                    <a:pt x="270" y="158"/>
                    <a:pt x="272" y="156"/>
                  </a:cubicBezTo>
                  <a:cubicBezTo>
                    <a:pt x="274" y="153"/>
                    <a:pt x="273" y="145"/>
                    <a:pt x="274" y="145"/>
                  </a:cubicBezTo>
                  <a:cubicBezTo>
                    <a:pt x="275" y="145"/>
                    <a:pt x="283" y="147"/>
                    <a:pt x="283" y="145"/>
                  </a:cubicBezTo>
                  <a:cubicBezTo>
                    <a:pt x="283" y="143"/>
                    <a:pt x="288" y="135"/>
                    <a:pt x="287" y="131"/>
                  </a:cubicBezTo>
                  <a:cubicBezTo>
                    <a:pt x="286" y="127"/>
                    <a:pt x="290" y="122"/>
                    <a:pt x="290" y="117"/>
                  </a:cubicBezTo>
                  <a:cubicBezTo>
                    <a:pt x="290" y="113"/>
                    <a:pt x="295" y="111"/>
                    <a:pt x="298" y="109"/>
                  </a:cubicBezTo>
                  <a:cubicBezTo>
                    <a:pt x="301" y="106"/>
                    <a:pt x="306" y="102"/>
                    <a:pt x="307" y="105"/>
                  </a:cubicBezTo>
                  <a:cubicBezTo>
                    <a:pt x="308" y="107"/>
                    <a:pt x="315" y="109"/>
                    <a:pt x="312" y="105"/>
                  </a:cubicBezTo>
                  <a:cubicBezTo>
                    <a:pt x="309" y="101"/>
                    <a:pt x="309" y="98"/>
                    <a:pt x="311" y="97"/>
                  </a:cubicBezTo>
                  <a:cubicBezTo>
                    <a:pt x="313" y="96"/>
                    <a:pt x="314" y="92"/>
                    <a:pt x="314" y="92"/>
                  </a:cubicBezTo>
                  <a:cubicBezTo>
                    <a:pt x="314" y="92"/>
                    <a:pt x="308" y="91"/>
                    <a:pt x="307" y="88"/>
                  </a:cubicBezTo>
                  <a:cubicBezTo>
                    <a:pt x="306" y="85"/>
                    <a:pt x="303" y="83"/>
                    <a:pt x="303" y="81"/>
                  </a:cubicBezTo>
                  <a:cubicBezTo>
                    <a:pt x="303" y="78"/>
                    <a:pt x="299" y="79"/>
                    <a:pt x="297" y="81"/>
                  </a:cubicBezTo>
                  <a:cubicBezTo>
                    <a:pt x="294" y="84"/>
                    <a:pt x="289" y="79"/>
                    <a:pt x="283" y="82"/>
                  </a:cubicBezTo>
                  <a:cubicBezTo>
                    <a:pt x="278" y="85"/>
                    <a:pt x="276" y="89"/>
                    <a:pt x="274" y="88"/>
                  </a:cubicBezTo>
                  <a:cubicBezTo>
                    <a:pt x="271" y="88"/>
                    <a:pt x="271" y="90"/>
                    <a:pt x="269" y="93"/>
                  </a:cubicBezTo>
                  <a:cubicBezTo>
                    <a:pt x="267" y="95"/>
                    <a:pt x="265" y="97"/>
                    <a:pt x="264" y="97"/>
                  </a:cubicBezTo>
                  <a:cubicBezTo>
                    <a:pt x="262" y="97"/>
                    <a:pt x="258" y="100"/>
                    <a:pt x="258" y="100"/>
                  </a:cubicBezTo>
                  <a:cubicBezTo>
                    <a:pt x="258" y="100"/>
                    <a:pt x="261" y="106"/>
                    <a:pt x="259" y="109"/>
                  </a:cubicBezTo>
                  <a:cubicBezTo>
                    <a:pt x="258" y="113"/>
                    <a:pt x="253" y="109"/>
                    <a:pt x="248" y="111"/>
                  </a:cubicBezTo>
                  <a:cubicBezTo>
                    <a:pt x="243" y="112"/>
                    <a:pt x="241" y="109"/>
                    <a:pt x="238" y="110"/>
                  </a:cubicBezTo>
                  <a:cubicBezTo>
                    <a:pt x="234" y="111"/>
                    <a:pt x="232" y="108"/>
                    <a:pt x="230" y="108"/>
                  </a:cubicBezTo>
                  <a:cubicBezTo>
                    <a:pt x="228" y="109"/>
                    <a:pt x="226" y="104"/>
                    <a:pt x="226" y="101"/>
                  </a:cubicBezTo>
                  <a:cubicBezTo>
                    <a:pt x="227" y="97"/>
                    <a:pt x="225" y="92"/>
                    <a:pt x="223" y="95"/>
                  </a:cubicBezTo>
                  <a:cubicBezTo>
                    <a:pt x="221" y="97"/>
                    <a:pt x="218" y="96"/>
                    <a:pt x="218" y="100"/>
                  </a:cubicBezTo>
                  <a:cubicBezTo>
                    <a:pt x="218" y="104"/>
                    <a:pt x="221" y="109"/>
                    <a:pt x="218" y="112"/>
                  </a:cubicBezTo>
                  <a:cubicBezTo>
                    <a:pt x="215" y="114"/>
                    <a:pt x="201" y="116"/>
                    <a:pt x="198" y="113"/>
                  </a:cubicBezTo>
                  <a:cubicBezTo>
                    <a:pt x="196" y="111"/>
                    <a:pt x="184" y="110"/>
                    <a:pt x="184" y="108"/>
                  </a:cubicBezTo>
                  <a:cubicBezTo>
                    <a:pt x="183" y="105"/>
                    <a:pt x="180" y="101"/>
                    <a:pt x="177" y="101"/>
                  </a:cubicBezTo>
                  <a:cubicBezTo>
                    <a:pt x="175" y="101"/>
                    <a:pt x="169" y="105"/>
                    <a:pt x="167" y="103"/>
                  </a:cubicBezTo>
                  <a:cubicBezTo>
                    <a:pt x="165" y="102"/>
                    <a:pt x="161" y="98"/>
                    <a:pt x="157" y="98"/>
                  </a:cubicBezTo>
                  <a:cubicBezTo>
                    <a:pt x="154" y="97"/>
                    <a:pt x="149" y="95"/>
                    <a:pt x="149" y="93"/>
                  </a:cubicBezTo>
                  <a:cubicBezTo>
                    <a:pt x="149" y="92"/>
                    <a:pt x="141" y="91"/>
                    <a:pt x="140" y="89"/>
                  </a:cubicBezTo>
                  <a:cubicBezTo>
                    <a:pt x="139" y="87"/>
                    <a:pt x="134" y="87"/>
                    <a:pt x="134" y="85"/>
                  </a:cubicBezTo>
                  <a:cubicBezTo>
                    <a:pt x="134" y="82"/>
                    <a:pt x="136" y="79"/>
                    <a:pt x="136" y="76"/>
                  </a:cubicBezTo>
                  <a:cubicBezTo>
                    <a:pt x="136" y="73"/>
                    <a:pt x="141" y="71"/>
                    <a:pt x="141" y="69"/>
                  </a:cubicBezTo>
                  <a:cubicBezTo>
                    <a:pt x="141" y="67"/>
                    <a:pt x="137" y="64"/>
                    <a:pt x="137" y="64"/>
                  </a:cubicBezTo>
                  <a:cubicBezTo>
                    <a:pt x="137" y="64"/>
                    <a:pt x="133" y="58"/>
                    <a:pt x="130" y="58"/>
                  </a:cubicBezTo>
                  <a:cubicBezTo>
                    <a:pt x="126" y="58"/>
                    <a:pt x="124" y="52"/>
                    <a:pt x="120" y="52"/>
                  </a:cubicBezTo>
                  <a:cubicBezTo>
                    <a:pt x="117" y="51"/>
                    <a:pt x="118" y="45"/>
                    <a:pt x="116" y="43"/>
                  </a:cubicBezTo>
                  <a:cubicBezTo>
                    <a:pt x="115" y="40"/>
                    <a:pt x="116" y="35"/>
                    <a:pt x="119" y="38"/>
                  </a:cubicBezTo>
                  <a:cubicBezTo>
                    <a:pt x="122" y="40"/>
                    <a:pt x="128" y="38"/>
                    <a:pt x="126" y="34"/>
                  </a:cubicBezTo>
                  <a:cubicBezTo>
                    <a:pt x="124" y="30"/>
                    <a:pt x="120" y="26"/>
                    <a:pt x="120" y="24"/>
                  </a:cubicBezTo>
                  <a:cubicBezTo>
                    <a:pt x="120" y="22"/>
                    <a:pt x="122" y="15"/>
                    <a:pt x="119" y="13"/>
                  </a:cubicBezTo>
                  <a:cubicBezTo>
                    <a:pt x="116" y="12"/>
                    <a:pt x="113" y="9"/>
                    <a:pt x="112" y="6"/>
                  </a:cubicBezTo>
                  <a:cubicBezTo>
                    <a:pt x="112" y="3"/>
                    <a:pt x="108" y="0"/>
                    <a:pt x="108" y="0"/>
                  </a:cubicBezTo>
                  <a:cubicBezTo>
                    <a:pt x="104" y="1"/>
                    <a:pt x="104" y="1"/>
                    <a:pt x="104" y="1"/>
                  </a:cubicBezTo>
                  <a:cubicBezTo>
                    <a:pt x="104" y="1"/>
                    <a:pt x="101" y="8"/>
                    <a:pt x="99" y="9"/>
                  </a:cubicBezTo>
                  <a:cubicBezTo>
                    <a:pt x="97" y="10"/>
                    <a:pt x="91" y="11"/>
                    <a:pt x="88" y="13"/>
                  </a:cubicBezTo>
                  <a:cubicBezTo>
                    <a:pt x="85" y="16"/>
                    <a:pt x="76" y="10"/>
                    <a:pt x="71" y="10"/>
                  </a:cubicBezTo>
                  <a:cubicBezTo>
                    <a:pt x="66" y="10"/>
                    <a:pt x="63" y="15"/>
                    <a:pt x="65" y="16"/>
                  </a:cubicBezTo>
                  <a:cubicBezTo>
                    <a:pt x="68" y="18"/>
                    <a:pt x="67" y="27"/>
                    <a:pt x="67" y="27"/>
                  </a:cubicBezTo>
                  <a:cubicBezTo>
                    <a:pt x="67" y="27"/>
                    <a:pt x="70" y="39"/>
                    <a:pt x="74" y="38"/>
                  </a:cubicBezTo>
                  <a:cubicBezTo>
                    <a:pt x="78" y="37"/>
                    <a:pt x="83" y="42"/>
                    <a:pt x="79" y="43"/>
                  </a:cubicBezTo>
                  <a:cubicBezTo>
                    <a:pt x="76" y="44"/>
                    <a:pt x="74" y="48"/>
                    <a:pt x="73" y="51"/>
                  </a:cubicBezTo>
                  <a:cubicBezTo>
                    <a:pt x="73" y="55"/>
                    <a:pt x="74" y="59"/>
                    <a:pt x="71" y="60"/>
                  </a:cubicBezTo>
                  <a:cubicBezTo>
                    <a:pt x="68" y="60"/>
                    <a:pt x="66" y="61"/>
                    <a:pt x="66" y="66"/>
                  </a:cubicBezTo>
                  <a:cubicBezTo>
                    <a:pt x="66" y="71"/>
                    <a:pt x="60" y="69"/>
                    <a:pt x="59" y="71"/>
                  </a:cubicBezTo>
                  <a:cubicBezTo>
                    <a:pt x="58" y="73"/>
                    <a:pt x="56" y="82"/>
                    <a:pt x="55" y="83"/>
                  </a:cubicBezTo>
                  <a:cubicBezTo>
                    <a:pt x="53" y="85"/>
                    <a:pt x="46" y="85"/>
                    <a:pt x="45" y="89"/>
                  </a:cubicBezTo>
                  <a:cubicBezTo>
                    <a:pt x="45" y="93"/>
                    <a:pt x="41" y="98"/>
                    <a:pt x="39" y="97"/>
                  </a:cubicBezTo>
                  <a:cubicBezTo>
                    <a:pt x="37" y="97"/>
                    <a:pt x="33" y="95"/>
                    <a:pt x="31" y="98"/>
                  </a:cubicBezTo>
                  <a:cubicBezTo>
                    <a:pt x="30" y="101"/>
                    <a:pt x="24" y="96"/>
                    <a:pt x="23" y="97"/>
                  </a:cubicBezTo>
                  <a:cubicBezTo>
                    <a:pt x="22" y="98"/>
                    <a:pt x="15" y="104"/>
                    <a:pt x="15" y="108"/>
                  </a:cubicBezTo>
                  <a:cubicBezTo>
                    <a:pt x="15" y="111"/>
                    <a:pt x="22" y="111"/>
                    <a:pt x="22" y="116"/>
                  </a:cubicBezTo>
                  <a:cubicBezTo>
                    <a:pt x="21" y="120"/>
                    <a:pt x="24" y="125"/>
                    <a:pt x="27" y="127"/>
                  </a:cubicBezTo>
                  <a:cubicBezTo>
                    <a:pt x="29" y="130"/>
                    <a:pt x="32" y="135"/>
                    <a:pt x="31" y="138"/>
                  </a:cubicBezTo>
                  <a:cubicBezTo>
                    <a:pt x="29" y="140"/>
                    <a:pt x="26" y="141"/>
                    <a:pt x="22" y="140"/>
                  </a:cubicBezTo>
                  <a:cubicBezTo>
                    <a:pt x="18" y="139"/>
                    <a:pt x="19" y="142"/>
                    <a:pt x="11" y="140"/>
                  </a:cubicBezTo>
                  <a:cubicBezTo>
                    <a:pt x="4" y="139"/>
                    <a:pt x="4" y="144"/>
                    <a:pt x="1" y="147"/>
                  </a:cubicBezTo>
                  <a:cubicBezTo>
                    <a:pt x="1" y="148"/>
                    <a:pt x="1" y="148"/>
                    <a:pt x="0" y="148"/>
                  </a:cubicBezTo>
                  <a:cubicBezTo>
                    <a:pt x="4" y="151"/>
                    <a:pt x="5" y="156"/>
                    <a:pt x="11" y="158"/>
                  </a:cubicBezTo>
                  <a:cubicBezTo>
                    <a:pt x="17" y="160"/>
                    <a:pt x="23" y="154"/>
                    <a:pt x="23" y="158"/>
                  </a:cubicBezTo>
                  <a:cubicBezTo>
                    <a:pt x="23" y="163"/>
                    <a:pt x="8" y="162"/>
                    <a:pt x="8" y="164"/>
                  </a:cubicBezTo>
                  <a:cubicBezTo>
                    <a:pt x="7" y="165"/>
                    <a:pt x="23" y="185"/>
                    <a:pt x="32" y="183"/>
                  </a:cubicBezTo>
                  <a:cubicBezTo>
                    <a:pt x="40" y="182"/>
                    <a:pt x="46" y="173"/>
                    <a:pt x="43" y="172"/>
                  </a:cubicBezTo>
                  <a:cubicBezTo>
                    <a:pt x="41" y="170"/>
                    <a:pt x="45" y="165"/>
                    <a:pt x="47" y="166"/>
                  </a:cubicBezTo>
                  <a:cubicBezTo>
                    <a:pt x="49" y="167"/>
                    <a:pt x="47" y="175"/>
                    <a:pt x="50" y="177"/>
                  </a:cubicBezTo>
                  <a:cubicBezTo>
                    <a:pt x="52" y="179"/>
                    <a:pt x="51" y="183"/>
                    <a:pt x="50" y="188"/>
                  </a:cubicBezTo>
                  <a:cubicBezTo>
                    <a:pt x="48" y="192"/>
                    <a:pt x="51" y="202"/>
                    <a:pt x="52" y="207"/>
                  </a:cubicBezTo>
                  <a:cubicBezTo>
                    <a:pt x="52" y="212"/>
                    <a:pt x="56" y="219"/>
                    <a:pt x="57" y="227"/>
                  </a:cubicBezTo>
                  <a:cubicBezTo>
                    <a:pt x="58" y="235"/>
                    <a:pt x="63" y="249"/>
                    <a:pt x="68" y="257"/>
                  </a:cubicBezTo>
                  <a:cubicBezTo>
                    <a:pt x="72" y="266"/>
                    <a:pt x="76" y="282"/>
                    <a:pt x="79" y="286"/>
                  </a:cubicBezTo>
                  <a:cubicBezTo>
                    <a:pt x="82" y="290"/>
                    <a:pt x="89" y="303"/>
                    <a:pt x="89" y="310"/>
                  </a:cubicBezTo>
                  <a:cubicBezTo>
                    <a:pt x="89" y="318"/>
                    <a:pt x="97" y="328"/>
                    <a:pt x="100" y="330"/>
                  </a:cubicBezTo>
                  <a:cubicBezTo>
                    <a:pt x="103" y="332"/>
                    <a:pt x="109" y="328"/>
                    <a:pt x="111" y="323"/>
                  </a:cubicBezTo>
                  <a:cubicBezTo>
                    <a:pt x="112" y="318"/>
                    <a:pt x="121" y="317"/>
                    <a:pt x="121" y="313"/>
                  </a:cubicBezTo>
                  <a:cubicBezTo>
                    <a:pt x="122" y="309"/>
                    <a:pt x="123" y="305"/>
                    <a:pt x="126" y="305"/>
                  </a:cubicBezTo>
                  <a:cubicBezTo>
                    <a:pt x="129" y="304"/>
                    <a:pt x="129" y="301"/>
                    <a:pt x="129" y="297"/>
                  </a:cubicBezTo>
                  <a:cubicBezTo>
                    <a:pt x="129" y="293"/>
                    <a:pt x="129" y="286"/>
                    <a:pt x="132" y="283"/>
                  </a:cubicBezTo>
                  <a:cubicBezTo>
                    <a:pt x="135" y="279"/>
                    <a:pt x="135" y="268"/>
                    <a:pt x="134" y="264"/>
                  </a:cubicBezTo>
                  <a:cubicBezTo>
                    <a:pt x="132" y="260"/>
                    <a:pt x="133" y="254"/>
                    <a:pt x="134" y="250"/>
                  </a:cubicBezTo>
                  <a:cubicBezTo>
                    <a:pt x="136" y="246"/>
                    <a:pt x="135" y="241"/>
                    <a:pt x="139" y="241"/>
                  </a:cubicBezTo>
                  <a:cubicBezTo>
                    <a:pt x="142" y="240"/>
                    <a:pt x="146" y="238"/>
                    <a:pt x="150" y="233"/>
                  </a:cubicBezTo>
                  <a:cubicBezTo>
                    <a:pt x="153" y="229"/>
                    <a:pt x="163" y="222"/>
                    <a:pt x="167" y="219"/>
                  </a:cubicBezTo>
                  <a:cubicBezTo>
                    <a:pt x="171" y="216"/>
                    <a:pt x="182" y="207"/>
                    <a:pt x="185" y="201"/>
                  </a:cubicBezTo>
                  <a:cubicBezTo>
                    <a:pt x="188" y="196"/>
                    <a:pt x="198" y="194"/>
                    <a:pt x="202" y="189"/>
                  </a:cubicBezTo>
                  <a:cubicBezTo>
                    <a:pt x="207" y="185"/>
                    <a:pt x="205" y="182"/>
                    <a:pt x="206" y="178"/>
                  </a:cubicBezTo>
                  <a:cubicBezTo>
                    <a:pt x="207" y="173"/>
                    <a:pt x="221" y="171"/>
                    <a:pt x="226" y="171"/>
                  </a:cubicBezTo>
                  <a:cubicBezTo>
                    <a:pt x="227" y="171"/>
                    <a:pt x="228" y="171"/>
                    <a:pt x="229" y="170"/>
                  </a:cubicBezTo>
                  <a:cubicBezTo>
                    <a:pt x="229" y="163"/>
                    <a:pt x="226" y="153"/>
                    <a:pt x="225" y="15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4" name="Freeform 50"/>
            <p:cNvSpPr>
              <a:spLocks noChangeArrowheads="1"/>
            </p:cNvSpPr>
            <p:nvPr/>
          </p:nvSpPr>
          <p:spPr bwMode="auto">
            <a:xfrm>
              <a:off x="5532457" y="1225551"/>
              <a:ext cx="677865" cy="293689"/>
            </a:xfrm>
            <a:custGeom>
              <a:avLst/>
              <a:gdLst>
                <a:gd name="T0" fmla="*/ 329 w 355"/>
                <a:gd name="T1" fmla="*/ 65 h 153"/>
                <a:gd name="T2" fmla="*/ 306 w 355"/>
                <a:gd name="T3" fmla="*/ 63 h 153"/>
                <a:gd name="T4" fmla="*/ 308 w 355"/>
                <a:gd name="T5" fmla="*/ 52 h 153"/>
                <a:gd name="T6" fmla="*/ 309 w 355"/>
                <a:gd name="T7" fmla="*/ 33 h 153"/>
                <a:gd name="T8" fmla="*/ 286 w 355"/>
                <a:gd name="T9" fmla="*/ 30 h 153"/>
                <a:gd name="T10" fmla="*/ 268 w 355"/>
                <a:gd name="T11" fmla="*/ 40 h 153"/>
                <a:gd name="T12" fmla="*/ 238 w 355"/>
                <a:gd name="T13" fmla="*/ 43 h 153"/>
                <a:gd name="T14" fmla="*/ 218 w 355"/>
                <a:gd name="T15" fmla="*/ 34 h 153"/>
                <a:gd name="T16" fmla="*/ 200 w 355"/>
                <a:gd name="T17" fmla="*/ 28 h 153"/>
                <a:gd name="T18" fmla="*/ 179 w 355"/>
                <a:gd name="T19" fmla="*/ 27 h 153"/>
                <a:gd name="T20" fmla="*/ 161 w 355"/>
                <a:gd name="T21" fmla="*/ 28 h 153"/>
                <a:gd name="T22" fmla="*/ 153 w 355"/>
                <a:gd name="T23" fmla="*/ 13 h 153"/>
                <a:gd name="T24" fmla="*/ 133 w 355"/>
                <a:gd name="T25" fmla="*/ 6 h 153"/>
                <a:gd name="T26" fmla="*/ 118 w 355"/>
                <a:gd name="T27" fmla="*/ 1 h 153"/>
                <a:gd name="T28" fmla="*/ 108 w 355"/>
                <a:gd name="T29" fmla="*/ 9 h 153"/>
                <a:gd name="T30" fmla="*/ 107 w 355"/>
                <a:gd name="T31" fmla="*/ 24 h 153"/>
                <a:gd name="T32" fmla="*/ 98 w 355"/>
                <a:gd name="T33" fmla="*/ 35 h 153"/>
                <a:gd name="T34" fmla="*/ 81 w 355"/>
                <a:gd name="T35" fmla="*/ 33 h 153"/>
                <a:gd name="T36" fmla="*/ 68 w 355"/>
                <a:gd name="T37" fmla="*/ 23 h 153"/>
                <a:gd name="T38" fmla="*/ 44 w 355"/>
                <a:gd name="T39" fmla="*/ 22 h 153"/>
                <a:gd name="T40" fmla="*/ 29 w 355"/>
                <a:gd name="T41" fmla="*/ 30 h 153"/>
                <a:gd name="T42" fmla="*/ 10 w 355"/>
                <a:gd name="T43" fmla="*/ 40 h 153"/>
                <a:gd name="T44" fmla="*/ 0 w 355"/>
                <a:gd name="T45" fmla="*/ 44 h 153"/>
                <a:gd name="T46" fmla="*/ 9 w 355"/>
                <a:gd name="T47" fmla="*/ 55 h 153"/>
                <a:gd name="T48" fmla="*/ 29 w 355"/>
                <a:gd name="T49" fmla="*/ 69 h 153"/>
                <a:gd name="T50" fmla="*/ 34 w 355"/>
                <a:gd name="T51" fmla="*/ 88 h 153"/>
                <a:gd name="T52" fmla="*/ 57 w 355"/>
                <a:gd name="T53" fmla="*/ 104 h 153"/>
                <a:gd name="T54" fmla="*/ 72 w 355"/>
                <a:gd name="T55" fmla="*/ 114 h 153"/>
                <a:gd name="T56" fmla="*/ 88 w 355"/>
                <a:gd name="T57" fmla="*/ 135 h 153"/>
                <a:gd name="T58" fmla="*/ 129 w 355"/>
                <a:gd name="T59" fmla="*/ 137 h 153"/>
                <a:gd name="T60" fmla="*/ 162 w 355"/>
                <a:gd name="T61" fmla="*/ 145 h 153"/>
                <a:gd name="T62" fmla="*/ 182 w 355"/>
                <a:gd name="T63" fmla="*/ 152 h 153"/>
                <a:gd name="T64" fmla="*/ 227 w 355"/>
                <a:gd name="T65" fmla="*/ 141 h 153"/>
                <a:gd name="T66" fmla="*/ 261 w 355"/>
                <a:gd name="T67" fmla="*/ 121 h 153"/>
                <a:gd name="T68" fmla="*/ 269 w 355"/>
                <a:gd name="T69" fmla="*/ 105 h 153"/>
                <a:gd name="T70" fmla="*/ 304 w 355"/>
                <a:gd name="T71" fmla="*/ 99 h 153"/>
                <a:gd name="T72" fmla="*/ 328 w 355"/>
                <a:gd name="T73" fmla="*/ 84 h 153"/>
                <a:gd name="T74" fmla="*/ 354 w 355"/>
                <a:gd name="T75" fmla="*/ 79 h 15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55"/>
                <a:gd name="T115" fmla="*/ 0 h 153"/>
                <a:gd name="T116" fmla="*/ 355 w 355"/>
                <a:gd name="T117" fmla="*/ 153 h 15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55" h="153">
                  <a:moveTo>
                    <a:pt x="340" y="64"/>
                  </a:moveTo>
                  <a:cubicBezTo>
                    <a:pt x="336" y="60"/>
                    <a:pt x="330" y="62"/>
                    <a:pt x="329" y="65"/>
                  </a:cubicBezTo>
                  <a:cubicBezTo>
                    <a:pt x="327" y="69"/>
                    <a:pt x="324" y="64"/>
                    <a:pt x="318" y="64"/>
                  </a:cubicBezTo>
                  <a:cubicBezTo>
                    <a:pt x="311" y="64"/>
                    <a:pt x="311" y="68"/>
                    <a:pt x="306" y="63"/>
                  </a:cubicBezTo>
                  <a:cubicBezTo>
                    <a:pt x="302" y="59"/>
                    <a:pt x="308" y="57"/>
                    <a:pt x="308" y="57"/>
                  </a:cubicBezTo>
                  <a:cubicBezTo>
                    <a:pt x="308" y="52"/>
                    <a:pt x="308" y="52"/>
                    <a:pt x="308" y="52"/>
                  </a:cubicBezTo>
                  <a:cubicBezTo>
                    <a:pt x="318" y="34"/>
                    <a:pt x="318" y="34"/>
                    <a:pt x="318" y="34"/>
                  </a:cubicBezTo>
                  <a:cubicBezTo>
                    <a:pt x="315" y="33"/>
                    <a:pt x="311" y="32"/>
                    <a:pt x="309" y="33"/>
                  </a:cubicBezTo>
                  <a:cubicBezTo>
                    <a:pt x="307" y="34"/>
                    <a:pt x="300" y="33"/>
                    <a:pt x="300" y="31"/>
                  </a:cubicBezTo>
                  <a:cubicBezTo>
                    <a:pt x="299" y="29"/>
                    <a:pt x="288" y="28"/>
                    <a:pt x="286" y="30"/>
                  </a:cubicBezTo>
                  <a:cubicBezTo>
                    <a:pt x="283" y="32"/>
                    <a:pt x="277" y="34"/>
                    <a:pt x="277" y="36"/>
                  </a:cubicBezTo>
                  <a:cubicBezTo>
                    <a:pt x="276" y="39"/>
                    <a:pt x="270" y="38"/>
                    <a:pt x="268" y="40"/>
                  </a:cubicBezTo>
                  <a:cubicBezTo>
                    <a:pt x="265" y="41"/>
                    <a:pt x="253" y="42"/>
                    <a:pt x="253" y="43"/>
                  </a:cubicBezTo>
                  <a:cubicBezTo>
                    <a:pt x="253" y="45"/>
                    <a:pt x="240" y="45"/>
                    <a:pt x="238" y="43"/>
                  </a:cubicBezTo>
                  <a:cubicBezTo>
                    <a:pt x="236" y="42"/>
                    <a:pt x="225" y="43"/>
                    <a:pt x="224" y="41"/>
                  </a:cubicBezTo>
                  <a:cubicBezTo>
                    <a:pt x="222" y="38"/>
                    <a:pt x="218" y="37"/>
                    <a:pt x="218" y="34"/>
                  </a:cubicBezTo>
                  <a:cubicBezTo>
                    <a:pt x="218" y="32"/>
                    <a:pt x="209" y="32"/>
                    <a:pt x="208" y="30"/>
                  </a:cubicBezTo>
                  <a:cubicBezTo>
                    <a:pt x="207" y="28"/>
                    <a:pt x="201" y="27"/>
                    <a:pt x="200" y="28"/>
                  </a:cubicBezTo>
                  <a:cubicBezTo>
                    <a:pt x="199" y="28"/>
                    <a:pt x="191" y="26"/>
                    <a:pt x="189" y="25"/>
                  </a:cubicBezTo>
                  <a:cubicBezTo>
                    <a:pt x="187" y="25"/>
                    <a:pt x="181" y="27"/>
                    <a:pt x="179" y="27"/>
                  </a:cubicBezTo>
                  <a:cubicBezTo>
                    <a:pt x="177" y="27"/>
                    <a:pt x="173" y="30"/>
                    <a:pt x="171" y="31"/>
                  </a:cubicBezTo>
                  <a:cubicBezTo>
                    <a:pt x="169" y="31"/>
                    <a:pt x="162" y="27"/>
                    <a:pt x="161" y="28"/>
                  </a:cubicBezTo>
                  <a:cubicBezTo>
                    <a:pt x="160" y="29"/>
                    <a:pt x="156" y="24"/>
                    <a:pt x="154" y="22"/>
                  </a:cubicBezTo>
                  <a:cubicBezTo>
                    <a:pt x="152" y="20"/>
                    <a:pt x="154" y="15"/>
                    <a:pt x="153" y="13"/>
                  </a:cubicBezTo>
                  <a:cubicBezTo>
                    <a:pt x="151" y="11"/>
                    <a:pt x="144" y="11"/>
                    <a:pt x="142" y="9"/>
                  </a:cubicBezTo>
                  <a:cubicBezTo>
                    <a:pt x="139" y="8"/>
                    <a:pt x="136" y="6"/>
                    <a:pt x="133" y="6"/>
                  </a:cubicBezTo>
                  <a:cubicBezTo>
                    <a:pt x="131" y="6"/>
                    <a:pt x="127" y="5"/>
                    <a:pt x="126" y="4"/>
                  </a:cubicBezTo>
                  <a:cubicBezTo>
                    <a:pt x="125" y="3"/>
                    <a:pt x="120" y="2"/>
                    <a:pt x="118" y="1"/>
                  </a:cubicBezTo>
                  <a:cubicBezTo>
                    <a:pt x="116" y="0"/>
                    <a:pt x="115" y="3"/>
                    <a:pt x="114" y="5"/>
                  </a:cubicBezTo>
                  <a:cubicBezTo>
                    <a:pt x="113" y="6"/>
                    <a:pt x="109" y="6"/>
                    <a:pt x="108" y="9"/>
                  </a:cubicBezTo>
                  <a:cubicBezTo>
                    <a:pt x="107" y="11"/>
                    <a:pt x="103" y="12"/>
                    <a:pt x="103" y="14"/>
                  </a:cubicBezTo>
                  <a:cubicBezTo>
                    <a:pt x="104" y="17"/>
                    <a:pt x="106" y="22"/>
                    <a:pt x="107" y="24"/>
                  </a:cubicBezTo>
                  <a:cubicBezTo>
                    <a:pt x="109" y="25"/>
                    <a:pt x="108" y="29"/>
                    <a:pt x="107" y="30"/>
                  </a:cubicBezTo>
                  <a:cubicBezTo>
                    <a:pt x="106" y="32"/>
                    <a:pt x="99" y="33"/>
                    <a:pt x="98" y="35"/>
                  </a:cubicBezTo>
                  <a:cubicBezTo>
                    <a:pt x="96" y="37"/>
                    <a:pt x="93" y="35"/>
                    <a:pt x="90" y="33"/>
                  </a:cubicBezTo>
                  <a:cubicBezTo>
                    <a:pt x="86" y="31"/>
                    <a:pt x="82" y="32"/>
                    <a:pt x="81" y="33"/>
                  </a:cubicBezTo>
                  <a:cubicBezTo>
                    <a:pt x="79" y="35"/>
                    <a:pt x="73" y="30"/>
                    <a:pt x="71" y="30"/>
                  </a:cubicBezTo>
                  <a:cubicBezTo>
                    <a:pt x="70" y="29"/>
                    <a:pt x="69" y="23"/>
                    <a:pt x="68" y="23"/>
                  </a:cubicBezTo>
                  <a:cubicBezTo>
                    <a:pt x="66" y="24"/>
                    <a:pt x="54" y="21"/>
                    <a:pt x="52" y="21"/>
                  </a:cubicBezTo>
                  <a:cubicBezTo>
                    <a:pt x="50" y="20"/>
                    <a:pt x="45" y="20"/>
                    <a:pt x="44" y="22"/>
                  </a:cubicBezTo>
                  <a:cubicBezTo>
                    <a:pt x="43" y="24"/>
                    <a:pt x="37" y="23"/>
                    <a:pt x="36" y="25"/>
                  </a:cubicBezTo>
                  <a:cubicBezTo>
                    <a:pt x="35" y="27"/>
                    <a:pt x="31" y="28"/>
                    <a:pt x="29" y="30"/>
                  </a:cubicBezTo>
                  <a:cubicBezTo>
                    <a:pt x="27" y="32"/>
                    <a:pt x="22" y="32"/>
                    <a:pt x="20" y="35"/>
                  </a:cubicBezTo>
                  <a:cubicBezTo>
                    <a:pt x="19" y="38"/>
                    <a:pt x="12" y="40"/>
                    <a:pt x="10" y="40"/>
                  </a:cubicBezTo>
                  <a:cubicBezTo>
                    <a:pt x="8" y="40"/>
                    <a:pt x="3" y="41"/>
                    <a:pt x="2" y="43"/>
                  </a:cubicBezTo>
                  <a:cubicBezTo>
                    <a:pt x="2" y="44"/>
                    <a:pt x="1" y="44"/>
                    <a:pt x="0" y="44"/>
                  </a:cubicBezTo>
                  <a:cubicBezTo>
                    <a:pt x="0" y="44"/>
                    <a:pt x="1" y="44"/>
                    <a:pt x="1" y="45"/>
                  </a:cubicBezTo>
                  <a:cubicBezTo>
                    <a:pt x="2" y="52"/>
                    <a:pt x="5" y="52"/>
                    <a:pt x="9" y="55"/>
                  </a:cubicBezTo>
                  <a:cubicBezTo>
                    <a:pt x="12" y="58"/>
                    <a:pt x="15" y="61"/>
                    <a:pt x="19" y="61"/>
                  </a:cubicBezTo>
                  <a:cubicBezTo>
                    <a:pt x="23" y="61"/>
                    <a:pt x="28" y="65"/>
                    <a:pt x="29" y="69"/>
                  </a:cubicBezTo>
                  <a:cubicBezTo>
                    <a:pt x="29" y="72"/>
                    <a:pt x="33" y="76"/>
                    <a:pt x="35" y="77"/>
                  </a:cubicBezTo>
                  <a:cubicBezTo>
                    <a:pt x="37" y="79"/>
                    <a:pt x="34" y="84"/>
                    <a:pt x="34" y="88"/>
                  </a:cubicBezTo>
                  <a:cubicBezTo>
                    <a:pt x="34" y="93"/>
                    <a:pt x="29" y="94"/>
                    <a:pt x="31" y="98"/>
                  </a:cubicBezTo>
                  <a:cubicBezTo>
                    <a:pt x="34" y="102"/>
                    <a:pt x="52" y="104"/>
                    <a:pt x="57" y="104"/>
                  </a:cubicBezTo>
                  <a:cubicBezTo>
                    <a:pt x="62" y="104"/>
                    <a:pt x="64" y="109"/>
                    <a:pt x="65" y="109"/>
                  </a:cubicBezTo>
                  <a:cubicBezTo>
                    <a:pt x="68" y="110"/>
                    <a:pt x="69" y="113"/>
                    <a:pt x="72" y="114"/>
                  </a:cubicBezTo>
                  <a:cubicBezTo>
                    <a:pt x="76" y="115"/>
                    <a:pt x="80" y="117"/>
                    <a:pt x="81" y="124"/>
                  </a:cubicBezTo>
                  <a:cubicBezTo>
                    <a:pt x="83" y="130"/>
                    <a:pt x="87" y="132"/>
                    <a:pt x="88" y="135"/>
                  </a:cubicBezTo>
                  <a:cubicBezTo>
                    <a:pt x="88" y="138"/>
                    <a:pt x="96" y="136"/>
                    <a:pt x="102" y="137"/>
                  </a:cubicBezTo>
                  <a:cubicBezTo>
                    <a:pt x="108" y="137"/>
                    <a:pt x="125" y="137"/>
                    <a:pt x="129" y="137"/>
                  </a:cubicBezTo>
                  <a:cubicBezTo>
                    <a:pt x="133" y="138"/>
                    <a:pt x="144" y="137"/>
                    <a:pt x="149" y="142"/>
                  </a:cubicBezTo>
                  <a:cubicBezTo>
                    <a:pt x="155" y="146"/>
                    <a:pt x="158" y="142"/>
                    <a:pt x="162" y="145"/>
                  </a:cubicBezTo>
                  <a:cubicBezTo>
                    <a:pt x="165" y="147"/>
                    <a:pt x="168" y="148"/>
                    <a:pt x="173" y="148"/>
                  </a:cubicBezTo>
                  <a:cubicBezTo>
                    <a:pt x="179" y="147"/>
                    <a:pt x="179" y="151"/>
                    <a:pt x="182" y="152"/>
                  </a:cubicBezTo>
                  <a:cubicBezTo>
                    <a:pt x="186" y="153"/>
                    <a:pt x="192" y="146"/>
                    <a:pt x="202" y="142"/>
                  </a:cubicBezTo>
                  <a:cubicBezTo>
                    <a:pt x="211" y="137"/>
                    <a:pt x="222" y="140"/>
                    <a:pt x="227" y="141"/>
                  </a:cubicBezTo>
                  <a:cubicBezTo>
                    <a:pt x="232" y="142"/>
                    <a:pt x="242" y="139"/>
                    <a:pt x="247" y="132"/>
                  </a:cubicBezTo>
                  <a:cubicBezTo>
                    <a:pt x="253" y="126"/>
                    <a:pt x="261" y="127"/>
                    <a:pt x="261" y="121"/>
                  </a:cubicBezTo>
                  <a:cubicBezTo>
                    <a:pt x="262" y="116"/>
                    <a:pt x="255" y="113"/>
                    <a:pt x="258" y="108"/>
                  </a:cubicBezTo>
                  <a:cubicBezTo>
                    <a:pt x="261" y="103"/>
                    <a:pt x="266" y="104"/>
                    <a:pt x="269" y="105"/>
                  </a:cubicBezTo>
                  <a:cubicBezTo>
                    <a:pt x="272" y="107"/>
                    <a:pt x="280" y="109"/>
                    <a:pt x="287" y="104"/>
                  </a:cubicBezTo>
                  <a:cubicBezTo>
                    <a:pt x="295" y="99"/>
                    <a:pt x="298" y="100"/>
                    <a:pt x="304" y="99"/>
                  </a:cubicBezTo>
                  <a:cubicBezTo>
                    <a:pt x="311" y="98"/>
                    <a:pt x="310" y="94"/>
                    <a:pt x="314" y="89"/>
                  </a:cubicBezTo>
                  <a:cubicBezTo>
                    <a:pt x="319" y="85"/>
                    <a:pt x="324" y="84"/>
                    <a:pt x="328" y="84"/>
                  </a:cubicBezTo>
                  <a:cubicBezTo>
                    <a:pt x="332" y="84"/>
                    <a:pt x="338" y="79"/>
                    <a:pt x="343" y="81"/>
                  </a:cubicBezTo>
                  <a:cubicBezTo>
                    <a:pt x="347" y="82"/>
                    <a:pt x="354" y="83"/>
                    <a:pt x="354" y="79"/>
                  </a:cubicBezTo>
                  <a:cubicBezTo>
                    <a:pt x="355" y="76"/>
                    <a:pt x="343" y="68"/>
                    <a:pt x="340" y="6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5" name="Freeform 51"/>
            <p:cNvSpPr>
              <a:spLocks noChangeArrowheads="1"/>
            </p:cNvSpPr>
            <p:nvPr/>
          </p:nvSpPr>
          <p:spPr bwMode="auto">
            <a:xfrm>
              <a:off x="4391040" y="1736727"/>
              <a:ext cx="11113" cy="30163"/>
            </a:xfrm>
            <a:custGeom>
              <a:avLst/>
              <a:gdLst>
                <a:gd name="T0" fmla="*/ 2 w 6"/>
                <a:gd name="T1" fmla="*/ 0 h 16"/>
                <a:gd name="T2" fmla="*/ 0 w 6"/>
                <a:gd name="T3" fmla="*/ 9 h 16"/>
                <a:gd name="T4" fmla="*/ 4 w 6"/>
                <a:gd name="T5" fmla="*/ 16 h 16"/>
                <a:gd name="T6" fmla="*/ 5 w 6"/>
                <a:gd name="T7" fmla="*/ 3 h 16"/>
                <a:gd name="T8" fmla="*/ 6 w 6"/>
                <a:gd name="T9" fmla="*/ 0 h 16"/>
                <a:gd name="T10" fmla="*/ 2 w 6"/>
                <a:gd name="T11" fmla="*/ 0 h 16"/>
                <a:gd name="T12" fmla="*/ 0 60000 65536"/>
                <a:gd name="T13" fmla="*/ 0 60000 65536"/>
                <a:gd name="T14" fmla="*/ 0 60000 65536"/>
                <a:gd name="T15" fmla="*/ 0 60000 65536"/>
                <a:gd name="T16" fmla="*/ 0 60000 65536"/>
                <a:gd name="T17" fmla="*/ 0 60000 65536"/>
                <a:gd name="T18" fmla="*/ 0 w 6"/>
                <a:gd name="T19" fmla="*/ 0 h 16"/>
                <a:gd name="T20" fmla="*/ 6 w 6"/>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6" h="16">
                  <a:moveTo>
                    <a:pt x="2" y="0"/>
                  </a:moveTo>
                  <a:cubicBezTo>
                    <a:pt x="1" y="1"/>
                    <a:pt x="0" y="8"/>
                    <a:pt x="0" y="9"/>
                  </a:cubicBezTo>
                  <a:cubicBezTo>
                    <a:pt x="0" y="9"/>
                    <a:pt x="1" y="13"/>
                    <a:pt x="4" y="16"/>
                  </a:cubicBezTo>
                  <a:cubicBezTo>
                    <a:pt x="5" y="11"/>
                    <a:pt x="5" y="4"/>
                    <a:pt x="5" y="3"/>
                  </a:cubicBezTo>
                  <a:cubicBezTo>
                    <a:pt x="5" y="2"/>
                    <a:pt x="6" y="1"/>
                    <a:pt x="6" y="0"/>
                  </a:cubicBezTo>
                  <a:cubicBezTo>
                    <a:pt x="4" y="0"/>
                    <a:pt x="3" y="0"/>
                    <a:pt x="2"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6" name="Freeform 52"/>
            <p:cNvSpPr>
              <a:spLocks noChangeArrowheads="1"/>
            </p:cNvSpPr>
            <p:nvPr/>
          </p:nvSpPr>
          <p:spPr bwMode="auto">
            <a:xfrm>
              <a:off x="4371990" y="1717677"/>
              <a:ext cx="31750" cy="90488"/>
            </a:xfrm>
            <a:custGeom>
              <a:avLst/>
              <a:gdLst>
                <a:gd name="T0" fmla="*/ 8 w 17"/>
                <a:gd name="T1" fmla="*/ 47 h 48"/>
                <a:gd name="T2" fmla="*/ 9 w 17"/>
                <a:gd name="T3" fmla="*/ 48 h 48"/>
                <a:gd name="T4" fmla="*/ 13 w 17"/>
                <a:gd name="T5" fmla="*/ 31 h 48"/>
                <a:gd name="T6" fmla="*/ 14 w 17"/>
                <a:gd name="T7" fmla="*/ 26 h 48"/>
                <a:gd name="T8" fmla="*/ 10 w 17"/>
                <a:gd name="T9" fmla="*/ 19 h 48"/>
                <a:gd name="T10" fmla="*/ 12 w 17"/>
                <a:gd name="T11" fmla="*/ 10 h 48"/>
                <a:gd name="T12" fmla="*/ 16 w 17"/>
                <a:gd name="T13" fmla="*/ 10 h 48"/>
                <a:gd name="T14" fmla="*/ 17 w 17"/>
                <a:gd name="T15" fmla="*/ 3 h 48"/>
                <a:gd name="T16" fmla="*/ 11 w 17"/>
                <a:gd name="T17" fmla="*/ 0 h 48"/>
                <a:gd name="T18" fmla="*/ 9 w 17"/>
                <a:gd name="T19" fmla="*/ 6 h 48"/>
                <a:gd name="T20" fmla="*/ 0 w 17"/>
                <a:gd name="T21" fmla="*/ 26 h 48"/>
                <a:gd name="T22" fmla="*/ 8 w 17"/>
                <a:gd name="T23" fmla="*/ 46 h 48"/>
                <a:gd name="T24" fmla="*/ 8 w 17"/>
                <a:gd name="T25" fmla="*/ 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
                <a:gd name="T40" fmla="*/ 0 h 48"/>
                <a:gd name="T41" fmla="*/ 17 w 17"/>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 h="48">
                  <a:moveTo>
                    <a:pt x="8" y="47"/>
                  </a:moveTo>
                  <a:cubicBezTo>
                    <a:pt x="8" y="47"/>
                    <a:pt x="9" y="47"/>
                    <a:pt x="9" y="48"/>
                  </a:cubicBezTo>
                  <a:cubicBezTo>
                    <a:pt x="10" y="41"/>
                    <a:pt x="11" y="33"/>
                    <a:pt x="13" y="31"/>
                  </a:cubicBezTo>
                  <a:cubicBezTo>
                    <a:pt x="13" y="30"/>
                    <a:pt x="14" y="28"/>
                    <a:pt x="14" y="26"/>
                  </a:cubicBezTo>
                  <a:cubicBezTo>
                    <a:pt x="11" y="23"/>
                    <a:pt x="10" y="19"/>
                    <a:pt x="10" y="19"/>
                  </a:cubicBezTo>
                  <a:cubicBezTo>
                    <a:pt x="10" y="18"/>
                    <a:pt x="11" y="11"/>
                    <a:pt x="12" y="10"/>
                  </a:cubicBezTo>
                  <a:cubicBezTo>
                    <a:pt x="13" y="10"/>
                    <a:pt x="14" y="10"/>
                    <a:pt x="16" y="10"/>
                  </a:cubicBezTo>
                  <a:cubicBezTo>
                    <a:pt x="16" y="8"/>
                    <a:pt x="16" y="5"/>
                    <a:pt x="17" y="3"/>
                  </a:cubicBezTo>
                  <a:cubicBezTo>
                    <a:pt x="11" y="0"/>
                    <a:pt x="11" y="0"/>
                    <a:pt x="11" y="0"/>
                  </a:cubicBezTo>
                  <a:cubicBezTo>
                    <a:pt x="10" y="2"/>
                    <a:pt x="9" y="4"/>
                    <a:pt x="9" y="6"/>
                  </a:cubicBezTo>
                  <a:cubicBezTo>
                    <a:pt x="8" y="12"/>
                    <a:pt x="3" y="22"/>
                    <a:pt x="0" y="26"/>
                  </a:cubicBezTo>
                  <a:cubicBezTo>
                    <a:pt x="8" y="46"/>
                    <a:pt x="8" y="46"/>
                    <a:pt x="8" y="46"/>
                  </a:cubicBezTo>
                  <a:lnTo>
                    <a:pt x="8" y="47"/>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7" name="Freeform 53"/>
            <p:cNvSpPr>
              <a:spLocks noChangeArrowheads="1"/>
            </p:cNvSpPr>
            <p:nvPr/>
          </p:nvSpPr>
          <p:spPr bwMode="auto">
            <a:xfrm>
              <a:off x="4389453" y="1717677"/>
              <a:ext cx="92076" cy="98425"/>
            </a:xfrm>
            <a:custGeom>
              <a:avLst/>
              <a:gdLst>
                <a:gd name="T0" fmla="*/ 44 w 48"/>
                <a:gd name="T1" fmla="*/ 0 h 52"/>
                <a:gd name="T2" fmla="*/ 30 w 48"/>
                <a:gd name="T3" fmla="*/ 6 h 52"/>
                <a:gd name="T4" fmla="*/ 19 w 48"/>
                <a:gd name="T5" fmla="*/ 12 h 52"/>
                <a:gd name="T6" fmla="*/ 9 w 48"/>
                <a:gd name="T7" fmla="*/ 7 h 52"/>
                <a:gd name="T8" fmla="*/ 8 w 48"/>
                <a:gd name="T9" fmla="*/ 3 h 52"/>
                <a:gd name="T10" fmla="*/ 8 w 48"/>
                <a:gd name="T11" fmla="*/ 3 h 52"/>
                <a:gd name="T12" fmla="*/ 6 w 48"/>
                <a:gd name="T13" fmla="*/ 13 h 52"/>
                <a:gd name="T14" fmla="*/ 4 w 48"/>
                <a:gd name="T15" fmla="*/ 31 h 52"/>
                <a:gd name="T16" fmla="*/ 0 w 48"/>
                <a:gd name="T17" fmla="*/ 48 h 52"/>
                <a:gd name="T18" fmla="*/ 10 w 48"/>
                <a:gd name="T19" fmla="*/ 52 h 52"/>
                <a:gd name="T20" fmla="*/ 19 w 48"/>
                <a:gd name="T21" fmla="*/ 45 h 52"/>
                <a:gd name="T22" fmla="*/ 26 w 48"/>
                <a:gd name="T23" fmla="*/ 42 h 52"/>
                <a:gd name="T24" fmla="*/ 33 w 48"/>
                <a:gd name="T25" fmla="*/ 37 h 52"/>
                <a:gd name="T26" fmla="*/ 24 w 48"/>
                <a:gd name="T27" fmla="*/ 27 h 52"/>
                <a:gd name="T28" fmla="*/ 35 w 48"/>
                <a:gd name="T29" fmla="*/ 20 h 52"/>
                <a:gd name="T30" fmla="*/ 47 w 48"/>
                <a:gd name="T31" fmla="*/ 16 h 52"/>
                <a:gd name="T32" fmla="*/ 48 w 48"/>
                <a:gd name="T33" fmla="*/ 16 h 52"/>
                <a:gd name="T34" fmla="*/ 45 w 48"/>
                <a:gd name="T35" fmla="*/ 5 h 52"/>
                <a:gd name="T36" fmla="*/ 44 w 48"/>
                <a:gd name="T37" fmla="*/ 0 h 5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8"/>
                <a:gd name="T58" fmla="*/ 0 h 52"/>
                <a:gd name="T59" fmla="*/ 48 w 48"/>
                <a:gd name="T60" fmla="*/ 52 h 5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8" h="52">
                  <a:moveTo>
                    <a:pt x="44" y="0"/>
                  </a:moveTo>
                  <a:cubicBezTo>
                    <a:pt x="37" y="3"/>
                    <a:pt x="31" y="6"/>
                    <a:pt x="30" y="6"/>
                  </a:cubicBezTo>
                  <a:cubicBezTo>
                    <a:pt x="27" y="7"/>
                    <a:pt x="19" y="12"/>
                    <a:pt x="19" y="12"/>
                  </a:cubicBezTo>
                  <a:cubicBezTo>
                    <a:pt x="9" y="7"/>
                    <a:pt x="9" y="7"/>
                    <a:pt x="9" y="7"/>
                  </a:cubicBezTo>
                  <a:cubicBezTo>
                    <a:pt x="8" y="3"/>
                    <a:pt x="8" y="3"/>
                    <a:pt x="8" y="3"/>
                  </a:cubicBezTo>
                  <a:cubicBezTo>
                    <a:pt x="8" y="3"/>
                    <a:pt x="8" y="3"/>
                    <a:pt x="8" y="3"/>
                  </a:cubicBezTo>
                  <a:cubicBezTo>
                    <a:pt x="7" y="7"/>
                    <a:pt x="7" y="11"/>
                    <a:pt x="6" y="13"/>
                  </a:cubicBezTo>
                  <a:cubicBezTo>
                    <a:pt x="6" y="15"/>
                    <a:pt x="6" y="29"/>
                    <a:pt x="4" y="31"/>
                  </a:cubicBezTo>
                  <a:cubicBezTo>
                    <a:pt x="2" y="33"/>
                    <a:pt x="1" y="41"/>
                    <a:pt x="0" y="48"/>
                  </a:cubicBezTo>
                  <a:cubicBezTo>
                    <a:pt x="4" y="50"/>
                    <a:pt x="8" y="52"/>
                    <a:pt x="10" y="52"/>
                  </a:cubicBezTo>
                  <a:cubicBezTo>
                    <a:pt x="14" y="52"/>
                    <a:pt x="19" y="48"/>
                    <a:pt x="19" y="45"/>
                  </a:cubicBezTo>
                  <a:cubicBezTo>
                    <a:pt x="19" y="43"/>
                    <a:pt x="23" y="42"/>
                    <a:pt x="26" y="42"/>
                  </a:cubicBezTo>
                  <a:cubicBezTo>
                    <a:pt x="30" y="42"/>
                    <a:pt x="30" y="38"/>
                    <a:pt x="33" y="37"/>
                  </a:cubicBezTo>
                  <a:cubicBezTo>
                    <a:pt x="35" y="35"/>
                    <a:pt x="27" y="28"/>
                    <a:pt x="24" y="27"/>
                  </a:cubicBezTo>
                  <a:cubicBezTo>
                    <a:pt x="22" y="26"/>
                    <a:pt x="27" y="20"/>
                    <a:pt x="35" y="20"/>
                  </a:cubicBezTo>
                  <a:cubicBezTo>
                    <a:pt x="44" y="19"/>
                    <a:pt x="42" y="16"/>
                    <a:pt x="47" y="16"/>
                  </a:cubicBezTo>
                  <a:cubicBezTo>
                    <a:pt x="47" y="16"/>
                    <a:pt x="47" y="16"/>
                    <a:pt x="48" y="16"/>
                  </a:cubicBezTo>
                  <a:cubicBezTo>
                    <a:pt x="47" y="12"/>
                    <a:pt x="46" y="8"/>
                    <a:pt x="45" y="5"/>
                  </a:cubicBezTo>
                  <a:cubicBezTo>
                    <a:pt x="45" y="4"/>
                    <a:pt x="44" y="2"/>
                    <a:pt x="44"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8" name="Freeform 54"/>
            <p:cNvSpPr>
              <a:spLocks noChangeArrowheads="1"/>
            </p:cNvSpPr>
            <p:nvPr/>
          </p:nvSpPr>
          <p:spPr bwMode="auto">
            <a:xfrm>
              <a:off x="5141930" y="1470026"/>
              <a:ext cx="234951" cy="103188"/>
            </a:xfrm>
            <a:custGeom>
              <a:avLst/>
              <a:gdLst>
                <a:gd name="T0" fmla="*/ 114 w 123"/>
                <a:gd name="T1" fmla="*/ 10 h 54"/>
                <a:gd name="T2" fmla="*/ 103 w 123"/>
                <a:gd name="T3" fmla="*/ 7 h 54"/>
                <a:gd name="T4" fmla="*/ 74 w 123"/>
                <a:gd name="T5" fmla="*/ 6 h 54"/>
                <a:gd name="T6" fmla="*/ 59 w 123"/>
                <a:gd name="T7" fmla="*/ 1 h 54"/>
                <a:gd name="T8" fmla="*/ 47 w 123"/>
                <a:gd name="T9" fmla="*/ 6 h 54"/>
                <a:gd name="T10" fmla="*/ 37 w 123"/>
                <a:gd name="T11" fmla="*/ 8 h 54"/>
                <a:gd name="T12" fmla="*/ 22 w 123"/>
                <a:gd name="T13" fmla="*/ 8 h 54"/>
                <a:gd name="T14" fmla="*/ 15 w 123"/>
                <a:gd name="T15" fmla="*/ 16 h 54"/>
                <a:gd name="T16" fmla="*/ 12 w 123"/>
                <a:gd name="T17" fmla="*/ 22 h 54"/>
                <a:gd name="T18" fmla="*/ 16 w 123"/>
                <a:gd name="T19" fmla="*/ 26 h 54"/>
                <a:gd name="T20" fmla="*/ 25 w 123"/>
                <a:gd name="T21" fmla="*/ 25 h 54"/>
                <a:gd name="T22" fmla="*/ 40 w 123"/>
                <a:gd name="T23" fmla="*/ 32 h 54"/>
                <a:gd name="T24" fmla="*/ 35 w 123"/>
                <a:gd name="T25" fmla="*/ 38 h 54"/>
                <a:gd name="T26" fmla="*/ 25 w 123"/>
                <a:gd name="T27" fmla="*/ 40 h 54"/>
                <a:gd name="T28" fmla="*/ 8 w 123"/>
                <a:gd name="T29" fmla="*/ 42 h 54"/>
                <a:gd name="T30" fmla="*/ 0 w 123"/>
                <a:gd name="T31" fmla="*/ 49 h 54"/>
                <a:gd name="T32" fmla="*/ 16 w 123"/>
                <a:gd name="T33" fmla="*/ 50 h 54"/>
                <a:gd name="T34" fmla="*/ 26 w 123"/>
                <a:gd name="T35" fmla="*/ 50 h 54"/>
                <a:gd name="T36" fmla="*/ 36 w 123"/>
                <a:gd name="T37" fmla="*/ 52 h 54"/>
                <a:gd name="T38" fmla="*/ 51 w 123"/>
                <a:gd name="T39" fmla="*/ 51 h 54"/>
                <a:gd name="T40" fmla="*/ 52 w 123"/>
                <a:gd name="T41" fmla="*/ 46 h 54"/>
                <a:gd name="T42" fmla="*/ 57 w 123"/>
                <a:gd name="T43" fmla="*/ 43 h 54"/>
                <a:gd name="T44" fmla="*/ 64 w 123"/>
                <a:gd name="T45" fmla="*/ 39 h 54"/>
                <a:gd name="T46" fmla="*/ 70 w 123"/>
                <a:gd name="T47" fmla="*/ 37 h 54"/>
                <a:gd name="T48" fmla="*/ 77 w 123"/>
                <a:gd name="T49" fmla="*/ 39 h 54"/>
                <a:gd name="T50" fmla="*/ 84 w 123"/>
                <a:gd name="T51" fmla="*/ 34 h 54"/>
                <a:gd name="T52" fmla="*/ 94 w 123"/>
                <a:gd name="T53" fmla="*/ 31 h 54"/>
                <a:gd name="T54" fmla="*/ 103 w 123"/>
                <a:gd name="T55" fmla="*/ 26 h 54"/>
                <a:gd name="T56" fmla="*/ 112 w 123"/>
                <a:gd name="T57" fmla="*/ 21 h 54"/>
                <a:gd name="T58" fmla="*/ 122 w 123"/>
                <a:gd name="T59" fmla="*/ 16 h 54"/>
                <a:gd name="T60" fmla="*/ 123 w 123"/>
                <a:gd name="T61" fmla="*/ 14 h 54"/>
                <a:gd name="T62" fmla="*/ 114 w 123"/>
                <a:gd name="T63" fmla="*/ 10 h 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23"/>
                <a:gd name="T97" fmla="*/ 0 h 54"/>
                <a:gd name="T98" fmla="*/ 123 w 123"/>
                <a:gd name="T99" fmla="*/ 54 h 5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23" h="54">
                  <a:moveTo>
                    <a:pt x="114" y="10"/>
                  </a:moveTo>
                  <a:cubicBezTo>
                    <a:pt x="109" y="5"/>
                    <a:pt x="108" y="9"/>
                    <a:pt x="103" y="7"/>
                  </a:cubicBezTo>
                  <a:cubicBezTo>
                    <a:pt x="98" y="6"/>
                    <a:pt x="78" y="4"/>
                    <a:pt x="74" y="6"/>
                  </a:cubicBezTo>
                  <a:cubicBezTo>
                    <a:pt x="70" y="7"/>
                    <a:pt x="62" y="3"/>
                    <a:pt x="59" y="1"/>
                  </a:cubicBezTo>
                  <a:cubicBezTo>
                    <a:pt x="56" y="0"/>
                    <a:pt x="48" y="1"/>
                    <a:pt x="47" y="6"/>
                  </a:cubicBezTo>
                  <a:cubicBezTo>
                    <a:pt x="47" y="11"/>
                    <a:pt x="43" y="11"/>
                    <a:pt x="37" y="8"/>
                  </a:cubicBezTo>
                  <a:cubicBezTo>
                    <a:pt x="31" y="5"/>
                    <a:pt x="22" y="5"/>
                    <a:pt x="22" y="8"/>
                  </a:cubicBezTo>
                  <a:cubicBezTo>
                    <a:pt x="22" y="11"/>
                    <a:pt x="17" y="15"/>
                    <a:pt x="15" y="16"/>
                  </a:cubicBezTo>
                  <a:cubicBezTo>
                    <a:pt x="14" y="16"/>
                    <a:pt x="13" y="19"/>
                    <a:pt x="12" y="22"/>
                  </a:cubicBezTo>
                  <a:cubicBezTo>
                    <a:pt x="13" y="22"/>
                    <a:pt x="15" y="24"/>
                    <a:pt x="16" y="26"/>
                  </a:cubicBezTo>
                  <a:cubicBezTo>
                    <a:pt x="18" y="28"/>
                    <a:pt x="24" y="28"/>
                    <a:pt x="25" y="25"/>
                  </a:cubicBezTo>
                  <a:cubicBezTo>
                    <a:pt x="26" y="22"/>
                    <a:pt x="35" y="28"/>
                    <a:pt x="40" y="32"/>
                  </a:cubicBezTo>
                  <a:cubicBezTo>
                    <a:pt x="46" y="37"/>
                    <a:pt x="38" y="34"/>
                    <a:pt x="35" y="38"/>
                  </a:cubicBezTo>
                  <a:cubicBezTo>
                    <a:pt x="33" y="42"/>
                    <a:pt x="26" y="38"/>
                    <a:pt x="25" y="40"/>
                  </a:cubicBezTo>
                  <a:cubicBezTo>
                    <a:pt x="23" y="42"/>
                    <a:pt x="11" y="42"/>
                    <a:pt x="8" y="42"/>
                  </a:cubicBezTo>
                  <a:cubicBezTo>
                    <a:pt x="5" y="42"/>
                    <a:pt x="0" y="46"/>
                    <a:pt x="0" y="49"/>
                  </a:cubicBezTo>
                  <a:cubicBezTo>
                    <a:pt x="1" y="51"/>
                    <a:pt x="12" y="47"/>
                    <a:pt x="16" y="50"/>
                  </a:cubicBezTo>
                  <a:cubicBezTo>
                    <a:pt x="20" y="53"/>
                    <a:pt x="24" y="47"/>
                    <a:pt x="26" y="50"/>
                  </a:cubicBezTo>
                  <a:cubicBezTo>
                    <a:pt x="29" y="54"/>
                    <a:pt x="34" y="51"/>
                    <a:pt x="36" y="52"/>
                  </a:cubicBezTo>
                  <a:cubicBezTo>
                    <a:pt x="38" y="53"/>
                    <a:pt x="50" y="51"/>
                    <a:pt x="51" y="51"/>
                  </a:cubicBezTo>
                  <a:cubicBezTo>
                    <a:pt x="52" y="50"/>
                    <a:pt x="52" y="48"/>
                    <a:pt x="52" y="46"/>
                  </a:cubicBezTo>
                  <a:cubicBezTo>
                    <a:pt x="52" y="43"/>
                    <a:pt x="55" y="44"/>
                    <a:pt x="57" y="43"/>
                  </a:cubicBezTo>
                  <a:cubicBezTo>
                    <a:pt x="60" y="42"/>
                    <a:pt x="62" y="39"/>
                    <a:pt x="64" y="39"/>
                  </a:cubicBezTo>
                  <a:cubicBezTo>
                    <a:pt x="66" y="39"/>
                    <a:pt x="68" y="36"/>
                    <a:pt x="70" y="37"/>
                  </a:cubicBezTo>
                  <a:cubicBezTo>
                    <a:pt x="72" y="37"/>
                    <a:pt x="75" y="41"/>
                    <a:pt x="77" y="39"/>
                  </a:cubicBezTo>
                  <a:cubicBezTo>
                    <a:pt x="80" y="37"/>
                    <a:pt x="81" y="39"/>
                    <a:pt x="84" y="34"/>
                  </a:cubicBezTo>
                  <a:cubicBezTo>
                    <a:pt x="88" y="30"/>
                    <a:pt x="90" y="31"/>
                    <a:pt x="94" y="31"/>
                  </a:cubicBezTo>
                  <a:cubicBezTo>
                    <a:pt x="100" y="32"/>
                    <a:pt x="102" y="29"/>
                    <a:pt x="103" y="26"/>
                  </a:cubicBezTo>
                  <a:cubicBezTo>
                    <a:pt x="105" y="23"/>
                    <a:pt x="109" y="23"/>
                    <a:pt x="112" y="21"/>
                  </a:cubicBezTo>
                  <a:cubicBezTo>
                    <a:pt x="115" y="19"/>
                    <a:pt x="120" y="17"/>
                    <a:pt x="122" y="16"/>
                  </a:cubicBezTo>
                  <a:cubicBezTo>
                    <a:pt x="123" y="16"/>
                    <a:pt x="123" y="15"/>
                    <a:pt x="123" y="14"/>
                  </a:cubicBezTo>
                  <a:cubicBezTo>
                    <a:pt x="119" y="11"/>
                    <a:pt x="117" y="14"/>
                    <a:pt x="114"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49" name="Freeform 55"/>
            <p:cNvSpPr>
              <a:spLocks noChangeArrowheads="1"/>
            </p:cNvSpPr>
            <p:nvPr/>
          </p:nvSpPr>
          <p:spPr bwMode="auto">
            <a:xfrm>
              <a:off x="4495815" y="1458913"/>
              <a:ext cx="149225" cy="66675"/>
            </a:xfrm>
            <a:custGeom>
              <a:avLst/>
              <a:gdLst>
                <a:gd name="T0" fmla="*/ 31 w 78"/>
                <a:gd name="T1" fmla="*/ 27 h 35"/>
                <a:gd name="T2" fmla="*/ 39 w 78"/>
                <a:gd name="T3" fmla="*/ 33 h 35"/>
                <a:gd name="T4" fmla="*/ 40 w 78"/>
                <a:gd name="T5" fmla="*/ 34 h 35"/>
                <a:gd name="T6" fmla="*/ 51 w 78"/>
                <a:gd name="T7" fmla="*/ 32 h 35"/>
                <a:gd name="T8" fmla="*/ 61 w 78"/>
                <a:gd name="T9" fmla="*/ 33 h 35"/>
                <a:gd name="T10" fmla="*/ 60 w 78"/>
                <a:gd name="T11" fmla="*/ 30 h 35"/>
                <a:gd name="T12" fmla="*/ 68 w 78"/>
                <a:gd name="T13" fmla="*/ 33 h 35"/>
                <a:gd name="T14" fmla="*/ 77 w 78"/>
                <a:gd name="T15" fmla="*/ 33 h 35"/>
                <a:gd name="T16" fmla="*/ 73 w 78"/>
                <a:gd name="T17" fmla="*/ 28 h 35"/>
                <a:gd name="T18" fmla="*/ 75 w 78"/>
                <a:gd name="T19" fmla="*/ 24 h 35"/>
                <a:gd name="T20" fmla="*/ 68 w 78"/>
                <a:gd name="T21" fmla="*/ 21 h 35"/>
                <a:gd name="T22" fmla="*/ 65 w 78"/>
                <a:gd name="T23" fmla="*/ 14 h 35"/>
                <a:gd name="T24" fmla="*/ 61 w 78"/>
                <a:gd name="T25" fmla="*/ 12 h 35"/>
                <a:gd name="T26" fmla="*/ 49 w 78"/>
                <a:gd name="T27" fmla="*/ 14 h 35"/>
                <a:gd name="T28" fmla="*/ 42 w 78"/>
                <a:gd name="T29" fmla="*/ 10 h 35"/>
                <a:gd name="T30" fmla="*/ 35 w 78"/>
                <a:gd name="T31" fmla="*/ 6 h 35"/>
                <a:gd name="T32" fmla="*/ 18 w 78"/>
                <a:gd name="T33" fmla="*/ 4 h 35"/>
                <a:gd name="T34" fmla="*/ 4 w 78"/>
                <a:gd name="T35" fmla="*/ 0 h 35"/>
                <a:gd name="T36" fmla="*/ 0 w 78"/>
                <a:gd name="T37" fmla="*/ 2 h 35"/>
                <a:gd name="T38" fmla="*/ 18 w 78"/>
                <a:gd name="T39" fmla="*/ 12 h 35"/>
                <a:gd name="T40" fmla="*/ 22 w 78"/>
                <a:gd name="T41" fmla="*/ 23 h 35"/>
                <a:gd name="T42" fmla="*/ 19 w 78"/>
                <a:gd name="T43" fmla="*/ 27 h 35"/>
                <a:gd name="T44" fmla="*/ 31 w 78"/>
                <a:gd name="T45" fmla="*/ 27 h 3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78"/>
                <a:gd name="T70" fmla="*/ 0 h 35"/>
                <a:gd name="T71" fmla="*/ 78 w 78"/>
                <a:gd name="T72" fmla="*/ 35 h 3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78" h="35">
                  <a:moveTo>
                    <a:pt x="31" y="27"/>
                  </a:moveTo>
                  <a:cubicBezTo>
                    <a:pt x="35" y="25"/>
                    <a:pt x="36" y="29"/>
                    <a:pt x="39" y="33"/>
                  </a:cubicBezTo>
                  <a:cubicBezTo>
                    <a:pt x="39" y="33"/>
                    <a:pt x="39" y="34"/>
                    <a:pt x="40" y="34"/>
                  </a:cubicBezTo>
                  <a:cubicBezTo>
                    <a:pt x="44" y="33"/>
                    <a:pt x="47" y="32"/>
                    <a:pt x="51" y="32"/>
                  </a:cubicBezTo>
                  <a:cubicBezTo>
                    <a:pt x="54" y="31"/>
                    <a:pt x="58" y="32"/>
                    <a:pt x="61" y="33"/>
                  </a:cubicBezTo>
                  <a:cubicBezTo>
                    <a:pt x="60" y="32"/>
                    <a:pt x="60" y="31"/>
                    <a:pt x="60" y="30"/>
                  </a:cubicBezTo>
                  <a:cubicBezTo>
                    <a:pt x="61" y="28"/>
                    <a:pt x="66" y="31"/>
                    <a:pt x="68" y="33"/>
                  </a:cubicBezTo>
                  <a:cubicBezTo>
                    <a:pt x="70" y="34"/>
                    <a:pt x="75" y="35"/>
                    <a:pt x="77" y="33"/>
                  </a:cubicBezTo>
                  <a:cubicBezTo>
                    <a:pt x="78" y="32"/>
                    <a:pt x="74" y="30"/>
                    <a:pt x="73" y="28"/>
                  </a:cubicBezTo>
                  <a:cubicBezTo>
                    <a:pt x="73" y="27"/>
                    <a:pt x="74" y="26"/>
                    <a:pt x="75" y="24"/>
                  </a:cubicBezTo>
                  <a:cubicBezTo>
                    <a:pt x="72" y="22"/>
                    <a:pt x="69" y="20"/>
                    <a:pt x="68" y="21"/>
                  </a:cubicBezTo>
                  <a:cubicBezTo>
                    <a:pt x="67" y="21"/>
                    <a:pt x="67" y="14"/>
                    <a:pt x="65" y="14"/>
                  </a:cubicBezTo>
                  <a:cubicBezTo>
                    <a:pt x="63" y="14"/>
                    <a:pt x="63" y="12"/>
                    <a:pt x="61" y="12"/>
                  </a:cubicBezTo>
                  <a:cubicBezTo>
                    <a:pt x="59" y="12"/>
                    <a:pt x="51" y="12"/>
                    <a:pt x="49" y="14"/>
                  </a:cubicBezTo>
                  <a:cubicBezTo>
                    <a:pt x="47" y="15"/>
                    <a:pt x="45" y="10"/>
                    <a:pt x="42" y="10"/>
                  </a:cubicBezTo>
                  <a:cubicBezTo>
                    <a:pt x="40" y="10"/>
                    <a:pt x="37" y="8"/>
                    <a:pt x="35" y="6"/>
                  </a:cubicBezTo>
                  <a:cubicBezTo>
                    <a:pt x="34" y="4"/>
                    <a:pt x="21" y="7"/>
                    <a:pt x="18" y="4"/>
                  </a:cubicBezTo>
                  <a:cubicBezTo>
                    <a:pt x="14" y="2"/>
                    <a:pt x="8" y="0"/>
                    <a:pt x="4" y="0"/>
                  </a:cubicBezTo>
                  <a:cubicBezTo>
                    <a:pt x="3" y="0"/>
                    <a:pt x="2" y="1"/>
                    <a:pt x="0" y="2"/>
                  </a:cubicBezTo>
                  <a:cubicBezTo>
                    <a:pt x="7" y="6"/>
                    <a:pt x="16" y="5"/>
                    <a:pt x="18" y="12"/>
                  </a:cubicBezTo>
                  <a:cubicBezTo>
                    <a:pt x="19" y="20"/>
                    <a:pt x="24" y="17"/>
                    <a:pt x="22" y="23"/>
                  </a:cubicBezTo>
                  <a:cubicBezTo>
                    <a:pt x="22" y="25"/>
                    <a:pt x="21" y="26"/>
                    <a:pt x="19" y="27"/>
                  </a:cubicBezTo>
                  <a:cubicBezTo>
                    <a:pt x="24" y="28"/>
                    <a:pt x="29" y="28"/>
                    <a:pt x="31"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0" name="Freeform 56"/>
            <p:cNvSpPr>
              <a:spLocks noEditPoints="1" noChangeArrowheads="1"/>
            </p:cNvSpPr>
            <p:nvPr/>
          </p:nvSpPr>
          <p:spPr bwMode="auto">
            <a:xfrm>
              <a:off x="4197364" y="1495427"/>
              <a:ext cx="406402" cy="160338"/>
            </a:xfrm>
            <a:custGeom>
              <a:avLst/>
              <a:gdLst>
                <a:gd name="T0" fmla="*/ 206 w 212"/>
                <a:gd name="T1" fmla="*/ 59 h 84"/>
                <a:gd name="T2" fmla="*/ 206 w 212"/>
                <a:gd name="T3" fmla="*/ 47 h 84"/>
                <a:gd name="T4" fmla="*/ 206 w 212"/>
                <a:gd name="T5" fmla="*/ 37 h 84"/>
                <a:gd name="T6" fmla="*/ 209 w 212"/>
                <a:gd name="T7" fmla="*/ 32 h 84"/>
                <a:gd name="T8" fmla="*/ 207 w 212"/>
                <a:gd name="T9" fmla="*/ 28 h 84"/>
                <a:gd name="T10" fmla="*/ 198 w 212"/>
                <a:gd name="T11" fmla="*/ 24 h 84"/>
                <a:gd name="T12" fmla="*/ 195 w 212"/>
                <a:gd name="T13" fmla="*/ 14 h 84"/>
                <a:gd name="T14" fmla="*/ 187 w 212"/>
                <a:gd name="T15" fmla="*/ 8 h 84"/>
                <a:gd name="T16" fmla="*/ 175 w 212"/>
                <a:gd name="T17" fmla="*/ 8 h 84"/>
                <a:gd name="T18" fmla="*/ 154 w 212"/>
                <a:gd name="T19" fmla="*/ 15 h 84"/>
                <a:gd name="T20" fmla="*/ 135 w 212"/>
                <a:gd name="T21" fmla="*/ 16 h 84"/>
                <a:gd name="T22" fmla="*/ 121 w 212"/>
                <a:gd name="T23" fmla="*/ 11 h 84"/>
                <a:gd name="T24" fmla="*/ 111 w 212"/>
                <a:gd name="T25" fmla="*/ 7 h 84"/>
                <a:gd name="T26" fmla="*/ 95 w 212"/>
                <a:gd name="T27" fmla="*/ 2 h 84"/>
                <a:gd name="T28" fmla="*/ 60 w 212"/>
                <a:gd name="T29" fmla="*/ 13 h 84"/>
                <a:gd name="T30" fmla="*/ 36 w 212"/>
                <a:gd name="T31" fmla="*/ 14 h 84"/>
                <a:gd name="T32" fmla="*/ 30 w 212"/>
                <a:gd name="T33" fmla="*/ 23 h 84"/>
                <a:gd name="T34" fmla="*/ 6 w 212"/>
                <a:gd name="T35" fmla="*/ 25 h 84"/>
                <a:gd name="T36" fmla="*/ 4 w 212"/>
                <a:gd name="T37" fmla="*/ 33 h 84"/>
                <a:gd name="T38" fmla="*/ 9 w 212"/>
                <a:gd name="T39" fmla="*/ 36 h 84"/>
                <a:gd name="T40" fmla="*/ 10 w 212"/>
                <a:gd name="T41" fmla="*/ 45 h 84"/>
                <a:gd name="T42" fmla="*/ 10 w 212"/>
                <a:gd name="T43" fmla="*/ 53 h 84"/>
                <a:gd name="T44" fmla="*/ 10 w 212"/>
                <a:gd name="T45" fmla="*/ 59 h 84"/>
                <a:gd name="T46" fmla="*/ 16 w 212"/>
                <a:gd name="T47" fmla="*/ 65 h 84"/>
                <a:gd name="T48" fmla="*/ 23 w 212"/>
                <a:gd name="T49" fmla="*/ 69 h 84"/>
                <a:gd name="T50" fmla="*/ 29 w 212"/>
                <a:gd name="T51" fmla="*/ 71 h 84"/>
                <a:gd name="T52" fmla="*/ 36 w 212"/>
                <a:gd name="T53" fmla="*/ 78 h 84"/>
                <a:gd name="T54" fmla="*/ 50 w 212"/>
                <a:gd name="T55" fmla="*/ 75 h 84"/>
                <a:gd name="T56" fmla="*/ 59 w 212"/>
                <a:gd name="T57" fmla="*/ 71 h 84"/>
                <a:gd name="T58" fmla="*/ 75 w 212"/>
                <a:gd name="T59" fmla="*/ 80 h 84"/>
                <a:gd name="T60" fmla="*/ 86 w 212"/>
                <a:gd name="T61" fmla="*/ 78 h 84"/>
                <a:gd name="T62" fmla="*/ 97 w 212"/>
                <a:gd name="T63" fmla="*/ 71 h 84"/>
                <a:gd name="T64" fmla="*/ 106 w 212"/>
                <a:gd name="T65" fmla="*/ 74 h 84"/>
                <a:gd name="T66" fmla="*/ 114 w 212"/>
                <a:gd name="T67" fmla="*/ 71 h 84"/>
                <a:gd name="T68" fmla="*/ 111 w 212"/>
                <a:gd name="T69" fmla="*/ 80 h 84"/>
                <a:gd name="T70" fmla="*/ 111 w 212"/>
                <a:gd name="T71" fmla="*/ 84 h 84"/>
                <a:gd name="T72" fmla="*/ 118 w 212"/>
                <a:gd name="T73" fmla="*/ 76 h 84"/>
                <a:gd name="T74" fmla="*/ 123 w 212"/>
                <a:gd name="T75" fmla="*/ 74 h 84"/>
                <a:gd name="T76" fmla="*/ 133 w 212"/>
                <a:gd name="T77" fmla="*/ 74 h 84"/>
                <a:gd name="T78" fmla="*/ 140 w 212"/>
                <a:gd name="T79" fmla="*/ 72 h 84"/>
                <a:gd name="T80" fmla="*/ 153 w 212"/>
                <a:gd name="T81" fmla="*/ 73 h 84"/>
                <a:gd name="T82" fmla="*/ 168 w 212"/>
                <a:gd name="T83" fmla="*/ 68 h 84"/>
                <a:gd name="T84" fmla="*/ 180 w 212"/>
                <a:gd name="T85" fmla="*/ 66 h 84"/>
                <a:gd name="T86" fmla="*/ 185 w 212"/>
                <a:gd name="T87" fmla="*/ 68 h 84"/>
                <a:gd name="T88" fmla="*/ 190 w 212"/>
                <a:gd name="T89" fmla="*/ 64 h 84"/>
                <a:gd name="T90" fmla="*/ 200 w 212"/>
                <a:gd name="T91" fmla="*/ 66 h 84"/>
                <a:gd name="T92" fmla="*/ 212 w 212"/>
                <a:gd name="T93" fmla="*/ 68 h 84"/>
                <a:gd name="T94" fmla="*/ 206 w 212"/>
                <a:gd name="T95" fmla="*/ 59 h 84"/>
                <a:gd name="T96" fmla="*/ 19 w 212"/>
                <a:gd name="T97" fmla="*/ 16 h 84"/>
                <a:gd name="T98" fmla="*/ 34 w 212"/>
                <a:gd name="T99" fmla="*/ 14 h 84"/>
                <a:gd name="T100" fmla="*/ 25 w 212"/>
                <a:gd name="T101" fmla="*/ 8 h 84"/>
                <a:gd name="T102" fmla="*/ 22 w 212"/>
                <a:gd name="T103" fmla="*/ 2 h 84"/>
                <a:gd name="T104" fmla="*/ 18 w 212"/>
                <a:gd name="T105" fmla="*/ 3 h 84"/>
                <a:gd name="T106" fmla="*/ 6 w 212"/>
                <a:gd name="T107" fmla="*/ 3 h 84"/>
                <a:gd name="T108" fmla="*/ 7 w 212"/>
                <a:gd name="T109" fmla="*/ 10 h 84"/>
                <a:gd name="T110" fmla="*/ 4 w 212"/>
                <a:gd name="T111" fmla="*/ 15 h 84"/>
                <a:gd name="T112" fmla="*/ 1 w 212"/>
                <a:gd name="T113" fmla="*/ 19 h 84"/>
                <a:gd name="T114" fmla="*/ 8 w 212"/>
                <a:gd name="T115" fmla="*/ 22 h 84"/>
                <a:gd name="T116" fmla="*/ 19 w 212"/>
                <a:gd name="T117" fmla="*/ 16 h 8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12"/>
                <a:gd name="T178" fmla="*/ 0 h 84"/>
                <a:gd name="T179" fmla="*/ 212 w 212"/>
                <a:gd name="T180" fmla="*/ 84 h 8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12" h="84">
                  <a:moveTo>
                    <a:pt x="206" y="59"/>
                  </a:moveTo>
                  <a:cubicBezTo>
                    <a:pt x="204" y="58"/>
                    <a:pt x="207" y="49"/>
                    <a:pt x="206" y="47"/>
                  </a:cubicBezTo>
                  <a:cubicBezTo>
                    <a:pt x="205" y="45"/>
                    <a:pt x="203" y="37"/>
                    <a:pt x="206" y="37"/>
                  </a:cubicBezTo>
                  <a:cubicBezTo>
                    <a:pt x="208" y="37"/>
                    <a:pt x="206" y="32"/>
                    <a:pt x="209" y="32"/>
                  </a:cubicBezTo>
                  <a:cubicBezTo>
                    <a:pt x="208" y="30"/>
                    <a:pt x="207" y="28"/>
                    <a:pt x="207" y="28"/>
                  </a:cubicBezTo>
                  <a:cubicBezTo>
                    <a:pt x="205" y="26"/>
                    <a:pt x="200" y="29"/>
                    <a:pt x="198" y="24"/>
                  </a:cubicBezTo>
                  <a:cubicBezTo>
                    <a:pt x="196" y="19"/>
                    <a:pt x="198" y="18"/>
                    <a:pt x="195" y="14"/>
                  </a:cubicBezTo>
                  <a:cubicBezTo>
                    <a:pt x="192" y="10"/>
                    <a:pt x="191" y="6"/>
                    <a:pt x="187" y="8"/>
                  </a:cubicBezTo>
                  <a:cubicBezTo>
                    <a:pt x="185" y="9"/>
                    <a:pt x="180" y="9"/>
                    <a:pt x="175" y="8"/>
                  </a:cubicBezTo>
                  <a:cubicBezTo>
                    <a:pt x="170" y="13"/>
                    <a:pt x="158" y="17"/>
                    <a:pt x="154" y="15"/>
                  </a:cubicBezTo>
                  <a:cubicBezTo>
                    <a:pt x="150" y="14"/>
                    <a:pt x="141" y="16"/>
                    <a:pt x="135" y="16"/>
                  </a:cubicBezTo>
                  <a:cubicBezTo>
                    <a:pt x="128" y="16"/>
                    <a:pt x="126" y="11"/>
                    <a:pt x="121" y="11"/>
                  </a:cubicBezTo>
                  <a:cubicBezTo>
                    <a:pt x="116" y="12"/>
                    <a:pt x="116" y="7"/>
                    <a:pt x="111" y="7"/>
                  </a:cubicBezTo>
                  <a:cubicBezTo>
                    <a:pt x="106" y="7"/>
                    <a:pt x="110" y="4"/>
                    <a:pt x="95" y="2"/>
                  </a:cubicBezTo>
                  <a:cubicBezTo>
                    <a:pt x="79" y="0"/>
                    <a:pt x="65" y="9"/>
                    <a:pt x="60" y="13"/>
                  </a:cubicBezTo>
                  <a:cubicBezTo>
                    <a:pt x="55" y="17"/>
                    <a:pt x="37" y="13"/>
                    <a:pt x="36" y="14"/>
                  </a:cubicBezTo>
                  <a:cubicBezTo>
                    <a:pt x="34" y="15"/>
                    <a:pt x="36" y="21"/>
                    <a:pt x="30" y="23"/>
                  </a:cubicBezTo>
                  <a:cubicBezTo>
                    <a:pt x="24" y="25"/>
                    <a:pt x="11" y="23"/>
                    <a:pt x="6" y="25"/>
                  </a:cubicBezTo>
                  <a:cubicBezTo>
                    <a:pt x="2" y="27"/>
                    <a:pt x="0" y="34"/>
                    <a:pt x="4" y="33"/>
                  </a:cubicBezTo>
                  <a:cubicBezTo>
                    <a:pt x="8" y="33"/>
                    <a:pt x="10" y="35"/>
                    <a:pt x="9" y="36"/>
                  </a:cubicBezTo>
                  <a:cubicBezTo>
                    <a:pt x="8" y="38"/>
                    <a:pt x="12" y="43"/>
                    <a:pt x="10" y="45"/>
                  </a:cubicBezTo>
                  <a:cubicBezTo>
                    <a:pt x="8" y="47"/>
                    <a:pt x="7" y="51"/>
                    <a:pt x="10" y="53"/>
                  </a:cubicBezTo>
                  <a:cubicBezTo>
                    <a:pt x="13" y="55"/>
                    <a:pt x="13" y="58"/>
                    <a:pt x="10" y="59"/>
                  </a:cubicBezTo>
                  <a:cubicBezTo>
                    <a:pt x="7" y="59"/>
                    <a:pt x="16" y="63"/>
                    <a:pt x="16" y="65"/>
                  </a:cubicBezTo>
                  <a:cubicBezTo>
                    <a:pt x="16" y="66"/>
                    <a:pt x="23" y="67"/>
                    <a:pt x="23" y="69"/>
                  </a:cubicBezTo>
                  <a:cubicBezTo>
                    <a:pt x="23" y="71"/>
                    <a:pt x="25" y="72"/>
                    <a:pt x="29" y="71"/>
                  </a:cubicBezTo>
                  <a:cubicBezTo>
                    <a:pt x="32" y="70"/>
                    <a:pt x="34" y="75"/>
                    <a:pt x="36" y="78"/>
                  </a:cubicBezTo>
                  <a:cubicBezTo>
                    <a:pt x="38" y="81"/>
                    <a:pt x="50" y="79"/>
                    <a:pt x="50" y="75"/>
                  </a:cubicBezTo>
                  <a:cubicBezTo>
                    <a:pt x="50" y="72"/>
                    <a:pt x="54" y="71"/>
                    <a:pt x="59" y="71"/>
                  </a:cubicBezTo>
                  <a:cubicBezTo>
                    <a:pt x="65" y="72"/>
                    <a:pt x="72" y="79"/>
                    <a:pt x="75" y="80"/>
                  </a:cubicBezTo>
                  <a:cubicBezTo>
                    <a:pt x="77" y="81"/>
                    <a:pt x="83" y="78"/>
                    <a:pt x="86" y="78"/>
                  </a:cubicBezTo>
                  <a:cubicBezTo>
                    <a:pt x="90" y="78"/>
                    <a:pt x="95" y="73"/>
                    <a:pt x="97" y="71"/>
                  </a:cubicBezTo>
                  <a:cubicBezTo>
                    <a:pt x="99" y="70"/>
                    <a:pt x="102" y="75"/>
                    <a:pt x="106" y="74"/>
                  </a:cubicBezTo>
                  <a:cubicBezTo>
                    <a:pt x="109" y="72"/>
                    <a:pt x="112" y="70"/>
                    <a:pt x="114" y="71"/>
                  </a:cubicBezTo>
                  <a:cubicBezTo>
                    <a:pt x="116" y="72"/>
                    <a:pt x="109" y="78"/>
                    <a:pt x="111" y="80"/>
                  </a:cubicBezTo>
                  <a:cubicBezTo>
                    <a:pt x="112" y="81"/>
                    <a:pt x="112" y="83"/>
                    <a:pt x="111" y="84"/>
                  </a:cubicBezTo>
                  <a:cubicBezTo>
                    <a:pt x="118" y="83"/>
                    <a:pt x="118" y="78"/>
                    <a:pt x="118" y="76"/>
                  </a:cubicBezTo>
                  <a:cubicBezTo>
                    <a:pt x="119" y="74"/>
                    <a:pt x="120" y="72"/>
                    <a:pt x="123" y="74"/>
                  </a:cubicBezTo>
                  <a:cubicBezTo>
                    <a:pt x="125" y="75"/>
                    <a:pt x="128" y="76"/>
                    <a:pt x="133" y="74"/>
                  </a:cubicBezTo>
                  <a:cubicBezTo>
                    <a:pt x="138" y="71"/>
                    <a:pt x="138" y="70"/>
                    <a:pt x="140" y="72"/>
                  </a:cubicBezTo>
                  <a:cubicBezTo>
                    <a:pt x="142" y="74"/>
                    <a:pt x="146" y="73"/>
                    <a:pt x="153" y="73"/>
                  </a:cubicBezTo>
                  <a:cubicBezTo>
                    <a:pt x="160" y="73"/>
                    <a:pt x="161" y="68"/>
                    <a:pt x="168" y="68"/>
                  </a:cubicBezTo>
                  <a:cubicBezTo>
                    <a:pt x="175" y="69"/>
                    <a:pt x="180" y="66"/>
                    <a:pt x="180" y="66"/>
                  </a:cubicBezTo>
                  <a:cubicBezTo>
                    <a:pt x="185" y="68"/>
                    <a:pt x="185" y="68"/>
                    <a:pt x="185" y="68"/>
                  </a:cubicBezTo>
                  <a:cubicBezTo>
                    <a:pt x="186" y="66"/>
                    <a:pt x="186" y="64"/>
                    <a:pt x="190" y="64"/>
                  </a:cubicBezTo>
                  <a:cubicBezTo>
                    <a:pt x="195" y="63"/>
                    <a:pt x="197" y="67"/>
                    <a:pt x="200" y="66"/>
                  </a:cubicBezTo>
                  <a:cubicBezTo>
                    <a:pt x="202" y="65"/>
                    <a:pt x="211" y="74"/>
                    <a:pt x="212" y="68"/>
                  </a:cubicBezTo>
                  <a:cubicBezTo>
                    <a:pt x="212" y="66"/>
                    <a:pt x="208" y="59"/>
                    <a:pt x="206" y="59"/>
                  </a:cubicBezTo>
                  <a:close/>
                  <a:moveTo>
                    <a:pt x="19" y="16"/>
                  </a:moveTo>
                  <a:cubicBezTo>
                    <a:pt x="23" y="14"/>
                    <a:pt x="32" y="16"/>
                    <a:pt x="34" y="14"/>
                  </a:cubicBezTo>
                  <a:cubicBezTo>
                    <a:pt x="36" y="12"/>
                    <a:pt x="28" y="10"/>
                    <a:pt x="25" y="8"/>
                  </a:cubicBezTo>
                  <a:cubicBezTo>
                    <a:pt x="24" y="6"/>
                    <a:pt x="23" y="4"/>
                    <a:pt x="22" y="2"/>
                  </a:cubicBezTo>
                  <a:cubicBezTo>
                    <a:pt x="21" y="3"/>
                    <a:pt x="19" y="3"/>
                    <a:pt x="18" y="3"/>
                  </a:cubicBezTo>
                  <a:cubicBezTo>
                    <a:pt x="15" y="1"/>
                    <a:pt x="8" y="2"/>
                    <a:pt x="6" y="3"/>
                  </a:cubicBezTo>
                  <a:cubicBezTo>
                    <a:pt x="5" y="3"/>
                    <a:pt x="7" y="7"/>
                    <a:pt x="7" y="10"/>
                  </a:cubicBezTo>
                  <a:cubicBezTo>
                    <a:pt x="7" y="13"/>
                    <a:pt x="4" y="14"/>
                    <a:pt x="4" y="15"/>
                  </a:cubicBezTo>
                  <a:cubicBezTo>
                    <a:pt x="4" y="17"/>
                    <a:pt x="3" y="18"/>
                    <a:pt x="1" y="19"/>
                  </a:cubicBezTo>
                  <a:cubicBezTo>
                    <a:pt x="4" y="21"/>
                    <a:pt x="6" y="22"/>
                    <a:pt x="8" y="22"/>
                  </a:cubicBezTo>
                  <a:cubicBezTo>
                    <a:pt x="13" y="22"/>
                    <a:pt x="15" y="17"/>
                    <a:pt x="19" y="1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1" name="Freeform 57"/>
            <p:cNvSpPr>
              <a:spLocks noChangeArrowheads="1"/>
            </p:cNvSpPr>
            <p:nvPr/>
          </p:nvSpPr>
          <p:spPr bwMode="auto">
            <a:xfrm>
              <a:off x="5329256" y="1657351"/>
              <a:ext cx="50800" cy="47625"/>
            </a:xfrm>
            <a:custGeom>
              <a:avLst/>
              <a:gdLst>
                <a:gd name="T0" fmla="*/ 12 w 26"/>
                <a:gd name="T1" fmla="*/ 0 h 25"/>
                <a:gd name="T2" fmla="*/ 0 w 26"/>
                <a:gd name="T3" fmla="*/ 8 h 25"/>
                <a:gd name="T4" fmla="*/ 1 w 26"/>
                <a:gd name="T5" fmla="*/ 11 h 25"/>
                <a:gd name="T6" fmla="*/ 8 w 26"/>
                <a:gd name="T7" fmla="*/ 18 h 25"/>
                <a:gd name="T8" fmla="*/ 9 w 26"/>
                <a:gd name="T9" fmla="*/ 25 h 25"/>
                <a:gd name="T10" fmla="*/ 14 w 26"/>
                <a:gd name="T11" fmla="*/ 25 h 25"/>
                <a:gd name="T12" fmla="*/ 25 w 26"/>
                <a:gd name="T13" fmla="*/ 11 h 25"/>
                <a:gd name="T14" fmla="*/ 12 w 26"/>
                <a:gd name="T15" fmla="*/ 0 h 25"/>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25"/>
                <a:gd name="T26" fmla="*/ 26 w 26"/>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25">
                  <a:moveTo>
                    <a:pt x="12" y="0"/>
                  </a:moveTo>
                  <a:cubicBezTo>
                    <a:pt x="8" y="0"/>
                    <a:pt x="1" y="4"/>
                    <a:pt x="0" y="8"/>
                  </a:cubicBezTo>
                  <a:cubicBezTo>
                    <a:pt x="0" y="8"/>
                    <a:pt x="1" y="10"/>
                    <a:pt x="1" y="11"/>
                  </a:cubicBezTo>
                  <a:cubicBezTo>
                    <a:pt x="2" y="14"/>
                    <a:pt x="5" y="17"/>
                    <a:pt x="8" y="18"/>
                  </a:cubicBezTo>
                  <a:cubicBezTo>
                    <a:pt x="10" y="19"/>
                    <a:pt x="10" y="22"/>
                    <a:pt x="9" y="25"/>
                  </a:cubicBezTo>
                  <a:cubicBezTo>
                    <a:pt x="11" y="25"/>
                    <a:pt x="13" y="25"/>
                    <a:pt x="14" y="25"/>
                  </a:cubicBezTo>
                  <a:cubicBezTo>
                    <a:pt x="17" y="24"/>
                    <a:pt x="24" y="14"/>
                    <a:pt x="25" y="11"/>
                  </a:cubicBezTo>
                  <a:cubicBezTo>
                    <a:pt x="26" y="8"/>
                    <a:pt x="17" y="1"/>
                    <a:pt x="12"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2" name="Freeform 58"/>
            <p:cNvSpPr>
              <a:spLocks noChangeArrowheads="1"/>
            </p:cNvSpPr>
            <p:nvPr/>
          </p:nvSpPr>
          <p:spPr bwMode="auto">
            <a:xfrm>
              <a:off x="6302396" y="1477963"/>
              <a:ext cx="147638" cy="141288"/>
            </a:xfrm>
            <a:custGeom>
              <a:avLst/>
              <a:gdLst>
                <a:gd name="T0" fmla="*/ 74 w 77"/>
                <a:gd name="T1" fmla="*/ 4 h 74"/>
                <a:gd name="T2" fmla="*/ 65 w 77"/>
                <a:gd name="T3" fmla="*/ 0 h 74"/>
                <a:gd name="T4" fmla="*/ 58 w 77"/>
                <a:gd name="T5" fmla="*/ 9 h 74"/>
                <a:gd name="T6" fmla="*/ 50 w 77"/>
                <a:gd name="T7" fmla="*/ 15 h 74"/>
                <a:gd name="T8" fmla="*/ 46 w 77"/>
                <a:gd name="T9" fmla="*/ 19 h 74"/>
                <a:gd name="T10" fmla="*/ 38 w 77"/>
                <a:gd name="T11" fmla="*/ 21 h 74"/>
                <a:gd name="T12" fmla="*/ 31 w 77"/>
                <a:gd name="T13" fmla="*/ 18 h 74"/>
                <a:gd name="T14" fmla="*/ 24 w 77"/>
                <a:gd name="T15" fmla="*/ 26 h 74"/>
                <a:gd name="T16" fmla="*/ 3 w 77"/>
                <a:gd name="T17" fmla="*/ 38 h 74"/>
                <a:gd name="T18" fmla="*/ 0 w 77"/>
                <a:gd name="T19" fmla="*/ 43 h 74"/>
                <a:gd name="T20" fmla="*/ 13 w 77"/>
                <a:gd name="T21" fmla="*/ 49 h 74"/>
                <a:gd name="T22" fmla="*/ 6 w 77"/>
                <a:gd name="T23" fmla="*/ 62 h 74"/>
                <a:gd name="T24" fmla="*/ 8 w 77"/>
                <a:gd name="T25" fmla="*/ 68 h 74"/>
                <a:gd name="T26" fmla="*/ 14 w 77"/>
                <a:gd name="T27" fmla="*/ 71 h 74"/>
                <a:gd name="T28" fmla="*/ 22 w 77"/>
                <a:gd name="T29" fmla="*/ 70 h 74"/>
                <a:gd name="T30" fmla="*/ 25 w 77"/>
                <a:gd name="T31" fmla="*/ 71 h 74"/>
                <a:gd name="T32" fmla="*/ 31 w 77"/>
                <a:gd name="T33" fmla="*/ 66 h 74"/>
                <a:gd name="T34" fmla="*/ 42 w 77"/>
                <a:gd name="T35" fmla="*/ 64 h 74"/>
                <a:gd name="T36" fmla="*/ 48 w 77"/>
                <a:gd name="T37" fmla="*/ 62 h 74"/>
                <a:gd name="T38" fmla="*/ 38 w 77"/>
                <a:gd name="T39" fmla="*/ 52 h 74"/>
                <a:gd name="T40" fmla="*/ 41 w 77"/>
                <a:gd name="T41" fmla="*/ 42 h 74"/>
                <a:gd name="T42" fmla="*/ 61 w 77"/>
                <a:gd name="T43" fmla="*/ 30 h 74"/>
                <a:gd name="T44" fmla="*/ 65 w 77"/>
                <a:gd name="T45" fmla="*/ 17 h 74"/>
                <a:gd name="T46" fmla="*/ 77 w 77"/>
                <a:gd name="T47" fmla="*/ 4 h 74"/>
                <a:gd name="T48" fmla="*/ 74 w 77"/>
                <a:gd name="T49" fmla="*/ 4 h 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7"/>
                <a:gd name="T76" fmla="*/ 0 h 74"/>
                <a:gd name="T77" fmla="*/ 77 w 77"/>
                <a:gd name="T78" fmla="*/ 74 h 7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7" h="74">
                  <a:moveTo>
                    <a:pt x="74" y="4"/>
                  </a:moveTo>
                  <a:cubicBezTo>
                    <a:pt x="70" y="5"/>
                    <a:pt x="68" y="0"/>
                    <a:pt x="65" y="0"/>
                  </a:cubicBezTo>
                  <a:cubicBezTo>
                    <a:pt x="61" y="0"/>
                    <a:pt x="62" y="9"/>
                    <a:pt x="58" y="9"/>
                  </a:cubicBezTo>
                  <a:cubicBezTo>
                    <a:pt x="54" y="9"/>
                    <a:pt x="55" y="14"/>
                    <a:pt x="50" y="15"/>
                  </a:cubicBezTo>
                  <a:cubicBezTo>
                    <a:pt x="45" y="16"/>
                    <a:pt x="43" y="16"/>
                    <a:pt x="46" y="19"/>
                  </a:cubicBezTo>
                  <a:cubicBezTo>
                    <a:pt x="48" y="23"/>
                    <a:pt x="43" y="21"/>
                    <a:pt x="38" y="21"/>
                  </a:cubicBezTo>
                  <a:cubicBezTo>
                    <a:pt x="34" y="21"/>
                    <a:pt x="34" y="18"/>
                    <a:pt x="31" y="18"/>
                  </a:cubicBezTo>
                  <a:cubicBezTo>
                    <a:pt x="28" y="18"/>
                    <a:pt x="26" y="24"/>
                    <a:pt x="24" y="26"/>
                  </a:cubicBezTo>
                  <a:cubicBezTo>
                    <a:pt x="22" y="29"/>
                    <a:pt x="7" y="36"/>
                    <a:pt x="3" y="38"/>
                  </a:cubicBezTo>
                  <a:cubicBezTo>
                    <a:pt x="2" y="39"/>
                    <a:pt x="1" y="41"/>
                    <a:pt x="0" y="43"/>
                  </a:cubicBezTo>
                  <a:cubicBezTo>
                    <a:pt x="5" y="43"/>
                    <a:pt x="10" y="46"/>
                    <a:pt x="13" y="49"/>
                  </a:cubicBezTo>
                  <a:cubicBezTo>
                    <a:pt x="16" y="53"/>
                    <a:pt x="9" y="58"/>
                    <a:pt x="6" y="62"/>
                  </a:cubicBezTo>
                  <a:cubicBezTo>
                    <a:pt x="3" y="65"/>
                    <a:pt x="8" y="65"/>
                    <a:pt x="8" y="68"/>
                  </a:cubicBezTo>
                  <a:cubicBezTo>
                    <a:pt x="8" y="71"/>
                    <a:pt x="12" y="74"/>
                    <a:pt x="14" y="71"/>
                  </a:cubicBezTo>
                  <a:cubicBezTo>
                    <a:pt x="15" y="69"/>
                    <a:pt x="18" y="70"/>
                    <a:pt x="22" y="70"/>
                  </a:cubicBezTo>
                  <a:cubicBezTo>
                    <a:pt x="24" y="70"/>
                    <a:pt x="24" y="70"/>
                    <a:pt x="25" y="71"/>
                  </a:cubicBezTo>
                  <a:cubicBezTo>
                    <a:pt x="27" y="69"/>
                    <a:pt x="30" y="67"/>
                    <a:pt x="31" y="66"/>
                  </a:cubicBezTo>
                  <a:cubicBezTo>
                    <a:pt x="33" y="64"/>
                    <a:pt x="38" y="64"/>
                    <a:pt x="42" y="64"/>
                  </a:cubicBezTo>
                  <a:cubicBezTo>
                    <a:pt x="44" y="64"/>
                    <a:pt x="46" y="63"/>
                    <a:pt x="48" y="62"/>
                  </a:cubicBezTo>
                  <a:cubicBezTo>
                    <a:pt x="43" y="57"/>
                    <a:pt x="39" y="53"/>
                    <a:pt x="38" y="52"/>
                  </a:cubicBezTo>
                  <a:cubicBezTo>
                    <a:pt x="34" y="50"/>
                    <a:pt x="36" y="43"/>
                    <a:pt x="41" y="42"/>
                  </a:cubicBezTo>
                  <a:cubicBezTo>
                    <a:pt x="46" y="41"/>
                    <a:pt x="57" y="32"/>
                    <a:pt x="61" y="30"/>
                  </a:cubicBezTo>
                  <a:cubicBezTo>
                    <a:pt x="64" y="28"/>
                    <a:pt x="62" y="22"/>
                    <a:pt x="65" y="17"/>
                  </a:cubicBezTo>
                  <a:cubicBezTo>
                    <a:pt x="66" y="14"/>
                    <a:pt x="72" y="9"/>
                    <a:pt x="77" y="4"/>
                  </a:cubicBezTo>
                  <a:cubicBezTo>
                    <a:pt x="76" y="4"/>
                    <a:pt x="75" y="4"/>
                    <a:pt x="74" y="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3" name="Freeform 59"/>
            <p:cNvSpPr>
              <a:spLocks noChangeArrowheads="1"/>
            </p:cNvSpPr>
            <p:nvPr/>
          </p:nvSpPr>
          <p:spPr bwMode="auto">
            <a:xfrm>
              <a:off x="5373706" y="1793876"/>
              <a:ext cx="166689" cy="95250"/>
            </a:xfrm>
            <a:custGeom>
              <a:avLst/>
              <a:gdLst>
                <a:gd name="T0" fmla="*/ 85 w 87"/>
                <a:gd name="T1" fmla="*/ 32 h 50"/>
                <a:gd name="T2" fmla="*/ 83 w 87"/>
                <a:gd name="T3" fmla="*/ 32 h 50"/>
                <a:gd name="T4" fmla="*/ 68 w 87"/>
                <a:gd name="T5" fmla="*/ 29 h 50"/>
                <a:gd name="T6" fmla="*/ 46 w 87"/>
                <a:gd name="T7" fmla="*/ 20 h 50"/>
                <a:gd name="T8" fmla="*/ 23 w 87"/>
                <a:gd name="T9" fmla="*/ 3 h 50"/>
                <a:gd name="T10" fmla="*/ 14 w 87"/>
                <a:gd name="T11" fmla="*/ 2 h 50"/>
                <a:gd name="T12" fmla="*/ 7 w 87"/>
                <a:gd name="T13" fmla="*/ 4 h 50"/>
                <a:gd name="T14" fmla="*/ 2 w 87"/>
                <a:gd name="T15" fmla="*/ 10 h 50"/>
                <a:gd name="T16" fmla="*/ 0 w 87"/>
                <a:gd name="T17" fmla="*/ 19 h 50"/>
                <a:gd name="T18" fmla="*/ 6 w 87"/>
                <a:gd name="T19" fmla="*/ 23 h 50"/>
                <a:gd name="T20" fmla="*/ 15 w 87"/>
                <a:gd name="T21" fmla="*/ 27 h 50"/>
                <a:gd name="T22" fmla="*/ 23 w 87"/>
                <a:gd name="T23" fmla="*/ 32 h 50"/>
                <a:gd name="T24" fmla="*/ 33 w 87"/>
                <a:gd name="T25" fmla="*/ 37 h 50"/>
                <a:gd name="T26" fmla="*/ 43 w 87"/>
                <a:gd name="T27" fmla="*/ 35 h 50"/>
                <a:gd name="T28" fmla="*/ 50 w 87"/>
                <a:gd name="T29" fmla="*/ 42 h 50"/>
                <a:gd name="T30" fmla="*/ 64 w 87"/>
                <a:gd name="T31" fmla="*/ 47 h 50"/>
                <a:gd name="T32" fmla="*/ 84 w 87"/>
                <a:gd name="T33" fmla="*/ 46 h 50"/>
                <a:gd name="T34" fmla="*/ 84 w 87"/>
                <a:gd name="T35" fmla="*/ 34 h 50"/>
                <a:gd name="T36" fmla="*/ 85 w 87"/>
                <a:gd name="T37" fmla="*/ 32 h 5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7"/>
                <a:gd name="T58" fmla="*/ 0 h 50"/>
                <a:gd name="T59" fmla="*/ 87 w 87"/>
                <a:gd name="T60" fmla="*/ 50 h 5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7" h="50">
                  <a:moveTo>
                    <a:pt x="85" y="32"/>
                  </a:moveTo>
                  <a:cubicBezTo>
                    <a:pt x="84" y="32"/>
                    <a:pt x="84" y="31"/>
                    <a:pt x="83" y="32"/>
                  </a:cubicBezTo>
                  <a:cubicBezTo>
                    <a:pt x="76" y="32"/>
                    <a:pt x="72" y="29"/>
                    <a:pt x="68" y="29"/>
                  </a:cubicBezTo>
                  <a:cubicBezTo>
                    <a:pt x="64" y="29"/>
                    <a:pt x="51" y="24"/>
                    <a:pt x="46" y="20"/>
                  </a:cubicBezTo>
                  <a:cubicBezTo>
                    <a:pt x="41" y="16"/>
                    <a:pt x="27" y="7"/>
                    <a:pt x="23" y="3"/>
                  </a:cubicBezTo>
                  <a:cubicBezTo>
                    <a:pt x="20" y="0"/>
                    <a:pt x="15" y="0"/>
                    <a:pt x="14" y="2"/>
                  </a:cubicBezTo>
                  <a:cubicBezTo>
                    <a:pt x="14" y="3"/>
                    <a:pt x="11" y="3"/>
                    <a:pt x="7" y="4"/>
                  </a:cubicBezTo>
                  <a:cubicBezTo>
                    <a:pt x="6" y="5"/>
                    <a:pt x="2" y="8"/>
                    <a:pt x="2" y="10"/>
                  </a:cubicBezTo>
                  <a:cubicBezTo>
                    <a:pt x="2" y="13"/>
                    <a:pt x="0" y="16"/>
                    <a:pt x="0" y="19"/>
                  </a:cubicBezTo>
                  <a:cubicBezTo>
                    <a:pt x="0" y="21"/>
                    <a:pt x="5" y="21"/>
                    <a:pt x="6" y="23"/>
                  </a:cubicBezTo>
                  <a:cubicBezTo>
                    <a:pt x="7" y="25"/>
                    <a:pt x="15" y="26"/>
                    <a:pt x="15" y="27"/>
                  </a:cubicBezTo>
                  <a:cubicBezTo>
                    <a:pt x="15" y="29"/>
                    <a:pt x="20" y="31"/>
                    <a:pt x="23" y="32"/>
                  </a:cubicBezTo>
                  <a:cubicBezTo>
                    <a:pt x="27" y="32"/>
                    <a:pt x="31" y="36"/>
                    <a:pt x="33" y="37"/>
                  </a:cubicBezTo>
                  <a:cubicBezTo>
                    <a:pt x="35" y="39"/>
                    <a:pt x="41" y="35"/>
                    <a:pt x="43" y="35"/>
                  </a:cubicBezTo>
                  <a:cubicBezTo>
                    <a:pt x="46" y="35"/>
                    <a:pt x="49" y="39"/>
                    <a:pt x="50" y="42"/>
                  </a:cubicBezTo>
                  <a:cubicBezTo>
                    <a:pt x="50" y="44"/>
                    <a:pt x="62" y="45"/>
                    <a:pt x="64" y="47"/>
                  </a:cubicBezTo>
                  <a:cubicBezTo>
                    <a:pt x="67" y="50"/>
                    <a:pt x="81" y="48"/>
                    <a:pt x="84" y="46"/>
                  </a:cubicBezTo>
                  <a:cubicBezTo>
                    <a:pt x="87" y="43"/>
                    <a:pt x="84" y="38"/>
                    <a:pt x="84" y="34"/>
                  </a:cubicBezTo>
                  <a:cubicBezTo>
                    <a:pt x="84" y="33"/>
                    <a:pt x="85" y="32"/>
                    <a:pt x="85" y="3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4" name="Freeform 60"/>
            <p:cNvSpPr>
              <a:spLocks noChangeArrowheads="1"/>
            </p:cNvSpPr>
            <p:nvPr/>
          </p:nvSpPr>
          <p:spPr bwMode="auto">
            <a:xfrm>
              <a:off x="5615007" y="1836739"/>
              <a:ext cx="182564" cy="407989"/>
            </a:xfrm>
            <a:custGeom>
              <a:avLst/>
              <a:gdLst>
                <a:gd name="T0" fmla="*/ 78 w 96"/>
                <a:gd name="T1" fmla="*/ 193 h 213"/>
                <a:gd name="T2" fmla="*/ 74 w 96"/>
                <a:gd name="T3" fmla="*/ 185 h 213"/>
                <a:gd name="T4" fmla="*/ 70 w 96"/>
                <a:gd name="T5" fmla="*/ 171 h 213"/>
                <a:gd name="T6" fmla="*/ 66 w 96"/>
                <a:gd name="T7" fmla="*/ 159 h 213"/>
                <a:gd name="T8" fmla="*/ 67 w 96"/>
                <a:gd name="T9" fmla="*/ 151 h 213"/>
                <a:gd name="T10" fmla="*/ 68 w 96"/>
                <a:gd name="T11" fmla="*/ 146 h 213"/>
                <a:gd name="T12" fmla="*/ 66 w 96"/>
                <a:gd name="T13" fmla="*/ 138 h 213"/>
                <a:gd name="T14" fmla="*/ 57 w 96"/>
                <a:gd name="T15" fmla="*/ 128 h 213"/>
                <a:gd name="T16" fmla="*/ 59 w 96"/>
                <a:gd name="T17" fmla="*/ 110 h 213"/>
                <a:gd name="T18" fmla="*/ 66 w 96"/>
                <a:gd name="T19" fmla="*/ 106 h 213"/>
                <a:gd name="T20" fmla="*/ 74 w 96"/>
                <a:gd name="T21" fmla="*/ 104 h 213"/>
                <a:gd name="T22" fmla="*/ 84 w 96"/>
                <a:gd name="T23" fmla="*/ 98 h 213"/>
                <a:gd name="T24" fmla="*/ 90 w 96"/>
                <a:gd name="T25" fmla="*/ 93 h 213"/>
                <a:gd name="T26" fmla="*/ 96 w 96"/>
                <a:gd name="T27" fmla="*/ 84 h 213"/>
                <a:gd name="T28" fmla="*/ 96 w 96"/>
                <a:gd name="T29" fmla="*/ 84 h 213"/>
                <a:gd name="T30" fmla="*/ 91 w 96"/>
                <a:gd name="T31" fmla="*/ 85 h 213"/>
                <a:gd name="T32" fmla="*/ 84 w 96"/>
                <a:gd name="T33" fmla="*/ 81 h 213"/>
                <a:gd name="T34" fmla="*/ 78 w 96"/>
                <a:gd name="T35" fmla="*/ 78 h 213"/>
                <a:gd name="T36" fmla="*/ 78 w 96"/>
                <a:gd name="T37" fmla="*/ 71 h 213"/>
                <a:gd name="T38" fmla="*/ 74 w 96"/>
                <a:gd name="T39" fmla="*/ 66 h 213"/>
                <a:gd name="T40" fmla="*/ 70 w 96"/>
                <a:gd name="T41" fmla="*/ 56 h 213"/>
                <a:gd name="T42" fmla="*/ 60 w 96"/>
                <a:gd name="T43" fmla="*/ 54 h 213"/>
                <a:gd name="T44" fmla="*/ 58 w 96"/>
                <a:gd name="T45" fmla="*/ 49 h 213"/>
                <a:gd name="T46" fmla="*/ 67 w 96"/>
                <a:gd name="T47" fmla="*/ 33 h 213"/>
                <a:gd name="T48" fmla="*/ 70 w 96"/>
                <a:gd name="T49" fmla="*/ 17 h 213"/>
                <a:gd name="T50" fmla="*/ 65 w 96"/>
                <a:gd name="T51" fmla="*/ 11 h 213"/>
                <a:gd name="T52" fmla="*/ 63 w 96"/>
                <a:gd name="T53" fmla="*/ 5 h 213"/>
                <a:gd name="T54" fmla="*/ 55 w 96"/>
                <a:gd name="T55" fmla="*/ 2 h 213"/>
                <a:gd name="T56" fmla="*/ 53 w 96"/>
                <a:gd name="T57" fmla="*/ 3 h 213"/>
                <a:gd name="T58" fmla="*/ 54 w 96"/>
                <a:gd name="T59" fmla="*/ 3 h 213"/>
                <a:gd name="T60" fmla="*/ 51 w 96"/>
                <a:gd name="T61" fmla="*/ 8 h 213"/>
                <a:gd name="T62" fmla="*/ 52 w 96"/>
                <a:gd name="T63" fmla="*/ 16 h 213"/>
                <a:gd name="T64" fmla="*/ 47 w 96"/>
                <a:gd name="T65" fmla="*/ 16 h 213"/>
                <a:gd name="T66" fmla="*/ 38 w 96"/>
                <a:gd name="T67" fmla="*/ 20 h 213"/>
                <a:gd name="T68" fmla="*/ 30 w 96"/>
                <a:gd name="T69" fmla="*/ 28 h 213"/>
                <a:gd name="T70" fmla="*/ 27 w 96"/>
                <a:gd name="T71" fmla="*/ 42 h 213"/>
                <a:gd name="T72" fmla="*/ 23 w 96"/>
                <a:gd name="T73" fmla="*/ 56 h 213"/>
                <a:gd name="T74" fmla="*/ 14 w 96"/>
                <a:gd name="T75" fmla="*/ 56 h 213"/>
                <a:gd name="T76" fmla="*/ 12 w 96"/>
                <a:gd name="T77" fmla="*/ 67 h 213"/>
                <a:gd name="T78" fmla="*/ 9 w 96"/>
                <a:gd name="T79" fmla="*/ 79 h 213"/>
                <a:gd name="T80" fmla="*/ 4 w 96"/>
                <a:gd name="T81" fmla="*/ 87 h 213"/>
                <a:gd name="T82" fmla="*/ 0 w 96"/>
                <a:gd name="T83" fmla="*/ 91 h 213"/>
                <a:gd name="T84" fmla="*/ 10 w 96"/>
                <a:gd name="T85" fmla="*/ 102 h 213"/>
                <a:gd name="T86" fmla="*/ 23 w 96"/>
                <a:gd name="T87" fmla="*/ 125 h 213"/>
                <a:gd name="T88" fmla="*/ 22 w 96"/>
                <a:gd name="T89" fmla="*/ 143 h 213"/>
                <a:gd name="T90" fmla="*/ 26 w 96"/>
                <a:gd name="T91" fmla="*/ 149 h 213"/>
                <a:gd name="T92" fmla="*/ 37 w 96"/>
                <a:gd name="T93" fmla="*/ 148 h 213"/>
                <a:gd name="T94" fmla="*/ 47 w 96"/>
                <a:gd name="T95" fmla="*/ 136 h 213"/>
                <a:gd name="T96" fmla="*/ 53 w 96"/>
                <a:gd name="T97" fmla="*/ 141 h 213"/>
                <a:gd name="T98" fmla="*/ 57 w 96"/>
                <a:gd name="T99" fmla="*/ 153 h 213"/>
                <a:gd name="T100" fmla="*/ 63 w 96"/>
                <a:gd name="T101" fmla="*/ 178 h 213"/>
                <a:gd name="T102" fmla="*/ 67 w 96"/>
                <a:gd name="T103" fmla="*/ 195 h 213"/>
                <a:gd name="T104" fmla="*/ 69 w 96"/>
                <a:gd name="T105" fmla="*/ 209 h 213"/>
                <a:gd name="T106" fmla="*/ 68 w 96"/>
                <a:gd name="T107" fmla="*/ 212 h 213"/>
                <a:gd name="T108" fmla="*/ 78 w 96"/>
                <a:gd name="T109" fmla="*/ 193 h 2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6"/>
                <a:gd name="T166" fmla="*/ 0 h 213"/>
                <a:gd name="T167" fmla="*/ 96 w 96"/>
                <a:gd name="T168" fmla="*/ 213 h 2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6" h="213">
                  <a:moveTo>
                    <a:pt x="78" y="193"/>
                  </a:moveTo>
                  <a:cubicBezTo>
                    <a:pt x="78" y="189"/>
                    <a:pt x="74" y="188"/>
                    <a:pt x="74" y="185"/>
                  </a:cubicBezTo>
                  <a:cubicBezTo>
                    <a:pt x="74" y="181"/>
                    <a:pt x="74" y="175"/>
                    <a:pt x="70" y="171"/>
                  </a:cubicBezTo>
                  <a:cubicBezTo>
                    <a:pt x="65" y="167"/>
                    <a:pt x="63" y="161"/>
                    <a:pt x="66" y="159"/>
                  </a:cubicBezTo>
                  <a:cubicBezTo>
                    <a:pt x="68" y="157"/>
                    <a:pt x="66" y="150"/>
                    <a:pt x="67" y="151"/>
                  </a:cubicBezTo>
                  <a:cubicBezTo>
                    <a:pt x="69" y="151"/>
                    <a:pt x="71" y="147"/>
                    <a:pt x="68" y="146"/>
                  </a:cubicBezTo>
                  <a:cubicBezTo>
                    <a:pt x="65" y="144"/>
                    <a:pt x="68" y="139"/>
                    <a:pt x="66" y="138"/>
                  </a:cubicBezTo>
                  <a:cubicBezTo>
                    <a:pt x="63" y="137"/>
                    <a:pt x="57" y="130"/>
                    <a:pt x="57" y="128"/>
                  </a:cubicBezTo>
                  <a:cubicBezTo>
                    <a:pt x="57" y="126"/>
                    <a:pt x="59" y="113"/>
                    <a:pt x="59" y="110"/>
                  </a:cubicBezTo>
                  <a:cubicBezTo>
                    <a:pt x="60" y="107"/>
                    <a:pt x="64" y="106"/>
                    <a:pt x="66" y="106"/>
                  </a:cubicBezTo>
                  <a:cubicBezTo>
                    <a:pt x="67" y="106"/>
                    <a:pt x="72" y="107"/>
                    <a:pt x="74" y="104"/>
                  </a:cubicBezTo>
                  <a:cubicBezTo>
                    <a:pt x="76" y="101"/>
                    <a:pt x="83" y="100"/>
                    <a:pt x="84" y="98"/>
                  </a:cubicBezTo>
                  <a:cubicBezTo>
                    <a:pt x="85" y="96"/>
                    <a:pt x="90" y="96"/>
                    <a:pt x="90" y="93"/>
                  </a:cubicBezTo>
                  <a:cubicBezTo>
                    <a:pt x="90" y="90"/>
                    <a:pt x="96" y="84"/>
                    <a:pt x="96" y="84"/>
                  </a:cubicBezTo>
                  <a:cubicBezTo>
                    <a:pt x="96" y="84"/>
                    <a:pt x="96" y="84"/>
                    <a:pt x="96" y="84"/>
                  </a:cubicBezTo>
                  <a:cubicBezTo>
                    <a:pt x="96" y="83"/>
                    <a:pt x="94" y="84"/>
                    <a:pt x="91" y="85"/>
                  </a:cubicBezTo>
                  <a:cubicBezTo>
                    <a:pt x="86" y="87"/>
                    <a:pt x="84" y="84"/>
                    <a:pt x="84" y="81"/>
                  </a:cubicBezTo>
                  <a:cubicBezTo>
                    <a:pt x="85" y="78"/>
                    <a:pt x="81" y="78"/>
                    <a:pt x="78" y="78"/>
                  </a:cubicBezTo>
                  <a:cubicBezTo>
                    <a:pt x="75" y="78"/>
                    <a:pt x="77" y="74"/>
                    <a:pt x="78" y="71"/>
                  </a:cubicBezTo>
                  <a:cubicBezTo>
                    <a:pt x="79" y="68"/>
                    <a:pt x="77" y="66"/>
                    <a:pt x="74" y="66"/>
                  </a:cubicBezTo>
                  <a:cubicBezTo>
                    <a:pt x="70" y="65"/>
                    <a:pt x="69" y="58"/>
                    <a:pt x="70" y="56"/>
                  </a:cubicBezTo>
                  <a:cubicBezTo>
                    <a:pt x="71" y="54"/>
                    <a:pt x="63" y="53"/>
                    <a:pt x="60" y="54"/>
                  </a:cubicBezTo>
                  <a:cubicBezTo>
                    <a:pt x="56" y="56"/>
                    <a:pt x="59" y="51"/>
                    <a:pt x="58" y="49"/>
                  </a:cubicBezTo>
                  <a:cubicBezTo>
                    <a:pt x="57" y="46"/>
                    <a:pt x="62" y="38"/>
                    <a:pt x="67" y="33"/>
                  </a:cubicBezTo>
                  <a:cubicBezTo>
                    <a:pt x="72" y="28"/>
                    <a:pt x="70" y="22"/>
                    <a:pt x="70" y="17"/>
                  </a:cubicBezTo>
                  <a:cubicBezTo>
                    <a:pt x="70" y="11"/>
                    <a:pt x="68" y="11"/>
                    <a:pt x="65" y="11"/>
                  </a:cubicBezTo>
                  <a:cubicBezTo>
                    <a:pt x="63" y="11"/>
                    <a:pt x="63" y="8"/>
                    <a:pt x="63" y="5"/>
                  </a:cubicBezTo>
                  <a:cubicBezTo>
                    <a:pt x="63" y="2"/>
                    <a:pt x="58" y="0"/>
                    <a:pt x="55" y="2"/>
                  </a:cubicBezTo>
                  <a:cubicBezTo>
                    <a:pt x="55" y="2"/>
                    <a:pt x="54" y="2"/>
                    <a:pt x="53" y="3"/>
                  </a:cubicBezTo>
                  <a:cubicBezTo>
                    <a:pt x="54" y="3"/>
                    <a:pt x="54" y="3"/>
                    <a:pt x="54" y="3"/>
                  </a:cubicBezTo>
                  <a:cubicBezTo>
                    <a:pt x="54" y="3"/>
                    <a:pt x="53" y="7"/>
                    <a:pt x="51" y="8"/>
                  </a:cubicBezTo>
                  <a:cubicBezTo>
                    <a:pt x="49" y="9"/>
                    <a:pt x="49" y="12"/>
                    <a:pt x="52" y="16"/>
                  </a:cubicBezTo>
                  <a:cubicBezTo>
                    <a:pt x="55" y="20"/>
                    <a:pt x="48" y="18"/>
                    <a:pt x="47" y="16"/>
                  </a:cubicBezTo>
                  <a:cubicBezTo>
                    <a:pt x="46" y="13"/>
                    <a:pt x="41" y="17"/>
                    <a:pt x="38" y="20"/>
                  </a:cubicBezTo>
                  <a:cubicBezTo>
                    <a:pt x="35" y="22"/>
                    <a:pt x="30" y="24"/>
                    <a:pt x="30" y="28"/>
                  </a:cubicBezTo>
                  <a:cubicBezTo>
                    <a:pt x="30" y="33"/>
                    <a:pt x="26" y="38"/>
                    <a:pt x="27" y="42"/>
                  </a:cubicBezTo>
                  <a:cubicBezTo>
                    <a:pt x="28" y="46"/>
                    <a:pt x="23" y="54"/>
                    <a:pt x="23" y="56"/>
                  </a:cubicBezTo>
                  <a:cubicBezTo>
                    <a:pt x="23" y="58"/>
                    <a:pt x="15" y="56"/>
                    <a:pt x="14" y="56"/>
                  </a:cubicBezTo>
                  <a:cubicBezTo>
                    <a:pt x="13" y="56"/>
                    <a:pt x="14" y="64"/>
                    <a:pt x="12" y="67"/>
                  </a:cubicBezTo>
                  <a:cubicBezTo>
                    <a:pt x="10" y="69"/>
                    <a:pt x="11" y="79"/>
                    <a:pt x="9" y="79"/>
                  </a:cubicBezTo>
                  <a:cubicBezTo>
                    <a:pt x="6" y="79"/>
                    <a:pt x="4" y="87"/>
                    <a:pt x="4" y="87"/>
                  </a:cubicBezTo>
                  <a:cubicBezTo>
                    <a:pt x="4" y="87"/>
                    <a:pt x="2" y="89"/>
                    <a:pt x="0" y="91"/>
                  </a:cubicBezTo>
                  <a:cubicBezTo>
                    <a:pt x="2" y="95"/>
                    <a:pt x="6" y="100"/>
                    <a:pt x="10" y="102"/>
                  </a:cubicBezTo>
                  <a:cubicBezTo>
                    <a:pt x="17" y="104"/>
                    <a:pt x="21" y="118"/>
                    <a:pt x="23" y="125"/>
                  </a:cubicBezTo>
                  <a:cubicBezTo>
                    <a:pt x="25" y="132"/>
                    <a:pt x="24" y="139"/>
                    <a:pt x="22" y="143"/>
                  </a:cubicBezTo>
                  <a:cubicBezTo>
                    <a:pt x="19" y="147"/>
                    <a:pt x="22" y="147"/>
                    <a:pt x="26" y="149"/>
                  </a:cubicBezTo>
                  <a:cubicBezTo>
                    <a:pt x="30" y="151"/>
                    <a:pt x="34" y="152"/>
                    <a:pt x="37" y="148"/>
                  </a:cubicBezTo>
                  <a:cubicBezTo>
                    <a:pt x="40" y="144"/>
                    <a:pt x="46" y="141"/>
                    <a:pt x="47" y="136"/>
                  </a:cubicBezTo>
                  <a:cubicBezTo>
                    <a:pt x="48" y="132"/>
                    <a:pt x="50" y="138"/>
                    <a:pt x="53" y="141"/>
                  </a:cubicBezTo>
                  <a:cubicBezTo>
                    <a:pt x="55" y="143"/>
                    <a:pt x="57" y="148"/>
                    <a:pt x="57" y="153"/>
                  </a:cubicBezTo>
                  <a:cubicBezTo>
                    <a:pt x="58" y="159"/>
                    <a:pt x="58" y="173"/>
                    <a:pt x="63" y="178"/>
                  </a:cubicBezTo>
                  <a:cubicBezTo>
                    <a:pt x="68" y="182"/>
                    <a:pt x="69" y="192"/>
                    <a:pt x="67" y="195"/>
                  </a:cubicBezTo>
                  <a:cubicBezTo>
                    <a:pt x="66" y="199"/>
                    <a:pt x="70" y="205"/>
                    <a:pt x="69" y="209"/>
                  </a:cubicBezTo>
                  <a:cubicBezTo>
                    <a:pt x="68" y="209"/>
                    <a:pt x="68" y="211"/>
                    <a:pt x="68" y="212"/>
                  </a:cubicBezTo>
                  <a:cubicBezTo>
                    <a:pt x="72" y="213"/>
                    <a:pt x="78" y="193"/>
                    <a:pt x="78" y="19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5" name="Freeform 61"/>
            <p:cNvSpPr>
              <a:spLocks noChangeArrowheads="1"/>
            </p:cNvSpPr>
            <p:nvPr/>
          </p:nvSpPr>
          <p:spPr bwMode="auto">
            <a:xfrm>
              <a:off x="5551507" y="1843089"/>
              <a:ext cx="65088" cy="39688"/>
            </a:xfrm>
            <a:custGeom>
              <a:avLst/>
              <a:gdLst>
                <a:gd name="T0" fmla="*/ 33 w 34"/>
                <a:gd name="T1" fmla="*/ 7 h 21"/>
                <a:gd name="T2" fmla="*/ 20 w 34"/>
                <a:gd name="T3" fmla="*/ 3 h 21"/>
                <a:gd name="T4" fmla="*/ 11 w 34"/>
                <a:gd name="T5" fmla="*/ 2 h 21"/>
                <a:gd name="T6" fmla="*/ 3 w 34"/>
                <a:gd name="T7" fmla="*/ 9 h 21"/>
                <a:gd name="T8" fmla="*/ 0 w 34"/>
                <a:gd name="T9" fmla="*/ 14 h 21"/>
                <a:gd name="T10" fmla="*/ 3 w 34"/>
                <a:gd name="T11" fmla="*/ 16 h 21"/>
                <a:gd name="T12" fmla="*/ 11 w 34"/>
                <a:gd name="T13" fmla="*/ 18 h 21"/>
                <a:gd name="T14" fmla="*/ 21 w 34"/>
                <a:gd name="T15" fmla="*/ 19 h 21"/>
                <a:gd name="T16" fmla="*/ 32 w 34"/>
                <a:gd name="T17" fmla="*/ 17 h 21"/>
                <a:gd name="T18" fmla="*/ 31 w 34"/>
                <a:gd name="T19" fmla="*/ 8 h 21"/>
                <a:gd name="T20" fmla="*/ 33 w 34"/>
                <a:gd name="T21" fmla="*/ 7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4"/>
                <a:gd name="T34" fmla="*/ 0 h 21"/>
                <a:gd name="T35" fmla="*/ 34 w 34"/>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4" h="21">
                  <a:moveTo>
                    <a:pt x="33" y="7"/>
                  </a:moveTo>
                  <a:cubicBezTo>
                    <a:pt x="26" y="1"/>
                    <a:pt x="24" y="6"/>
                    <a:pt x="20" y="3"/>
                  </a:cubicBezTo>
                  <a:cubicBezTo>
                    <a:pt x="15" y="1"/>
                    <a:pt x="13" y="0"/>
                    <a:pt x="11" y="2"/>
                  </a:cubicBezTo>
                  <a:cubicBezTo>
                    <a:pt x="8" y="4"/>
                    <a:pt x="5" y="3"/>
                    <a:pt x="3" y="9"/>
                  </a:cubicBezTo>
                  <a:cubicBezTo>
                    <a:pt x="2" y="11"/>
                    <a:pt x="1" y="12"/>
                    <a:pt x="0" y="14"/>
                  </a:cubicBezTo>
                  <a:cubicBezTo>
                    <a:pt x="1" y="15"/>
                    <a:pt x="2" y="16"/>
                    <a:pt x="3" y="16"/>
                  </a:cubicBezTo>
                  <a:cubicBezTo>
                    <a:pt x="5" y="16"/>
                    <a:pt x="7" y="19"/>
                    <a:pt x="11" y="18"/>
                  </a:cubicBezTo>
                  <a:cubicBezTo>
                    <a:pt x="14" y="17"/>
                    <a:pt x="16" y="20"/>
                    <a:pt x="21" y="19"/>
                  </a:cubicBezTo>
                  <a:cubicBezTo>
                    <a:pt x="26" y="17"/>
                    <a:pt x="31" y="21"/>
                    <a:pt x="32" y="17"/>
                  </a:cubicBezTo>
                  <a:cubicBezTo>
                    <a:pt x="34" y="14"/>
                    <a:pt x="31" y="8"/>
                    <a:pt x="31" y="8"/>
                  </a:cubicBezTo>
                  <a:cubicBezTo>
                    <a:pt x="31" y="8"/>
                    <a:pt x="32" y="7"/>
                    <a:pt x="33"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6" name="Freeform 62"/>
            <p:cNvSpPr>
              <a:spLocks noChangeArrowheads="1"/>
            </p:cNvSpPr>
            <p:nvPr/>
          </p:nvSpPr>
          <p:spPr bwMode="auto">
            <a:xfrm>
              <a:off x="5821383" y="1955802"/>
              <a:ext cx="160339" cy="331788"/>
            </a:xfrm>
            <a:custGeom>
              <a:avLst/>
              <a:gdLst>
                <a:gd name="T0" fmla="*/ 62 w 84"/>
                <a:gd name="T1" fmla="*/ 22 h 174"/>
                <a:gd name="T2" fmla="*/ 51 w 84"/>
                <a:gd name="T3" fmla="*/ 13 h 174"/>
                <a:gd name="T4" fmla="*/ 48 w 84"/>
                <a:gd name="T5" fmla="*/ 7 h 174"/>
                <a:gd name="T6" fmla="*/ 38 w 84"/>
                <a:gd name="T7" fmla="*/ 2 h 174"/>
                <a:gd name="T8" fmla="*/ 29 w 84"/>
                <a:gd name="T9" fmla="*/ 7 h 174"/>
                <a:gd name="T10" fmla="*/ 22 w 84"/>
                <a:gd name="T11" fmla="*/ 9 h 174"/>
                <a:gd name="T12" fmla="*/ 12 w 84"/>
                <a:gd name="T13" fmla="*/ 9 h 174"/>
                <a:gd name="T14" fmla="*/ 4 w 84"/>
                <a:gd name="T15" fmla="*/ 10 h 174"/>
                <a:gd name="T16" fmla="*/ 0 w 84"/>
                <a:gd name="T17" fmla="*/ 12 h 174"/>
                <a:gd name="T18" fmla="*/ 5 w 84"/>
                <a:gd name="T19" fmla="*/ 18 h 174"/>
                <a:gd name="T20" fmla="*/ 10 w 84"/>
                <a:gd name="T21" fmla="*/ 27 h 174"/>
                <a:gd name="T22" fmla="*/ 20 w 84"/>
                <a:gd name="T23" fmla="*/ 32 h 174"/>
                <a:gd name="T24" fmla="*/ 27 w 84"/>
                <a:gd name="T25" fmla="*/ 34 h 174"/>
                <a:gd name="T26" fmla="*/ 31 w 84"/>
                <a:gd name="T27" fmla="*/ 42 h 174"/>
                <a:gd name="T28" fmla="*/ 22 w 84"/>
                <a:gd name="T29" fmla="*/ 47 h 174"/>
                <a:gd name="T30" fmla="*/ 35 w 84"/>
                <a:gd name="T31" fmla="*/ 58 h 174"/>
                <a:gd name="T32" fmla="*/ 40 w 84"/>
                <a:gd name="T33" fmla="*/ 68 h 174"/>
                <a:gd name="T34" fmla="*/ 50 w 84"/>
                <a:gd name="T35" fmla="*/ 80 h 174"/>
                <a:gd name="T36" fmla="*/ 59 w 84"/>
                <a:gd name="T37" fmla="*/ 89 h 174"/>
                <a:gd name="T38" fmla="*/ 61 w 84"/>
                <a:gd name="T39" fmla="*/ 100 h 174"/>
                <a:gd name="T40" fmla="*/ 65 w 84"/>
                <a:gd name="T41" fmla="*/ 119 h 174"/>
                <a:gd name="T42" fmla="*/ 57 w 84"/>
                <a:gd name="T43" fmla="*/ 132 h 174"/>
                <a:gd name="T44" fmla="*/ 47 w 84"/>
                <a:gd name="T45" fmla="*/ 138 h 174"/>
                <a:gd name="T46" fmla="*/ 47 w 84"/>
                <a:gd name="T47" fmla="*/ 148 h 174"/>
                <a:gd name="T48" fmla="*/ 34 w 84"/>
                <a:gd name="T49" fmla="*/ 148 h 174"/>
                <a:gd name="T50" fmla="*/ 27 w 84"/>
                <a:gd name="T51" fmla="*/ 153 h 174"/>
                <a:gd name="T52" fmla="*/ 32 w 84"/>
                <a:gd name="T53" fmla="*/ 157 h 174"/>
                <a:gd name="T54" fmla="*/ 29 w 84"/>
                <a:gd name="T55" fmla="*/ 167 h 174"/>
                <a:gd name="T56" fmla="*/ 34 w 84"/>
                <a:gd name="T57" fmla="*/ 172 h 174"/>
                <a:gd name="T58" fmla="*/ 45 w 84"/>
                <a:gd name="T59" fmla="*/ 164 h 174"/>
                <a:gd name="T60" fmla="*/ 47 w 84"/>
                <a:gd name="T61" fmla="*/ 159 h 174"/>
                <a:gd name="T62" fmla="*/ 50 w 84"/>
                <a:gd name="T63" fmla="*/ 153 h 174"/>
                <a:gd name="T64" fmla="*/ 57 w 84"/>
                <a:gd name="T65" fmla="*/ 152 h 174"/>
                <a:gd name="T66" fmla="*/ 73 w 84"/>
                <a:gd name="T67" fmla="*/ 145 h 174"/>
                <a:gd name="T68" fmla="*/ 81 w 84"/>
                <a:gd name="T69" fmla="*/ 130 h 174"/>
                <a:gd name="T70" fmla="*/ 79 w 84"/>
                <a:gd name="T71" fmla="*/ 104 h 174"/>
                <a:gd name="T72" fmla="*/ 68 w 84"/>
                <a:gd name="T73" fmla="*/ 86 h 174"/>
                <a:gd name="T74" fmla="*/ 50 w 84"/>
                <a:gd name="T75" fmla="*/ 71 h 174"/>
                <a:gd name="T76" fmla="*/ 45 w 84"/>
                <a:gd name="T77" fmla="*/ 62 h 174"/>
                <a:gd name="T78" fmla="*/ 42 w 84"/>
                <a:gd name="T79" fmla="*/ 47 h 174"/>
                <a:gd name="T80" fmla="*/ 50 w 84"/>
                <a:gd name="T81" fmla="*/ 37 h 174"/>
                <a:gd name="T82" fmla="*/ 54 w 84"/>
                <a:gd name="T83" fmla="*/ 30 h 174"/>
                <a:gd name="T84" fmla="*/ 63 w 84"/>
                <a:gd name="T85" fmla="*/ 24 h 174"/>
                <a:gd name="T86" fmla="*/ 64 w 84"/>
                <a:gd name="T87" fmla="*/ 24 h 174"/>
                <a:gd name="T88" fmla="*/ 62 w 84"/>
                <a:gd name="T89" fmla="*/ 22 h 17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
                <a:gd name="T136" fmla="*/ 0 h 174"/>
                <a:gd name="T137" fmla="*/ 84 w 84"/>
                <a:gd name="T138" fmla="*/ 174 h 17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 h="174">
                  <a:moveTo>
                    <a:pt x="62" y="22"/>
                  </a:moveTo>
                  <a:cubicBezTo>
                    <a:pt x="59" y="21"/>
                    <a:pt x="51" y="15"/>
                    <a:pt x="51" y="13"/>
                  </a:cubicBezTo>
                  <a:cubicBezTo>
                    <a:pt x="51" y="11"/>
                    <a:pt x="55" y="7"/>
                    <a:pt x="48" y="7"/>
                  </a:cubicBezTo>
                  <a:cubicBezTo>
                    <a:pt x="40" y="6"/>
                    <a:pt x="40" y="3"/>
                    <a:pt x="38" y="2"/>
                  </a:cubicBezTo>
                  <a:cubicBezTo>
                    <a:pt x="37" y="0"/>
                    <a:pt x="31" y="4"/>
                    <a:pt x="29" y="7"/>
                  </a:cubicBezTo>
                  <a:cubicBezTo>
                    <a:pt x="28" y="11"/>
                    <a:pt x="26" y="7"/>
                    <a:pt x="22" y="9"/>
                  </a:cubicBezTo>
                  <a:cubicBezTo>
                    <a:pt x="18" y="11"/>
                    <a:pt x="14" y="6"/>
                    <a:pt x="12" y="9"/>
                  </a:cubicBezTo>
                  <a:cubicBezTo>
                    <a:pt x="10" y="12"/>
                    <a:pt x="6" y="7"/>
                    <a:pt x="4" y="10"/>
                  </a:cubicBezTo>
                  <a:cubicBezTo>
                    <a:pt x="3" y="11"/>
                    <a:pt x="2" y="11"/>
                    <a:pt x="0" y="12"/>
                  </a:cubicBezTo>
                  <a:cubicBezTo>
                    <a:pt x="2" y="14"/>
                    <a:pt x="5" y="16"/>
                    <a:pt x="5" y="18"/>
                  </a:cubicBezTo>
                  <a:cubicBezTo>
                    <a:pt x="5" y="21"/>
                    <a:pt x="10" y="23"/>
                    <a:pt x="10" y="27"/>
                  </a:cubicBezTo>
                  <a:cubicBezTo>
                    <a:pt x="10" y="30"/>
                    <a:pt x="17" y="33"/>
                    <a:pt x="20" y="32"/>
                  </a:cubicBezTo>
                  <a:cubicBezTo>
                    <a:pt x="22" y="30"/>
                    <a:pt x="27" y="29"/>
                    <a:pt x="27" y="34"/>
                  </a:cubicBezTo>
                  <a:cubicBezTo>
                    <a:pt x="28" y="39"/>
                    <a:pt x="31" y="39"/>
                    <a:pt x="31" y="42"/>
                  </a:cubicBezTo>
                  <a:cubicBezTo>
                    <a:pt x="31" y="46"/>
                    <a:pt x="24" y="44"/>
                    <a:pt x="22" y="47"/>
                  </a:cubicBezTo>
                  <a:cubicBezTo>
                    <a:pt x="21" y="51"/>
                    <a:pt x="35" y="55"/>
                    <a:pt x="35" y="58"/>
                  </a:cubicBezTo>
                  <a:cubicBezTo>
                    <a:pt x="35" y="61"/>
                    <a:pt x="39" y="64"/>
                    <a:pt x="40" y="68"/>
                  </a:cubicBezTo>
                  <a:cubicBezTo>
                    <a:pt x="42" y="72"/>
                    <a:pt x="48" y="76"/>
                    <a:pt x="50" y="80"/>
                  </a:cubicBezTo>
                  <a:cubicBezTo>
                    <a:pt x="51" y="84"/>
                    <a:pt x="57" y="87"/>
                    <a:pt x="59" y="89"/>
                  </a:cubicBezTo>
                  <a:cubicBezTo>
                    <a:pt x="61" y="91"/>
                    <a:pt x="62" y="96"/>
                    <a:pt x="61" y="100"/>
                  </a:cubicBezTo>
                  <a:cubicBezTo>
                    <a:pt x="60" y="104"/>
                    <a:pt x="60" y="112"/>
                    <a:pt x="65" y="119"/>
                  </a:cubicBezTo>
                  <a:cubicBezTo>
                    <a:pt x="69" y="125"/>
                    <a:pt x="60" y="128"/>
                    <a:pt x="57" y="132"/>
                  </a:cubicBezTo>
                  <a:cubicBezTo>
                    <a:pt x="54" y="135"/>
                    <a:pt x="55" y="140"/>
                    <a:pt x="47" y="138"/>
                  </a:cubicBezTo>
                  <a:cubicBezTo>
                    <a:pt x="38" y="136"/>
                    <a:pt x="48" y="145"/>
                    <a:pt x="47" y="148"/>
                  </a:cubicBezTo>
                  <a:cubicBezTo>
                    <a:pt x="45" y="151"/>
                    <a:pt x="34" y="145"/>
                    <a:pt x="34" y="148"/>
                  </a:cubicBezTo>
                  <a:cubicBezTo>
                    <a:pt x="34" y="150"/>
                    <a:pt x="30" y="152"/>
                    <a:pt x="27" y="153"/>
                  </a:cubicBezTo>
                  <a:cubicBezTo>
                    <a:pt x="28" y="155"/>
                    <a:pt x="30" y="156"/>
                    <a:pt x="32" y="157"/>
                  </a:cubicBezTo>
                  <a:cubicBezTo>
                    <a:pt x="35" y="159"/>
                    <a:pt x="29" y="162"/>
                    <a:pt x="29" y="167"/>
                  </a:cubicBezTo>
                  <a:cubicBezTo>
                    <a:pt x="29" y="172"/>
                    <a:pt x="33" y="174"/>
                    <a:pt x="34" y="172"/>
                  </a:cubicBezTo>
                  <a:cubicBezTo>
                    <a:pt x="36" y="169"/>
                    <a:pt x="42" y="165"/>
                    <a:pt x="45" y="164"/>
                  </a:cubicBezTo>
                  <a:cubicBezTo>
                    <a:pt x="47" y="163"/>
                    <a:pt x="45" y="159"/>
                    <a:pt x="47" y="159"/>
                  </a:cubicBezTo>
                  <a:cubicBezTo>
                    <a:pt x="50" y="160"/>
                    <a:pt x="49" y="156"/>
                    <a:pt x="50" y="153"/>
                  </a:cubicBezTo>
                  <a:cubicBezTo>
                    <a:pt x="51" y="151"/>
                    <a:pt x="53" y="152"/>
                    <a:pt x="57" y="152"/>
                  </a:cubicBezTo>
                  <a:cubicBezTo>
                    <a:pt x="61" y="152"/>
                    <a:pt x="67" y="149"/>
                    <a:pt x="73" y="145"/>
                  </a:cubicBezTo>
                  <a:cubicBezTo>
                    <a:pt x="78" y="141"/>
                    <a:pt x="79" y="140"/>
                    <a:pt x="81" y="130"/>
                  </a:cubicBezTo>
                  <a:cubicBezTo>
                    <a:pt x="84" y="119"/>
                    <a:pt x="79" y="107"/>
                    <a:pt x="79" y="104"/>
                  </a:cubicBezTo>
                  <a:cubicBezTo>
                    <a:pt x="79" y="101"/>
                    <a:pt x="71" y="86"/>
                    <a:pt x="68" y="86"/>
                  </a:cubicBezTo>
                  <a:cubicBezTo>
                    <a:pt x="65" y="86"/>
                    <a:pt x="52" y="73"/>
                    <a:pt x="50" y="71"/>
                  </a:cubicBezTo>
                  <a:cubicBezTo>
                    <a:pt x="48" y="69"/>
                    <a:pt x="48" y="65"/>
                    <a:pt x="45" y="62"/>
                  </a:cubicBezTo>
                  <a:cubicBezTo>
                    <a:pt x="42" y="59"/>
                    <a:pt x="41" y="52"/>
                    <a:pt x="42" y="47"/>
                  </a:cubicBezTo>
                  <a:cubicBezTo>
                    <a:pt x="43" y="42"/>
                    <a:pt x="50" y="40"/>
                    <a:pt x="50" y="37"/>
                  </a:cubicBezTo>
                  <a:cubicBezTo>
                    <a:pt x="50" y="33"/>
                    <a:pt x="51" y="30"/>
                    <a:pt x="54" y="30"/>
                  </a:cubicBezTo>
                  <a:cubicBezTo>
                    <a:pt x="58" y="30"/>
                    <a:pt x="62" y="27"/>
                    <a:pt x="63" y="24"/>
                  </a:cubicBezTo>
                  <a:cubicBezTo>
                    <a:pt x="63" y="24"/>
                    <a:pt x="64" y="24"/>
                    <a:pt x="64" y="24"/>
                  </a:cubicBezTo>
                  <a:cubicBezTo>
                    <a:pt x="63" y="22"/>
                    <a:pt x="62" y="22"/>
                    <a:pt x="62" y="2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7" name="Freeform 63"/>
            <p:cNvSpPr>
              <a:spLocks noChangeArrowheads="1"/>
            </p:cNvSpPr>
            <p:nvPr/>
          </p:nvSpPr>
          <p:spPr bwMode="auto">
            <a:xfrm>
              <a:off x="5821383" y="2154240"/>
              <a:ext cx="131763" cy="93663"/>
            </a:xfrm>
            <a:custGeom>
              <a:avLst/>
              <a:gdLst>
                <a:gd name="T0" fmla="*/ 34 w 69"/>
                <a:gd name="T1" fmla="*/ 44 h 49"/>
                <a:gd name="T2" fmla="*/ 47 w 69"/>
                <a:gd name="T3" fmla="*/ 44 h 49"/>
                <a:gd name="T4" fmla="*/ 47 w 69"/>
                <a:gd name="T5" fmla="*/ 34 h 49"/>
                <a:gd name="T6" fmla="*/ 57 w 69"/>
                <a:gd name="T7" fmla="*/ 28 h 49"/>
                <a:gd name="T8" fmla="*/ 65 w 69"/>
                <a:gd name="T9" fmla="*/ 15 h 49"/>
                <a:gd name="T10" fmla="*/ 61 w 69"/>
                <a:gd name="T11" fmla="*/ 1 h 49"/>
                <a:gd name="T12" fmla="*/ 53 w 69"/>
                <a:gd name="T13" fmla="*/ 2 h 49"/>
                <a:gd name="T14" fmla="*/ 45 w 69"/>
                <a:gd name="T15" fmla="*/ 5 h 49"/>
                <a:gd name="T16" fmla="*/ 42 w 69"/>
                <a:gd name="T17" fmla="*/ 8 h 49"/>
                <a:gd name="T18" fmla="*/ 35 w 69"/>
                <a:gd name="T19" fmla="*/ 3 h 49"/>
                <a:gd name="T20" fmla="*/ 20 w 69"/>
                <a:gd name="T21" fmla="*/ 3 h 49"/>
                <a:gd name="T22" fmla="*/ 4 w 69"/>
                <a:gd name="T23" fmla="*/ 10 h 49"/>
                <a:gd name="T24" fmla="*/ 5 w 69"/>
                <a:gd name="T25" fmla="*/ 21 h 49"/>
                <a:gd name="T26" fmla="*/ 6 w 69"/>
                <a:gd name="T27" fmla="*/ 29 h 49"/>
                <a:gd name="T28" fmla="*/ 6 w 69"/>
                <a:gd name="T29" fmla="*/ 30 h 49"/>
                <a:gd name="T30" fmla="*/ 9 w 69"/>
                <a:gd name="T31" fmla="*/ 40 h 49"/>
                <a:gd name="T32" fmla="*/ 16 w 69"/>
                <a:gd name="T33" fmla="*/ 41 h 49"/>
                <a:gd name="T34" fmla="*/ 17 w 69"/>
                <a:gd name="T35" fmla="*/ 47 h 49"/>
                <a:gd name="T36" fmla="*/ 26 w 69"/>
                <a:gd name="T37" fmla="*/ 48 h 49"/>
                <a:gd name="T38" fmla="*/ 27 w 69"/>
                <a:gd name="T39" fmla="*/ 49 h 49"/>
                <a:gd name="T40" fmla="*/ 34 w 69"/>
                <a:gd name="T41" fmla="*/ 44 h 4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9"/>
                <a:gd name="T65" fmla="*/ 69 w 69"/>
                <a:gd name="T66" fmla="*/ 49 h 4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9">
                  <a:moveTo>
                    <a:pt x="34" y="44"/>
                  </a:moveTo>
                  <a:cubicBezTo>
                    <a:pt x="34" y="41"/>
                    <a:pt x="45" y="47"/>
                    <a:pt x="47" y="44"/>
                  </a:cubicBezTo>
                  <a:cubicBezTo>
                    <a:pt x="48" y="41"/>
                    <a:pt x="38" y="32"/>
                    <a:pt x="47" y="34"/>
                  </a:cubicBezTo>
                  <a:cubicBezTo>
                    <a:pt x="55" y="36"/>
                    <a:pt x="54" y="31"/>
                    <a:pt x="57" y="28"/>
                  </a:cubicBezTo>
                  <a:cubicBezTo>
                    <a:pt x="60" y="24"/>
                    <a:pt x="69" y="21"/>
                    <a:pt x="65" y="15"/>
                  </a:cubicBezTo>
                  <a:cubicBezTo>
                    <a:pt x="61" y="10"/>
                    <a:pt x="61" y="5"/>
                    <a:pt x="61" y="1"/>
                  </a:cubicBezTo>
                  <a:cubicBezTo>
                    <a:pt x="58" y="3"/>
                    <a:pt x="54" y="3"/>
                    <a:pt x="53" y="2"/>
                  </a:cubicBezTo>
                  <a:cubicBezTo>
                    <a:pt x="50" y="1"/>
                    <a:pt x="45" y="1"/>
                    <a:pt x="45" y="5"/>
                  </a:cubicBezTo>
                  <a:cubicBezTo>
                    <a:pt x="45" y="9"/>
                    <a:pt x="41" y="9"/>
                    <a:pt x="42" y="8"/>
                  </a:cubicBezTo>
                  <a:cubicBezTo>
                    <a:pt x="42" y="6"/>
                    <a:pt x="38" y="6"/>
                    <a:pt x="35" y="3"/>
                  </a:cubicBezTo>
                  <a:cubicBezTo>
                    <a:pt x="33" y="0"/>
                    <a:pt x="24" y="4"/>
                    <a:pt x="20" y="3"/>
                  </a:cubicBezTo>
                  <a:cubicBezTo>
                    <a:pt x="16" y="1"/>
                    <a:pt x="9" y="5"/>
                    <a:pt x="4" y="10"/>
                  </a:cubicBezTo>
                  <a:cubicBezTo>
                    <a:pt x="0" y="16"/>
                    <a:pt x="5" y="16"/>
                    <a:pt x="5" y="21"/>
                  </a:cubicBezTo>
                  <a:cubicBezTo>
                    <a:pt x="5" y="25"/>
                    <a:pt x="8" y="25"/>
                    <a:pt x="6" y="29"/>
                  </a:cubicBezTo>
                  <a:cubicBezTo>
                    <a:pt x="6" y="29"/>
                    <a:pt x="6" y="29"/>
                    <a:pt x="6" y="30"/>
                  </a:cubicBezTo>
                  <a:cubicBezTo>
                    <a:pt x="11" y="31"/>
                    <a:pt x="9" y="37"/>
                    <a:pt x="9" y="40"/>
                  </a:cubicBezTo>
                  <a:cubicBezTo>
                    <a:pt x="10" y="43"/>
                    <a:pt x="14" y="41"/>
                    <a:pt x="16" y="41"/>
                  </a:cubicBezTo>
                  <a:cubicBezTo>
                    <a:pt x="19" y="41"/>
                    <a:pt x="15" y="45"/>
                    <a:pt x="17" y="47"/>
                  </a:cubicBezTo>
                  <a:cubicBezTo>
                    <a:pt x="19" y="49"/>
                    <a:pt x="25" y="45"/>
                    <a:pt x="26" y="48"/>
                  </a:cubicBezTo>
                  <a:cubicBezTo>
                    <a:pt x="26" y="48"/>
                    <a:pt x="26" y="49"/>
                    <a:pt x="27" y="49"/>
                  </a:cubicBezTo>
                  <a:cubicBezTo>
                    <a:pt x="30" y="48"/>
                    <a:pt x="34" y="46"/>
                    <a:pt x="34"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8" name="Freeform 64"/>
            <p:cNvSpPr>
              <a:spLocks noChangeArrowheads="1"/>
            </p:cNvSpPr>
            <p:nvPr/>
          </p:nvSpPr>
          <p:spPr bwMode="auto">
            <a:xfrm>
              <a:off x="5778520" y="1976439"/>
              <a:ext cx="160339" cy="195263"/>
            </a:xfrm>
            <a:custGeom>
              <a:avLst/>
              <a:gdLst>
                <a:gd name="T0" fmla="*/ 57 w 84"/>
                <a:gd name="T1" fmla="*/ 47 h 102"/>
                <a:gd name="T2" fmla="*/ 44 w 84"/>
                <a:gd name="T3" fmla="*/ 36 h 102"/>
                <a:gd name="T4" fmla="*/ 53 w 84"/>
                <a:gd name="T5" fmla="*/ 31 h 102"/>
                <a:gd name="T6" fmla="*/ 49 w 84"/>
                <a:gd name="T7" fmla="*/ 23 h 102"/>
                <a:gd name="T8" fmla="*/ 42 w 84"/>
                <a:gd name="T9" fmla="*/ 21 h 102"/>
                <a:gd name="T10" fmla="*/ 32 w 84"/>
                <a:gd name="T11" fmla="*/ 16 h 102"/>
                <a:gd name="T12" fmla="*/ 27 w 84"/>
                <a:gd name="T13" fmla="*/ 7 h 102"/>
                <a:gd name="T14" fmla="*/ 22 w 84"/>
                <a:gd name="T15" fmla="*/ 1 h 102"/>
                <a:gd name="T16" fmla="*/ 18 w 84"/>
                <a:gd name="T17" fmla="*/ 1 h 102"/>
                <a:gd name="T18" fmla="*/ 16 w 84"/>
                <a:gd name="T19" fmla="*/ 7 h 102"/>
                <a:gd name="T20" fmla="*/ 16 w 84"/>
                <a:gd name="T21" fmla="*/ 16 h 102"/>
                <a:gd name="T22" fmla="*/ 10 w 84"/>
                <a:gd name="T23" fmla="*/ 11 h 102"/>
                <a:gd name="T24" fmla="*/ 4 w 84"/>
                <a:gd name="T25" fmla="*/ 20 h 102"/>
                <a:gd name="T26" fmla="*/ 0 w 84"/>
                <a:gd name="T27" fmla="*/ 23 h 102"/>
                <a:gd name="T28" fmla="*/ 2 w 84"/>
                <a:gd name="T29" fmla="*/ 25 h 102"/>
                <a:gd name="T30" fmla="*/ 3 w 84"/>
                <a:gd name="T31" fmla="*/ 34 h 102"/>
                <a:gd name="T32" fmla="*/ 11 w 84"/>
                <a:gd name="T33" fmla="*/ 37 h 102"/>
                <a:gd name="T34" fmla="*/ 10 w 84"/>
                <a:gd name="T35" fmla="*/ 49 h 102"/>
                <a:gd name="T36" fmla="*/ 7 w 84"/>
                <a:gd name="T37" fmla="*/ 58 h 102"/>
                <a:gd name="T38" fmla="*/ 17 w 84"/>
                <a:gd name="T39" fmla="*/ 54 h 102"/>
                <a:gd name="T40" fmla="*/ 26 w 84"/>
                <a:gd name="T41" fmla="*/ 53 h 102"/>
                <a:gd name="T42" fmla="*/ 33 w 84"/>
                <a:gd name="T43" fmla="*/ 51 h 102"/>
                <a:gd name="T44" fmla="*/ 43 w 84"/>
                <a:gd name="T45" fmla="*/ 51 h 102"/>
                <a:gd name="T46" fmla="*/ 52 w 84"/>
                <a:gd name="T47" fmla="*/ 59 h 102"/>
                <a:gd name="T48" fmla="*/ 52 w 84"/>
                <a:gd name="T49" fmla="*/ 73 h 102"/>
                <a:gd name="T50" fmla="*/ 60 w 84"/>
                <a:gd name="T51" fmla="*/ 85 h 102"/>
                <a:gd name="T52" fmla="*/ 59 w 84"/>
                <a:gd name="T53" fmla="*/ 97 h 102"/>
                <a:gd name="T54" fmla="*/ 64 w 84"/>
                <a:gd name="T55" fmla="*/ 101 h 102"/>
                <a:gd name="T56" fmla="*/ 67 w 84"/>
                <a:gd name="T57" fmla="*/ 98 h 102"/>
                <a:gd name="T58" fmla="*/ 75 w 84"/>
                <a:gd name="T59" fmla="*/ 95 h 102"/>
                <a:gd name="T60" fmla="*/ 83 w 84"/>
                <a:gd name="T61" fmla="*/ 94 h 102"/>
                <a:gd name="T62" fmla="*/ 83 w 84"/>
                <a:gd name="T63" fmla="*/ 89 h 102"/>
                <a:gd name="T64" fmla="*/ 81 w 84"/>
                <a:gd name="T65" fmla="*/ 78 h 102"/>
                <a:gd name="T66" fmla="*/ 72 w 84"/>
                <a:gd name="T67" fmla="*/ 69 h 102"/>
                <a:gd name="T68" fmla="*/ 62 w 84"/>
                <a:gd name="T69" fmla="*/ 57 h 102"/>
                <a:gd name="T70" fmla="*/ 57 w 84"/>
                <a:gd name="T71" fmla="*/ 47 h 1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4"/>
                <a:gd name="T109" fmla="*/ 0 h 102"/>
                <a:gd name="T110" fmla="*/ 84 w 84"/>
                <a:gd name="T111" fmla="*/ 102 h 10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4" h="102">
                  <a:moveTo>
                    <a:pt x="57" y="47"/>
                  </a:moveTo>
                  <a:cubicBezTo>
                    <a:pt x="57" y="44"/>
                    <a:pt x="43" y="40"/>
                    <a:pt x="44" y="36"/>
                  </a:cubicBezTo>
                  <a:cubicBezTo>
                    <a:pt x="46" y="33"/>
                    <a:pt x="53" y="35"/>
                    <a:pt x="53" y="31"/>
                  </a:cubicBezTo>
                  <a:cubicBezTo>
                    <a:pt x="53" y="28"/>
                    <a:pt x="50" y="28"/>
                    <a:pt x="49" y="23"/>
                  </a:cubicBezTo>
                  <a:cubicBezTo>
                    <a:pt x="49" y="18"/>
                    <a:pt x="44" y="19"/>
                    <a:pt x="42" y="21"/>
                  </a:cubicBezTo>
                  <a:cubicBezTo>
                    <a:pt x="39" y="22"/>
                    <a:pt x="32" y="19"/>
                    <a:pt x="32" y="16"/>
                  </a:cubicBezTo>
                  <a:cubicBezTo>
                    <a:pt x="32" y="12"/>
                    <a:pt x="27" y="10"/>
                    <a:pt x="27" y="7"/>
                  </a:cubicBezTo>
                  <a:cubicBezTo>
                    <a:pt x="27" y="5"/>
                    <a:pt x="24" y="3"/>
                    <a:pt x="22" y="1"/>
                  </a:cubicBezTo>
                  <a:cubicBezTo>
                    <a:pt x="21" y="2"/>
                    <a:pt x="19" y="2"/>
                    <a:pt x="18" y="1"/>
                  </a:cubicBezTo>
                  <a:cubicBezTo>
                    <a:pt x="17" y="0"/>
                    <a:pt x="15" y="6"/>
                    <a:pt x="16" y="7"/>
                  </a:cubicBezTo>
                  <a:cubicBezTo>
                    <a:pt x="18" y="8"/>
                    <a:pt x="19" y="17"/>
                    <a:pt x="16" y="16"/>
                  </a:cubicBezTo>
                  <a:cubicBezTo>
                    <a:pt x="12" y="15"/>
                    <a:pt x="12" y="10"/>
                    <a:pt x="10" y="11"/>
                  </a:cubicBezTo>
                  <a:cubicBezTo>
                    <a:pt x="10" y="11"/>
                    <a:pt x="4" y="17"/>
                    <a:pt x="4" y="20"/>
                  </a:cubicBezTo>
                  <a:cubicBezTo>
                    <a:pt x="4" y="22"/>
                    <a:pt x="2" y="22"/>
                    <a:pt x="0" y="23"/>
                  </a:cubicBezTo>
                  <a:cubicBezTo>
                    <a:pt x="1" y="24"/>
                    <a:pt x="2" y="25"/>
                    <a:pt x="2" y="25"/>
                  </a:cubicBezTo>
                  <a:cubicBezTo>
                    <a:pt x="3" y="27"/>
                    <a:pt x="2" y="31"/>
                    <a:pt x="3" y="34"/>
                  </a:cubicBezTo>
                  <a:cubicBezTo>
                    <a:pt x="5" y="38"/>
                    <a:pt x="10" y="32"/>
                    <a:pt x="11" y="37"/>
                  </a:cubicBezTo>
                  <a:cubicBezTo>
                    <a:pt x="13" y="42"/>
                    <a:pt x="10" y="44"/>
                    <a:pt x="10" y="49"/>
                  </a:cubicBezTo>
                  <a:cubicBezTo>
                    <a:pt x="10" y="54"/>
                    <a:pt x="6" y="53"/>
                    <a:pt x="7" y="58"/>
                  </a:cubicBezTo>
                  <a:cubicBezTo>
                    <a:pt x="8" y="62"/>
                    <a:pt x="14" y="57"/>
                    <a:pt x="17" y="54"/>
                  </a:cubicBezTo>
                  <a:cubicBezTo>
                    <a:pt x="21" y="51"/>
                    <a:pt x="24" y="51"/>
                    <a:pt x="26" y="53"/>
                  </a:cubicBezTo>
                  <a:cubicBezTo>
                    <a:pt x="27" y="55"/>
                    <a:pt x="32" y="54"/>
                    <a:pt x="33" y="51"/>
                  </a:cubicBezTo>
                  <a:cubicBezTo>
                    <a:pt x="34" y="49"/>
                    <a:pt x="41" y="48"/>
                    <a:pt x="43" y="51"/>
                  </a:cubicBezTo>
                  <a:cubicBezTo>
                    <a:pt x="46" y="54"/>
                    <a:pt x="48" y="57"/>
                    <a:pt x="52" y="59"/>
                  </a:cubicBezTo>
                  <a:cubicBezTo>
                    <a:pt x="55" y="61"/>
                    <a:pt x="49" y="72"/>
                    <a:pt x="52" y="73"/>
                  </a:cubicBezTo>
                  <a:cubicBezTo>
                    <a:pt x="56" y="74"/>
                    <a:pt x="61" y="79"/>
                    <a:pt x="60" y="85"/>
                  </a:cubicBezTo>
                  <a:cubicBezTo>
                    <a:pt x="60" y="90"/>
                    <a:pt x="63" y="93"/>
                    <a:pt x="59" y="97"/>
                  </a:cubicBezTo>
                  <a:cubicBezTo>
                    <a:pt x="61" y="99"/>
                    <a:pt x="64" y="99"/>
                    <a:pt x="64" y="101"/>
                  </a:cubicBezTo>
                  <a:cubicBezTo>
                    <a:pt x="63" y="102"/>
                    <a:pt x="67" y="102"/>
                    <a:pt x="67" y="98"/>
                  </a:cubicBezTo>
                  <a:cubicBezTo>
                    <a:pt x="67" y="94"/>
                    <a:pt x="72" y="94"/>
                    <a:pt x="75" y="95"/>
                  </a:cubicBezTo>
                  <a:cubicBezTo>
                    <a:pt x="76" y="96"/>
                    <a:pt x="80" y="96"/>
                    <a:pt x="83" y="94"/>
                  </a:cubicBezTo>
                  <a:cubicBezTo>
                    <a:pt x="83" y="92"/>
                    <a:pt x="83" y="90"/>
                    <a:pt x="83" y="89"/>
                  </a:cubicBezTo>
                  <a:cubicBezTo>
                    <a:pt x="84" y="85"/>
                    <a:pt x="83" y="80"/>
                    <a:pt x="81" y="78"/>
                  </a:cubicBezTo>
                  <a:cubicBezTo>
                    <a:pt x="79" y="76"/>
                    <a:pt x="73" y="73"/>
                    <a:pt x="72" y="69"/>
                  </a:cubicBezTo>
                  <a:cubicBezTo>
                    <a:pt x="70" y="65"/>
                    <a:pt x="64" y="61"/>
                    <a:pt x="62" y="57"/>
                  </a:cubicBezTo>
                  <a:cubicBezTo>
                    <a:pt x="61" y="53"/>
                    <a:pt x="57" y="50"/>
                    <a:pt x="57"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59" name="Freeform 65"/>
            <p:cNvSpPr>
              <a:spLocks noChangeArrowheads="1"/>
            </p:cNvSpPr>
            <p:nvPr/>
          </p:nvSpPr>
          <p:spPr bwMode="auto">
            <a:xfrm>
              <a:off x="5722957" y="2020889"/>
              <a:ext cx="176213" cy="328613"/>
            </a:xfrm>
            <a:custGeom>
              <a:avLst/>
              <a:gdLst>
                <a:gd name="T0" fmla="*/ 56 w 92"/>
                <a:gd name="T1" fmla="*/ 91 h 172"/>
                <a:gd name="T2" fmla="*/ 55 w 92"/>
                <a:gd name="T3" fmla="*/ 80 h 172"/>
                <a:gd name="T4" fmla="*/ 71 w 92"/>
                <a:gd name="T5" fmla="*/ 73 h 172"/>
                <a:gd name="T6" fmla="*/ 86 w 92"/>
                <a:gd name="T7" fmla="*/ 73 h 172"/>
                <a:gd name="T8" fmla="*/ 88 w 92"/>
                <a:gd name="T9" fmla="*/ 74 h 172"/>
                <a:gd name="T10" fmla="*/ 89 w 92"/>
                <a:gd name="T11" fmla="*/ 62 h 172"/>
                <a:gd name="T12" fmla="*/ 81 w 92"/>
                <a:gd name="T13" fmla="*/ 50 h 172"/>
                <a:gd name="T14" fmla="*/ 81 w 92"/>
                <a:gd name="T15" fmla="*/ 36 h 172"/>
                <a:gd name="T16" fmla="*/ 72 w 92"/>
                <a:gd name="T17" fmla="*/ 28 h 172"/>
                <a:gd name="T18" fmla="*/ 62 w 92"/>
                <a:gd name="T19" fmla="*/ 28 h 172"/>
                <a:gd name="T20" fmla="*/ 55 w 92"/>
                <a:gd name="T21" fmla="*/ 30 h 172"/>
                <a:gd name="T22" fmla="*/ 46 w 92"/>
                <a:gd name="T23" fmla="*/ 31 h 172"/>
                <a:gd name="T24" fmla="*/ 36 w 92"/>
                <a:gd name="T25" fmla="*/ 35 h 172"/>
                <a:gd name="T26" fmla="*/ 39 w 92"/>
                <a:gd name="T27" fmla="*/ 26 h 172"/>
                <a:gd name="T28" fmla="*/ 40 w 92"/>
                <a:gd name="T29" fmla="*/ 14 h 172"/>
                <a:gd name="T30" fmla="*/ 32 w 92"/>
                <a:gd name="T31" fmla="*/ 11 h 172"/>
                <a:gd name="T32" fmla="*/ 31 w 92"/>
                <a:gd name="T33" fmla="*/ 2 h 172"/>
                <a:gd name="T34" fmla="*/ 29 w 92"/>
                <a:gd name="T35" fmla="*/ 0 h 172"/>
                <a:gd name="T36" fmla="*/ 27 w 92"/>
                <a:gd name="T37" fmla="*/ 2 h 172"/>
                <a:gd name="T38" fmla="*/ 17 w 92"/>
                <a:gd name="T39" fmla="*/ 8 h 172"/>
                <a:gd name="T40" fmla="*/ 9 w 92"/>
                <a:gd name="T41" fmla="*/ 10 h 172"/>
                <a:gd name="T42" fmla="*/ 2 w 92"/>
                <a:gd name="T43" fmla="*/ 14 h 172"/>
                <a:gd name="T44" fmla="*/ 0 w 92"/>
                <a:gd name="T45" fmla="*/ 32 h 172"/>
                <a:gd name="T46" fmla="*/ 9 w 92"/>
                <a:gd name="T47" fmla="*/ 42 h 172"/>
                <a:gd name="T48" fmla="*/ 11 w 92"/>
                <a:gd name="T49" fmla="*/ 50 h 172"/>
                <a:gd name="T50" fmla="*/ 10 w 92"/>
                <a:gd name="T51" fmla="*/ 55 h 172"/>
                <a:gd name="T52" fmla="*/ 9 w 92"/>
                <a:gd name="T53" fmla="*/ 63 h 172"/>
                <a:gd name="T54" fmla="*/ 13 w 92"/>
                <a:gd name="T55" fmla="*/ 75 h 172"/>
                <a:gd name="T56" fmla="*/ 17 w 92"/>
                <a:gd name="T57" fmla="*/ 89 h 172"/>
                <a:gd name="T58" fmla="*/ 21 w 92"/>
                <a:gd name="T59" fmla="*/ 97 h 172"/>
                <a:gd name="T60" fmla="*/ 11 w 92"/>
                <a:gd name="T61" fmla="*/ 116 h 172"/>
                <a:gd name="T62" fmla="*/ 8 w 92"/>
                <a:gd name="T63" fmla="*/ 132 h 172"/>
                <a:gd name="T64" fmla="*/ 9 w 92"/>
                <a:gd name="T65" fmla="*/ 142 h 172"/>
                <a:gd name="T66" fmla="*/ 23 w 92"/>
                <a:gd name="T67" fmla="*/ 157 h 172"/>
                <a:gd name="T68" fmla="*/ 27 w 92"/>
                <a:gd name="T69" fmla="*/ 162 h 172"/>
                <a:gd name="T70" fmla="*/ 33 w 92"/>
                <a:gd name="T71" fmla="*/ 163 h 172"/>
                <a:gd name="T72" fmla="*/ 39 w 92"/>
                <a:gd name="T73" fmla="*/ 170 h 172"/>
                <a:gd name="T74" fmla="*/ 48 w 92"/>
                <a:gd name="T75" fmla="*/ 171 h 172"/>
                <a:gd name="T76" fmla="*/ 51 w 92"/>
                <a:gd name="T77" fmla="*/ 166 h 172"/>
                <a:gd name="T78" fmla="*/ 38 w 92"/>
                <a:gd name="T79" fmla="*/ 159 h 172"/>
                <a:gd name="T80" fmla="*/ 30 w 92"/>
                <a:gd name="T81" fmla="*/ 146 h 172"/>
                <a:gd name="T82" fmla="*/ 26 w 92"/>
                <a:gd name="T83" fmla="*/ 135 h 172"/>
                <a:gd name="T84" fmla="*/ 19 w 92"/>
                <a:gd name="T85" fmla="*/ 130 h 172"/>
                <a:gd name="T86" fmla="*/ 20 w 92"/>
                <a:gd name="T87" fmla="*/ 112 h 172"/>
                <a:gd name="T88" fmla="*/ 27 w 92"/>
                <a:gd name="T89" fmla="*/ 89 h 172"/>
                <a:gd name="T90" fmla="*/ 36 w 92"/>
                <a:gd name="T91" fmla="*/ 86 h 172"/>
                <a:gd name="T92" fmla="*/ 45 w 92"/>
                <a:gd name="T93" fmla="*/ 93 h 172"/>
                <a:gd name="T94" fmla="*/ 57 w 92"/>
                <a:gd name="T95" fmla="*/ 99 h 172"/>
                <a:gd name="T96" fmla="*/ 57 w 92"/>
                <a:gd name="T97" fmla="*/ 100 h 172"/>
                <a:gd name="T98" fmla="*/ 57 w 92"/>
                <a:gd name="T99" fmla="*/ 99 h 172"/>
                <a:gd name="T100" fmla="*/ 56 w 92"/>
                <a:gd name="T101" fmla="*/ 91 h 17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92"/>
                <a:gd name="T154" fmla="*/ 0 h 172"/>
                <a:gd name="T155" fmla="*/ 92 w 92"/>
                <a:gd name="T156" fmla="*/ 172 h 17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92" h="172">
                  <a:moveTo>
                    <a:pt x="56" y="91"/>
                  </a:moveTo>
                  <a:cubicBezTo>
                    <a:pt x="56" y="86"/>
                    <a:pt x="51" y="86"/>
                    <a:pt x="55" y="80"/>
                  </a:cubicBezTo>
                  <a:cubicBezTo>
                    <a:pt x="60" y="75"/>
                    <a:pt x="67" y="71"/>
                    <a:pt x="71" y="73"/>
                  </a:cubicBezTo>
                  <a:cubicBezTo>
                    <a:pt x="75" y="74"/>
                    <a:pt x="84" y="70"/>
                    <a:pt x="86" y="73"/>
                  </a:cubicBezTo>
                  <a:cubicBezTo>
                    <a:pt x="87" y="74"/>
                    <a:pt x="87" y="74"/>
                    <a:pt x="88" y="74"/>
                  </a:cubicBezTo>
                  <a:cubicBezTo>
                    <a:pt x="92" y="70"/>
                    <a:pt x="89" y="67"/>
                    <a:pt x="89" y="62"/>
                  </a:cubicBezTo>
                  <a:cubicBezTo>
                    <a:pt x="90" y="56"/>
                    <a:pt x="85" y="51"/>
                    <a:pt x="81" y="50"/>
                  </a:cubicBezTo>
                  <a:cubicBezTo>
                    <a:pt x="78" y="49"/>
                    <a:pt x="84" y="38"/>
                    <a:pt x="81" y="36"/>
                  </a:cubicBezTo>
                  <a:cubicBezTo>
                    <a:pt x="77" y="34"/>
                    <a:pt x="75" y="31"/>
                    <a:pt x="72" y="28"/>
                  </a:cubicBezTo>
                  <a:cubicBezTo>
                    <a:pt x="70" y="25"/>
                    <a:pt x="63" y="26"/>
                    <a:pt x="62" y="28"/>
                  </a:cubicBezTo>
                  <a:cubicBezTo>
                    <a:pt x="61" y="31"/>
                    <a:pt x="56" y="32"/>
                    <a:pt x="55" y="30"/>
                  </a:cubicBezTo>
                  <a:cubicBezTo>
                    <a:pt x="53" y="28"/>
                    <a:pt x="50" y="28"/>
                    <a:pt x="46" y="31"/>
                  </a:cubicBezTo>
                  <a:cubicBezTo>
                    <a:pt x="43" y="34"/>
                    <a:pt x="37" y="39"/>
                    <a:pt x="36" y="35"/>
                  </a:cubicBezTo>
                  <a:cubicBezTo>
                    <a:pt x="35" y="30"/>
                    <a:pt x="39" y="31"/>
                    <a:pt x="39" y="26"/>
                  </a:cubicBezTo>
                  <a:cubicBezTo>
                    <a:pt x="39" y="21"/>
                    <a:pt x="42" y="19"/>
                    <a:pt x="40" y="14"/>
                  </a:cubicBezTo>
                  <a:cubicBezTo>
                    <a:pt x="39" y="9"/>
                    <a:pt x="34" y="15"/>
                    <a:pt x="32" y="11"/>
                  </a:cubicBezTo>
                  <a:cubicBezTo>
                    <a:pt x="31" y="8"/>
                    <a:pt x="32" y="4"/>
                    <a:pt x="31" y="2"/>
                  </a:cubicBezTo>
                  <a:cubicBezTo>
                    <a:pt x="31" y="2"/>
                    <a:pt x="30" y="1"/>
                    <a:pt x="29" y="0"/>
                  </a:cubicBezTo>
                  <a:cubicBezTo>
                    <a:pt x="28" y="1"/>
                    <a:pt x="28" y="1"/>
                    <a:pt x="27" y="2"/>
                  </a:cubicBezTo>
                  <a:cubicBezTo>
                    <a:pt x="26" y="4"/>
                    <a:pt x="19" y="5"/>
                    <a:pt x="17" y="8"/>
                  </a:cubicBezTo>
                  <a:cubicBezTo>
                    <a:pt x="15" y="11"/>
                    <a:pt x="10" y="10"/>
                    <a:pt x="9" y="10"/>
                  </a:cubicBezTo>
                  <a:cubicBezTo>
                    <a:pt x="7" y="10"/>
                    <a:pt x="3" y="11"/>
                    <a:pt x="2" y="14"/>
                  </a:cubicBezTo>
                  <a:cubicBezTo>
                    <a:pt x="2" y="17"/>
                    <a:pt x="0" y="30"/>
                    <a:pt x="0" y="32"/>
                  </a:cubicBezTo>
                  <a:cubicBezTo>
                    <a:pt x="0" y="34"/>
                    <a:pt x="6" y="41"/>
                    <a:pt x="9" y="42"/>
                  </a:cubicBezTo>
                  <a:cubicBezTo>
                    <a:pt x="11" y="43"/>
                    <a:pt x="8" y="48"/>
                    <a:pt x="11" y="50"/>
                  </a:cubicBezTo>
                  <a:cubicBezTo>
                    <a:pt x="14" y="51"/>
                    <a:pt x="12" y="55"/>
                    <a:pt x="10" y="55"/>
                  </a:cubicBezTo>
                  <a:cubicBezTo>
                    <a:pt x="9" y="54"/>
                    <a:pt x="11" y="61"/>
                    <a:pt x="9" y="63"/>
                  </a:cubicBezTo>
                  <a:cubicBezTo>
                    <a:pt x="6" y="65"/>
                    <a:pt x="8" y="71"/>
                    <a:pt x="13" y="75"/>
                  </a:cubicBezTo>
                  <a:cubicBezTo>
                    <a:pt x="17" y="79"/>
                    <a:pt x="17" y="85"/>
                    <a:pt x="17" y="89"/>
                  </a:cubicBezTo>
                  <a:cubicBezTo>
                    <a:pt x="17" y="92"/>
                    <a:pt x="21" y="93"/>
                    <a:pt x="21" y="97"/>
                  </a:cubicBezTo>
                  <a:cubicBezTo>
                    <a:pt x="21" y="97"/>
                    <a:pt x="15" y="117"/>
                    <a:pt x="11" y="116"/>
                  </a:cubicBezTo>
                  <a:cubicBezTo>
                    <a:pt x="10" y="121"/>
                    <a:pt x="9" y="128"/>
                    <a:pt x="8" y="132"/>
                  </a:cubicBezTo>
                  <a:cubicBezTo>
                    <a:pt x="7" y="138"/>
                    <a:pt x="6" y="142"/>
                    <a:pt x="9" y="142"/>
                  </a:cubicBezTo>
                  <a:cubicBezTo>
                    <a:pt x="12" y="143"/>
                    <a:pt x="18" y="150"/>
                    <a:pt x="23" y="157"/>
                  </a:cubicBezTo>
                  <a:cubicBezTo>
                    <a:pt x="25" y="159"/>
                    <a:pt x="26" y="161"/>
                    <a:pt x="27" y="162"/>
                  </a:cubicBezTo>
                  <a:cubicBezTo>
                    <a:pt x="29" y="162"/>
                    <a:pt x="31" y="162"/>
                    <a:pt x="33" y="163"/>
                  </a:cubicBezTo>
                  <a:cubicBezTo>
                    <a:pt x="38" y="164"/>
                    <a:pt x="39" y="167"/>
                    <a:pt x="39" y="170"/>
                  </a:cubicBezTo>
                  <a:cubicBezTo>
                    <a:pt x="39" y="172"/>
                    <a:pt x="46" y="171"/>
                    <a:pt x="48" y="171"/>
                  </a:cubicBezTo>
                  <a:cubicBezTo>
                    <a:pt x="49" y="170"/>
                    <a:pt x="47" y="167"/>
                    <a:pt x="51" y="166"/>
                  </a:cubicBezTo>
                  <a:cubicBezTo>
                    <a:pt x="49" y="163"/>
                    <a:pt x="43" y="159"/>
                    <a:pt x="38" y="159"/>
                  </a:cubicBezTo>
                  <a:cubicBezTo>
                    <a:pt x="33" y="158"/>
                    <a:pt x="30" y="150"/>
                    <a:pt x="30" y="146"/>
                  </a:cubicBezTo>
                  <a:cubicBezTo>
                    <a:pt x="31" y="142"/>
                    <a:pt x="26" y="139"/>
                    <a:pt x="26" y="135"/>
                  </a:cubicBezTo>
                  <a:cubicBezTo>
                    <a:pt x="26" y="132"/>
                    <a:pt x="23" y="132"/>
                    <a:pt x="19" y="130"/>
                  </a:cubicBezTo>
                  <a:cubicBezTo>
                    <a:pt x="15" y="128"/>
                    <a:pt x="20" y="117"/>
                    <a:pt x="20" y="112"/>
                  </a:cubicBezTo>
                  <a:cubicBezTo>
                    <a:pt x="21" y="107"/>
                    <a:pt x="29" y="93"/>
                    <a:pt x="27" y="89"/>
                  </a:cubicBezTo>
                  <a:cubicBezTo>
                    <a:pt x="24" y="85"/>
                    <a:pt x="35" y="81"/>
                    <a:pt x="36" y="86"/>
                  </a:cubicBezTo>
                  <a:cubicBezTo>
                    <a:pt x="37" y="91"/>
                    <a:pt x="38" y="93"/>
                    <a:pt x="45" y="93"/>
                  </a:cubicBezTo>
                  <a:cubicBezTo>
                    <a:pt x="51" y="93"/>
                    <a:pt x="51" y="98"/>
                    <a:pt x="57" y="99"/>
                  </a:cubicBezTo>
                  <a:cubicBezTo>
                    <a:pt x="57" y="99"/>
                    <a:pt x="57" y="99"/>
                    <a:pt x="57" y="100"/>
                  </a:cubicBezTo>
                  <a:cubicBezTo>
                    <a:pt x="57" y="99"/>
                    <a:pt x="57" y="99"/>
                    <a:pt x="57" y="99"/>
                  </a:cubicBezTo>
                  <a:cubicBezTo>
                    <a:pt x="59" y="95"/>
                    <a:pt x="56" y="95"/>
                    <a:pt x="56" y="9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0" name="Freeform 66"/>
            <p:cNvSpPr>
              <a:spLocks noChangeArrowheads="1"/>
            </p:cNvSpPr>
            <p:nvPr/>
          </p:nvSpPr>
          <p:spPr bwMode="auto">
            <a:xfrm>
              <a:off x="3951301" y="1136650"/>
              <a:ext cx="207964" cy="169864"/>
            </a:xfrm>
            <a:custGeom>
              <a:avLst/>
              <a:gdLst>
                <a:gd name="T0" fmla="*/ 2 w 109"/>
                <a:gd name="T1" fmla="*/ 19 h 89"/>
                <a:gd name="T2" fmla="*/ 2 w 109"/>
                <a:gd name="T3" fmla="*/ 31 h 89"/>
                <a:gd name="T4" fmla="*/ 3 w 109"/>
                <a:gd name="T5" fmla="*/ 36 h 89"/>
                <a:gd name="T6" fmla="*/ 5 w 109"/>
                <a:gd name="T7" fmla="*/ 41 h 89"/>
                <a:gd name="T8" fmla="*/ 7 w 109"/>
                <a:gd name="T9" fmla="*/ 47 h 89"/>
                <a:gd name="T10" fmla="*/ 10 w 109"/>
                <a:gd name="T11" fmla="*/ 56 h 89"/>
                <a:gd name="T12" fmla="*/ 10 w 109"/>
                <a:gd name="T13" fmla="*/ 61 h 89"/>
                <a:gd name="T14" fmla="*/ 16 w 109"/>
                <a:gd name="T15" fmla="*/ 65 h 89"/>
                <a:gd name="T16" fmla="*/ 24 w 109"/>
                <a:gd name="T17" fmla="*/ 70 h 89"/>
                <a:gd name="T18" fmla="*/ 30 w 109"/>
                <a:gd name="T19" fmla="*/ 73 h 89"/>
                <a:gd name="T20" fmla="*/ 36 w 109"/>
                <a:gd name="T21" fmla="*/ 72 h 89"/>
                <a:gd name="T22" fmla="*/ 39 w 109"/>
                <a:gd name="T23" fmla="*/ 76 h 89"/>
                <a:gd name="T24" fmla="*/ 47 w 109"/>
                <a:gd name="T25" fmla="*/ 78 h 89"/>
                <a:gd name="T26" fmla="*/ 52 w 109"/>
                <a:gd name="T27" fmla="*/ 84 h 89"/>
                <a:gd name="T28" fmla="*/ 59 w 109"/>
                <a:gd name="T29" fmla="*/ 83 h 89"/>
                <a:gd name="T30" fmla="*/ 68 w 109"/>
                <a:gd name="T31" fmla="*/ 85 h 89"/>
                <a:gd name="T32" fmla="*/ 77 w 109"/>
                <a:gd name="T33" fmla="*/ 85 h 89"/>
                <a:gd name="T34" fmla="*/ 86 w 109"/>
                <a:gd name="T35" fmla="*/ 88 h 89"/>
                <a:gd name="T36" fmla="*/ 93 w 109"/>
                <a:gd name="T37" fmla="*/ 89 h 89"/>
                <a:gd name="T38" fmla="*/ 93 w 109"/>
                <a:gd name="T39" fmla="*/ 82 h 89"/>
                <a:gd name="T40" fmla="*/ 103 w 109"/>
                <a:gd name="T41" fmla="*/ 71 h 89"/>
                <a:gd name="T42" fmla="*/ 108 w 109"/>
                <a:gd name="T43" fmla="*/ 67 h 89"/>
                <a:gd name="T44" fmla="*/ 104 w 109"/>
                <a:gd name="T45" fmla="*/ 56 h 89"/>
                <a:gd name="T46" fmla="*/ 103 w 109"/>
                <a:gd name="T47" fmla="*/ 46 h 89"/>
                <a:gd name="T48" fmla="*/ 99 w 109"/>
                <a:gd name="T49" fmla="*/ 40 h 89"/>
                <a:gd name="T50" fmla="*/ 106 w 109"/>
                <a:gd name="T51" fmla="*/ 35 h 89"/>
                <a:gd name="T52" fmla="*/ 105 w 109"/>
                <a:gd name="T53" fmla="*/ 25 h 89"/>
                <a:gd name="T54" fmla="*/ 103 w 109"/>
                <a:gd name="T55" fmla="*/ 16 h 89"/>
                <a:gd name="T56" fmla="*/ 95 w 109"/>
                <a:gd name="T57" fmla="*/ 10 h 89"/>
                <a:gd name="T58" fmla="*/ 94 w 109"/>
                <a:gd name="T59" fmla="*/ 9 h 89"/>
                <a:gd name="T60" fmla="*/ 65 w 109"/>
                <a:gd name="T61" fmla="*/ 8 h 89"/>
                <a:gd name="T62" fmla="*/ 59 w 109"/>
                <a:gd name="T63" fmla="*/ 6 h 89"/>
                <a:gd name="T64" fmla="*/ 53 w 109"/>
                <a:gd name="T65" fmla="*/ 9 h 89"/>
                <a:gd name="T66" fmla="*/ 48 w 109"/>
                <a:gd name="T67" fmla="*/ 2 h 89"/>
                <a:gd name="T68" fmla="*/ 23 w 109"/>
                <a:gd name="T69" fmla="*/ 9 h 89"/>
                <a:gd name="T70" fmla="*/ 6 w 109"/>
                <a:gd name="T71" fmla="*/ 15 h 89"/>
                <a:gd name="T72" fmla="*/ 2 w 109"/>
                <a:gd name="T73" fmla="*/ 18 h 89"/>
                <a:gd name="T74" fmla="*/ 2 w 109"/>
                <a:gd name="T75" fmla="*/ 19 h 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89"/>
                <a:gd name="T116" fmla="*/ 109 w 109"/>
                <a:gd name="T117" fmla="*/ 89 h 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89">
                  <a:moveTo>
                    <a:pt x="2" y="19"/>
                  </a:moveTo>
                  <a:cubicBezTo>
                    <a:pt x="3" y="21"/>
                    <a:pt x="4" y="28"/>
                    <a:pt x="2" y="31"/>
                  </a:cubicBezTo>
                  <a:cubicBezTo>
                    <a:pt x="0" y="34"/>
                    <a:pt x="1" y="35"/>
                    <a:pt x="3" y="36"/>
                  </a:cubicBezTo>
                  <a:cubicBezTo>
                    <a:pt x="5" y="37"/>
                    <a:pt x="5" y="39"/>
                    <a:pt x="5" y="41"/>
                  </a:cubicBezTo>
                  <a:cubicBezTo>
                    <a:pt x="5" y="43"/>
                    <a:pt x="7" y="43"/>
                    <a:pt x="7" y="47"/>
                  </a:cubicBezTo>
                  <a:cubicBezTo>
                    <a:pt x="7" y="51"/>
                    <a:pt x="8" y="54"/>
                    <a:pt x="10" y="56"/>
                  </a:cubicBezTo>
                  <a:cubicBezTo>
                    <a:pt x="11" y="57"/>
                    <a:pt x="11" y="59"/>
                    <a:pt x="10" y="61"/>
                  </a:cubicBezTo>
                  <a:cubicBezTo>
                    <a:pt x="12" y="63"/>
                    <a:pt x="14" y="64"/>
                    <a:pt x="16" y="65"/>
                  </a:cubicBezTo>
                  <a:cubicBezTo>
                    <a:pt x="22" y="67"/>
                    <a:pt x="24" y="68"/>
                    <a:pt x="24" y="70"/>
                  </a:cubicBezTo>
                  <a:cubicBezTo>
                    <a:pt x="24" y="72"/>
                    <a:pt x="29" y="75"/>
                    <a:pt x="30" y="73"/>
                  </a:cubicBezTo>
                  <a:cubicBezTo>
                    <a:pt x="31" y="70"/>
                    <a:pt x="34" y="72"/>
                    <a:pt x="36" y="72"/>
                  </a:cubicBezTo>
                  <a:cubicBezTo>
                    <a:pt x="38" y="72"/>
                    <a:pt x="39" y="74"/>
                    <a:pt x="39" y="76"/>
                  </a:cubicBezTo>
                  <a:cubicBezTo>
                    <a:pt x="40" y="77"/>
                    <a:pt x="45" y="76"/>
                    <a:pt x="47" y="78"/>
                  </a:cubicBezTo>
                  <a:cubicBezTo>
                    <a:pt x="48" y="79"/>
                    <a:pt x="49" y="83"/>
                    <a:pt x="52" y="84"/>
                  </a:cubicBezTo>
                  <a:cubicBezTo>
                    <a:pt x="54" y="86"/>
                    <a:pt x="57" y="82"/>
                    <a:pt x="59" y="83"/>
                  </a:cubicBezTo>
                  <a:cubicBezTo>
                    <a:pt x="60" y="85"/>
                    <a:pt x="65" y="86"/>
                    <a:pt x="68" y="85"/>
                  </a:cubicBezTo>
                  <a:cubicBezTo>
                    <a:pt x="71" y="83"/>
                    <a:pt x="73" y="86"/>
                    <a:pt x="77" y="85"/>
                  </a:cubicBezTo>
                  <a:cubicBezTo>
                    <a:pt x="81" y="85"/>
                    <a:pt x="85" y="86"/>
                    <a:pt x="86" y="88"/>
                  </a:cubicBezTo>
                  <a:cubicBezTo>
                    <a:pt x="87" y="88"/>
                    <a:pt x="90" y="89"/>
                    <a:pt x="93" y="89"/>
                  </a:cubicBezTo>
                  <a:cubicBezTo>
                    <a:pt x="94" y="88"/>
                    <a:pt x="92" y="83"/>
                    <a:pt x="93" y="82"/>
                  </a:cubicBezTo>
                  <a:cubicBezTo>
                    <a:pt x="93" y="81"/>
                    <a:pt x="102" y="73"/>
                    <a:pt x="103" y="71"/>
                  </a:cubicBezTo>
                  <a:cubicBezTo>
                    <a:pt x="105" y="69"/>
                    <a:pt x="107" y="69"/>
                    <a:pt x="108" y="67"/>
                  </a:cubicBezTo>
                  <a:cubicBezTo>
                    <a:pt x="109" y="65"/>
                    <a:pt x="105" y="58"/>
                    <a:pt x="104" y="56"/>
                  </a:cubicBezTo>
                  <a:cubicBezTo>
                    <a:pt x="103" y="55"/>
                    <a:pt x="102" y="49"/>
                    <a:pt x="103" y="46"/>
                  </a:cubicBezTo>
                  <a:cubicBezTo>
                    <a:pt x="104" y="44"/>
                    <a:pt x="99" y="42"/>
                    <a:pt x="99" y="40"/>
                  </a:cubicBezTo>
                  <a:cubicBezTo>
                    <a:pt x="99" y="39"/>
                    <a:pt x="103" y="36"/>
                    <a:pt x="106" y="35"/>
                  </a:cubicBezTo>
                  <a:cubicBezTo>
                    <a:pt x="108" y="34"/>
                    <a:pt x="107" y="27"/>
                    <a:pt x="105" y="25"/>
                  </a:cubicBezTo>
                  <a:cubicBezTo>
                    <a:pt x="103" y="23"/>
                    <a:pt x="102" y="20"/>
                    <a:pt x="103" y="16"/>
                  </a:cubicBezTo>
                  <a:cubicBezTo>
                    <a:pt x="105" y="13"/>
                    <a:pt x="96" y="10"/>
                    <a:pt x="95" y="10"/>
                  </a:cubicBezTo>
                  <a:cubicBezTo>
                    <a:pt x="94" y="10"/>
                    <a:pt x="94" y="10"/>
                    <a:pt x="94" y="9"/>
                  </a:cubicBezTo>
                  <a:cubicBezTo>
                    <a:pt x="86" y="11"/>
                    <a:pt x="66" y="9"/>
                    <a:pt x="65" y="8"/>
                  </a:cubicBezTo>
                  <a:cubicBezTo>
                    <a:pt x="64" y="8"/>
                    <a:pt x="61" y="7"/>
                    <a:pt x="59" y="6"/>
                  </a:cubicBezTo>
                  <a:cubicBezTo>
                    <a:pt x="58" y="8"/>
                    <a:pt x="56" y="9"/>
                    <a:pt x="53" y="9"/>
                  </a:cubicBezTo>
                  <a:cubicBezTo>
                    <a:pt x="48" y="9"/>
                    <a:pt x="48" y="5"/>
                    <a:pt x="48" y="2"/>
                  </a:cubicBezTo>
                  <a:cubicBezTo>
                    <a:pt x="48" y="0"/>
                    <a:pt x="28" y="4"/>
                    <a:pt x="23" y="9"/>
                  </a:cubicBezTo>
                  <a:cubicBezTo>
                    <a:pt x="18" y="15"/>
                    <a:pt x="6" y="13"/>
                    <a:pt x="6" y="15"/>
                  </a:cubicBezTo>
                  <a:cubicBezTo>
                    <a:pt x="5" y="17"/>
                    <a:pt x="3" y="18"/>
                    <a:pt x="2" y="18"/>
                  </a:cubicBezTo>
                  <a:cubicBezTo>
                    <a:pt x="2" y="18"/>
                    <a:pt x="2" y="19"/>
                    <a:pt x="2"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1" name="Freeform 67"/>
            <p:cNvSpPr>
              <a:spLocks noChangeArrowheads="1"/>
            </p:cNvSpPr>
            <p:nvPr/>
          </p:nvSpPr>
          <p:spPr bwMode="auto">
            <a:xfrm>
              <a:off x="3981463" y="1412876"/>
              <a:ext cx="79375" cy="74613"/>
            </a:xfrm>
            <a:custGeom>
              <a:avLst/>
              <a:gdLst>
                <a:gd name="T0" fmla="*/ 31 w 41"/>
                <a:gd name="T1" fmla="*/ 35 h 39"/>
                <a:gd name="T2" fmla="*/ 39 w 41"/>
                <a:gd name="T3" fmla="*/ 23 h 39"/>
                <a:gd name="T4" fmla="*/ 40 w 41"/>
                <a:gd name="T5" fmla="*/ 8 h 39"/>
                <a:gd name="T6" fmla="*/ 30 w 41"/>
                <a:gd name="T7" fmla="*/ 2 h 39"/>
                <a:gd name="T8" fmla="*/ 13 w 41"/>
                <a:gd name="T9" fmla="*/ 1 h 39"/>
                <a:gd name="T10" fmla="*/ 6 w 41"/>
                <a:gd name="T11" fmla="*/ 2 h 39"/>
                <a:gd name="T12" fmla="*/ 1 w 41"/>
                <a:gd name="T13" fmla="*/ 5 h 39"/>
                <a:gd name="T14" fmla="*/ 6 w 41"/>
                <a:gd name="T15" fmla="*/ 13 h 39"/>
                <a:gd name="T16" fmla="*/ 15 w 41"/>
                <a:gd name="T17" fmla="*/ 24 h 39"/>
                <a:gd name="T18" fmla="*/ 24 w 41"/>
                <a:gd name="T19" fmla="*/ 34 h 39"/>
                <a:gd name="T20" fmla="*/ 30 w 41"/>
                <a:gd name="T21" fmla="*/ 39 h 39"/>
                <a:gd name="T22" fmla="*/ 31 w 41"/>
                <a:gd name="T23" fmla="*/ 35 h 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9"/>
                <a:gd name="T38" fmla="*/ 41 w 41"/>
                <a:gd name="T39" fmla="*/ 39 h 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9">
                  <a:moveTo>
                    <a:pt x="31" y="35"/>
                  </a:moveTo>
                  <a:cubicBezTo>
                    <a:pt x="30" y="33"/>
                    <a:pt x="37" y="23"/>
                    <a:pt x="39" y="23"/>
                  </a:cubicBezTo>
                  <a:cubicBezTo>
                    <a:pt x="41" y="23"/>
                    <a:pt x="41" y="13"/>
                    <a:pt x="40" y="8"/>
                  </a:cubicBezTo>
                  <a:cubicBezTo>
                    <a:pt x="35" y="4"/>
                    <a:pt x="30" y="2"/>
                    <a:pt x="30" y="2"/>
                  </a:cubicBezTo>
                  <a:cubicBezTo>
                    <a:pt x="30" y="2"/>
                    <a:pt x="15" y="2"/>
                    <a:pt x="13" y="1"/>
                  </a:cubicBezTo>
                  <a:cubicBezTo>
                    <a:pt x="10" y="0"/>
                    <a:pt x="8" y="4"/>
                    <a:pt x="6" y="2"/>
                  </a:cubicBezTo>
                  <a:cubicBezTo>
                    <a:pt x="3" y="0"/>
                    <a:pt x="0" y="3"/>
                    <a:pt x="1" y="5"/>
                  </a:cubicBezTo>
                  <a:cubicBezTo>
                    <a:pt x="1" y="8"/>
                    <a:pt x="6" y="9"/>
                    <a:pt x="6" y="13"/>
                  </a:cubicBezTo>
                  <a:cubicBezTo>
                    <a:pt x="6" y="17"/>
                    <a:pt x="15" y="22"/>
                    <a:pt x="15" y="24"/>
                  </a:cubicBezTo>
                  <a:cubicBezTo>
                    <a:pt x="15" y="25"/>
                    <a:pt x="21" y="29"/>
                    <a:pt x="24" y="34"/>
                  </a:cubicBezTo>
                  <a:cubicBezTo>
                    <a:pt x="26" y="35"/>
                    <a:pt x="28" y="37"/>
                    <a:pt x="30" y="39"/>
                  </a:cubicBezTo>
                  <a:cubicBezTo>
                    <a:pt x="30" y="37"/>
                    <a:pt x="31" y="36"/>
                    <a:pt x="31" y="3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2" name="Freeform 68"/>
            <p:cNvSpPr>
              <a:spLocks noChangeArrowheads="1"/>
            </p:cNvSpPr>
            <p:nvPr/>
          </p:nvSpPr>
          <p:spPr bwMode="auto">
            <a:xfrm>
              <a:off x="3943364" y="1379539"/>
              <a:ext cx="114301" cy="98425"/>
            </a:xfrm>
            <a:custGeom>
              <a:avLst/>
              <a:gdLst>
                <a:gd name="T0" fmla="*/ 35 w 60"/>
                <a:gd name="T1" fmla="*/ 42 h 52"/>
                <a:gd name="T2" fmla="*/ 26 w 60"/>
                <a:gd name="T3" fmla="*/ 31 h 52"/>
                <a:gd name="T4" fmla="*/ 21 w 60"/>
                <a:gd name="T5" fmla="*/ 23 h 52"/>
                <a:gd name="T6" fmla="*/ 26 w 60"/>
                <a:gd name="T7" fmla="*/ 20 h 52"/>
                <a:gd name="T8" fmla="*/ 33 w 60"/>
                <a:gd name="T9" fmla="*/ 19 h 52"/>
                <a:gd name="T10" fmla="*/ 50 w 60"/>
                <a:gd name="T11" fmla="*/ 20 h 52"/>
                <a:gd name="T12" fmla="*/ 60 w 60"/>
                <a:gd name="T13" fmla="*/ 26 h 52"/>
                <a:gd name="T14" fmla="*/ 60 w 60"/>
                <a:gd name="T15" fmla="*/ 23 h 52"/>
                <a:gd name="T16" fmla="*/ 56 w 60"/>
                <a:gd name="T17" fmla="*/ 15 h 52"/>
                <a:gd name="T18" fmla="*/ 53 w 60"/>
                <a:gd name="T19" fmla="*/ 8 h 52"/>
                <a:gd name="T20" fmla="*/ 50 w 60"/>
                <a:gd name="T21" fmla="*/ 9 h 52"/>
                <a:gd name="T22" fmla="*/ 38 w 60"/>
                <a:gd name="T23" fmla="*/ 7 h 52"/>
                <a:gd name="T24" fmla="*/ 29 w 60"/>
                <a:gd name="T25" fmla="*/ 0 h 52"/>
                <a:gd name="T26" fmla="*/ 22 w 60"/>
                <a:gd name="T27" fmla="*/ 4 h 52"/>
                <a:gd name="T28" fmla="*/ 19 w 60"/>
                <a:gd name="T29" fmla="*/ 10 h 52"/>
                <a:gd name="T30" fmla="*/ 15 w 60"/>
                <a:gd name="T31" fmla="*/ 15 h 52"/>
                <a:gd name="T32" fmla="*/ 8 w 60"/>
                <a:gd name="T33" fmla="*/ 15 h 52"/>
                <a:gd name="T34" fmla="*/ 0 w 60"/>
                <a:gd name="T35" fmla="*/ 16 h 52"/>
                <a:gd name="T36" fmla="*/ 2 w 60"/>
                <a:gd name="T37" fmla="*/ 21 h 52"/>
                <a:gd name="T38" fmla="*/ 11 w 60"/>
                <a:gd name="T39" fmla="*/ 25 h 52"/>
                <a:gd name="T40" fmla="*/ 21 w 60"/>
                <a:gd name="T41" fmla="*/ 40 h 52"/>
                <a:gd name="T42" fmla="*/ 30 w 60"/>
                <a:gd name="T43" fmla="*/ 45 h 52"/>
                <a:gd name="T44" fmla="*/ 40 w 60"/>
                <a:gd name="T45" fmla="*/ 50 h 52"/>
                <a:gd name="T46" fmla="*/ 44 w 60"/>
                <a:gd name="T47" fmla="*/ 52 h 52"/>
                <a:gd name="T48" fmla="*/ 35 w 60"/>
                <a:gd name="T49" fmla="*/ 42 h 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0"/>
                <a:gd name="T76" fmla="*/ 0 h 52"/>
                <a:gd name="T77" fmla="*/ 60 w 60"/>
                <a:gd name="T78" fmla="*/ 52 h 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0" h="52">
                  <a:moveTo>
                    <a:pt x="35" y="42"/>
                  </a:moveTo>
                  <a:cubicBezTo>
                    <a:pt x="35" y="40"/>
                    <a:pt x="26" y="35"/>
                    <a:pt x="26" y="31"/>
                  </a:cubicBezTo>
                  <a:cubicBezTo>
                    <a:pt x="26" y="27"/>
                    <a:pt x="21" y="26"/>
                    <a:pt x="21" y="23"/>
                  </a:cubicBezTo>
                  <a:cubicBezTo>
                    <a:pt x="20" y="21"/>
                    <a:pt x="23" y="18"/>
                    <a:pt x="26" y="20"/>
                  </a:cubicBezTo>
                  <a:cubicBezTo>
                    <a:pt x="28" y="22"/>
                    <a:pt x="30" y="18"/>
                    <a:pt x="33" y="19"/>
                  </a:cubicBezTo>
                  <a:cubicBezTo>
                    <a:pt x="35" y="20"/>
                    <a:pt x="50" y="20"/>
                    <a:pt x="50" y="20"/>
                  </a:cubicBezTo>
                  <a:cubicBezTo>
                    <a:pt x="50" y="20"/>
                    <a:pt x="55" y="22"/>
                    <a:pt x="60" y="26"/>
                  </a:cubicBezTo>
                  <a:cubicBezTo>
                    <a:pt x="60" y="24"/>
                    <a:pt x="60" y="24"/>
                    <a:pt x="60" y="23"/>
                  </a:cubicBezTo>
                  <a:cubicBezTo>
                    <a:pt x="59" y="20"/>
                    <a:pt x="60" y="16"/>
                    <a:pt x="56" y="15"/>
                  </a:cubicBezTo>
                  <a:cubicBezTo>
                    <a:pt x="55" y="14"/>
                    <a:pt x="54" y="11"/>
                    <a:pt x="53" y="8"/>
                  </a:cubicBezTo>
                  <a:cubicBezTo>
                    <a:pt x="52" y="9"/>
                    <a:pt x="50" y="9"/>
                    <a:pt x="50" y="9"/>
                  </a:cubicBezTo>
                  <a:cubicBezTo>
                    <a:pt x="47" y="10"/>
                    <a:pt x="40" y="10"/>
                    <a:pt x="38" y="7"/>
                  </a:cubicBezTo>
                  <a:cubicBezTo>
                    <a:pt x="36" y="5"/>
                    <a:pt x="31" y="1"/>
                    <a:pt x="29" y="0"/>
                  </a:cubicBezTo>
                  <a:cubicBezTo>
                    <a:pt x="28" y="1"/>
                    <a:pt x="24" y="4"/>
                    <a:pt x="22" y="4"/>
                  </a:cubicBezTo>
                  <a:cubicBezTo>
                    <a:pt x="20" y="5"/>
                    <a:pt x="21" y="10"/>
                    <a:pt x="19" y="10"/>
                  </a:cubicBezTo>
                  <a:cubicBezTo>
                    <a:pt x="17" y="10"/>
                    <a:pt x="16" y="13"/>
                    <a:pt x="15" y="15"/>
                  </a:cubicBezTo>
                  <a:cubicBezTo>
                    <a:pt x="15" y="16"/>
                    <a:pt x="10" y="14"/>
                    <a:pt x="8" y="15"/>
                  </a:cubicBezTo>
                  <a:cubicBezTo>
                    <a:pt x="7" y="15"/>
                    <a:pt x="2" y="16"/>
                    <a:pt x="0" y="16"/>
                  </a:cubicBezTo>
                  <a:cubicBezTo>
                    <a:pt x="1" y="18"/>
                    <a:pt x="0" y="21"/>
                    <a:pt x="2" y="21"/>
                  </a:cubicBezTo>
                  <a:cubicBezTo>
                    <a:pt x="5" y="21"/>
                    <a:pt x="11" y="21"/>
                    <a:pt x="11" y="25"/>
                  </a:cubicBezTo>
                  <a:cubicBezTo>
                    <a:pt x="11" y="29"/>
                    <a:pt x="18" y="37"/>
                    <a:pt x="21" y="40"/>
                  </a:cubicBezTo>
                  <a:cubicBezTo>
                    <a:pt x="24" y="43"/>
                    <a:pt x="30" y="43"/>
                    <a:pt x="30" y="45"/>
                  </a:cubicBezTo>
                  <a:cubicBezTo>
                    <a:pt x="30" y="48"/>
                    <a:pt x="35" y="50"/>
                    <a:pt x="40" y="50"/>
                  </a:cubicBezTo>
                  <a:cubicBezTo>
                    <a:pt x="41" y="50"/>
                    <a:pt x="43" y="51"/>
                    <a:pt x="44" y="52"/>
                  </a:cubicBezTo>
                  <a:cubicBezTo>
                    <a:pt x="41" y="47"/>
                    <a:pt x="35" y="43"/>
                    <a:pt x="35" y="4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3" name="Freeform 69"/>
            <p:cNvSpPr>
              <a:spLocks noChangeArrowheads="1"/>
            </p:cNvSpPr>
            <p:nvPr/>
          </p:nvSpPr>
          <p:spPr bwMode="auto">
            <a:xfrm>
              <a:off x="4054489" y="1484314"/>
              <a:ext cx="39688" cy="77788"/>
            </a:xfrm>
            <a:custGeom>
              <a:avLst/>
              <a:gdLst>
                <a:gd name="T0" fmla="*/ 14 w 21"/>
                <a:gd name="T1" fmla="*/ 35 h 41"/>
                <a:gd name="T2" fmla="*/ 17 w 21"/>
                <a:gd name="T3" fmla="*/ 31 h 41"/>
                <a:gd name="T4" fmla="*/ 21 w 21"/>
                <a:gd name="T5" fmla="*/ 24 h 41"/>
                <a:gd name="T6" fmla="*/ 21 w 21"/>
                <a:gd name="T7" fmla="*/ 24 h 41"/>
                <a:gd name="T8" fmla="*/ 15 w 21"/>
                <a:gd name="T9" fmla="*/ 17 h 41"/>
                <a:gd name="T10" fmla="*/ 16 w 21"/>
                <a:gd name="T11" fmla="*/ 5 h 41"/>
                <a:gd name="T12" fmla="*/ 6 w 21"/>
                <a:gd name="T13" fmla="*/ 0 h 41"/>
                <a:gd name="T14" fmla="*/ 1 w 21"/>
                <a:gd name="T15" fmla="*/ 8 h 41"/>
                <a:gd name="T16" fmla="*/ 4 w 21"/>
                <a:gd name="T17" fmla="*/ 15 h 41"/>
                <a:gd name="T18" fmla="*/ 3 w 21"/>
                <a:gd name="T19" fmla="*/ 32 h 41"/>
                <a:gd name="T20" fmla="*/ 11 w 21"/>
                <a:gd name="T21" fmla="*/ 41 h 41"/>
                <a:gd name="T22" fmla="*/ 14 w 21"/>
                <a:gd name="T23" fmla="*/ 35 h 4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41"/>
                <a:gd name="T38" fmla="*/ 21 w 21"/>
                <a:gd name="T39" fmla="*/ 41 h 4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41">
                  <a:moveTo>
                    <a:pt x="14" y="35"/>
                  </a:moveTo>
                  <a:cubicBezTo>
                    <a:pt x="17" y="35"/>
                    <a:pt x="15" y="33"/>
                    <a:pt x="17" y="31"/>
                  </a:cubicBezTo>
                  <a:cubicBezTo>
                    <a:pt x="19" y="29"/>
                    <a:pt x="21" y="26"/>
                    <a:pt x="21" y="24"/>
                  </a:cubicBezTo>
                  <a:cubicBezTo>
                    <a:pt x="21" y="24"/>
                    <a:pt x="21" y="24"/>
                    <a:pt x="21" y="24"/>
                  </a:cubicBezTo>
                  <a:cubicBezTo>
                    <a:pt x="18" y="21"/>
                    <a:pt x="15" y="20"/>
                    <a:pt x="15" y="17"/>
                  </a:cubicBezTo>
                  <a:cubicBezTo>
                    <a:pt x="14" y="14"/>
                    <a:pt x="15" y="9"/>
                    <a:pt x="16" y="5"/>
                  </a:cubicBezTo>
                  <a:cubicBezTo>
                    <a:pt x="14" y="4"/>
                    <a:pt x="8" y="0"/>
                    <a:pt x="6" y="0"/>
                  </a:cubicBezTo>
                  <a:cubicBezTo>
                    <a:pt x="4" y="0"/>
                    <a:pt x="1" y="4"/>
                    <a:pt x="1" y="8"/>
                  </a:cubicBezTo>
                  <a:cubicBezTo>
                    <a:pt x="5" y="10"/>
                    <a:pt x="7" y="12"/>
                    <a:pt x="4" y="15"/>
                  </a:cubicBezTo>
                  <a:cubicBezTo>
                    <a:pt x="1" y="18"/>
                    <a:pt x="0" y="29"/>
                    <a:pt x="3" y="32"/>
                  </a:cubicBezTo>
                  <a:cubicBezTo>
                    <a:pt x="7" y="34"/>
                    <a:pt x="8" y="40"/>
                    <a:pt x="11" y="41"/>
                  </a:cubicBezTo>
                  <a:cubicBezTo>
                    <a:pt x="12" y="38"/>
                    <a:pt x="12" y="35"/>
                    <a:pt x="14" y="3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4" name="Freeform 70"/>
            <p:cNvSpPr>
              <a:spLocks noChangeArrowheads="1"/>
            </p:cNvSpPr>
            <p:nvPr/>
          </p:nvSpPr>
          <p:spPr bwMode="auto">
            <a:xfrm>
              <a:off x="3856051" y="1309688"/>
              <a:ext cx="160339" cy="71438"/>
            </a:xfrm>
            <a:custGeom>
              <a:avLst/>
              <a:gdLst>
                <a:gd name="T0" fmla="*/ 71 w 84"/>
                <a:gd name="T1" fmla="*/ 3 h 37"/>
                <a:gd name="T2" fmla="*/ 60 w 84"/>
                <a:gd name="T3" fmla="*/ 0 h 37"/>
                <a:gd name="T4" fmla="*/ 58 w 84"/>
                <a:gd name="T5" fmla="*/ 5 h 37"/>
                <a:gd name="T6" fmla="*/ 48 w 84"/>
                <a:gd name="T7" fmla="*/ 5 h 37"/>
                <a:gd name="T8" fmla="*/ 42 w 84"/>
                <a:gd name="T9" fmla="*/ 10 h 37"/>
                <a:gd name="T10" fmla="*/ 38 w 84"/>
                <a:gd name="T11" fmla="*/ 17 h 37"/>
                <a:gd name="T12" fmla="*/ 33 w 84"/>
                <a:gd name="T13" fmla="*/ 20 h 37"/>
                <a:gd name="T14" fmla="*/ 22 w 84"/>
                <a:gd name="T15" fmla="*/ 22 h 37"/>
                <a:gd name="T16" fmla="*/ 15 w 84"/>
                <a:gd name="T17" fmla="*/ 23 h 37"/>
                <a:gd name="T18" fmla="*/ 9 w 84"/>
                <a:gd name="T19" fmla="*/ 24 h 37"/>
                <a:gd name="T20" fmla="*/ 2 w 84"/>
                <a:gd name="T21" fmla="*/ 22 h 37"/>
                <a:gd name="T22" fmla="*/ 1 w 84"/>
                <a:gd name="T23" fmla="*/ 28 h 37"/>
                <a:gd name="T24" fmla="*/ 7 w 84"/>
                <a:gd name="T25" fmla="*/ 31 h 37"/>
                <a:gd name="T26" fmla="*/ 14 w 84"/>
                <a:gd name="T27" fmla="*/ 32 h 37"/>
                <a:gd name="T28" fmla="*/ 21 w 84"/>
                <a:gd name="T29" fmla="*/ 30 h 37"/>
                <a:gd name="T30" fmla="*/ 30 w 84"/>
                <a:gd name="T31" fmla="*/ 29 h 37"/>
                <a:gd name="T32" fmla="*/ 32 w 84"/>
                <a:gd name="T33" fmla="*/ 34 h 37"/>
                <a:gd name="T34" fmla="*/ 42 w 84"/>
                <a:gd name="T35" fmla="*/ 35 h 37"/>
                <a:gd name="T36" fmla="*/ 55 w 84"/>
                <a:gd name="T37" fmla="*/ 37 h 37"/>
                <a:gd name="T38" fmla="*/ 64 w 84"/>
                <a:gd name="T39" fmla="*/ 34 h 37"/>
                <a:gd name="T40" fmla="*/ 72 w 84"/>
                <a:gd name="T41" fmla="*/ 31 h 37"/>
                <a:gd name="T42" fmla="*/ 72 w 84"/>
                <a:gd name="T43" fmla="*/ 31 h 37"/>
                <a:gd name="T44" fmla="*/ 74 w 84"/>
                <a:gd name="T45" fmla="*/ 29 h 37"/>
                <a:gd name="T46" fmla="*/ 76 w 84"/>
                <a:gd name="T47" fmla="*/ 24 h 37"/>
                <a:gd name="T48" fmla="*/ 77 w 84"/>
                <a:gd name="T49" fmla="*/ 19 h 37"/>
                <a:gd name="T50" fmla="*/ 82 w 84"/>
                <a:gd name="T51" fmla="*/ 16 h 37"/>
                <a:gd name="T52" fmla="*/ 84 w 84"/>
                <a:gd name="T53" fmla="*/ 13 h 37"/>
                <a:gd name="T54" fmla="*/ 79 w 84"/>
                <a:gd name="T55" fmla="*/ 4 h 37"/>
                <a:gd name="T56" fmla="*/ 71 w 84"/>
                <a:gd name="T57" fmla="*/ 3 h 37"/>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4"/>
                <a:gd name="T88" fmla="*/ 0 h 37"/>
                <a:gd name="T89" fmla="*/ 84 w 84"/>
                <a:gd name="T90" fmla="*/ 37 h 37"/>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4" h="37">
                  <a:moveTo>
                    <a:pt x="71" y="3"/>
                  </a:moveTo>
                  <a:cubicBezTo>
                    <a:pt x="68" y="0"/>
                    <a:pt x="60" y="0"/>
                    <a:pt x="60" y="0"/>
                  </a:cubicBezTo>
                  <a:cubicBezTo>
                    <a:pt x="60" y="0"/>
                    <a:pt x="59" y="3"/>
                    <a:pt x="58" y="5"/>
                  </a:cubicBezTo>
                  <a:cubicBezTo>
                    <a:pt x="57" y="6"/>
                    <a:pt x="52" y="6"/>
                    <a:pt x="48" y="5"/>
                  </a:cubicBezTo>
                  <a:cubicBezTo>
                    <a:pt x="47" y="7"/>
                    <a:pt x="43" y="8"/>
                    <a:pt x="42" y="10"/>
                  </a:cubicBezTo>
                  <a:cubicBezTo>
                    <a:pt x="42" y="12"/>
                    <a:pt x="36" y="11"/>
                    <a:pt x="38" y="17"/>
                  </a:cubicBezTo>
                  <a:cubicBezTo>
                    <a:pt x="40" y="23"/>
                    <a:pt x="35" y="21"/>
                    <a:pt x="33" y="20"/>
                  </a:cubicBezTo>
                  <a:cubicBezTo>
                    <a:pt x="32" y="19"/>
                    <a:pt x="24" y="20"/>
                    <a:pt x="22" y="22"/>
                  </a:cubicBezTo>
                  <a:cubicBezTo>
                    <a:pt x="20" y="24"/>
                    <a:pt x="17" y="24"/>
                    <a:pt x="15" y="23"/>
                  </a:cubicBezTo>
                  <a:cubicBezTo>
                    <a:pt x="14" y="22"/>
                    <a:pt x="10" y="21"/>
                    <a:pt x="9" y="24"/>
                  </a:cubicBezTo>
                  <a:cubicBezTo>
                    <a:pt x="7" y="26"/>
                    <a:pt x="4" y="22"/>
                    <a:pt x="2" y="22"/>
                  </a:cubicBezTo>
                  <a:cubicBezTo>
                    <a:pt x="0" y="22"/>
                    <a:pt x="1" y="27"/>
                    <a:pt x="1" y="28"/>
                  </a:cubicBezTo>
                  <a:cubicBezTo>
                    <a:pt x="1" y="29"/>
                    <a:pt x="4" y="32"/>
                    <a:pt x="7" y="31"/>
                  </a:cubicBezTo>
                  <a:cubicBezTo>
                    <a:pt x="9" y="30"/>
                    <a:pt x="12" y="31"/>
                    <a:pt x="14" y="32"/>
                  </a:cubicBezTo>
                  <a:cubicBezTo>
                    <a:pt x="16" y="34"/>
                    <a:pt x="19" y="31"/>
                    <a:pt x="21" y="30"/>
                  </a:cubicBezTo>
                  <a:cubicBezTo>
                    <a:pt x="22" y="29"/>
                    <a:pt x="29" y="29"/>
                    <a:pt x="30" y="29"/>
                  </a:cubicBezTo>
                  <a:cubicBezTo>
                    <a:pt x="30" y="29"/>
                    <a:pt x="31" y="33"/>
                    <a:pt x="32" y="34"/>
                  </a:cubicBezTo>
                  <a:cubicBezTo>
                    <a:pt x="33" y="34"/>
                    <a:pt x="38" y="35"/>
                    <a:pt x="42" y="35"/>
                  </a:cubicBezTo>
                  <a:cubicBezTo>
                    <a:pt x="46" y="35"/>
                    <a:pt x="53" y="37"/>
                    <a:pt x="55" y="37"/>
                  </a:cubicBezTo>
                  <a:cubicBezTo>
                    <a:pt x="57" y="37"/>
                    <a:pt x="60" y="34"/>
                    <a:pt x="64" y="34"/>
                  </a:cubicBezTo>
                  <a:cubicBezTo>
                    <a:pt x="69" y="34"/>
                    <a:pt x="71" y="31"/>
                    <a:pt x="72" y="31"/>
                  </a:cubicBezTo>
                  <a:cubicBezTo>
                    <a:pt x="72" y="31"/>
                    <a:pt x="72" y="31"/>
                    <a:pt x="72" y="31"/>
                  </a:cubicBezTo>
                  <a:cubicBezTo>
                    <a:pt x="72" y="30"/>
                    <a:pt x="73" y="29"/>
                    <a:pt x="74" y="29"/>
                  </a:cubicBezTo>
                  <a:cubicBezTo>
                    <a:pt x="76" y="28"/>
                    <a:pt x="74" y="25"/>
                    <a:pt x="76" y="24"/>
                  </a:cubicBezTo>
                  <a:cubicBezTo>
                    <a:pt x="77" y="22"/>
                    <a:pt x="75" y="19"/>
                    <a:pt x="77" y="19"/>
                  </a:cubicBezTo>
                  <a:cubicBezTo>
                    <a:pt x="79" y="20"/>
                    <a:pt x="82" y="20"/>
                    <a:pt x="82" y="16"/>
                  </a:cubicBezTo>
                  <a:cubicBezTo>
                    <a:pt x="82" y="15"/>
                    <a:pt x="83" y="14"/>
                    <a:pt x="84" y="13"/>
                  </a:cubicBezTo>
                  <a:cubicBezTo>
                    <a:pt x="81" y="10"/>
                    <a:pt x="79" y="4"/>
                    <a:pt x="79" y="4"/>
                  </a:cubicBezTo>
                  <a:cubicBezTo>
                    <a:pt x="79" y="4"/>
                    <a:pt x="74" y="6"/>
                    <a:pt x="71"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5" name="Freeform 71"/>
            <p:cNvSpPr>
              <a:spLocks noChangeArrowheads="1"/>
            </p:cNvSpPr>
            <p:nvPr/>
          </p:nvSpPr>
          <p:spPr bwMode="auto">
            <a:xfrm>
              <a:off x="3992576" y="1317626"/>
              <a:ext cx="142876" cy="80963"/>
            </a:xfrm>
            <a:custGeom>
              <a:avLst/>
              <a:gdLst>
                <a:gd name="T0" fmla="*/ 71 w 74"/>
                <a:gd name="T1" fmla="*/ 8 h 42"/>
                <a:gd name="T2" fmla="*/ 68 w 74"/>
                <a:gd name="T3" fmla="*/ 7 h 42"/>
                <a:gd name="T4" fmla="*/ 61 w 74"/>
                <a:gd name="T5" fmla="*/ 4 h 42"/>
                <a:gd name="T6" fmla="*/ 51 w 74"/>
                <a:gd name="T7" fmla="*/ 1 h 42"/>
                <a:gd name="T8" fmla="*/ 40 w 74"/>
                <a:gd name="T9" fmla="*/ 7 h 42"/>
                <a:gd name="T10" fmla="*/ 28 w 74"/>
                <a:gd name="T11" fmla="*/ 11 h 42"/>
                <a:gd name="T12" fmla="*/ 13 w 74"/>
                <a:gd name="T13" fmla="*/ 11 h 42"/>
                <a:gd name="T14" fmla="*/ 12 w 74"/>
                <a:gd name="T15" fmla="*/ 9 h 42"/>
                <a:gd name="T16" fmla="*/ 10 w 74"/>
                <a:gd name="T17" fmla="*/ 12 h 42"/>
                <a:gd name="T18" fmla="*/ 5 w 74"/>
                <a:gd name="T19" fmla="*/ 15 h 42"/>
                <a:gd name="T20" fmla="*/ 4 w 74"/>
                <a:gd name="T21" fmla="*/ 20 h 42"/>
                <a:gd name="T22" fmla="*/ 2 w 74"/>
                <a:gd name="T23" fmla="*/ 25 h 42"/>
                <a:gd name="T24" fmla="*/ 0 w 74"/>
                <a:gd name="T25" fmla="*/ 27 h 42"/>
                <a:gd name="T26" fmla="*/ 3 w 74"/>
                <a:gd name="T27" fmla="*/ 32 h 42"/>
                <a:gd name="T28" fmla="*/ 3 w 74"/>
                <a:gd name="T29" fmla="*/ 32 h 42"/>
                <a:gd name="T30" fmla="*/ 12 w 74"/>
                <a:gd name="T31" fmla="*/ 39 h 42"/>
                <a:gd name="T32" fmla="*/ 24 w 74"/>
                <a:gd name="T33" fmla="*/ 41 h 42"/>
                <a:gd name="T34" fmla="*/ 39 w 74"/>
                <a:gd name="T35" fmla="*/ 37 h 42"/>
                <a:gd name="T36" fmla="*/ 44 w 74"/>
                <a:gd name="T37" fmla="*/ 38 h 42"/>
                <a:gd name="T38" fmla="*/ 47 w 74"/>
                <a:gd name="T39" fmla="*/ 39 h 42"/>
                <a:gd name="T40" fmla="*/ 54 w 74"/>
                <a:gd name="T41" fmla="*/ 34 h 42"/>
                <a:gd name="T42" fmla="*/ 64 w 74"/>
                <a:gd name="T43" fmla="*/ 17 h 42"/>
                <a:gd name="T44" fmla="*/ 72 w 74"/>
                <a:gd name="T45" fmla="*/ 12 h 42"/>
                <a:gd name="T46" fmla="*/ 71 w 74"/>
                <a:gd name="T47" fmla="*/ 8 h 4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4"/>
                <a:gd name="T73" fmla="*/ 0 h 42"/>
                <a:gd name="T74" fmla="*/ 74 w 74"/>
                <a:gd name="T75" fmla="*/ 42 h 4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4" h="42">
                  <a:moveTo>
                    <a:pt x="71" y="8"/>
                  </a:moveTo>
                  <a:cubicBezTo>
                    <a:pt x="70" y="8"/>
                    <a:pt x="69" y="7"/>
                    <a:pt x="68" y="7"/>
                  </a:cubicBezTo>
                  <a:cubicBezTo>
                    <a:pt x="65" y="6"/>
                    <a:pt x="62" y="5"/>
                    <a:pt x="61" y="4"/>
                  </a:cubicBezTo>
                  <a:cubicBezTo>
                    <a:pt x="59" y="2"/>
                    <a:pt x="52" y="1"/>
                    <a:pt x="51" y="1"/>
                  </a:cubicBezTo>
                  <a:cubicBezTo>
                    <a:pt x="50" y="0"/>
                    <a:pt x="43" y="7"/>
                    <a:pt x="40" y="7"/>
                  </a:cubicBezTo>
                  <a:cubicBezTo>
                    <a:pt x="38" y="7"/>
                    <a:pt x="28" y="9"/>
                    <a:pt x="28" y="11"/>
                  </a:cubicBezTo>
                  <a:cubicBezTo>
                    <a:pt x="28" y="14"/>
                    <a:pt x="16" y="14"/>
                    <a:pt x="13" y="11"/>
                  </a:cubicBezTo>
                  <a:cubicBezTo>
                    <a:pt x="13" y="11"/>
                    <a:pt x="12" y="10"/>
                    <a:pt x="12" y="9"/>
                  </a:cubicBezTo>
                  <a:cubicBezTo>
                    <a:pt x="11" y="10"/>
                    <a:pt x="10" y="11"/>
                    <a:pt x="10" y="12"/>
                  </a:cubicBezTo>
                  <a:cubicBezTo>
                    <a:pt x="10" y="16"/>
                    <a:pt x="7" y="16"/>
                    <a:pt x="5" y="15"/>
                  </a:cubicBezTo>
                  <a:cubicBezTo>
                    <a:pt x="3" y="15"/>
                    <a:pt x="5" y="18"/>
                    <a:pt x="4" y="20"/>
                  </a:cubicBezTo>
                  <a:cubicBezTo>
                    <a:pt x="2" y="21"/>
                    <a:pt x="4" y="24"/>
                    <a:pt x="2" y="25"/>
                  </a:cubicBezTo>
                  <a:cubicBezTo>
                    <a:pt x="1" y="25"/>
                    <a:pt x="0" y="26"/>
                    <a:pt x="0" y="27"/>
                  </a:cubicBezTo>
                  <a:cubicBezTo>
                    <a:pt x="1" y="28"/>
                    <a:pt x="3" y="32"/>
                    <a:pt x="3" y="32"/>
                  </a:cubicBezTo>
                  <a:cubicBezTo>
                    <a:pt x="3" y="32"/>
                    <a:pt x="3" y="32"/>
                    <a:pt x="3" y="32"/>
                  </a:cubicBezTo>
                  <a:cubicBezTo>
                    <a:pt x="5" y="33"/>
                    <a:pt x="10" y="37"/>
                    <a:pt x="12" y="39"/>
                  </a:cubicBezTo>
                  <a:cubicBezTo>
                    <a:pt x="14" y="42"/>
                    <a:pt x="21" y="42"/>
                    <a:pt x="24" y="41"/>
                  </a:cubicBezTo>
                  <a:cubicBezTo>
                    <a:pt x="26" y="41"/>
                    <a:pt x="39" y="37"/>
                    <a:pt x="39" y="37"/>
                  </a:cubicBezTo>
                  <a:cubicBezTo>
                    <a:pt x="39" y="37"/>
                    <a:pt x="42" y="38"/>
                    <a:pt x="44" y="38"/>
                  </a:cubicBezTo>
                  <a:cubicBezTo>
                    <a:pt x="44" y="38"/>
                    <a:pt x="46" y="38"/>
                    <a:pt x="47" y="39"/>
                  </a:cubicBezTo>
                  <a:cubicBezTo>
                    <a:pt x="48" y="38"/>
                    <a:pt x="51" y="37"/>
                    <a:pt x="54" y="34"/>
                  </a:cubicBezTo>
                  <a:cubicBezTo>
                    <a:pt x="57" y="30"/>
                    <a:pt x="63" y="18"/>
                    <a:pt x="64" y="17"/>
                  </a:cubicBezTo>
                  <a:cubicBezTo>
                    <a:pt x="66" y="16"/>
                    <a:pt x="70" y="14"/>
                    <a:pt x="72" y="12"/>
                  </a:cubicBezTo>
                  <a:cubicBezTo>
                    <a:pt x="74" y="11"/>
                    <a:pt x="73" y="9"/>
                    <a:pt x="71" y="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6" name="Freeform 72"/>
            <p:cNvSpPr>
              <a:spLocks noChangeArrowheads="1"/>
            </p:cNvSpPr>
            <p:nvPr/>
          </p:nvSpPr>
          <p:spPr bwMode="auto">
            <a:xfrm>
              <a:off x="3911613" y="1252538"/>
              <a:ext cx="134938" cy="69850"/>
            </a:xfrm>
            <a:custGeom>
              <a:avLst/>
              <a:gdLst>
                <a:gd name="T0" fmla="*/ 68 w 71"/>
                <a:gd name="T1" fmla="*/ 17 h 36"/>
                <a:gd name="T2" fmla="*/ 60 w 71"/>
                <a:gd name="T3" fmla="*/ 15 h 36"/>
                <a:gd name="T4" fmla="*/ 57 w 71"/>
                <a:gd name="T5" fmla="*/ 11 h 36"/>
                <a:gd name="T6" fmla="*/ 51 w 71"/>
                <a:gd name="T7" fmla="*/ 12 h 36"/>
                <a:gd name="T8" fmla="*/ 45 w 71"/>
                <a:gd name="T9" fmla="*/ 9 h 36"/>
                <a:gd name="T10" fmla="*/ 37 w 71"/>
                <a:gd name="T11" fmla="*/ 4 h 36"/>
                <a:gd name="T12" fmla="*/ 31 w 71"/>
                <a:gd name="T13" fmla="*/ 0 h 36"/>
                <a:gd name="T14" fmla="*/ 30 w 71"/>
                <a:gd name="T15" fmla="*/ 1 h 36"/>
                <a:gd name="T16" fmla="*/ 24 w 71"/>
                <a:gd name="T17" fmla="*/ 2 h 36"/>
                <a:gd name="T18" fmla="*/ 15 w 71"/>
                <a:gd name="T19" fmla="*/ 6 h 36"/>
                <a:gd name="T20" fmla="*/ 3 w 71"/>
                <a:gd name="T21" fmla="*/ 10 h 36"/>
                <a:gd name="T22" fmla="*/ 4 w 71"/>
                <a:gd name="T23" fmla="*/ 16 h 36"/>
                <a:gd name="T24" fmla="*/ 8 w 71"/>
                <a:gd name="T25" fmla="*/ 26 h 36"/>
                <a:gd name="T26" fmla="*/ 20 w 71"/>
                <a:gd name="T27" fmla="*/ 35 h 36"/>
                <a:gd name="T28" fmla="*/ 19 w 71"/>
                <a:gd name="T29" fmla="*/ 35 h 36"/>
                <a:gd name="T30" fmla="*/ 29 w 71"/>
                <a:gd name="T31" fmla="*/ 35 h 36"/>
                <a:gd name="T32" fmla="*/ 31 w 71"/>
                <a:gd name="T33" fmla="*/ 30 h 36"/>
                <a:gd name="T34" fmla="*/ 42 w 71"/>
                <a:gd name="T35" fmla="*/ 33 h 36"/>
                <a:gd name="T36" fmla="*/ 50 w 71"/>
                <a:gd name="T37" fmla="*/ 34 h 36"/>
                <a:gd name="T38" fmla="*/ 51 w 71"/>
                <a:gd name="T39" fmla="*/ 36 h 36"/>
                <a:gd name="T40" fmla="*/ 54 w 71"/>
                <a:gd name="T41" fmla="*/ 33 h 36"/>
                <a:gd name="T42" fmla="*/ 65 w 71"/>
                <a:gd name="T43" fmla="*/ 27 h 36"/>
                <a:gd name="T44" fmla="*/ 71 w 71"/>
                <a:gd name="T45" fmla="*/ 22 h 36"/>
                <a:gd name="T46" fmla="*/ 68 w 71"/>
                <a:gd name="T47" fmla="*/ 17 h 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1"/>
                <a:gd name="T73" fmla="*/ 0 h 36"/>
                <a:gd name="T74" fmla="*/ 71 w 71"/>
                <a:gd name="T75" fmla="*/ 36 h 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1" h="36">
                  <a:moveTo>
                    <a:pt x="68" y="17"/>
                  </a:moveTo>
                  <a:cubicBezTo>
                    <a:pt x="66" y="15"/>
                    <a:pt x="61" y="16"/>
                    <a:pt x="60" y="15"/>
                  </a:cubicBezTo>
                  <a:cubicBezTo>
                    <a:pt x="60" y="13"/>
                    <a:pt x="59" y="11"/>
                    <a:pt x="57" y="11"/>
                  </a:cubicBezTo>
                  <a:cubicBezTo>
                    <a:pt x="55" y="11"/>
                    <a:pt x="52" y="9"/>
                    <a:pt x="51" y="12"/>
                  </a:cubicBezTo>
                  <a:cubicBezTo>
                    <a:pt x="50" y="14"/>
                    <a:pt x="45" y="11"/>
                    <a:pt x="45" y="9"/>
                  </a:cubicBezTo>
                  <a:cubicBezTo>
                    <a:pt x="45" y="7"/>
                    <a:pt x="43" y="6"/>
                    <a:pt x="37" y="4"/>
                  </a:cubicBezTo>
                  <a:cubicBezTo>
                    <a:pt x="35" y="3"/>
                    <a:pt x="33" y="2"/>
                    <a:pt x="31" y="0"/>
                  </a:cubicBezTo>
                  <a:cubicBezTo>
                    <a:pt x="31" y="1"/>
                    <a:pt x="31" y="1"/>
                    <a:pt x="30" y="1"/>
                  </a:cubicBezTo>
                  <a:cubicBezTo>
                    <a:pt x="29" y="3"/>
                    <a:pt x="26" y="0"/>
                    <a:pt x="24" y="2"/>
                  </a:cubicBezTo>
                  <a:cubicBezTo>
                    <a:pt x="23" y="3"/>
                    <a:pt x="18" y="3"/>
                    <a:pt x="15" y="6"/>
                  </a:cubicBezTo>
                  <a:cubicBezTo>
                    <a:pt x="12" y="8"/>
                    <a:pt x="7" y="10"/>
                    <a:pt x="3" y="10"/>
                  </a:cubicBezTo>
                  <a:cubicBezTo>
                    <a:pt x="0" y="11"/>
                    <a:pt x="3" y="14"/>
                    <a:pt x="4" y="16"/>
                  </a:cubicBezTo>
                  <a:cubicBezTo>
                    <a:pt x="5" y="19"/>
                    <a:pt x="5" y="24"/>
                    <a:pt x="8" y="26"/>
                  </a:cubicBezTo>
                  <a:cubicBezTo>
                    <a:pt x="10" y="28"/>
                    <a:pt x="19" y="33"/>
                    <a:pt x="20" y="35"/>
                  </a:cubicBezTo>
                  <a:cubicBezTo>
                    <a:pt x="20" y="35"/>
                    <a:pt x="20" y="35"/>
                    <a:pt x="19" y="35"/>
                  </a:cubicBezTo>
                  <a:cubicBezTo>
                    <a:pt x="23" y="36"/>
                    <a:pt x="28" y="36"/>
                    <a:pt x="29" y="35"/>
                  </a:cubicBezTo>
                  <a:cubicBezTo>
                    <a:pt x="30" y="33"/>
                    <a:pt x="31" y="30"/>
                    <a:pt x="31" y="30"/>
                  </a:cubicBezTo>
                  <a:cubicBezTo>
                    <a:pt x="31" y="30"/>
                    <a:pt x="39" y="30"/>
                    <a:pt x="42" y="33"/>
                  </a:cubicBezTo>
                  <a:cubicBezTo>
                    <a:pt x="45" y="36"/>
                    <a:pt x="50" y="34"/>
                    <a:pt x="50" y="34"/>
                  </a:cubicBezTo>
                  <a:cubicBezTo>
                    <a:pt x="50" y="34"/>
                    <a:pt x="50" y="35"/>
                    <a:pt x="51" y="36"/>
                  </a:cubicBezTo>
                  <a:cubicBezTo>
                    <a:pt x="52" y="34"/>
                    <a:pt x="53" y="33"/>
                    <a:pt x="54" y="33"/>
                  </a:cubicBezTo>
                  <a:cubicBezTo>
                    <a:pt x="57" y="32"/>
                    <a:pt x="62" y="32"/>
                    <a:pt x="65" y="27"/>
                  </a:cubicBezTo>
                  <a:cubicBezTo>
                    <a:pt x="66" y="25"/>
                    <a:pt x="69" y="23"/>
                    <a:pt x="71" y="22"/>
                  </a:cubicBezTo>
                  <a:cubicBezTo>
                    <a:pt x="70" y="20"/>
                    <a:pt x="69" y="17"/>
                    <a:pt x="68"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7" name="Freeform 73"/>
            <p:cNvSpPr>
              <a:spLocks noChangeArrowheads="1"/>
            </p:cNvSpPr>
            <p:nvPr/>
          </p:nvSpPr>
          <p:spPr bwMode="auto">
            <a:xfrm>
              <a:off x="4008452" y="1293813"/>
              <a:ext cx="120651" cy="50800"/>
            </a:xfrm>
            <a:custGeom>
              <a:avLst/>
              <a:gdLst>
                <a:gd name="T0" fmla="*/ 47 w 63"/>
                <a:gd name="T1" fmla="*/ 3 h 27"/>
                <a:gd name="T2" fmla="*/ 38 w 63"/>
                <a:gd name="T3" fmla="*/ 3 h 27"/>
                <a:gd name="T4" fmla="*/ 29 w 63"/>
                <a:gd name="T5" fmla="*/ 1 h 27"/>
                <a:gd name="T6" fmla="*/ 22 w 63"/>
                <a:gd name="T7" fmla="*/ 2 h 27"/>
                <a:gd name="T8" fmla="*/ 20 w 63"/>
                <a:gd name="T9" fmla="*/ 1 h 27"/>
                <a:gd name="T10" fmla="*/ 14 w 63"/>
                <a:gd name="T11" fmla="*/ 6 h 27"/>
                <a:gd name="T12" fmla="*/ 3 w 63"/>
                <a:gd name="T13" fmla="*/ 12 h 27"/>
                <a:gd name="T14" fmla="*/ 0 w 63"/>
                <a:gd name="T15" fmla="*/ 15 h 27"/>
                <a:gd name="T16" fmla="*/ 5 w 63"/>
                <a:gd name="T17" fmla="*/ 24 h 27"/>
                <a:gd name="T18" fmla="*/ 20 w 63"/>
                <a:gd name="T19" fmla="*/ 24 h 27"/>
                <a:gd name="T20" fmla="*/ 32 w 63"/>
                <a:gd name="T21" fmla="*/ 20 h 27"/>
                <a:gd name="T22" fmla="*/ 43 w 63"/>
                <a:gd name="T23" fmla="*/ 14 h 27"/>
                <a:gd name="T24" fmla="*/ 53 w 63"/>
                <a:gd name="T25" fmla="*/ 17 h 27"/>
                <a:gd name="T26" fmla="*/ 60 w 63"/>
                <a:gd name="T27" fmla="*/ 20 h 27"/>
                <a:gd name="T28" fmla="*/ 58 w 63"/>
                <a:gd name="T29" fmla="*/ 16 h 27"/>
                <a:gd name="T30" fmla="*/ 63 w 63"/>
                <a:gd name="T31" fmla="*/ 8 h 27"/>
                <a:gd name="T32" fmla="*/ 63 w 63"/>
                <a:gd name="T33" fmla="*/ 7 h 27"/>
                <a:gd name="T34" fmla="*/ 56 w 63"/>
                <a:gd name="T35" fmla="*/ 6 h 27"/>
                <a:gd name="T36" fmla="*/ 47 w 63"/>
                <a:gd name="T37" fmla="*/ 3 h 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3"/>
                <a:gd name="T58" fmla="*/ 0 h 27"/>
                <a:gd name="T59" fmla="*/ 63 w 63"/>
                <a:gd name="T60" fmla="*/ 27 h 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3" h="27">
                  <a:moveTo>
                    <a:pt x="47" y="3"/>
                  </a:moveTo>
                  <a:cubicBezTo>
                    <a:pt x="43" y="4"/>
                    <a:pt x="41" y="1"/>
                    <a:pt x="38" y="3"/>
                  </a:cubicBezTo>
                  <a:cubicBezTo>
                    <a:pt x="35" y="4"/>
                    <a:pt x="30" y="3"/>
                    <a:pt x="29" y="1"/>
                  </a:cubicBezTo>
                  <a:cubicBezTo>
                    <a:pt x="27" y="0"/>
                    <a:pt x="24" y="4"/>
                    <a:pt x="22" y="2"/>
                  </a:cubicBezTo>
                  <a:cubicBezTo>
                    <a:pt x="21" y="2"/>
                    <a:pt x="21" y="1"/>
                    <a:pt x="20" y="1"/>
                  </a:cubicBezTo>
                  <a:cubicBezTo>
                    <a:pt x="18" y="2"/>
                    <a:pt x="15" y="4"/>
                    <a:pt x="14" y="6"/>
                  </a:cubicBezTo>
                  <a:cubicBezTo>
                    <a:pt x="11" y="11"/>
                    <a:pt x="6" y="11"/>
                    <a:pt x="3" y="12"/>
                  </a:cubicBezTo>
                  <a:cubicBezTo>
                    <a:pt x="2" y="12"/>
                    <a:pt x="1" y="13"/>
                    <a:pt x="0" y="15"/>
                  </a:cubicBezTo>
                  <a:cubicBezTo>
                    <a:pt x="1" y="18"/>
                    <a:pt x="3" y="22"/>
                    <a:pt x="5" y="24"/>
                  </a:cubicBezTo>
                  <a:cubicBezTo>
                    <a:pt x="8" y="27"/>
                    <a:pt x="20" y="27"/>
                    <a:pt x="20" y="24"/>
                  </a:cubicBezTo>
                  <a:cubicBezTo>
                    <a:pt x="20" y="22"/>
                    <a:pt x="30" y="20"/>
                    <a:pt x="32" y="20"/>
                  </a:cubicBezTo>
                  <a:cubicBezTo>
                    <a:pt x="35" y="20"/>
                    <a:pt x="42" y="13"/>
                    <a:pt x="43" y="14"/>
                  </a:cubicBezTo>
                  <a:cubicBezTo>
                    <a:pt x="44" y="14"/>
                    <a:pt x="51" y="15"/>
                    <a:pt x="53" y="17"/>
                  </a:cubicBezTo>
                  <a:cubicBezTo>
                    <a:pt x="54" y="18"/>
                    <a:pt x="57" y="19"/>
                    <a:pt x="60" y="20"/>
                  </a:cubicBezTo>
                  <a:cubicBezTo>
                    <a:pt x="59" y="18"/>
                    <a:pt x="58" y="17"/>
                    <a:pt x="58" y="16"/>
                  </a:cubicBezTo>
                  <a:cubicBezTo>
                    <a:pt x="58" y="14"/>
                    <a:pt x="62" y="9"/>
                    <a:pt x="63" y="8"/>
                  </a:cubicBezTo>
                  <a:cubicBezTo>
                    <a:pt x="63" y="7"/>
                    <a:pt x="63" y="7"/>
                    <a:pt x="63" y="7"/>
                  </a:cubicBezTo>
                  <a:cubicBezTo>
                    <a:pt x="60" y="7"/>
                    <a:pt x="57" y="6"/>
                    <a:pt x="56" y="6"/>
                  </a:cubicBezTo>
                  <a:cubicBezTo>
                    <a:pt x="55" y="4"/>
                    <a:pt x="51" y="3"/>
                    <a:pt x="47"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8" name="Freeform 74"/>
            <p:cNvSpPr>
              <a:spLocks noChangeArrowheads="1"/>
            </p:cNvSpPr>
            <p:nvPr/>
          </p:nvSpPr>
          <p:spPr bwMode="auto">
            <a:xfrm>
              <a:off x="3436949" y="1495427"/>
              <a:ext cx="80963" cy="133350"/>
            </a:xfrm>
            <a:custGeom>
              <a:avLst/>
              <a:gdLst>
                <a:gd name="T0" fmla="*/ 30 w 42"/>
                <a:gd name="T1" fmla="*/ 57 h 70"/>
                <a:gd name="T2" fmla="*/ 28 w 42"/>
                <a:gd name="T3" fmla="*/ 52 h 70"/>
                <a:gd name="T4" fmla="*/ 31 w 42"/>
                <a:gd name="T5" fmla="*/ 45 h 70"/>
                <a:gd name="T6" fmla="*/ 27 w 42"/>
                <a:gd name="T7" fmla="*/ 39 h 70"/>
                <a:gd name="T8" fmla="*/ 30 w 42"/>
                <a:gd name="T9" fmla="*/ 35 h 70"/>
                <a:gd name="T10" fmla="*/ 32 w 42"/>
                <a:gd name="T11" fmla="*/ 27 h 70"/>
                <a:gd name="T12" fmla="*/ 31 w 42"/>
                <a:gd name="T13" fmla="*/ 17 h 70"/>
                <a:gd name="T14" fmla="*/ 39 w 42"/>
                <a:gd name="T15" fmla="*/ 10 h 70"/>
                <a:gd name="T16" fmla="*/ 36 w 42"/>
                <a:gd name="T17" fmla="*/ 6 h 70"/>
                <a:gd name="T18" fmla="*/ 29 w 42"/>
                <a:gd name="T19" fmla="*/ 4 h 70"/>
                <a:gd name="T20" fmla="*/ 25 w 42"/>
                <a:gd name="T21" fmla="*/ 4 h 70"/>
                <a:gd name="T22" fmla="*/ 18 w 42"/>
                <a:gd name="T23" fmla="*/ 3 h 70"/>
                <a:gd name="T24" fmla="*/ 14 w 42"/>
                <a:gd name="T25" fmla="*/ 2 h 70"/>
                <a:gd name="T26" fmla="*/ 11 w 42"/>
                <a:gd name="T27" fmla="*/ 4 h 70"/>
                <a:gd name="T28" fmla="*/ 11 w 42"/>
                <a:gd name="T29" fmla="*/ 11 h 70"/>
                <a:gd name="T30" fmla="*/ 4 w 42"/>
                <a:gd name="T31" fmla="*/ 38 h 70"/>
                <a:gd name="T32" fmla="*/ 8 w 42"/>
                <a:gd name="T33" fmla="*/ 48 h 70"/>
                <a:gd name="T34" fmla="*/ 10 w 42"/>
                <a:gd name="T35" fmla="*/ 67 h 70"/>
                <a:gd name="T36" fmla="*/ 18 w 42"/>
                <a:gd name="T37" fmla="*/ 70 h 70"/>
                <a:gd name="T38" fmla="*/ 27 w 42"/>
                <a:gd name="T39" fmla="*/ 68 h 70"/>
                <a:gd name="T40" fmla="*/ 26 w 42"/>
                <a:gd name="T41" fmla="*/ 64 h 70"/>
                <a:gd name="T42" fmla="*/ 30 w 42"/>
                <a:gd name="T43" fmla="*/ 57 h 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2"/>
                <a:gd name="T67" fmla="*/ 0 h 70"/>
                <a:gd name="T68" fmla="*/ 42 w 42"/>
                <a:gd name="T69" fmla="*/ 70 h 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2" h="70">
                  <a:moveTo>
                    <a:pt x="30" y="57"/>
                  </a:moveTo>
                  <a:cubicBezTo>
                    <a:pt x="35" y="56"/>
                    <a:pt x="29" y="53"/>
                    <a:pt x="28" y="52"/>
                  </a:cubicBezTo>
                  <a:cubicBezTo>
                    <a:pt x="27" y="50"/>
                    <a:pt x="28" y="45"/>
                    <a:pt x="31" y="45"/>
                  </a:cubicBezTo>
                  <a:cubicBezTo>
                    <a:pt x="33" y="45"/>
                    <a:pt x="31" y="43"/>
                    <a:pt x="27" y="39"/>
                  </a:cubicBezTo>
                  <a:cubicBezTo>
                    <a:pt x="24" y="36"/>
                    <a:pt x="27" y="35"/>
                    <a:pt x="30" y="35"/>
                  </a:cubicBezTo>
                  <a:cubicBezTo>
                    <a:pt x="33" y="35"/>
                    <a:pt x="29" y="30"/>
                    <a:pt x="32" y="27"/>
                  </a:cubicBezTo>
                  <a:cubicBezTo>
                    <a:pt x="35" y="24"/>
                    <a:pt x="31" y="19"/>
                    <a:pt x="31" y="17"/>
                  </a:cubicBezTo>
                  <a:cubicBezTo>
                    <a:pt x="31" y="14"/>
                    <a:pt x="35" y="13"/>
                    <a:pt x="39" y="10"/>
                  </a:cubicBezTo>
                  <a:cubicBezTo>
                    <a:pt x="42" y="7"/>
                    <a:pt x="36" y="8"/>
                    <a:pt x="36" y="6"/>
                  </a:cubicBezTo>
                  <a:cubicBezTo>
                    <a:pt x="36" y="3"/>
                    <a:pt x="32" y="2"/>
                    <a:pt x="29" y="4"/>
                  </a:cubicBezTo>
                  <a:cubicBezTo>
                    <a:pt x="26" y="6"/>
                    <a:pt x="27" y="4"/>
                    <a:pt x="25" y="4"/>
                  </a:cubicBezTo>
                  <a:cubicBezTo>
                    <a:pt x="22" y="4"/>
                    <a:pt x="18" y="5"/>
                    <a:pt x="18" y="3"/>
                  </a:cubicBezTo>
                  <a:cubicBezTo>
                    <a:pt x="18" y="0"/>
                    <a:pt x="16" y="0"/>
                    <a:pt x="14" y="2"/>
                  </a:cubicBezTo>
                  <a:cubicBezTo>
                    <a:pt x="13" y="3"/>
                    <a:pt x="12" y="4"/>
                    <a:pt x="11" y="4"/>
                  </a:cubicBezTo>
                  <a:cubicBezTo>
                    <a:pt x="10" y="7"/>
                    <a:pt x="10" y="10"/>
                    <a:pt x="11" y="11"/>
                  </a:cubicBezTo>
                  <a:cubicBezTo>
                    <a:pt x="13" y="15"/>
                    <a:pt x="8" y="33"/>
                    <a:pt x="4" y="38"/>
                  </a:cubicBezTo>
                  <a:cubicBezTo>
                    <a:pt x="0" y="43"/>
                    <a:pt x="4" y="45"/>
                    <a:pt x="8" y="48"/>
                  </a:cubicBezTo>
                  <a:cubicBezTo>
                    <a:pt x="13" y="52"/>
                    <a:pt x="10" y="64"/>
                    <a:pt x="10" y="67"/>
                  </a:cubicBezTo>
                  <a:cubicBezTo>
                    <a:pt x="10" y="70"/>
                    <a:pt x="14" y="70"/>
                    <a:pt x="18" y="70"/>
                  </a:cubicBezTo>
                  <a:cubicBezTo>
                    <a:pt x="21" y="70"/>
                    <a:pt x="24" y="68"/>
                    <a:pt x="27" y="68"/>
                  </a:cubicBezTo>
                  <a:cubicBezTo>
                    <a:pt x="26" y="66"/>
                    <a:pt x="26" y="65"/>
                    <a:pt x="26" y="64"/>
                  </a:cubicBezTo>
                  <a:cubicBezTo>
                    <a:pt x="26" y="62"/>
                    <a:pt x="26" y="58"/>
                    <a:pt x="30" y="5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9" name="Freeform 75"/>
            <p:cNvSpPr>
              <a:spLocks noChangeArrowheads="1"/>
            </p:cNvSpPr>
            <p:nvPr/>
          </p:nvSpPr>
          <p:spPr bwMode="auto">
            <a:xfrm>
              <a:off x="3716350" y="1182688"/>
              <a:ext cx="88900" cy="76200"/>
            </a:xfrm>
            <a:custGeom>
              <a:avLst/>
              <a:gdLst>
                <a:gd name="T0" fmla="*/ 15 w 47"/>
                <a:gd name="T1" fmla="*/ 31 h 40"/>
                <a:gd name="T2" fmla="*/ 23 w 47"/>
                <a:gd name="T3" fmla="*/ 32 h 40"/>
                <a:gd name="T4" fmla="*/ 31 w 47"/>
                <a:gd name="T5" fmla="*/ 38 h 40"/>
                <a:gd name="T6" fmla="*/ 33 w 47"/>
                <a:gd name="T7" fmla="*/ 40 h 40"/>
                <a:gd name="T8" fmla="*/ 35 w 47"/>
                <a:gd name="T9" fmla="*/ 32 h 40"/>
                <a:gd name="T10" fmla="*/ 35 w 47"/>
                <a:gd name="T11" fmla="*/ 26 h 40"/>
                <a:gd name="T12" fmla="*/ 42 w 47"/>
                <a:gd name="T13" fmla="*/ 23 h 40"/>
                <a:gd name="T14" fmla="*/ 44 w 47"/>
                <a:gd name="T15" fmla="*/ 20 h 40"/>
                <a:gd name="T16" fmla="*/ 40 w 47"/>
                <a:gd name="T17" fmla="*/ 14 h 40"/>
                <a:gd name="T18" fmla="*/ 46 w 47"/>
                <a:gd name="T19" fmla="*/ 8 h 40"/>
                <a:gd name="T20" fmla="*/ 46 w 47"/>
                <a:gd name="T21" fmla="*/ 1 h 40"/>
                <a:gd name="T22" fmla="*/ 43 w 47"/>
                <a:gd name="T23" fmla="*/ 2 h 40"/>
                <a:gd name="T24" fmla="*/ 32 w 47"/>
                <a:gd name="T25" fmla="*/ 2 h 40"/>
                <a:gd name="T26" fmla="*/ 27 w 47"/>
                <a:gd name="T27" fmla="*/ 10 h 40"/>
                <a:gd name="T28" fmla="*/ 22 w 47"/>
                <a:gd name="T29" fmla="*/ 10 h 40"/>
                <a:gd name="T30" fmla="*/ 16 w 47"/>
                <a:gd name="T31" fmla="*/ 13 h 40"/>
                <a:gd name="T32" fmla="*/ 11 w 47"/>
                <a:gd name="T33" fmla="*/ 22 h 40"/>
                <a:gd name="T34" fmla="*/ 2 w 47"/>
                <a:gd name="T35" fmla="*/ 33 h 40"/>
                <a:gd name="T36" fmla="*/ 0 w 47"/>
                <a:gd name="T37" fmla="*/ 34 h 40"/>
                <a:gd name="T38" fmla="*/ 4 w 47"/>
                <a:gd name="T39" fmla="*/ 35 h 40"/>
                <a:gd name="T40" fmla="*/ 15 w 47"/>
                <a:gd name="T41" fmla="*/ 31 h 4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7"/>
                <a:gd name="T64" fmla="*/ 0 h 40"/>
                <a:gd name="T65" fmla="*/ 47 w 47"/>
                <a:gd name="T66" fmla="*/ 40 h 4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7" h="40">
                  <a:moveTo>
                    <a:pt x="15" y="31"/>
                  </a:moveTo>
                  <a:cubicBezTo>
                    <a:pt x="17" y="29"/>
                    <a:pt x="21" y="30"/>
                    <a:pt x="23" y="32"/>
                  </a:cubicBezTo>
                  <a:cubicBezTo>
                    <a:pt x="25" y="34"/>
                    <a:pt x="28" y="35"/>
                    <a:pt x="31" y="38"/>
                  </a:cubicBezTo>
                  <a:cubicBezTo>
                    <a:pt x="32" y="39"/>
                    <a:pt x="33" y="40"/>
                    <a:pt x="33" y="40"/>
                  </a:cubicBezTo>
                  <a:cubicBezTo>
                    <a:pt x="34" y="38"/>
                    <a:pt x="34" y="34"/>
                    <a:pt x="35" y="32"/>
                  </a:cubicBezTo>
                  <a:cubicBezTo>
                    <a:pt x="36" y="29"/>
                    <a:pt x="34" y="26"/>
                    <a:pt x="35" y="26"/>
                  </a:cubicBezTo>
                  <a:cubicBezTo>
                    <a:pt x="37" y="26"/>
                    <a:pt x="42" y="26"/>
                    <a:pt x="42" y="23"/>
                  </a:cubicBezTo>
                  <a:cubicBezTo>
                    <a:pt x="42" y="20"/>
                    <a:pt x="43" y="21"/>
                    <a:pt x="44" y="20"/>
                  </a:cubicBezTo>
                  <a:cubicBezTo>
                    <a:pt x="45" y="18"/>
                    <a:pt x="41" y="15"/>
                    <a:pt x="40" y="14"/>
                  </a:cubicBezTo>
                  <a:cubicBezTo>
                    <a:pt x="40" y="13"/>
                    <a:pt x="43" y="12"/>
                    <a:pt x="46" y="8"/>
                  </a:cubicBezTo>
                  <a:cubicBezTo>
                    <a:pt x="47" y="7"/>
                    <a:pt x="47" y="4"/>
                    <a:pt x="46" y="1"/>
                  </a:cubicBezTo>
                  <a:cubicBezTo>
                    <a:pt x="45" y="2"/>
                    <a:pt x="44" y="3"/>
                    <a:pt x="43" y="2"/>
                  </a:cubicBezTo>
                  <a:cubicBezTo>
                    <a:pt x="40" y="0"/>
                    <a:pt x="37" y="1"/>
                    <a:pt x="32" y="2"/>
                  </a:cubicBezTo>
                  <a:cubicBezTo>
                    <a:pt x="27" y="3"/>
                    <a:pt x="25" y="8"/>
                    <a:pt x="27" y="10"/>
                  </a:cubicBezTo>
                  <a:cubicBezTo>
                    <a:pt x="29" y="12"/>
                    <a:pt x="22" y="13"/>
                    <a:pt x="22" y="10"/>
                  </a:cubicBezTo>
                  <a:cubicBezTo>
                    <a:pt x="21" y="8"/>
                    <a:pt x="16" y="9"/>
                    <a:pt x="16" y="13"/>
                  </a:cubicBezTo>
                  <a:cubicBezTo>
                    <a:pt x="17" y="16"/>
                    <a:pt x="11" y="18"/>
                    <a:pt x="11" y="22"/>
                  </a:cubicBezTo>
                  <a:cubicBezTo>
                    <a:pt x="12" y="26"/>
                    <a:pt x="6" y="30"/>
                    <a:pt x="2" y="33"/>
                  </a:cubicBezTo>
                  <a:cubicBezTo>
                    <a:pt x="2" y="33"/>
                    <a:pt x="1" y="33"/>
                    <a:pt x="0" y="34"/>
                  </a:cubicBezTo>
                  <a:cubicBezTo>
                    <a:pt x="2" y="34"/>
                    <a:pt x="4" y="35"/>
                    <a:pt x="4" y="35"/>
                  </a:cubicBezTo>
                  <a:cubicBezTo>
                    <a:pt x="8" y="35"/>
                    <a:pt x="13" y="33"/>
                    <a:pt x="15" y="3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0" name="Freeform 76"/>
            <p:cNvSpPr>
              <a:spLocks noChangeArrowheads="1"/>
            </p:cNvSpPr>
            <p:nvPr/>
          </p:nvSpPr>
          <p:spPr bwMode="auto">
            <a:xfrm>
              <a:off x="3773500" y="1279526"/>
              <a:ext cx="15875" cy="19050"/>
            </a:xfrm>
            <a:custGeom>
              <a:avLst/>
              <a:gdLst>
                <a:gd name="T0" fmla="*/ 4 w 8"/>
                <a:gd name="T1" fmla="*/ 0 h 10"/>
                <a:gd name="T2" fmla="*/ 0 w 8"/>
                <a:gd name="T3" fmla="*/ 9 h 10"/>
                <a:gd name="T4" fmla="*/ 8 w 8"/>
                <a:gd name="T5" fmla="*/ 10 h 10"/>
                <a:gd name="T6" fmla="*/ 4 w 8"/>
                <a:gd name="T7" fmla="*/ 1 h 10"/>
                <a:gd name="T8" fmla="*/ 4 w 8"/>
                <a:gd name="T9" fmla="*/ 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4" y="0"/>
                  </a:moveTo>
                  <a:cubicBezTo>
                    <a:pt x="2" y="1"/>
                    <a:pt x="0" y="4"/>
                    <a:pt x="0" y="9"/>
                  </a:cubicBezTo>
                  <a:cubicBezTo>
                    <a:pt x="2" y="9"/>
                    <a:pt x="5" y="10"/>
                    <a:pt x="8" y="10"/>
                  </a:cubicBezTo>
                  <a:cubicBezTo>
                    <a:pt x="7" y="4"/>
                    <a:pt x="5" y="2"/>
                    <a:pt x="4" y="1"/>
                  </a:cubicBezTo>
                  <a:cubicBezTo>
                    <a:pt x="4" y="0"/>
                    <a:pt x="4" y="0"/>
                    <a:pt x="4"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1" name="Freeform 77"/>
            <p:cNvSpPr>
              <a:spLocks noChangeArrowheads="1"/>
            </p:cNvSpPr>
            <p:nvPr/>
          </p:nvSpPr>
          <p:spPr bwMode="auto">
            <a:xfrm>
              <a:off x="3702063" y="1238251"/>
              <a:ext cx="84139" cy="60326"/>
            </a:xfrm>
            <a:custGeom>
              <a:avLst/>
              <a:gdLst>
                <a:gd name="T0" fmla="*/ 1 w 44"/>
                <a:gd name="T1" fmla="*/ 9 h 32"/>
                <a:gd name="T2" fmla="*/ 5 w 44"/>
                <a:gd name="T3" fmla="*/ 14 h 32"/>
                <a:gd name="T4" fmla="*/ 11 w 44"/>
                <a:gd name="T5" fmla="*/ 17 h 32"/>
                <a:gd name="T6" fmla="*/ 18 w 44"/>
                <a:gd name="T7" fmla="*/ 21 h 32"/>
                <a:gd name="T8" fmla="*/ 21 w 44"/>
                <a:gd name="T9" fmla="*/ 25 h 32"/>
                <a:gd name="T10" fmla="*/ 26 w 44"/>
                <a:gd name="T11" fmla="*/ 23 h 32"/>
                <a:gd name="T12" fmla="*/ 30 w 44"/>
                <a:gd name="T13" fmla="*/ 28 h 32"/>
                <a:gd name="T14" fmla="*/ 35 w 44"/>
                <a:gd name="T15" fmla="*/ 32 h 32"/>
                <a:gd name="T16" fmla="*/ 37 w 44"/>
                <a:gd name="T17" fmla="*/ 31 h 32"/>
                <a:gd name="T18" fmla="*/ 41 w 44"/>
                <a:gd name="T19" fmla="*/ 22 h 32"/>
                <a:gd name="T20" fmla="*/ 43 w 44"/>
                <a:gd name="T21" fmla="*/ 19 h 32"/>
                <a:gd name="T22" fmla="*/ 40 w 44"/>
                <a:gd name="T23" fmla="*/ 12 h 32"/>
                <a:gd name="T24" fmla="*/ 40 w 44"/>
                <a:gd name="T25" fmla="*/ 11 h 32"/>
                <a:gd name="T26" fmla="*/ 38 w 44"/>
                <a:gd name="T27" fmla="*/ 9 h 32"/>
                <a:gd name="T28" fmla="*/ 30 w 44"/>
                <a:gd name="T29" fmla="*/ 3 h 32"/>
                <a:gd name="T30" fmla="*/ 22 w 44"/>
                <a:gd name="T31" fmla="*/ 2 h 32"/>
                <a:gd name="T32" fmla="*/ 11 w 44"/>
                <a:gd name="T33" fmla="*/ 6 h 32"/>
                <a:gd name="T34" fmla="*/ 7 w 44"/>
                <a:gd name="T35" fmla="*/ 5 h 32"/>
                <a:gd name="T36" fmla="*/ 0 w 44"/>
                <a:gd name="T37" fmla="*/ 8 h 32"/>
                <a:gd name="T38" fmla="*/ 1 w 44"/>
                <a:gd name="T39" fmla="*/ 9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4"/>
                <a:gd name="T61" fmla="*/ 0 h 32"/>
                <a:gd name="T62" fmla="*/ 44 w 44"/>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4" h="32">
                  <a:moveTo>
                    <a:pt x="1" y="9"/>
                  </a:moveTo>
                  <a:cubicBezTo>
                    <a:pt x="2" y="11"/>
                    <a:pt x="4" y="15"/>
                    <a:pt x="5" y="14"/>
                  </a:cubicBezTo>
                  <a:cubicBezTo>
                    <a:pt x="6" y="12"/>
                    <a:pt x="9" y="16"/>
                    <a:pt x="11" y="17"/>
                  </a:cubicBezTo>
                  <a:cubicBezTo>
                    <a:pt x="13" y="18"/>
                    <a:pt x="18" y="20"/>
                    <a:pt x="18" y="21"/>
                  </a:cubicBezTo>
                  <a:cubicBezTo>
                    <a:pt x="18" y="23"/>
                    <a:pt x="19" y="26"/>
                    <a:pt x="21" y="25"/>
                  </a:cubicBezTo>
                  <a:cubicBezTo>
                    <a:pt x="24" y="24"/>
                    <a:pt x="26" y="21"/>
                    <a:pt x="26" y="23"/>
                  </a:cubicBezTo>
                  <a:cubicBezTo>
                    <a:pt x="26" y="25"/>
                    <a:pt x="27" y="28"/>
                    <a:pt x="30" y="28"/>
                  </a:cubicBezTo>
                  <a:cubicBezTo>
                    <a:pt x="32" y="27"/>
                    <a:pt x="33" y="32"/>
                    <a:pt x="35" y="32"/>
                  </a:cubicBezTo>
                  <a:cubicBezTo>
                    <a:pt x="36" y="31"/>
                    <a:pt x="36" y="31"/>
                    <a:pt x="37" y="31"/>
                  </a:cubicBezTo>
                  <a:cubicBezTo>
                    <a:pt x="37" y="26"/>
                    <a:pt x="39" y="23"/>
                    <a:pt x="41" y="22"/>
                  </a:cubicBezTo>
                  <a:cubicBezTo>
                    <a:pt x="42" y="21"/>
                    <a:pt x="43" y="20"/>
                    <a:pt x="43" y="19"/>
                  </a:cubicBezTo>
                  <a:cubicBezTo>
                    <a:pt x="44" y="17"/>
                    <a:pt x="40" y="14"/>
                    <a:pt x="40" y="12"/>
                  </a:cubicBezTo>
                  <a:cubicBezTo>
                    <a:pt x="40" y="11"/>
                    <a:pt x="40" y="11"/>
                    <a:pt x="40" y="11"/>
                  </a:cubicBezTo>
                  <a:cubicBezTo>
                    <a:pt x="40" y="11"/>
                    <a:pt x="39" y="10"/>
                    <a:pt x="38" y="9"/>
                  </a:cubicBezTo>
                  <a:cubicBezTo>
                    <a:pt x="35" y="6"/>
                    <a:pt x="32" y="5"/>
                    <a:pt x="30" y="3"/>
                  </a:cubicBezTo>
                  <a:cubicBezTo>
                    <a:pt x="28" y="1"/>
                    <a:pt x="24" y="0"/>
                    <a:pt x="22" y="2"/>
                  </a:cubicBezTo>
                  <a:cubicBezTo>
                    <a:pt x="20" y="4"/>
                    <a:pt x="15" y="6"/>
                    <a:pt x="11" y="6"/>
                  </a:cubicBezTo>
                  <a:cubicBezTo>
                    <a:pt x="11" y="6"/>
                    <a:pt x="9" y="5"/>
                    <a:pt x="7" y="5"/>
                  </a:cubicBezTo>
                  <a:cubicBezTo>
                    <a:pt x="5" y="6"/>
                    <a:pt x="2" y="7"/>
                    <a:pt x="0" y="8"/>
                  </a:cubicBezTo>
                  <a:cubicBezTo>
                    <a:pt x="0" y="8"/>
                    <a:pt x="1" y="8"/>
                    <a:pt x="1"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2" name="Freeform 78"/>
            <p:cNvSpPr>
              <a:spLocks noChangeArrowheads="1"/>
            </p:cNvSpPr>
            <p:nvPr/>
          </p:nvSpPr>
          <p:spPr bwMode="auto">
            <a:xfrm>
              <a:off x="4083064" y="1327151"/>
              <a:ext cx="195264" cy="128588"/>
            </a:xfrm>
            <a:custGeom>
              <a:avLst/>
              <a:gdLst>
                <a:gd name="T0" fmla="*/ 91 w 102"/>
                <a:gd name="T1" fmla="*/ 45 h 67"/>
                <a:gd name="T2" fmla="*/ 87 w 102"/>
                <a:gd name="T3" fmla="*/ 42 h 67"/>
                <a:gd name="T4" fmla="*/ 87 w 102"/>
                <a:gd name="T5" fmla="*/ 41 h 67"/>
                <a:gd name="T6" fmla="*/ 85 w 102"/>
                <a:gd name="T7" fmla="*/ 29 h 67"/>
                <a:gd name="T8" fmla="*/ 78 w 102"/>
                <a:gd name="T9" fmla="*/ 13 h 67"/>
                <a:gd name="T10" fmla="*/ 70 w 102"/>
                <a:gd name="T11" fmla="*/ 0 h 67"/>
                <a:gd name="T12" fmla="*/ 65 w 102"/>
                <a:gd name="T13" fmla="*/ 3 h 67"/>
                <a:gd name="T14" fmla="*/ 59 w 102"/>
                <a:gd name="T15" fmla="*/ 6 h 67"/>
                <a:gd name="T16" fmla="*/ 53 w 102"/>
                <a:gd name="T17" fmla="*/ 7 h 67"/>
                <a:gd name="T18" fmla="*/ 48 w 102"/>
                <a:gd name="T19" fmla="*/ 8 h 67"/>
                <a:gd name="T20" fmla="*/ 41 w 102"/>
                <a:gd name="T21" fmla="*/ 6 h 67"/>
                <a:gd name="T22" fmla="*/ 30 w 102"/>
                <a:gd name="T23" fmla="*/ 4 h 67"/>
                <a:gd name="T24" fmla="*/ 26 w 102"/>
                <a:gd name="T25" fmla="*/ 5 h 67"/>
                <a:gd name="T26" fmla="*/ 25 w 102"/>
                <a:gd name="T27" fmla="*/ 7 h 67"/>
                <a:gd name="T28" fmla="*/ 17 w 102"/>
                <a:gd name="T29" fmla="*/ 12 h 67"/>
                <a:gd name="T30" fmla="*/ 7 w 102"/>
                <a:gd name="T31" fmla="*/ 29 h 67"/>
                <a:gd name="T32" fmla="*/ 0 w 102"/>
                <a:gd name="T33" fmla="*/ 34 h 67"/>
                <a:gd name="T34" fmla="*/ 4 w 102"/>
                <a:gd name="T35" fmla="*/ 41 h 67"/>
                <a:gd name="T36" fmla="*/ 8 w 102"/>
                <a:gd name="T37" fmla="*/ 45 h 67"/>
                <a:gd name="T38" fmla="*/ 9 w 102"/>
                <a:gd name="T39" fmla="*/ 52 h 67"/>
                <a:gd name="T40" fmla="*/ 22 w 102"/>
                <a:gd name="T41" fmla="*/ 55 h 67"/>
                <a:gd name="T42" fmla="*/ 22 w 102"/>
                <a:gd name="T43" fmla="*/ 60 h 67"/>
                <a:gd name="T44" fmla="*/ 29 w 102"/>
                <a:gd name="T45" fmla="*/ 65 h 67"/>
                <a:gd name="T46" fmla="*/ 41 w 102"/>
                <a:gd name="T47" fmla="*/ 66 h 67"/>
                <a:gd name="T48" fmla="*/ 53 w 102"/>
                <a:gd name="T49" fmla="*/ 66 h 67"/>
                <a:gd name="T50" fmla="*/ 61 w 102"/>
                <a:gd name="T51" fmla="*/ 63 h 67"/>
                <a:gd name="T52" fmla="*/ 74 w 102"/>
                <a:gd name="T53" fmla="*/ 61 h 67"/>
                <a:gd name="T54" fmla="*/ 83 w 102"/>
                <a:gd name="T55" fmla="*/ 63 h 67"/>
                <a:gd name="T56" fmla="*/ 90 w 102"/>
                <a:gd name="T57" fmla="*/ 66 h 67"/>
                <a:gd name="T58" fmla="*/ 90 w 102"/>
                <a:gd name="T59" fmla="*/ 61 h 67"/>
                <a:gd name="T60" fmla="*/ 96 w 102"/>
                <a:gd name="T61" fmla="*/ 51 h 67"/>
                <a:gd name="T62" fmla="*/ 101 w 102"/>
                <a:gd name="T63" fmla="*/ 45 h 67"/>
                <a:gd name="T64" fmla="*/ 101 w 102"/>
                <a:gd name="T65" fmla="*/ 45 h 67"/>
                <a:gd name="T66" fmla="*/ 97 w 102"/>
                <a:gd name="T67" fmla="*/ 42 h 67"/>
                <a:gd name="T68" fmla="*/ 91 w 102"/>
                <a:gd name="T69" fmla="*/ 45 h 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67"/>
                <a:gd name="T107" fmla="*/ 102 w 102"/>
                <a:gd name="T108" fmla="*/ 67 h 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67">
                  <a:moveTo>
                    <a:pt x="91" y="45"/>
                  </a:moveTo>
                  <a:cubicBezTo>
                    <a:pt x="89" y="44"/>
                    <a:pt x="86" y="43"/>
                    <a:pt x="87" y="42"/>
                  </a:cubicBezTo>
                  <a:cubicBezTo>
                    <a:pt x="87" y="42"/>
                    <a:pt x="87" y="42"/>
                    <a:pt x="87" y="41"/>
                  </a:cubicBezTo>
                  <a:cubicBezTo>
                    <a:pt x="84" y="39"/>
                    <a:pt x="83" y="31"/>
                    <a:pt x="85" y="29"/>
                  </a:cubicBezTo>
                  <a:cubicBezTo>
                    <a:pt x="88" y="26"/>
                    <a:pt x="81" y="17"/>
                    <a:pt x="78" y="13"/>
                  </a:cubicBezTo>
                  <a:cubicBezTo>
                    <a:pt x="76" y="11"/>
                    <a:pt x="73" y="6"/>
                    <a:pt x="70" y="0"/>
                  </a:cubicBezTo>
                  <a:cubicBezTo>
                    <a:pt x="68" y="1"/>
                    <a:pt x="65" y="2"/>
                    <a:pt x="65" y="3"/>
                  </a:cubicBezTo>
                  <a:cubicBezTo>
                    <a:pt x="64" y="5"/>
                    <a:pt x="61" y="6"/>
                    <a:pt x="59" y="6"/>
                  </a:cubicBezTo>
                  <a:cubicBezTo>
                    <a:pt x="57" y="6"/>
                    <a:pt x="55" y="5"/>
                    <a:pt x="53" y="7"/>
                  </a:cubicBezTo>
                  <a:cubicBezTo>
                    <a:pt x="51" y="9"/>
                    <a:pt x="49" y="9"/>
                    <a:pt x="48" y="8"/>
                  </a:cubicBezTo>
                  <a:cubicBezTo>
                    <a:pt x="47" y="7"/>
                    <a:pt x="44" y="6"/>
                    <a:pt x="41" y="6"/>
                  </a:cubicBezTo>
                  <a:cubicBezTo>
                    <a:pt x="39" y="6"/>
                    <a:pt x="32" y="4"/>
                    <a:pt x="30" y="4"/>
                  </a:cubicBezTo>
                  <a:cubicBezTo>
                    <a:pt x="29" y="4"/>
                    <a:pt x="27" y="4"/>
                    <a:pt x="26" y="5"/>
                  </a:cubicBezTo>
                  <a:cubicBezTo>
                    <a:pt x="26" y="5"/>
                    <a:pt x="26" y="6"/>
                    <a:pt x="25" y="7"/>
                  </a:cubicBezTo>
                  <a:cubicBezTo>
                    <a:pt x="23" y="9"/>
                    <a:pt x="19" y="11"/>
                    <a:pt x="17" y="12"/>
                  </a:cubicBezTo>
                  <a:cubicBezTo>
                    <a:pt x="16" y="13"/>
                    <a:pt x="10" y="25"/>
                    <a:pt x="7" y="29"/>
                  </a:cubicBezTo>
                  <a:cubicBezTo>
                    <a:pt x="3" y="32"/>
                    <a:pt x="0" y="33"/>
                    <a:pt x="0" y="34"/>
                  </a:cubicBezTo>
                  <a:cubicBezTo>
                    <a:pt x="0" y="35"/>
                    <a:pt x="4" y="39"/>
                    <a:pt x="4" y="41"/>
                  </a:cubicBezTo>
                  <a:cubicBezTo>
                    <a:pt x="4" y="43"/>
                    <a:pt x="5" y="45"/>
                    <a:pt x="8" y="45"/>
                  </a:cubicBezTo>
                  <a:cubicBezTo>
                    <a:pt x="10" y="45"/>
                    <a:pt x="7" y="51"/>
                    <a:pt x="9" y="52"/>
                  </a:cubicBezTo>
                  <a:cubicBezTo>
                    <a:pt x="11" y="52"/>
                    <a:pt x="22" y="53"/>
                    <a:pt x="22" y="55"/>
                  </a:cubicBezTo>
                  <a:cubicBezTo>
                    <a:pt x="22" y="57"/>
                    <a:pt x="23" y="59"/>
                    <a:pt x="22" y="60"/>
                  </a:cubicBezTo>
                  <a:cubicBezTo>
                    <a:pt x="25" y="61"/>
                    <a:pt x="28" y="65"/>
                    <a:pt x="29" y="65"/>
                  </a:cubicBezTo>
                  <a:cubicBezTo>
                    <a:pt x="30" y="64"/>
                    <a:pt x="39" y="66"/>
                    <a:pt x="41" y="66"/>
                  </a:cubicBezTo>
                  <a:cubicBezTo>
                    <a:pt x="42" y="66"/>
                    <a:pt x="50" y="66"/>
                    <a:pt x="53" y="66"/>
                  </a:cubicBezTo>
                  <a:cubicBezTo>
                    <a:pt x="55" y="67"/>
                    <a:pt x="58" y="65"/>
                    <a:pt x="61" y="63"/>
                  </a:cubicBezTo>
                  <a:cubicBezTo>
                    <a:pt x="63" y="61"/>
                    <a:pt x="71" y="60"/>
                    <a:pt x="74" y="61"/>
                  </a:cubicBezTo>
                  <a:cubicBezTo>
                    <a:pt x="77" y="61"/>
                    <a:pt x="82" y="62"/>
                    <a:pt x="83" y="63"/>
                  </a:cubicBezTo>
                  <a:cubicBezTo>
                    <a:pt x="84" y="64"/>
                    <a:pt x="87" y="65"/>
                    <a:pt x="90" y="66"/>
                  </a:cubicBezTo>
                  <a:cubicBezTo>
                    <a:pt x="90" y="65"/>
                    <a:pt x="90" y="63"/>
                    <a:pt x="90" y="61"/>
                  </a:cubicBezTo>
                  <a:cubicBezTo>
                    <a:pt x="90" y="57"/>
                    <a:pt x="92" y="52"/>
                    <a:pt x="96" y="51"/>
                  </a:cubicBezTo>
                  <a:cubicBezTo>
                    <a:pt x="99" y="51"/>
                    <a:pt x="102" y="51"/>
                    <a:pt x="101" y="45"/>
                  </a:cubicBezTo>
                  <a:cubicBezTo>
                    <a:pt x="101" y="45"/>
                    <a:pt x="101" y="45"/>
                    <a:pt x="101" y="45"/>
                  </a:cubicBezTo>
                  <a:cubicBezTo>
                    <a:pt x="100" y="43"/>
                    <a:pt x="98" y="42"/>
                    <a:pt x="97" y="42"/>
                  </a:cubicBezTo>
                  <a:cubicBezTo>
                    <a:pt x="96" y="42"/>
                    <a:pt x="92" y="45"/>
                    <a:pt x="91" y="4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3" name="Freeform 79"/>
            <p:cNvSpPr>
              <a:spLocks noChangeArrowheads="1"/>
            </p:cNvSpPr>
            <p:nvPr/>
          </p:nvSpPr>
          <p:spPr bwMode="auto">
            <a:xfrm>
              <a:off x="4216414" y="1323976"/>
              <a:ext cx="66675" cy="82550"/>
            </a:xfrm>
            <a:custGeom>
              <a:avLst/>
              <a:gdLst>
                <a:gd name="T0" fmla="*/ 26 w 35"/>
                <a:gd name="T1" fmla="*/ 11 h 43"/>
                <a:gd name="T2" fmla="*/ 18 w 35"/>
                <a:gd name="T3" fmla="*/ 5 h 43"/>
                <a:gd name="T4" fmla="*/ 9 w 35"/>
                <a:gd name="T5" fmla="*/ 0 h 43"/>
                <a:gd name="T6" fmla="*/ 0 w 35"/>
                <a:gd name="T7" fmla="*/ 2 h 43"/>
                <a:gd name="T8" fmla="*/ 8 w 35"/>
                <a:gd name="T9" fmla="*/ 15 h 43"/>
                <a:gd name="T10" fmla="*/ 15 w 35"/>
                <a:gd name="T11" fmla="*/ 31 h 43"/>
                <a:gd name="T12" fmla="*/ 17 w 35"/>
                <a:gd name="T13" fmla="*/ 43 h 43"/>
                <a:gd name="T14" fmla="*/ 23 w 35"/>
                <a:gd name="T15" fmla="*/ 34 h 43"/>
                <a:gd name="T16" fmla="*/ 28 w 35"/>
                <a:gd name="T17" fmla="*/ 29 h 43"/>
                <a:gd name="T18" fmla="*/ 35 w 35"/>
                <a:gd name="T19" fmla="*/ 30 h 43"/>
                <a:gd name="T20" fmla="*/ 33 w 35"/>
                <a:gd name="T21" fmla="*/ 23 h 43"/>
                <a:gd name="T22" fmla="*/ 26 w 35"/>
                <a:gd name="T23" fmla="*/ 11 h 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43"/>
                <a:gd name="T38" fmla="*/ 35 w 35"/>
                <a:gd name="T39" fmla="*/ 43 h 4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43">
                  <a:moveTo>
                    <a:pt x="26" y="11"/>
                  </a:moveTo>
                  <a:cubicBezTo>
                    <a:pt x="24" y="7"/>
                    <a:pt x="20" y="5"/>
                    <a:pt x="18" y="5"/>
                  </a:cubicBezTo>
                  <a:cubicBezTo>
                    <a:pt x="15" y="5"/>
                    <a:pt x="11" y="0"/>
                    <a:pt x="9" y="0"/>
                  </a:cubicBezTo>
                  <a:cubicBezTo>
                    <a:pt x="7" y="0"/>
                    <a:pt x="4" y="1"/>
                    <a:pt x="0" y="2"/>
                  </a:cubicBezTo>
                  <a:cubicBezTo>
                    <a:pt x="3" y="8"/>
                    <a:pt x="6" y="13"/>
                    <a:pt x="8" y="15"/>
                  </a:cubicBezTo>
                  <a:cubicBezTo>
                    <a:pt x="11" y="19"/>
                    <a:pt x="18" y="28"/>
                    <a:pt x="15" y="31"/>
                  </a:cubicBezTo>
                  <a:cubicBezTo>
                    <a:pt x="13" y="33"/>
                    <a:pt x="14" y="41"/>
                    <a:pt x="17" y="43"/>
                  </a:cubicBezTo>
                  <a:cubicBezTo>
                    <a:pt x="18" y="42"/>
                    <a:pt x="23" y="35"/>
                    <a:pt x="23" y="34"/>
                  </a:cubicBezTo>
                  <a:cubicBezTo>
                    <a:pt x="23" y="32"/>
                    <a:pt x="24" y="28"/>
                    <a:pt x="28" y="29"/>
                  </a:cubicBezTo>
                  <a:cubicBezTo>
                    <a:pt x="32" y="30"/>
                    <a:pt x="35" y="31"/>
                    <a:pt x="35" y="30"/>
                  </a:cubicBezTo>
                  <a:cubicBezTo>
                    <a:pt x="35" y="29"/>
                    <a:pt x="34" y="24"/>
                    <a:pt x="33" y="23"/>
                  </a:cubicBezTo>
                  <a:cubicBezTo>
                    <a:pt x="31" y="21"/>
                    <a:pt x="27" y="16"/>
                    <a:pt x="26"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4" name="Freeform 80"/>
            <p:cNvSpPr>
              <a:spLocks noChangeArrowheads="1"/>
            </p:cNvSpPr>
            <p:nvPr/>
          </p:nvSpPr>
          <p:spPr bwMode="auto">
            <a:xfrm>
              <a:off x="4119577" y="1441451"/>
              <a:ext cx="134938" cy="74613"/>
            </a:xfrm>
            <a:custGeom>
              <a:avLst/>
              <a:gdLst>
                <a:gd name="T0" fmla="*/ 55 w 71"/>
                <a:gd name="T1" fmla="*/ 1 h 39"/>
                <a:gd name="T2" fmla="*/ 42 w 71"/>
                <a:gd name="T3" fmla="*/ 3 h 39"/>
                <a:gd name="T4" fmla="*/ 34 w 71"/>
                <a:gd name="T5" fmla="*/ 6 h 39"/>
                <a:gd name="T6" fmla="*/ 22 w 71"/>
                <a:gd name="T7" fmla="*/ 6 h 39"/>
                <a:gd name="T8" fmla="*/ 10 w 71"/>
                <a:gd name="T9" fmla="*/ 5 h 39"/>
                <a:gd name="T10" fmla="*/ 3 w 71"/>
                <a:gd name="T11" fmla="*/ 0 h 39"/>
                <a:gd name="T12" fmla="*/ 2 w 71"/>
                <a:gd name="T13" fmla="*/ 1 h 39"/>
                <a:gd name="T14" fmla="*/ 2 w 71"/>
                <a:gd name="T15" fmla="*/ 9 h 39"/>
                <a:gd name="T16" fmla="*/ 6 w 71"/>
                <a:gd name="T17" fmla="*/ 16 h 39"/>
                <a:gd name="T18" fmla="*/ 2 w 71"/>
                <a:gd name="T19" fmla="*/ 21 h 39"/>
                <a:gd name="T20" fmla="*/ 2 w 71"/>
                <a:gd name="T21" fmla="*/ 26 h 39"/>
                <a:gd name="T22" fmla="*/ 8 w 71"/>
                <a:gd name="T23" fmla="*/ 34 h 39"/>
                <a:gd name="T24" fmla="*/ 11 w 71"/>
                <a:gd name="T25" fmla="*/ 37 h 39"/>
                <a:gd name="T26" fmla="*/ 26 w 71"/>
                <a:gd name="T27" fmla="*/ 37 h 39"/>
                <a:gd name="T28" fmla="*/ 38 w 71"/>
                <a:gd name="T29" fmla="*/ 39 h 39"/>
                <a:gd name="T30" fmla="*/ 42 w 71"/>
                <a:gd name="T31" fmla="*/ 36 h 39"/>
                <a:gd name="T32" fmla="*/ 47 w 71"/>
                <a:gd name="T33" fmla="*/ 34 h 39"/>
                <a:gd name="T34" fmla="*/ 47 w 71"/>
                <a:gd name="T35" fmla="*/ 31 h 39"/>
                <a:gd name="T36" fmla="*/ 59 w 71"/>
                <a:gd name="T37" fmla="*/ 31 h 39"/>
                <a:gd name="T38" fmla="*/ 63 w 71"/>
                <a:gd name="T39" fmla="*/ 30 h 39"/>
                <a:gd name="T40" fmla="*/ 62 w 71"/>
                <a:gd name="T41" fmla="*/ 27 h 39"/>
                <a:gd name="T42" fmla="*/ 60 w 71"/>
                <a:gd name="T43" fmla="*/ 19 h 39"/>
                <a:gd name="T44" fmla="*/ 69 w 71"/>
                <a:gd name="T45" fmla="*/ 9 h 39"/>
                <a:gd name="T46" fmla="*/ 71 w 71"/>
                <a:gd name="T47" fmla="*/ 6 h 39"/>
                <a:gd name="T48" fmla="*/ 64 w 71"/>
                <a:gd name="T49" fmla="*/ 3 h 39"/>
                <a:gd name="T50" fmla="*/ 55 w 71"/>
                <a:gd name="T51" fmla="*/ 1 h 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1"/>
                <a:gd name="T79" fmla="*/ 0 h 39"/>
                <a:gd name="T80" fmla="*/ 71 w 71"/>
                <a:gd name="T81" fmla="*/ 39 h 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1" h="39">
                  <a:moveTo>
                    <a:pt x="55" y="1"/>
                  </a:moveTo>
                  <a:cubicBezTo>
                    <a:pt x="52" y="0"/>
                    <a:pt x="44" y="1"/>
                    <a:pt x="42" y="3"/>
                  </a:cubicBezTo>
                  <a:cubicBezTo>
                    <a:pt x="39" y="5"/>
                    <a:pt x="36" y="7"/>
                    <a:pt x="34" y="6"/>
                  </a:cubicBezTo>
                  <a:cubicBezTo>
                    <a:pt x="31" y="6"/>
                    <a:pt x="23" y="6"/>
                    <a:pt x="22" y="6"/>
                  </a:cubicBezTo>
                  <a:cubicBezTo>
                    <a:pt x="20" y="6"/>
                    <a:pt x="11" y="4"/>
                    <a:pt x="10" y="5"/>
                  </a:cubicBezTo>
                  <a:cubicBezTo>
                    <a:pt x="9" y="5"/>
                    <a:pt x="6" y="1"/>
                    <a:pt x="3" y="0"/>
                  </a:cubicBezTo>
                  <a:cubicBezTo>
                    <a:pt x="3" y="1"/>
                    <a:pt x="3" y="1"/>
                    <a:pt x="2" y="1"/>
                  </a:cubicBezTo>
                  <a:cubicBezTo>
                    <a:pt x="0" y="3"/>
                    <a:pt x="0" y="7"/>
                    <a:pt x="2" y="9"/>
                  </a:cubicBezTo>
                  <a:cubicBezTo>
                    <a:pt x="5" y="11"/>
                    <a:pt x="8" y="16"/>
                    <a:pt x="6" y="16"/>
                  </a:cubicBezTo>
                  <a:cubicBezTo>
                    <a:pt x="4" y="16"/>
                    <a:pt x="2" y="19"/>
                    <a:pt x="2" y="21"/>
                  </a:cubicBezTo>
                  <a:cubicBezTo>
                    <a:pt x="2" y="22"/>
                    <a:pt x="1" y="26"/>
                    <a:pt x="2" y="26"/>
                  </a:cubicBezTo>
                  <a:cubicBezTo>
                    <a:pt x="3" y="27"/>
                    <a:pt x="8" y="32"/>
                    <a:pt x="8" y="34"/>
                  </a:cubicBezTo>
                  <a:cubicBezTo>
                    <a:pt x="9" y="35"/>
                    <a:pt x="11" y="36"/>
                    <a:pt x="11" y="37"/>
                  </a:cubicBezTo>
                  <a:cubicBezTo>
                    <a:pt x="15" y="36"/>
                    <a:pt x="24" y="36"/>
                    <a:pt x="26" y="37"/>
                  </a:cubicBezTo>
                  <a:cubicBezTo>
                    <a:pt x="28" y="38"/>
                    <a:pt x="38" y="39"/>
                    <a:pt x="38" y="39"/>
                  </a:cubicBezTo>
                  <a:cubicBezTo>
                    <a:pt x="40" y="39"/>
                    <a:pt x="43" y="38"/>
                    <a:pt x="42" y="36"/>
                  </a:cubicBezTo>
                  <a:cubicBezTo>
                    <a:pt x="41" y="35"/>
                    <a:pt x="45" y="34"/>
                    <a:pt x="47" y="34"/>
                  </a:cubicBezTo>
                  <a:cubicBezTo>
                    <a:pt x="47" y="32"/>
                    <a:pt x="47" y="31"/>
                    <a:pt x="47" y="31"/>
                  </a:cubicBezTo>
                  <a:cubicBezTo>
                    <a:pt x="49" y="30"/>
                    <a:pt x="56" y="29"/>
                    <a:pt x="59" y="31"/>
                  </a:cubicBezTo>
                  <a:cubicBezTo>
                    <a:pt x="60" y="31"/>
                    <a:pt x="62" y="31"/>
                    <a:pt x="63" y="30"/>
                  </a:cubicBezTo>
                  <a:cubicBezTo>
                    <a:pt x="63" y="28"/>
                    <a:pt x="63" y="27"/>
                    <a:pt x="62" y="27"/>
                  </a:cubicBezTo>
                  <a:cubicBezTo>
                    <a:pt x="60" y="27"/>
                    <a:pt x="57" y="19"/>
                    <a:pt x="60" y="19"/>
                  </a:cubicBezTo>
                  <a:cubicBezTo>
                    <a:pt x="62" y="18"/>
                    <a:pt x="65" y="10"/>
                    <a:pt x="69" y="9"/>
                  </a:cubicBezTo>
                  <a:cubicBezTo>
                    <a:pt x="70" y="8"/>
                    <a:pt x="71" y="8"/>
                    <a:pt x="71" y="6"/>
                  </a:cubicBezTo>
                  <a:cubicBezTo>
                    <a:pt x="68" y="5"/>
                    <a:pt x="65" y="4"/>
                    <a:pt x="64" y="3"/>
                  </a:cubicBezTo>
                  <a:cubicBezTo>
                    <a:pt x="63" y="2"/>
                    <a:pt x="58" y="1"/>
                    <a:pt x="55" y="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5" name="Freeform 81"/>
            <p:cNvSpPr>
              <a:spLocks noChangeArrowheads="1"/>
            </p:cNvSpPr>
            <p:nvPr/>
          </p:nvSpPr>
          <p:spPr bwMode="auto">
            <a:xfrm>
              <a:off x="4081477" y="1487489"/>
              <a:ext cx="58738" cy="42863"/>
            </a:xfrm>
            <a:custGeom>
              <a:avLst/>
              <a:gdLst>
                <a:gd name="T0" fmla="*/ 7 w 31"/>
                <a:gd name="T1" fmla="*/ 22 h 22"/>
                <a:gd name="T2" fmla="*/ 7 w 31"/>
                <a:gd name="T3" fmla="*/ 22 h 22"/>
                <a:gd name="T4" fmla="*/ 8 w 31"/>
                <a:gd name="T5" fmla="*/ 22 h 22"/>
                <a:gd name="T6" fmla="*/ 8 w 31"/>
                <a:gd name="T7" fmla="*/ 22 h 22"/>
                <a:gd name="T8" fmla="*/ 8 w 31"/>
                <a:gd name="T9" fmla="*/ 22 h 22"/>
                <a:gd name="T10" fmla="*/ 8 w 31"/>
                <a:gd name="T11" fmla="*/ 22 h 22"/>
                <a:gd name="T12" fmla="*/ 12 w 31"/>
                <a:gd name="T13" fmla="*/ 22 h 22"/>
                <a:gd name="T14" fmla="*/ 12 w 31"/>
                <a:gd name="T15" fmla="*/ 22 h 22"/>
                <a:gd name="T16" fmla="*/ 13 w 31"/>
                <a:gd name="T17" fmla="*/ 21 h 22"/>
                <a:gd name="T18" fmla="*/ 13 w 31"/>
                <a:gd name="T19" fmla="*/ 21 h 22"/>
                <a:gd name="T20" fmla="*/ 15 w 31"/>
                <a:gd name="T21" fmla="*/ 21 h 22"/>
                <a:gd name="T22" fmla="*/ 20 w 31"/>
                <a:gd name="T23" fmla="*/ 18 h 22"/>
                <a:gd name="T24" fmla="*/ 30 w 31"/>
                <a:gd name="T25" fmla="*/ 13 h 22"/>
                <a:gd name="T26" fmla="*/ 31 w 31"/>
                <a:gd name="T27" fmla="*/ 13 h 22"/>
                <a:gd name="T28" fmla="*/ 28 w 31"/>
                <a:gd name="T29" fmla="*/ 10 h 22"/>
                <a:gd name="T30" fmla="*/ 22 w 31"/>
                <a:gd name="T31" fmla="*/ 2 h 22"/>
                <a:gd name="T32" fmla="*/ 22 w 31"/>
                <a:gd name="T33" fmla="*/ 1 h 22"/>
                <a:gd name="T34" fmla="*/ 22 w 31"/>
                <a:gd name="T35" fmla="*/ 1 h 22"/>
                <a:gd name="T36" fmla="*/ 22 w 31"/>
                <a:gd name="T37" fmla="*/ 0 h 22"/>
                <a:gd name="T38" fmla="*/ 2 w 31"/>
                <a:gd name="T39" fmla="*/ 4 h 22"/>
                <a:gd name="T40" fmla="*/ 2 w 31"/>
                <a:gd name="T41" fmla="*/ 3 h 22"/>
                <a:gd name="T42" fmla="*/ 1 w 31"/>
                <a:gd name="T43" fmla="*/ 15 h 22"/>
                <a:gd name="T44" fmla="*/ 7 w 31"/>
                <a:gd name="T45" fmla="*/ 22 h 2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1"/>
                <a:gd name="T70" fmla="*/ 0 h 22"/>
                <a:gd name="T71" fmla="*/ 31 w 31"/>
                <a:gd name="T72" fmla="*/ 22 h 2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1" h="22">
                  <a:moveTo>
                    <a:pt x="7" y="22"/>
                  </a:moveTo>
                  <a:cubicBezTo>
                    <a:pt x="7" y="22"/>
                    <a:pt x="7" y="22"/>
                    <a:pt x="7" y="22"/>
                  </a:cubicBezTo>
                  <a:cubicBezTo>
                    <a:pt x="7" y="22"/>
                    <a:pt x="7" y="22"/>
                    <a:pt x="8" y="22"/>
                  </a:cubicBezTo>
                  <a:cubicBezTo>
                    <a:pt x="8" y="22"/>
                    <a:pt x="8" y="22"/>
                    <a:pt x="8" y="22"/>
                  </a:cubicBezTo>
                  <a:cubicBezTo>
                    <a:pt x="8" y="22"/>
                    <a:pt x="8" y="22"/>
                    <a:pt x="8" y="22"/>
                  </a:cubicBezTo>
                  <a:cubicBezTo>
                    <a:pt x="8" y="22"/>
                    <a:pt x="8" y="22"/>
                    <a:pt x="8" y="22"/>
                  </a:cubicBezTo>
                  <a:cubicBezTo>
                    <a:pt x="9" y="22"/>
                    <a:pt x="11" y="22"/>
                    <a:pt x="12" y="22"/>
                  </a:cubicBezTo>
                  <a:cubicBezTo>
                    <a:pt x="12" y="22"/>
                    <a:pt x="12" y="22"/>
                    <a:pt x="12" y="22"/>
                  </a:cubicBezTo>
                  <a:cubicBezTo>
                    <a:pt x="13" y="22"/>
                    <a:pt x="13" y="22"/>
                    <a:pt x="13" y="21"/>
                  </a:cubicBezTo>
                  <a:cubicBezTo>
                    <a:pt x="13" y="21"/>
                    <a:pt x="13" y="21"/>
                    <a:pt x="13" y="21"/>
                  </a:cubicBezTo>
                  <a:cubicBezTo>
                    <a:pt x="14" y="21"/>
                    <a:pt x="14" y="21"/>
                    <a:pt x="15" y="21"/>
                  </a:cubicBezTo>
                  <a:cubicBezTo>
                    <a:pt x="18" y="21"/>
                    <a:pt x="18" y="17"/>
                    <a:pt x="20" y="18"/>
                  </a:cubicBezTo>
                  <a:cubicBezTo>
                    <a:pt x="21" y="19"/>
                    <a:pt x="29" y="15"/>
                    <a:pt x="30" y="13"/>
                  </a:cubicBezTo>
                  <a:cubicBezTo>
                    <a:pt x="30" y="13"/>
                    <a:pt x="31" y="13"/>
                    <a:pt x="31" y="13"/>
                  </a:cubicBezTo>
                  <a:cubicBezTo>
                    <a:pt x="31" y="12"/>
                    <a:pt x="29" y="11"/>
                    <a:pt x="28" y="10"/>
                  </a:cubicBezTo>
                  <a:cubicBezTo>
                    <a:pt x="28" y="8"/>
                    <a:pt x="23" y="3"/>
                    <a:pt x="22" y="2"/>
                  </a:cubicBezTo>
                  <a:cubicBezTo>
                    <a:pt x="22" y="2"/>
                    <a:pt x="22" y="2"/>
                    <a:pt x="22" y="1"/>
                  </a:cubicBezTo>
                  <a:cubicBezTo>
                    <a:pt x="22" y="1"/>
                    <a:pt x="22" y="1"/>
                    <a:pt x="22" y="1"/>
                  </a:cubicBezTo>
                  <a:cubicBezTo>
                    <a:pt x="22" y="1"/>
                    <a:pt x="22" y="1"/>
                    <a:pt x="22" y="0"/>
                  </a:cubicBezTo>
                  <a:cubicBezTo>
                    <a:pt x="14" y="1"/>
                    <a:pt x="2" y="4"/>
                    <a:pt x="2" y="4"/>
                  </a:cubicBezTo>
                  <a:cubicBezTo>
                    <a:pt x="2" y="4"/>
                    <a:pt x="2" y="4"/>
                    <a:pt x="2" y="3"/>
                  </a:cubicBezTo>
                  <a:cubicBezTo>
                    <a:pt x="1" y="7"/>
                    <a:pt x="0" y="12"/>
                    <a:pt x="1" y="15"/>
                  </a:cubicBezTo>
                  <a:cubicBezTo>
                    <a:pt x="1" y="18"/>
                    <a:pt x="4" y="19"/>
                    <a:pt x="7" y="2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6" name="Freeform 82"/>
            <p:cNvSpPr>
              <a:spLocks noChangeArrowheads="1"/>
            </p:cNvSpPr>
            <p:nvPr/>
          </p:nvSpPr>
          <p:spPr bwMode="auto">
            <a:xfrm>
              <a:off x="4119577" y="1212851"/>
              <a:ext cx="384177" cy="223838"/>
            </a:xfrm>
            <a:custGeom>
              <a:avLst/>
              <a:gdLst>
                <a:gd name="T0" fmla="*/ 187 w 201"/>
                <a:gd name="T1" fmla="*/ 67 h 117"/>
                <a:gd name="T2" fmla="*/ 199 w 201"/>
                <a:gd name="T3" fmla="*/ 60 h 117"/>
                <a:gd name="T4" fmla="*/ 200 w 201"/>
                <a:gd name="T5" fmla="*/ 53 h 117"/>
                <a:gd name="T6" fmla="*/ 201 w 201"/>
                <a:gd name="T7" fmla="*/ 45 h 117"/>
                <a:gd name="T8" fmla="*/ 185 w 201"/>
                <a:gd name="T9" fmla="*/ 39 h 117"/>
                <a:gd name="T10" fmla="*/ 170 w 201"/>
                <a:gd name="T11" fmla="*/ 31 h 117"/>
                <a:gd name="T12" fmla="*/ 158 w 201"/>
                <a:gd name="T13" fmla="*/ 32 h 117"/>
                <a:gd name="T14" fmla="*/ 149 w 201"/>
                <a:gd name="T15" fmla="*/ 28 h 117"/>
                <a:gd name="T16" fmla="*/ 135 w 201"/>
                <a:gd name="T17" fmla="*/ 17 h 117"/>
                <a:gd name="T18" fmla="*/ 131 w 201"/>
                <a:gd name="T19" fmla="*/ 2 h 117"/>
                <a:gd name="T20" fmla="*/ 115 w 201"/>
                <a:gd name="T21" fmla="*/ 1 h 117"/>
                <a:gd name="T22" fmla="*/ 106 w 201"/>
                <a:gd name="T23" fmla="*/ 3 h 117"/>
                <a:gd name="T24" fmla="*/ 92 w 201"/>
                <a:gd name="T25" fmla="*/ 12 h 117"/>
                <a:gd name="T26" fmla="*/ 80 w 201"/>
                <a:gd name="T27" fmla="*/ 15 h 117"/>
                <a:gd name="T28" fmla="*/ 65 w 201"/>
                <a:gd name="T29" fmla="*/ 12 h 117"/>
                <a:gd name="T30" fmla="*/ 47 w 201"/>
                <a:gd name="T31" fmla="*/ 9 h 117"/>
                <a:gd name="T32" fmla="*/ 21 w 201"/>
                <a:gd name="T33" fmla="*/ 11 h 117"/>
                <a:gd name="T34" fmla="*/ 16 w 201"/>
                <a:gd name="T35" fmla="*/ 16 h 117"/>
                <a:gd name="T36" fmla="*/ 15 w 201"/>
                <a:gd name="T37" fmla="*/ 31 h 117"/>
                <a:gd name="T38" fmla="*/ 5 w 201"/>
                <a:gd name="T39" fmla="*/ 50 h 117"/>
                <a:gd name="T40" fmla="*/ 5 w 201"/>
                <a:gd name="T41" fmla="*/ 63 h 117"/>
                <a:gd name="T42" fmla="*/ 11 w 201"/>
                <a:gd name="T43" fmla="*/ 64 h 117"/>
                <a:gd name="T44" fmla="*/ 29 w 201"/>
                <a:gd name="T45" fmla="*/ 68 h 117"/>
                <a:gd name="T46" fmla="*/ 40 w 201"/>
                <a:gd name="T47" fmla="*/ 66 h 117"/>
                <a:gd name="T48" fmla="*/ 60 w 201"/>
                <a:gd name="T49" fmla="*/ 58 h 117"/>
                <a:gd name="T50" fmla="*/ 77 w 201"/>
                <a:gd name="T51" fmla="*/ 69 h 117"/>
                <a:gd name="T52" fmla="*/ 86 w 201"/>
                <a:gd name="T53" fmla="*/ 88 h 117"/>
                <a:gd name="T54" fmla="*/ 74 w 201"/>
                <a:gd name="T55" fmla="*/ 92 h 117"/>
                <a:gd name="T56" fmla="*/ 72 w 201"/>
                <a:gd name="T57" fmla="*/ 105 h 117"/>
                <a:gd name="T58" fmla="*/ 82 w 201"/>
                <a:gd name="T59" fmla="*/ 105 h 117"/>
                <a:gd name="T60" fmla="*/ 97 w 201"/>
                <a:gd name="T61" fmla="*/ 85 h 117"/>
                <a:gd name="T62" fmla="*/ 111 w 201"/>
                <a:gd name="T63" fmla="*/ 90 h 117"/>
                <a:gd name="T64" fmla="*/ 114 w 201"/>
                <a:gd name="T65" fmla="*/ 101 h 117"/>
                <a:gd name="T66" fmla="*/ 126 w 201"/>
                <a:gd name="T67" fmla="*/ 115 h 117"/>
                <a:gd name="T68" fmla="*/ 146 w 201"/>
                <a:gd name="T69" fmla="*/ 108 h 117"/>
                <a:gd name="T70" fmla="*/ 150 w 201"/>
                <a:gd name="T71" fmla="*/ 103 h 117"/>
                <a:gd name="T72" fmla="*/ 155 w 201"/>
                <a:gd name="T73" fmla="*/ 85 h 117"/>
                <a:gd name="T74" fmla="*/ 178 w 201"/>
                <a:gd name="T75" fmla="*/ 78 h 117"/>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1"/>
                <a:gd name="T115" fmla="*/ 0 h 117"/>
                <a:gd name="T116" fmla="*/ 201 w 201"/>
                <a:gd name="T117" fmla="*/ 117 h 117"/>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1" h="117">
                  <a:moveTo>
                    <a:pt x="179" y="73"/>
                  </a:moveTo>
                  <a:cubicBezTo>
                    <a:pt x="180" y="73"/>
                    <a:pt x="186" y="67"/>
                    <a:pt x="187" y="67"/>
                  </a:cubicBezTo>
                  <a:cubicBezTo>
                    <a:pt x="189" y="67"/>
                    <a:pt x="197" y="68"/>
                    <a:pt x="197" y="67"/>
                  </a:cubicBezTo>
                  <a:cubicBezTo>
                    <a:pt x="197" y="66"/>
                    <a:pt x="199" y="62"/>
                    <a:pt x="199" y="60"/>
                  </a:cubicBezTo>
                  <a:cubicBezTo>
                    <a:pt x="198" y="59"/>
                    <a:pt x="196" y="57"/>
                    <a:pt x="196" y="56"/>
                  </a:cubicBezTo>
                  <a:cubicBezTo>
                    <a:pt x="197" y="55"/>
                    <a:pt x="200" y="55"/>
                    <a:pt x="200" y="53"/>
                  </a:cubicBezTo>
                  <a:cubicBezTo>
                    <a:pt x="200" y="52"/>
                    <a:pt x="197" y="51"/>
                    <a:pt x="197" y="50"/>
                  </a:cubicBezTo>
                  <a:cubicBezTo>
                    <a:pt x="197" y="49"/>
                    <a:pt x="201" y="47"/>
                    <a:pt x="201" y="45"/>
                  </a:cubicBezTo>
                  <a:cubicBezTo>
                    <a:pt x="200" y="43"/>
                    <a:pt x="197" y="43"/>
                    <a:pt x="194" y="41"/>
                  </a:cubicBezTo>
                  <a:cubicBezTo>
                    <a:pt x="191" y="40"/>
                    <a:pt x="188" y="40"/>
                    <a:pt x="185" y="39"/>
                  </a:cubicBezTo>
                  <a:cubicBezTo>
                    <a:pt x="182" y="37"/>
                    <a:pt x="175" y="38"/>
                    <a:pt x="175" y="37"/>
                  </a:cubicBezTo>
                  <a:cubicBezTo>
                    <a:pt x="175" y="36"/>
                    <a:pt x="171" y="33"/>
                    <a:pt x="170" y="31"/>
                  </a:cubicBezTo>
                  <a:cubicBezTo>
                    <a:pt x="169" y="30"/>
                    <a:pt x="166" y="31"/>
                    <a:pt x="164" y="32"/>
                  </a:cubicBezTo>
                  <a:cubicBezTo>
                    <a:pt x="162" y="33"/>
                    <a:pt x="160" y="34"/>
                    <a:pt x="158" y="32"/>
                  </a:cubicBezTo>
                  <a:cubicBezTo>
                    <a:pt x="156" y="31"/>
                    <a:pt x="155" y="29"/>
                    <a:pt x="153" y="30"/>
                  </a:cubicBezTo>
                  <a:cubicBezTo>
                    <a:pt x="151" y="31"/>
                    <a:pt x="148" y="30"/>
                    <a:pt x="149" y="28"/>
                  </a:cubicBezTo>
                  <a:cubicBezTo>
                    <a:pt x="149" y="25"/>
                    <a:pt x="145" y="20"/>
                    <a:pt x="144" y="19"/>
                  </a:cubicBezTo>
                  <a:cubicBezTo>
                    <a:pt x="142" y="18"/>
                    <a:pt x="137" y="19"/>
                    <a:pt x="135" y="17"/>
                  </a:cubicBezTo>
                  <a:cubicBezTo>
                    <a:pt x="134" y="14"/>
                    <a:pt x="132" y="12"/>
                    <a:pt x="133" y="11"/>
                  </a:cubicBezTo>
                  <a:cubicBezTo>
                    <a:pt x="134" y="9"/>
                    <a:pt x="133" y="4"/>
                    <a:pt x="131" y="2"/>
                  </a:cubicBezTo>
                  <a:cubicBezTo>
                    <a:pt x="130" y="0"/>
                    <a:pt x="124" y="0"/>
                    <a:pt x="122" y="1"/>
                  </a:cubicBezTo>
                  <a:cubicBezTo>
                    <a:pt x="120" y="2"/>
                    <a:pt x="116" y="0"/>
                    <a:pt x="115" y="1"/>
                  </a:cubicBezTo>
                  <a:cubicBezTo>
                    <a:pt x="113" y="2"/>
                    <a:pt x="112" y="4"/>
                    <a:pt x="109" y="4"/>
                  </a:cubicBezTo>
                  <a:cubicBezTo>
                    <a:pt x="108" y="4"/>
                    <a:pt x="107" y="4"/>
                    <a:pt x="106" y="3"/>
                  </a:cubicBezTo>
                  <a:cubicBezTo>
                    <a:pt x="104" y="4"/>
                    <a:pt x="99" y="4"/>
                    <a:pt x="99" y="4"/>
                  </a:cubicBezTo>
                  <a:cubicBezTo>
                    <a:pt x="99" y="4"/>
                    <a:pt x="92" y="10"/>
                    <a:pt x="92" y="12"/>
                  </a:cubicBezTo>
                  <a:cubicBezTo>
                    <a:pt x="92" y="14"/>
                    <a:pt x="92" y="17"/>
                    <a:pt x="90" y="15"/>
                  </a:cubicBezTo>
                  <a:cubicBezTo>
                    <a:pt x="89" y="14"/>
                    <a:pt x="82" y="14"/>
                    <a:pt x="80" y="15"/>
                  </a:cubicBezTo>
                  <a:cubicBezTo>
                    <a:pt x="78" y="16"/>
                    <a:pt x="76" y="11"/>
                    <a:pt x="73" y="12"/>
                  </a:cubicBezTo>
                  <a:cubicBezTo>
                    <a:pt x="70" y="14"/>
                    <a:pt x="66" y="10"/>
                    <a:pt x="65" y="12"/>
                  </a:cubicBezTo>
                  <a:cubicBezTo>
                    <a:pt x="65" y="13"/>
                    <a:pt x="61" y="12"/>
                    <a:pt x="58" y="11"/>
                  </a:cubicBezTo>
                  <a:cubicBezTo>
                    <a:pt x="55" y="9"/>
                    <a:pt x="49" y="11"/>
                    <a:pt x="47" y="9"/>
                  </a:cubicBezTo>
                  <a:cubicBezTo>
                    <a:pt x="45" y="7"/>
                    <a:pt x="32" y="7"/>
                    <a:pt x="28" y="7"/>
                  </a:cubicBezTo>
                  <a:cubicBezTo>
                    <a:pt x="24" y="7"/>
                    <a:pt x="23" y="9"/>
                    <a:pt x="21" y="11"/>
                  </a:cubicBezTo>
                  <a:cubicBezTo>
                    <a:pt x="19" y="13"/>
                    <a:pt x="17" y="12"/>
                    <a:pt x="15" y="12"/>
                  </a:cubicBezTo>
                  <a:cubicBezTo>
                    <a:pt x="15" y="14"/>
                    <a:pt x="15" y="15"/>
                    <a:pt x="16" y="16"/>
                  </a:cubicBezTo>
                  <a:cubicBezTo>
                    <a:pt x="17" y="18"/>
                    <a:pt x="21" y="25"/>
                    <a:pt x="20" y="27"/>
                  </a:cubicBezTo>
                  <a:cubicBezTo>
                    <a:pt x="19" y="29"/>
                    <a:pt x="17" y="29"/>
                    <a:pt x="15" y="31"/>
                  </a:cubicBezTo>
                  <a:cubicBezTo>
                    <a:pt x="14" y="33"/>
                    <a:pt x="5" y="41"/>
                    <a:pt x="5" y="42"/>
                  </a:cubicBezTo>
                  <a:cubicBezTo>
                    <a:pt x="4" y="43"/>
                    <a:pt x="6" y="49"/>
                    <a:pt x="5" y="50"/>
                  </a:cubicBezTo>
                  <a:cubicBezTo>
                    <a:pt x="4" y="51"/>
                    <a:pt x="0" y="56"/>
                    <a:pt x="0" y="58"/>
                  </a:cubicBezTo>
                  <a:cubicBezTo>
                    <a:pt x="0" y="60"/>
                    <a:pt x="3" y="63"/>
                    <a:pt x="5" y="63"/>
                  </a:cubicBezTo>
                  <a:cubicBezTo>
                    <a:pt x="6" y="64"/>
                    <a:pt x="6" y="64"/>
                    <a:pt x="7" y="65"/>
                  </a:cubicBezTo>
                  <a:cubicBezTo>
                    <a:pt x="8" y="64"/>
                    <a:pt x="10" y="64"/>
                    <a:pt x="11" y="64"/>
                  </a:cubicBezTo>
                  <a:cubicBezTo>
                    <a:pt x="13" y="64"/>
                    <a:pt x="20" y="66"/>
                    <a:pt x="22" y="66"/>
                  </a:cubicBezTo>
                  <a:cubicBezTo>
                    <a:pt x="25" y="66"/>
                    <a:pt x="28" y="67"/>
                    <a:pt x="29" y="68"/>
                  </a:cubicBezTo>
                  <a:cubicBezTo>
                    <a:pt x="30" y="69"/>
                    <a:pt x="32" y="69"/>
                    <a:pt x="34" y="67"/>
                  </a:cubicBezTo>
                  <a:cubicBezTo>
                    <a:pt x="36" y="65"/>
                    <a:pt x="38" y="66"/>
                    <a:pt x="40" y="66"/>
                  </a:cubicBezTo>
                  <a:cubicBezTo>
                    <a:pt x="42" y="66"/>
                    <a:pt x="45" y="65"/>
                    <a:pt x="46" y="63"/>
                  </a:cubicBezTo>
                  <a:cubicBezTo>
                    <a:pt x="47" y="61"/>
                    <a:pt x="57" y="59"/>
                    <a:pt x="60" y="58"/>
                  </a:cubicBezTo>
                  <a:cubicBezTo>
                    <a:pt x="62" y="58"/>
                    <a:pt x="66" y="63"/>
                    <a:pt x="69" y="63"/>
                  </a:cubicBezTo>
                  <a:cubicBezTo>
                    <a:pt x="71" y="63"/>
                    <a:pt x="75" y="65"/>
                    <a:pt x="77" y="69"/>
                  </a:cubicBezTo>
                  <a:cubicBezTo>
                    <a:pt x="78" y="74"/>
                    <a:pt x="82" y="79"/>
                    <a:pt x="84" y="81"/>
                  </a:cubicBezTo>
                  <a:cubicBezTo>
                    <a:pt x="85" y="82"/>
                    <a:pt x="86" y="87"/>
                    <a:pt x="86" y="88"/>
                  </a:cubicBezTo>
                  <a:cubicBezTo>
                    <a:pt x="86" y="89"/>
                    <a:pt x="83" y="88"/>
                    <a:pt x="79" y="87"/>
                  </a:cubicBezTo>
                  <a:cubicBezTo>
                    <a:pt x="75" y="86"/>
                    <a:pt x="74" y="90"/>
                    <a:pt x="74" y="92"/>
                  </a:cubicBezTo>
                  <a:cubicBezTo>
                    <a:pt x="74" y="94"/>
                    <a:pt x="69" y="101"/>
                    <a:pt x="68" y="102"/>
                  </a:cubicBezTo>
                  <a:cubicBezTo>
                    <a:pt x="67" y="103"/>
                    <a:pt x="70" y="104"/>
                    <a:pt x="72" y="105"/>
                  </a:cubicBezTo>
                  <a:cubicBezTo>
                    <a:pt x="73" y="105"/>
                    <a:pt x="77" y="102"/>
                    <a:pt x="78" y="102"/>
                  </a:cubicBezTo>
                  <a:cubicBezTo>
                    <a:pt x="79" y="102"/>
                    <a:pt x="81" y="103"/>
                    <a:pt x="82" y="105"/>
                  </a:cubicBezTo>
                  <a:cubicBezTo>
                    <a:pt x="82" y="99"/>
                    <a:pt x="83" y="100"/>
                    <a:pt x="88" y="96"/>
                  </a:cubicBezTo>
                  <a:cubicBezTo>
                    <a:pt x="93" y="93"/>
                    <a:pt x="93" y="86"/>
                    <a:pt x="97" y="85"/>
                  </a:cubicBezTo>
                  <a:cubicBezTo>
                    <a:pt x="102" y="84"/>
                    <a:pt x="104" y="82"/>
                    <a:pt x="110" y="83"/>
                  </a:cubicBezTo>
                  <a:cubicBezTo>
                    <a:pt x="116" y="84"/>
                    <a:pt x="107" y="88"/>
                    <a:pt x="111" y="90"/>
                  </a:cubicBezTo>
                  <a:cubicBezTo>
                    <a:pt x="115" y="93"/>
                    <a:pt x="129" y="90"/>
                    <a:pt x="129" y="93"/>
                  </a:cubicBezTo>
                  <a:cubicBezTo>
                    <a:pt x="130" y="96"/>
                    <a:pt x="114" y="100"/>
                    <a:pt x="114" y="101"/>
                  </a:cubicBezTo>
                  <a:cubicBezTo>
                    <a:pt x="115" y="103"/>
                    <a:pt x="123" y="105"/>
                    <a:pt x="126" y="107"/>
                  </a:cubicBezTo>
                  <a:cubicBezTo>
                    <a:pt x="129" y="108"/>
                    <a:pt x="125" y="114"/>
                    <a:pt x="126" y="115"/>
                  </a:cubicBezTo>
                  <a:cubicBezTo>
                    <a:pt x="128" y="117"/>
                    <a:pt x="132" y="116"/>
                    <a:pt x="135" y="113"/>
                  </a:cubicBezTo>
                  <a:cubicBezTo>
                    <a:pt x="139" y="111"/>
                    <a:pt x="142" y="111"/>
                    <a:pt x="146" y="108"/>
                  </a:cubicBezTo>
                  <a:cubicBezTo>
                    <a:pt x="151" y="105"/>
                    <a:pt x="160" y="108"/>
                    <a:pt x="161" y="106"/>
                  </a:cubicBezTo>
                  <a:cubicBezTo>
                    <a:pt x="162" y="104"/>
                    <a:pt x="159" y="103"/>
                    <a:pt x="150" y="103"/>
                  </a:cubicBezTo>
                  <a:cubicBezTo>
                    <a:pt x="141" y="104"/>
                    <a:pt x="141" y="96"/>
                    <a:pt x="141" y="94"/>
                  </a:cubicBezTo>
                  <a:cubicBezTo>
                    <a:pt x="141" y="92"/>
                    <a:pt x="150" y="86"/>
                    <a:pt x="155" y="85"/>
                  </a:cubicBezTo>
                  <a:cubicBezTo>
                    <a:pt x="160" y="85"/>
                    <a:pt x="164" y="83"/>
                    <a:pt x="169" y="81"/>
                  </a:cubicBezTo>
                  <a:cubicBezTo>
                    <a:pt x="171" y="80"/>
                    <a:pt x="175" y="79"/>
                    <a:pt x="178" y="78"/>
                  </a:cubicBezTo>
                  <a:cubicBezTo>
                    <a:pt x="178" y="76"/>
                    <a:pt x="177" y="73"/>
                    <a:pt x="179" y="7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7" name="Freeform 83"/>
            <p:cNvSpPr>
              <a:spLocks noChangeArrowheads="1"/>
            </p:cNvSpPr>
            <p:nvPr/>
          </p:nvSpPr>
          <p:spPr bwMode="auto">
            <a:xfrm>
              <a:off x="4140214" y="1098551"/>
              <a:ext cx="203201" cy="146050"/>
            </a:xfrm>
            <a:custGeom>
              <a:avLst/>
              <a:gdLst>
                <a:gd name="T0" fmla="*/ 99 w 106"/>
                <a:gd name="T1" fmla="*/ 38 h 77"/>
                <a:gd name="T2" fmla="*/ 93 w 106"/>
                <a:gd name="T3" fmla="*/ 32 h 77"/>
                <a:gd name="T4" fmla="*/ 88 w 106"/>
                <a:gd name="T5" fmla="*/ 25 h 77"/>
                <a:gd name="T6" fmla="*/ 86 w 106"/>
                <a:gd name="T7" fmla="*/ 17 h 77"/>
                <a:gd name="T8" fmla="*/ 85 w 106"/>
                <a:gd name="T9" fmla="*/ 9 h 77"/>
                <a:gd name="T10" fmla="*/ 75 w 106"/>
                <a:gd name="T11" fmla="*/ 6 h 77"/>
                <a:gd name="T12" fmla="*/ 69 w 106"/>
                <a:gd name="T13" fmla="*/ 6 h 77"/>
                <a:gd name="T14" fmla="*/ 63 w 106"/>
                <a:gd name="T15" fmla="*/ 3 h 77"/>
                <a:gd name="T16" fmla="*/ 57 w 106"/>
                <a:gd name="T17" fmla="*/ 1 h 77"/>
                <a:gd name="T18" fmla="*/ 57 w 106"/>
                <a:gd name="T19" fmla="*/ 0 h 77"/>
                <a:gd name="T20" fmla="*/ 53 w 106"/>
                <a:gd name="T21" fmla="*/ 2 h 77"/>
                <a:gd name="T22" fmla="*/ 49 w 106"/>
                <a:gd name="T23" fmla="*/ 6 h 77"/>
                <a:gd name="T24" fmla="*/ 41 w 106"/>
                <a:gd name="T25" fmla="*/ 7 h 77"/>
                <a:gd name="T26" fmla="*/ 38 w 106"/>
                <a:gd name="T27" fmla="*/ 13 h 77"/>
                <a:gd name="T28" fmla="*/ 37 w 106"/>
                <a:gd name="T29" fmla="*/ 17 h 77"/>
                <a:gd name="T30" fmla="*/ 33 w 106"/>
                <a:gd name="T31" fmla="*/ 20 h 77"/>
                <a:gd name="T32" fmla="*/ 27 w 106"/>
                <a:gd name="T33" fmla="*/ 26 h 77"/>
                <a:gd name="T34" fmla="*/ 26 w 106"/>
                <a:gd name="T35" fmla="*/ 31 h 77"/>
                <a:gd name="T36" fmla="*/ 18 w 106"/>
                <a:gd name="T37" fmla="*/ 33 h 77"/>
                <a:gd name="T38" fmla="*/ 13 w 106"/>
                <a:gd name="T39" fmla="*/ 36 h 77"/>
                <a:gd name="T40" fmla="*/ 4 w 106"/>
                <a:gd name="T41" fmla="*/ 35 h 77"/>
                <a:gd name="T42" fmla="*/ 4 w 106"/>
                <a:gd name="T43" fmla="*/ 36 h 77"/>
                <a:gd name="T44" fmla="*/ 6 w 106"/>
                <a:gd name="T45" fmla="*/ 45 h 77"/>
                <a:gd name="T46" fmla="*/ 7 w 106"/>
                <a:gd name="T47" fmla="*/ 55 h 77"/>
                <a:gd name="T48" fmla="*/ 0 w 106"/>
                <a:gd name="T49" fmla="*/ 60 h 77"/>
                <a:gd name="T50" fmla="*/ 4 w 106"/>
                <a:gd name="T51" fmla="*/ 66 h 77"/>
                <a:gd name="T52" fmla="*/ 4 w 106"/>
                <a:gd name="T53" fmla="*/ 72 h 77"/>
                <a:gd name="T54" fmla="*/ 10 w 106"/>
                <a:gd name="T55" fmla="*/ 71 h 77"/>
                <a:gd name="T56" fmla="*/ 17 w 106"/>
                <a:gd name="T57" fmla="*/ 67 h 77"/>
                <a:gd name="T58" fmla="*/ 36 w 106"/>
                <a:gd name="T59" fmla="*/ 69 h 77"/>
                <a:gd name="T60" fmla="*/ 47 w 106"/>
                <a:gd name="T61" fmla="*/ 71 h 77"/>
                <a:gd name="T62" fmla="*/ 54 w 106"/>
                <a:gd name="T63" fmla="*/ 72 h 77"/>
                <a:gd name="T64" fmla="*/ 62 w 106"/>
                <a:gd name="T65" fmla="*/ 72 h 77"/>
                <a:gd name="T66" fmla="*/ 69 w 106"/>
                <a:gd name="T67" fmla="*/ 75 h 77"/>
                <a:gd name="T68" fmla="*/ 79 w 106"/>
                <a:gd name="T69" fmla="*/ 75 h 77"/>
                <a:gd name="T70" fmla="*/ 81 w 106"/>
                <a:gd name="T71" fmla="*/ 72 h 77"/>
                <a:gd name="T72" fmla="*/ 88 w 106"/>
                <a:gd name="T73" fmla="*/ 64 h 77"/>
                <a:gd name="T74" fmla="*/ 95 w 106"/>
                <a:gd name="T75" fmla="*/ 63 h 77"/>
                <a:gd name="T76" fmla="*/ 94 w 106"/>
                <a:gd name="T77" fmla="*/ 58 h 77"/>
                <a:gd name="T78" fmla="*/ 92 w 106"/>
                <a:gd name="T79" fmla="*/ 48 h 77"/>
                <a:gd name="T80" fmla="*/ 100 w 106"/>
                <a:gd name="T81" fmla="*/ 49 h 77"/>
                <a:gd name="T82" fmla="*/ 106 w 106"/>
                <a:gd name="T83" fmla="*/ 44 h 77"/>
                <a:gd name="T84" fmla="*/ 99 w 106"/>
                <a:gd name="T85" fmla="*/ 38 h 7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06"/>
                <a:gd name="T130" fmla="*/ 0 h 77"/>
                <a:gd name="T131" fmla="*/ 106 w 106"/>
                <a:gd name="T132" fmla="*/ 77 h 7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06" h="77">
                  <a:moveTo>
                    <a:pt x="99" y="38"/>
                  </a:moveTo>
                  <a:cubicBezTo>
                    <a:pt x="97" y="37"/>
                    <a:pt x="96" y="33"/>
                    <a:pt x="93" y="32"/>
                  </a:cubicBezTo>
                  <a:cubicBezTo>
                    <a:pt x="90" y="30"/>
                    <a:pt x="90" y="26"/>
                    <a:pt x="88" y="25"/>
                  </a:cubicBezTo>
                  <a:cubicBezTo>
                    <a:pt x="85" y="23"/>
                    <a:pt x="87" y="19"/>
                    <a:pt x="86" y="17"/>
                  </a:cubicBezTo>
                  <a:cubicBezTo>
                    <a:pt x="86" y="14"/>
                    <a:pt x="87" y="10"/>
                    <a:pt x="85" y="9"/>
                  </a:cubicBezTo>
                  <a:cubicBezTo>
                    <a:pt x="84" y="8"/>
                    <a:pt x="78" y="5"/>
                    <a:pt x="75" y="6"/>
                  </a:cubicBezTo>
                  <a:cubicBezTo>
                    <a:pt x="72" y="7"/>
                    <a:pt x="70" y="8"/>
                    <a:pt x="69" y="6"/>
                  </a:cubicBezTo>
                  <a:cubicBezTo>
                    <a:pt x="68" y="4"/>
                    <a:pt x="66" y="2"/>
                    <a:pt x="63" y="3"/>
                  </a:cubicBezTo>
                  <a:cubicBezTo>
                    <a:pt x="60" y="4"/>
                    <a:pt x="59" y="3"/>
                    <a:pt x="57" y="1"/>
                  </a:cubicBezTo>
                  <a:cubicBezTo>
                    <a:pt x="57" y="1"/>
                    <a:pt x="57" y="1"/>
                    <a:pt x="57" y="0"/>
                  </a:cubicBezTo>
                  <a:cubicBezTo>
                    <a:pt x="55" y="1"/>
                    <a:pt x="54" y="1"/>
                    <a:pt x="53" y="2"/>
                  </a:cubicBezTo>
                  <a:cubicBezTo>
                    <a:pt x="51" y="3"/>
                    <a:pt x="51" y="6"/>
                    <a:pt x="49" y="6"/>
                  </a:cubicBezTo>
                  <a:cubicBezTo>
                    <a:pt x="46" y="6"/>
                    <a:pt x="44" y="5"/>
                    <a:pt x="41" y="7"/>
                  </a:cubicBezTo>
                  <a:cubicBezTo>
                    <a:pt x="38" y="9"/>
                    <a:pt x="38" y="11"/>
                    <a:pt x="38" y="13"/>
                  </a:cubicBezTo>
                  <a:cubicBezTo>
                    <a:pt x="38" y="15"/>
                    <a:pt x="39" y="17"/>
                    <a:pt x="37" y="17"/>
                  </a:cubicBezTo>
                  <a:cubicBezTo>
                    <a:pt x="35" y="17"/>
                    <a:pt x="35" y="20"/>
                    <a:pt x="33" y="20"/>
                  </a:cubicBezTo>
                  <a:cubicBezTo>
                    <a:pt x="31" y="21"/>
                    <a:pt x="28" y="24"/>
                    <a:pt x="27" y="26"/>
                  </a:cubicBezTo>
                  <a:cubicBezTo>
                    <a:pt x="27" y="27"/>
                    <a:pt x="27" y="31"/>
                    <a:pt x="26" y="31"/>
                  </a:cubicBezTo>
                  <a:cubicBezTo>
                    <a:pt x="24" y="31"/>
                    <a:pt x="20" y="32"/>
                    <a:pt x="18" y="33"/>
                  </a:cubicBezTo>
                  <a:cubicBezTo>
                    <a:pt x="17" y="35"/>
                    <a:pt x="15" y="37"/>
                    <a:pt x="13" y="36"/>
                  </a:cubicBezTo>
                  <a:cubicBezTo>
                    <a:pt x="11" y="36"/>
                    <a:pt x="8" y="35"/>
                    <a:pt x="4" y="35"/>
                  </a:cubicBezTo>
                  <a:cubicBezTo>
                    <a:pt x="4" y="36"/>
                    <a:pt x="4" y="36"/>
                    <a:pt x="4" y="36"/>
                  </a:cubicBezTo>
                  <a:cubicBezTo>
                    <a:pt x="3" y="40"/>
                    <a:pt x="4" y="43"/>
                    <a:pt x="6" y="45"/>
                  </a:cubicBezTo>
                  <a:cubicBezTo>
                    <a:pt x="8" y="47"/>
                    <a:pt x="9" y="54"/>
                    <a:pt x="7" y="55"/>
                  </a:cubicBezTo>
                  <a:cubicBezTo>
                    <a:pt x="4" y="56"/>
                    <a:pt x="0" y="59"/>
                    <a:pt x="0" y="60"/>
                  </a:cubicBezTo>
                  <a:cubicBezTo>
                    <a:pt x="0" y="62"/>
                    <a:pt x="5" y="64"/>
                    <a:pt x="4" y="66"/>
                  </a:cubicBezTo>
                  <a:cubicBezTo>
                    <a:pt x="3" y="67"/>
                    <a:pt x="3" y="70"/>
                    <a:pt x="4" y="72"/>
                  </a:cubicBezTo>
                  <a:cubicBezTo>
                    <a:pt x="6" y="72"/>
                    <a:pt x="8" y="73"/>
                    <a:pt x="10" y="71"/>
                  </a:cubicBezTo>
                  <a:cubicBezTo>
                    <a:pt x="12" y="69"/>
                    <a:pt x="13" y="67"/>
                    <a:pt x="17" y="67"/>
                  </a:cubicBezTo>
                  <a:cubicBezTo>
                    <a:pt x="21" y="67"/>
                    <a:pt x="34" y="67"/>
                    <a:pt x="36" y="69"/>
                  </a:cubicBezTo>
                  <a:cubicBezTo>
                    <a:pt x="38" y="71"/>
                    <a:pt x="44" y="69"/>
                    <a:pt x="47" y="71"/>
                  </a:cubicBezTo>
                  <a:cubicBezTo>
                    <a:pt x="50" y="72"/>
                    <a:pt x="54" y="73"/>
                    <a:pt x="54" y="72"/>
                  </a:cubicBezTo>
                  <a:cubicBezTo>
                    <a:pt x="55" y="70"/>
                    <a:pt x="59" y="74"/>
                    <a:pt x="62" y="72"/>
                  </a:cubicBezTo>
                  <a:cubicBezTo>
                    <a:pt x="65" y="71"/>
                    <a:pt x="67" y="76"/>
                    <a:pt x="69" y="75"/>
                  </a:cubicBezTo>
                  <a:cubicBezTo>
                    <a:pt x="71" y="74"/>
                    <a:pt x="78" y="74"/>
                    <a:pt x="79" y="75"/>
                  </a:cubicBezTo>
                  <a:cubicBezTo>
                    <a:pt x="81" y="77"/>
                    <a:pt x="81" y="74"/>
                    <a:pt x="81" y="72"/>
                  </a:cubicBezTo>
                  <a:cubicBezTo>
                    <a:pt x="81" y="70"/>
                    <a:pt x="88" y="64"/>
                    <a:pt x="88" y="64"/>
                  </a:cubicBezTo>
                  <a:cubicBezTo>
                    <a:pt x="88" y="64"/>
                    <a:pt x="93" y="64"/>
                    <a:pt x="95" y="63"/>
                  </a:cubicBezTo>
                  <a:cubicBezTo>
                    <a:pt x="95" y="62"/>
                    <a:pt x="94" y="60"/>
                    <a:pt x="94" y="58"/>
                  </a:cubicBezTo>
                  <a:cubicBezTo>
                    <a:pt x="92" y="53"/>
                    <a:pt x="90" y="49"/>
                    <a:pt x="92" y="48"/>
                  </a:cubicBezTo>
                  <a:cubicBezTo>
                    <a:pt x="93" y="46"/>
                    <a:pt x="98" y="50"/>
                    <a:pt x="100" y="49"/>
                  </a:cubicBezTo>
                  <a:cubicBezTo>
                    <a:pt x="102" y="48"/>
                    <a:pt x="106" y="46"/>
                    <a:pt x="106" y="44"/>
                  </a:cubicBezTo>
                  <a:cubicBezTo>
                    <a:pt x="105" y="41"/>
                    <a:pt x="101" y="38"/>
                    <a:pt x="99" y="3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8" name="Freeform 84"/>
            <p:cNvSpPr>
              <a:spLocks noChangeArrowheads="1"/>
            </p:cNvSpPr>
            <p:nvPr/>
          </p:nvSpPr>
          <p:spPr bwMode="auto">
            <a:xfrm>
              <a:off x="4089414" y="1041401"/>
              <a:ext cx="160339" cy="74613"/>
            </a:xfrm>
            <a:custGeom>
              <a:avLst/>
              <a:gdLst>
                <a:gd name="T0" fmla="*/ 29 w 84"/>
                <a:gd name="T1" fmla="*/ 27 h 39"/>
                <a:gd name="T2" fmla="*/ 43 w 84"/>
                <a:gd name="T3" fmla="*/ 27 h 39"/>
                <a:gd name="T4" fmla="*/ 49 w 84"/>
                <a:gd name="T5" fmla="*/ 30 h 39"/>
                <a:gd name="T6" fmla="*/ 60 w 84"/>
                <a:gd name="T7" fmla="*/ 36 h 39"/>
                <a:gd name="T8" fmla="*/ 66 w 84"/>
                <a:gd name="T9" fmla="*/ 39 h 39"/>
                <a:gd name="T10" fmla="*/ 68 w 84"/>
                <a:gd name="T11" fmla="*/ 37 h 39"/>
                <a:gd name="T12" fmla="*/ 76 w 84"/>
                <a:gd name="T13" fmla="*/ 36 h 39"/>
                <a:gd name="T14" fmla="*/ 80 w 84"/>
                <a:gd name="T15" fmla="*/ 32 h 39"/>
                <a:gd name="T16" fmla="*/ 84 w 84"/>
                <a:gd name="T17" fmla="*/ 30 h 39"/>
                <a:gd name="T18" fmla="*/ 81 w 84"/>
                <a:gd name="T19" fmla="*/ 24 h 39"/>
                <a:gd name="T20" fmla="*/ 78 w 84"/>
                <a:gd name="T21" fmla="*/ 17 h 39"/>
                <a:gd name="T22" fmla="*/ 76 w 84"/>
                <a:gd name="T23" fmla="*/ 11 h 39"/>
                <a:gd name="T24" fmla="*/ 74 w 84"/>
                <a:gd name="T25" fmla="*/ 8 h 39"/>
                <a:gd name="T26" fmla="*/ 64 w 84"/>
                <a:gd name="T27" fmla="*/ 7 h 39"/>
                <a:gd name="T28" fmla="*/ 52 w 84"/>
                <a:gd name="T29" fmla="*/ 1 h 39"/>
                <a:gd name="T30" fmla="*/ 40 w 84"/>
                <a:gd name="T31" fmla="*/ 1 h 39"/>
                <a:gd name="T32" fmla="*/ 39 w 84"/>
                <a:gd name="T33" fmla="*/ 12 h 39"/>
                <a:gd name="T34" fmla="*/ 30 w 84"/>
                <a:gd name="T35" fmla="*/ 16 h 39"/>
                <a:gd name="T36" fmla="*/ 20 w 84"/>
                <a:gd name="T37" fmla="*/ 5 h 39"/>
                <a:gd name="T38" fmla="*/ 9 w 84"/>
                <a:gd name="T39" fmla="*/ 10 h 39"/>
                <a:gd name="T40" fmla="*/ 5 w 84"/>
                <a:gd name="T41" fmla="*/ 19 h 39"/>
                <a:gd name="T42" fmla="*/ 3 w 84"/>
                <a:gd name="T43" fmla="*/ 29 h 39"/>
                <a:gd name="T44" fmla="*/ 3 w 84"/>
                <a:gd name="T45" fmla="*/ 30 h 39"/>
                <a:gd name="T46" fmla="*/ 12 w 84"/>
                <a:gd name="T47" fmla="*/ 27 h 39"/>
                <a:gd name="T48" fmla="*/ 29 w 84"/>
                <a:gd name="T49" fmla="*/ 27 h 3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84"/>
                <a:gd name="T76" fmla="*/ 0 h 39"/>
                <a:gd name="T77" fmla="*/ 84 w 84"/>
                <a:gd name="T78" fmla="*/ 39 h 3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84" h="39">
                  <a:moveTo>
                    <a:pt x="29" y="27"/>
                  </a:moveTo>
                  <a:cubicBezTo>
                    <a:pt x="32" y="27"/>
                    <a:pt x="39" y="29"/>
                    <a:pt x="43" y="27"/>
                  </a:cubicBezTo>
                  <a:cubicBezTo>
                    <a:pt x="47" y="26"/>
                    <a:pt x="47" y="31"/>
                    <a:pt x="49" y="30"/>
                  </a:cubicBezTo>
                  <a:cubicBezTo>
                    <a:pt x="52" y="29"/>
                    <a:pt x="57" y="33"/>
                    <a:pt x="60" y="36"/>
                  </a:cubicBezTo>
                  <a:cubicBezTo>
                    <a:pt x="62" y="37"/>
                    <a:pt x="64" y="38"/>
                    <a:pt x="66" y="39"/>
                  </a:cubicBezTo>
                  <a:cubicBezTo>
                    <a:pt x="66" y="38"/>
                    <a:pt x="67" y="38"/>
                    <a:pt x="68" y="37"/>
                  </a:cubicBezTo>
                  <a:cubicBezTo>
                    <a:pt x="71" y="35"/>
                    <a:pt x="73" y="36"/>
                    <a:pt x="76" y="36"/>
                  </a:cubicBezTo>
                  <a:cubicBezTo>
                    <a:pt x="78" y="36"/>
                    <a:pt x="78" y="33"/>
                    <a:pt x="80" y="32"/>
                  </a:cubicBezTo>
                  <a:cubicBezTo>
                    <a:pt x="81" y="31"/>
                    <a:pt x="82" y="31"/>
                    <a:pt x="84" y="30"/>
                  </a:cubicBezTo>
                  <a:cubicBezTo>
                    <a:pt x="83" y="29"/>
                    <a:pt x="83" y="25"/>
                    <a:pt x="81" y="24"/>
                  </a:cubicBezTo>
                  <a:cubicBezTo>
                    <a:pt x="79" y="22"/>
                    <a:pt x="77" y="19"/>
                    <a:pt x="78" y="17"/>
                  </a:cubicBezTo>
                  <a:cubicBezTo>
                    <a:pt x="78" y="15"/>
                    <a:pt x="78" y="13"/>
                    <a:pt x="76" y="11"/>
                  </a:cubicBezTo>
                  <a:cubicBezTo>
                    <a:pt x="75" y="10"/>
                    <a:pt x="75" y="9"/>
                    <a:pt x="74" y="8"/>
                  </a:cubicBezTo>
                  <a:cubicBezTo>
                    <a:pt x="70" y="7"/>
                    <a:pt x="65" y="7"/>
                    <a:pt x="64" y="7"/>
                  </a:cubicBezTo>
                  <a:cubicBezTo>
                    <a:pt x="62" y="8"/>
                    <a:pt x="54" y="2"/>
                    <a:pt x="52" y="1"/>
                  </a:cubicBezTo>
                  <a:cubicBezTo>
                    <a:pt x="51" y="0"/>
                    <a:pt x="46" y="0"/>
                    <a:pt x="40" y="1"/>
                  </a:cubicBezTo>
                  <a:cubicBezTo>
                    <a:pt x="37" y="4"/>
                    <a:pt x="39" y="7"/>
                    <a:pt x="39" y="12"/>
                  </a:cubicBezTo>
                  <a:cubicBezTo>
                    <a:pt x="39" y="17"/>
                    <a:pt x="33" y="16"/>
                    <a:pt x="30" y="16"/>
                  </a:cubicBezTo>
                  <a:cubicBezTo>
                    <a:pt x="27" y="16"/>
                    <a:pt x="22" y="7"/>
                    <a:pt x="20" y="5"/>
                  </a:cubicBezTo>
                  <a:cubicBezTo>
                    <a:pt x="18" y="2"/>
                    <a:pt x="13" y="7"/>
                    <a:pt x="9" y="10"/>
                  </a:cubicBezTo>
                  <a:cubicBezTo>
                    <a:pt x="5" y="12"/>
                    <a:pt x="7" y="16"/>
                    <a:pt x="5" y="19"/>
                  </a:cubicBezTo>
                  <a:cubicBezTo>
                    <a:pt x="2" y="21"/>
                    <a:pt x="0" y="24"/>
                    <a:pt x="3" y="29"/>
                  </a:cubicBezTo>
                  <a:cubicBezTo>
                    <a:pt x="3" y="29"/>
                    <a:pt x="3" y="30"/>
                    <a:pt x="3" y="30"/>
                  </a:cubicBezTo>
                  <a:cubicBezTo>
                    <a:pt x="7" y="30"/>
                    <a:pt x="10" y="29"/>
                    <a:pt x="12" y="27"/>
                  </a:cubicBezTo>
                  <a:cubicBezTo>
                    <a:pt x="16" y="25"/>
                    <a:pt x="25" y="27"/>
                    <a:pt x="29"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9" name="Freeform 85"/>
            <p:cNvSpPr>
              <a:spLocks noChangeArrowheads="1"/>
            </p:cNvSpPr>
            <p:nvPr/>
          </p:nvSpPr>
          <p:spPr bwMode="auto">
            <a:xfrm>
              <a:off x="4089414" y="1089026"/>
              <a:ext cx="125413" cy="79375"/>
            </a:xfrm>
            <a:custGeom>
              <a:avLst/>
              <a:gdLst>
                <a:gd name="T0" fmla="*/ 10 w 66"/>
                <a:gd name="T1" fmla="*/ 21 h 42"/>
                <a:gd name="T2" fmla="*/ 16 w 66"/>
                <a:gd name="T3" fmla="*/ 23 h 42"/>
                <a:gd name="T4" fmla="*/ 23 w 66"/>
                <a:gd name="T5" fmla="*/ 27 h 42"/>
                <a:gd name="T6" fmla="*/ 23 w 66"/>
                <a:gd name="T7" fmla="*/ 35 h 42"/>
                <a:gd name="T8" fmla="*/ 31 w 66"/>
                <a:gd name="T9" fmla="*/ 40 h 42"/>
                <a:gd name="T10" fmla="*/ 40 w 66"/>
                <a:gd name="T11" fmla="*/ 41 h 42"/>
                <a:gd name="T12" fmla="*/ 45 w 66"/>
                <a:gd name="T13" fmla="*/ 38 h 42"/>
                <a:gd name="T14" fmla="*/ 53 w 66"/>
                <a:gd name="T15" fmla="*/ 36 h 42"/>
                <a:gd name="T16" fmla="*/ 54 w 66"/>
                <a:gd name="T17" fmla="*/ 31 h 42"/>
                <a:gd name="T18" fmla="*/ 60 w 66"/>
                <a:gd name="T19" fmla="*/ 25 h 42"/>
                <a:gd name="T20" fmla="*/ 64 w 66"/>
                <a:gd name="T21" fmla="*/ 22 h 42"/>
                <a:gd name="T22" fmla="*/ 65 w 66"/>
                <a:gd name="T23" fmla="*/ 18 h 42"/>
                <a:gd name="T24" fmla="*/ 66 w 66"/>
                <a:gd name="T25" fmla="*/ 14 h 42"/>
                <a:gd name="T26" fmla="*/ 60 w 66"/>
                <a:gd name="T27" fmla="*/ 11 h 42"/>
                <a:gd name="T28" fmla="*/ 49 w 66"/>
                <a:gd name="T29" fmla="*/ 5 h 42"/>
                <a:gd name="T30" fmla="*/ 43 w 66"/>
                <a:gd name="T31" fmla="*/ 2 h 42"/>
                <a:gd name="T32" fmla="*/ 29 w 66"/>
                <a:gd name="T33" fmla="*/ 2 h 42"/>
                <a:gd name="T34" fmla="*/ 12 w 66"/>
                <a:gd name="T35" fmla="*/ 2 h 42"/>
                <a:gd name="T36" fmla="*/ 3 w 66"/>
                <a:gd name="T37" fmla="*/ 5 h 42"/>
                <a:gd name="T38" fmla="*/ 2 w 66"/>
                <a:gd name="T39" fmla="*/ 17 h 42"/>
                <a:gd name="T40" fmla="*/ 3 w 66"/>
                <a:gd name="T41" fmla="*/ 20 h 42"/>
                <a:gd name="T42" fmla="*/ 10 w 66"/>
                <a:gd name="T43" fmla="*/ 21 h 4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6"/>
                <a:gd name="T67" fmla="*/ 0 h 42"/>
                <a:gd name="T68" fmla="*/ 66 w 66"/>
                <a:gd name="T69" fmla="*/ 42 h 4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6" h="42">
                  <a:moveTo>
                    <a:pt x="10" y="21"/>
                  </a:moveTo>
                  <a:cubicBezTo>
                    <a:pt x="11" y="23"/>
                    <a:pt x="15" y="24"/>
                    <a:pt x="16" y="23"/>
                  </a:cubicBezTo>
                  <a:cubicBezTo>
                    <a:pt x="18" y="23"/>
                    <a:pt x="23" y="25"/>
                    <a:pt x="23" y="27"/>
                  </a:cubicBezTo>
                  <a:cubicBezTo>
                    <a:pt x="23" y="29"/>
                    <a:pt x="21" y="35"/>
                    <a:pt x="23" y="35"/>
                  </a:cubicBezTo>
                  <a:cubicBezTo>
                    <a:pt x="24" y="35"/>
                    <a:pt x="31" y="37"/>
                    <a:pt x="31" y="40"/>
                  </a:cubicBezTo>
                  <a:cubicBezTo>
                    <a:pt x="35" y="40"/>
                    <a:pt x="38" y="41"/>
                    <a:pt x="40" y="41"/>
                  </a:cubicBezTo>
                  <a:cubicBezTo>
                    <a:pt x="42" y="42"/>
                    <a:pt x="44" y="40"/>
                    <a:pt x="45" y="38"/>
                  </a:cubicBezTo>
                  <a:cubicBezTo>
                    <a:pt x="47" y="37"/>
                    <a:pt x="51" y="36"/>
                    <a:pt x="53" y="36"/>
                  </a:cubicBezTo>
                  <a:cubicBezTo>
                    <a:pt x="54" y="36"/>
                    <a:pt x="54" y="32"/>
                    <a:pt x="54" y="31"/>
                  </a:cubicBezTo>
                  <a:cubicBezTo>
                    <a:pt x="55" y="29"/>
                    <a:pt x="58" y="26"/>
                    <a:pt x="60" y="25"/>
                  </a:cubicBezTo>
                  <a:cubicBezTo>
                    <a:pt x="62" y="25"/>
                    <a:pt x="62" y="22"/>
                    <a:pt x="64" y="22"/>
                  </a:cubicBezTo>
                  <a:cubicBezTo>
                    <a:pt x="66" y="22"/>
                    <a:pt x="65" y="20"/>
                    <a:pt x="65" y="18"/>
                  </a:cubicBezTo>
                  <a:cubicBezTo>
                    <a:pt x="65" y="17"/>
                    <a:pt x="65" y="16"/>
                    <a:pt x="66" y="14"/>
                  </a:cubicBezTo>
                  <a:cubicBezTo>
                    <a:pt x="64" y="13"/>
                    <a:pt x="62" y="12"/>
                    <a:pt x="60" y="11"/>
                  </a:cubicBezTo>
                  <a:cubicBezTo>
                    <a:pt x="57" y="8"/>
                    <a:pt x="52" y="4"/>
                    <a:pt x="49" y="5"/>
                  </a:cubicBezTo>
                  <a:cubicBezTo>
                    <a:pt x="47" y="6"/>
                    <a:pt x="47" y="1"/>
                    <a:pt x="43" y="2"/>
                  </a:cubicBezTo>
                  <a:cubicBezTo>
                    <a:pt x="39" y="4"/>
                    <a:pt x="32" y="2"/>
                    <a:pt x="29" y="2"/>
                  </a:cubicBezTo>
                  <a:cubicBezTo>
                    <a:pt x="25" y="2"/>
                    <a:pt x="16" y="0"/>
                    <a:pt x="12" y="2"/>
                  </a:cubicBezTo>
                  <a:cubicBezTo>
                    <a:pt x="10" y="4"/>
                    <a:pt x="7" y="5"/>
                    <a:pt x="3" y="5"/>
                  </a:cubicBezTo>
                  <a:cubicBezTo>
                    <a:pt x="6" y="9"/>
                    <a:pt x="5" y="14"/>
                    <a:pt x="2" y="17"/>
                  </a:cubicBezTo>
                  <a:cubicBezTo>
                    <a:pt x="0" y="19"/>
                    <a:pt x="1" y="19"/>
                    <a:pt x="3" y="20"/>
                  </a:cubicBezTo>
                  <a:cubicBezTo>
                    <a:pt x="5" y="20"/>
                    <a:pt x="9" y="19"/>
                    <a:pt x="10" y="2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0" name="Freeform 86"/>
            <p:cNvSpPr>
              <a:spLocks noChangeArrowheads="1"/>
            </p:cNvSpPr>
            <p:nvPr/>
          </p:nvSpPr>
          <p:spPr bwMode="auto">
            <a:xfrm>
              <a:off x="3781437" y="1346201"/>
              <a:ext cx="96838" cy="55564"/>
            </a:xfrm>
            <a:custGeom>
              <a:avLst/>
              <a:gdLst>
                <a:gd name="T0" fmla="*/ 46 w 51"/>
                <a:gd name="T1" fmla="*/ 12 h 29"/>
                <a:gd name="T2" fmla="*/ 40 w 51"/>
                <a:gd name="T3" fmla="*/ 9 h 29"/>
                <a:gd name="T4" fmla="*/ 40 w 51"/>
                <a:gd name="T5" fmla="*/ 4 h 29"/>
                <a:gd name="T6" fmla="*/ 33 w 51"/>
                <a:gd name="T7" fmla="*/ 1 h 29"/>
                <a:gd name="T8" fmla="*/ 26 w 51"/>
                <a:gd name="T9" fmla="*/ 2 h 29"/>
                <a:gd name="T10" fmla="*/ 16 w 51"/>
                <a:gd name="T11" fmla="*/ 2 h 29"/>
                <a:gd name="T12" fmla="*/ 15 w 51"/>
                <a:gd name="T13" fmla="*/ 4 h 29"/>
                <a:gd name="T14" fmla="*/ 9 w 51"/>
                <a:gd name="T15" fmla="*/ 8 h 29"/>
                <a:gd name="T16" fmla="*/ 2 w 51"/>
                <a:gd name="T17" fmla="*/ 17 h 29"/>
                <a:gd name="T18" fmla="*/ 3 w 51"/>
                <a:gd name="T19" fmla="*/ 21 h 29"/>
                <a:gd name="T20" fmla="*/ 8 w 51"/>
                <a:gd name="T21" fmla="*/ 22 h 29"/>
                <a:gd name="T22" fmla="*/ 10 w 51"/>
                <a:gd name="T23" fmla="*/ 27 h 29"/>
                <a:gd name="T24" fmla="*/ 10 w 51"/>
                <a:gd name="T25" fmla="*/ 27 h 29"/>
                <a:gd name="T26" fmla="*/ 20 w 51"/>
                <a:gd name="T27" fmla="*/ 27 h 29"/>
                <a:gd name="T28" fmla="*/ 25 w 51"/>
                <a:gd name="T29" fmla="*/ 19 h 29"/>
                <a:gd name="T30" fmla="*/ 32 w 51"/>
                <a:gd name="T31" fmla="*/ 26 h 29"/>
                <a:gd name="T32" fmla="*/ 35 w 51"/>
                <a:gd name="T33" fmla="*/ 22 h 29"/>
                <a:gd name="T34" fmla="*/ 39 w 51"/>
                <a:gd name="T35" fmla="*/ 20 h 29"/>
                <a:gd name="T36" fmla="*/ 44 w 51"/>
                <a:gd name="T37" fmla="*/ 19 h 29"/>
                <a:gd name="T38" fmla="*/ 47 w 51"/>
                <a:gd name="T39" fmla="*/ 17 h 29"/>
                <a:gd name="T40" fmla="*/ 49 w 51"/>
                <a:gd name="T41" fmla="*/ 15 h 29"/>
                <a:gd name="T42" fmla="*/ 51 w 51"/>
                <a:gd name="T43" fmla="*/ 12 h 29"/>
                <a:gd name="T44" fmla="*/ 46 w 51"/>
                <a:gd name="T45" fmla="*/ 12 h 2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1"/>
                <a:gd name="T70" fmla="*/ 0 h 29"/>
                <a:gd name="T71" fmla="*/ 51 w 51"/>
                <a:gd name="T72" fmla="*/ 29 h 2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1" h="29">
                  <a:moveTo>
                    <a:pt x="46" y="12"/>
                  </a:moveTo>
                  <a:cubicBezTo>
                    <a:pt x="43" y="13"/>
                    <a:pt x="40" y="10"/>
                    <a:pt x="40" y="9"/>
                  </a:cubicBezTo>
                  <a:cubicBezTo>
                    <a:pt x="40" y="8"/>
                    <a:pt x="39" y="6"/>
                    <a:pt x="40" y="4"/>
                  </a:cubicBezTo>
                  <a:cubicBezTo>
                    <a:pt x="38" y="3"/>
                    <a:pt x="35" y="2"/>
                    <a:pt x="33" y="1"/>
                  </a:cubicBezTo>
                  <a:cubicBezTo>
                    <a:pt x="30" y="0"/>
                    <a:pt x="28" y="0"/>
                    <a:pt x="26" y="2"/>
                  </a:cubicBezTo>
                  <a:cubicBezTo>
                    <a:pt x="24" y="2"/>
                    <a:pt x="19" y="2"/>
                    <a:pt x="16" y="2"/>
                  </a:cubicBezTo>
                  <a:cubicBezTo>
                    <a:pt x="16" y="3"/>
                    <a:pt x="15" y="4"/>
                    <a:pt x="15" y="4"/>
                  </a:cubicBezTo>
                  <a:cubicBezTo>
                    <a:pt x="12" y="4"/>
                    <a:pt x="9" y="6"/>
                    <a:pt x="9" y="8"/>
                  </a:cubicBezTo>
                  <a:cubicBezTo>
                    <a:pt x="8" y="11"/>
                    <a:pt x="3" y="13"/>
                    <a:pt x="2" y="17"/>
                  </a:cubicBezTo>
                  <a:cubicBezTo>
                    <a:pt x="0" y="22"/>
                    <a:pt x="1" y="24"/>
                    <a:pt x="3" y="21"/>
                  </a:cubicBezTo>
                  <a:cubicBezTo>
                    <a:pt x="5" y="18"/>
                    <a:pt x="8" y="19"/>
                    <a:pt x="8" y="22"/>
                  </a:cubicBezTo>
                  <a:cubicBezTo>
                    <a:pt x="8" y="24"/>
                    <a:pt x="11" y="24"/>
                    <a:pt x="10" y="27"/>
                  </a:cubicBezTo>
                  <a:cubicBezTo>
                    <a:pt x="10" y="27"/>
                    <a:pt x="10" y="27"/>
                    <a:pt x="10" y="27"/>
                  </a:cubicBezTo>
                  <a:cubicBezTo>
                    <a:pt x="13" y="27"/>
                    <a:pt x="18" y="27"/>
                    <a:pt x="20" y="27"/>
                  </a:cubicBezTo>
                  <a:cubicBezTo>
                    <a:pt x="22" y="27"/>
                    <a:pt x="24" y="19"/>
                    <a:pt x="25" y="19"/>
                  </a:cubicBezTo>
                  <a:cubicBezTo>
                    <a:pt x="26" y="18"/>
                    <a:pt x="29" y="24"/>
                    <a:pt x="32" y="26"/>
                  </a:cubicBezTo>
                  <a:cubicBezTo>
                    <a:pt x="34" y="29"/>
                    <a:pt x="35" y="24"/>
                    <a:pt x="35" y="22"/>
                  </a:cubicBezTo>
                  <a:cubicBezTo>
                    <a:pt x="35" y="20"/>
                    <a:pt x="37" y="20"/>
                    <a:pt x="39" y="20"/>
                  </a:cubicBezTo>
                  <a:cubicBezTo>
                    <a:pt x="40" y="20"/>
                    <a:pt x="44" y="21"/>
                    <a:pt x="44" y="19"/>
                  </a:cubicBezTo>
                  <a:cubicBezTo>
                    <a:pt x="44" y="16"/>
                    <a:pt x="46" y="17"/>
                    <a:pt x="47" y="17"/>
                  </a:cubicBezTo>
                  <a:cubicBezTo>
                    <a:pt x="49" y="17"/>
                    <a:pt x="49" y="15"/>
                    <a:pt x="49" y="15"/>
                  </a:cubicBezTo>
                  <a:cubicBezTo>
                    <a:pt x="51" y="12"/>
                    <a:pt x="51" y="12"/>
                    <a:pt x="51" y="12"/>
                  </a:cubicBezTo>
                  <a:cubicBezTo>
                    <a:pt x="49" y="12"/>
                    <a:pt x="47" y="11"/>
                    <a:pt x="46" y="1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1" name="Freeform 87"/>
            <p:cNvSpPr>
              <a:spLocks noChangeArrowheads="1"/>
            </p:cNvSpPr>
            <p:nvPr/>
          </p:nvSpPr>
          <p:spPr bwMode="auto">
            <a:xfrm>
              <a:off x="3779850" y="1141412"/>
              <a:ext cx="192088" cy="219075"/>
            </a:xfrm>
            <a:custGeom>
              <a:avLst/>
              <a:gdLst>
                <a:gd name="T0" fmla="*/ 13 w 101"/>
                <a:gd name="T1" fmla="*/ 29 h 114"/>
                <a:gd name="T2" fmla="*/ 7 w 101"/>
                <a:gd name="T3" fmla="*/ 35 h 114"/>
                <a:gd name="T4" fmla="*/ 11 w 101"/>
                <a:gd name="T5" fmla="*/ 41 h 114"/>
                <a:gd name="T6" fmla="*/ 9 w 101"/>
                <a:gd name="T7" fmla="*/ 44 h 114"/>
                <a:gd name="T8" fmla="*/ 2 w 101"/>
                <a:gd name="T9" fmla="*/ 47 h 114"/>
                <a:gd name="T10" fmla="*/ 2 w 101"/>
                <a:gd name="T11" fmla="*/ 53 h 114"/>
                <a:gd name="T12" fmla="*/ 0 w 101"/>
                <a:gd name="T13" fmla="*/ 62 h 114"/>
                <a:gd name="T14" fmla="*/ 3 w 101"/>
                <a:gd name="T15" fmla="*/ 69 h 114"/>
                <a:gd name="T16" fmla="*/ 1 w 101"/>
                <a:gd name="T17" fmla="*/ 73 h 114"/>
                <a:gd name="T18" fmla="*/ 5 w 101"/>
                <a:gd name="T19" fmla="*/ 82 h 114"/>
                <a:gd name="T20" fmla="*/ 7 w 101"/>
                <a:gd name="T21" fmla="*/ 84 h 114"/>
                <a:gd name="T22" fmla="*/ 14 w 101"/>
                <a:gd name="T23" fmla="*/ 87 h 114"/>
                <a:gd name="T24" fmla="*/ 20 w 101"/>
                <a:gd name="T25" fmla="*/ 89 h 114"/>
                <a:gd name="T26" fmla="*/ 23 w 101"/>
                <a:gd name="T27" fmla="*/ 93 h 114"/>
                <a:gd name="T28" fmla="*/ 18 w 101"/>
                <a:gd name="T29" fmla="*/ 102 h 114"/>
                <a:gd name="T30" fmla="*/ 17 w 101"/>
                <a:gd name="T31" fmla="*/ 109 h 114"/>
                <a:gd name="T32" fmla="*/ 27 w 101"/>
                <a:gd name="T33" fmla="*/ 109 h 114"/>
                <a:gd name="T34" fmla="*/ 34 w 101"/>
                <a:gd name="T35" fmla="*/ 108 h 114"/>
                <a:gd name="T36" fmla="*/ 41 w 101"/>
                <a:gd name="T37" fmla="*/ 111 h 114"/>
                <a:gd name="T38" fmla="*/ 42 w 101"/>
                <a:gd name="T39" fmla="*/ 110 h 114"/>
                <a:gd name="T40" fmla="*/ 49 w 101"/>
                <a:gd name="T41" fmla="*/ 112 h 114"/>
                <a:gd name="T42" fmla="*/ 55 w 101"/>
                <a:gd name="T43" fmla="*/ 111 h 114"/>
                <a:gd name="T44" fmla="*/ 62 w 101"/>
                <a:gd name="T45" fmla="*/ 110 h 114"/>
                <a:gd name="T46" fmla="*/ 73 w 101"/>
                <a:gd name="T47" fmla="*/ 108 h 114"/>
                <a:gd name="T48" fmla="*/ 78 w 101"/>
                <a:gd name="T49" fmla="*/ 105 h 114"/>
                <a:gd name="T50" fmla="*/ 82 w 101"/>
                <a:gd name="T51" fmla="*/ 98 h 114"/>
                <a:gd name="T52" fmla="*/ 89 w 101"/>
                <a:gd name="T53" fmla="*/ 93 h 114"/>
                <a:gd name="T54" fmla="*/ 77 w 101"/>
                <a:gd name="T55" fmla="*/ 84 h 114"/>
                <a:gd name="T56" fmla="*/ 73 w 101"/>
                <a:gd name="T57" fmla="*/ 74 h 114"/>
                <a:gd name="T58" fmla="*/ 72 w 101"/>
                <a:gd name="T59" fmla="*/ 68 h 114"/>
                <a:gd name="T60" fmla="*/ 84 w 101"/>
                <a:gd name="T61" fmla="*/ 64 h 114"/>
                <a:gd name="T62" fmla="*/ 93 w 101"/>
                <a:gd name="T63" fmla="*/ 60 h 114"/>
                <a:gd name="T64" fmla="*/ 99 w 101"/>
                <a:gd name="T65" fmla="*/ 59 h 114"/>
                <a:gd name="T66" fmla="*/ 100 w 101"/>
                <a:gd name="T67" fmla="*/ 53 h 114"/>
                <a:gd name="T68" fmla="*/ 97 w 101"/>
                <a:gd name="T69" fmla="*/ 44 h 114"/>
                <a:gd name="T70" fmla="*/ 95 w 101"/>
                <a:gd name="T71" fmla="*/ 38 h 114"/>
                <a:gd name="T72" fmla="*/ 93 w 101"/>
                <a:gd name="T73" fmla="*/ 33 h 114"/>
                <a:gd name="T74" fmla="*/ 92 w 101"/>
                <a:gd name="T75" fmla="*/ 28 h 114"/>
                <a:gd name="T76" fmla="*/ 92 w 101"/>
                <a:gd name="T77" fmla="*/ 16 h 114"/>
                <a:gd name="T78" fmla="*/ 92 w 101"/>
                <a:gd name="T79" fmla="*/ 15 h 114"/>
                <a:gd name="T80" fmla="*/ 91 w 101"/>
                <a:gd name="T81" fmla="*/ 14 h 114"/>
                <a:gd name="T82" fmla="*/ 85 w 101"/>
                <a:gd name="T83" fmla="*/ 10 h 114"/>
                <a:gd name="T84" fmla="*/ 86 w 101"/>
                <a:gd name="T85" fmla="*/ 3 h 114"/>
                <a:gd name="T86" fmla="*/ 76 w 101"/>
                <a:gd name="T87" fmla="*/ 6 h 114"/>
                <a:gd name="T88" fmla="*/ 63 w 101"/>
                <a:gd name="T89" fmla="*/ 13 h 114"/>
                <a:gd name="T90" fmla="*/ 57 w 101"/>
                <a:gd name="T91" fmla="*/ 9 h 114"/>
                <a:gd name="T92" fmla="*/ 53 w 101"/>
                <a:gd name="T93" fmla="*/ 7 h 114"/>
                <a:gd name="T94" fmla="*/ 45 w 101"/>
                <a:gd name="T95" fmla="*/ 3 h 114"/>
                <a:gd name="T96" fmla="*/ 44 w 101"/>
                <a:gd name="T97" fmla="*/ 0 h 114"/>
                <a:gd name="T98" fmla="*/ 40 w 101"/>
                <a:gd name="T99" fmla="*/ 1 h 114"/>
                <a:gd name="T100" fmla="*/ 30 w 101"/>
                <a:gd name="T101" fmla="*/ 0 h 114"/>
                <a:gd name="T102" fmla="*/ 32 w 101"/>
                <a:gd name="T103" fmla="*/ 5 h 114"/>
                <a:gd name="T104" fmla="*/ 35 w 101"/>
                <a:gd name="T105" fmla="*/ 15 h 114"/>
                <a:gd name="T106" fmla="*/ 30 w 101"/>
                <a:gd name="T107" fmla="*/ 19 h 114"/>
                <a:gd name="T108" fmla="*/ 22 w 101"/>
                <a:gd name="T109" fmla="*/ 18 h 114"/>
                <a:gd name="T110" fmla="*/ 13 w 101"/>
                <a:gd name="T111" fmla="*/ 19 h 114"/>
                <a:gd name="T112" fmla="*/ 13 w 101"/>
                <a:gd name="T113" fmla="*/ 22 h 114"/>
                <a:gd name="T114" fmla="*/ 13 w 101"/>
                <a:gd name="T115" fmla="*/ 29 h 11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01"/>
                <a:gd name="T175" fmla="*/ 0 h 114"/>
                <a:gd name="T176" fmla="*/ 101 w 101"/>
                <a:gd name="T177" fmla="*/ 114 h 11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01" h="114">
                  <a:moveTo>
                    <a:pt x="13" y="29"/>
                  </a:moveTo>
                  <a:cubicBezTo>
                    <a:pt x="10" y="33"/>
                    <a:pt x="7" y="34"/>
                    <a:pt x="7" y="35"/>
                  </a:cubicBezTo>
                  <a:cubicBezTo>
                    <a:pt x="8" y="36"/>
                    <a:pt x="12" y="39"/>
                    <a:pt x="11" y="41"/>
                  </a:cubicBezTo>
                  <a:cubicBezTo>
                    <a:pt x="10" y="42"/>
                    <a:pt x="9" y="41"/>
                    <a:pt x="9" y="44"/>
                  </a:cubicBezTo>
                  <a:cubicBezTo>
                    <a:pt x="9" y="47"/>
                    <a:pt x="4" y="47"/>
                    <a:pt x="2" y="47"/>
                  </a:cubicBezTo>
                  <a:cubicBezTo>
                    <a:pt x="1" y="47"/>
                    <a:pt x="3" y="50"/>
                    <a:pt x="2" y="53"/>
                  </a:cubicBezTo>
                  <a:cubicBezTo>
                    <a:pt x="1" y="55"/>
                    <a:pt x="1" y="60"/>
                    <a:pt x="0" y="62"/>
                  </a:cubicBezTo>
                  <a:cubicBezTo>
                    <a:pt x="0" y="64"/>
                    <a:pt x="4" y="67"/>
                    <a:pt x="3" y="69"/>
                  </a:cubicBezTo>
                  <a:cubicBezTo>
                    <a:pt x="3" y="70"/>
                    <a:pt x="0" y="72"/>
                    <a:pt x="1" y="73"/>
                  </a:cubicBezTo>
                  <a:cubicBezTo>
                    <a:pt x="2" y="74"/>
                    <a:pt x="4" y="76"/>
                    <a:pt x="5" y="82"/>
                  </a:cubicBezTo>
                  <a:cubicBezTo>
                    <a:pt x="6" y="83"/>
                    <a:pt x="7" y="83"/>
                    <a:pt x="7" y="84"/>
                  </a:cubicBezTo>
                  <a:cubicBezTo>
                    <a:pt x="9" y="86"/>
                    <a:pt x="11" y="87"/>
                    <a:pt x="14" y="87"/>
                  </a:cubicBezTo>
                  <a:cubicBezTo>
                    <a:pt x="18" y="87"/>
                    <a:pt x="19" y="89"/>
                    <a:pt x="20" y="89"/>
                  </a:cubicBezTo>
                  <a:cubicBezTo>
                    <a:pt x="22" y="89"/>
                    <a:pt x="26" y="90"/>
                    <a:pt x="23" y="93"/>
                  </a:cubicBezTo>
                  <a:cubicBezTo>
                    <a:pt x="19" y="96"/>
                    <a:pt x="19" y="99"/>
                    <a:pt x="18" y="102"/>
                  </a:cubicBezTo>
                  <a:cubicBezTo>
                    <a:pt x="18" y="104"/>
                    <a:pt x="18" y="107"/>
                    <a:pt x="17" y="109"/>
                  </a:cubicBezTo>
                  <a:cubicBezTo>
                    <a:pt x="20" y="109"/>
                    <a:pt x="25" y="109"/>
                    <a:pt x="27" y="109"/>
                  </a:cubicBezTo>
                  <a:cubicBezTo>
                    <a:pt x="29" y="107"/>
                    <a:pt x="31" y="107"/>
                    <a:pt x="34" y="108"/>
                  </a:cubicBezTo>
                  <a:cubicBezTo>
                    <a:pt x="36" y="109"/>
                    <a:pt x="39" y="110"/>
                    <a:pt x="41" y="111"/>
                  </a:cubicBezTo>
                  <a:cubicBezTo>
                    <a:pt x="41" y="110"/>
                    <a:pt x="41" y="110"/>
                    <a:pt x="42" y="110"/>
                  </a:cubicBezTo>
                  <a:cubicBezTo>
                    <a:pt x="44" y="110"/>
                    <a:pt x="47" y="114"/>
                    <a:pt x="49" y="112"/>
                  </a:cubicBezTo>
                  <a:cubicBezTo>
                    <a:pt x="50" y="109"/>
                    <a:pt x="54" y="110"/>
                    <a:pt x="55" y="111"/>
                  </a:cubicBezTo>
                  <a:cubicBezTo>
                    <a:pt x="57" y="112"/>
                    <a:pt x="60" y="112"/>
                    <a:pt x="62" y="110"/>
                  </a:cubicBezTo>
                  <a:cubicBezTo>
                    <a:pt x="64" y="108"/>
                    <a:pt x="72" y="107"/>
                    <a:pt x="73" y="108"/>
                  </a:cubicBezTo>
                  <a:cubicBezTo>
                    <a:pt x="75" y="109"/>
                    <a:pt x="80" y="111"/>
                    <a:pt x="78" y="105"/>
                  </a:cubicBezTo>
                  <a:cubicBezTo>
                    <a:pt x="76" y="99"/>
                    <a:pt x="82" y="100"/>
                    <a:pt x="82" y="98"/>
                  </a:cubicBezTo>
                  <a:cubicBezTo>
                    <a:pt x="83" y="95"/>
                    <a:pt x="90" y="94"/>
                    <a:pt x="89" y="93"/>
                  </a:cubicBezTo>
                  <a:cubicBezTo>
                    <a:pt x="88" y="91"/>
                    <a:pt x="79" y="86"/>
                    <a:pt x="77" y="84"/>
                  </a:cubicBezTo>
                  <a:cubicBezTo>
                    <a:pt x="74" y="82"/>
                    <a:pt x="74" y="77"/>
                    <a:pt x="73" y="74"/>
                  </a:cubicBezTo>
                  <a:cubicBezTo>
                    <a:pt x="72" y="72"/>
                    <a:pt x="69" y="69"/>
                    <a:pt x="72" y="68"/>
                  </a:cubicBezTo>
                  <a:cubicBezTo>
                    <a:pt x="76" y="68"/>
                    <a:pt x="81" y="66"/>
                    <a:pt x="84" y="64"/>
                  </a:cubicBezTo>
                  <a:cubicBezTo>
                    <a:pt x="87" y="61"/>
                    <a:pt x="92" y="61"/>
                    <a:pt x="93" y="60"/>
                  </a:cubicBezTo>
                  <a:cubicBezTo>
                    <a:pt x="95" y="58"/>
                    <a:pt x="98" y="61"/>
                    <a:pt x="99" y="59"/>
                  </a:cubicBezTo>
                  <a:cubicBezTo>
                    <a:pt x="100" y="58"/>
                    <a:pt x="101" y="55"/>
                    <a:pt x="100" y="53"/>
                  </a:cubicBezTo>
                  <a:cubicBezTo>
                    <a:pt x="98" y="51"/>
                    <a:pt x="97" y="48"/>
                    <a:pt x="97" y="44"/>
                  </a:cubicBezTo>
                  <a:cubicBezTo>
                    <a:pt x="97" y="40"/>
                    <a:pt x="95" y="40"/>
                    <a:pt x="95" y="38"/>
                  </a:cubicBezTo>
                  <a:cubicBezTo>
                    <a:pt x="95" y="36"/>
                    <a:pt x="95" y="34"/>
                    <a:pt x="93" y="33"/>
                  </a:cubicBezTo>
                  <a:cubicBezTo>
                    <a:pt x="91" y="32"/>
                    <a:pt x="90" y="31"/>
                    <a:pt x="92" y="28"/>
                  </a:cubicBezTo>
                  <a:cubicBezTo>
                    <a:pt x="94" y="25"/>
                    <a:pt x="93" y="18"/>
                    <a:pt x="92" y="16"/>
                  </a:cubicBezTo>
                  <a:cubicBezTo>
                    <a:pt x="92" y="16"/>
                    <a:pt x="92" y="15"/>
                    <a:pt x="92" y="15"/>
                  </a:cubicBezTo>
                  <a:cubicBezTo>
                    <a:pt x="92" y="15"/>
                    <a:pt x="91" y="14"/>
                    <a:pt x="91" y="14"/>
                  </a:cubicBezTo>
                  <a:cubicBezTo>
                    <a:pt x="91" y="11"/>
                    <a:pt x="89" y="10"/>
                    <a:pt x="85" y="10"/>
                  </a:cubicBezTo>
                  <a:cubicBezTo>
                    <a:pt x="80" y="10"/>
                    <a:pt x="87" y="6"/>
                    <a:pt x="86" y="3"/>
                  </a:cubicBezTo>
                  <a:cubicBezTo>
                    <a:pt x="84" y="1"/>
                    <a:pt x="80" y="7"/>
                    <a:pt x="76" y="6"/>
                  </a:cubicBezTo>
                  <a:cubicBezTo>
                    <a:pt x="72" y="5"/>
                    <a:pt x="67" y="11"/>
                    <a:pt x="63" y="13"/>
                  </a:cubicBezTo>
                  <a:cubicBezTo>
                    <a:pt x="60" y="16"/>
                    <a:pt x="55" y="13"/>
                    <a:pt x="57" y="9"/>
                  </a:cubicBezTo>
                  <a:cubicBezTo>
                    <a:pt x="60" y="5"/>
                    <a:pt x="57" y="6"/>
                    <a:pt x="53" y="7"/>
                  </a:cubicBezTo>
                  <a:cubicBezTo>
                    <a:pt x="49" y="9"/>
                    <a:pt x="44" y="7"/>
                    <a:pt x="45" y="3"/>
                  </a:cubicBezTo>
                  <a:cubicBezTo>
                    <a:pt x="45" y="2"/>
                    <a:pt x="45" y="1"/>
                    <a:pt x="44" y="0"/>
                  </a:cubicBezTo>
                  <a:cubicBezTo>
                    <a:pt x="42" y="1"/>
                    <a:pt x="41" y="1"/>
                    <a:pt x="40" y="1"/>
                  </a:cubicBezTo>
                  <a:cubicBezTo>
                    <a:pt x="38" y="0"/>
                    <a:pt x="34" y="0"/>
                    <a:pt x="30" y="0"/>
                  </a:cubicBezTo>
                  <a:cubicBezTo>
                    <a:pt x="31" y="1"/>
                    <a:pt x="32" y="3"/>
                    <a:pt x="32" y="5"/>
                  </a:cubicBezTo>
                  <a:cubicBezTo>
                    <a:pt x="30" y="8"/>
                    <a:pt x="33" y="10"/>
                    <a:pt x="35" y="15"/>
                  </a:cubicBezTo>
                  <a:cubicBezTo>
                    <a:pt x="37" y="19"/>
                    <a:pt x="30" y="16"/>
                    <a:pt x="30" y="19"/>
                  </a:cubicBezTo>
                  <a:cubicBezTo>
                    <a:pt x="30" y="22"/>
                    <a:pt x="24" y="19"/>
                    <a:pt x="22" y="18"/>
                  </a:cubicBezTo>
                  <a:cubicBezTo>
                    <a:pt x="20" y="17"/>
                    <a:pt x="13" y="18"/>
                    <a:pt x="13" y="19"/>
                  </a:cubicBezTo>
                  <a:cubicBezTo>
                    <a:pt x="13" y="20"/>
                    <a:pt x="13" y="21"/>
                    <a:pt x="13" y="22"/>
                  </a:cubicBezTo>
                  <a:cubicBezTo>
                    <a:pt x="14" y="25"/>
                    <a:pt x="14" y="28"/>
                    <a:pt x="13" y="2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2" name="Freeform 88"/>
            <p:cNvSpPr>
              <a:spLocks noChangeArrowheads="1"/>
            </p:cNvSpPr>
            <p:nvPr/>
          </p:nvSpPr>
          <p:spPr bwMode="auto">
            <a:xfrm>
              <a:off x="4094176" y="619125"/>
              <a:ext cx="225426" cy="360363"/>
            </a:xfrm>
            <a:custGeom>
              <a:avLst/>
              <a:gdLst>
                <a:gd name="T0" fmla="*/ 100 w 118"/>
                <a:gd name="T1" fmla="*/ 158 h 189"/>
                <a:gd name="T2" fmla="*/ 117 w 118"/>
                <a:gd name="T3" fmla="*/ 142 h 189"/>
                <a:gd name="T4" fmla="*/ 114 w 118"/>
                <a:gd name="T5" fmla="*/ 133 h 189"/>
                <a:gd name="T6" fmla="*/ 100 w 118"/>
                <a:gd name="T7" fmla="*/ 122 h 189"/>
                <a:gd name="T8" fmla="*/ 107 w 118"/>
                <a:gd name="T9" fmla="*/ 116 h 189"/>
                <a:gd name="T10" fmla="*/ 101 w 118"/>
                <a:gd name="T11" fmla="*/ 110 h 189"/>
                <a:gd name="T12" fmla="*/ 102 w 118"/>
                <a:gd name="T13" fmla="*/ 104 h 189"/>
                <a:gd name="T14" fmla="*/ 97 w 118"/>
                <a:gd name="T15" fmla="*/ 101 h 189"/>
                <a:gd name="T16" fmla="*/ 99 w 118"/>
                <a:gd name="T17" fmla="*/ 97 h 189"/>
                <a:gd name="T18" fmla="*/ 98 w 118"/>
                <a:gd name="T19" fmla="*/ 89 h 189"/>
                <a:gd name="T20" fmla="*/ 101 w 118"/>
                <a:gd name="T21" fmla="*/ 82 h 189"/>
                <a:gd name="T22" fmla="*/ 91 w 118"/>
                <a:gd name="T23" fmla="*/ 65 h 189"/>
                <a:gd name="T24" fmla="*/ 94 w 118"/>
                <a:gd name="T25" fmla="*/ 58 h 189"/>
                <a:gd name="T26" fmla="*/ 101 w 118"/>
                <a:gd name="T27" fmla="*/ 50 h 189"/>
                <a:gd name="T28" fmla="*/ 93 w 118"/>
                <a:gd name="T29" fmla="*/ 42 h 189"/>
                <a:gd name="T30" fmla="*/ 86 w 118"/>
                <a:gd name="T31" fmla="*/ 38 h 189"/>
                <a:gd name="T32" fmla="*/ 84 w 118"/>
                <a:gd name="T33" fmla="*/ 31 h 189"/>
                <a:gd name="T34" fmla="*/ 86 w 118"/>
                <a:gd name="T35" fmla="*/ 25 h 189"/>
                <a:gd name="T36" fmla="*/ 90 w 118"/>
                <a:gd name="T37" fmla="*/ 22 h 189"/>
                <a:gd name="T38" fmla="*/ 93 w 118"/>
                <a:gd name="T39" fmla="*/ 18 h 189"/>
                <a:gd name="T40" fmla="*/ 93 w 118"/>
                <a:gd name="T41" fmla="*/ 11 h 189"/>
                <a:gd name="T42" fmla="*/ 81 w 118"/>
                <a:gd name="T43" fmla="*/ 3 h 189"/>
                <a:gd name="T44" fmla="*/ 72 w 118"/>
                <a:gd name="T45" fmla="*/ 3 h 189"/>
                <a:gd name="T46" fmla="*/ 61 w 118"/>
                <a:gd name="T47" fmla="*/ 6 h 189"/>
                <a:gd name="T48" fmla="*/ 54 w 118"/>
                <a:gd name="T49" fmla="*/ 14 h 189"/>
                <a:gd name="T50" fmla="*/ 52 w 118"/>
                <a:gd name="T51" fmla="*/ 23 h 189"/>
                <a:gd name="T52" fmla="*/ 47 w 118"/>
                <a:gd name="T53" fmla="*/ 30 h 189"/>
                <a:gd name="T54" fmla="*/ 40 w 118"/>
                <a:gd name="T55" fmla="*/ 28 h 189"/>
                <a:gd name="T56" fmla="*/ 32 w 118"/>
                <a:gd name="T57" fmla="*/ 28 h 189"/>
                <a:gd name="T58" fmla="*/ 19 w 118"/>
                <a:gd name="T59" fmla="*/ 27 h 189"/>
                <a:gd name="T60" fmla="*/ 7 w 118"/>
                <a:gd name="T61" fmla="*/ 18 h 189"/>
                <a:gd name="T62" fmla="*/ 0 w 118"/>
                <a:gd name="T63" fmla="*/ 23 h 189"/>
                <a:gd name="T64" fmla="*/ 12 w 118"/>
                <a:gd name="T65" fmla="*/ 32 h 189"/>
                <a:gd name="T66" fmla="*/ 28 w 118"/>
                <a:gd name="T67" fmla="*/ 42 h 189"/>
                <a:gd name="T68" fmla="*/ 29 w 118"/>
                <a:gd name="T69" fmla="*/ 53 h 189"/>
                <a:gd name="T70" fmla="*/ 31 w 118"/>
                <a:gd name="T71" fmla="*/ 63 h 189"/>
                <a:gd name="T72" fmla="*/ 31 w 118"/>
                <a:gd name="T73" fmla="*/ 73 h 189"/>
                <a:gd name="T74" fmla="*/ 33 w 118"/>
                <a:gd name="T75" fmla="*/ 78 h 189"/>
                <a:gd name="T76" fmla="*/ 34 w 118"/>
                <a:gd name="T77" fmla="*/ 84 h 189"/>
                <a:gd name="T78" fmla="*/ 44 w 118"/>
                <a:gd name="T79" fmla="*/ 88 h 189"/>
                <a:gd name="T80" fmla="*/ 48 w 118"/>
                <a:gd name="T81" fmla="*/ 96 h 189"/>
                <a:gd name="T82" fmla="*/ 46 w 118"/>
                <a:gd name="T83" fmla="*/ 100 h 189"/>
                <a:gd name="T84" fmla="*/ 39 w 118"/>
                <a:gd name="T85" fmla="*/ 105 h 189"/>
                <a:gd name="T86" fmla="*/ 28 w 118"/>
                <a:gd name="T87" fmla="*/ 117 h 189"/>
                <a:gd name="T88" fmla="*/ 21 w 118"/>
                <a:gd name="T89" fmla="*/ 122 h 189"/>
                <a:gd name="T90" fmla="*/ 15 w 118"/>
                <a:gd name="T91" fmla="*/ 128 h 189"/>
                <a:gd name="T92" fmla="*/ 7 w 118"/>
                <a:gd name="T93" fmla="*/ 132 h 189"/>
                <a:gd name="T94" fmla="*/ 2 w 118"/>
                <a:gd name="T95" fmla="*/ 139 h 189"/>
                <a:gd name="T96" fmla="*/ 3 w 118"/>
                <a:gd name="T97" fmla="*/ 146 h 189"/>
                <a:gd name="T98" fmla="*/ 4 w 118"/>
                <a:gd name="T99" fmla="*/ 153 h 189"/>
                <a:gd name="T100" fmla="*/ 6 w 118"/>
                <a:gd name="T101" fmla="*/ 166 h 189"/>
                <a:gd name="T102" fmla="*/ 3 w 118"/>
                <a:gd name="T103" fmla="*/ 178 h 189"/>
                <a:gd name="T104" fmla="*/ 13 w 118"/>
                <a:gd name="T105" fmla="*/ 182 h 189"/>
                <a:gd name="T106" fmla="*/ 20 w 118"/>
                <a:gd name="T107" fmla="*/ 186 h 189"/>
                <a:gd name="T108" fmla="*/ 33 w 118"/>
                <a:gd name="T109" fmla="*/ 188 h 189"/>
                <a:gd name="T110" fmla="*/ 68 w 118"/>
                <a:gd name="T111" fmla="*/ 180 h 189"/>
                <a:gd name="T112" fmla="*/ 78 w 118"/>
                <a:gd name="T113" fmla="*/ 179 h 189"/>
                <a:gd name="T114" fmla="*/ 83 w 118"/>
                <a:gd name="T115" fmla="*/ 172 h 189"/>
                <a:gd name="T116" fmla="*/ 100 w 118"/>
                <a:gd name="T117" fmla="*/ 158 h 18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8"/>
                <a:gd name="T178" fmla="*/ 0 h 189"/>
                <a:gd name="T179" fmla="*/ 118 w 118"/>
                <a:gd name="T180" fmla="*/ 189 h 18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8" h="189">
                  <a:moveTo>
                    <a:pt x="100" y="158"/>
                  </a:moveTo>
                  <a:cubicBezTo>
                    <a:pt x="103" y="152"/>
                    <a:pt x="115" y="148"/>
                    <a:pt x="117" y="142"/>
                  </a:cubicBezTo>
                  <a:cubicBezTo>
                    <a:pt x="118" y="140"/>
                    <a:pt x="118" y="138"/>
                    <a:pt x="114" y="133"/>
                  </a:cubicBezTo>
                  <a:cubicBezTo>
                    <a:pt x="110" y="128"/>
                    <a:pt x="100" y="125"/>
                    <a:pt x="100" y="122"/>
                  </a:cubicBezTo>
                  <a:cubicBezTo>
                    <a:pt x="99" y="120"/>
                    <a:pt x="107" y="119"/>
                    <a:pt x="107" y="116"/>
                  </a:cubicBezTo>
                  <a:cubicBezTo>
                    <a:pt x="106" y="113"/>
                    <a:pt x="102" y="113"/>
                    <a:pt x="101" y="110"/>
                  </a:cubicBezTo>
                  <a:cubicBezTo>
                    <a:pt x="99" y="107"/>
                    <a:pt x="103" y="106"/>
                    <a:pt x="102" y="104"/>
                  </a:cubicBezTo>
                  <a:cubicBezTo>
                    <a:pt x="102" y="103"/>
                    <a:pt x="97" y="102"/>
                    <a:pt x="97" y="101"/>
                  </a:cubicBezTo>
                  <a:cubicBezTo>
                    <a:pt x="96" y="99"/>
                    <a:pt x="100" y="99"/>
                    <a:pt x="99" y="97"/>
                  </a:cubicBezTo>
                  <a:cubicBezTo>
                    <a:pt x="99" y="95"/>
                    <a:pt x="95" y="92"/>
                    <a:pt x="98" y="89"/>
                  </a:cubicBezTo>
                  <a:cubicBezTo>
                    <a:pt x="100" y="86"/>
                    <a:pt x="105" y="89"/>
                    <a:pt x="101" y="82"/>
                  </a:cubicBezTo>
                  <a:cubicBezTo>
                    <a:pt x="98" y="75"/>
                    <a:pt x="92" y="67"/>
                    <a:pt x="91" y="65"/>
                  </a:cubicBezTo>
                  <a:cubicBezTo>
                    <a:pt x="89" y="63"/>
                    <a:pt x="92" y="60"/>
                    <a:pt x="94" y="58"/>
                  </a:cubicBezTo>
                  <a:cubicBezTo>
                    <a:pt x="96" y="57"/>
                    <a:pt x="101" y="52"/>
                    <a:pt x="101" y="50"/>
                  </a:cubicBezTo>
                  <a:cubicBezTo>
                    <a:pt x="101" y="48"/>
                    <a:pt x="95" y="43"/>
                    <a:pt x="93" y="42"/>
                  </a:cubicBezTo>
                  <a:cubicBezTo>
                    <a:pt x="91" y="41"/>
                    <a:pt x="88" y="41"/>
                    <a:pt x="86" y="38"/>
                  </a:cubicBezTo>
                  <a:cubicBezTo>
                    <a:pt x="84" y="34"/>
                    <a:pt x="83" y="33"/>
                    <a:pt x="84" y="31"/>
                  </a:cubicBezTo>
                  <a:cubicBezTo>
                    <a:pt x="86" y="29"/>
                    <a:pt x="86" y="27"/>
                    <a:pt x="86" y="25"/>
                  </a:cubicBezTo>
                  <a:cubicBezTo>
                    <a:pt x="86" y="23"/>
                    <a:pt x="90" y="25"/>
                    <a:pt x="90" y="22"/>
                  </a:cubicBezTo>
                  <a:cubicBezTo>
                    <a:pt x="91" y="20"/>
                    <a:pt x="92" y="19"/>
                    <a:pt x="93" y="18"/>
                  </a:cubicBezTo>
                  <a:cubicBezTo>
                    <a:pt x="93" y="15"/>
                    <a:pt x="93" y="13"/>
                    <a:pt x="93" y="11"/>
                  </a:cubicBezTo>
                  <a:cubicBezTo>
                    <a:pt x="92" y="8"/>
                    <a:pt x="83" y="7"/>
                    <a:pt x="81" y="3"/>
                  </a:cubicBezTo>
                  <a:cubicBezTo>
                    <a:pt x="79" y="0"/>
                    <a:pt x="74" y="1"/>
                    <a:pt x="72" y="3"/>
                  </a:cubicBezTo>
                  <a:cubicBezTo>
                    <a:pt x="70" y="6"/>
                    <a:pt x="61" y="3"/>
                    <a:pt x="61" y="6"/>
                  </a:cubicBezTo>
                  <a:cubicBezTo>
                    <a:pt x="61" y="9"/>
                    <a:pt x="54" y="10"/>
                    <a:pt x="54" y="14"/>
                  </a:cubicBezTo>
                  <a:cubicBezTo>
                    <a:pt x="54" y="17"/>
                    <a:pt x="57" y="24"/>
                    <a:pt x="52" y="23"/>
                  </a:cubicBezTo>
                  <a:cubicBezTo>
                    <a:pt x="46" y="23"/>
                    <a:pt x="50" y="25"/>
                    <a:pt x="47" y="30"/>
                  </a:cubicBezTo>
                  <a:cubicBezTo>
                    <a:pt x="44" y="34"/>
                    <a:pt x="44" y="27"/>
                    <a:pt x="40" y="28"/>
                  </a:cubicBezTo>
                  <a:cubicBezTo>
                    <a:pt x="37" y="29"/>
                    <a:pt x="33" y="25"/>
                    <a:pt x="32" y="28"/>
                  </a:cubicBezTo>
                  <a:cubicBezTo>
                    <a:pt x="30" y="30"/>
                    <a:pt x="25" y="28"/>
                    <a:pt x="19" y="27"/>
                  </a:cubicBezTo>
                  <a:cubicBezTo>
                    <a:pt x="14" y="26"/>
                    <a:pt x="11" y="18"/>
                    <a:pt x="7" y="18"/>
                  </a:cubicBezTo>
                  <a:cubicBezTo>
                    <a:pt x="4" y="18"/>
                    <a:pt x="1" y="20"/>
                    <a:pt x="0" y="23"/>
                  </a:cubicBezTo>
                  <a:cubicBezTo>
                    <a:pt x="4" y="26"/>
                    <a:pt x="7" y="30"/>
                    <a:pt x="12" y="32"/>
                  </a:cubicBezTo>
                  <a:cubicBezTo>
                    <a:pt x="18" y="35"/>
                    <a:pt x="29" y="38"/>
                    <a:pt x="28" y="42"/>
                  </a:cubicBezTo>
                  <a:cubicBezTo>
                    <a:pt x="28" y="46"/>
                    <a:pt x="26" y="51"/>
                    <a:pt x="29" y="53"/>
                  </a:cubicBezTo>
                  <a:cubicBezTo>
                    <a:pt x="31" y="54"/>
                    <a:pt x="28" y="61"/>
                    <a:pt x="31" y="63"/>
                  </a:cubicBezTo>
                  <a:cubicBezTo>
                    <a:pt x="34" y="64"/>
                    <a:pt x="33" y="73"/>
                    <a:pt x="31" y="73"/>
                  </a:cubicBezTo>
                  <a:cubicBezTo>
                    <a:pt x="28" y="73"/>
                    <a:pt x="31" y="77"/>
                    <a:pt x="33" y="78"/>
                  </a:cubicBezTo>
                  <a:cubicBezTo>
                    <a:pt x="34" y="79"/>
                    <a:pt x="34" y="81"/>
                    <a:pt x="34" y="84"/>
                  </a:cubicBezTo>
                  <a:cubicBezTo>
                    <a:pt x="38" y="85"/>
                    <a:pt x="41" y="86"/>
                    <a:pt x="44" y="88"/>
                  </a:cubicBezTo>
                  <a:cubicBezTo>
                    <a:pt x="48" y="90"/>
                    <a:pt x="47" y="93"/>
                    <a:pt x="48" y="96"/>
                  </a:cubicBezTo>
                  <a:cubicBezTo>
                    <a:pt x="48" y="100"/>
                    <a:pt x="48" y="102"/>
                    <a:pt x="46" y="100"/>
                  </a:cubicBezTo>
                  <a:cubicBezTo>
                    <a:pt x="43" y="99"/>
                    <a:pt x="41" y="100"/>
                    <a:pt x="39" y="105"/>
                  </a:cubicBezTo>
                  <a:cubicBezTo>
                    <a:pt x="38" y="110"/>
                    <a:pt x="32" y="116"/>
                    <a:pt x="28" y="117"/>
                  </a:cubicBezTo>
                  <a:cubicBezTo>
                    <a:pt x="24" y="117"/>
                    <a:pt x="24" y="121"/>
                    <a:pt x="21" y="122"/>
                  </a:cubicBezTo>
                  <a:cubicBezTo>
                    <a:pt x="18" y="123"/>
                    <a:pt x="15" y="125"/>
                    <a:pt x="15" y="128"/>
                  </a:cubicBezTo>
                  <a:cubicBezTo>
                    <a:pt x="15" y="132"/>
                    <a:pt x="11" y="132"/>
                    <a:pt x="7" y="132"/>
                  </a:cubicBezTo>
                  <a:cubicBezTo>
                    <a:pt x="4" y="132"/>
                    <a:pt x="5" y="138"/>
                    <a:pt x="2" y="139"/>
                  </a:cubicBezTo>
                  <a:cubicBezTo>
                    <a:pt x="0" y="141"/>
                    <a:pt x="0" y="143"/>
                    <a:pt x="3" y="146"/>
                  </a:cubicBezTo>
                  <a:cubicBezTo>
                    <a:pt x="5" y="149"/>
                    <a:pt x="3" y="151"/>
                    <a:pt x="4" y="153"/>
                  </a:cubicBezTo>
                  <a:cubicBezTo>
                    <a:pt x="5" y="156"/>
                    <a:pt x="8" y="161"/>
                    <a:pt x="6" y="166"/>
                  </a:cubicBezTo>
                  <a:cubicBezTo>
                    <a:pt x="3" y="172"/>
                    <a:pt x="1" y="178"/>
                    <a:pt x="3" y="178"/>
                  </a:cubicBezTo>
                  <a:cubicBezTo>
                    <a:pt x="5" y="177"/>
                    <a:pt x="10" y="182"/>
                    <a:pt x="13" y="182"/>
                  </a:cubicBezTo>
                  <a:cubicBezTo>
                    <a:pt x="17" y="182"/>
                    <a:pt x="17" y="187"/>
                    <a:pt x="20" y="186"/>
                  </a:cubicBezTo>
                  <a:cubicBezTo>
                    <a:pt x="23" y="185"/>
                    <a:pt x="23" y="189"/>
                    <a:pt x="33" y="188"/>
                  </a:cubicBezTo>
                  <a:cubicBezTo>
                    <a:pt x="42" y="188"/>
                    <a:pt x="60" y="180"/>
                    <a:pt x="68" y="180"/>
                  </a:cubicBezTo>
                  <a:cubicBezTo>
                    <a:pt x="72" y="180"/>
                    <a:pt x="75" y="180"/>
                    <a:pt x="78" y="179"/>
                  </a:cubicBezTo>
                  <a:cubicBezTo>
                    <a:pt x="79" y="177"/>
                    <a:pt x="81" y="174"/>
                    <a:pt x="83" y="172"/>
                  </a:cubicBezTo>
                  <a:cubicBezTo>
                    <a:pt x="88" y="168"/>
                    <a:pt x="98" y="164"/>
                    <a:pt x="100" y="15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3" name="Freeform 89"/>
            <p:cNvSpPr>
              <a:spLocks noChangeArrowheads="1"/>
            </p:cNvSpPr>
            <p:nvPr/>
          </p:nvSpPr>
          <p:spPr bwMode="auto">
            <a:xfrm>
              <a:off x="4383103" y="1747839"/>
              <a:ext cx="455615" cy="363538"/>
            </a:xfrm>
            <a:custGeom>
              <a:avLst/>
              <a:gdLst>
                <a:gd name="T0" fmla="*/ 142 w 238"/>
                <a:gd name="T1" fmla="*/ 40 h 190"/>
                <a:gd name="T2" fmla="*/ 122 w 238"/>
                <a:gd name="T3" fmla="*/ 38 h 190"/>
                <a:gd name="T4" fmla="*/ 109 w 238"/>
                <a:gd name="T5" fmla="*/ 33 h 190"/>
                <a:gd name="T6" fmla="*/ 82 w 238"/>
                <a:gd name="T7" fmla="*/ 13 h 190"/>
                <a:gd name="T8" fmla="*/ 59 w 238"/>
                <a:gd name="T9" fmla="*/ 0 h 190"/>
                <a:gd name="T10" fmla="*/ 50 w 238"/>
                <a:gd name="T11" fmla="*/ 0 h 190"/>
                <a:gd name="T12" fmla="*/ 38 w 238"/>
                <a:gd name="T13" fmla="*/ 4 h 190"/>
                <a:gd name="T14" fmla="*/ 27 w 238"/>
                <a:gd name="T15" fmla="*/ 11 h 190"/>
                <a:gd name="T16" fmla="*/ 36 w 238"/>
                <a:gd name="T17" fmla="*/ 21 h 190"/>
                <a:gd name="T18" fmla="*/ 29 w 238"/>
                <a:gd name="T19" fmla="*/ 26 h 190"/>
                <a:gd name="T20" fmla="*/ 22 w 238"/>
                <a:gd name="T21" fmla="*/ 29 h 190"/>
                <a:gd name="T22" fmla="*/ 13 w 238"/>
                <a:gd name="T23" fmla="*/ 36 h 190"/>
                <a:gd name="T24" fmla="*/ 2 w 238"/>
                <a:gd name="T25" fmla="*/ 31 h 190"/>
                <a:gd name="T26" fmla="*/ 1 w 238"/>
                <a:gd name="T27" fmla="*/ 34 h 190"/>
                <a:gd name="T28" fmla="*/ 0 w 238"/>
                <a:gd name="T29" fmla="*/ 37 h 190"/>
                <a:gd name="T30" fmla="*/ 2 w 238"/>
                <a:gd name="T31" fmla="*/ 50 h 190"/>
                <a:gd name="T32" fmla="*/ 11 w 238"/>
                <a:gd name="T33" fmla="*/ 61 h 190"/>
                <a:gd name="T34" fmla="*/ 28 w 238"/>
                <a:gd name="T35" fmla="*/ 87 h 190"/>
                <a:gd name="T36" fmla="*/ 36 w 238"/>
                <a:gd name="T37" fmla="*/ 99 h 190"/>
                <a:gd name="T38" fmla="*/ 47 w 238"/>
                <a:gd name="T39" fmla="*/ 112 h 190"/>
                <a:gd name="T40" fmla="*/ 49 w 238"/>
                <a:gd name="T41" fmla="*/ 124 h 190"/>
                <a:gd name="T42" fmla="*/ 59 w 238"/>
                <a:gd name="T43" fmla="*/ 143 h 190"/>
                <a:gd name="T44" fmla="*/ 72 w 238"/>
                <a:gd name="T45" fmla="*/ 158 h 190"/>
                <a:gd name="T46" fmla="*/ 82 w 238"/>
                <a:gd name="T47" fmla="*/ 175 h 190"/>
                <a:gd name="T48" fmla="*/ 86 w 238"/>
                <a:gd name="T49" fmla="*/ 184 h 190"/>
                <a:gd name="T50" fmla="*/ 89 w 238"/>
                <a:gd name="T51" fmla="*/ 190 h 190"/>
                <a:gd name="T52" fmla="*/ 95 w 238"/>
                <a:gd name="T53" fmla="*/ 188 h 190"/>
                <a:gd name="T54" fmla="*/ 94 w 238"/>
                <a:gd name="T55" fmla="*/ 181 h 190"/>
                <a:gd name="T56" fmla="*/ 99 w 238"/>
                <a:gd name="T57" fmla="*/ 177 h 190"/>
                <a:gd name="T58" fmla="*/ 107 w 238"/>
                <a:gd name="T59" fmla="*/ 179 h 190"/>
                <a:gd name="T60" fmla="*/ 121 w 238"/>
                <a:gd name="T61" fmla="*/ 180 h 190"/>
                <a:gd name="T62" fmla="*/ 137 w 238"/>
                <a:gd name="T63" fmla="*/ 182 h 190"/>
                <a:gd name="T64" fmla="*/ 145 w 238"/>
                <a:gd name="T65" fmla="*/ 179 h 190"/>
                <a:gd name="T66" fmla="*/ 162 w 238"/>
                <a:gd name="T67" fmla="*/ 164 h 190"/>
                <a:gd name="T68" fmla="*/ 184 w 238"/>
                <a:gd name="T69" fmla="*/ 163 h 190"/>
                <a:gd name="T70" fmla="*/ 230 w 238"/>
                <a:gd name="T71" fmla="*/ 148 h 190"/>
                <a:gd name="T72" fmla="*/ 238 w 238"/>
                <a:gd name="T73" fmla="*/ 125 h 190"/>
                <a:gd name="T74" fmla="*/ 232 w 238"/>
                <a:gd name="T75" fmla="*/ 117 h 190"/>
                <a:gd name="T76" fmla="*/ 203 w 238"/>
                <a:gd name="T77" fmla="*/ 113 h 190"/>
                <a:gd name="T78" fmla="*/ 195 w 238"/>
                <a:gd name="T79" fmla="*/ 101 h 190"/>
                <a:gd name="T80" fmla="*/ 190 w 238"/>
                <a:gd name="T81" fmla="*/ 94 h 190"/>
                <a:gd name="T82" fmla="*/ 181 w 238"/>
                <a:gd name="T83" fmla="*/ 88 h 190"/>
                <a:gd name="T84" fmla="*/ 175 w 238"/>
                <a:gd name="T85" fmla="*/ 76 h 190"/>
                <a:gd name="T86" fmla="*/ 170 w 238"/>
                <a:gd name="T87" fmla="*/ 63 h 190"/>
                <a:gd name="T88" fmla="*/ 158 w 238"/>
                <a:gd name="T89" fmla="*/ 50 h 190"/>
                <a:gd name="T90" fmla="*/ 157 w 238"/>
                <a:gd name="T91" fmla="*/ 45 h 190"/>
                <a:gd name="T92" fmla="*/ 148 w 238"/>
                <a:gd name="T93" fmla="*/ 45 h 190"/>
                <a:gd name="T94" fmla="*/ 142 w 238"/>
                <a:gd name="T95" fmla="*/ 40 h 19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38"/>
                <a:gd name="T145" fmla="*/ 0 h 190"/>
                <a:gd name="T146" fmla="*/ 238 w 238"/>
                <a:gd name="T147" fmla="*/ 190 h 19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38" h="190">
                  <a:moveTo>
                    <a:pt x="142" y="40"/>
                  </a:moveTo>
                  <a:cubicBezTo>
                    <a:pt x="142" y="40"/>
                    <a:pt x="125" y="38"/>
                    <a:pt x="122" y="38"/>
                  </a:cubicBezTo>
                  <a:cubicBezTo>
                    <a:pt x="119" y="38"/>
                    <a:pt x="113" y="37"/>
                    <a:pt x="109" y="33"/>
                  </a:cubicBezTo>
                  <a:cubicBezTo>
                    <a:pt x="105" y="30"/>
                    <a:pt x="85" y="15"/>
                    <a:pt x="82" y="13"/>
                  </a:cubicBezTo>
                  <a:cubicBezTo>
                    <a:pt x="78" y="11"/>
                    <a:pt x="63" y="1"/>
                    <a:pt x="59" y="0"/>
                  </a:cubicBezTo>
                  <a:cubicBezTo>
                    <a:pt x="55" y="0"/>
                    <a:pt x="55" y="0"/>
                    <a:pt x="50" y="0"/>
                  </a:cubicBezTo>
                  <a:cubicBezTo>
                    <a:pt x="45" y="0"/>
                    <a:pt x="47" y="3"/>
                    <a:pt x="38" y="4"/>
                  </a:cubicBezTo>
                  <a:cubicBezTo>
                    <a:pt x="30" y="4"/>
                    <a:pt x="25" y="10"/>
                    <a:pt x="27" y="11"/>
                  </a:cubicBezTo>
                  <a:cubicBezTo>
                    <a:pt x="30" y="12"/>
                    <a:pt x="38" y="19"/>
                    <a:pt x="36" y="21"/>
                  </a:cubicBezTo>
                  <a:cubicBezTo>
                    <a:pt x="33" y="22"/>
                    <a:pt x="33" y="26"/>
                    <a:pt x="29" y="26"/>
                  </a:cubicBezTo>
                  <a:cubicBezTo>
                    <a:pt x="26" y="26"/>
                    <a:pt x="22" y="27"/>
                    <a:pt x="22" y="29"/>
                  </a:cubicBezTo>
                  <a:cubicBezTo>
                    <a:pt x="22" y="32"/>
                    <a:pt x="17" y="36"/>
                    <a:pt x="13" y="36"/>
                  </a:cubicBezTo>
                  <a:cubicBezTo>
                    <a:pt x="11" y="36"/>
                    <a:pt x="6" y="33"/>
                    <a:pt x="2" y="31"/>
                  </a:cubicBezTo>
                  <a:cubicBezTo>
                    <a:pt x="1" y="34"/>
                    <a:pt x="1" y="34"/>
                    <a:pt x="1" y="34"/>
                  </a:cubicBezTo>
                  <a:cubicBezTo>
                    <a:pt x="0" y="37"/>
                    <a:pt x="0" y="37"/>
                    <a:pt x="0" y="37"/>
                  </a:cubicBezTo>
                  <a:cubicBezTo>
                    <a:pt x="1" y="40"/>
                    <a:pt x="0" y="49"/>
                    <a:pt x="2" y="50"/>
                  </a:cubicBezTo>
                  <a:cubicBezTo>
                    <a:pt x="5" y="51"/>
                    <a:pt x="6" y="55"/>
                    <a:pt x="11" y="61"/>
                  </a:cubicBezTo>
                  <a:cubicBezTo>
                    <a:pt x="17" y="67"/>
                    <a:pt x="28" y="83"/>
                    <a:pt x="28" y="87"/>
                  </a:cubicBezTo>
                  <a:cubicBezTo>
                    <a:pt x="28" y="90"/>
                    <a:pt x="30" y="95"/>
                    <a:pt x="36" y="99"/>
                  </a:cubicBezTo>
                  <a:cubicBezTo>
                    <a:pt x="43" y="104"/>
                    <a:pt x="43" y="109"/>
                    <a:pt x="47" y="112"/>
                  </a:cubicBezTo>
                  <a:cubicBezTo>
                    <a:pt x="50" y="114"/>
                    <a:pt x="49" y="118"/>
                    <a:pt x="49" y="124"/>
                  </a:cubicBezTo>
                  <a:cubicBezTo>
                    <a:pt x="50" y="131"/>
                    <a:pt x="53" y="140"/>
                    <a:pt x="59" y="143"/>
                  </a:cubicBezTo>
                  <a:cubicBezTo>
                    <a:pt x="65" y="147"/>
                    <a:pt x="69" y="151"/>
                    <a:pt x="72" y="158"/>
                  </a:cubicBezTo>
                  <a:cubicBezTo>
                    <a:pt x="74" y="165"/>
                    <a:pt x="78" y="171"/>
                    <a:pt x="82" y="175"/>
                  </a:cubicBezTo>
                  <a:cubicBezTo>
                    <a:pt x="86" y="179"/>
                    <a:pt x="84" y="181"/>
                    <a:pt x="86" y="184"/>
                  </a:cubicBezTo>
                  <a:cubicBezTo>
                    <a:pt x="87" y="185"/>
                    <a:pt x="88" y="188"/>
                    <a:pt x="89" y="190"/>
                  </a:cubicBezTo>
                  <a:cubicBezTo>
                    <a:pt x="92" y="189"/>
                    <a:pt x="94" y="188"/>
                    <a:pt x="95" y="188"/>
                  </a:cubicBezTo>
                  <a:cubicBezTo>
                    <a:pt x="95" y="186"/>
                    <a:pt x="93" y="183"/>
                    <a:pt x="94" y="181"/>
                  </a:cubicBezTo>
                  <a:cubicBezTo>
                    <a:pt x="95" y="180"/>
                    <a:pt x="97" y="178"/>
                    <a:pt x="99" y="177"/>
                  </a:cubicBezTo>
                  <a:cubicBezTo>
                    <a:pt x="101" y="177"/>
                    <a:pt x="103" y="179"/>
                    <a:pt x="107" y="179"/>
                  </a:cubicBezTo>
                  <a:cubicBezTo>
                    <a:pt x="112" y="178"/>
                    <a:pt x="120" y="179"/>
                    <a:pt x="121" y="180"/>
                  </a:cubicBezTo>
                  <a:cubicBezTo>
                    <a:pt x="122" y="181"/>
                    <a:pt x="134" y="180"/>
                    <a:pt x="137" y="182"/>
                  </a:cubicBezTo>
                  <a:cubicBezTo>
                    <a:pt x="140" y="185"/>
                    <a:pt x="143" y="184"/>
                    <a:pt x="145" y="179"/>
                  </a:cubicBezTo>
                  <a:cubicBezTo>
                    <a:pt x="147" y="175"/>
                    <a:pt x="160" y="165"/>
                    <a:pt x="162" y="164"/>
                  </a:cubicBezTo>
                  <a:cubicBezTo>
                    <a:pt x="164" y="163"/>
                    <a:pt x="179" y="164"/>
                    <a:pt x="184" y="163"/>
                  </a:cubicBezTo>
                  <a:cubicBezTo>
                    <a:pt x="190" y="162"/>
                    <a:pt x="228" y="150"/>
                    <a:pt x="230" y="148"/>
                  </a:cubicBezTo>
                  <a:cubicBezTo>
                    <a:pt x="231" y="147"/>
                    <a:pt x="238" y="127"/>
                    <a:pt x="238" y="125"/>
                  </a:cubicBezTo>
                  <a:cubicBezTo>
                    <a:pt x="238" y="122"/>
                    <a:pt x="235" y="116"/>
                    <a:pt x="232" y="117"/>
                  </a:cubicBezTo>
                  <a:cubicBezTo>
                    <a:pt x="229" y="117"/>
                    <a:pt x="205" y="114"/>
                    <a:pt x="203" y="113"/>
                  </a:cubicBezTo>
                  <a:cubicBezTo>
                    <a:pt x="202" y="113"/>
                    <a:pt x="196" y="108"/>
                    <a:pt x="195" y="101"/>
                  </a:cubicBezTo>
                  <a:cubicBezTo>
                    <a:pt x="193" y="100"/>
                    <a:pt x="191" y="97"/>
                    <a:pt x="190" y="94"/>
                  </a:cubicBezTo>
                  <a:cubicBezTo>
                    <a:pt x="188" y="95"/>
                    <a:pt x="183" y="94"/>
                    <a:pt x="181" y="88"/>
                  </a:cubicBezTo>
                  <a:cubicBezTo>
                    <a:pt x="179" y="86"/>
                    <a:pt x="173" y="78"/>
                    <a:pt x="175" y="76"/>
                  </a:cubicBezTo>
                  <a:cubicBezTo>
                    <a:pt x="177" y="73"/>
                    <a:pt x="174" y="67"/>
                    <a:pt x="170" y="63"/>
                  </a:cubicBezTo>
                  <a:cubicBezTo>
                    <a:pt x="166" y="60"/>
                    <a:pt x="159" y="54"/>
                    <a:pt x="158" y="50"/>
                  </a:cubicBezTo>
                  <a:cubicBezTo>
                    <a:pt x="158" y="49"/>
                    <a:pt x="158" y="47"/>
                    <a:pt x="157" y="45"/>
                  </a:cubicBezTo>
                  <a:cubicBezTo>
                    <a:pt x="148" y="45"/>
                    <a:pt x="148" y="45"/>
                    <a:pt x="148" y="45"/>
                  </a:cubicBezTo>
                  <a:lnTo>
                    <a:pt x="142" y="40"/>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4" name="Freeform 90"/>
            <p:cNvSpPr>
              <a:spLocks noChangeArrowheads="1"/>
            </p:cNvSpPr>
            <p:nvPr/>
          </p:nvSpPr>
          <p:spPr bwMode="auto">
            <a:xfrm>
              <a:off x="4756166" y="1914527"/>
              <a:ext cx="174626" cy="192089"/>
            </a:xfrm>
            <a:custGeom>
              <a:avLst/>
              <a:gdLst>
                <a:gd name="T0" fmla="*/ 45 w 91"/>
                <a:gd name="T1" fmla="*/ 3 h 101"/>
                <a:gd name="T2" fmla="*/ 45 w 91"/>
                <a:gd name="T3" fmla="*/ 11 h 101"/>
                <a:gd name="T4" fmla="*/ 38 w 91"/>
                <a:gd name="T5" fmla="*/ 20 h 101"/>
                <a:gd name="T6" fmla="*/ 35 w 91"/>
                <a:gd name="T7" fmla="*/ 30 h 101"/>
                <a:gd name="T8" fmla="*/ 37 w 91"/>
                <a:gd name="T9" fmla="*/ 30 h 101"/>
                <a:gd name="T10" fmla="*/ 43 w 91"/>
                <a:gd name="T11" fmla="*/ 38 h 101"/>
                <a:gd name="T12" fmla="*/ 35 w 91"/>
                <a:gd name="T13" fmla="*/ 61 h 101"/>
                <a:gd name="T14" fmla="*/ 0 w 91"/>
                <a:gd name="T15" fmla="*/ 73 h 101"/>
                <a:gd name="T16" fmla="*/ 14 w 91"/>
                <a:gd name="T17" fmla="*/ 101 h 101"/>
                <a:gd name="T18" fmla="*/ 17 w 91"/>
                <a:gd name="T19" fmla="*/ 100 h 101"/>
                <a:gd name="T20" fmla="*/ 35 w 91"/>
                <a:gd name="T21" fmla="*/ 97 h 101"/>
                <a:gd name="T22" fmla="*/ 40 w 91"/>
                <a:gd name="T23" fmla="*/ 88 h 101"/>
                <a:gd name="T24" fmla="*/ 52 w 91"/>
                <a:gd name="T25" fmla="*/ 86 h 101"/>
                <a:gd name="T26" fmla="*/ 59 w 91"/>
                <a:gd name="T27" fmla="*/ 76 h 101"/>
                <a:gd name="T28" fmla="*/ 67 w 91"/>
                <a:gd name="T29" fmla="*/ 72 h 101"/>
                <a:gd name="T30" fmla="*/ 70 w 91"/>
                <a:gd name="T31" fmla="*/ 57 h 101"/>
                <a:gd name="T32" fmla="*/ 80 w 91"/>
                <a:gd name="T33" fmla="*/ 51 h 101"/>
                <a:gd name="T34" fmla="*/ 89 w 91"/>
                <a:gd name="T35" fmla="*/ 37 h 101"/>
                <a:gd name="T36" fmla="*/ 88 w 91"/>
                <a:gd name="T37" fmla="*/ 31 h 101"/>
                <a:gd name="T38" fmla="*/ 79 w 91"/>
                <a:gd name="T39" fmla="*/ 19 h 101"/>
                <a:gd name="T40" fmla="*/ 60 w 91"/>
                <a:gd name="T41" fmla="*/ 12 h 101"/>
                <a:gd name="T42" fmla="*/ 54 w 91"/>
                <a:gd name="T43" fmla="*/ 0 h 101"/>
                <a:gd name="T44" fmla="*/ 50 w 91"/>
                <a:gd name="T45" fmla="*/ 3 h 101"/>
                <a:gd name="T46" fmla="*/ 45 w 91"/>
                <a:gd name="T47" fmla="*/ 3 h 1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1"/>
                <a:gd name="T73" fmla="*/ 0 h 101"/>
                <a:gd name="T74" fmla="*/ 91 w 91"/>
                <a:gd name="T75" fmla="*/ 101 h 10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1" h="101">
                  <a:moveTo>
                    <a:pt x="45" y="3"/>
                  </a:moveTo>
                  <a:cubicBezTo>
                    <a:pt x="45" y="11"/>
                    <a:pt x="45" y="11"/>
                    <a:pt x="45" y="11"/>
                  </a:cubicBezTo>
                  <a:cubicBezTo>
                    <a:pt x="38" y="20"/>
                    <a:pt x="38" y="20"/>
                    <a:pt x="38" y="20"/>
                  </a:cubicBezTo>
                  <a:cubicBezTo>
                    <a:pt x="35" y="30"/>
                    <a:pt x="35" y="30"/>
                    <a:pt x="35" y="30"/>
                  </a:cubicBezTo>
                  <a:cubicBezTo>
                    <a:pt x="36" y="30"/>
                    <a:pt x="36" y="30"/>
                    <a:pt x="37" y="30"/>
                  </a:cubicBezTo>
                  <a:cubicBezTo>
                    <a:pt x="40" y="29"/>
                    <a:pt x="43" y="35"/>
                    <a:pt x="43" y="38"/>
                  </a:cubicBezTo>
                  <a:cubicBezTo>
                    <a:pt x="43" y="40"/>
                    <a:pt x="36" y="60"/>
                    <a:pt x="35" y="61"/>
                  </a:cubicBezTo>
                  <a:cubicBezTo>
                    <a:pt x="34" y="62"/>
                    <a:pt x="14" y="69"/>
                    <a:pt x="0" y="73"/>
                  </a:cubicBezTo>
                  <a:cubicBezTo>
                    <a:pt x="3" y="79"/>
                    <a:pt x="9" y="91"/>
                    <a:pt x="14" y="101"/>
                  </a:cubicBezTo>
                  <a:cubicBezTo>
                    <a:pt x="15" y="101"/>
                    <a:pt x="16" y="101"/>
                    <a:pt x="17" y="100"/>
                  </a:cubicBezTo>
                  <a:cubicBezTo>
                    <a:pt x="23" y="96"/>
                    <a:pt x="31" y="98"/>
                    <a:pt x="35" y="97"/>
                  </a:cubicBezTo>
                  <a:cubicBezTo>
                    <a:pt x="40" y="96"/>
                    <a:pt x="36" y="92"/>
                    <a:pt x="40" y="88"/>
                  </a:cubicBezTo>
                  <a:cubicBezTo>
                    <a:pt x="44" y="85"/>
                    <a:pt x="50" y="87"/>
                    <a:pt x="52" y="86"/>
                  </a:cubicBezTo>
                  <a:cubicBezTo>
                    <a:pt x="54" y="85"/>
                    <a:pt x="56" y="77"/>
                    <a:pt x="59" y="76"/>
                  </a:cubicBezTo>
                  <a:cubicBezTo>
                    <a:pt x="63" y="74"/>
                    <a:pt x="67" y="75"/>
                    <a:pt x="67" y="72"/>
                  </a:cubicBezTo>
                  <a:cubicBezTo>
                    <a:pt x="66" y="69"/>
                    <a:pt x="67" y="58"/>
                    <a:pt x="70" y="57"/>
                  </a:cubicBezTo>
                  <a:cubicBezTo>
                    <a:pt x="74" y="56"/>
                    <a:pt x="79" y="53"/>
                    <a:pt x="80" y="51"/>
                  </a:cubicBezTo>
                  <a:cubicBezTo>
                    <a:pt x="80" y="49"/>
                    <a:pt x="87" y="41"/>
                    <a:pt x="89" y="37"/>
                  </a:cubicBezTo>
                  <a:cubicBezTo>
                    <a:pt x="91" y="34"/>
                    <a:pt x="91" y="32"/>
                    <a:pt x="88" y="31"/>
                  </a:cubicBezTo>
                  <a:cubicBezTo>
                    <a:pt x="85" y="31"/>
                    <a:pt x="80" y="22"/>
                    <a:pt x="79" y="19"/>
                  </a:cubicBezTo>
                  <a:cubicBezTo>
                    <a:pt x="77" y="17"/>
                    <a:pt x="68" y="19"/>
                    <a:pt x="60" y="12"/>
                  </a:cubicBezTo>
                  <a:cubicBezTo>
                    <a:pt x="57" y="10"/>
                    <a:pt x="55" y="5"/>
                    <a:pt x="54" y="0"/>
                  </a:cubicBezTo>
                  <a:cubicBezTo>
                    <a:pt x="50" y="3"/>
                    <a:pt x="50" y="3"/>
                    <a:pt x="50" y="3"/>
                  </a:cubicBezTo>
                  <a:lnTo>
                    <a:pt x="45" y="3"/>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5" name="Freeform 91"/>
            <p:cNvSpPr>
              <a:spLocks noChangeArrowheads="1"/>
            </p:cNvSpPr>
            <p:nvPr/>
          </p:nvSpPr>
          <p:spPr bwMode="auto">
            <a:xfrm>
              <a:off x="4729179" y="1890714"/>
              <a:ext cx="25400" cy="38100"/>
            </a:xfrm>
            <a:custGeom>
              <a:avLst/>
              <a:gdLst>
                <a:gd name="T0" fmla="*/ 9 w 13"/>
                <a:gd name="T1" fmla="*/ 19 h 20"/>
                <a:gd name="T2" fmla="*/ 10 w 13"/>
                <a:gd name="T3" fmla="*/ 16 h 20"/>
                <a:gd name="T4" fmla="*/ 8 w 13"/>
                <a:gd name="T5" fmla="*/ 2 h 20"/>
                <a:gd name="T6" fmla="*/ 1 w 13"/>
                <a:gd name="T7" fmla="*/ 13 h 20"/>
                <a:gd name="T8" fmla="*/ 0 w 13"/>
                <a:gd name="T9" fmla="*/ 13 h 20"/>
                <a:gd name="T10" fmla="*/ 9 w 13"/>
                <a:gd name="T11" fmla="*/ 19 h 20"/>
                <a:gd name="T12" fmla="*/ 0 60000 65536"/>
                <a:gd name="T13" fmla="*/ 0 60000 65536"/>
                <a:gd name="T14" fmla="*/ 0 60000 65536"/>
                <a:gd name="T15" fmla="*/ 0 60000 65536"/>
                <a:gd name="T16" fmla="*/ 0 60000 65536"/>
                <a:gd name="T17" fmla="*/ 0 60000 65536"/>
                <a:gd name="T18" fmla="*/ 0 w 13"/>
                <a:gd name="T19" fmla="*/ 0 h 20"/>
                <a:gd name="T20" fmla="*/ 13 w 13"/>
                <a:gd name="T21" fmla="*/ 20 h 20"/>
              </a:gdLst>
              <a:ahLst/>
              <a:cxnLst>
                <a:cxn ang="T12">
                  <a:pos x="T0" y="T1"/>
                </a:cxn>
                <a:cxn ang="T13">
                  <a:pos x="T2" y="T3"/>
                </a:cxn>
                <a:cxn ang="T14">
                  <a:pos x="T4" y="T5"/>
                </a:cxn>
                <a:cxn ang="T15">
                  <a:pos x="T6" y="T7"/>
                </a:cxn>
                <a:cxn ang="T16">
                  <a:pos x="T8" y="T9"/>
                </a:cxn>
                <a:cxn ang="T17">
                  <a:pos x="T10" y="T11"/>
                </a:cxn>
              </a:cxnLst>
              <a:rect l="T18" t="T19" r="T20" b="T21"/>
              <a:pathLst>
                <a:path w="13" h="20">
                  <a:moveTo>
                    <a:pt x="9" y="19"/>
                  </a:moveTo>
                  <a:cubicBezTo>
                    <a:pt x="9" y="18"/>
                    <a:pt x="9" y="17"/>
                    <a:pt x="10" y="16"/>
                  </a:cubicBezTo>
                  <a:cubicBezTo>
                    <a:pt x="12" y="12"/>
                    <a:pt x="13" y="3"/>
                    <a:pt x="8" y="2"/>
                  </a:cubicBezTo>
                  <a:cubicBezTo>
                    <a:pt x="3" y="0"/>
                    <a:pt x="1" y="10"/>
                    <a:pt x="1" y="13"/>
                  </a:cubicBezTo>
                  <a:cubicBezTo>
                    <a:pt x="1" y="13"/>
                    <a:pt x="0" y="13"/>
                    <a:pt x="0" y="13"/>
                  </a:cubicBezTo>
                  <a:cubicBezTo>
                    <a:pt x="2" y="19"/>
                    <a:pt x="7" y="20"/>
                    <a:pt x="9"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6" name="Freeform 92"/>
            <p:cNvSpPr>
              <a:spLocks noChangeArrowheads="1"/>
            </p:cNvSpPr>
            <p:nvPr/>
          </p:nvSpPr>
          <p:spPr bwMode="auto">
            <a:xfrm>
              <a:off x="4756166" y="1887539"/>
              <a:ext cx="103188" cy="84138"/>
            </a:xfrm>
            <a:custGeom>
              <a:avLst/>
              <a:gdLst>
                <a:gd name="T0" fmla="*/ 8 w 54"/>
                <a:gd name="T1" fmla="*/ 40 h 44"/>
                <a:gd name="T2" fmla="*/ 35 w 54"/>
                <a:gd name="T3" fmla="*/ 44 h 44"/>
                <a:gd name="T4" fmla="*/ 38 w 54"/>
                <a:gd name="T5" fmla="*/ 34 h 44"/>
                <a:gd name="T6" fmla="*/ 45 w 54"/>
                <a:gd name="T7" fmla="*/ 25 h 44"/>
                <a:gd name="T8" fmla="*/ 45 w 54"/>
                <a:gd name="T9" fmla="*/ 17 h 44"/>
                <a:gd name="T10" fmla="*/ 50 w 54"/>
                <a:gd name="T11" fmla="*/ 17 h 44"/>
                <a:gd name="T12" fmla="*/ 54 w 54"/>
                <a:gd name="T13" fmla="*/ 14 h 44"/>
                <a:gd name="T14" fmla="*/ 51 w 54"/>
                <a:gd name="T15" fmla="*/ 0 h 44"/>
                <a:gd name="T16" fmla="*/ 37 w 54"/>
                <a:gd name="T17" fmla="*/ 16 h 44"/>
                <a:gd name="T18" fmla="*/ 16 w 54"/>
                <a:gd name="T19" fmla="*/ 26 h 44"/>
                <a:gd name="T20" fmla="*/ 2 w 54"/>
                <a:gd name="T21" fmla="*/ 29 h 44"/>
                <a:gd name="T22" fmla="*/ 0 w 54"/>
                <a:gd name="T23" fmla="*/ 28 h 44"/>
                <a:gd name="T24" fmla="*/ 8 w 54"/>
                <a:gd name="T25" fmla="*/ 40 h 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4"/>
                <a:gd name="T40" fmla="*/ 0 h 44"/>
                <a:gd name="T41" fmla="*/ 54 w 54"/>
                <a:gd name="T42" fmla="*/ 44 h 4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4" h="44">
                  <a:moveTo>
                    <a:pt x="8" y="40"/>
                  </a:moveTo>
                  <a:cubicBezTo>
                    <a:pt x="10" y="41"/>
                    <a:pt x="28" y="43"/>
                    <a:pt x="35" y="44"/>
                  </a:cubicBezTo>
                  <a:cubicBezTo>
                    <a:pt x="38" y="34"/>
                    <a:pt x="38" y="34"/>
                    <a:pt x="38" y="34"/>
                  </a:cubicBezTo>
                  <a:cubicBezTo>
                    <a:pt x="45" y="25"/>
                    <a:pt x="45" y="25"/>
                    <a:pt x="45" y="25"/>
                  </a:cubicBezTo>
                  <a:cubicBezTo>
                    <a:pt x="45" y="17"/>
                    <a:pt x="45" y="17"/>
                    <a:pt x="45" y="17"/>
                  </a:cubicBezTo>
                  <a:cubicBezTo>
                    <a:pt x="50" y="17"/>
                    <a:pt x="50" y="17"/>
                    <a:pt x="50" y="17"/>
                  </a:cubicBezTo>
                  <a:cubicBezTo>
                    <a:pt x="54" y="14"/>
                    <a:pt x="54" y="14"/>
                    <a:pt x="54" y="14"/>
                  </a:cubicBezTo>
                  <a:cubicBezTo>
                    <a:pt x="52" y="7"/>
                    <a:pt x="52" y="0"/>
                    <a:pt x="51" y="0"/>
                  </a:cubicBezTo>
                  <a:cubicBezTo>
                    <a:pt x="49" y="0"/>
                    <a:pt x="40" y="9"/>
                    <a:pt x="37" y="16"/>
                  </a:cubicBezTo>
                  <a:cubicBezTo>
                    <a:pt x="34" y="22"/>
                    <a:pt x="24" y="27"/>
                    <a:pt x="16" y="26"/>
                  </a:cubicBezTo>
                  <a:cubicBezTo>
                    <a:pt x="7" y="24"/>
                    <a:pt x="5" y="28"/>
                    <a:pt x="2" y="29"/>
                  </a:cubicBezTo>
                  <a:cubicBezTo>
                    <a:pt x="2" y="29"/>
                    <a:pt x="1" y="29"/>
                    <a:pt x="0" y="28"/>
                  </a:cubicBezTo>
                  <a:cubicBezTo>
                    <a:pt x="1" y="35"/>
                    <a:pt x="7" y="40"/>
                    <a:pt x="8" y="4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7" name="Freeform 93"/>
            <p:cNvSpPr>
              <a:spLocks noEditPoints="1" noChangeArrowheads="1"/>
            </p:cNvSpPr>
            <p:nvPr/>
          </p:nvSpPr>
          <p:spPr bwMode="auto">
            <a:xfrm>
              <a:off x="5775344" y="2328864"/>
              <a:ext cx="419102" cy="130175"/>
            </a:xfrm>
            <a:custGeom>
              <a:avLst/>
              <a:gdLst>
                <a:gd name="T0" fmla="*/ 39 w 219"/>
                <a:gd name="T1" fmla="*/ 24 h 68"/>
                <a:gd name="T2" fmla="*/ 31 w 219"/>
                <a:gd name="T3" fmla="*/ 12 h 68"/>
                <a:gd name="T4" fmla="*/ 25 w 219"/>
                <a:gd name="T5" fmla="*/ 7 h 68"/>
                <a:gd name="T6" fmla="*/ 24 w 219"/>
                <a:gd name="T7" fmla="*/ 5 h 68"/>
                <a:gd name="T8" fmla="*/ 21 w 219"/>
                <a:gd name="T9" fmla="*/ 10 h 68"/>
                <a:gd name="T10" fmla="*/ 12 w 219"/>
                <a:gd name="T11" fmla="*/ 9 h 68"/>
                <a:gd name="T12" fmla="*/ 6 w 219"/>
                <a:gd name="T13" fmla="*/ 2 h 68"/>
                <a:gd name="T14" fmla="*/ 0 w 219"/>
                <a:gd name="T15" fmla="*/ 1 h 68"/>
                <a:gd name="T16" fmla="*/ 3 w 219"/>
                <a:gd name="T17" fmla="*/ 19 h 68"/>
                <a:gd name="T18" fmla="*/ 14 w 219"/>
                <a:gd name="T19" fmla="*/ 40 h 68"/>
                <a:gd name="T20" fmla="*/ 25 w 219"/>
                <a:gd name="T21" fmla="*/ 51 h 68"/>
                <a:gd name="T22" fmla="*/ 47 w 219"/>
                <a:gd name="T23" fmla="*/ 62 h 68"/>
                <a:gd name="T24" fmla="*/ 39 w 219"/>
                <a:gd name="T25" fmla="*/ 46 h 68"/>
                <a:gd name="T26" fmla="*/ 39 w 219"/>
                <a:gd name="T27" fmla="*/ 24 h 68"/>
                <a:gd name="T28" fmla="*/ 210 w 219"/>
                <a:gd name="T29" fmla="*/ 11 h 68"/>
                <a:gd name="T30" fmla="*/ 200 w 219"/>
                <a:gd name="T31" fmla="*/ 9 h 68"/>
                <a:gd name="T32" fmla="*/ 189 w 219"/>
                <a:gd name="T33" fmla="*/ 0 h 68"/>
                <a:gd name="T34" fmla="*/ 180 w 219"/>
                <a:gd name="T35" fmla="*/ 11 h 68"/>
                <a:gd name="T36" fmla="*/ 174 w 219"/>
                <a:gd name="T37" fmla="*/ 19 h 68"/>
                <a:gd name="T38" fmla="*/ 172 w 219"/>
                <a:gd name="T39" fmla="*/ 22 h 68"/>
                <a:gd name="T40" fmla="*/ 172 w 219"/>
                <a:gd name="T41" fmla="*/ 29 h 68"/>
                <a:gd name="T42" fmla="*/ 165 w 219"/>
                <a:gd name="T43" fmla="*/ 31 h 68"/>
                <a:gd name="T44" fmla="*/ 159 w 219"/>
                <a:gd name="T45" fmla="*/ 23 h 68"/>
                <a:gd name="T46" fmla="*/ 158 w 219"/>
                <a:gd name="T47" fmla="*/ 23 h 68"/>
                <a:gd name="T48" fmla="*/ 148 w 219"/>
                <a:gd name="T49" fmla="*/ 39 h 68"/>
                <a:gd name="T50" fmla="*/ 132 w 219"/>
                <a:gd name="T51" fmla="*/ 44 h 68"/>
                <a:gd name="T52" fmla="*/ 125 w 219"/>
                <a:gd name="T53" fmla="*/ 58 h 68"/>
                <a:gd name="T54" fmla="*/ 108 w 219"/>
                <a:gd name="T55" fmla="*/ 54 h 68"/>
                <a:gd name="T56" fmla="*/ 111 w 219"/>
                <a:gd name="T57" fmla="*/ 61 h 68"/>
                <a:gd name="T58" fmla="*/ 121 w 219"/>
                <a:gd name="T59" fmla="*/ 66 h 68"/>
                <a:gd name="T60" fmla="*/ 135 w 219"/>
                <a:gd name="T61" fmla="*/ 65 h 68"/>
                <a:gd name="T62" fmla="*/ 147 w 219"/>
                <a:gd name="T63" fmla="*/ 60 h 68"/>
                <a:gd name="T64" fmla="*/ 157 w 219"/>
                <a:gd name="T65" fmla="*/ 62 h 68"/>
                <a:gd name="T66" fmla="*/ 167 w 219"/>
                <a:gd name="T67" fmla="*/ 55 h 68"/>
                <a:gd name="T68" fmla="*/ 171 w 219"/>
                <a:gd name="T69" fmla="*/ 45 h 68"/>
                <a:gd name="T70" fmla="*/ 177 w 219"/>
                <a:gd name="T71" fmla="*/ 35 h 68"/>
                <a:gd name="T72" fmla="*/ 195 w 219"/>
                <a:gd name="T73" fmla="*/ 27 h 68"/>
                <a:gd name="T74" fmla="*/ 200 w 219"/>
                <a:gd name="T75" fmla="*/ 29 h 68"/>
                <a:gd name="T76" fmla="*/ 207 w 219"/>
                <a:gd name="T77" fmla="*/ 22 h 68"/>
                <a:gd name="T78" fmla="*/ 217 w 219"/>
                <a:gd name="T79" fmla="*/ 18 h 68"/>
                <a:gd name="T80" fmla="*/ 210 w 219"/>
                <a:gd name="T81" fmla="*/ 11 h 6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19"/>
                <a:gd name="T124" fmla="*/ 0 h 68"/>
                <a:gd name="T125" fmla="*/ 219 w 219"/>
                <a:gd name="T126" fmla="*/ 68 h 6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19" h="68">
                  <a:moveTo>
                    <a:pt x="39" y="24"/>
                  </a:moveTo>
                  <a:cubicBezTo>
                    <a:pt x="39" y="17"/>
                    <a:pt x="32" y="17"/>
                    <a:pt x="31" y="12"/>
                  </a:cubicBezTo>
                  <a:cubicBezTo>
                    <a:pt x="29" y="7"/>
                    <a:pt x="26" y="10"/>
                    <a:pt x="25" y="7"/>
                  </a:cubicBezTo>
                  <a:cubicBezTo>
                    <a:pt x="25" y="6"/>
                    <a:pt x="25" y="6"/>
                    <a:pt x="24" y="5"/>
                  </a:cubicBezTo>
                  <a:cubicBezTo>
                    <a:pt x="20" y="6"/>
                    <a:pt x="22" y="9"/>
                    <a:pt x="21" y="10"/>
                  </a:cubicBezTo>
                  <a:cubicBezTo>
                    <a:pt x="19" y="10"/>
                    <a:pt x="12" y="11"/>
                    <a:pt x="12" y="9"/>
                  </a:cubicBezTo>
                  <a:cubicBezTo>
                    <a:pt x="12" y="6"/>
                    <a:pt x="11" y="3"/>
                    <a:pt x="6" y="2"/>
                  </a:cubicBezTo>
                  <a:cubicBezTo>
                    <a:pt x="4" y="1"/>
                    <a:pt x="2" y="1"/>
                    <a:pt x="0" y="1"/>
                  </a:cubicBezTo>
                  <a:cubicBezTo>
                    <a:pt x="2" y="7"/>
                    <a:pt x="3" y="14"/>
                    <a:pt x="3" y="19"/>
                  </a:cubicBezTo>
                  <a:cubicBezTo>
                    <a:pt x="3" y="25"/>
                    <a:pt x="13" y="36"/>
                    <a:pt x="14" y="40"/>
                  </a:cubicBezTo>
                  <a:cubicBezTo>
                    <a:pt x="16" y="45"/>
                    <a:pt x="19" y="46"/>
                    <a:pt x="25" y="51"/>
                  </a:cubicBezTo>
                  <a:cubicBezTo>
                    <a:pt x="32" y="55"/>
                    <a:pt x="44" y="63"/>
                    <a:pt x="47" y="62"/>
                  </a:cubicBezTo>
                  <a:cubicBezTo>
                    <a:pt x="49" y="61"/>
                    <a:pt x="43" y="50"/>
                    <a:pt x="39" y="46"/>
                  </a:cubicBezTo>
                  <a:cubicBezTo>
                    <a:pt x="36" y="42"/>
                    <a:pt x="39" y="32"/>
                    <a:pt x="39" y="24"/>
                  </a:cubicBezTo>
                  <a:close/>
                  <a:moveTo>
                    <a:pt x="210" y="11"/>
                  </a:moveTo>
                  <a:cubicBezTo>
                    <a:pt x="207" y="12"/>
                    <a:pt x="200" y="12"/>
                    <a:pt x="200" y="9"/>
                  </a:cubicBezTo>
                  <a:cubicBezTo>
                    <a:pt x="200" y="6"/>
                    <a:pt x="193" y="0"/>
                    <a:pt x="189" y="0"/>
                  </a:cubicBezTo>
                  <a:cubicBezTo>
                    <a:pt x="185" y="0"/>
                    <a:pt x="181" y="8"/>
                    <a:pt x="180" y="11"/>
                  </a:cubicBezTo>
                  <a:cubicBezTo>
                    <a:pt x="180" y="15"/>
                    <a:pt x="174" y="14"/>
                    <a:pt x="174" y="19"/>
                  </a:cubicBezTo>
                  <a:cubicBezTo>
                    <a:pt x="175" y="21"/>
                    <a:pt x="173" y="21"/>
                    <a:pt x="172" y="22"/>
                  </a:cubicBezTo>
                  <a:cubicBezTo>
                    <a:pt x="173" y="26"/>
                    <a:pt x="174" y="29"/>
                    <a:pt x="172" y="29"/>
                  </a:cubicBezTo>
                  <a:cubicBezTo>
                    <a:pt x="169" y="28"/>
                    <a:pt x="169" y="31"/>
                    <a:pt x="165" y="31"/>
                  </a:cubicBezTo>
                  <a:cubicBezTo>
                    <a:pt x="163" y="31"/>
                    <a:pt x="161" y="28"/>
                    <a:pt x="159" y="23"/>
                  </a:cubicBezTo>
                  <a:cubicBezTo>
                    <a:pt x="159" y="23"/>
                    <a:pt x="158" y="23"/>
                    <a:pt x="158" y="23"/>
                  </a:cubicBezTo>
                  <a:cubicBezTo>
                    <a:pt x="156" y="23"/>
                    <a:pt x="150" y="33"/>
                    <a:pt x="148" y="39"/>
                  </a:cubicBezTo>
                  <a:cubicBezTo>
                    <a:pt x="147" y="45"/>
                    <a:pt x="141" y="43"/>
                    <a:pt x="132" y="44"/>
                  </a:cubicBezTo>
                  <a:cubicBezTo>
                    <a:pt x="123" y="45"/>
                    <a:pt x="127" y="54"/>
                    <a:pt x="125" y="58"/>
                  </a:cubicBezTo>
                  <a:cubicBezTo>
                    <a:pt x="123" y="62"/>
                    <a:pt x="113" y="55"/>
                    <a:pt x="108" y="54"/>
                  </a:cubicBezTo>
                  <a:cubicBezTo>
                    <a:pt x="109" y="58"/>
                    <a:pt x="110" y="61"/>
                    <a:pt x="111" y="61"/>
                  </a:cubicBezTo>
                  <a:cubicBezTo>
                    <a:pt x="114" y="61"/>
                    <a:pt x="118" y="68"/>
                    <a:pt x="121" y="66"/>
                  </a:cubicBezTo>
                  <a:cubicBezTo>
                    <a:pt x="123" y="64"/>
                    <a:pt x="131" y="66"/>
                    <a:pt x="135" y="65"/>
                  </a:cubicBezTo>
                  <a:cubicBezTo>
                    <a:pt x="139" y="63"/>
                    <a:pt x="140" y="60"/>
                    <a:pt x="147" y="60"/>
                  </a:cubicBezTo>
                  <a:cubicBezTo>
                    <a:pt x="153" y="60"/>
                    <a:pt x="151" y="65"/>
                    <a:pt x="157" y="62"/>
                  </a:cubicBezTo>
                  <a:cubicBezTo>
                    <a:pt x="164" y="59"/>
                    <a:pt x="168" y="61"/>
                    <a:pt x="167" y="55"/>
                  </a:cubicBezTo>
                  <a:cubicBezTo>
                    <a:pt x="167" y="49"/>
                    <a:pt x="171" y="49"/>
                    <a:pt x="171" y="45"/>
                  </a:cubicBezTo>
                  <a:cubicBezTo>
                    <a:pt x="170" y="40"/>
                    <a:pt x="178" y="43"/>
                    <a:pt x="177" y="35"/>
                  </a:cubicBezTo>
                  <a:cubicBezTo>
                    <a:pt x="177" y="26"/>
                    <a:pt x="189" y="27"/>
                    <a:pt x="195" y="27"/>
                  </a:cubicBezTo>
                  <a:cubicBezTo>
                    <a:pt x="196" y="27"/>
                    <a:pt x="198" y="28"/>
                    <a:pt x="200" y="29"/>
                  </a:cubicBezTo>
                  <a:cubicBezTo>
                    <a:pt x="204" y="27"/>
                    <a:pt x="210" y="24"/>
                    <a:pt x="207" y="22"/>
                  </a:cubicBezTo>
                  <a:cubicBezTo>
                    <a:pt x="204" y="20"/>
                    <a:pt x="216" y="22"/>
                    <a:pt x="217" y="18"/>
                  </a:cubicBezTo>
                  <a:cubicBezTo>
                    <a:pt x="219" y="14"/>
                    <a:pt x="213" y="11"/>
                    <a:pt x="210"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8" name="Freeform 94"/>
            <p:cNvSpPr>
              <a:spLocks noChangeArrowheads="1"/>
            </p:cNvSpPr>
            <p:nvPr/>
          </p:nvSpPr>
          <p:spPr bwMode="auto">
            <a:xfrm>
              <a:off x="6078558" y="2370140"/>
              <a:ext cx="28575" cy="17463"/>
            </a:xfrm>
            <a:custGeom>
              <a:avLst/>
              <a:gdLst>
                <a:gd name="T0" fmla="*/ 6 w 15"/>
                <a:gd name="T1" fmla="*/ 9 h 9"/>
                <a:gd name="T2" fmla="*/ 13 w 15"/>
                <a:gd name="T3" fmla="*/ 7 h 9"/>
                <a:gd name="T4" fmla="*/ 13 w 15"/>
                <a:gd name="T5" fmla="*/ 0 h 9"/>
                <a:gd name="T6" fmla="*/ 7 w 15"/>
                <a:gd name="T7" fmla="*/ 3 h 9"/>
                <a:gd name="T8" fmla="*/ 0 w 15"/>
                <a:gd name="T9" fmla="*/ 1 h 9"/>
                <a:gd name="T10" fmla="*/ 6 w 15"/>
                <a:gd name="T11" fmla="*/ 9 h 9"/>
                <a:gd name="T12" fmla="*/ 0 60000 65536"/>
                <a:gd name="T13" fmla="*/ 0 60000 65536"/>
                <a:gd name="T14" fmla="*/ 0 60000 65536"/>
                <a:gd name="T15" fmla="*/ 0 60000 65536"/>
                <a:gd name="T16" fmla="*/ 0 60000 65536"/>
                <a:gd name="T17" fmla="*/ 0 60000 65536"/>
                <a:gd name="T18" fmla="*/ 0 w 15"/>
                <a:gd name="T19" fmla="*/ 0 h 9"/>
                <a:gd name="T20" fmla="*/ 15 w 15"/>
                <a:gd name="T21" fmla="*/ 9 h 9"/>
              </a:gdLst>
              <a:ahLst/>
              <a:cxnLst>
                <a:cxn ang="T12">
                  <a:pos x="T0" y="T1"/>
                </a:cxn>
                <a:cxn ang="T13">
                  <a:pos x="T2" y="T3"/>
                </a:cxn>
                <a:cxn ang="T14">
                  <a:pos x="T4" y="T5"/>
                </a:cxn>
                <a:cxn ang="T15">
                  <a:pos x="T6" y="T7"/>
                </a:cxn>
                <a:cxn ang="T16">
                  <a:pos x="T8" y="T9"/>
                </a:cxn>
                <a:cxn ang="T17">
                  <a:pos x="T10" y="T11"/>
                </a:cxn>
              </a:cxnLst>
              <a:rect l="T18" t="T19" r="T20" b="T21"/>
              <a:pathLst>
                <a:path w="15" h="9">
                  <a:moveTo>
                    <a:pt x="6" y="9"/>
                  </a:moveTo>
                  <a:cubicBezTo>
                    <a:pt x="10" y="9"/>
                    <a:pt x="10" y="6"/>
                    <a:pt x="13" y="7"/>
                  </a:cubicBezTo>
                  <a:cubicBezTo>
                    <a:pt x="15" y="7"/>
                    <a:pt x="14" y="4"/>
                    <a:pt x="13" y="0"/>
                  </a:cubicBezTo>
                  <a:cubicBezTo>
                    <a:pt x="11" y="1"/>
                    <a:pt x="7" y="1"/>
                    <a:pt x="7" y="3"/>
                  </a:cubicBezTo>
                  <a:cubicBezTo>
                    <a:pt x="7" y="5"/>
                    <a:pt x="2" y="1"/>
                    <a:pt x="0" y="1"/>
                  </a:cubicBezTo>
                  <a:cubicBezTo>
                    <a:pt x="2" y="6"/>
                    <a:pt x="4" y="9"/>
                    <a:pt x="6"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9" name="Freeform 95"/>
            <p:cNvSpPr>
              <a:spLocks noChangeArrowheads="1"/>
            </p:cNvSpPr>
            <p:nvPr/>
          </p:nvSpPr>
          <p:spPr bwMode="auto">
            <a:xfrm>
              <a:off x="4473590" y="1616077"/>
              <a:ext cx="209551" cy="206375"/>
            </a:xfrm>
            <a:custGeom>
              <a:avLst/>
              <a:gdLst>
                <a:gd name="T0" fmla="*/ 93 w 110"/>
                <a:gd name="T1" fmla="*/ 98 h 108"/>
                <a:gd name="T2" fmla="*/ 98 w 110"/>
                <a:gd name="T3" fmla="*/ 94 h 108"/>
                <a:gd name="T4" fmla="*/ 106 w 110"/>
                <a:gd name="T5" fmla="*/ 98 h 108"/>
                <a:gd name="T6" fmla="*/ 110 w 110"/>
                <a:gd name="T7" fmla="*/ 95 h 108"/>
                <a:gd name="T8" fmla="*/ 104 w 110"/>
                <a:gd name="T9" fmla="*/ 87 h 108"/>
                <a:gd name="T10" fmla="*/ 100 w 110"/>
                <a:gd name="T11" fmla="*/ 79 h 108"/>
                <a:gd name="T12" fmla="*/ 101 w 110"/>
                <a:gd name="T13" fmla="*/ 71 h 108"/>
                <a:gd name="T14" fmla="*/ 96 w 110"/>
                <a:gd name="T15" fmla="*/ 65 h 108"/>
                <a:gd name="T16" fmla="*/ 83 w 110"/>
                <a:gd name="T17" fmla="*/ 56 h 108"/>
                <a:gd name="T18" fmla="*/ 78 w 110"/>
                <a:gd name="T19" fmla="*/ 50 h 108"/>
                <a:gd name="T20" fmla="*/ 76 w 110"/>
                <a:gd name="T21" fmla="*/ 40 h 108"/>
                <a:gd name="T22" fmla="*/ 81 w 110"/>
                <a:gd name="T23" fmla="*/ 31 h 108"/>
                <a:gd name="T24" fmla="*/ 82 w 110"/>
                <a:gd name="T25" fmla="*/ 24 h 108"/>
                <a:gd name="T26" fmla="*/ 78 w 110"/>
                <a:gd name="T27" fmla="*/ 20 h 108"/>
                <a:gd name="T28" fmla="*/ 72 w 110"/>
                <a:gd name="T29" fmla="*/ 14 h 108"/>
                <a:gd name="T30" fmla="*/ 68 w 110"/>
                <a:gd name="T31" fmla="*/ 5 h 108"/>
                <a:gd name="T32" fmla="*/ 56 w 110"/>
                <a:gd name="T33" fmla="*/ 3 h 108"/>
                <a:gd name="T34" fmla="*/ 46 w 110"/>
                <a:gd name="T35" fmla="*/ 1 h 108"/>
                <a:gd name="T36" fmla="*/ 41 w 110"/>
                <a:gd name="T37" fmla="*/ 5 h 108"/>
                <a:gd name="T38" fmla="*/ 41 w 110"/>
                <a:gd name="T39" fmla="*/ 5 h 108"/>
                <a:gd name="T40" fmla="*/ 34 w 110"/>
                <a:gd name="T41" fmla="*/ 10 h 108"/>
                <a:gd name="T42" fmla="*/ 27 w 110"/>
                <a:gd name="T43" fmla="*/ 15 h 108"/>
                <a:gd name="T44" fmla="*/ 28 w 110"/>
                <a:gd name="T45" fmla="*/ 24 h 108"/>
                <a:gd name="T46" fmla="*/ 27 w 110"/>
                <a:gd name="T47" fmla="*/ 33 h 108"/>
                <a:gd name="T48" fmla="*/ 24 w 110"/>
                <a:gd name="T49" fmla="*/ 40 h 108"/>
                <a:gd name="T50" fmla="*/ 0 w 110"/>
                <a:gd name="T51" fmla="*/ 53 h 108"/>
                <a:gd name="T52" fmla="*/ 1 w 110"/>
                <a:gd name="T53" fmla="*/ 58 h 108"/>
                <a:gd name="T54" fmla="*/ 4 w 110"/>
                <a:gd name="T55" fmla="*/ 69 h 108"/>
                <a:gd name="T56" fmla="*/ 12 w 110"/>
                <a:gd name="T57" fmla="*/ 69 h 108"/>
                <a:gd name="T58" fmla="*/ 35 w 110"/>
                <a:gd name="T59" fmla="*/ 82 h 108"/>
                <a:gd name="T60" fmla="*/ 62 w 110"/>
                <a:gd name="T61" fmla="*/ 102 h 108"/>
                <a:gd name="T62" fmla="*/ 75 w 110"/>
                <a:gd name="T63" fmla="*/ 107 h 108"/>
                <a:gd name="T64" fmla="*/ 88 w 110"/>
                <a:gd name="T65" fmla="*/ 108 h 108"/>
                <a:gd name="T66" fmla="*/ 93 w 110"/>
                <a:gd name="T67" fmla="*/ 98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0"/>
                <a:gd name="T103" fmla="*/ 0 h 108"/>
                <a:gd name="T104" fmla="*/ 110 w 110"/>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0" h="108">
                  <a:moveTo>
                    <a:pt x="93" y="98"/>
                  </a:moveTo>
                  <a:cubicBezTo>
                    <a:pt x="94" y="97"/>
                    <a:pt x="95" y="94"/>
                    <a:pt x="98" y="94"/>
                  </a:cubicBezTo>
                  <a:cubicBezTo>
                    <a:pt x="101" y="94"/>
                    <a:pt x="103" y="95"/>
                    <a:pt x="106" y="98"/>
                  </a:cubicBezTo>
                  <a:cubicBezTo>
                    <a:pt x="107" y="97"/>
                    <a:pt x="109" y="96"/>
                    <a:pt x="110" y="95"/>
                  </a:cubicBezTo>
                  <a:cubicBezTo>
                    <a:pt x="107" y="92"/>
                    <a:pt x="104" y="89"/>
                    <a:pt x="104" y="87"/>
                  </a:cubicBezTo>
                  <a:cubicBezTo>
                    <a:pt x="105" y="83"/>
                    <a:pt x="101" y="81"/>
                    <a:pt x="100" y="79"/>
                  </a:cubicBezTo>
                  <a:cubicBezTo>
                    <a:pt x="100" y="77"/>
                    <a:pt x="103" y="73"/>
                    <a:pt x="101" y="71"/>
                  </a:cubicBezTo>
                  <a:cubicBezTo>
                    <a:pt x="99" y="70"/>
                    <a:pt x="99" y="65"/>
                    <a:pt x="96" y="65"/>
                  </a:cubicBezTo>
                  <a:cubicBezTo>
                    <a:pt x="93" y="64"/>
                    <a:pt x="83" y="59"/>
                    <a:pt x="83" y="56"/>
                  </a:cubicBezTo>
                  <a:cubicBezTo>
                    <a:pt x="84" y="53"/>
                    <a:pt x="80" y="51"/>
                    <a:pt x="78" y="50"/>
                  </a:cubicBezTo>
                  <a:cubicBezTo>
                    <a:pt x="76" y="49"/>
                    <a:pt x="74" y="41"/>
                    <a:pt x="76" y="40"/>
                  </a:cubicBezTo>
                  <a:cubicBezTo>
                    <a:pt x="79" y="39"/>
                    <a:pt x="78" y="31"/>
                    <a:pt x="81" y="31"/>
                  </a:cubicBezTo>
                  <a:cubicBezTo>
                    <a:pt x="84" y="31"/>
                    <a:pt x="81" y="27"/>
                    <a:pt x="82" y="24"/>
                  </a:cubicBezTo>
                  <a:cubicBezTo>
                    <a:pt x="83" y="22"/>
                    <a:pt x="80" y="20"/>
                    <a:pt x="78" y="20"/>
                  </a:cubicBezTo>
                  <a:cubicBezTo>
                    <a:pt x="76" y="20"/>
                    <a:pt x="72" y="17"/>
                    <a:pt x="72" y="14"/>
                  </a:cubicBezTo>
                  <a:cubicBezTo>
                    <a:pt x="72" y="11"/>
                    <a:pt x="67" y="6"/>
                    <a:pt x="68" y="5"/>
                  </a:cubicBezTo>
                  <a:cubicBezTo>
                    <a:pt x="67" y="11"/>
                    <a:pt x="58" y="2"/>
                    <a:pt x="56" y="3"/>
                  </a:cubicBezTo>
                  <a:cubicBezTo>
                    <a:pt x="53" y="4"/>
                    <a:pt x="51" y="0"/>
                    <a:pt x="46" y="1"/>
                  </a:cubicBezTo>
                  <a:cubicBezTo>
                    <a:pt x="42" y="1"/>
                    <a:pt x="42" y="3"/>
                    <a:pt x="41" y="5"/>
                  </a:cubicBezTo>
                  <a:cubicBezTo>
                    <a:pt x="41" y="5"/>
                    <a:pt x="41" y="5"/>
                    <a:pt x="41" y="5"/>
                  </a:cubicBezTo>
                  <a:cubicBezTo>
                    <a:pt x="34" y="10"/>
                    <a:pt x="34" y="10"/>
                    <a:pt x="34" y="10"/>
                  </a:cubicBezTo>
                  <a:cubicBezTo>
                    <a:pt x="34" y="10"/>
                    <a:pt x="28" y="11"/>
                    <a:pt x="27" y="15"/>
                  </a:cubicBezTo>
                  <a:cubicBezTo>
                    <a:pt x="26" y="19"/>
                    <a:pt x="30" y="22"/>
                    <a:pt x="28" y="24"/>
                  </a:cubicBezTo>
                  <a:cubicBezTo>
                    <a:pt x="26" y="27"/>
                    <a:pt x="27" y="31"/>
                    <a:pt x="27" y="33"/>
                  </a:cubicBezTo>
                  <a:cubicBezTo>
                    <a:pt x="28" y="35"/>
                    <a:pt x="24" y="40"/>
                    <a:pt x="24" y="40"/>
                  </a:cubicBezTo>
                  <a:cubicBezTo>
                    <a:pt x="24" y="40"/>
                    <a:pt x="11" y="47"/>
                    <a:pt x="0" y="53"/>
                  </a:cubicBezTo>
                  <a:cubicBezTo>
                    <a:pt x="0" y="55"/>
                    <a:pt x="1" y="57"/>
                    <a:pt x="1" y="58"/>
                  </a:cubicBezTo>
                  <a:cubicBezTo>
                    <a:pt x="2" y="61"/>
                    <a:pt x="3" y="65"/>
                    <a:pt x="4" y="69"/>
                  </a:cubicBezTo>
                  <a:cubicBezTo>
                    <a:pt x="8" y="69"/>
                    <a:pt x="9" y="69"/>
                    <a:pt x="12" y="69"/>
                  </a:cubicBezTo>
                  <a:cubicBezTo>
                    <a:pt x="16" y="70"/>
                    <a:pt x="31" y="80"/>
                    <a:pt x="35" y="82"/>
                  </a:cubicBezTo>
                  <a:cubicBezTo>
                    <a:pt x="38" y="84"/>
                    <a:pt x="58" y="99"/>
                    <a:pt x="62" y="102"/>
                  </a:cubicBezTo>
                  <a:cubicBezTo>
                    <a:pt x="66" y="106"/>
                    <a:pt x="72" y="107"/>
                    <a:pt x="75" y="107"/>
                  </a:cubicBezTo>
                  <a:cubicBezTo>
                    <a:pt x="77" y="107"/>
                    <a:pt x="83" y="107"/>
                    <a:pt x="88" y="108"/>
                  </a:cubicBezTo>
                  <a:cubicBezTo>
                    <a:pt x="90" y="104"/>
                    <a:pt x="92" y="99"/>
                    <a:pt x="93" y="9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0" name="Freeform 96"/>
            <p:cNvSpPr>
              <a:spLocks noChangeArrowheads="1"/>
            </p:cNvSpPr>
            <p:nvPr/>
          </p:nvSpPr>
          <p:spPr bwMode="auto">
            <a:xfrm>
              <a:off x="4641866" y="1795464"/>
              <a:ext cx="41275" cy="38100"/>
            </a:xfrm>
            <a:custGeom>
              <a:avLst/>
              <a:gdLst>
                <a:gd name="T0" fmla="*/ 7 w 22"/>
                <a:gd name="T1" fmla="*/ 15 h 20"/>
                <a:gd name="T2" fmla="*/ 13 w 22"/>
                <a:gd name="T3" fmla="*/ 20 h 20"/>
                <a:gd name="T4" fmla="*/ 22 w 22"/>
                <a:gd name="T5" fmla="*/ 20 h 20"/>
                <a:gd name="T6" fmla="*/ 17 w 22"/>
                <a:gd name="T7" fmla="*/ 6 h 20"/>
                <a:gd name="T8" fmla="*/ 18 w 22"/>
                <a:gd name="T9" fmla="*/ 4 h 20"/>
                <a:gd name="T10" fmla="*/ 10 w 22"/>
                <a:gd name="T11" fmla="*/ 0 h 20"/>
                <a:gd name="T12" fmla="*/ 5 w 22"/>
                <a:gd name="T13" fmla="*/ 4 h 20"/>
                <a:gd name="T14" fmla="*/ 0 w 22"/>
                <a:gd name="T15" fmla="*/ 14 h 20"/>
                <a:gd name="T16" fmla="*/ 7 w 22"/>
                <a:gd name="T17" fmla="*/ 15 h 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0"/>
                <a:gd name="T29" fmla="*/ 22 w 22"/>
                <a:gd name="T30" fmla="*/ 20 h 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0">
                  <a:moveTo>
                    <a:pt x="7" y="15"/>
                  </a:moveTo>
                  <a:cubicBezTo>
                    <a:pt x="13" y="20"/>
                    <a:pt x="13" y="20"/>
                    <a:pt x="13" y="20"/>
                  </a:cubicBezTo>
                  <a:cubicBezTo>
                    <a:pt x="22" y="20"/>
                    <a:pt x="22" y="20"/>
                    <a:pt x="22" y="20"/>
                  </a:cubicBezTo>
                  <a:cubicBezTo>
                    <a:pt x="20" y="15"/>
                    <a:pt x="17" y="8"/>
                    <a:pt x="17" y="6"/>
                  </a:cubicBezTo>
                  <a:cubicBezTo>
                    <a:pt x="17" y="5"/>
                    <a:pt x="17" y="5"/>
                    <a:pt x="18" y="4"/>
                  </a:cubicBezTo>
                  <a:cubicBezTo>
                    <a:pt x="15" y="1"/>
                    <a:pt x="13" y="0"/>
                    <a:pt x="10" y="0"/>
                  </a:cubicBezTo>
                  <a:cubicBezTo>
                    <a:pt x="7" y="0"/>
                    <a:pt x="6" y="3"/>
                    <a:pt x="5" y="4"/>
                  </a:cubicBezTo>
                  <a:cubicBezTo>
                    <a:pt x="4" y="5"/>
                    <a:pt x="2" y="10"/>
                    <a:pt x="0" y="14"/>
                  </a:cubicBezTo>
                  <a:cubicBezTo>
                    <a:pt x="4" y="14"/>
                    <a:pt x="7" y="15"/>
                    <a:pt x="7" y="1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1" name="Freeform 97"/>
            <p:cNvSpPr>
              <a:spLocks noEditPoints="1" noChangeArrowheads="1"/>
            </p:cNvSpPr>
            <p:nvPr/>
          </p:nvSpPr>
          <p:spPr bwMode="auto">
            <a:xfrm>
              <a:off x="3541725" y="1252538"/>
              <a:ext cx="315914" cy="261938"/>
            </a:xfrm>
            <a:custGeom>
              <a:avLst/>
              <a:gdLst>
                <a:gd name="T0" fmla="*/ 144 w 165"/>
                <a:gd name="T1" fmla="*/ 31 h 137"/>
                <a:gd name="T2" fmla="*/ 138 w 165"/>
                <a:gd name="T3" fmla="*/ 29 h 137"/>
                <a:gd name="T4" fmla="*/ 131 w 165"/>
                <a:gd name="T5" fmla="*/ 26 h 137"/>
                <a:gd name="T6" fmla="*/ 119 w 165"/>
                <a:gd name="T7" fmla="*/ 24 h 137"/>
                <a:gd name="T8" fmla="*/ 114 w 165"/>
                <a:gd name="T9" fmla="*/ 20 h 137"/>
                <a:gd name="T10" fmla="*/ 110 w 165"/>
                <a:gd name="T11" fmla="*/ 15 h 137"/>
                <a:gd name="T12" fmla="*/ 105 w 165"/>
                <a:gd name="T13" fmla="*/ 17 h 137"/>
                <a:gd name="T14" fmla="*/ 102 w 165"/>
                <a:gd name="T15" fmla="*/ 13 h 137"/>
                <a:gd name="T16" fmla="*/ 95 w 165"/>
                <a:gd name="T17" fmla="*/ 9 h 137"/>
                <a:gd name="T18" fmla="*/ 89 w 165"/>
                <a:gd name="T19" fmla="*/ 6 h 137"/>
                <a:gd name="T20" fmla="*/ 85 w 165"/>
                <a:gd name="T21" fmla="*/ 1 h 137"/>
                <a:gd name="T22" fmla="*/ 84 w 165"/>
                <a:gd name="T23" fmla="*/ 0 h 137"/>
                <a:gd name="T24" fmla="*/ 81 w 165"/>
                <a:gd name="T25" fmla="*/ 0 h 137"/>
                <a:gd name="T26" fmla="*/ 75 w 165"/>
                <a:gd name="T27" fmla="*/ 10 h 137"/>
                <a:gd name="T28" fmla="*/ 63 w 165"/>
                <a:gd name="T29" fmla="*/ 18 h 137"/>
                <a:gd name="T30" fmla="*/ 56 w 165"/>
                <a:gd name="T31" fmla="*/ 26 h 137"/>
                <a:gd name="T32" fmla="*/ 41 w 165"/>
                <a:gd name="T33" fmla="*/ 21 h 137"/>
                <a:gd name="T34" fmla="*/ 35 w 165"/>
                <a:gd name="T35" fmla="*/ 25 h 137"/>
                <a:gd name="T36" fmla="*/ 36 w 165"/>
                <a:gd name="T37" fmla="*/ 37 h 137"/>
                <a:gd name="T38" fmla="*/ 27 w 165"/>
                <a:gd name="T39" fmla="*/ 37 h 137"/>
                <a:gd name="T40" fmla="*/ 20 w 165"/>
                <a:gd name="T41" fmla="*/ 33 h 137"/>
                <a:gd name="T42" fmla="*/ 9 w 165"/>
                <a:gd name="T43" fmla="*/ 34 h 137"/>
                <a:gd name="T44" fmla="*/ 2 w 165"/>
                <a:gd name="T45" fmla="*/ 40 h 137"/>
                <a:gd name="T46" fmla="*/ 3 w 165"/>
                <a:gd name="T47" fmla="*/ 47 h 137"/>
                <a:gd name="T48" fmla="*/ 18 w 165"/>
                <a:gd name="T49" fmla="*/ 52 h 137"/>
                <a:gd name="T50" fmla="*/ 28 w 165"/>
                <a:gd name="T51" fmla="*/ 54 h 137"/>
                <a:gd name="T52" fmla="*/ 32 w 165"/>
                <a:gd name="T53" fmla="*/ 59 h 137"/>
                <a:gd name="T54" fmla="*/ 40 w 165"/>
                <a:gd name="T55" fmla="*/ 69 h 137"/>
                <a:gd name="T56" fmla="*/ 43 w 165"/>
                <a:gd name="T57" fmla="*/ 78 h 137"/>
                <a:gd name="T58" fmla="*/ 42 w 165"/>
                <a:gd name="T59" fmla="*/ 91 h 137"/>
                <a:gd name="T60" fmla="*/ 36 w 165"/>
                <a:gd name="T61" fmla="*/ 112 h 137"/>
                <a:gd name="T62" fmla="*/ 36 w 165"/>
                <a:gd name="T63" fmla="*/ 112 h 137"/>
                <a:gd name="T64" fmla="*/ 42 w 165"/>
                <a:gd name="T65" fmla="*/ 115 h 137"/>
                <a:gd name="T66" fmla="*/ 53 w 165"/>
                <a:gd name="T67" fmla="*/ 120 h 137"/>
                <a:gd name="T68" fmla="*/ 62 w 165"/>
                <a:gd name="T69" fmla="*/ 119 h 137"/>
                <a:gd name="T70" fmla="*/ 67 w 165"/>
                <a:gd name="T71" fmla="*/ 121 h 137"/>
                <a:gd name="T72" fmla="*/ 81 w 165"/>
                <a:gd name="T73" fmla="*/ 124 h 137"/>
                <a:gd name="T74" fmla="*/ 92 w 165"/>
                <a:gd name="T75" fmla="*/ 124 h 137"/>
                <a:gd name="T76" fmla="*/ 92 w 165"/>
                <a:gd name="T77" fmla="*/ 121 h 137"/>
                <a:gd name="T78" fmla="*/ 101 w 165"/>
                <a:gd name="T79" fmla="*/ 110 h 137"/>
                <a:gd name="T80" fmla="*/ 122 w 165"/>
                <a:gd name="T81" fmla="*/ 115 h 137"/>
                <a:gd name="T82" fmla="*/ 135 w 165"/>
                <a:gd name="T83" fmla="*/ 110 h 137"/>
                <a:gd name="T84" fmla="*/ 142 w 165"/>
                <a:gd name="T85" fmla="*/ 106 h 137"/>
                <a:gd name="T86" fmla="*/ 143 w 165"/>
                <a:gd name="T87" fmla="*/ 102 h 137"/>
                <a:gd name="T88" fmla="*/ 138 w 165"/>
                <a:gd name="T89" fmla="*/ 100 h 137"/>
                <a:gd name="T90" fmla="*/ 135 w 165"/>
                <a:gd name="T91" fmla="*/ 95 h 137"/>
                <a:gd name="T92" fmla="*/ 132 w 165"/>
                <a:gd name="T93" fmla="*/ 89 h 137"/>
                <a:gd name="T94" fmla="*/ 134 w 165"/>
                <a:gd name="T95" fmla="*/ 86 h 137"/>
                <a:gd name="T96" fmla="*/ 136 w 165"/>
                <a:gd name="T97" fmla="*/ 82 h 137"/>
                <a:gd name="T98" fmla="*/ 135 w 165"/>
                <a:gd name="T99" fmla="*/ 76 h 137"/>
                <a:gd name="T100" fmla="*/ 133 w 165"/>
                <a:gd name="T101" fmla="*/ 71 h 137"/>
                <a:gd name="T102" fmla="*/ 128 w 165"/>
                <a:gd name="T103" fmla="*/ 70 h 137"/>
                <a:gd name="T104" fmla="*/ 127 w 165"/>
                <a:gd name="T105" fmla="*/ 66 h 137"/>
                <a:gd name="T106" fmla="*/ 134 w 165"/>
                <a:gd name="T107" fmla="*/ 57 h 137"/>
                <a:gd name="T108" fmla="*/ 140 w 165"/>
                <a:gd name="T109" fmla="*/ 53 h 137"/>
                <a:gd name="T110" fmla="*/ 142 w 165"/>
                <a:gd name="T111" fmla="*/ 44 h 137"/>
                <a:gd name="T112" fmla="*/ 147 w 165"/>
                <a:gd name="T113" fmla="*/ 35 h 137"/>
                <a:gd name="T114" fmla="*/ 144 w 165"/>
                <a:gd name="T115" fmla="*/ 31 h 137"/>
                <a:gd name="T116" fmla="*/ 162 w 165"/>
                <a:gd name="T117" fmla="*/ 116 h 137"/>
                <a:gd name="T118" fmla="*/ 155 w 165"/>
                <a:gd name="T119" fmla="*/ 122 h 137"/>
                <a:gd name="T120" fmla="*/ 160 w 165"/>
                <a:gd name="T121" fmla="*/ 137 h 137"/>
                <a:gd name="T122" fmla="*/ 162 w 165"/>
                <a:gd name="T123" fmla="*/ 116 h 13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65"/>
                <a:gd name="T187" fmla="*/ 0 h 137"/>
                <a:gd name="T188" fmla="*/ 165 w 165"/>
                <a:gd name="T189" fmla="*/ 137 h 13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65" h="137">
                  <a:moveTo>
                    <a:pt x="144" y="31"/>
                  </a:moveTo>
                  <a:cubicBezTo>
                    <a:pt x="143" y="31"/>
                    <a:pt x="142" y="29"/>
                    <a:pt x="138" y="29"/>
                  </a:cubicBezTo>
                  <a:cubicBezTo>
                    <a:pt x="135" y="29"/>
                    <a:pt x="133" y="28"/>
                    <a:pt x="131" y="26"/>
                  </a:cubicBezTo>
                  <a:cubicBezTo>
                    <a:pt x="130" y="24"/>
                    <a:pt x="122" y="23"/>
                    <a:pt x="119" y="24"/>
                  </a:cubicBezTo>
                  <a:cubicBezTo>
                    <a:pt x="117" y="24"/>
                    <a:pt x="116" y="19"/>
                    <a:pt x="114" y="20"/>
                  </a:cubicBezTo>
                  <a:cubicBezTo>
                    <a:pt x="111" y="20"/>
                    <a:pt x="110" y="17"/>
                    <a:pt x="110" y="15"/>
                  </a:cubicBezTo>
                  <a:cubicBezTo>
                    <a:pt x="110" y="13"/>
                    <a:pt x="108" y="16"/>
                    <a:pt x="105" y="17"/>
                  </a:cubicBezTo>
                  <a:cubicBezTo>
                    <a:pt x="103" y="18"/>
                    <a:pt x="102" y="15"/>
                    <a:pt x="102" y="13"/>
                  </a:cubicBezTo>
                  <a:cubicBezTo>
                    <a:pt x="102" y="12"/>
                    <a:pt x="97" y="10"/>
                    <a:pt x="95" y="9"/>
                  </a:cubicBezTo>
                  <a:cubicBezTo>
                    <a:pt x="93" y="8"/>
                    <a:pt x="90" y="4"/>
                    <a:pt x="89" y="6"/>
                  </a:cubicBezTo>
                  <a:cubicBezTo>
                    <a:pt x="88" y="7"/>
                    <a:pt x="86" y="3"/>
                    <a:pt x="85" y="1"/>
                  </a:cubicBezTo>
                  <a:cubicBezTo>
                    <a:pt x="85" y="0"/>
                    <a:pt x="84" y="0"/>
                    <a:pt x="84" y="0"/>
                  </a:cubicBezTo>
                  <a:cubicBezTo>
                    <a:pt x="83" y="0"/>
                    <a:pt x="82" y="0"/>
                    <a:pt x="81" y="0"/>
                  </a:cubicBezTo>
                  <a:cubicBezTo>
                    <a:pt x="77" y="0"/>
                    <a:pt x="74" y="3"/>
                    <a:pt x="75" y="10"/>
                  </a:cubicBezTo>
                  <a:cubicBezTo>
                    <a:pt x="75" y="16"/>
                    <a:pt x="70" y="17"/>
                    <a:pt x="63" y="18"/>
                  </a:cubicBezTo>
                  <a:cubicBezTo>
                    <a:pt x="56" y="18"/>
                    <a:pt x="58" y="23"/>
                    <a:pt x="56" y="26"/>
                  </a:cubicBezTo>
                  <a:cubicBezTo>
                    <a:pt x="53" y="28"/>
                    <a:pt x="43" y="24"/>
                    <a:pt x="41" y="21"/>
                  </a:cubicBezTo>
                  <a:cubicBezTo>
                    <a:pt x="40" y="17"/>
                    <a:pt x="31" y="21"/>
                    <a:pt x="35" y="25"/>
                  </a:cubicBezTo>
                  <a:cubicBezTo>
                    <a:pt x="39" y="29"/>
                    <a:pt x="39" y="35"/>
                    <a:pt x="36" y="37"/>
                  </a:cubicBezTo>
                  <a:cubicBezTo>
                    <a:pt x="34" y="39"/>
                    <a:pt x="30" y="34"/>
                    <a:pt x="27" y="37"/>
                  </a:cubicBezTo>
                  <a:cubicBezTo>
                    <a:pt x="24" y="39"/>
                    <a:pt x="23" y="35"/>
                    <a:pt x="20" y="33"/>
                  </a:cubicBezTo>
                  <a:cubicBezTo>
                    <a:pt x="16" y="32"/>
                    <a:pt x="15" y="35"/>
                    <a:pt x="9" y="34"/>
                  </a:cubicBezTo>
                  <a:cubicBezTo>
                    <a:pt x="3" y="34"/>
                    <a:pt x="0" y="37"/>
                    <a:pt x="2" y="40"/>
                  </a:cubicBezTo>
                  <a:cubicBezTo>
                    <a:pt x="4" y="42"/>
                    <a:pt x="1" y="45"/>
                    <a:pt x="3" y="47"/>
                  </a:cubicBezTo>
                  <a:cubicBezTo>
                    <a:pt x="5" y="49"/>
                    <a:pt x="12" y="49"/>
                    <a:pt x="18" y="52"/>
                  </a:cubicBezTo>
                  <a:cubicBezTo>
                    <a:pt x="24" y="55"/>
                    <a:pt x="25" y="52"/>
                    <a:pt x="28" y="54"/>
                  </a:cubicBezTo>
                  <a:cubicBezTo>
                    <a:pt x="31" y="56"/>
                    <a:pt x="31" y="55"/>
                    <a:pt x="32" y="59"/>
                  </a:cubicBezTo>
                  <a:cubicBezTo>
                    <a:pt x="32" y="63"/>
                    <a:pt x="35" y="67"/>
                    <a:pt x="40" y="69"/>
                  </a:cubicBezTo>
                  <a:cubicBezTo>
                    <a:pt x="46" y="70"/>
                    <a:pt x="42" y="74"/>
                    <a:pt x="43" y="78"/>
                  </a:cubicBezTo>
                  <a:cubicBezTo>
                    <a:pt x="45" y="81"/>
                    <a:pt x="41" y="87"/>
                    <a:pt x="42" y="91"/>
                  </a:cubicBezTo>
                  <a:cubicBezTo>
                    <a:pt x="43" y="96"/>
                    <a:pt x="39" y="110"/>
                    <a:pt x="36" y="112"/>
                  </a:cubicBezTo>
                  <a:cubicBezTo>
                    <a:pt x="36" y="112"/>
                    <a:pt x="36" y="112"/>
                    <a:pt x="36" y="112"/>
                  </a:cubicBezTo>
                  <a:cubicBezTo>
                    <a:pt x="38" y="113"/>
                    <a:pt x="41" y="114"/>
                    <a:pt x="42" y="115"/>
                  </a:cubicBezTo>
                  <a:cubicBezTo>
                    <a:pt x="45" y="116"/>
                    <a:pt x="50" y="118"/>
                    <a:pt x="53" y="120"/>
                  </a:cubicBezTo>
                  <a:cubicBezTo>
                    <a:pt x="56" y="122"/>
                    <a:pt x="62" y="122"/>
                    <a:pt x="62" y="119"/>
                  </a:cubicBezTo>
                  <a:cubicBezTo>
                    <a:pt x="62" y="117"/>
                    <a:pt x="65" y="118"/>
                    <a:pt x="67" y="121"/>
                  </a:cubicBezTo>
                  <a:cubicBezTo>
                    <a:pt x="69" y="123"/>
                    <a:pt x="77" y="123"/>
                    <a:pt x="81" y="124"/>
                  </a:cubicBezTo>
                  <a:cubicBezTo>
                    <a:pt x="84" y="124"/>
                    <a:pt x="88" y="124"/>
                    <a:pt x="92" y="124"/>
                  </a:cubicBezTo>
                  <a:cubicBezTo>
                    <a:pt x="92" y="123"/>
                    <a:pt x="92" y="122"/>
                    <a:pt x="92" y="121"/>
                  </a:cubicBezTo>
                  <a:cubicBezTo>
                    <a:pt x="90" y="115"/>
                    <a:pt x="95" y="111"/>
                    <a:pt x="101" y="110"/>
                  </a:cubicBezTo>
                  <a:cubicBezTo>
                    <a:pt x="106" y="109"/>
                    <a:pt x="118" y="113"/>
                    <a:pt x="122" y="115"/>
                  </a:cubicBezTo>
                  <a:cubicBezTo>
                    <a:pt x="125" y="117"/>
                    <a:pt x="129" y="116"/>
                    <a:pt x="135" y="110"/>
                  </a:cubicBezTo>
                  <a:cubicBezTo>
                    <a:pt x="137" y="107"/>
                    <a:pt x="140" y="106"/>
                    <a:pt x="142" y="106"/>
                  </a:cubicBezTo>
                  <a:cubicBezTo>
                    <a:pt x="142" y="104"/>
                    <a:pt x="142" y="103"/>
                    <a:pt x="143" y="102"/>
                  </a:cubicBezTo>
                  <a:cubicBezTo>
                    <a:pt x="144" y="100"/>
                    <a:pt x="140" y="100"/>
                    <a:pt x="138" y="100"/>
                  </a:cubicBezTo>
                  <a:cubicBezTo>
                    <a:pt x="135" y="100"/>
                    <a:pt x="133" y="97"/>
                    <a:pt x="135" y="95"/>
                  </a:cubicBezTo>
                  <a:cubicBezTo>
                    <a:pt x="137" y="92"/>
                    <a:pt x="134" y="92"/>
                    <a:pt x="132" y="89"/>
                  </a:cubicBezTo>
                  <a:cubicBezTo>
                    <a:pt x="130" y="86"/>
                    <a:pt x="133" y="87"/>
                    <a:pt x="134" y="86"/>
                  </a:cubicBezTo>
                  <a:cubicBezTo>
                    <a:pt x="136" y="85"/>
                    <a:pt x="138" y="82"/>
                    <a:pt x="136" y="82"/>
                  </a:cubicBezTo>
                  <a:cubicBezTo>
                    <a:pt x="135" y="81"/>
                    <a:pt x="134" y="79"/>
                    <a:pt x="135" y="76"/>
                  </a:cubicBezTo>
                  <a:cubicBezTo>
                    <a:pt x="136" y="73"/>
                    <a:pt x="133" y="73"/>
                    <a:pt x="133" y="71"/>
                  </a:cubicBezTo>
                  <a:cubicBezTo>
                    <a:pt x="133" y="68"/>
                    <a:pt x="130" y="67"/>
                    <a:pt x="128" y="70"/>
                  </a:cubicBezTo>
                  <a:cubicBezTo>
                    <a:pt x="126" y="73"/>
                    <a:pt x="125" y="71"/>
                    <a:pt x="127" y="66"/>
                  </a:cubicBezTo>
                  <a:cubicBezTo>
                    <a:pt x="128" y="62"/>
                    <a:pt x="133" y="60"/>
                    <a:pt x="134" y="57"/>
                  </a:cubicBezTo>
                  <a:cubicBezTo>
                    <a:pt x="134" y="55"/>
                    <a:pt x="137" y="53"/>
                    <a:pt x="140" y="53"/>
                  </a:cubicBezTo>
                  <a:cubicBezTo>
                    <a:pt x="142" y="53"/>
                    <a:pt x="141" y="47"/>
                    <a:pt x="142" y="44"/>
                  </a:cubicBezTo>
                  <a:cubicBezTo>
                    <a:pt x="143" y="41"/>
                    <a:pt x="143" y="38"/>
                    <a:pt x="147" y="35"/>
                  </a:cubicBezTo>
                  <a:cubicBezTo>
                    <a:pt x="150" y="32"/>
                    <a:pt x="146" y="31"/>
                    <a:pt x="144" y="31"/>
                  </a:cubicBezTo>
                  <a:close/>
                  <a:moveTo>
                    <a:pt x="162" y="116"/>
                  </a:moveTo>
                  <a:cubicBezTo>
                    <a:pt x="160" y="116"/>
                    <a:pt x="160" y="119"/>
                    <a:pt x="155" y="122"/>
                  </a:cubicBezTo>
                  <a:cubicBezTo>
                    <a:pt x="151" y="125"/>
                    <a:pt x="155" y="137"/>
                    <a:pt x="160" y="137"/>
                  </a:cubicBezTo>
                  <a:cubicBezTo>
                    <a:pt x="165" y="136"/>
                    <a:pt x="164" y="116"/>
                    <a:pt x="162" y="11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2" name="Freeform 98"/>
            <p:cNvSpPr>
              <a:spLocks noChangeArrowheads="1"/>
            </p:cNvSpPr>
            <p:nvPr/>
          </p:nvSpPr>
          <p:spPr bwMode="auto">
            <a:xfrm>
              <a:off x="1689106" y="2155828"/>
              <a:ext cx="50800" cy="26988"/>
            </a:xfrm>
            <a:custGeom>
              <a:avLst/>
              <a:gdLst>
                <a:gd name="T0" fmla="*/ 26 w 26"/>
                <a:gd name="T1" fmla="*/ 5 h 14"/>
                <a:gd name="T2" fmla="*/ 14 w 26"/>
                <a:gd name="T3" fmla="*/ 2 h 14"/>
                <a:gd name="T4" fmla="*/ 9 w 26"/>
                <a:gd name="T5" fmla="*/ 0 h 14"/>
                <a:gd name="T6" fmla="*/ 8 w 26"/>
                <a:gd name="T7" fmla="*/ 0 h 14"/>
                <a:gd name="T8" fmla="*/ 0 w 26"/>
                <a:gd name="T9" fmla="*/ 7 h 14"/>
                <a:gd name="T10" fmla="*/ 22 w 26"/>
                <a:gd name="T11" fmla="*/ 14 h 14"/>
                <a:gd name="T12" fmla="*/ 26 w 26"/>
                <a:gd name="T13" fmla="*/ 13 h 14"/>
                <a:gd name="T14" fmla="*/ 26 w 26"/>
                <a:gd name="T15" fmla="*/ 5 h 14"/>
                <a:gd name="T16" fmla="*/ 0 60000 65536"/>
                <a:gd name="T17" fmla="*/ 0 60000 65536"/>
                <a:gd name="T18" fmla="*/ 0 60000 65536"/>
                <a:gd name="T19" fmla="*/ 0 60000 65536"/>
                <a:gd name="T20" fmla="*/ 0 60000 65536"/>
                <a:gd name="T21" fmla="*/ 0 60000 65536"/>
                <a:gd name="T22" fmla="*/ 0 60000 65536"/>
                <a:gd name="T23" fmla="*/ 0 60000 65536"/>
                <a:gd name="T24" fmla="*/ 0 w 26"/>
                <a:gd name="T25" fmla="*/ 0 h 14"/>
                <a:gd name="T26" fmla="*/ 26 w 26"/>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 h="14">
                  <a:moveTo>
                    <a:pt x="26" y="5"/>
                  </a:moveTo>
                  <a:cubicBezTo>
                    <a:pt x="24" y="3"/>
                    <a:pt x="19" y="6"/>
                    <a:pt x="14" y="2"/>
                  </a:cubicBezTo>
                  <a:cubicBezTo>
                    <a:pt x="12" y="1"/>
                    <a:pt x="10" y="1"/>
                    <a:pt x="9" y="0"/>
                  </a:cubicBezTo>
                  <a:cubicBezTo>
                    <a:pt x="9" y="0"/>
                    <a:pt x="8" y="0"/>
                    <a:pt x="8" y="0"/>
                  </a:cubicBezTo>
                  <a:cubicBezTo>
                    <a:pt x="7" y="0"/>
                    <a:pt x="4" y="4"/>
                    <a:pt x="0" y="7"/>
                  </a:cubicBezTo>
                  <a:cubicBezTo>
                    <a:pt x="4" y="10"/>
                    <a:pt x="18" y="14"/>
                    <a:pt x="22" y="14"/>
                  </a:cubicBezTo>
                  <a:cubicBezTo>
                    <a:pt x="24" y="14"/>
                    <a:pt x="25" y="13"/>
                    <a:pt x="26" y="13"/>
                  </a:cubicBezTo>
                  <a:cubicBezTo>
                    <a:pt x="26" y="9"/>
                    <a:pt x="26" y="6"/>
                    <a:pt x="26"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3" name="Freeform 99"/>
            <p:cNvSpPr>
              <a:spLocks noChangeArrowheads="1"/>
            </p:cNvSpPr>
            <p:nvPr/>
          </p:nvSpPr>
          <p:spPr bwMode="auto">
            <a:xfrm>
              <a:off x="1706568" y="2116139"/>
              <a:ext cx="131763" cy="73025"/>
            </a:xfrm>
            <a:custGeom>
              <a:avLst/>
              <a:gdLst>
                <a:gd name="T0" fmla="*/ 29 w 69"/>
                <a:gd name="T1" fmla="*/ 34 h 38"/>
                <a:gd name="T2" fmla="*/ 32 w 69"/>
                <a:gd name="T3" fmla="*/ 27 h 38"/>
                <a:gd name="T4" fmla="*/ 45 w 69"/>
                <a:gd name="T5" fmla="*/ 22 h 38"/>
                <a:gd name="T6" fmla="*/ 55 w 69"/>
                <a:gd name="T7" fmla="*/ 19 h 38"/>
                <a:gd name="T8" fmla="*/ 69 w 69"/>
                <a:gd name="T9" fmla="*/ 14 h 38"/>
                <a:gd name="T10" fmla="*/ 56 w 69"/>
                <a:gd name="T11" fmla="*/ 5 h 38"/>
                <a:gd name="T12" fmla="*/ 32 w 69"/>
                <a:gd name="T13" fmla="*/ 5 h 38"/>
                <a:gd name="T14" fmla="*/ 11 w 69"/>
                <a:gd name="T15" fmla="*/ 6 h 38"/>
                <a:gd name="T16" fmla="*/ 11 w 69"/>
                <a:gd name="T17" fmla="*/ 6 h 38"/>
                <a:gd name="T18" fmla="*/ 5 w 69"/>
                <a:gd name="T19" fmla="*/ 12 h 38"/>
                <a:gd name="T20" fmla="*/ 0 w 69"/>
                <a:gd name="T21" fmla="*/ 21 h 38"/>
                <a:gd name="T22" fmla="*/ 5 w 69"/>
                <a:gd name="T23" fmla="*/ 23 h 38"/>
                <a:gd name="T24" fmla="*/ 17 w 69"/>
                <a:gd name="T25" fmla="*/ 26 h 38"/>
                <a:gd name="T26" fmla="*/ 17 w 69"/>
                <a:gd name="T27" fmla="*/ 34 h 38"/>
                <a:gd name="T28" fmla="*/ 20 w 69"/>
                <a:gd name="T29" fmla="*/ 34 h 38"/>
                <a:gd name="T30" fmla="*/ 21 w 69"/>
                <a:gd name="T31" fmla="*/ 38 h 38"/>
                <a:gd name="T32" fmla="*/ 25 w 69"/>
                <a:gd name="T33" fmla="*/ 37 h 38"/>
                <a:gd name="T34" fmla="*/ 29 w 69"/>
                <a:gd name="T35" fmla="*/ 34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9"/>
                <a:gd name="T55" fmla="*/ 0 h 38"/>
                <a:gd name="T56" fmla="*/ 69 w 69"/>
                <a:gd name="T57" fmla="*/ 38 h 3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9" h="38">
                  <a:moveTo>
                    <a:pt x="29" y="34"/>
                  </a:moveTo>
                  <a:cubicBezTo>
                    <a:pt x="29" y="33"/>
                    <a:pt x="26" y="27"/>
                    <a:pt x="32" y="27"/>
                  </a:cubicBezTo>
                  <a:cubicBezTo>
                    <a:pt x="39" y="26"/>
                    <a:pt x="44" y="26"/>
                    <a:pt x="45" y="22"/>
                  </a:cubicBezTo>
                  <a:cubicBezTo>
                    <a:pt x="46" y="17"/>
                    <a:pt x="53" y="19"/>
                    <a:pt x="55" y="19"/>
                  </a:cubicBezTo>
                  <a:cubicBezTo>
                    <a:pt x="57" y="19"/>
                    <a:pt x="63" y="14"/>
                    <a:pt x="69" y="14"/>
                  </a:cubicBezTo>
                  <a:cubicBezTo>
                    <a:pt x="69" y="8"/>
                    <a:pt x="61" y="10"/>
                    <a:pt x="56" y="5"/>
                  </a:cubicBezTo>
                  <a:cubicBezTo>
                    <a:pt x="51" y="0"/>
                    <a:pt x="39" y="2"/>
                    <a:pt x="32" y="5"/>
                  </a:cubicBezTo>
                  <a:cubicBezTo>
                    <a:pt x="26" y="7"/>
                    <a:pt x="18" y="2"/>
                    <a:pt x="11" y="6"/>
                  </a:cubicBezTo>
                  <a:cubicBezTo>
                    <a:pt x="11" y="6"/>
                    <a:pt x="11" y="6"/>
                    <a:pt x="11" y="6"/>
                  </a:cubicBezTo>
                  <a:cubicBezTo>
                    <a:pt x="9" y="8"/>
                    <a:pt x="7" y="10"/>
                    <a:pt x="5" y="12"/>
                  </a:cubicBezTo>
                  <a:cubicBezTo>
                    <a:pt x="0" y="16"/>
                    <a:pt x="1" y="20"/>
                    <a:pt x="0" y="21"/>
                  </a:cubicBezTo>
                  <a:cubicBezTo>
                    <a:pt x="1" y="22"/>
                    <a:pt x="3" y="22"/>
                    <a:pt x="5" y="23"/>
                  </a:cubicBezTo>
                  <a:cubicBezTo>
                    <a:pt x="10" y="27"/>
                    <a:pt x="15" y="24"/>
                    <a:pt x="17" y="26"/>
                  </a:cubicBezTo>
                  <a:cubicBezTo>
                    <a:pt x="17" y="27"/>
                    <a:pt x="17" y="30"/>
                    <a:pt x="17" y="34"/>
                  </a:cubicBezTo>
                  <a:cubicBezTo>
                    <a:pt x="18" y="33"/>
                    <a:pt x="18" y="32"/>
                    <a:pt x="20" y="34"/>
                  </a:cubicBezTo>
                  <a:cubicBezTo>
                    <a:pt x="22" y="35"/>
                    <a:pt x="21" y="37"/>
                    <a:pt x="21" y="38"/>
                  </a:cubicBezTo>
                  <a:cubicBezTo>
                    <a:pt x="25" y="37"/>
                    <a:pt x="25" y="37"/>
                    <a:pt x="25" y="37"/>
                  </a:cubicBezTo>
                  <a:cubicBezTo>
                    <a:pt x="25" y="37"/>
                    <a:pt x="28" y="35"/>
                    <a:pt x="29" y="3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4" name="Freeform 100"/>
            <p:cNvSpPr>
              <a:spLocks noChangeArrowheads="1"/>
            </p:cNvSpPr>
            <p:nvPr/>
          </p:nvSpPr>
          <p:spPr bwMode="auto">
            <a:xfrm>
              <a:off x="1106492" y="1736727"/>
              <a:ext cx="657227" cy="406401"/>
            </a:xfrm>
            <a:custGeom>
              <a:avLst/>
              <a:gdLst>
                <a:gd name="T0" fmla="*/ 301 w 344"/>
                <a:gd name="T1" fmla="*/ 199 h 213"/>
                <a:gd name="T2" fmla="*/ 296 w 344"/>
                <a:gd name="T3" fmla="*/ 180 h 213"/>
                <a:gd name="T4" fmla="*/ 324 w 344"/>
                <a:gd name="T5" fmla="*/ 173 h 213"/>
                <a:gd name="T6" fmla="*/ 334 w 344"/>
                <a:gd name="T7" fmla="*/ 161 h 213"/>
                <a:gd name="T8" fmla="*/ 343 w 344"/>
                <a:gd name="T9" fmla="*/ 139 h 213"/>
                <a:gd name="T10" fmla="*/ 315 w 344"/>
                <a:gd name="T11" fmla="*/ 137 h 213"/>
                <a:gd name="T12" fmla="*/ 297 w 344"/>
                <a:gd name="T13" fmla="*/ 161 h 213"/>
                <a:gd name="T14" fmla="*/ 281 w 344"/>
                <a:gd name="T15" fmla="*/ 170 h 213"/>
                <a:gd name="T16" fmla="*/ 242 w 344"/>
                <a:gd name="T17" fmla="*/ 169 h 213"/>
                <a:gd name="T18" fmla="*/ 224 w 344"/>
                <a:gd name="T19" fmla="*/ 143 h 213"/>
                <a:gd name="T20" fmla="*/ 223 w 344"/>
                <a:gd name="T21" fmla="*/ 90 h 213"/>
                <a:gd name="T22" fmla="*/ 219 w 344"/>
                <a:gd name="T23" fmla="*/ 83 h 213"/>
                <a:gd name="T24" fmla="*/ 200 w 344"/>
                <a:gd name="T25" fmla="*/ 71 h 213"/>
                <a:gd name="T26" fmla="*/ 187 w 344"/>
                <a:gd name="T27" fmla="*/ 47 h 213"/>
                <a:gd name="T28" fmla="*/ 158 w 344"/>
                <a:gd name="T29" fmla="*/ 46 h 213"/>
                <a:gd name="T30" fmla="*/ 141 w 344"/>
                <a:gd name="T31" fmla="*/ 32 h 213"/>
                <a:gd name="T32" fmla="*/ 121 w 344"/>
                <a:gd name="T33" fmla="*/ 11 h 213"/>
                <a:gd name="T34" fmla="*/ 100 w 344"/>
                <a:gd name="T35" fmla="*/ 16 h 213"/>
                <a:gd name="T36" fmla="*/ 39 w 344"/>
                <a:gd name="T37" fmla="*/ 6 h 213"/>
                <a:gd name="T38" fmla="*/ 0 w 344"/>
                <a:gd name="T39" fmla="*/ 3 h 213"/>
                <a:gd name="T40" fmla="*/ 16 w 344"/>
                <a:gd name="T41" fmla="*/ 35 h 213"/>
                <a:gd name="T42" fmla="*/ 35 w 344"/>
                <a:gd name="T43" fmla="*/ 61 h 213"/>
                <a:gd name="T44" fmla="*/ 40 w 344"/>
                <a:gd name="T45" fmla="*/ 72 h 213"/>
                <a:gd name="T46" fmla="*/ 56 w 344"/>
                <a:gd name="T47" fmla="*/ 94 h 213"/>
                <a:gd name="T48" fmla="*/ 81 w 344"/>
                <a:gd name="T49" fmla="*/ 120 h 213"/>
                <a:gd name="T50" fmla="*/ 84 w 344"/>
                <a:gd name="T51" fmla="*/ 107 h 213"/>
                <a:gd name="T52" fmla="*/ 71 w 344"/>
                <a:gd name="T53" fmla="*/ 93 h 213"/>
                <a:gd name="T54" fmla="*/ 52 w 344"/>
                <a:gd name="T55" fmla="*/ 60 h 213"/>
                <a:gd name="T56" fmla="*/ 44 w 344"/>
                <a:gd name="T57" fmla="*/ 42 h 213"/>
                <a:gd name="T58" fmla="*/ 29 w 344"/>
                <a:gd name="T59" fmla="*/ 29 h 213"/>
                <a:gd name="T60" fmla="*/ 29 w 344"/>
                <a:gd name="T61" fmla="*/ 11 h 213"/>
                <a:gd name="T62" fmla="*/ 39 w 344"/>
                <a:gd name="T63" fmla="*/ 16 h 213"/>
                <a:gd name="T64" fmla="*/ 49 w 344"/>
                <a:gd name="T65" fmla="*/ 32 h 213"/>
                <a:gd name="T66" fmla="*/ 56 w 344"/>
                <a:gd name="T67" fmla="*/ 47 h 213"/>
                <a:gd name="T68" fmla="*/ 73 w 344"/>
                <a:gd name="T69" fmla="*/ 60 h 213"/>
                <a:gd name="T70" fmla="*/ 87 w 344"/>
                <a:gd name="T71" fmla="*/ 74 h 213"/>
                <a:gd name="T72" fmla="*/ 95 w 344"/>
                <a:gd name="T73" fmla="*/ 89 h 213"/>
                <a:gd name="T74" fmla="*/ 129 w 344"/>
                <a:gd name="T75" fmla="*/ 125 h 213"/>
                <a:gd name="T76" fmla="*/ 134 w 344"/>
                <a:gd name="T77" fmla="*/ 145 h 213"/>
                <a:gd name="T78" fmla="*/ 139 w 344"/>
                <a:gd name="T79" fmla="*/ 163 h 213"/>
                <a:gd name="T80" fmla="*/ 174 w 344"/>
                <a:gd name="T81" fmla="*/ 180 h 213"/>
                <a:gd name="T82" fmla="*/ 221 w 344"/>
                <a:gd name="T83" fmla="*/ 202 h 213"/>
                <a:gd name="T84" fmla="*/ 265 w 344"/>
                <a:gd name="T85" fmla="*/ 204 h 213"/>
                <a:gd name="T86" fmla="*/ 286 w 344"/>
                <a:gd name="T87" fmla="*/ 201 h 2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44"/>
                <a:gd name="T133" fmla="*/ 0 h 213"/>
                <a:gd name="T134" fmla="*/ 344 w 344"/>
                <a:gd name="T135" fmla="*/ 213 h 2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44" h="213">
                  <a:moveTo>
                    <a:pt x="286" y="201"/>
                  </a:moveTo>
                  <a:cubicBezTo>
                    <a:pt x="287" y="201"/>
                    <a:pt x="300" y="202"/>
                    <a:pt x="301" y="199"/>
                  </a:cubicBezTo>
                  <a:cubicBezTo>
                    <a:pt x="302" y="196"/>
                    <a:pt x="292" y="189"/>
                    <a:pt x="293" y="188"/>
                  </a:cubicBezTo>
                  <a:cubicBezTo>
                    <a:pt x="294" y="188"/>
                    <a:pt x="294" y="180"/>
                    <a:pt x="296" y="180"/>
                  </a:cubicBezTo>
                  <a:cubicBezTo>
                    <a:pt x="298" y="180"/>
                    <a:pt x="316" y="181"/>
                    <a:pt x="317" y="180"/>
                  </a:cubicBezTo>
                  <a:cubicBezTo>
                    <a:pt x="318" y="180"/>
                    <a:pt x="321" y="173"/>
                    <a:pt x="324" y="173"/>
                  </a:cubicBezTo>
                  <a:cubicBezTo>
                    <a:pt x="325" y="173"/>
                    <a:pt x="327" y="175"/>
                    <a:pt x="329" y="176"/>
                  </a:cubicBezTo>
                  <a:cubicBezTo>
                    <a:pt x="333" y="173"/>
                    <a:pt x="334" y="167"/>
                    <a:pt x="334" y="161"/>
                  </a:cubicBezTo>
                  <a:cubicBezTo>
                    <a:pt x="335" y="154"/>
                    <a:pt x="333" y="152"/>
                    <a:pt x="336" y="148"/>
                  </a:cubicBezTo>
                  <a:cubicBezTo>
                    <a:pt x="340" y="145"/>
                    <a:pt x="344" y="144"/>
                    <a:pt x="343" y="139"/>
                  </a:cubicBezTo>
                  <a:cubicBezTo>
                    <a:pt x="342" y="134"/>
                    <a:pt x="337" y="139"/>
                    <a:pt x="333" y="137"/>
                  </a:cubicBezTo>
                  <a:cubicBezTo>
                    <a:pt x="329" y="134"/>
                    <a:pt x="325" y="136"/>
                    <a:pt x="315" y="137"/>
                  </a:cubicBezTo>
                  <a:cubicBezTo>
                    <a:pt x="305" y="139"/>
                    <a:pt x="300" y="143"/>
                    <a:pt x="301" y="150"/>
                  </a:cubicBezTo>
                  <a:cubicBezTo>
                    <a:pt x="301" y="158"/>
                    <a:pt x="297" y="154"/>
                    <a:pt x="297" y="161"/>
                  </a:cubicBezTo>
                  <a:cubicBezTo>
                    <a:pt x="298" y="167"/>
                    <a:pt x="289" y="167"/>
                    <a:pt x="290" y="171"/>
                  </a:cubicBezTo>
                  <a:cubicBezTo>
                    <a:pt x="290" y="175"/>
                    <a:pt x="283" y="171"/>
                    <a:pt x="281" y="170"/>
                  </a:cubicBezTo>
                  <a:cubicBezTo>
                    <a:pt x="279" y="168"/>
                    <a:pt x="258" y="175"/>
                    <a:pt x="255" y="175"/>
                  </a:cubicBezTo>
                  <a:cubicBezTo>
                    <a:pt x="252" y="176"/>
                    <a:pt x="246" y="169"/>
                    <a:pt x="242" y="169"/>
                  </a:cubicBezTo>
                  <a:cubicBezTo>
                    <a:pt x="238" y="170"/>
                    <a:pt x="236" y="163"/>
                    <a:pt x="236" y="158"/>
                  </a:cubicBezTo>
                  <a:cubicBezTo>
                    <a:pt x="235" y="153"/>
                    <a:pt x="227" y="148"/>
                    <a:pt x="224" y="143"/>
                  </a:cubicBezTo>
                  <a:cubicBezTo>
                    <a:pt x="220" y="138"/>
                    <a:pt x="220" y="128"/>
                    <a:pt x="219" y="121"/>
                  </a:cubicBezTo>
                  <a:cubicBezTo>
                    <a:pt x="219" y="114"/>
                    <a:pt x="218" y="103"/>
                    <a:pt x="223" y="90"/>
                  </a:cubicBezTo>
                  <a:cubicBezTo>
                    <a:pt x="224" y="88"/>
                    <a:pt x="224" y="86"/>
                    <a:pt x="224" y="85"/>
                  </a:cubicBezTo>
                  <a:cubicBezTo>
                    <a:pt x="222" y="84"/>
                    <a:pt x="221" y="83"/>
                    <a:pt x="219" y="83"/>
                  </a:cubicBezTo>
                  <a:cubicBezTo>
                    <a:pt x="215" y="83"/>
                    <a:pt x="206" y="77"/>
                    <a:pt x="204" y="77"/>
                  </a:cubicBezTo>
                  <a:cubicBezTo>
                    <a:pt x="202" y="77"/>
                    <a:pt x="202" y="73"/>
                    <a:pt x="200" y="71"/>
                  </a:cubicBezTo>
                  <a:cubicBezTo>
                    <a:pt x="199" y="68"/>
                    <a:pt x="200" y="64"/>
                    <a:pt x="198" y="62"/>
                  </a:cubicBezTo>
                  <a:cubicBezTo>
                    <a:pt x="196" y="60"/>
                    <a:pt x="189" y="54"/>
                    <a:pt x="187" y="47"/>
                  </a:cubicBezTo>
                  <a:cubicBezTo>
                    <a:pt x="185" y="39"/>
                    <a:pt x="172" y="36"/>
                    <a:pt x="167" y="35"/>
                  </a:cubicBezTo>
                  <a:cubicBezTo>
                    <a:pt x="162" y="35"/>
                    <a:pt x="160" y="45"/>
                    <a:pt x="158" y="46"/>
                  </a:cubicBezTo>
                  <a:cubicBezTo>
                    <a:pt x="157" y="46"/>
                    <a:pt x="148" y="40"/>
                    <a:pt x="145" y="39"/>
                  </a:cubicBezTo>
                  <a:cubicBezTo>
                    <a:pt x="143" y="38"/>
                    <a:pt x="141" y="35"/>
                    <a:pt x="141" y="32"/>
                  </a:cubicBezTo>
                  <a:cubicBezTo>
                    <a:pt x="141" y="29"/>
                    <a:pt x="136" y="24"/>
                    <a:pt x="134" y="23"/>
                  </a:cubicBezTo>
                  <a:cubicBezTo>
                    <a:pt x="132" y="22"/>
                    <a:pt x="121" y="11"/>
                    <a:pt x="121" y="11"/>
                  </a:cubicBezTo>
                  <a:cubicBezTo>
                    <a:pt x="104" y="11"/>
                    <a:pt x="104" y="11"/>
                    <a:pt x="104" y="11"/>
                  </a:cubicBezTo>
                  <a:cubicBezTo>
                    <a:pt x="100" y="16"/>
                    <a:pt x="100" y="16"/>
                    <a:pt x="100" y="16"/>
                  </a:cubicBezTo>
                  <a:cubicBezTo>
                    <a:pt x="68" y="17"/>
                    <a:pt x="68" y="17"/>
                    <a:pt x="68" y="17"/>
                  </a:cubicBezTo>
                  <a:cubicBezTo>
                    <a:pt x="68" y="17"/>
                    <a:pt x="43" y="7"/>
                    <a:pt x="39" y="6"/>
                  </a:cubicBezTo>
                  <a:cubicBezTo>
                    <a:pt x="34" y="5"/>
                    <a:pt x="26" y="0"/>
                    <a:pt x="26" y="0"/>
                  </a:cubicBezTo>
                  <a:cubicBezTo>
                    <a:pt x="0" y="3"/>
                    <a:pt x="0" y="3"/>
                    <a:pt x="0" y="3"/>
                  </a:cubicBezTo>
                  <a:cubicBezTo>
                    <a:pt x="1" y="6"/>
                    <a:pt x="3" y="9"/>
                    <a:pt x="6" y="13"/>
                  </a:cubicBezTo>
                  <a:cubicBezTo>
                    <a:pt x="11" y="19"/>
                    <a:pt x="15" y="31"/>
                    <a:pt x="16" y="35"/>
                  </a:cubicBezTo>
                  <a:cubicBezTo>
                    <a:pt x="16" y="39"/>
                    <a:pt x="23" y="42"/>
                    <a:pt x="30" y="46"/>
                  </a:cubicBezTo>
                  <a:cubicBezTo>
                    <a:pt x="36" y="50"/>
                    <a:pt x="36" y="59"/>
                    <a:pt x="35" y="61"/>
                  </a:cubicBezTo>
                  <a:cubicBezTo>
                    <a:pt x="34" y="63"/>
                    <a:pt x="27" y="59"/>
                    <a:pt x="26" y="62"/>
                  </a:cubicBezTo>
                  <a:cubicBezTo>
                    <a:pt x="26" y="64"/>
                    <a:pt x="36" y="73"/>
                    <a:pt x="40" y="72"/>
                  </a:cubicBezTo>
                  <a:cubicBezTo>
                    <a:pt x="44" y="72"/>
                    <a:pt x="46" y="74"/>
                    <a:pt x="52" y="80"/>
                  </a:cubicBezTo>
                  <a:cubicBezTo>
                    <a:pt x="59" y="85"/>
                    <a:pt x="58" y="92"/>
                    <a:pt x="56" y="94"/>
                  </a:cubicBezTo>
                  <a:cubicBezTo>
                    <a:pt x="53" y="96"/>
                    <a:pt x="61" y="100"/>
                    <a:pt x="69" y="105"/>
                  </a:cubicBezTo>
                  <a:cubicBezTo>
                    <a:pt x="77" y="110"/>
                    <a:pt x="80" y="117"/>
                    <a:pt x="81" y="120"/>
                  </a:cubicBezTo>
                  <a:cubicBezTo>
                    <a:pt x="81" y="122"/>
                    <a:pt x="85" y="120"/>
                    <a:pt x="86" y="116"/>
                  </a:cubicBezTo>
                  <a:cubicBezTo>
                    <a:pt x="87" y="112"/>
                    <a:pt x="84" y="111"/>
                    <a:pt x="84" y="107"/>
                  </a:cubicBezTo>
                  <a:cubicBezTo>
                    <a:pt x="84" y="103"/>
                    <a:pt x="77" y="104"/>
                    <a:pt x="74" y="103"/>
                  </a:cubicBezTo>
                  <a:cubicBezTo>
                    <a:pt x="71" y="103"/>
                    <a:pt x="74" y="96"/>
                    <a:pt x="71" y="93"/>
                  </a:cubicBezTo>
                  <a:cubicBezTo>
                    <a:pt x="68" y="90"/>
                    <a:pt x="66" y="83"/>
                    <a:pt x="64" y="77"/>
                  </a:cubicBezTo>
                  <a:cubicBezTo>
                    <a:pt x="63" y="72"/>
                    <a:pt x="55" y="66"/>
                    <a:pt x="52" y="60"/>
                  </a:cubicBezTo>
                  <a:cubicBezTo>
                    <a:pt x="48" y="54"/>
                    <a:pt x="45" y="49"/>
                    <a:pt x="43" y="48"/>
                  </a:cubicBezTo>
                  <a:cubicBezTo>
                    <a:pt x="40" y="46"/>
                    <a:pt x="46" y="44"/>
                    <a:pt x="44" y="42"/>
                  </a:cubicBezTo>
                  <a:cubicBezTo>
                    <a:pt x="42" y="40"/>
                    <a:pt x="39" y="40"/>
                    <a:pt x="35" y="38"/>
                  </a:cubicBezTo>
                  <a:cubicBezTo>
                    <a:pt x="31" y="36"/>
                    <a:pt x="29" y="33"/>
                    <a:pt x="29" y="29"/>
                  </a:cubicBezTo>
                  <a:cubicBezTo>
                    <a:pt x="29" y="25"/>
                    <a:pt x="26" y="16"/>
                    <a:pt x="25" y="13"/>
                  </a:cubicBezTo>
                  <a:cubicBezTo>
                    <a:pt x="24" y="9"/>
                    <a:pt x="28" y="10"/>
                    <a:pt x="29" y="11"/>
                  </a:cubicBezTo>
                  <a:cubicBezTo>
                    <a:pt x="30" y="13"/>
                    <a:pt x="31" y="14"/>
                    <a:pt x="33" y="13"/>
                  </a:cubicBezTo>
                  <a:cubicBezTo>
                    <a:pt x="35" y="12"/>
                    <a:pt x="38" y="13"/>
                    <a:pt x="39" y="16"/>
                  </a:cubicBezTo>
                  <a:cubicBezTo>
                    <a:pt x="40" y="19"/>
                    <a:pt x="45" y="16"/>
                    <a:pt x="47" y="17"/>
                  </a:cubicBezTo>
                  <a:cubicBezTo>
                    <a:pt x="49" y="19"/>
                    <a:pt x="42" y="20"/>
                    <a:pt x="49" y="32"/>
                  </a:cubicBezTo>
                  <a:cubicBezTo>
                    <a:pt x="55" y="43"/>
                    <a:pt x="51" y="37"/>
                    <a:pt x="51" y="44"/>
                  </a:cubicBezTo>
                  <a:cubicBezTo>
                    <a:pt x="51" y="52"/>
                    <a:pt x="55" y="49"/>
                    <a:pt x="56" y="47"/>
                  </a:cubicBezTo>
                  <a:cubicBezTo>
                    <a:pt x="57" y="46"/>
                    <a:pt x="61" y="50"/>
                    <a:pt x="64" y="54"/>
                  </a:cubicBezTo>
                  <a:cubicBezTo>
                    <a:pt x="67" y="58"/>
                    <a:pt x="73" y="58"/>
                    <a:pt x="73" y="60"/>
                  </a:cubicBezTo>
                  <a:cubicBezTo>
                    <a:pt x="73" y="63"/>
                    <a:pt x="75" y="67"/>
                    <a:pt x="79" y="68"/>
                  </a:cubicBezTo>
                  <a:cubicBezTo>
                    <a:pt x="83" y="69"/>
                    <a:pt x="84" y="73"/>
                    <a:pt x="87" y="74"/>
                  </a:cubicBezTo>
                  <a:cubicBezTo>
                    <a:pt x="89" y="74"/>
                    <a:pt x="90" y="77"/>
                    <a:pt x="88" y="81"/>
                  </a:cubicBezTo>
                  <a:cubicBezTo>
                    <a:pt x="87" y="84"/>
                    <a:pt x="88" y="87"/>
                    <a:pt x="95" y="89"/>
                  </a:cubicBezTo>
                  <a:cubicBezTo>
                    <a:pt x="102" y="92"/>
                    <a:pt x="99" y="93"/>
                    <a:pt x="105" y="98"/>
                  </a:cubicBezTo>
                  <a:cubicBezTo>
                    <a:pt x="110" y="103"/>
                    <a:pt x="126" y="120"/>
                    <a:pt x="129" y="125"/>
                  </a:cubicBezTo>
                  <a:cubicBezTo>
                    <a:pt x="132" y="130"/>
                    <a:pt x="133" y="134"/>
                    <a:pt x="134" y="137"/>
                  </a:cubicBezTo>
                  <a:cubicBezTo>
                    <a:pt x="136" y="141"/>
                    <a:pt x="132" y="142"/>
                    <a:pt x="134" y="145"/>
                  </a:cubicBezTo>
                  <a:cubicBezTo>
                    <a:pt x="136" y="148"/>
                    <a:pt x="130" y="147"/>
                    <a:pt x="130" y="149"/>
                  </a:cubicBezTo>
                  <a:cubicBezTo>
                    <a:pt x="131" y="152"/>
                    <a:pt x="134" y="163"/>
                    <a:pt x="139" y="163"/>
                  </a:cubicBezTo>
                  <a:cubicBezTo>
                    <a:pt x="145" y="164"/>
                    <a:pt x="151" y="171"/>
                    <a:pt x="156" y="174"/>
                  </a:cubicBezTo>
                  <a:cubicBezTo>
                    <a:pt x="160" y="178"/>
                    <a:pt x="167" y="177"/>
                    <a:pt x="174" y="180"/>
                  </a:cubicBezTo>
                  <a:cubicBezTo>
                    <a:pt x="180" y="182"/>
                    <a:pt x="186" y="188"/>
                    <a:pt x="196" y="191"/>
                  </a:cubicBezTo>
                  <a:cubicBezTo>
                    <a:pt x="206" y="194"/>
                    <a:pt x="215" y="198"/>
                    <a:pt x="221" y="202"/>
                  </a:cubicBezTo>
                  <a:cubicBezTo>
                    <a:pt x="228" y="206"/>
                    <a:pt x="235" y="204"/>
                    <a:pt x="244" y="201"/>
                  </a:cubicBezTo>
                  <a:cubicBezTo>
                    <a:pt x="253" y="197"/>
                    <a:pt x="260" y="202"/>
                    <a:pt x="265" y="204"/>
                  </a:cubicBezTo>
                  <a:cubicBezTo>
                    <a:pt x="267" y="205"/>
                    <a:pt x="272" y="209"/>
                    <a:pt x="277" y="213"/>
                  </a:cubicBezTo>
                  <a:cubicBezTo>
                    <a:pt x="281" y="207"/>
                    <a:pt x="285" y="201"/>
                    <a:pt x="286" y="20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5" name="Freeform 101"/>
            <p:cNvSpPr>
              <a:spLocks noChangeArrowheads="1"/>
            </p:cNvSpPr>
            <p:nvPr/>
          </p:nvSpPr>
          <p:spPr bwMode="auto">
            <a:xfrm>
              <a:off x="1635131" y="2079627"/>
              <a:ext cx="92076" cy="90488"/>
            </a:xfrm>
            <a:custGeom>
              <a:avLst/>
              <a:gdLst>
                <a:gd name="T0" fmla="*/ 42 w 48"/>
                <a:gd name="T1" fmla="*/ 31 h 47"/>
                <a:gd name="T2" fmla="*/ 48 w 48"/>
                <a:gd name="T3" fmla="*/ 25 h 47"/>
                <a:gd name="T4" fmla="*/ 43 w 48"/>
                <a:gd name="T5" fmla="*/ 22 h 47"/>
                <a:gd name="T6" fmla="*/ 38 w 48"/>
                <a:gd name="T7" fmla="*/ 23 h 47"/>
                <a:gd name="T8" fmla="*/ 38 w 48"/>
                <a:gd name="T9" fmla="*/ 0 h 47"/>
                <a:gd name="T10" fmla="*/ 19 w 48"/>
                <a:gd name="T11" fmla="*/ 0 h 47"/>
                <a:gd name="T12" fmla="*/ 16 w 48"/>
                <a:gd name="T13" fmla="*/ 8 h 47"/>
                <a:gd name="T14" fmla="*/ 24 w 48"/>
                <a:gd name="T15" fmla="*/ 19 h 47"/>
                <a:gd name="T16" fmla="*/ 9 w 48"/>
                <a:gd name="T17" fmla="*/ 21 h 47"/>
                <a:gd name="T18" fmla="*/ 0 w 48"/>
                <a:gd name="T19" fmla="*/ 33 h 47"/>
                <a:gd name="T20" fmla="*/ 12 w 48"/>
                <a:gd name="T21" fmla="*/ 44 h 47"/>
                <a:gd name="T22" fmla="*/ 28 w 48"/>
                <a:gd name="T23" fmla="*/ 47 h 47"/>
                <a:gd name="T24" fmla="*/ 28 w 48"/>
                <a:gd name="T25" fmla="*/ 47 h 47"/>
                <a:gd name="T26" fmla="*/ 36 w 48"/>
                <a:gd name="T27" fmla="*/ 40 h 47"/>
                <a:gd name="T28" fmla="*/ 42 w 48"/>
                <a:gd name="T29" fmla="*/ 31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8"/>
                <a:gd name="T46" fmla="*/ 0 h 47"/>
                <a:gd name="T47" fmla="*/ 48 w 4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8" h="47">
                  <a:moveTo>
                    <a:pt x="42" y="31"/>
                  </a:moveTo>
                  <a:cubicBezTo>
                    <a:pt x="44" y="29"/>
                    <a:pt x="46" y="27"/>
                    <a:pt x="48" y="25"/>
                  </a:cubicBezTo>
                  <a:cubicBezTo>
                    <a:pt x="44" y="27"/>
                    <a:pt x="43" y="25"/>
                    <a:pt x="43" y="22"/>
                  </a:cubicBezTo>
                  <a:cubicBezTo>
                    <a:pt x="38" y="23"/>
                    <a:pt x="38" y="23"/>
                    <a:pt x="38" y="23"/>
                  </a:cubicBezTo>
                  <a:cubicBezTo>
                    <a:pt x="38" y="0"/>
                    <a:pt x="38" y="0"/>
                    <a:pt x="38" y="0"/>
                  </a:cubicBezTo>
                  <a:cubicBezTo>
                    <a:pt x="34" y="0"/>
                    <a:pt x="21" y="0"/>
                    <a:pt x="19" y="0"/>
                  </a:cubicBezTo>
                  <a:cubicBezTo>
                    <a:pt x="17" y="0"/>
                    <a:pt x="17" y="8"/>
                    <a:pt x="16" y="8"/>
                  </a:cubicBezTo>
                  <a:cubicBezTo>
                    <a:pt x="15" y="9"/>
                    <a:pt x="25" y="16"/>
                    <a:pt x="24" y="19"/>
                  </a:cubicBezTo>
                  <a:cubicBezTo>
                    <a:pt x="23" y="22"/>
                    <a:pt x="10" y="21"/>
                    <a:pt x="9" y="21"/>
                  </a:cubicBezTo>
                  <a:cubicBezTo>
                    <a:pt x="8" y="21"/>
                    <a:pt x="4" y="27"/>
                    <a:pt x="0" y="33"/>
                  </a:cubicBezTo>
                  <a:cubicBezTo>
                    <a:pt x="5" y="38"/>
                    <a:pt x="10" y="42"/>
                    <a:pt x="12" y="44"/>
                  </a:cubicBezTo>
                  <a:cubicBezTo>
                    <a:pt x="17" y="47"/>
                    <a:pt x="25" y="44"/>
                    <a:pt x="28" y="47"/>
                  </a:cubicBezTo>
                  <a:cubicBezTo>
                    <a:pt x="28" y="47"/>
                    <a:pt x="28" y="47"/>
                    <a:pt x="28" y="47"/>
                  </a:cubicBezTo>
                  <a:cubicBezTo>
                    <a:pt x="32" y="44"/>
                    <a:pt x="35" y="40"/>
                    <a:pt x="36" y="40"/>
                  </a:cubicBezTo>
                  <a:cubicBezTo>
                    <a:pt x="39" y="39"/>
                    <a:pt x="37" y="35"/>
                    <a:pt x="42" y="3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6" name="Freeform 102"/>
            <p:cNvSpPr>
              <a:spLocks noChangeArrowheads="1"/>
            </p:cNvSpPr>
            <p:nvPr/>
          </p:nvSpPr>
          <p:spPr bwMode="auto">
            <a:xfrm>
              <a:off x="1708156" y="2066927"/>
              <a:ext cx="26988" cy="57151"/>
            </a:xfrm>
            <a:custGeom>
              <a:avLst/>
              <a:gdLst>
                <a:gd name="T0" fmla="*/ 2 w 14"/>
                <a:gd name="T1" fmla="*/ 7 h 30"/>
                <a:gd name="T2" fmla="*/ 0 w 14"/>
                <a:gd name="T3" fmla="*/ 7 h 30"/>
                <a:gd name="T4" fmla="*/ 0 w 14"/>
                <a:gd name="T5" fmla="*/ 30 h 30"/>
                <a:gd name="T6" fmla="*/ 5 w 14"/>
                <a:gd name="T7" fmla="*/ 29 h 30"/>
                <a:gd name="T8" fmla="*/ 9 w 14"/>
                <a:gd name="T9" fmla="*/ 24 h 30"/>
                <a:gd name="T10" fmla="*/ 12 w 14"/>
                <a:gd name="T11" fmla="*/ 5 h 30"/>
                <a:gd name="T12" fmla="*/ 14 w 14"/>
                <a:gd name="T13" fmla="*/ 3 h 30"/>
                <a:gd name="T14" fmla="*/ 9 w 14"/>
                <a:gd name="T15" fmla="*/ 0 h 30"/>
                <a:gd name="T16" fmla="*/ 2 w 14"/>
                <a:gd name="T17" fmla="*/ 7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
                <a:gd name="T28" fmla="*/ 0 h 30"/>
                <a:gd name="T29" fmla="*/ 14 w 14"/>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 h="30">
                  <a:moveTo>
                    <a:pt x="2" y="7"/>
                  </a:moveTo>
                  <a:cubicBezTo>
                    <a:pt x="2" y="7"/>
                    <a:pt x="1" y="7"/>
                    <a:pt x="0" y="7"/>
                  </a:cubicBezTo>
                  <a:cubicBezTo>
                    <a:pt x="0" y="30"/>
                    <a:pt x="0" y="30"/>
                    <a:pt x="0" y="30"/>
                  </a:cubicBezTo>
                  <a:cubicBezTo>
                    <a:pt x="5" y="29"/>
                    <a:pt x="5" y="29"/>
                    <a:pt x="5" y="29"/>
                  </a:cubicBezTo>
                  <a:cubicBezTo>
                    <a:pt x="6" y="27"/>
                    <a:pt x="7" y="25"/>
                    <a:pt x="9" y="24"/>
                  </a:cubicBezTo>
                  <a:cubicBezTo>
                    <a:pt x="13" y="20"/>
                    <a:pt x="7" y="6"/>
                    <a:pt x="12" y="5"/>
                  </a:cubicBezTo>
                  <a:cubicBezTo>
                    <a:pt x="13" y="5"/>
                    <a:pt x="14" y="4"/>
                    <a:pt x="14" y="3"/>
                  </a:cubicBezTo>
                  <a:cubicBezTo>
                    <a:pt x="12" y="2"/>
                    <a:pt x="10" y="0"/>
                    <a:pt x="9" y="0"/>
                  </a:cubicBezTo>
                  <a:cubicBezTo>
                    <a:pt x="6" y="0"/>
                    <a:pt x="3" y="7"/>
                    <a:pt x="2"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7" name="Freeform 103"/>
            <p:cNvSpPr>
              <a:spLocks noChangeArrowheads="1"/>
            </p:cNvSpPr>
            <p:nvPr/>
          </p:nvSpPr>
          <p:spPr bwMode="auto">
            <a:xfrm>
              <a:off x="2024070" y="2024064"/>
              <a:ext cx="65088" cy="55564"/>
            </a:xfrm>
            <a:custGeom>
              <a:avLst/>
              <a:gdLst>
                <a:gd name="T0" fmla="*/ 16 w 34"/>
                <a:gd name="T1" fmla="*/ 3 h 29"/>
                <a:gd name="T2" fmla="*/ 23 w 34"/>
                <a:gd name="T3" fmla="*/ 19 h 29"/>
                <a:gd name="T4" fmla="*/ 1 w 34"/>
                <a:gd name="T5" fmla="*/ 23 h 29"/>
                <a:gd name="T6" fmla="*/ 16 w 34"/>
                <a:gd name="T7" fmla="*/ 26 h 29"/>
                <a:gd name="T8" fmla="*/ 31 w 34"/>
                <a:gd name="T9" fmla="*/ 28 h 29"/>
                <a:gd name="T10" fmla="*/ 34 w 34"/>
                <a:gd name="T11" fmla="*/ 6 h 29"/>
                <a:gd name="T12" fmla="*/ 16 w 34"/>
                <a:gd name="T13" fmla="*/ 3 h 29"/>
                <a:gd name="T14" fmla="*/ 0 60000 65536"/>
                <a:gd name="T15" fmla="*/ 0 60000 65536"/>
                <a:gd name="T16" fmla="*/ 0 60000 65536"/>
                <a:gd name="T17" fmla="*/ 0 60000 65536"/>
                <a:gd name="T18" fmla="*/ 0 60000 65536"/>
                <a:gd name="T19" fmla="*/ 0 60000 65536"/>
                <a:gd name="T20" fmla="*/ 0 60000 65536"/>
                <a:gd name="T21" fmla="*/ 0 w 34"/>
                <a:gd name="T22" fmla="*/ 0 h 29"/>
                <a:gd name="T23" fmla="*/ 34 w 34"/>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29">
                  <a:moveTo>
                    <a:pt x="16" y="3"/>
                  </a:moveTo>
                  <a:cubicBezTo>
                    <a:pt x="11" y="7"/>
                    <a:pt x="23" y="14"/>
                    <a:pt x="23" y="19"/>
                  </a:cubicBezTo>
                  <a:cubicBezTo>
                    <a:pt x="23" y="23"/>
                    <a:pt x="3" y="18"/>
                    <a:pt x="1" y="23"/>
                  </a:cubicBezTo>
                  <a:cubicBezTo>
                    <a:pt x="0" y="25"/>
                    <a:pt x="8" y="29"/>
                    <a:pt x="16" y="26"/>
                  </a:cubicBezTo>
                  <a:cubicBezTo>
                    <a:pt x="23" y="24"/>
                    <a:pt x="28" y="26"/>
                    <a:pt x="31" y="28"/>
                  </a:cubicBezTo>
                  <a:cubicBezTo>
                    <a:pt x="32" y="21"/>
                    <a:pt x="33" y="12"/>
                    <a:pt x="34" y="6"/>
                  </a:cubicBezTo>
                  <a:cubicBezTo>
                    <a:pt x="27" y="5"/>
                    <a:pt x="19" y="0"/>
                    <a:pt x="16"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8" name="Freeform 104"/>
            <p:cNvSpPr>
              <a:spLocks noChangeArrowheads="1"/>
            </p:cNvSpPr>
            <p:nvPr/>
          </p:nvSpPr>
          <p:spPr bwMode="auto">
            <a:xfrm>
              <a:off x="2082807" y="2033590"/>
              <a:ext cx="74613" cy="50800"/>
            </a:xfrm>
            <a:custGeom>
              <a:avLst/>
              <a:gdLst>
                <a:gd name="T0" fmla="*/ 15 w 39"/>
                <a:gd name="T1" fmla="*/ 19 h 26"/>
                <a:gd name="T2" fmla="*/ 39 w 39"/>
                <a:gd name="T3" fmla="*/ 14 h 26"/>
                <a:gd name="T4" fmla="*/ 9 w 39"/>
                <a:gd name="T5" fmla="*/ 2 h 26"/>
                <a:gd name="T6" fmla="*/ 3 w 39"/>
                <a:gd name="T7" fmla="*/ 1 h 26"/>
                <a:gd name="T8" fmla="*/ 0 w 39"/>
                <a:gd name="T9" fmla="*/ 23 h 26"/>
                <a:gd name="T10" fmla="*/ 1 w 39"/>
                <a:gd name="T11" fmla="*/ 24 h 26"/>
                <a:gd name="T12" fmla="*/ 15 w 39"/>
                <a:gd name="T13" fmla="*/ 19 h 26"/>
                <a:gd name="T14" fmla="*/ 0 60000 65536"/>
                <a:gd name="T15" fmla="*/ 0 60000 65536"/>
                <a:gd name="T16" fmla="*/ 0 60000 65536"/>
                <a:gd name="T17" fmla="*/ 0 60000 65536"/>
                <a:gd name="T18" fmla="*/ 0 60000 65536"/>
                <a:gd name="T19" fmla="*/ 0 60000 65536"/>
                <a:gd name="T20" fmla="*/ 0 60000 65536"/>
                <a:gd name="T21" fmla="*/ 0 w 39"/>
                <a:gd name="T22" fmla="*/ 0 h 26"/>
                <a:gd name="T23" fmla="*/ 39 w 39"/>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26">
                  <a:moveTo>
                    <a:pt x="15" y="19"/>
                  </a:moveTo>
                  <a:cubicBezTo>
                    <a:pt x="24" y="16"/>
                    <a:pt x="39" y="21"/>
                    <a:pt x="39" y="14"/>
                  </a:cubicBezTo>
                  <a:cubicBezTo>
                    <a:pt x="39" y="7"/>
                    <a:pt x="15" y="0"/>
                    <a:pt x="9" y="2"/>
                  </a:cubicBezTo>
                  <a:cubicBezTo>
                    <a:pt x="7" y="2"/>
                    <a:pt x="5" y="2"/>
                    <a:pt x="3" y="1"/>
                  </a:cubicBezTo>
                  <a:cubicBezTo>
                    <a:pt x="2" y="7"/>
                    <a:pt x="1" y="16"/>
                    <a:pt x="0" y="23"/>
                  </a:cubicBezTo>
                  <a:cubicBezTo>
                    <a:pt x="1" y="23"/>
                    <a:pt x="1" y="23"/>
                    <a:pt x="1" y="24"/>
                  </a:cubicBezTo>
                  <a:cubicBezTo>
                    <a:pt x="5" y="26"/>
                    <a:pt x="6" y="22"/>
                    <a:pt x="15"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99" name="Freeform 105"/>
            <p:cNvSpPr>
              <a:spLocks noChangeArrowheads="1"/>
            </p:cNvSpPr>
            <p:nvPr/>
          </p:nvSpPr>
          <p:spPr bwMode="auto">
            <a:xfrm>
              <a:off x="1746256" y="2143128"/>
              <a:ext cx="92076" cy="93663"/>
            </a:xfrm>
            <a:custGeom>
              <a:avLst/>
              <a:gdLst>
                <a:gd name="T0" fmla="*/ 26 w 48"/>
                <a:gd name="T1" fmla="*/ 46 h 49"/>
                <a:gd name="T2" fmla="*/ 37 w 48"/>
                <a:gd name="T3" fmla="*/ 48 h 49"/>
                <a:gd name="T4" fmla="*/ 42 w 48"/>
                <a:gd name="T5" fmla="*/ 49 h 49"/>
                <a:gd name="T6" fmla="*/ 41 w 48"/>
                <a:gd name="T7" fmla="*/ 47 h 49"/>
                <a:gd name="T8" fmla="*/ 44 w 48"/>
                <a:gd name="T9" fmla="*/ 32 h 49"/>
                <a:gd name="T10" fmla="*/ 45 w 48"/>
                <a:gd name="T11" fmla="*/ 13 h 49"/>
                <a:gd name="T12" fmla="*/ 48 w 48"/>
                <a:gd name="T13" fmla="*/ 1 h 49"/>
                <a:gd name="T14" fmla="*/ 48 w 48"/>
                <a:gd name="T15" fmla="*/ 0 h 49"/>
                <a:gd name="T16" fmla="*/ 34 w 48"/>
                <a:gd name="T17" fmla="*/ 5 h 49"/>
                <a:gd name="T18" fmla="*/ 24 w 48"/>
                <a:gd name="T19" fmla="*/ 8 h 49"/>
                <a:gd name="T20" fmla="*/ 11 w 48"/>
                <a:gd name="T21" fmla="*/ 13 h 49"/>
                <a:gd name="T22" fmla="*/ 8 w 48"/>
                <a:gd name="T23" fmla="*/ 20 h 49"/>
                <a:gd name="T24" fmla="*/ 4 w 48"/>
                <a:gd name="T25" fmla="*/ 23 h 49"/>
                <a:gd name="T26" fmla="*/ 0 w 48"/>
                <a:gd name="T27" fmla="*/ 24 h 49"/>
                <a:gd name="T28" fmla="*/ 2 w 48"/>
                <a:gd name="T29" fmla="*/ 28 h 49"/>
                <a:gd name="T30" fmla="*/ 16 w 48"/>
                <a:gd name="T31" fmla="*/ 42 h 49"/>
                <a:gd name="T32" fmla="*/ 19 w 48"/>
                <a:gd name="T33" fmla="*/ 46 h 49"/>
                <a:gd name="T34" fmla="*/ 26 w 48"/>
                <a:gd name="T35" fmla="*/ 46 h 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49"/>
                <a:gd name="T56" fmla="*/ 48 w 48"/>
                <a:gd name="T57" fmla="*/ 49 h 4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49">
                  <a:moveTo>
                    <a:pt x="26" y="46"/>
                  </a:moveTo>
                  <a:cubicBezTo>
                    <a:pt x="28" y="48"/>
                    <a:pt x="34" y="46"/>
                    <a:pt x="37" y="48"/>
                  </a:cubicBezTo>
                  <a:cubicBezTo>
                    <a:pt x="38" y="49"/>
                    <a:pt x="40" y="49"/>
                    <a:pt x="42" y="49"/>
                  </a:cubicBezTo>
                  <a:cubicBezTo>
                    <a:pt x="42" y="48"/>
                    <a:pt x="41" y="47"/>
                    <a:pt x="41" y="47"/>
                  </a:cubicBezTo>
                  <a:cubicBezTo>
                    <a:pt x="39" y="43"/>
                    <a:pt x="42" y="37"/>
                    <a:pt x="44" y="32"/>
                  </a:cubicBezTo>
                  <a:cubicBezTo>
                    <a:pt x="45" y="27"/>
                    <a:pt x="42" y="16"/>
                    <a:pt x="45" y="13"/>
                  </a:cubicBezTo>
                  <a:cubicBezTo>
                    <a:pt x="48" y="10"/>
                    <a:pt x="46" y="8"/>
                    <a:pt x="48" y="1"/>
                  </a:cubicBezTo>
                  <a:cubicBezTo>
                    <a:pt x="48" y="1"/>
                    <a:pt x="48" y="0"/>
                    <a:pt x="48" y="0"/>
                  </a:cubicBezTo>
                  <a:cubicBezTo>
                    <a:pt x="42" y="0"/>
                    <a:pt x="36" y="5"/>
                    <a:pt x="34" y="5"/>
                  </a:cubicBezTo>
                  <a:cubicBezTo>
                    <a:pt x="32" y="5"/>
                    <a:pt x="25" y="3"/>
                    <a:pt x="24" y="8"/>
                  </a:cubicBezTo>
                  <a:cubicBezTo>
                    <a:pt x="23" y="12"/>
                    <a:pt x="18" y="12"/>
                    <a:pt x="11" y="13"/>
                  </a:cubicBezTo>
                  <a:cubicBezTo>
                    <a:pt x="5" y="13"/>
                    <a:pt x="8" y="19"/>
                    <a:pt x="8" y="20"/>
                  </a:cubicBezTo>
                  <a:cubicBezTo>
                    <a:pt x="7" y="21"/>
                    <a:pt x="4" y="23"/>
                    <a:pt x="4" y="23"/>
                  </a:cubicBezTo>
                  <a:cubicBezTo>
                    <a:pt x="0" y="24"/>
                    <a:pt x="0" y="24"/>
                    <a:pt x="0" y="24"/>
                  </a:cubicBezTo>
                  <a:cubicBezTo>
                    <a:pt x="0" y="26"/>
                    <a:pt x="0" y="27"/>
                    <a:pt x="2" y="28"/>
                  </a:cubicBezTo>
                  <a:cubicBezTo>
                    <a:pt x="6" y="31"/>
                    <a:pt x="11" y="39"/>
                    <a:pt x="16" y="42"/>
                  </a:cubicBezTo>
                  <a:cubicBezTo>
                    <a:pt x="18" y="43"/>
                    <a:pt x="19" y="44"/>
                    <a:pt x="19" y="46"/>
                  </a:cubicBezTo>
                  <a:cubicBezTo>
                    <a:pt x="22" y="46"/>
                    <a:pt x="24" y="46"/>
                    <a:pt x="26" y="4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0" name="Freeform 106"/>
            <p:cNvSpPr>
              <a:spLocks noChangeArrowheads="1"/>
            </p:cNvSpPr>
            <p:nvPr/>
          </p:nvSpPr>
          <p:spPr bwMode="auto">
            <a:xfrm>
              <a:off x="2036770" y="2357440"/>
              <a:ext cx="860428" cy="877889"/>
            </a:xfrm>
            <a:custGeom>
              <a:avLst/>
              <a:gdLst>
                <a:gd name="T0" fmla="*/ 253 w 450"/>
                <a:gd name="T1" fmla="*/ 427 h 460"/>
                <a:gd name="T2" fmla="*/ 260 w 450"/>
                <a:gd name="T3" fmla="*/ 429 h 460"/>
                <a:gd name="T4" fmla="*/ 289 w 450"/>
                <a:gd name="T5" fmla="*/ 379 h 460"/>
                <a:gd name="T6" fmla="*/ 307 w 450"/>
                <a:gd name="T7" fmla="*/ 343 h 460"/>
                <a:gd name="T8" fmla="*/ 337 w 450"/>
                <a:gd name="T9" fmla="*/ 326 h 460"/>
                <a:gd name="T10" fmla="*/ 372 w 450"/>
                <a:gd name="T11" fmla="*/ 316 h 460"/>
                <a:gd name="T12" fmla="*/ 386 w 450"/>
                <a:gd name="T13" fmla="*/ 290 h 460"/>
                <a:gd name="T14" fmla="*/ 397 w 450"/>
                <a:gd name="T15" fmla="*/ 264 h 460"/>
                <a:gd name="T16" fmla="*/ 401 w 450"/>
                <a:gd name="T17" fmla="*/ 211 h 460"/>
                <a:gd name="T18" fmla="*/ 409 w 450"/>
                <a:gd name="T19" fmla="*/ 206 h 460"/>
                <a:gd name="T20" fmla="*/ 445 w 450"/>
                <a:gd name="T21" fmla="*/ 158 h 460"/>
                <a:gd name="T22" fmla="*/ 406 w 450"/>
                <a:gd name="T23" fmla="*/ 104 h 460"/>
                <a:gd name="T24" fmla="*/ 336 w 450"/>
                <a:gd name="T25" fmla="*/ 96 h 460"/>
                <a:gd name="T26" fmla="*/ 295 w 450"/>
                <a:gd name="T27" fmla="*/ 74 h 460"/>
                <a:gd name="T28" fmla="*/ 291 w 450"/>
                <a:gd name="T29" fmla="*/ 67 h 460"/>
                <a:gd name="T30" fmla="*/ 264 w 450"/>
                <a:gd name="T31" fmla="*/ 60 h 460"/>
                <a:gd name="T32" fmla="*/ 258 w 450"/>
                <a:gd name="T33" fmla="*/ 13 h 460"/>
                <a:gd name="T34" fmla="*/ 222 w 450"/>
                <a:gd name="T35" fmla="*/ 32 h 460"/>
                <a:gd name="T36" fmla="*/ 191 w 450"/>
                <a:gd name="T37" fmla="*/ 39 h 460"/>
                <a:gd name="T38" fmla="*/ 165 w 450"/>
                <a:gd name="T39" fmla="*/ 40 h 460"/>
                <a:gd name="T40" fmla="*/ 157 w 450"/>
                <a:gd name="T41" fmla="*/ 1 h 460"/>
                <a:gd name="T42" fmla="*/ 129 w 450"/>
                <a:gd name="T43" fmla="*/ 17 h 460"/>
                <a:gd name="T44" fmla="*/ 107 w 450"/>
                <a:gd name="T45" fmla="*/ 15 h 460"/>
                <a:gd name="T46" fmla="*/ 120 w 450"/>
                <a:gd name="T47" fmla="*/ 32 h 460"/>
                <a:gd name="T48" fmla="*/ 105 w 450"/>
                <a:gd name="T49" fmla="*/ 46 h 460"/>
                <a:gd name="T50" fmla="*/ 84 w 450"/>
                <a:gd name="T51" fmla="*/ 49 h 460"/>
                <a:gd name="T52" fmla="*/ 48 w 450"/>
                <a:gd name="T53" fmla="*/ 42 h 460"/>
                <a:gd name="T54" fmla="*/ 45 w 450"/>
                <a:gd name="T55" fmla="*/ 59 h 460"/>
                <a:gd name="T56" fmla="*/ 46 w 450"/>
                <a:gd name="T57" fmla="*/ 108 h 460"/>
                <a:gd name="T58" fmla="*/ 12 w 450"/>
                <a:gd name="T59" fmla="*/ 120 h 460"/>
                <a:gd name="T60" fmla="*/ 2 w 450"/>
                <a:gd name="T61" fmla="*/ 144 h 460"/>
                <a:gd name="T62" fmla="*/ 15 w 450"/>
                <a:gd name="T63" fmla="*/ 168 h 460"/>
                <a:gd name="T64" fmla="*/ 38 w 450"/>
                <a:gd name="T65" fmla="*/ 172 h 460"/>
                <a:gd name="T66" fmla="*/ 65 w 450"/>
                <a:gd name="T67" fmla="*/ 184 h 460"/>
                <a:gd name="T68" fmla="*/ 99 w 450"/>
                <a:gd name="T69" fmla="*/ 174 h 460"/>
                <a:gd name="T70" fmla="*/ 124 w 450"/>
                <a:gd name="T71" fmla="*/ 206 h 460"/>
                <a:gd name="T72" fmla="*/ 150 w 450"/>
                <a:gd name="T73" fmla="*/ 217 h 460"/>
                <a:gd name="T74" fmla="*/ 158 w 450"/>
                <a:gd name="T75" fmla="*/ 242 h 460"/>
                <a:gd name="T76" fmla="*/ 186 w 450"/>
                <a:gd name="T77" fmla="*/ 265 h 460"/>
                <a:gd name="T78" fmla="*/ 182 w 450"/>
                <a:gd name="T79" fmla="*/ 293 h 460"/>
                <a:gd name="T80" fmla="*/ 199 w 450"/>
                <a:gd name="T81" fmla="*/ 317 h 460"/>
                <a:gd name="T82" fmla="*/ 222 w 450"/>
                <a:gd name="T83" fmla="*/ 337 h 460"/>
                <a:gd name="T84" fmla="*/ 230 w 450"/>
                <a:gd name="T85" fmla="*/ 375 h 460"/>
                <a:gd name="T86" fmla="*/ 187 w 450"/>
                <a:gd name="T87" fmla="*/ 415 h 460"/>
                <a:gd name="T88" fmla="*/ 205 w 450"/>
                <a:gd name="T89" fmla="*/ 426 h 460"/>
                <a:gd name="T90" fmla="*/ 232 w 450"/>
                <a:gd name="T91" fmla="*/ 443 h 46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0"/>
                <a:gd name="T139" fmla="*/ 0 h 460"/>
                <a:gd name="T140" fmla="*/ 450 w 450"/>
                <a:gd name="T141" fmla="*/ 460 h 46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0" h="460">
                  <a:moveTo>
                    <a:pt x="238" y="455"/>
                  </a:moveTo>
                  <a:cubicBezTo>
                    <a:pt x="245" y="450"/>
                    <a:pt x="244" y="447"/>
                    <a:pt x="247" y="441"/>
                  </a:cubicBezTo>
                  <a:cubicBezTo>
                    <a:pt x="250" y="435"/>
                    <a:pt x="247" y="432"/>
                    <a:pt x="253" y="427"/>
                  </a:cubicBezTo>
                  <a:cubicBezTo>
                    <a:pt x="258" y="422"/>
                    <a:pt x="252" y="418"/>
                    <a:pt x="259" y="415"/>
                  </a:cubicBezTo>
                  <a:cubicBezTo>
                    <a:pt x="266" y="412"/>
                    <a:pt x="265" y="418"/>
                    <a:pt x="259" y="425"/>
                  </a:cubicBezTo>
                  <a:cubicBezTo>
                    <a:pt x="253" y="432"/>
                    <a:pt x="252" y="434"/>
                    <a:pt x="260" y="429"/>
                  </a:cubicBezTo>
                  <a:cubicBezTo>
                    <a:pt x="267" y="423"/>
                    <a:pt x="270" y="416"/>
                    <a:pt x="274" y="407"/>
                  </a:cubicBezTo>
                  <a:cubicBezTo>
                    <a:pt x="279" y="398"/>
                    <a:pt x="282" y="395"/>
                    <a:pt x="286" y="395"/>
                  </a:cubicBezTo>
                  <a:cubicBezTo>
                    <a:pt x="289" y="394"/>
                    <a:pt x="289" y="385"/>
                    <a:pt x="289" y="379"/>
                  </a:cubicBezTo>
                  <a:cubicBezTo>
                    <a:pt x="288" y="372"/>
                    <a:pt x="286" y="366"/>
                    <a:pt x="289" y="362"/>
                  </a:cubicBezTo>
                  <a:cubicBezTo>
                    <a:pt x="292" y="358"/>
                    <a:pt x="289" y="354"/>
                    <a:pt x="293" y="354"/>
                  </a:cubicBezTo>
                  <a:cubicBezTo>
                    <a:pt x="296" y="354"/>
                    <a:pt x="301" y="348"/>
                    <a:pt x="307" y="343"/>
                  </a:cubicBezTo>
                  <a:cubicBezTo>
                    <a:pt x="312" y="337"/>
                    <a:pt x="316" y="337"/>
                    <a:pt x="322" y="336"/>
                  </a:cubicBezTo>
                  <a:cubicBezTo>
                    <a:pt x="327" y="336"/>
                    <a:pt x="324" y="334"/>
                    <a:pt x="328" y="333"/>
                  </a:cubicBezTo>
                  <a:cubicBezTo>
                    <a:pt x="332" y="332"/>
                    <a:pt x="334" y="328"/>
                    <a:pt x="337" y="326"/>
                  </a:cubicBezTo>
                  <a:cubicBezTo>
                    <a:pt x="339" y="324"/>
                    <a:pt x="349" y="326"/>
                    <a:pt x="355" y="326"/>
                  </a:cubicBezTo>
                  <a:cubicBezTo>
                    <a:pt x="361" y="326"/>
                    <a:pt x="365" y="327"/>
                    <a:pt x="365" y="323"/>
                  </a:cubicBezTo>
                  <a:cubicBezTo>
                    <a:pt x="365" y="319"/>
                    <a:pt x="368" y="316"/>
                    <a:pt x="372" y="316"/>
                  </a:cubicBezTo>
                  <a:cubicBezTo>
                    <a:pt x="375" y="316"/>
                    <a:pt x="377" y="315"/>
                    <a:pt x="377" y="310"/>
                  </a:cubicBezTo>
                  <a:cubicBezTo>
                    <a:pt x="377" y="305"/>
                    <a:pt x="378" y="302"/>
                    <a:pt x="381" y="300"/>
                  </a:cubicBezTo>
                  <a:cubicBezTo>
                    <a:pt x="384" y="298"/>
                    <a:pt x="385" y="293"/>
                    <a:pt x="386" y="290"/>
                  </a:cubicBezTo>
                  <a:cubicBezTo>
                    <a:pt x="387" y="286"/>
                    <a:pt x="390" y="288"/>
                    <a:pt x="390" y="284"/>
                  </a:cubicBezTo>
                  <a:cubicBezTo>
                    <a:pt x="390" y="279"/>
                    <a:pt x="392" y="274"/>
                    <a:pt x="392" y="270"/>
                  </a:cubicBezTo>
                  <a:cubicBezTo>
                    <a:pt x="392" y="266"/>
                    <a:pt x="396" y="267"/>
                    <a:pt x="397" y="264"/>
                  </a:cubicBezTo>
                  <a:cubicBezTo>
                    <a:pt x="399" y="261"/>
                    <a:pt x="396" y="258"/>
                    <a:pt x="399" y="250"/>
                  </a:cubicBezTo>
                  <a:cubicBezTo>
                    <a:pt x="401" y="242"/>
                    <a:pt x="399" y="235"/>
                    <a:pt x="399" y="228"/>
                  </a:cubicBezTo>
                  <a:cubicBezTo>
                    <a:pt x="399" y="221"/>
                    <a:pt x="399" y="214"/>
                    <a:pt x="401" y="211"/>
                  </a:cubicBezTo>
                  <a:cubicBezTo>
                    <a:pt x="404" y="209"/>
                    <a:pt x="402" y="208"/>
                    <a:pt x="400" y="207"/>
                  </a:cubicBezTo>
                  <a:cubicBezTo>
                    <a:pt x="398" y="206"/>
                    <a:pt x="401" y="203"/>
                    <a:pt x="402" y="204"/>
                  </a:cubicBezTo>
                  <a:cubicBezTo>
                    <a:pt x="404" y="204"/>
                    <a:pt x="406" y="208"/>
                    <a:pt x="409" y="206"/>
                  </a:cubicBezTo>
                  <a:cubicBezTo>
                    <a:pt x="413" y="204"/>
                    <a:pt x="416" y="195"/>
                    <a:pt x="418" y="188"/>
                  </a:cubicBezTo>
                  <a:cubicBezTo>
                    <a:pt x="421" y="181"/>
                    <a:pt x="426" y="182"/>
                    <a:pt x="429" y="180"/>
                  </a:cubicBezTo>
                  <a:cubicBezTo>
                    <a:pt x="433" y="179"/>
                    <a:pt x="440" y="170"/>
                    <a:pt x="445" y="158"/>
                  </a:cubicBezTo>
                  <a:cubicBezTo>
                    <a:pt x="450" y="146"/>
                    <a:pt x="445" y="134"/>
                    <a:pt x="443" y="125"/>
                  </a:cubicBezTo>
                  <a:cubicBezTo>
                    <a:pt x="441" y="117"/>
                    <a:pt x="438" y="118"/>
                    <a:pt x="433" y="119"/>
                  </a:cubicBezTo>
                  <a:cubicBezTo>
                    <a:pt x="428" y="119"/>
                    <a:pt x="418" y="118"/>
                    <a:pt x="406" y="104"/>
                  </a:cubicBezTo>
                  <a:cubicBezTo>
                    <a:pt x="393" y="91"/>
                    <a:pt x="381" y="92"/>
                    <a:pt x="373" y="94"/>
                  </a:cubicBezTo>
                  <a:cubicBezTo>
                    <a:pt x="365" y="96"/>
                    <a:pt x="356" y="90"/>
                    <a:pt x="351" y="89"/>
                  </a:cubicBezTo>
                  <a:cubicBezTo>
                    <a:pt x="345" y="87"/>
                    <a:pt x="340" y="94"/>
                    <a:pt x="336" y="96"/>
                  </a:cubicBezTo>
                  <a:cubicBezTo>
                    <a:pt x="332" y="97"/>
                    <a:pt x="338" y="90"/>
                    <a:pt x="338" y="85"/>
                  </a:cubicBezTo>
                  <a:cubicBezTo>
                    <a:pt x="338" y="80"/>
                    <a:pt x="323" y="74"/>
                    <a:pt x="312" y="69"/>
                  </a:cubicBezTo>
                  <a:cubicBezTo>
                    <a:pt x="300" y="65"/>
                    <a:pt x="295" y="67"/>
                    <a:pt x="295" y="74"/>
                  </a:cubicBezTo>
                  <a:cubicBezTo>
                    <a:pt x="295" y="81"/>
                    <a:pt x="291" y="72"/>
                    <a:pt x="287" y="80"/>
                  </a:cubicBezTo>
                  <a:cubicBezTo>
                    <a:pt x="284" y="87"/>
                    <a:pt x="277" y="82"/>
                    <a:pt x="281" y="80"/>
                  </a:cubicBezTo>
                  <a:cubicBezTo>
                    <a:pt x="286" y="77"/>
                    <a:pt x="290" y="72"/>
                    <a:pt x="291" y="67"/>
                  </a:cubicBezTo>
                  <a:cubicBezTo>
                    <a:pt x="293" y="62"/>
                    <a:pt x="275" y="58"/>
                    <a:pt x="268" y="61"/>
                  </a:cubicBezTo>
                  <a:cubicBezTo>
                    <a:pt x="262" y="63"/>
                    <a:pt x="266" y="72"/>
                    <a:pt x="261" y="70"/>
                  </a:cubicBezTo>
                  <a:cubicBezTo>
                    <a:pt x="256" y="67"/>
                    <a:pt x="260" y="60"/>
                    <a:pt x="264" y="60"/>
                  </a:cubicBezTo>
                  <a:cubicBezTo>
                    <a:pt x="268" y="61"/>
                    <a:pt x="273" y="52"/>
                    <a:pt x="275" y="46"/>
                  </a:cubicBezTo>
                  <a:cubicBezTo>
                    <a:pt x="278" y="40"/>
                    <a:pt x="271" y="39"/>
                    <a:pt x="266" y="34"/>
                  </a:cubicBezTo>
                  <a:cubicBezTo>
                    <a:pt x="262" y="29"/>
                    <a:pt x="263" y="15"/>
                    <a:pt x="258" y="13"/>
                  </a:cubicBezTo>
                  <a:cubicBezTo>
                    <a:pt x="253" y="17"/>
                    <a:pt x="247" y="25"/>
                    <a:pt x="245" y="31"/>
                  </a:cubicBezTo>
                  <a:cubicBezTo>
                    <a:pt x="242" y="38"/>
                    <a:pt x="239" y="34"/>
                    <a:pt x="233" y="36"/>
                  </a:cubicBezTo>
                  <a:cubicBezTo>
                    <a:pt x="226" y="38"/>
                    <a:pt x="223" y="35"/>
                    <a:pt x="222" y="32"/>
                  </a:cubicBezTo>
                  <a:cubicBezTo>
                    <a:pt x="220" y="30"/>
                    <a:pt x="214" y="32"/>
                    <a:pt x="209" y="32"/>
                  </a:cubicBezTo>
                  <a:cubicBezTo>
                    <a:pt x="205" y="32"/>
                    <a:pt x="207" y="37"/>
                    <a:pt x="204" y="39"/>
                  </a:cubicBezTo>
                  <a:cubicBezTo>
                    <a:pt x="201" y="41"/>
                    <a:pt x="194" y="36"/>
                    <a:pt x="191" y="39"/>
                  </a:cubicBezTo>
                  <a:cubicBezTo>
                    <a:pt x="188" y="42"/>
                    <a:pt x="186" y="39"/>
                    <a:pt x="185" y="41"/>
                  </a:cubicBezTo>
                  <a:cubicBezTo>
                    <a:pt x="184" y="44"/>
                    <a:pt x="179" y="42"/>
                    <a:pt x="178" y="44"/>
                  </a:cubicBezTo>
                  <a:cubicBezTo>
                    <a:pt x="176" y="46"/>
                    <a:pt x="172" y="47"/>
                    <a:pt x="165" y="40"/>
                  </a:cubicBezTo>
                  <a:cubicBezTo>
                    <a:pt x="159" y="33"/>
                    <a:pt x="160" y="22"/>
                    <a:pt x="163" y="20"/>
                  </a:cubicBezTo>
                  <a:cubicBezTo>
                    <a:pt x="166" y="18"/>
                    <a:pt x="166" y="12"/>
                    <a:pt x="162" y="11"/>
                  </a:cubicBezTo>
                  <a:cubicBezTo>
                    <a:pt x="158" y="9"/>
                    <a:pt x="162" y="2"/>
                    <a:pt x="157" y="1"/>
                  </a:cubicBezTo>
                  <a:cubicBezTo>
                    <a:pt x="153" y="0"/>
                    <a:pt x="153" y="7"/>
                    <a:pt x="150" y="8"/>
                  </a:cubicBezTo>
                  <a:cubicBezTo>
                    <a:pt x="147" y="9"/>
                    <a:pt x="140" y="14"/>
                    <a:pt x="136" y="13"/>
                  </a:cubicBezTo>
                  <a:cubicBezTo>
                    <a:pt x="133" y="12"/>
                    <a:pt x="129" y="14"/>
                    <a:pt x="129" y="17"/>
                  </a:cubicBezTo>
                  <a:cubicBezTo>
                    <a:pt x="129" y="21"/>
                    <a:pt x="125" y="20"/>
                    <a:pt x="124" y="17"/>
                  </a:cubicBezTo>
                  <a:cubicBezTo>
                    <a:pt x="124" y="14"/>
                    <a:pt x="116" y="16"/>
                    <a:pt x="114" y="14"/>
                  </a:cubicBezTo>
                  <a:cubicBezTo>
                    <a:pt x="112" y="12"/>
                    <a:pt x="103" y="13"/>
                    <a:pt x="107" y="15"/>
                  </a:cubicBezTo>
                  <a:cubicBezTo>
                    <a:pt x="111" y="17"/>
                    <a:pt x="111" y="20"/>
                    <a:pt x="111" y="23"/>
                  </a:cubicBezTo>
                  <a:cubicBezTo>
                    <a:pt x="111" y="27"/>
                    <a:pt x="114" y="26"/>
                    <a:pt x="114" y="31"/>
                  </a:cubicBezTo>
                  <a:cubicBezTo>
                    <a:pt x="114" y="35"/>
                    <a:pt x="118" y="32"/>
                    <a:pt x="120" y="32"/>
                  </a:cubicBezTo>
                  <a:cubicBezTo>
                    <a:pt x="123" y="32"/>
                    <a:pt x="123" y="36"/>
                    <a:pt x="119" y="37"/>
                  </a:cubicBezTo>
                  <a:cubicBezTo>
                    <a:pt x="115" y="37"/>
                    <a:pt x="113" y="39"/>
                    <a:pt x="112" y="43"/>
                  </a:cubicBezTo>
                  <a:cubicBezTo>
                    <a:pt x="111" y="46"/>
                    <a:pt x="108" y="44"/>
                    <a:pt x="105" y="46"/>
                  </a:cubicBezTo>
                  <a:cubicBezTo>
                    <a:pt x="102" y="49"/>
                    <a:pt x="99" y="52"/>
                    <a:pt x="97" y="51"/>
                  </a:cubicBezTo>
                  <a:cubicBezTo>
                    <a:pt x="95" y="49"/>
                    <a:pt x="93" y="50"/>
                    <a:pt x="91" y="52"/>
                  </a:cubicBezTo>
                  <a:cubicBezTo>
                    <a:pt x="89" y="53"/>
                    <a:pt x="88" y="52"/>
                    <a:pt x="84" y="49"/>
                  </a:cubicBezTo>
                  <a:cubicBezTo>
                    <a:pt x="82" y="47"/>
                    <a:pt x="80" y="42"/>
                    <a:pt x="76" y="37"/>
                  </a:cubicBezTo>
                  <a:cubicBezTo>
                    <a:pt x="73" y="39"/>
                    <a:pt x="68" y="41"/>
                    <a:pt x="65" y="41"/>
                  </a:cubicBezTo>
                  <a:cubicBezTo>
                    <a:pt x="61" y="41"/>
                    <a:pt x="48" y="40"/>
                    <a:pt x="48" y="42"/>
                  </a:cubicBezTo>
                  <a:cubicBezTo>
                    <a:pt x="47" y="44"/>
                    <a:pt x="49" y="48"/>
                    <a:pt x="51" y="48"/>
                  </a:cubicBezTo>
                  <a:cubicBezTo>
                    <a:pt x="53" y="49"/>
                    <a:pt x="57" y="50"/>
                    <a:pt x="53" y="53"/>
                  </a:cubicBezTo>
                  <a:cubicBezTo>
                    <a:pt x="49" y="56"/>
                    <a:pt x="45" y="52"/>
                    <a:pt x="45" y="59"/>
                  </a:cubicBezTo>
                  <a:cubicBezTo>
                    <a:pt x="45" y="66"/>
                    <a:pt x="54" y="71"/>
                    <a:pt x="52" y="77"/>
                  </a:cubicBezTo>
                  <a:cubicBezTo>
                    <a:pt x="51" y="81"/>
                    <a:pt x="50" y="89"/>
                    <a:pt x="50" y="93"/>
                  </a:cubicBezTo>
                  <a:cubicBezTo>
                    <a:pt x="50" y="96"/>
                    <a:pt x="49" y="107"/>
                    <a:pt x="46" y="108"/>
                  </a:cubicBezTo>
                  <a:cubicBezTo>
                    <a:pt x="43" y="109"/>
                    <a:pt x="40" y="105"/>
                    <a:pt x="36" y="109"/>
                  </a:cubicBezTo>
                  <a:cubicBezTo>
                    <a:pt x="32" y="112"/>
                    <a:pt x="27" y="110"/>
                    <a:pt x="22" y="114"/>
                  </a:cubicBezTo>
                  <a:cubicBezTo>
                    <a:pt x="18" y="117"/>
                    <a:pt x="13" y="116"/>
                    <a:pt x="12" y="120"/>
                  </a:cubicBezTo>
                  <a:cubicBezTo>
                    <a:pt x="12" y="125"/>
                    <a:pt x="8" y="127"/>
                    <a:pt x="9" y="131"/>
                  </a:cubicBezTo>
                  <a:cubicBezTo>
                    <a:pt x="10" y="135"/>
                    <a:pt x="7" y="134"/>
                    <a:pt x="4" y="137"/>
                  </a:cubicBezTo>
                  <a:cubicBezTo>
                    <a:pt x="1" y="140"/>
                    <a:pt x="4" y="142"/>
                    <a:pt x="2" y="144"/>
                  </a:cubicBezTo>
                  <a:cubicBezTo>
                    <a:pt x="0" y="147"/>
                    <a:pt x="3" y="150"/>
                    <a:pt x="5" y="154"/>
                  </a:cubicBezTo>
                  <a:cubicBezTo>
                    <a:pt x="7" y="158"/>
                    <a:pt x="10" y="160"/>
                    <a:pt x="10" y="164"/>
                  </a:cubicBezTo>
                  <a:cubicBezTo>
                    <a:pt x="9" y="167"/>
                    <a:pt x="12" y="168"/>
                    <a:pt x="15" y="168"/>
                  </a:cubicBezTo>
                  <a:cubicBezTo>
                    <a:pt x="19" y="168"/>
                    <a:pt x="16" y="174"/>
                    <a:pt x="21" y="174"/>
                  </a:cubicBezTo>
                  <a:cubicBezTo>
                    <a:pt x="27" y="174"/>
                    <a:pt x="32" y="176"/>
                    <a:pt x="33" y="173"/>
                  </a:cubicBezTo>
                  <a:cubicBezTo>
                    <a:pt x="35" y="170"/>
                    <a:pt x="38" y="167"/>
                    <a:pt x="38" y="172"/>
                  </a:cubicBezTo>
                  <a:cubicBezTo>
                    <a:pt x="38" y="176"/>
                    <a:pt x="37" y="188"/>
                    <a:pt x="41" y="186"/>
                  </a:cubicBezTo>
                  <a:cubicBezTo>
                    <a:pt x="45" y="185"/>
                    <a:pt x="52" y="185"/>
                    <a:pt x="56" y="187"/>
                  </a:cubicBezTo>
                  <a:cubicBezTo>
                    <a:pt x="59" y="188"/>
                    <a:pt x="63" y="187"/>
                    <a:pt x="65" y="184"/>
                  </a:cubicBezTo>
                  <a:cubicBezTo>
                    <a:pt x="68" y="182"/>
                    <a:pt x="70" y="182"/>
                    <a:pt x="75" y="179"/>
                  </a:cubicBezTo>
                  <a:cubicBezTo>
                    <a:pt x="80" y="177"/>
                    <a:pt x="84" y="173"/>
                    <a:pt x="88" y="173"/>
                  </a:cubicBezTo>
                  <a:cubicBezTo>
                    <a:pt x="93" y="173"/>
                    <a:pt x="100" y="171"/>
                    <a:pt x="99" y="174"/>
                  </a:cubicBezTo>
                  <a:cubicBezTo>
                    <a:pt x="98" y="177"/>
                    <a:pt x="97" y="190"/>
                    <a:pt x="103" y="196"/>
                  </a:cubicBezTo>
                  <a:cubicBezTo>
                    <a:pt x="108" y="202"/>
                    <a:pt x="111" y="205"/>
                    <a:pt x="116" y="204"/>
                  </a:cubicBezTo>
                  <a:cubicBezTo>
                    <a:pt x="121" y="203"/>
                    <a:pt x="120" y="206"/>
                    <a:pt x="124" y="206"/>
                  </a:cubicBezTo>
                  <a:cubicBezTo>
                    <a:pt x="128" y="205"/>
                    <a:pt x="125" y="210"/>
                    <a:pt x="129" y="210"/>
                  </a:cubicBezTo>
                  <a:cubicBezTo>
                    <a:pt x="132" y="210"/>
                    <a:pt x="138" y="210"/>
                    <a:pt x="138" y="214"/>
                  </a:cubicBezTo>
                  <a:cubicBezTo>
                    <a:pt x="138" y="218"/>
                    <a:pt x="148" y="215"/>
                    <a:pt x="150" y="217"/>
                  </a:cubicBezTo>
                  <a:cubicBezTo>
                    <a:pt x="153" y="219"/>
                    <a:pt x="155" y="220"/>
                    <a:pt x="155" y="224"/>
                  </a:cubicBezTo>
                  <a:cubicBezTo>
                    <a:pt x="154" y="228"/>
                    <a:pt x="160" y="231"/>
                    <a:pt x="156" y="233"/>
                  </a:cubicBezTo>
                  <a:cubicBezTo>
                    <a:pt x="153" y="235"/>
                    <a:pt x="157" y="238"/>
                    <a:pt x="158" y="242"/>
                  </a:cubicBezTo>
                  <a:cubicBezTo>
                    <a:pt x="158" y="247"/>
                    <a:pt x="163" y="248"/>
                    <a:pt x="170" y="248"/>
                  </a:cubicBezTo>
                  <a:cubicBezTo>
                    <a:pt x="177" y="248"/>
                    <a:pt x="179" y="248"/>
                    <a:pt x="179" y="254"/>
                  </a:cubicBezTo>
                  <a:cubicBezTo>
                    <a:pt x="179" y="259"/>
                    <a:pt x="184" y="260"/>
                    <a:pt x="186" y="265"/>
                  </a:cubicBezTo>
                  <a:cubicBezTo>
                    <a:pt x="188" y="270"/>
                    <a:pt x="184" y="275"/>
                    <a:pt x="185" y="279"/>
                  </a:cubicBezTo>
                  <a:cubicBezTo>
                    <a:pt x="185" y="282"/>
                    <a:pt x="183" y="286"/>
                    <a:pt x="181" y="287"/>
                  </a:cubicBezTo>
                  <a:cubicBezTo>
                    <a:pt x="184" y="290"/>
                    <a:pt x="184" y="292"/>
                    <a:pt x="182" y="293"/>
                  </a:cubicBezTo>
                  <a:cubicBezTo>
                    <a:pt x="179" y="295"/>
                    <a:pt x="185" y="299"/>
                    <a:pt x="184" y="307"/>
                  </a:cubicBezTo>
                  <a:cubicBezTo>
                    <a:pt x="182" y="314"/>
                    <a:pt x="182" y="316"/>
                    <a:pt x="190" y="316"/>
                  </a:cubicBezTo>
                  <a:cubicBezTo>
                    <a:pt x="197" y="316"/>
                    <a:pt x="197" y="319"/>
                    <a:pt x="199" y="317"/>
                  </a:cubicBezTo>
                  <a:cubicBezTo>
                    <a:pt x="202" y="315"/>
                    <a:pt x="206" y="323"/>
                    <a:pt x="207" y="326"/>
                  </a:cubicBezTo>
                  <a:cubicBezTo>
                    <a:pt x="208" y="330"/>
                    <a:pt x="211" y="339"/>
                    <a:pt x="213" y="339"/>
                  </a:cubicBezTo>
                  <a:cubicBezTo>
                    <a:pt x="214" y="339"/>
                    <a:pt x="218" y="335"/>
                    <a:pt x="222" y="337"/>
                  </a:cubicBezTo>
                  <a:cubicBezTo>
                    <a:pt x="226" y="339"/>
                    <a:pt x="221" y="351"/>
                    <a:pt x="221" y="357"/>
                  </a:cubicBezTo>
                  <a:cubicBezTo>
                    <a:pt x="224" y="357"/>
                    <a:pt x="227" y="357"/>
                    <a:pt x="228" y="358"/>
                  </a:cubicBezTo>
                  <a:cubicBezTo>
                    <a:pt x="230" y="359"/>
                    <a:pt x="231" y="372"/>
                    <a:pt x="230" y="375"/>
                  </a:cubicBezTo>
                  <a:cubicBezTo>
                    <a:pt x="229" y="377"/>
                    <a:pt x="221" y="380"/>
                    <a:pt x="217" y="382"/>
                  </a:cubicBezTo>
                  <a:cubicBezTo>
                    <a:pt x="212" y="385"/>
                    <a:pt x="202" y="395"/>
                    <a:pt x="197" y="403"/>
                  </a:cubicBezTo>
                  <a:cubicBezTo>
                    <a:pt x="194" y="408"/>
                    <a:pt x="190" y="411"/>
                    <a:pt x="187" y="415"/>
                  </a:cubicBezTo>
                  <a:cubicBezTo>
                    <a:pt x="189" y="415"/>
                    <a:pt x="190" y="415"/>
                    <a:pt x="191" y="415"/>
                  </a:cubicBezTo>
                  <a:cubicBezTo>
                    <a:pt x="193" y="413"/>
                    <a:pt x="196" y="413"/>
                    <a:pt x="200" y="418"/>
                  </a:cubicBezTo>
                  <a:cubicBezTo>
                    <a:pt x="204" y="423"/>
                    <a:pt x="204" y="426"/>
                    <a:pt x="205" y="426"/>
                  </a:cubicBezTo>
                  <a:cubicBezTo>
                    <a:pt x="207" y="426"/>
                    <a:pt x="209" y="420"/>
                    <a:pt x="212" y="424"/>
                  </a:cubicBezTo>
                  <a:cubicBezTo>
                    <a:pt x="215" y="428"/>
                    <a:pt x="223" y="432"/>
                    <a:pt x="224" y="434"/>
                  </a:cubicBezTo>
                  <a:cubicBezTo>
                    <a:pt x="226" y="436"/>
                    <a:pt x="232" y="437"/>
                    <a:pt x="232" y="443"/>
                  </a:cubicBezTo>
                  <a:cubicBezTo>
                    <a:pt x="232" y="446"/>
                    <a:pt x="230" y="454"/>
                    <a:pt x="233" y="460"/>
                  </a:cubicBezTo>
                  <a:cubicBezTo>
                    <a:pt x="235" y="458"/>
                    <a:pt x="236" y="456"/>
                    <a:pt x="238" y="4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1" name="Freeform 107"/>
            <p:cNvSpPr>
              <a:spLocks noChangeArrowheads="1"/>
            </p:cNvSpPr>
            <p:nvPr/>
          </p:nvSpPr>
          <p:spPr bwMode="auto">
            <a:xfrm>
              <a:off x="2376496" y="3146429"/>
              <a:ext cx="106364" cy="117475"/>
            </a:xfrm>
            <a:custGeom>
              <a:avLst/>
              <a:gdLst>
                <a:gd name="T0" fmla="*/ 55 w 56"/>
                <a:gd name="T1" fmla="*/ 30 h 62"/>
                <a:gd name="T2" fmla="*/ 47 w 56"/>
                <a:gd name="T3" fmla="*/ 21 h 62"/>
                <a:gd name="T4" fmla="*/ 35 w 56"/>
                <a:gd name="T5" fmla="*/ 11 h 62"/>
                <a:gd name="T6" fmla="*/ 28 w 56"/>
                <a:gd name="T7" fmla="*/ 13 h 62"/>
                <a:gd name="T8" fmla="*/ 23 w 56"/>
                <a:gd name="T9" fmla="*/ 5 h 62"/>
                <a:gd name="T10" fmla="*/ 14 w 56"/>
                <a:gd name="T11" fmla="*/ 2 h 62"/>
                <a:gd name="T12" fmla="*/ 10 w 56"/>
                <a:gd name="T13" fmla="*/ 2 h 62"/>
                <a:gd name="T14" fmla="*/ 7 w 56"/>
                <a:gd name="T15" fmla="*/ 8 h 62"/>
                <a:gd name="T16" fmla="*/ 3 w 56"/>
                <a:gd name="T17" fmla="*/ 27 h 62"/>
                <a:gd name="T18" fmla="*/ 0 w 56"/>
                <a:gd name="T19" fmla="*/ 42 h 62"/>
                <a:gd name="T20" fmla="*/ 3 w 56"/>
                <a:gd name="T21" fmla="*/ 49 h 62"/>
                <a:gd name="T22" fmla="*/ 2 w 56"/>
                <a:gd name="T23" fmla="*/ 54 h 62"/>
                <a:gd name="T24" fmla="*/ 7 w 56"/>
                <a:gd name="T25" fmla="*/ 56 h 62"/>
                <a:gd name="T26" fmla="*/ 21 w 56"/>
                <a:gd name="T27" fmla="*/ 60 h 62"/>
                <a:gd name="T28" fmla="*/ 30 w 56"/>
                <a:gd name="T29" fmla="*/ 60 h 62"/>
                <a:gd name="T30" fmla="*/ 47 w 56"/>
                <a:gd name="T31" fmla="*/ 57 h 62"/>
                <a:gd name="T32" fmla="*/ 56 w 56"/>
                <a:gd name="T33" fmla="*/ 47 h 62"/>
                <a:gd name="T34" fmla="*/ 55 w 56"/>
                <a:gd name="T35" fmla="*/ 30 h 6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6"/>
                <a:gd name="T55" fmla="*/ 0 h 62"/>
                <a:gd name="T56" fmla="*/ 56 w 56"/>
                <a:gd name="T57" fmla="*/ 62 h 6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6" h="62">
                  <a:moveTo>
                    <a:pt x="55" y="30"/>
                  </a:moveTo>
                  <a:cubicBezTo>
                    <a:pt x="55" y="24"/>
                    <a:pt x="49" y="23"/>
                    <a:pt x="47" y="21"/>
                  </a:cubicBezTo>
                  <a:cubicBezTo>
                    <a:pt x="46" y="19"/>
                    <a:pt x="38" y="15"/>
                    <a:pt x="35" y="11"/>
                  </a:cubicBezTo>
                  <a:cubicBezTo>
                    <a:pt x="32" y="7"/>
                    <a:pt x="30" y="13"/>
                    <a:pt x="28" y="13"/>
                  </a:cubicBezTo>
                  <a:cubicBezTo>
                    <a:pt x="27" y="13"/>
                    <a:pt x="27" y="10"/>
                    <a:pt x="23" y="5"/>
                  </a:cubicBezTo>
                  <a:cubicBezTo>
                    <a:pt x="19" y="0"/>
                    <a:pt x="16" y="0"/>
                    <a:pt x="14" y="2"/>
                  </a:cubicBezTo>
                  <a:cubicBezTo>
                    <a:pt x="13" y="2"/>
                    <a:pt x="12" y="2"/>
                    <a:pt x="10" y="2"/>
                  </a:cubicBezTo>
                  <a:cubicBezTo>
                    <a:pt x="8" y="4"/>
                    <a:pt x="7" y="6"/>
                    <a:pt x="7" y="8"/>
                  </a:cubicBezTo>
                  <a:cubicBezTo>
                    <a:pt x="7" y="13"/>
                    <a:pt x="3" y="18"/>
                    <a:pt x="3" y="27"/>
                  </a:cubicBezTo>
                  <a:cubicBezTo>
                    <a:pt x="3" y="36"/>
                    <a:pt x="0" y="35"/>
                    <a:pt x="0" y="42"/>
                  </a:cubicBezTo>
                  <a:cubicBezTo>
                    <a:pt x="0" y="49"/>
                    <a:pt x="2" y="48"/>
                    <a:pt x="3" y="49"/>
                  </a:cubicBezTo>
                  <a:cubicBezTo>
                    <a:pt x="4" y="49"/>
                    <a:pt x="3" y="52"/>
                    <a:pt x="2" y="54"/>
                  </a:cubicBezTo>
                  <a:cubicBezTo>
                    <a:pt x="3" y="55"/>
                    <a:pt x="5" y="56"/>
                    <a:pt x="7" y="56"/>
                  </a:cubicBezTo>
                  <a:cubicBezTo>
                    <a:pt x="11" y="55"/>
                    <a:pt x="16" y="57"/>
                    <a:pt x="21" y="60"/>
                  </a:cubicBezTo>
                  <a:cubicBezTo>
                    <a:pt x="27" y="62"/>
                    <a:pt x="25" y="59"/>
                    <a:pt x="30" y="60"/>
                  </a:cubicBezTo>
                  <a:cubicBezTo>
                    <a:pt x="35" y="60"/>
                    <a:pt x="41" y="61"/>
                    <a:pt x="47" y="57"/>
                  </a:cubicBezTo>
                  <a:cubicBezTo>
                    <a:pt x="51" y="55"/>
                    <a:pt x="53" y="51"/>
                    <a:pt x="56" y="47"/>
                  </a:cubicBezTo>
                  <a:cubicBezTo>
                    <a:pt x="53" y="41"/>
                    <a:pt x="55" y="33"/>
                    <a:pt x="55"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2" name="Freeform 108"/>
            <p:cNvSpPr>
              <a:spLocks noEditPoints="1" noChangeArrowheads="1"/>
            </p:cNvSpPr>
            <p:nvPr/>
          </p:nvSpPr>
          <p:spPr bwMode="auto">
            <a:xfrm>
              <a:off x="2043120" y="2951166"/>
              <a:ext cx="436565" cy="860426"/>
            </a:xfrm>
            <a:custGeom>
              <a:avLst/>
              <a:gdLst>
                <a:gd name="T0" fmla="*/ 65 w 228"/>
                <a:gd name="T1" fmla="*/ 427 h 450"/>
                <a:gd name="T2" fmla="*/ 60 w 228"/>
                <a:gd name="T3" fmla="*/ 417 h 450"/>
                <a:gd name="T4" fmla="*/ 56 w 228"/>
                <a:gd name="T5" fmla="*/ 448 h 450"/>
                <a:gd name="T6" fmla="*/ 80 w 228"/>
                <a:gd name="T7" fmla="*/ 449 h 450"/>
                <a:gd name="T8" fmla="*/ 87 w 228"/>
                <a:gd name="T9" fmla="*/ 441 h 450"/>
                <a:gd name="T10" fmla="*/ 218 w 228"/>
                <a:gd name="T11" fmla="*/ 46 h 450"/>
                <a:gd name="T12" fmla="*/ 212 w 228"/>
                <a:gd name="T13" fmla="*/ 64 h 450"/>
                <a:gd name="T14" fmla="*/ 194 w 228"/>
                <a:gd name="T15" fmla="*/ 70 h 450"/>
                <a:gd name="T16" fmla="*/ 172 w 228"/>
                <a:gd name="T17" fmla="*/ 67 h 450"/>
                <a:gd name="T18" fmla="*/ 185 w 228"/>
                <a:gd name="T19" fmla="*/ 44 h 450"/>
                <a:gd name="T20" fmla="*/ 151 w 228"/>
                <a:gd name="T21" fmla="*/ 27 h 450"/>
                <a:gd name="T22" fmla="*/ 123 w 228"/>
                <a:gd name="T23" fmla="*/ 3 h 450"/>
                <a:gd name="T24" fmla="*/ 105 w 228"/>
                <a:gd name="T25" fmla="*/ 10 h 450"/>
                <a:gd name="T26" fmla="*/ 82 w 228"/>
                <a:gd name="T27" fmla="*/ 5 h 450"/>
                <a:gd name="T28" fmla="*/ 72 w 228"/>
                <a:gd name="T29" fmla="*/ 25 h 450"/>
                <a:gd name="T30" fmla="*/ 58 w 228"/>
                <a:gd name="T31" fmla="*/ 43 h 450"/>
                <a:gd name="T32" fmla="*/ 60 w 228"/>
                <a:gd name="T33" fmla="*/ 63 h 450"/>
                <a:gd name="T34" fmla="*/ 49 w 228"/>
                <a:gd name="T35" fmla="*/ 78 h 450"/>
                <a:gd name="T36" fmla="*/ 41 w 228"/>
                <a:gd name="T37" fmla="*/ 94 h 450"/>
                <a:gd name="T38" fmla="*/ 37 w 228"/>
                <a:gd name="T39" fmla="*/ 115 h 450"/>
                <a:gd name="T40" fmla="*/ 40 w 228"/>
                <a:gd name="T41" fmla="*/ 138 h 450"/>
                <a:gd name="T42" fmla="*/ 40 w 228"/>
                <a:gd name="T43" fmla="*/ 157 h 450"/>
                <a:gd name="T44" fmla="*/ 37 w 228"/>
                <a:gd name="T45" fmla="*/ 180 h 450"/>
                <a:gd name="T46" fmla="*/ 28 w 228"/>
                <a:gd name="T47" fmla="*/ 206 h 450"/>
                <a:gd name="T48" fmla="*/ 25 w 228"/>
                <a:gd name="T49" fmla="*/ 216 h 450"/>
                <a:gd name="T50" fmla="*/ 21 w 228"/>
                <a:gd name="T51" fmla="*/ 232 h 450"/>
                <a:gd name="T52" fmla="*/ 20 w 228"/>
                <a:gd name="T53" fmla="*/ 248 h 450"/>
                <a:gd name="T54" fmla="*/ 18 w 228"/>
                <a:gd name="T55" fmla="*/ 272 h 450"/>
                <a:gd name="T56" fmla="*/ 21 w 228"/>
                <a:gd name="T57" fmla="*/ 285 h 450"/>
                <a:gd name="T58" fmla="*/ 26 w 228"/>
                <a:gd name="T59" fmla="*/ 296 h 450"/>
                <a:gd name="T60" fmla="*/ 23 w 228"/>
                <a:gd name="T61" fmla="*/ 305 h 450"/>
                <a:gd name="T62" fmla="*/ 21 w 228"/>
                <a:gd name="T63" fmla="*/ 323 h 450"/>
                <a:gd name="T64" fmla="*/ 13 w 228"/>
                <a:gd name="T65" fmla="*/ 338 h 450"/>
                <a:gd name="T66" fmla="*/ 9 w 228"/>
                <a:gd name="T67" fmla="*/ 355 h 450"/>
                <a:gd name="T68" fmla="*/ 3 w 228"/>
                <a:gd name="T69" fmla="*/ 373 h 450"/>
                <a:gd name="T70" fmla="*/ 15 w 228"/>
                <a:gd name="T71" fmla="*/ 384 h 450"/>
                <a:gd name="T72" fmla="*/ 21 w 228"/>
                <a:gd name="T73" fmla="*/ 401 h 450"/>
                <a:gd name="T74" fmla="*/ 47 w 228"/>
                <a:gd name="T75" fmla="*/ 404 h 450"/>
                <a:gd name="T76" fmla="*/ 52 w 228"/>
                <a:gd name="T77" fmla="*/ 395 h 450"/>
                <a:gd name="T78" fmla="*/ 53 w 228"/>
                <a:gd name="T79" fmla="*/ 376 h 450"/>
                <a:gd name="T80" fmla="*/ 66 w 228"/>
                <a:gd name="T81" fmla="*/ 364 h 450"/>
                <a:gd name="T82" fmla="*/ 87 w 228"/>
                <a:gd name="T83" fmla="*/ 340 h 450"/>
                <a:gd name="T84" fmla="*/ 78 w 228"/>
                <a:gd name="T85" fmla="*/ 326 h 450"/>
                <a:gd name="T86" fmla="*/ 89 w 228"/>
                <a:gd name="T87" fmla="*/ 299 h 450"/>
                <a:gd name="T88" fmla="*/ 95 w 228"/>
                <a:gd name="T89" fmla="*/ 285 h 450"/>
                <a:gd name="T90" fmla="*/ 102 w 228"/>
                <a:gd name="T91" fmla="*/ 270 h 450"/>
                <a:gd name="T92" fmla="*/ 109 w 228"/>
                <a:gd name="T93" fmla="*/ 269 h 450"/>
                <a:gd name="T94" fmla="*/ 106 w 228"/>
                <a:gd name="T95" fmla="*/ 262 h 450"/>
                <a:gd name="T96" fmla="*/ 98 w 228"/>
                <a:gd name="T97" fmla="*/ 251 h 450"/>
                <a:gd name="T98" fmla="*/ 115 w 228"/>
                <a:gd name="T99" fmla="*/ 245 h 450"/>
                <a:gd name="T100" fmla="*/ 129 w 228"/>
                <a:gd name="T101" fmla="*/ 228 h 450"/>
                <a:gd name="T102" fmla="*/ 133 w 228"/>
                <a:gd name="T103" fmla="*/ 215 h 450"/>
                <a:gd name="T104" fmla="*/ 183 w 228"/>
                <a:gd name="T105" fmla="*/ 203 h 450"/>
                <a:gd name="T106" fmla="*/ 189 w 228"/>
                <a:gd name="T107" fmla="*/ 181 h 450"/>
                <a:gd name="T108" fmla="*/ 180 w 228"/>
                <a:gd name="T109" fmla="*/ 164 h 450"/>
                <a:gd name="T110" fmla="*/ 176 w 228"/>
                <a:gd name="T111" fmla="*/ 156 h 450"/>
                <a:gd name="T112" fmla="*/ 174 w 228"/>
                <a:gd name="T113" fmla="*/ 144 h 450"/>
                <a:gd name="T114" fmla="*/ 181 w 228"/>
                <a:gd name="T115" fmla="*/ 110 h 450"/>
                <a:gd name="T116" fmla="*/ 214 w 228"/>
                <a:gd name="T117" fmla="*/ 71 h 450"/>
                <a:gd name="T118" fmla="*/ 225 w 228"/>
                <a:gd name="T119" fmla="*/ 47 h 4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8"/>
                <a:gd name="T181" fmla="*/ 0 h 450"/>
                <a:gd name="T182" fmla="*/ 228 w 228"/>
                <a:gd name="T183" fmla="*/ 450 h 4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8" h="450">
                  <a:moveTo>
                    <a:pt x="87" y="441"/>
                  </a:moveTo>
                  <a:cubicBezTo>
                    <a:pt x="81" y="441"/>
                    <a:pt x="68" y="430"/>
                    <a:pt x="65" y="427"/>
                  </a:cubicBezTo>
                  <a:cubicBezTo>
                    <a:pt x="61" y="424"/>
                    <a:pt x="64" y="421"/>
                    <a:pt x="59" y="421"/>
                  </a:cubicBezTo>
                  <a:cubicBezTo>
                    <a:pt x="55" y="422"/>
                    <a:pt x="58" y="418"/>
                    <a:pt x="60" y="417"/>
                  </a:cubicBezTo>
                  <a:cubicBezTo>
                    <a:pt x="62" y="415"/>
                    <a:pt x="59" y="411"/>
                    <a:pt x="56" y="410"/>
                  </a:cubicBezTo>
                  <a:cubicBezTo>
                    <a:pt x="56" y="417"/>
                    <a:pt x="54" y="447"/>
                    <a:pt x="56" y="448"/>
                  </a:cubicBezTo>
                  <a:cubicBezTo>
                    <a:pt x="58" y="448"/>
                    <a:pt x="71" y="446"/>
                    <a:pt x="75" y="449"/>
                  </a:cubicBezTo>
                  <a:cubicBezTo>
                    <a:pt x="77" y="449"/>
                    <a:pt x="79" y="450"/>
                    <a:pt x="80" y="449"/>
                  </a:cubicBezTo>
                  <a:cubicBezTo>
                    <a:pt x="83" y="446"/>
                    <a:pt x="90" y="447"/>
                    <a:pt x="94" y="445"/>
                  </a:cubicBezTo>
                  <a:cubicBezTo>
                    <a:pt x="98" y="442"/>
                    <a:pt x="93" y="442"/>
                    <a:pt x="87" y="441"/>
                  </a:cubicBezTo>
                  <a:close/>
                  <a:moveTo>
                    <a:pt x="225" y="47"/>
                  </a:moveTo>
                  <a:cubicBezTo>
                    <a:pt x="224" y="46"/>
                    <a:pt x="221" y="46"/>
                    <a:pt x="218" y="46"/>
                  </a:cubicBezTo>
                  <a:cubicBezTo>
                    <a:pt x="218" y="46"/>
                    <a:pt x="218" y="47"/>
                    <a:pt x="218" y="47"/>
                  </a:cubicBezTo>
                  <a:cubicBezTo>
                    <a:pt x="219" y="52"/>
                    <a:pt x="216" y="64"/>
                    <a:pt x="212" y="64"/>
                  </a:cubicBezTo>
                  <a:cubicBezTo>
                    <a:pt x="209" y="63"/>
                    <a:pt x="206" y="69"/>
                    <a:pt x="203" y="68"/>
                  </a:cubicBezTo>
                  <a:cubicBezTo>
                    <a:pt x="201" y="67"/>
                    <a:pt x="197" y="72"/>
                    <a:pt x="194" y="70"/>
                  </a:cubicBezTo>
                  <a:cubicBezTo>
                    <a:pt x="190" y="68"/>
                    <a:pt x="186" y="71"/>
                    <a:pt x="183" y="69"/>
                  </a:cubicBezTo>
                  <a:cubicBezTo>
                    <a:pt x="180" y="67"/>
                    <a:pt x="172" y="69"/>
                    <a:pt x="172" y="67"/>
                  </a:cubicBezTo>
                  <a:cubicBezTo>
                    <a:pt x="172" y="65"/>
                    <a:pt x="176" y="65"/>
                    <a:pt x="176" y="59"/>
                  </a:cubicBezTo>
                  <a:cubicBezTo>
                    <a:pt x="176" y="53"/>
                    <a:pt x="186" y="47"/>
                    <a:pt x="185" y="44"/>
                  </a:cubicBezTo>
                  <a:cubicBezTo>
                    <a:pt x="183" y="42"/>
                    <a:pt x="166" y="37"/>
                    <a:pt x="164" y="34"/>
                  </a:cubicBezTo>
                  <a:cubicBezTo>
                    <a:pt x="161" y="31"/>
                    <a:pt x="158" y="28"/>
                    <a:pt x="151" y="27"/>
                  </a:cubicBezTo>
                  <a:cubicBezTo>
                    <a:pt x="145" y="27"/>
                    <a:pt x="145" y="23"/>
                    <a:pt x="139" y="19"/>
                  </a:cubicBezTo>
                  <a:cubicBezTo>
                    <a:pt x="134" y="16"/>
                    <a:pt x="126" y="8"/>
                    <a:pt x="123" y="3"/>
                  </a:cubicBezTo>
                  <a:cubicBezTo>
                    <a:pt x="119" y="3"/>
                    <a:pt x="113" y="2"/>
                    <a:pt x="112" y="4"/>
                  </a:cubicBezTo>
                  <a:cubicBezTo>
                    <a:pt x="110" y="6"/>
                    <a:pt x="108" y="15"/>
                    <a:pt x="105" y="10"/>
                  </a:cubicBezTo>
                  <a:cubicBezTo>
                    <a:pt x="103" y="6"/>
                    <a:pt x="97" y="6"/>
                    <a:pt x="92" y="5"/>
                  </a:cubicBezTo>
                  <a:cubicBezTo>
                    <a:pt x="87" y="4"/>
                    <a:pt x="88" y="0"/>
                    <a:pt x="82" y="5"/>
                  </a:cubicBezTo>
                  <a:cubicBezTo>
                    <a:pt x="80" y="8"/>
                    <a:pt x="77" y="10"/>
                    <a:pt x="74" y="12"/>
                  </a:cubicBezTo>
                  <a:cubicBezTo>
                    <a:pt x="74" y="17"/>
                    <a:pt x="73" y="23"/>
                    <a:pt x="72" y="25"/>
                  </a:cubicBezTo>
                  <a:cubicBezTo>
                    <a:pt x="70" y="28"/>
                    <a:pt x="59" y="33"/>
                    <a:pt x="59" y="35"/>
                  </a:cubicBezTo>
                  <a:cubicBezTo>
                    <a:pt x="59" y="38"/>
                    <a:pt x="60" y="42"/>
                    <a:pt x="58" y="43"/>
                  </a:cubicBezTo>
                  <a:cubicBezTo>
                    <a:pt x="56" y="45"/>
                    <a:pt x="63" y="54"/>
                    <a:pt x="59" y="56"/>
                  </a:cubicBezTo>
                  <a:cubicBezTo>
                    <a:pt x="56" y="58"/>
                    <a:pt x="62" y="61"/>
                    <a:pt x="60" y="63"/>
                  </a:cubicBezTo>
                  <a:cubicBezTo>
                    <a:pt x="57" y="65"/>
                    <a:pt x="53" y="66"/>
                    <a:pt x="53" y="69"/>
                  </a:cubicBezTo>
                  <a:cubicBezTo>
                    <a:pt x="53" y="71"/>
                    <a:pt x="53" y="77"/>
                    <a:pt x="49" y="78"/>
                  </a:cubicBezTo>
                  <a:cubicBezTo>
                    <a:pt x="46" y="79"/>
                    <a:pt x="44" y="84"/>
                    <a:pt x="44" y="88"/>
                  </a:cubicBezTo>
                  <a:cubicBezTo>
                    <a:pt x="44" y="92"/>
                    <a:pt x="40" y="89"/>
                    <a:pt x="41" y="94"/>
                  </a:cubicBezTo>
                  <a:cubicBezTo>
                    <a:pt x="43" y="99"/>
                    <a:pt x="45" y="105"/>
                    <a:pt x="41" y="106"/>
                  </a:cubicBezTo>
                  <a:cubicBezTo>
                    <a:pt x="38" y="107"/>
                    <a:pt x="39" y="115"/>
                    <a:pt x="37" y="115"/>
                  </a:cubicBezTo>
                  <a:cubicBezTo>
                    <a:pt x="35" y="115"/>
                    <a:pt x="34" y="123"/>
                    <a:pt x="37" y="127"/>
                  </a:cubicBezTo>
                  <a:cubicBezTo>
                    <a:pt x="40" y="131"/>
                    <a:pt x="40" y="134"/>
                    <a:pt x="40" y="138"/>
                  </a:cubicBezTo>
                  <a:cubicBezTo>
                    <a:pt x="40" y="142"/>
                    <a:pt x="44" y="144"/>
                    <a:pt x="43" y="148"/>
                  </a:cubicBezTo>
                  <a:cubicBezTo>
                    <a:pt x="42" y="152"/>
                    <a:pt x="42" y="155"/>
                    <a:pt x="40" y="157"/>
                  </a:cubicBezTo>
                  <a:cubicBezTo>
                    <a:pt x="38" y="159"/>
                    <a:pt x="40" y="164"/>
                    <a:pt x="37" y="165"/>
                  </a:cubicBezTo>
                  <a:cubicBezTo>
                    <a:pt x="34" y="167"/>
                    <a:pt x="39" y="177"/>
                    <a:pt x="37" y="180"/>
                  </a:cubicBezTo>
                  <a:cubicBezTo>
                    <a:pt x="34" y="182"/>
                    <a:pt x="28" y="183"/>
                    <a:pt x="28" y="191"/>
                  </a:cubicBezTo>
                  <a:cubicBezTo>
                    <a:pt x="28" y="198"/>
                    <a:pt x="29" y="202"/>
                    <a:pt x="28" y="206"/>
                  </a:cubicBezTo>
                  <a:cubicBezTo>
                    <a:pt x="28" y="208"/>
                    <a:pt x="32" y="208"/>
                    <a:pt x="31" y="212"/>
                  </a:cubicBezTo>
                  <a:cubicBezTo>
                    <a:pt x="31" y="216"/>
                    <a:pt x="25" y="214"/>
                    <a:pt x="25" y="216"/>
                  </a:cubicBezTo>
                  <a:cubicBezTo>
                    <a:pt x="24" y="219"/>
                    <a:pt x="26" y="225"/>
                    <a:pt x="24" y="225"/>
                  </a:cubicBezTo>
                  <a:cubicBezTo>
                    <a:pt x="22" y="225"/>
                    <a:pt x="21" y="227"/>
                    <a:pt x="21" y="232"/>
                  </a:cubicBezTo>
                  <a:cubicBezTo>
                    <a:pt x="21" y="237"/>
                    <a:pt x="18" y="237"/>
                    <a:pt x="18" y="240"/>
                  </a:cubicBezTo>
                  <a:cubicBezTo>
                    <a:pt x="18" y="242"/>
                    <a:pt x="20" y="245"/>
                    <a:pt x="20" y="248"/>
                  </a:cubicBezTo>
                  <a:cubicBezTo>
                    <a:pt x="20" y="250"/>
                    <a:pt x="22" y="259"/>
                    <a:pt x="20" y="260"/>
                  </a:cubicBezTo>
                  <a:cubicBezTo>
                    <a:pt x="17" y="260"/>
                    <a:pt x="16" y="270"/>
                    <a:pt x="18" y="272"/>
                  </a:cubicBezTo>
                  <a:cubicBezTo>
                    <a:pt x="20" y="273"/>
                    <a:pt x="20" y="276"/>
                    <a:pt x="19" y="278"/>
                  </a:cubicBezTo>
                  <a:cubicBezTo>
                    <a:pt x="18" y="280"/>
                    <a:pt x="24" y="282"/>
                    <a:pt x="21" y="285"/>
                  </a:cubicBezTo>
                  <a:cubicBezTo>
                    <a:pt x="18" y="288"/>
                    <a:pt x="20" y="292"/>
                    <a:pt x="24" y="291"/>
                  </a:cubicBezTo>
                  <a:cubicBezTo>
                    <a:pt x="27" y="290"/>
                    <a:pt x="29" y="296"/>
                    <a:pt x="26" y="296"/>
                  </a:cubicBezTo>
                  <a:cubicBezTo>
                    <a:pt x="22" y="296"/>
                    <a:pt x="18" y="296"/>
                    <a:pt x="21" y="298"/>
                  </a:cubicBezTo>
                  <a:cubicBezTo>
                    <a:pt x="24" y="300"/>
                    <a:pt x="27" y="304"/>
                    <a:pt x="23" y="305"/>
                  </a:cubicBezTo>
                  <a:cubicBezTo>
                    <a:pt x="19" y="307"/>
                    <a:pt x="22" y="310"/>
                    <a:pt x="21" y="314"/>
                  </a:cubicBezTo>
                  <a:cubicBezTo>
                    <a:pt x="20" y="318"/>
                    <a:pt x="24" y="322"/>
                    <a:pt x="21" y="323"/>
                  </a:cubicBezTo>
                  <a:cubicBezTo>
                    <a:pt x="18" y="324"/>
                    <a:pt x="22" y="330"/>
                    <a:pt x="18" y="331"/>
                  </a:cubicBezTo>
                  <a:cubicBezTo>
                    <a:pt x="13" y="331"/>
                    <a:pt x="16" y="336"/>
                    <a:pt x="13" y="338"/>
                  </a:cubicBezTo>
                  <a:cubicBezTo>
                    <a:pt x="10" y="341"/>
                    <a:pt x="17" y="345"/>
                    <a:pt x="13" y="347"/>
                  </a:cubicBezTo>
                  <a:cubicBezTo>
                    <a:pt x="10" y="349"/>
                    <a:pt x="12" y="355"/>
                    <a:pt x="9" y="355"/>
                  </a:cubicBezTo>
                  <a:cubicBezTo>
                    <a:pt x="5" y="355"/>
                    <a:pt x="3" y="360"/>
                    <a:pt x="2" y="362"/>
                  </a:cubicBezTo>
                  <a:cubicBezTo>
                    <a:pt x="2" y="365"/>
                    <a:pt x="0" y="369"/>
                    <a:pt x="3" y="373"/>
                  </a:cubicBezTo>
                  <a:cubicBezTo>
                    <a:pt x="6" y="376"/>
                    <a:pt x="2" y="379"/>
                    <a:pt x="5" y="380"/>
                  </a:cubicBezTo>
                  <a:cubicBezTo>
                    <a:pt x="7" y="382"/>
                    <a:pt x="17" y="380"/>
                    <a:pt x="15" y="384"/>
                  </a:cubicBezTo>
                  <a:cubicBezTo>
                    <a:pt x="14" y="388"/>
                    <a:pt x="14" y="396"/>
                    <a:pt x="16" y="396"/>
                  </a:cubicBezTo>
                  <a:cubicBezTo>
                    <a:pt x="18" y="396"/>
                    <a:pt x="19" y="402"/>
                    <a:pt x="21" y="401"/>
                  </a:cubicBezTo>
                  <a:cubicBezTo>
                    <a:pt x="24" y="401"/>
                    <a:pt x="36" y="399"/>
                    <a:pt x="41" y="401"/>
                  </a:cubicBezTo>
                  <a:cubicBezTo>
                    <a:pt x="44" y="402"/>
                    <a:pt x="46" y="403"/>
                    <a:pt x="47" y="404"/>
                  </a:cubicBezTo>
                  <a:cubicBezTo>
                    <a:pt x="50" y="403"/>
                    <a:pt x="57" y="407"/>
                    <a:pt x="58" y="406"/>
                  </a:cubicBezTo>
                  <a:cubicBezTo>
                    <a:pt x="60" y="404"/>
                    <a:pt x="52" y="398"/>
                    <a:pt x="52" y="395"/>
                  </a:cubicBezTo>
                  <a:cubicBezTo>
                    <a:pt x="52" y="393"/>
                    <a:pt x="51" y="389"/>
                    <a:pt x="51" y="387"/>
                  </a:cubicBezTo>
                  <a:cubicBezTo>
                    <a:pt x="51" y="384"/>
                    <a:pt x="50" y="379"/>
                    <a:pt x="53" y="376"/>
                  </a:cubicBezTo>
                  <a:cubicBezTo>
                    <a:pt x="57" y="374"/>
                    <a:pt x="57" y="371"/>
                    <a:pt x="59" y="372"/>
                  </a:cubicBezTo>
                  <a:cubicBezTo>
                    <a:pt x="61" y="372"/>
                    <a:pt x="66" y="370"/>
                    <a:pt x="66" y="364"/>
                  </a:cubicBezTo>
                  <a:cubicBezTo>
                    <a:pt x="66" y="358"/>
                    <a:pt x="69" y="356"/>
                    <a:pt x="74" y="351"/>
                  </a:cubicBezTo>
                  <a:cubicBezTo>
                    <a:pt x="80" y="347"/>
                    <a:pt x="89" y="342"/>
                    <a:pt x="87" y="340"/>
                  </a:cubicBezTo>
                  <a:cubicBezTo>
                    <a:pt x="86" y="338"/>
                    <a:pt x="89" y="332"/>
                    <a:pt x="89" y="329"/>
                  </a:cubicBezTo>
                  <a:cubicBezTo>
                    <a:pt x="89" y="327"/>
                    <a:pt x="81" y="327"/>
                    <a:pt x="78" y="326"/>
                  </a:cubicBezTo>
                  <a:cubicBezTo>
                    <a:pt x="75" y="325"/>
                    <a:pt x="65" y="318"/>
                    <a:pt x="70" y="309"/>
                  </a:cubicBezTo>
                  <a:cubicBezTo>
                    <a:pt x="75" y="300"/>
                    <a:pt x="86" y="299"/>
                    <a:pt x="89" y="299"/>
                  </a:cubicBezTo>
                  <a:cubicBezTo>
                    <a:pt x="92" y="298"/>
                    <a:pt x="89" y="294"/>
                    <a:pt x="92" y="293"/>
                  </a:cubicBezTo>
                  <a:cubicBezTo>
                    <a:pt x="94" y="291"/>
                    <a:pt x="95" y="289"/>
                    <a:pt x="95" y="285"/>
                  </a:cubicBezTo>
                  <a:cubicBezTo>
                    <a:pt x="95" y="281"/>
                    <a:pt x="95" y="274"/>
                    <a:pt x="99" y="273"/>
                  </a:cubicBezTo>
                  <a:cubicBezTo>
                    <a:pt x="104" y="273"/>
                    <a:pt x="105" y="270"/>
                    <a:pt x="102" y="270"/>
                  </a:cubicBezTo>
                  <a:cubicBezTo>
                    <a:pt x="99" y="269"/>
                    <a:pt x="98" y="266"/>
                    <a:pt x="103" y="265"/>
                  </a:cubicBezTo>
                  <a:cubicBezTo>
                    <a:pt x="107" y="265"/>
                    <a:pt x="106" y="269"/>
                    <a:pt x="109" y="269"/>
                  </a:cubicBezTo>
                  <a:cubicBezTo>
                    <a:pt x="112" y="269"/>
                    <a:pt x="118" y="263"/>
                    <a:pt x="113" y="260"/>
                  </a:cubicBezTo>
                  <a:cubicBezTo>
                    <a:pt x="109" y="257"/>
                    <a:pt x="108" y="262"/>
                    <a:pt x="106" y="262"/>
                  </a:cubicBezTo>
                  <a:cubicBezTo>
                    <a:pt x="103" y="263"/>
                    <a:pt x="102" y="259"/>
                    <a:pt x="99" y="259"/>
                  </a:cubicBezTo>
                  <a:cubicBezTo>
                    <a:pt x="97" y="259"/>
                    <a:pt x="99" y="253"/>
                    <a:pt x="98" y="251"/>
                  </a:cubicBezTo>
                  <a:cubicBezTo>
                    <a:pt x="97" y="248"/>
                    <a:pt x="95" y="243"/>
                    <a:pt x="97" y="240"/>
                  </a:cubicBezTo>
                  <a:cubicBezTo>
                    <a:pt x="99" y="237"/>
                    <a:pt x="108" y="244"/>
                    <a:pt x="115" y="245"/>
                  </a:cubicBezTo>
                  <a:cubicBezTo>
                    <a:pt x="123" y="245"/>
                    <a:pt x="128" y="241"/>
                    <a:pt x="128" y="238"/>
                  </a:cubicBezTo>
                  <a:cubicBezTo>
                    <a:pt x="128" y="236"/>
                    <a:pt x="125" y="231"/>
                    <a:pt x="129" y="228"/>
                  </a:cubicBezTo>
                  <a:cubicBezTo>
                    <a:pt x="134" y="225"/>
                    <a:pt x="130" y="224"/>
                    <a:pt x="129" y="220"/>
                  </a:cubicBezTo>
                  <a:cubicBezTo>
                    <a:pt x="127" y="216"/>
                    <a:pt x="131" y="213"/>
                    <a:pt x="133" y="215"/>
                  </a:cubicBezTo>
                  <a:cubicBezTo>
                    <a:pt x="135" y="217"/>
                    <a:pt x="149" y="216"/>
                    <a:pt x="162" y="213"/>
                  </a:cubicBezTo>
                  <a:cubicBezTo>
                    <a:pt x="174" y="211"/>
                    <a:pt x="182" y="206"/>
                    <a:pt x="183" y="203"/>
                  </a:cubicBezTo>
                  <a:cubicBezTo>
                    <a:pt x="184" y="199"/>
                    <a:pt x="192" y="191"/>
                    <a:pt x="193" y="188"/>
                  </a:cubicBezTo>
                  <a:cubicBezTo>
                    <a:pt x="195" y="185"/>
                    <a:pt x="194" y="181"/>
                    <a:pt x="189" y="181"/>
                  </a:cubicBezTo>
                  <a:cubicBezTo>
                    <a:pt x="184" y="180"/>
                    <a:pt x="184" y="174"/>
                    <a:pt x="187" y="171"/>
                  </a:cubicBezTo>
                  <a:cubicBezTo>
                    <a:pt x="189" y="168"/>
                    <a:pt x="185" y="165"/>
                    <a:pt x="180" y="164"/>
                  </a:cubicBezTo>
                  <a:cubicBezTo>
                    <a:pt x="176" y="164"/>
                    <a:pt x="168" y="160"/>
                    <a:pt x="172" y="156"/>
                  </a:cubicBezTo>
                  <a:cubicBezTo>
                    <a:pt x="174" y="154"/>
                    <a:pt x="175" y="155"/>
                    <a:pt x="176" y="156"/>
                  </a:cubicBezTo>
                  <a:cubicBezTo>
                    <a:pt x="177" y="154"/>
                    <a:pt x="178" y="151"/>
                    <a:pt x="177" y="151"/>
                  </a:cubicBezTo>
                  <a:cubicBezTo>
                    <a:pt x="176" y="150"/>
                    <a:pt x="174" y="151"/>
                    <a:pt x="174" y="144"/>
                  </a:cubicBezTo>
                  <a:cubicBezTo>
                    <a:pt x="174" y="137"/>
                    <a:pt x="177" y="138"/>
                    <a:pt x="177" y="129"/>
                  </a:cubicBezTo>
                  <a:cubicBezTo>
                    <a:pt x="177" y="120"/>
                    <a:pt x="181" y="115"/>
                    <a:pt x="181" y="110"/>
                  </a:cubicBezTo>
                  <a:cubicBezTo>
                    <a:pt x="181" y="105"/>
                    <a:pt x="189" y="100"/>
                    <a:pt x="194" y="92"/>
                  </a:cubicBezTo>
                  <a:cubicBezTo>
                    <a:pt x="199" y="84"/>
                    <a:pt x="209" y="74"/>
                    <a:pt x="214" y="71"/>
                  </a:cubicBezTo>
                  <a:cubicBezTo>
                    <a:pt x="218" y="69"/>
                    <a:pt x="226" y="66"/>
                    <a:pt x="227" y="64"/>
                  </a:cubicBezTo>
                  <a:cubicBezTo>
                    <a:pt x="228" y="61"/>
                    <a:pt x="227" y="48"/>
                    <a:pt x="225"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3" name="Freeform 109"/>
            <p:cNvSpPr>
              <a:spLocks noChangeArrowheads="1"/>
            </p:cNvSpPr>
            <p:nvPr/>
          </p:nvSpPr>
          <p:spPr bwMode="auto">
            <a:xfrm>
              <a:off x="1995495" y="2854329"/>
              <a:ext cx="190500" cy="973140"/>
            </a:xfrm>
            <a:custGeom>
              <a:avLst/>
              <a:gdLst>
                <a:gd name="T0" fmla="*/ 40 w 100"/>
                <a:gd name="T1" fmla="*/ 435 h 510"/>
                <a:gd name="T2" fmla="*/ 27 w 100"/>
                <a:gd name="T3" fmla="*/ 413 h 510"/>
                <a:gd name="T4" fmla="*/ 38 w 100"/>
                <a:gd name="T5" fmla="*/ 389 h 510"/>
                <a:gd name="T6" fmla="*/ 46 w 100"/>
                <a:gd name="T7" fmla="*/ 365 h 510"/>
                <a:gd name="T8" fmla="*/ 51 w 100"/>
                <a:gd name="T9" fmla="*/ 347 h 510"/>
                <a:gd name="T10" fmla="*/ 44 w 100"/>
                <a:gd name="T11" fmla="*/ 329 h 510"/>
                <a:gd name="T12" fmla="*/ 45 w 100"/>
                <a:gd name="T13" fmla="*/ 299 h 510"/>
                <a:gd name="T14" fmla="*/ 49 w 100"/>
                <a:gd name="T15" fmla="*/ 276 h 510"/>
                <a:gd name="T16" fmla="*/ 53 w 100"/>
                <a:gd name="T17" fmla="*/ 257 h 510"/>
                <a:gd name="T18" fmla="*/ 62 w 100"/>
                <a:gd name="T19" fmla="*/ 216 h 510"/>
                <a:gd name="T20" fmla="*/ 65 w 100"/>
                <a:gd name="T21" fmla="*/ 189 h 510"/>
                <a:gd name="T22" fmla="*/ 66 w 100"/>
                <a:gd name="T23" fmla="*/ 157 h 510"/>
                <a:gd name="T24" fmla="*/ 74 w 100"/>
                <a:gd name="T25" fmla="*/ 129 h 510"/>
                <a:gd name="T26" fmla="*/ 84 w 100"/>
                <a:gd name="T27" fmla="*/ 107 h 510"/>
                <a:gd name="T28" fmla="*/ 97 w 100"/>
                <a:gd name="T29" fmla="*/ 76 h 510"/>
                <a:gd name="T30" fmla="*/ 89 w 100"/>
                <a:gd name="T31" fmla="*/ 53 h 510"/>
                <a:gd name="T32" fmla="*/ 84 w 100"/>
                <a:gd name="T33" fmla="*/ 25 h 510"/>
                <a:gd name="T34" fmla="*/ 71 w 100"/>
                <a:gd name="T35" fmla="*/ 2 h 510"/>
                <a:gd name="T36" fmla="*/ 64 w 100"/>
                <a:gd name="T37" fmla="*/ 23 h 510"/>
                <a:gd name="T38" fmla="*/ 62 w 100"/>
                <a:gd name="T39" fmla="*/ 75 h 510"/>
                <a:gd name="T40" fmla="*/ 53 w 100"/>
                <a:gd name="T41" fmla="*/ 128 h 510"/>
                <a:gd name="T42" fmla="*/ 48 w 100"/>
                <a:gd name="T43" fmla="*/ 163 h 510"/>
                <a:gd name="T44" fmla="*/ 41 w 100"/>
                <a:gd name="T45" fmla="*/ 210 h 510"/>
                <a:gd name="T46" fmla="*/ 26 w 100"/>
                <a:gd name="T47" fmla="*/ 251 h 510"/>
                <a:gd name="T48" fmla="*/ 24 w 100"/>
                <a:gd name="T49" fmla="*/ 286 h 510"/>
                <a:gd name="T50" fmla="*/ 17 w 100"/>
                <a:gd name="T51" fmla="*/ 319 h 510"/>
                <a:gd name="T52" fmla="*/ 32 w 100"/>
                <a:gd name="T53" fmla="*/ 302 h 510"/>
                <a:gd name="T54" fmla="*/ 34 w 100"/>
                <a:gd name="T55" fmla="*/ 320 h 510"/>
                <a:gd name="T56" fmla="*/ 30 w 100"/>
                <a:gd name="T57" fmla="*/ 342 h 510"/>
                <a:gd name="T58" fmla="*/ 25 w 100"/>
                <a:gd name="T59" fmla="*/ 357 h 510"/>
                <a:gd name="T60" fmla="*/ 23 w 100"/>
                <a:gd name="T61" fmla="*/ 354 h 510"/>
                <a:gd name="T62" fmla="*/ 15 w 100"/>
                <a:gd name="T63" fmla="*/ 357 h 510"/>
                <a:gd name="T64" fmla="*/ 2 w 100"/>
                <a:gd name="T65" fmla="*/ 374 h 510"/>
                <a:gd name="T66" fmla="*/ 17 w 100"/>
                <a:gd name="T67" fmla="*/ 376 h 510"/>
                <a:gd name="T68" fmla="*/ 25 w 100"/>
                <a:gd name="T69" fmla="*/ 389 h 510"/>
                <a:gd name="T70" fmla="*/ 11 w 100"/>
                <a:gd name="T71" fmla="*/ 393 h 510"/>
                <a:gd name="T72" fmla="*/ 13 w 100"/>
                <a:gd name="T73" fmla="*/ 400 h 510"/>
                <a:gd name="T74" fmla="*/ 6 w 100"/>
                <a:gd name="T75" fmla="*/ 412 h 510"/>
                <a:gd name="T76" fmla="*/ 15 w 100"/>
                <a:gd name="T77" fmla="*/ 416 h 510"/>
                <a:gd name="T78" fmla="*/ 16 w 100"/>
                <a:gd name="T79" fmla="*/ 427 h 510"/>
                <a:gd name="T80" fmla="*/ 9 w 100"/>
                <a:gd name="T81" fmla="*/ 441 h 510"/>
                <a:gd name="T82" fmla="*/ 23 w 100"/>
                <a:gd name="T83" fmla="*/ 444 h 510"/>
                <a:gd name="T84" fmla="*/ 28 w 100"/>
                <a:gd name="T85" fmla="*/ 448 h 510"/>
                <a:gd name="T86" fmla="*/ 22 w 100"/>
                <a:gd name="T87" fmla="*/ 462 h 510"/>
                <a:gd name="T88" fmla="*/ 41 w 100"/>
                <a:gd name="T89" fmla="*/ 462 h 510"/>
                <a:gd name="T90" fmla="*/ 28 w 100"/>
                <a:gd name="T91" fmla="*/ 472 h 510"/>
                <a:gd name="T92" fmla="*/ 42 w 100"/>
                <a:gd name="T93" fmla="*/ 470 h 510"/>
                <a:gd name="T94" fmla="*/ 26 w 100"/>
                <a:gd name="T95" fmla="*/ 481 h 510"/>
                <a:gd name="T96" fmla="*/ 41 w 100"/>
                <a:gd name="T97" fmla="*/ 483 h 510"/>
                <a:gd name="T98" fmla="*/ 64 w 100"/>
                <a:gd name="T99" fmla="*/ 461 h 510"/>
                <a:gd name="T100" fmla="*/ 71 w 100"/>
                <a:gd name="T101" fmla="*/ 473 h 510"/>
                <a:gd name="T102" fmla="*/ 61 w 100"/>
                <a:gd name="T103" fmla="*/ 477 h 510"/>
                <a:gd name="T104" fmla="*/ 50 w 100"/>
                <a:gd name="T105" fmla="*/ 486 h 510"/>
                <a:gd name="T106" fmla="*/ 58 w 100"/>
                <a:gd name="T107" fmla="*/ 503 h 510"/>
                <a:gd name="T108" fmla="*/ 74 w 100"/>
                <a:gd name="T109" fmla="*/ 500 h 510"/>
                <a:gd name="T110" fmla="*/ 91 w 100"/>
                <a:gd name="T111" fmla="*/ 501 h 510"/>
                <a:gd name="T112" fmla="*/ 81 w 100"/>
                <a:gd name="T113" fmla="*/ 499 h 510"/>
                <a:gd name="T114" fmla="*/ 71 w 100"/>
                <a:gd name="T115" fmla="*/ 457 h 510"/>
                <a:gd name="T116" fmla="*/ 46 w 100"/>
                <a:gd name="T117" fmla="*/ 452 h 51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0"/>
                <a:gd name="T178" fmla="*/ 0 h 510"/>
                <a:gd name="T179" fmla="*/ 100 w 100"/>
                <a:gd name="T180" fmla="*/ 510 h 51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0" h="510">
                  <a:moveTo>
                    <a:pt x="46" y="452"/>
                  </a:moveTo>
                  <a:cubicBezTo>
                    <a:pt x="44" y="453"/>
                    <a:pt x="43" y="447"/>
                    <a:pt x="41" y="447"/>
                  </a:cubicBezTo>
                  <a:cubicBezTo>
                    <a:pt x="39" y="447"/>
                    <a:pt x="39" y="439"/>
                    <a:pt x="40" y="435"/>
                  </a:cubicBezTo>
                  <a:cubicBezTo>
                    <a:pt x="42" y="431"/>
                    <a:pt x="32" y="433"/>
                    <a:pt x="30" y="431"/>
                  </a:cubicBezTo>
                  <a:cubicBezTo>
                    <a:pt x="27" y="430"/>
                    <a:pt x="31" y="427"/>
                    <a:pt x="28" y="424"/>
                  </a:cubicBezTo>
                  <a:cubicBezTo>
                    <a:pt x="25" y="420"/>
                    <a:pt x="27" y="416"/>
                    <a:pt x="27" y="413"/>
                  </a:cubicBezTo>
                  <a:cubicBezTo>
                    <a:pt x="28" y="411"/>
                    <a:pt x="30" y="406"/>
                    <a:pt x="34" y="406"/>
                  </a:cubicBezTo>
                  <a:cubicBezTo>
                    <a:pt x="37" y="406"/>
                    <a:pt x="35" y="400"/>
                    <a:pt x="38" y="398"/>
                  </a:cubicBezTo>
                  <a:cubicBezTo>
                    <a:pt x="42" y="396"/>
                    <a:pt x="35" y="392"/>
                    <a:pt x="38" y="389"/>
                  </a:cubicBezTo>
                  <a:cubicBezTo>
                    <a:pt x="41" y="387"/>
                    <a:pt x="38" y="382"/>
                    <a:pt x="43" y="382"/>
                  </a:cubicBezTo>
                  <a:cubicBezTo>
                    <a:pt x="47" y="381"/>
                    <a:pt x="43" y="375"/>
                    <a:pt x="46" y="374"/>
                  </a:cubicBezTo>
                  <a:cubicBezTo>
                    <a:pt x="49" y="373"/>
                    <a:pt x="45" y="369"/>
                    <a:pt x="46" y="365"/>
                  </a:cubicBezTo>
                  <a:cubicBezTo>
                    <a:pt x="47" y="361"/>
                    <a:pt x="44" y="358"/>
                    <a:pt x="48" y="356"/>
                  </a:cubicBezTo>
                  <a:cubicBezTo>
                    <a:pt x="52" y="355"/>
                    <a:pt x="49" y="351"/>
                    <a:pt x="46" y="349"/>
                  </a:cubicBezTo>
                  <a:cubicBezTo>
                    <a:pt x="43" y="347"/>
                    <a:pt x="47" y="347"/>
                    <a:pt x="51" y="347"/>
                  </a:cubicBezTo>
                  <a:cubicBezTo>
                    <a:pt x="54" y="347"/>
                    <a:pt x="52" y="341"/>
                    <a:pt x="49" y="342"/>
                  </a:cubicBezTo>
                  <a:cubicBezTo>
                    <a:pt x="45" y="343"/>
                    <a:pt x="43" y="339"/>
                    <a:pt x="46" y="336"/>
                  </a:cubicBezTo>
                  <a:cubicBezTo>
                    <a:pt x="49" y="333"/>
                    <a:pt x="43" y="331"/>
                    <a:pt x="44" y="329"/>
                  </a:cubicBezTo>
                  <a:cubicBezTo>
                    <a:pt x="45" y="327"/>
                    <a:pt x="45" y="324"/>
                    <a:pt x="43" y="323"/>
                  </a:cubicBezTo>
                  <a:cubicBezTo>
                    <a:pt x="41" y="321"/>
                    <a:pt x="42" y="311"/>
                    <a:pt x="45" y="311"/>
                  </a:cubicBezTo>
                  <a:cubicBezTo>
                    <a:pt x="47" y="310"/>
                    <a:pt x="45" y="301"/>
                    <a:pt x="45" y="299"/>
                  </a:cubicBezTo>
                  <a:cubicBezTo>
                    <a:pt x="45" y="296"/>
                    <a:pt x="43" y="293"/>
                    <a:pt x="43" y="291"/>
                  </a:cubicBezTo>
                  <a:cubicBezTo>
                    <a:pt x="43" y="288"/>
                    <a:pt x="46" y="288"/>
                    <a:pt x="46" y="283"/>
                  </a:cubicBezTo>
                  <a:cubicBezTo>
                    <a:pt x="46" y="278"/>
                    <a:pt x="47" y="276"/>
                    <a:pt x="49" y="276"/>
                  </a:cubicBezTo>
                  <a:cubicBezTo>
                    <a:pt x="51" y="276"/>
                    <a:pt x="49" y="270"/>
                    <a:pt x="50" y="267"/>
                  </a:cubicBezTo>
                  <a:cubicBezTo>
                    <a:pt x="50" y="265"/>
                    <a:pt x="56" y="267"/>
                    <a:pt x="56" y="263"/>
                  </a:cubicBezTo>
                  <a:cubicBezTo>
                    <a:pt x="57" y="259"/>
                    <a:pt x="53" y="259"/>
                    <a:pt x="53" y="257"/>
                  </a:cubicBezTo>
                  <a:cubicBezTo>
                    <a:pt x="54" y="253"/>
                    <a:pt x="53" y="249"/>
                    <a:pt x="53" y="242"/>
                  </a:cubicBezTo>
                  <a:cubicBezTo>
                    <a:pt x="53" y="234"/>
                    <a:pt x="59" y="233"/>
                    <a:pt x="62" y="231"/>
                  </a:cubicBezTo>
                  <a:cubicBezTo>
                    <a:pt x="64" y="228"/>
                    <a:pt x="59" y="218"/>
                    <a:pt x="62" y="216"/>
                  </a:cubicBezTo>
                  <a:cubicBezTo>
                    <a:pt x="65" y="215"/>
                    <a:pt x="63" y="210"/>
                    <a:pt x="65" y="208"/>
                  </a:cubicBezTo>
                  <a:cubicBezTo>
                    <a:pt x="67" y="206"/>
                    <a:pt x="67" y="203"/>
                    <a:pt x="68" y="199"/>
                  </a:cubicBezTo>
                  <a:cubicBezTo>
                    <a:pt x="69" y="195"/>
                    <a:pt x="65" y="193"/>
                    <a:pt x="65" y="189"/>
                  </a:cubicBezTo>
                  <a:cubicBezTo>
                    <a:pt x="65" y="185"/>
                    <a:pt x="65" y="182"/>
                    <a:pt x="62" y="178"/>
                  </a:cubicBezTo>
                  <a:cubicBezTo>
                    <a:pt x="59" y="174"/>
                    <a:pt x="60" y="166"/>
                    <a:pt x="62" y="166"/>
                  </a:cubicBezTo>
                  <a:cubicBezTo>
                    <a:pt x="64" y="166"/>
                    <a:pt x="63" y="158"/>
                    <a:pt x="66" y="157"/>
                  </a:cubicBezTo>
                  <a:cubicBezTo>
                    <a:pt x="70" y="156"/>
                    <a:pt x="68" y="150"/>
                    <a:pt x="66" y="145"/>
                  </a:cubicBezTo>
                  <a:cubicBezTo>
                    <a:pt x="65" y="140"/>
                    <a:pt x="69" y="143"/>
                    <a:pt x="69" y="139"/>
                  </a:cubicBezTo>
                  <a:cubicBezTo>
                    <a:pt x="69" y="135"/>
                    <a:pt x="71" y="130"/>
                    <a:pt x="74" y="129"/>
                  </a:cubicBezTo>
                  <a:cubicBezTo>
                    <a:pt x="78" y="128"/>
                    <a:pt x="78" y="122"/>
                    <a:pt x="78" y="120"/>
                  </a:cubicBezTo>
                  <a:cubicBezTo>
                    <a:pt x="78" y="117"/>
                    <a:pt x="82" y="116"/>
                    <a:pt x="85" y="114"/>
                  </a:cubicBezTo>
                  <a:cubicBezTo>
                    <a:pt x="87" y="112"/>
                    <a:pt x="81" y="109"/>
                    <a:pt x="84" y="107"/>
                  </a:cubicBezTo>
                  <a:cubicBezTo>
                    <a:pt x="88" y="105"/>
                    <a:pt x="81" y="96"/>
                    <a:pt x="83" y="94"/>
                  </a:cubicBezTo>
                  <a:cubicBezTo>
                    <a:pt x="85" y="93"/>
                    <a:pt x="84" y="89"/>
                    <a:pt x="84" y="86"/>
                  </a:cubicBezTo>
                  <a:cubicBezTo>
                    <a:pt x="84" y="84"/>
                    <a:pt x="95" y="79"/>
                    <a:pt x="97" y="76"/>
                  </a:cubicBezTo>
                  <a:cubicBezTo>
                    <a:pt x="98" y="74"/>
                    <a:pt x="99" y="68"/>
                    <a:pt x="99" y="63"/>
                  </a:cubicBezTo>
                  <a:cubicBezTo>
                    <a:pt x="96" y="65"/>
                    <a:pt x="93" y="66"/>
                    <a:pt x="92" y="65"/>
                  </a:cubicBezTo>
                  <a:cubicBezTo>
                    <a:pt x="91" y="63"/>
                    <a:pt x="92" y="56"/>
                    <a:pt x="89" y="53"/>
                  </a:cubicBezTo>
                  <a:cubicBezTo>
                    <a:pt x="86" y="50"/>
                    <a:pt x="88" y="44"/>
                    <a:pt x="85" y="43"/>
                  </a:cubicBezTo>
                  <a:cubicBezTo>
                    <a:pt x="82" y="41"/>
                    <a:pt x="79" y="35"/>
                    <a:pt x="81" y="33"/>
                  </a:cubicBezTo>
                  <a:cubicBezTo>
                    <a:pt x="84" y="31"/>
                    <a:pt x="81" y="27"/>
                    <a:pt x="84" y="25"/>
                  </a:cubicBezTo>
                  <a:cubicBezTo>
                    <a:pt x="86" y="23"/>
                    <a:pt x="82" y="23"/>
                    <a:pt x="79" y="19"/>
                  </a:cubicBezTo>
                  <a:cubicBezTo>
                    <a:pt x="76" y="15"/>
                    <a:pt x="80" y="10"/>
                    <a:pt x="76" y="7"/>
                  </a:cubicBezTo>
                  <a:cubicBezTo>
                    <a:pt x="72" y="4"/>
                    <a:pt x="72" y="0"/>
                    <a:pt x="71" y="2"/>
                  </a:cubicBezTo>
                  <a:cubicBezTo>
                    <a:pt x="70" y="4"/>
                    <a:pt x="70" y="9"/>
                    <a:pt x="67" y="11"/>
                  </a:cubicBezTo>
                  <a:cubicBezTo>
                    <a:pt x="66" y="11"/>
                    <a:pt x="65" y="12"/>
                    <a:pt x="64" y="13"/>
                  </a:cubicBezTo>
                  <a:cubicBezTo>
                    <a:pt x="64" y="15"/>
                    <a:pt x="63" y="20"/>
                    <a:pt x="64" y="23"/>
                  </a:cubicBezTo>
                  <a:cubicBezTo>
                    <a:pt x="66" y="27"/>
                    <a:pt x="67" y="45"/>
                    <a:pt x="65" y="52"/>
                  </a:cubicBezTo>
                  <a:cubicBezTo>
                    <a:pt x="64" y="59"/>
                    <a:pt x="62" y="65"/>
                    <a:pt x="61" y="69"/>
                  </a:cubicBezTo>
                  <a:cubicBezTo>
                    <a:pt x="59" y="73"/>
                    <a:pt x="64" y="73"/>
                    <a:pt x="62" y="75"/>
                  </a:cubicBezTo>
                  <a:cubicBezTo>
                    <a:pt x="60" y="77"/>
                    <a:pt x="61" y="82"/>
                    <a:pt x="61" y="90"/>
                  </a:cubicBezTo>
                  <a:cubicBezTo>
                    <a:pt x="61" y="98"/>
                    <a:pt x="56" y="112"/>
                    <a:pt x="56" y="116"/>
                  </a:cubicBezTo>
                  <a:cubicBezTo>
                    <a:pt x="56" y="120"/>
                    <a:pt x="52" y="123"/>
                    <a:pt x="53" y="128"/>
                  </a:cubicBezTo>
                  <a:cubicBezTo>
                    <a:pt x="53" y="133"/>
                    <a:pt x="51" y="135"/>
                    <a:pt x="48" y="138"/>
                  </a:cubicBezTo>
                  <a:cubicBezTo>
                    <a:pt x="45" y="140"/>
                    <a:pt x="52" y="147"/>
                    <a:pt x="52" y="151"/>
                  </a:cubicBezTo>
                  <a:cubicBezTo>
                    <a:pt x="52" y="155"/>
                    <a:pt x="47" y="157"/>
                    <a:pt x="48" y="163"/>
                  </a:cubicBezTo>
                  <a:cubicBezTo>
                    <a:pt x="49" y="171"/>
                    <a:pt x="48" y="185"/>
                    <a:pt x="48" y="188"/>
                  </a:cubicBezTo>
                  <a:cubicBezTo>
                    <a:pt x="48" y="191"/>
                    <a:pt x="45" y="191"/>
                    <a:pt x="45" y="196"/>
                  </a:cubicBezTo>
                  <a:cubicBezTo>
                    <a:pt x="46" y="201"/>
                    <a:pt x="42" y="202"/>
                    <a:pt x="41" y="210"/>
                  </a:cubicBezTo>
                  <a:cubicBezTo>
                    <a:pt x="41" y="217"/>
                    <a:pt x="35" y="228"/>
                    <a:pt x="33" y="234"/>
                  </a:cubicBezTo>
                  <a:cubicBezTo>
                    <a:pt x="30" y="240"/>
                    <a:pt x="30" y="243"/>
                    <a:pt x="27" y="243"/>
                  </a:cubicBezTo>
                  <a:cubicBezTo>
                    <a:pt x="24" y="243"/>
                    <a:pt x="24" y="246"/>
                    <a:pt x="26" y="251"/>
                  </a:cubicBezTo>
                  <a:cubicBezTo>
                    <a:pt x="28" y="256"/>
                    <a:pt x="24" y="260"/>
                    <a:pt x="27" y="265"/>
                  </a:cubicBezTo>
                  <a:cubicBezTo>
                    <a:pt x="30" y="270"/>
                    <a:pt x="29" y="272"/>
                    <a:pt x="28" y="277"/>
                  </a:cubicBezTo>
                  <a:cubicBezTo>
                    <a:pt x="26" y="282"/>
                    <a:pt x="24" y="282"/>
                    <a:pt x="24" y="286"/>
                  </a:cubicBezTo>
                  <a:cubicBezTo>
                    <a:pt x="24" y="291"/>
                    <a:pt x="21" y="295"/>
                    <a:pt x="23" y="300"/>
                  </a:cubicBezTo>
                  <a:cubicBezTo>
                    <a:pt x="25" y="305"/>
                    <a:pt x="24" y="306"/>
                    <a:pt x="22" y="306"/>
                  </a:cubicBezTo>
                  <a:cubicBezTo>
                    <a:pt x="19" y="306"/>
                    <a:pt x="18" y="310"/>
                    <a:pt x="17" y="319"/>
                  </a:cubicBezTo>
                  <a:cubicBezTo>
                    <a:pt x="16" y="327"/>
                    <a:pt x="16" y="327"/>
                    <a:pt x="22" y="326"/>
                  </a:cubicBezTo>
                  <a:cubicBezTo>
                    <a:pt x="28" y="326"/>
                    <a:pt x="24" y="306"/>
                    <a:pt x="27" y="306"/>
                  </a:cubicBezTo>
                  <a:cubicBezTo>
                    <a:pt x="31" y="306"/>
                    <a:pt x="28" y="303"/>
                    <a:pt x="32" y="302"/>
                  </a:cubicBezTo>
                  <a:cubicBezTo>
                    <a:pt x="35" y="301"/>
                    <a:pt x="32" y="305"/>
                    <a:pt x="35" y="306"/>
                  </a:cubicBezTo>
                  <a:cubicBezTo>
                    <a:pt x="37" y="307"/>
                    <a:pt x="39" y="309"/>
                    <a:pt x="35" y="311"/>
                  </a:cubicBezTo>
                  <a:cubicBezTo>
                    <a:pt x="32" y="313"/>
                    <a:pt x="36" y="318"/>
                    <a:pt x="34" y="320"/>
                  </a:cubicBezTo>
                  <a:cubicBezTo>
                    <a:pt x="33" y="323"/>
                    <a:pt x="30" y="326"/>
                    <a:pt x="32" y="329"/>
                  </a:cubicBezTo>
                  <a:cubicBezTo>
                    <a:pt x="33" y="333"/>
                    <a:pt x="30" y="332"/>
                    <a:pt x="30" y="337"/>
                  </a:cubicBezTo>
                  <a:cubicBezTo>
                    <a:pt x="29" y="341"/>
                    <a:pt x="32" y="341"/>
                    <a:pt x="30" y="342"/>
                  </a:cubicBezTo>
                  <a:cubicBezTo>
                    <a:pt x="28" y="343"/>
                    <a:pt x="32" y="346"/>
                    <a:pt x="30" y="347"/>
                  </a:cubicBezTo>
                  <a:cubicBezTo>
                    <a:pt x="27" y="347"/>
                    <a:pt x="29" y="351"/>
                    <a:pt x="30" y="354"/>
                  </a:cubicBezTo>
                  <a:cubicBezTo>
                    <a:pt x="32" y="357"/>
                    <a:pt x="27" y="355"/>
                    <a:pt x="25" y="357"/>
                  </a:cubicBezTo>
                  <a:cubicBezTo>
                    <a:pt x="22" y="359"/>
                    <a:pt x="27" y="362"/>
                    <a:pt x="26" y="364"/>
                  </a:cubicBezTo>
                  <a:cubicBezTo>
                    <a:pt x="24" y="367"/>
                    <a:pt x="20" y="363"/>
                    <a:pt x="18" y="361"/>
                  </a:cubicBezTo>
                  <a:cubicBezTo>
                    <a:pt x="17" y="360"/>
                    <a:pt x="21" y="357"/>
                    <a:pt x="23" y="354"/>
                  </a:cubicBezTo>
                  <a:cubicBezTo>
                    <a:pt x="26" y="351"/>
                    <a:pt x="21" y="344"/>
                    <a:pt x="17" y="346"/>
                  </a:cubicBezTo>
                  <a:cubicBezTo>
                    <a:pt x="14" y="347"/>
                    <a:pt x="21" y="351"/>
                    <a:pt x="21" y="355"/>
                  </a:cubicBezTo>
                  <a:cubicBezTo>
                    <a:pt x="21" y="358"/>
                    <a:pt x="15" y="354"/>
                    <a:pt x="15" y="357"/>
                  </a:cubicBezTo>
                  <a:cubicBezTo>
                    <a:pt x="15" y="361"/>
                    <a:pt x="11" y="360"/>
                    <a:pt x="9" y="362"/>
                  </a:cubicBezTo>
                  <a:cubicBezTo>
                    <a:pt x="6" y="365"/>
                    <a:pt x="12" y="367"/>
                    <a:pt x="9" y="368"/>
                  </a:cubicBezTo>
                  <a:cubicBezTo>
                    <a:pt x="7" y="368"/>
                    <a:pt x="2" y="372"/>
                    <a:pt x="2" y="374"/>
                  </a:cubicBezTo>
                  <a:cubicBezTo>
                    <a:pt x="2" y="377"/>
                    <a:pt x="5" y="377"/>
                    <a:pt x="5" y="375"/>
                  </a:cubicBezTo>
                  <a:cubicBezTo>
                    <a:pt x="5" y="372"/>
                    <a:pt x="9" y="372"/>
                    <a:pt x="10" y="375"/>
                  </a:cubicBezTo>
                  <a:cubicBezTo>
                    <a:pt x="11" y="378"/>
                    <a:pt x="13" y="375"/>
                    <a:pt x="17" y="376"/>
                  </a:cubicBezTo>
                  <a:cubicBezTo>
                    <a:pt x="20" y="376"/>
                    <a:pt x="20" y="382"/>
                    <a:pt x="18" y="381"/>
                  </a:cubicBezTo>
                  <a:cubicBezTo>
                    <a:pt x="16" y="381"/>
                    <a:pt x="14" y="385"/>
                    <a:pt x="14" y="388"/>
                  </a:cubicBezTo>
                  <a:cubicBezTo>
                    <a:pt x="15" y="392"/>
                    <a:pt x="22" y="388"/>
                    <a:pt x="25" y="389"/>
                  </a:cubicBezTo>
                  <a:cubicBezTo>
                    <a:pt x="28" y="390"/>
                    <a:pt x="27" y="396"/>
                    <a:pt x="25" y="394"/>
                  </a:cubicBezTo>
                  <a:cubicBezTo>
                    <a:pt x="23" y="392"/>
                    <a:pt x="19" y="389"/>
                    <a:pt x="17" y="392"/>
                  </a:cubicBezTo>
                  <a:cubicBezTo>
                    <a:pt x="16" y="395"/>
                    <a:pt x="13" y="394"/>
                    <a:pt x="11" y="393"/>
                  </a:cubicBezTo>
                  <a:cubicBezTo>
                    <a:pt x="8" y="392"/>
                    <a:pt x="0" y="397"/>
                    <a:pt x="3" y="399"/>
                  </a:cubicBezTo>
                  <a:cubicBezTo>
                    <a:pt x="6" y="401"/>
                    <a:pt x="6" y="404"/>
                    <a:pt x="7" y="404"/>
                  </a:cubicBezTo>
                  <a:cubicBezTo>
                    <a:pt x="9" y="404"/>
                    <a:pt x="12" y="402"/>
                    <a:pt x="13" y="400"/>
                  </a:cubicBezTo>
                  <a:cubicBezTo>
                    <a:pt x="14" y="398"/>
                    <a:pt x="17" y="396"/>
                    <a:pt x="18" y="401"/>
                  </a:cubicBezTo>
                  <a:cubicBezTo>
                    <a:pt x="18" y="405"/>
                    <a:pt x="13" y="403"/>
                    <a:pt x="12" y="406"/>
                  </a:cubicBezTo>
                  <a:cubicBezTo>
                    <a:pt x="11" y="408"/>
                    <a:pt x="9" y="410"/>
                    <a:pt x="6" y="412"/>
                  </a:cubicBezTo>
                  <a:cubicBezTo>
                    <a:pt x="3" y="415"/>
                    <a:pt x="6" y="418"/>
                    <a:pt x="8" y="417"/>
                  </a:cubicBezTo>
                  <a:cubicBezTo>
                    <a:pt x="11" y="416"/>
                    <a:pt x="8" y="420"/>
                    <a:pt x="11" y="421"/>
                  </a:cubicBezTo>
                  <a:cubicBezTo>
                    <a:pt x="14" y="421"/>
                    <a:pt x="15" y="419"/>
                    <a:pt x="15" y="416"/>
                  </a:cubicBezTo>
                  <a:cubicBezTo>
                    <a:pt x="14" y="414"/>
                    <a:pt x="16" y="408"/>
                    <a:pt x="19" y="411"/>
                  </a:cubicBezTo>
                  <a:cubicBezTo>
                    <a:pt x="22" y="414"/>
                    <a:pt x="18" y="416"/>
                    <a:pt x="18" y="419"/>
                  </a:cubicBezTo>
                  <a:cubicBezTo>
                    <a:pt x="18" y="421"/>
                    <a:pt x="16" y="425"/>
                    <a:pt x="16" y="427"/>
                  </a:cubicBezTo>
                  <a:cubicBezTo>
                    <a:pt x="16" y="430"/>
                    <a:pt x="13" y="429"/>
                    <a:pt x="13" y="432"/>
                  </a:cubicBezTo>
                  <a:cubicBezTo>
                    <a:pt x="13" y="435"/>
                    <a:pt x="6" y="433"/>
                    <a:pt x="9" y="435"/>
                  </a:cubicBezTo>
                  <a:cubicBezTo>
                    <a:pt x="13" y="437"/>
                    <a:pt x="7" y="439"/>
                    <a:pt x="9" y="441"/>
                  </a:cubicBezTo>
                  <a:cubicBezTo>
                    <a:pt x="11" y="443"/>
                    <a:pt x="12" y="439"/>
                    <a:pt x="15" y="440"/>
                  </a:cubicBezTo>
                  <a:cubicBezTo>
                    <a:pt x="18" y="441"/>
                    <a:pt x="17" y="441"/>
                    <a:pt x="21" y="440"/>
                  </a:cubicBezTo>
                  <a:cubicBezTo>
                    <a:pt x="24" y="438"/>
                    <a:pt x="26" y="443"/>
                    <a:pt x="23" y="444"/>
                  </a:cubicBezTo>
                  <a:cubicBezTo>
                    <a:pt x="20" y="445"/>
                    <a:pt x="16" y="448"/>
                    <a:pt x="18" y="449"/>
                  </a:cubicBezTo>
                  <a:cubicBezTo>
                    <a:pt x="19" y="449"/>
                    <a:pt x="24" y="446"/>
                    <a:pt x="25" y="450"/>
                  </a:cubicBezTo>
                  <a:cubicBezTo>
                    <a:pt x="26" y="453"/>
                    <a:pt x="28" y="452"/>
                    <a:pt x="28" y="448"/>
                  </a:cubicBezTo>
                  <a:cubicBezTo>
                    <a:pt x="29" y="445"/>
                    <a:pt x="35" y="448"/>
                    <a:pt x="36" y="451"/>
                  </a:cubicBezTo>
                  <a:cubicBezTo>
                    <a:pt x="37" y="454"/>
                    <a:pt x="29" y="456"/>
                    <a:pt x="26" y="455"/>
                  </a:cubicBezTo>
                  <a:cubicBezTo>
                    <a:pt x="22" y="454"/>
                    <a:pt x="20" y="458"/>
                    <a:pt x="22" y="462"/>
                  </a:cubicBezTo>
                  <a:cubicBezTo>
                    <a:pt x="25" y="465"/>
                    <a:pt x="28" y="462"/>
                    <a:pt x="31" y="459"/>
                  </a:cubicBezTo>
                  <a:cubicBezTo>
                    <a:pt x="33" y="456"/>
                    <a:pt x="47" y="457"/>
                    <a:pt x="48" y="460"/>
                  </a:cubicBezTo>
                  <a:cubicBezTo>
                    <a:pt x="49" y="463"/>
                    <a:pt x="42" y="460"/>
                    <a:pt x="41" y="462"/>
                  </a:cubicBezTo>
                  <a:cubicBezTo>
                    <a:pt x="40" y="464"/>
                    <a:pt x="35" y="465"/>
                    <a:pt x="34" y="463"/>
                  </a:cubicBezTo>
                  <a:cubicBezTo>
                    <a:pt x="33" y="461"/>
                    <a:pt x="28" y="464"/>
                    <a:pt x="28" y="467"/>
                  </a:cubicBezTo>
                  <a:cubicBezTo>
                    <a:pt x="27" y="471"/>
                    <a:pt x="23" y="471"/>
                    <a:pt x="28" y="472"/>
                  </a:cubicBezTo>
                  <a:cubicBezTo>
                    <a:pt x="32" y="473"/>
                    <a:pt x="31" y="467"/>
                    <a:pt x="38" y="468"/>
                  </a:cubicBezTo>
                  <a:cubicBezTo>
                    <a:pt x="45" y="468"/>
                    <a:pt x="49" y="461"/>
                    <a:pt x="51" y="465"/>
                  </a:cubicBezTo>
                  <a:cubicBezTo>
                    <a:pt x="53" y="469"/>
                    <a:pt x="45" y="472"/>
                    <a:pt x="42" y="470"/>
                  </a:cubicBezTo>
                  <a:cubicBezTo>
                    <a:pt x="40" y="467"/>
                    <a:pt x="36" y="472"/>
                    <a:pt x="37" y="475"/>
                  </a:cubicBezTo>
                  <a:cubicBezTo>
                    <a:pt x="37" y="479"/>
                    <a:pt x="29" y="474"/>
                    <a:pt x="25" y="474"/>
                  </a:cubicBezTo>
                  <a:cubicBezTo>
                    <a:pt x="21" y="473"/>
                    <a:pt x="22" y="478"/>
                    <a:pt x="26" y="481"/>
                  </a:cubicBezTo>
                  <a:cubicBezTo>
                    <a:pt x="29" y="485"/>
                    <a:pt x="31" y="481"/>
                    <a:pt x="36" y="484"/>
                  </a:cubicBezTo>
                  <a:cubicBezTo>
                    <a:pt x="40" y="486"/>
                    <a:pt x="40" y="489"/>
                    <a:pt x="43" y="487"/>
                  </a:cubicBezTo>
                  <a:cubicBezTo>
                    <a:pt x="46" y="484"/>
                    <a:pt x="43" y="484"/>
                    <a:pt x="41" y="483"/>
                  </a:cubicBezTo>
                  <a:cubicBezTo>
                    <a:pt x="39" y="482"/>
                    <a:pt x="41" y="477"/>
                    <a:pt x="45" y="480"/>
                  </a:cubicBezTo>
                  <a:cubicBezTo>
                    <a:pt x="50" y="482"/>
                    <a:pt x="56" y="478"/>
                    <a:pt x="54" y="472"/>
                  </a:cubicBezTo>
                  <a:cubicBezTo>
                    <a:pt x="53" y="466"/>
                    <a:pt x="58" y="463"/>
                    <a:pt x="64" y="461"/>
                  </a:cubicBezTo>
                  <a:cubicBezTo>
                    <a:pt x="70" y="459"/>
                    <a:pt x="67" y="465"/>
                    <a:pt x="63" y="466"/>
                  </a:cubicBezTo>
                  <a:cubicBezTo>
                    <a:pt x="58" y="468"/>
                    <a:pt x="58" y="469"/>
                    <a:pt x="61" y="473"/>
                  </a:cubicBezTo>
                  <a:cubicBezTo>
                    <a:pt x="64" y="476"/>
                    <a:pt x="68" y="471"/>
                    <a:pt x="71" y="473"/>
                  </a:cubicBezTo>
                  <a:cubicBezTo>
                    <a:pt x="74" y="476"/>
                    <a:pt x="66" y="476"/>
                    <a:pt x="65" y="478"/>
                  </a:cubicBezTo>
                  <a:cubicBezTo>
                    <a:pt x="64" y="481"/>
                    <a:pt x="70" y="484"/>
                    <a:pt x="65" y="486"/>
                  </a:cubicBezTo>
                  <a:cubicBezTo>
                    <a:pt x="61" y="488"/>
                    <a:pt x="63" y="478"/>
                    <a:pt x="61" y="477"/>
                  </a:cubicBezTo>
                  <a:cubicBezTo>
                    <a:pt x="58" y="476"/>
                    <a:pt x="56" y="478"/>
                    <a:pt x="58" y="484"/>
                  </a:cubicBezTo>
                  <a:cubicBezTo>
                    <a:pt x="61" y="490"/>
                    <a:pt x="55" y="485"/>
                    <a:pt x="53" y="482"/>
                  </a:cubicBezTo>
                  <a:cubicBezTo>
                    <a:pt x="50" y="479"/>
                    <a:pt x="47" y="483"/>
                    <a:pt x="50" y="486"/>
                  </a:cubicBezTo>
                  <a:cubicBezTo>
                    <a:pt x="53" y="489"/>
                    <a:pt x="44" y="486"/>
                    <a:pt x="44" y="491"/>
                  </a:cubicBezTo>
                  <a:cubicBezTo>
                    <a:pt x="44" y="496"/>
                    <a:pt x="48" y="492"/>
                    <a:pt x="52" y="493"/>
                  </a:cubicBezTo>
                  <a:cubicBezTo>
                    <a:pt x="57" y="494"/>
                    <a:pt x="55" y="500"/>
                    <a:pt x="58" y="503"/>
                  </a:cubicBezTo>
                  <a:cubicBezTo>
                    <a:pt x="61" y="505"/>
                    <a:pt x="59" y="495"/>
                    <a:pt x="62" y="494"/>
                  </a:cubicBezTo>
                  <a:cubicBezTo>
                    <a:pt x="66" y="493"/>
                    <a:pt x="62" y="502"/>
                    <a:pt x="70" y="504"/>
                  </a:cubicBezTo>
                  <a:cubicBezTo>
                    <a:pt x="78" y="507"/>
                    <a:pt x="71" y="503"/>
                    <a:pt x="74" y="500"/>
                  </a:cubicBezTo>
                  <a:cubicBezTo>
                    <a:pt x="78" y="498"/>
                    <a:pt x="82" y="508"/>
                    <a:pt x="86" y="509"/>
                  </a:cubicBezTo>
                  <a:cubicBezTo>
                    <a:pt x="90" y="510"/>
                    <a:pt x="87" y="504"/>
                    <a:pt x="84" y="501"/>
                  </a:cubicBezTo>
                  <a:cubicBezTo>
                    <a:pt x="82" y="498"/>
                    <a:pt x="87" y="500"/>
                    <a:pt x="91" y="501"/>
                  </a:cubicBezTo>
                  <a:cubicBezTo>
                    <a:pt x="95" y="503"/>
                    <a:pt x="98" y="503"/>
                    <a:pt x="98" y="500"/>
                  </a:cubicBezTo>
                  <a:cubicBezTo>
                    <a:pt x="99" y="499"/>
                    <a:pt x="99" y="499"/>
                    <a:pt x="100" y="500"/>
                  </a:cubicBezTo>
                  <a:cubicBezTo>
                    <a:pt x="96" y="497"/>
                    <a:pt x="83" y="499"/>
                    <a:pt x="81" y="499"/>
                  </a:cubicBezTo>
                  <a:cubicBezTo>
                    <a:pt x="79" y="498"/>
                    <a:pt x="81" y="468"/>
                    <a:pt x="81" y="461"/>
                  </a:cubicBezTo>
                  <a:cubicBezTo>
                    <a:pt x="81" y="461"/>
                    <a:pt x="81" y="461"/>
                    <a:pt x="80" y="461"/>
                  </a:cubicBezTo>
                  <a:cubicBezTo>
                    <a:pt x="77" y="461"/>
                    <a:pt x="70" y="462"/>
                    <a:pt x="71" y="457"/>
                  </a:cubicBezTo>
                  <a:cubicBezTo>
                    <a:pt x="71" y="456"/>
                    <a:pt x="72" y="456"/>
                    <a:pt x="72" y="455"/>
                  </a:cubicBezTo>
                  <a:cubicBezTo>
                    <a:pt x="71" y="454"/>
                    <a:pt x="69" y="453"/>
                    <a:pt x="66" y="452"/>
                  </a:cubicBezTo>
                  <a:cubicBezTo>
                    <a:pt x="61" y="450"/>
                    <a:pt x="49" y="452"/>
                    <a:pt x="46" y="45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4" name="Freeform 110"/>
            <p:cNvSpPr>
              <a:spLocks noChangeArrowheads="1"/>
            </p:cNvSpPr>
            <p:nvPr/>
          </p:nvSpPr>
          <p:spPr bwMode="auto">
            <a:xfrm>
              <a:off x="2278071" y="2897190"/>
              <a:ext cx="192088" cy="192089"/>
            </a:xfrm>
            <a:custGeom>
              <a:avLst/>
              <a:gdLst>
                <a:gd name="T0" fmla="*/ 96 w 100"/>
                <a:gd name="T1" fmla="*/ 54 h 100"/>
                <a:gd name="T2" fmla="*/ 87 w 100"/>
                <a:gd name="T3" fmla="*/ 56 h 100"/>
                <a:gd name="T4" fmla="*/ 81 w 100"/>
                <a:gd name="T5" fmla="*/ 43 h 100"/>
                <a:gd name="T6" fmla="*/ 73 w 100"/>
                <a:gd name="T7" fmla="*/ 34 h 100"/>
                <a:gd name="T8" fmla="*/ 64 w 100"/>
                <a:gd name="T9" fmla="*/ 33 h 100"/>
                <a:gd name="T10" fmla="*/ 58 w 100"/>
                <a:gd name="T11" fmla="*/ 24 h 100"/>
                <a:gd name="T12" fmla="*/ 56 w 100"/>
                <a:gd name="T13" fmla="*/ 10 h 100"/>
                <a:gd name="T14" fmla="*/ 55 w 100"/>
                <a:gd name="T15" fmla="*/ 4 h 100"/>
                <a:gd name="T16" fmla="*/ 53 w 100"/>
                <a:gd name="T17" fmla="*/ 5 h 100"/>
                <a:gd name="T18" fmla="*/ 43 w 100"/>
                <a:gd name="T19" fmla="*/ 0 h 100"/>
                <a:gd name="T20" fmla="*/ 30 w 100"/>
                <a:gd name="T21" fmla="*/ 1 h 100"/>
                <a:gd name="T22" fmla="*/ 16 w 100"/>
                <a:gd name="T23" fmla="*/ 4 h 100"/>
                <a:gd name="T24" fmla="*/ 7 w 100"/>
                <a:gd name="T25" fmla="*/ 14 h 100"/>
                <a:gd name="T26" fmla="*/ 4 w 100"/>
                <a:gd name="T27" fmla="*/ 32 h 100"/>
                <a:gd name="T28" fmla="*/ 0 w 100"/>
                <a:gd name="T29" fmla="*/ 31 h 100"/>
                <a:gd name="T30" fmla="*/ 16 w 100"/>
                <a:gd name="T31" fmla="*/ 47 h 100"/>
                <a:gd name="T32" fmla="*/ 28 w 100"/>
                <a:gd name="T33" fmla="*/ 55 h 100"/>
                <a:gd name="T34" fmla="*/ 41 w 100"/>
                <a:gd name="T35" fmla="*/ 62 h 100"/>
                <a:gd name="T36" fmla="*/ 62 w 100"/>
                <a:gd name="T37" fmla="*/ 72 h 100"/>
                <a:gd name="T38" fmla="*/ 53 w 100"/>
                <a:gd name="T39" fmla="*/ 87 h 100"/>
                <a:gd name="T40" fmla="*/ 49 w 100"/>
                <a:gd name="T41" fmla="*/ 95 h 100"/>
                <a:gd name="T42" fmla="*/ 60 w 100"/>
                <a:gd name="T43" fmla="*/ 97 h 100"/>
                <a:gd name="T44" fmla="*/ 71 w 100"/>
                <a:gd name="T45" fmla="*/ 98 h 100"/>
                <a:gd name="T46" fmla="*/ 80 w 100"/>
                <a:gd name="T47" fmla="*/ 96 h 100"/>
                <a:gd name="T48" fmla="*/ 89 w 100"/>
                <a:gd name="T49" fmla="*/ 92 h 100"/>
                <a:gd name="T50" fmla="*/ 95 w 100"/>
                <a:gd name="T51" fmla="*/ 75 h 100"/>
                <a:gd name="T52" fmla="*/ 96 w 100"/>
                <a:gd name="T53" fmla="*/ 54 h 10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0"/>
                <a:gd name="T82" fmla="*/ 0 h 100"/>
                <a:gd name="T83" fmla="*/ 100 w 100"/>
                <a:gd name="T84" fmla="*/ 100 h 10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0" h="100">
                  <a:moveTo>
                    <a:pt x="96" y="54"/>
                  </a:moveTo>
                  <a:cubicBezTo>
                    <a:pt x="92" y="52"/>
                    <a:pt x="88" y="56"/>
                    <a:pt x="87" y="56"/>
                  </a:cubicBezTo>
                  <a:cubicBezTo>
                    <a:pt x="85" y="56"/>
                    <a:pt x="82" y="47"/>
                    <a:pt x="81" y="43"/>
                  </a:cubicBezTo>
                  <a:cubicBezTo>
                    <a:pt x="80" y="40"/>
                    <a:pt x="76" y="32"/>
                    <a:pt x="73" y="34"/>
                  </a:cubicBezTo>
                  <a:cubicBezTo>
                    <a:pt x="71" y="36"/>
                    <a:pt x="71" y="33"/>
                    <a:pt x="64" y="33"/>
                  </a:cubicBezTo>
                  <a:cubicBezTo>
                    <a:pt x="56" y="33"/>
                    <a:pt x="56" y="31"/>
                    <a:pt x="58" y="24"/>
                  </a:cubicBezTo>
                  <a:cubicBezTo>
                    <a:pt x="59" y="16"/>
                    <a:pt x="53" y="12"/>
                    <a:pt x="56" y="10"/>
                  </a:cubicBezTo>
                  <a:cubicBezTo>
                    <a:pt x="58" y="9"/>
                    <a:pt x="58" y="7"/>
                    <a:pt x="55" y="4"/>
                  </a:cubicBezTo>
                  <a:cubicBezTo>
                    <a:pt x="55" y="4"/>
                    <a:pt x="54" y="5"/>
                    <a:pt x="53" y="5"/>
                  </a:cubicBezTo>
                  <a:cubicBezTo>
                    <a:pt x="51" y="5"/>
                    <a:pt x="47" y="0"/>
                    <a:pt x="43" y="0"/>
                  </a:cubicBezTo>
                  <a:cubicBezTo>
                    <a:pt x="38" y="0"/>
                    <a:pt x="33" y="0"/>
                    <a:pt x="30" y="1"/>
                  </a:cubicBezTo>
                  <a:cubicBezTo>
                    <a:pt x="26" y="3"/>
                    <a:pt x="20" y="1"/>
                    <a:pt x="16" y="4"/>
                  </a:cubicBezTo>
                  <a:cubicBezTo>
                    <a:pt x="12" y="6"/>
                    <a:pt x="7" y="12"/>
                    <a:pt x="7" y="14"/>
                  </a:cubicBezTo>
                  <a:cubicBezTo>
                    <a:pt x="8" y="17"/>
                    <a:pt x="6" y="31"/>
                    <a:pt x="4" y="32"/>
                  </a:cubicBezTo>
                  <a:cubicBezTo>
                    <a:pt x="3" y="32"/>
                    <a:pt x="2" y="32"/>
                    <a:pt x="0" y="31"/>
                  </a:cubicBezTo>
                  <a:cubicBezTo>
                    <a:pt x="3" y="36"/>
                    <a:pt x="11" y="44"/>
                    <a:pt x="16" y="47"/>
                  </a:cubicBezTo>
                  <a:cubicBezTo>
                    <a:pt x="22" y="51"/>
                    <a:pt x="22" y="55"/>
                    <a:pt x="28" y="55"/>
                  </a:cubicBezTo>
                  <a:cubicBezTo>
                    <a:pt x="35" y="56"/>
                    <a:pt x="38" y="59"/>
                    <a:pt x="41" y="62"/>
                  </a:cubicBezTo>
                  <a:cubicBezTo>
                    <a:pt x="43" y="65"/>
                    <a:pt x="60" y="70"/>
                    <a:pt x="62" y="72"/>
                  </a:cubicBezTo>
                  <a:cubicBezTo>
                    <a:pt x="63" y="75"/>
                    <a:pt x="53" y="81"/>
                    <a:pt x="53" y="87"/>
                  </a:cubicBezTo>
                  <a:cubicBezTo>
                    <a:pt x="53" y="93"/>
                    <a:pt x="49" y="93"/>
                    <a:pt x="49" y="95"/>
                  </a:cubicBezTo>
                  <a:cubicBezTo>
                    <a:pt x="49" y="97"/>
                    <a:pt x="57" y="95"/>
                    <a:pt x="60" y="97"/>
                  </a:cubicBezTo>
                  <a:cubicBezTo>
                    <a:pt x="63" y="99"/>
                    <a:pt x="67" y="96"/>
                    <a:pt x="71" y="98"/>
                  </a:cubicBezTo>
                  <a:cubicBezTo>
                    <a:pt x="74" y="100"/>
                    <a:pt x="78" y="95"/>
                    <a:pt x="80" y="96"/>
                  </a:cubicBezTo>
                  <a:cubicBezTo>
                    <a:pt x="83" y="97"/>
                    <a:pt x="86" y="91"/>
                    <a:pt x="89" y="92"/>
                  </a:cubicBezTo>
                  <a:cubicBezTo>
                    <a:pt x="93" y="92"/>
                    <a:pt x="96" y="80"/>
                    <a:pt x="95" y="75"/>
                  </a:cubicBezTo>
                  <a:cubicBezTo>
                    <a:pt x="94" y="70"/>
                    <a:pt x="100" y="56"/>
                    <a:pt x="96" y="5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5" name="Freeform 111"/>
            <p:cNvSpPr>
              <a:spLocks noChangeArrowheads="1"/>
            </p:cNvSpPr>
            <p:nvPr/>
          </p:nvSpPr>
          <p:spPr bwMode="auto">
            <a:xfrm>
              <a:off x="1778006" y="2230439"/>
              <a:ext cx="71438" cy="57151"/>
            </a:xfrm>
            <a:custGeom>
              <a:avLst/>
              <a:gdLst>
                <a:gd name="T0" fmla="*/ 36 w 38"/>
                <a:gd name="T1" fmla="*/ 24 h 30"/>
                <a:gd name="T2" fmla="*/ 38 w 38"/>
                <a:gd name="T3" fmla="*/ 17 h 30"/>
                <a:gd name="T4" fmla="*/ 26 w 38"/>
                <a:gd name="T5" fmla="*/ 3 h 30"/>
                <a:gd name="T6" fmla="*/ 21 w 38"/>
                <a:gd name="T7" fmla="*/ 2 h 30"/>
                <a:gd name="T8" fmla="*/ 10 w 38"/>
                <a:gd name="T9" fmla="*/ 0 h 30"/>
                <a:gd name="T10" fmla="*/ 3 w 38"/>
                <a:gd name="T11" fmla="*/ 0 h 30"/>
                <a:gd name="T12" fmla="*/ 3 w 38"/>
                <a:gd name="T13" fmla="*/ 5 h 30"/>
                <a:gd name="T14" fmla="*/ 6 w 38"/>
                <a:gd name="T15" fmla="*/ 14 h 30"/>
                <a:gd name="T16" fmla="*/ 12 w 38"/>
                <a:gd name="T17" fmla="*/ 13 h 30"/>
                <a:gd name="T18" fmla="*/ 17 w 38"/>
                <a:gd name="T19" fmla="*/ 17 h 30"/>
                <a:gd name="T20" fmla="*/ 25 w 38"/>
                <a:gd name="T21" fmla="*/ 24 h 30"/>
                <a:gd name="T22" fmla="*/ 32 w 38"/>
                <a:gd name="T23" fmla="*/ 30 h 30"/>
                <a:gd name="T24" fmla="*/ 34 w 38"/>
                <a:gd name="T25" fmla="*/ 30 h 30"/>
                <a:gd name="T26" fmla="*/ 36 w 38"/>
                <a:gd name="T27" fmla="*/ 24 h 3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30"/>
                <a:gd name="T44" fmla="*/ 38 w 38"/>
                <a:gd name="T45" fmla="*/ 30 h 3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30">
                  <a:moveTo>
                    <a:pt x="36" y="24"/>
                  </a:moveTo>
                  <a:cubicBezTo>
                    <a:pt x="35" y="23"/>
                    <a:pt x="36" y="19"/>
                    <a:pt x="38" y="17"/>
                  </a:cubicBezTo>
                  <a:cubicBezTo>
                    <a:pt x="33" y="12"/>
                    <a:pt x="29" y="6"/>
                    <a:pt x="26" y="3"/>
                  </a:cubicBezTo>
                  <a:cubicBezTo>
                    <a:pt x="24" y="3"/>
                    <a:pt x="22" y="3"/>
                    <a:pt x="21" y="2"/>
                  </a:cubicBezTo>
                  <a:cubicBezTo>
                    <a:pt x="18" y="0"/>
                    <a:pt x="12" y="2"/>
                    <a:pt x="10" y="0"/>
                  </a:cubicBezTo>
                  <a:cubicBezTo>
                    <a:pt x="8" y="0"/>
                    <a:pt x="6" y="0"/>
                    <a:pt x="3" y="0"/>
                  </a:cubicBezTo>
                  <a:cubicBezTo>
                    <a:pt x="4" y="2"/>
                    <a:pt x="4" y="4"/>
                    <a:pt x="3" y="5"/>
                  </a:cubicBezTo>
                  <a:cubicBezTo>
                    <a:pt x="0" y="6"/>
                    <a:pt x="0" y="12"/>
                    <a:pt x="6" y="14"/>
                  </a:cubicBezTo>
                  <a:cubicBezTo>
                    <a:pt x="11" y="17"/>
                    <a:pt x="9" y="13"/>
                    <a:pt x="12" y="13"/>
                  </a:cubicBezTo>
                  <a:cubicBezTo>
                    <a:pt x="15" y="13"/>
                    <a:pt x="15" y="17"/>
                    <a:pt x="17" y="17"/>
                  </a:cubicBezTo>
                  <a:cubicBezTo>
                    <a:pt x="20" y="17"/>
                    <a:pt x="25" y="20"/>
                    <a:pt x="25" y="24"/>
                  </a:cubicBezTo>
                  <a:cubicBezTo>
                    <a:pt x="25" y="28"/>
                    <a:pt x="27" y="30"/>
                    <a:pt x="32" y="30"/>
                  </a:cubicBezTo>
                  <a:cubicBezTo>
                    <a:pt x="32" y="30"/>
                    <a:pt x="33" y="30"/>
                    <a:pt x="34" y="30"/>
                  </a:cubicBezTo>
                  <a:cubicBezTo>
                    <a:pt x="35" y="28"/>
                    <a:pt x="36" y="25"/>
                    <a:pt x="36" y="2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6" name="Freeform 112"/>
            <p:cNvSpPr>
              <a:spLocks noChangeArrowheads="1"/>
            </p:cNvSpPr>
            <p:nvPr/>
          </p:nvSpPr>
          <p:spPr bwMode="auto">
            <a:xfrm>
              <a:off x="1843094" y="2259015"/>
              <a:ext cx="125413" cy="60326"/>
            </a:xfrm>
            <a:custGeom>
              <a:avLst/>
              <a:gdLst>
                <a:gd name="T0" fmla="*/ 59 w 66"/>
                <a:gd name="T1" fmla="*/ 9 h 31"/>
                <a:gd name="T2" fmla="*/ 43 w 66"/>
                <a:gd name="T3" fmla="*/ 2 h 31"/>
                <a:gd name="T4" fmla="*/ 27 w 66"/>
                <a:gd name="T5" fmla="*/ 8 h 31"/>
                <a:gd name="T6" fmla="*/ 9 w 66"/>
                <a:gd name="T7" fmla="*/ 7 h 31"/>
                <a:gd name="T8" fmla="*/ 4 w 66"/>
                <a:gd name="T9" fmla="*/ 2 h 31"/>
                <a:gd name="T10" fmla="*/ 2 w 66"/>
                <a:gd name="T11" fmla="*/ 9 h 31"/>
                <a:gd name="T12" fmla="*/ 0 w 66"/>
                <a:gd name="T13" fmla="*/ 15 h 31"/>
                <a:gd name="T14" fmla="*/ 15 w 66"/>
                <a:gd name="T15" fmla="*/ 22 h 31"/>
                <a:gd name="T16" fmla="*/ 23 w 66"/>
                <a:gd name="T17" fmla="*/ 27 h 31"/>
                <a:gd name="T18" fmla="*/ 32 w 66"/>
                <a:gd name="T19" fmla="*/ 25 h 31"/>
                <a:gd name="T20" fmla="*/ 29 w 66"/>
                <a:gd name="T21" fmla="*/ 19 h 31"/>
                <a:gd name="T22" fmla="*/ 35 w 66"/>
                <a:gd name="T23" fmla="*/ 13 h 31"/>
                <a:gd name="T24" fmla="*/ 47 w 66"/>
                <a:gd name="T25" fmla="*/ 9 h 31"/>
                <a:gd name="T26" fmla="*/ 50 w 66"/>
                <a:gd name="T27" fmla="*/ 17 h 31"/>
                <a:gd name="T28" fmla="*/ 57 w 66"/>
                <a:gd name="T29" fmla="*/ 29 h 31"/>
                <a:gd name="T30" fmla="*/ 65 w 66"/>
                <a:gd name="T31" fmla="*/ 21 h 31"/>
                <a:gd name="T32" fmla="*/ 66 w 66"/>
                <a:gd name="T33" fmla="*/ 18 h 31"/>
                <a:gd name="T34" fmla="*/ 59 w 66"/>
                <a:gd name="T35" fmla="*/ 9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31"/>
                <a:gd name="T56" fmla="*/ 66 w 66"/>
                <a:gd name="T57" fmla="*/ 31 h 3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31">
                  <a:moveTo>
                    <a:pt x="59" y="9"/>
                  </a:moveTo>
                  <a:cubicBezTo>
                    <a:pt x="55" y="3"/>
                    <a:pt x="48" y="4"/>
                    <a:pt x="43" y="2"/>
                  </a:cubicBezTo>
                  <a:cubicBezTo>
                    <a:pt x="39" y="0"/>
                    <a:pt x="33" y="2"/>
                    <a:pt x="27" y="8"/>
                  </a:cubicBezTo>
                  <a:cubicBezTo>
                    <a:pt x="22" y="13"/>
                    <a:pt x="14" y="10"/>
                    <a:pt x="9" y="7"/>
                  </a:cubicBezTo>
                  <a:cubicBezTo>
                    <a:pt x="8" y="6"/>
                    <a:pt x="6" y="4"/>
                    <a:pt x="4" y="2"/>
                  </a:cubicBezTo>
                  <a:cubicBezTo>
                    <a:pt x="2" y="4"/>
                    <a:pt x="1" y="8"/>
                    <a:pt x="2" y="9"/>
                  </a:cubicBezTo>
                  <a:cubicBezTo>
                    <a:pt x="2" y="10"/>
                    <a:pt x="1" y="13"/>
                    <a:pt x="0" y="15"/>
                  </a:cubicBezTo>
                  <a:cubicBezTo>
                    <a:pt x="5" y="16"/>
                    <a:pt x="12" y="18"/>
                    <a:pt x="15" y="22"/>
                  </a:cubicBezTo>
                  <a:cubicBezTo>
                    <a:pt x="19" y="26"/>
                    <a:pt x="21" y="23"/>
                    <a:pt x="23" y="27"/>
                  </a:cubicBezTo>
                  <a:cubicBezTo>
                    <a:pt x="25" y="31"/>
                    <a:pt x="31" y="28"/>
                    <a:pt x="32" y="25"/>
                  </a:cubicBezTo>
                  <a:cubicBezTo>
                    <a:pt x="33" y="23"/>
                    <a:pt x="29" y="22"/>
                    <a:pt x="29" y="19"/>
                  </a:cubicBezTo>
                  <a:cubicBezTo>
                    <a:pt x="28" y="16"/>
                    <a:pt x="34" y="17"/>
                    <a:pt x="35" y="13"/>
                  </a:cubicBezTo>
                  <a:cubicBezTo>
                    <a:pt x="36" y="10"/>
                    <a:pt x="44" y="8"/>
                    <a:pt x="47" y="9"/>
                  </a:cubicBezTo>
                  <a:cubicBezTo>
                    <a:pt x="51" y="11"/>
                    <a:pt x="54" y="13"/>
                    <a:pt x="50" y="17"/>
                  </a:cubicBezTo>
                  <a:cubicBezTo>
                    <a:pt x="48" y="20"/>
                    <a:pt x="53" y="25"/>
                    <a:pt x="57" y="29"/>
                  </a:cubicBezTo>
                  <a:cubicBezTo>
                    <a:pt x="60" y="26"/>
                    <a:pt x="63" y="22"/>
                    <a:pt x="65" y="21"/>
                  </a:cubicBezTo>
                  <a:cubicBezTo>
                    <a:pt x="65" y="21"/>
                    <a:pt x="66" y="19"/>
                    <a:pt x="66" y="18"/>
                  </a:cubicBezTo>
                  <a:cubicBezTo>
                    <a:pt x="64" y="17"/>
                    <a:pt x="62" y="13"/>
                    <a:pt x="59" y="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7" name="Freeform 113"/>
            <p:cNvSpPr>
              <a:spLocks noChangeArrowheads="1"/>
            </p:cNvSpPr>
            <p:nvPr/>
          </p:nvSpPr>
          <p:spPr bwMode="auto">
            <a:xfrm>
              <a:off x="1928820" y="2197103"/>
              <a:ext cx="257176" cy="366713"/>
            </a:xfrm>
            <a:custGeom>
              <a:avLst/>
              <a:gdLst>
                <a:gd name="T0" fmla="*/ 21 w 135"/>
                <a:gd name="T1" fmla="*/ 140 h 192"/>
                <a:gd name="T2" fmla="*/ 30 w 135"/>
                <a:gd name="T3" fmla="*/ 140 h 192"/>
                <a:gd name="T4" fmla="*/ 38 w 135"/>
                <a:gd name="T5" fmla="*/ 146 h 192"/>
                <a:gd name="T6" fmla="*/ 38 w 135"/>
                <a:gd name="T7" fmla="*/ 147 h 192"/>
                <a:gd name="T8" fmla="*/ 48 w 135"/>
                <a:gd name="T9" fmla="*/ 147 h 192"/>
                <a:gd name="T10" fmla="*/ 55 w 135"/>
                <a:gd name="T11" fmla="*/ 156 h 192"/>
                <a:gd name="T12" fmla="*/ 62 w 135"/>
                <a:gd name="T13" fmla="*/ 163 h 192"/>
                <a:gd name="T14" fmla="*/ 66 w 135"/>
                <a:gd name="T15" fmla="*/ 170 h 192"/>
                <a:gd name="T16" fmla="*/ 79 w 135"/>
                <a:gd name="T17" fmla="*/ 172 h 192"/>
                <a:gd name="T18" fmla="*/ 86 w 135"/>
                <a:gd name="T19" fmla="*/ 171 h 192"/>
                <a:gd name="T20" fmla="*/ 93 w 135"/>
                <a:gd name="T21" fmla="*/ 170 h 192"/>
                <a:gd name="T22" fmla="*/ 101 w 135"/>
                <a:gd name="T23" fmla="*/ 177 h 192"/>
                <a:gd name="T24" fmla="*/ 95 w 135"/>
                <a:gd name="T25" fmla="*/ 187 h 192"/>
                <a:gd name="T26" fmla="*/ 102 w 135"/>
                <a:gd name="T27" fmla="*/ 192 h 192"/>
                <a:gd name="T28" fmla="*/ 103 w 135"/>
                <a:gd name="T29" fmla="*/ 192 h 192"/>
                <a:gd name="T30" fmla="*/ 107 w 135"/>
                <a:gd name="T31" fmla="*/ 177 h 192"/>
                <a:gd name="T32" fmla="*/ 109 w 135"/>
                <a:gd name="T33" fmla="*/ 161 h 192"/>
                <a:gd name="T34" fmla="*/ 102 w 135"/>
                <a:gd name="T35" fmla="*/ 143 h 192"/>
                <a:gd name="T36" fmla="*/ 110 w 135"/>
                <a:gd name="T37" fmla="*/ 137 h 192"/>
                <a:gd name="T38" fmla="*/ 108 w 135"/>
                <a:gd name="T39" fmla="*/ 132 h 192"/>
                <a:gd name="T40" fmla="*/ 105 w 135"/>
                <a:gd name="T41" fmla="*/ 126 h 192"/>
                <a:gd name="T42" fmla="*/ 122 w 135"/>
                <a:gd name="T43" fmla="*/ 125 h 192"/>
                <a:gd name="T44" fmla="*/ 134 w 135"/>
                <a:gd name="T45" fmla="*/ 121 h 192"/>
                <a:gd name="T46" fmla="*/ 132 w 135"/>
                <a:gd name="T47" fmla="*/ 115 h 192"/>
                <a:gd name="T48" fmla="*/ 133 w 135"/>
                <a:gd name="T49" fmla="*/ 106 h 192"/>
                <a:gd name="T50" fmla="*/ 128 w 135"/>
                <a:gd name="T51" fmla="*/ 98 h 192"/>
                <a:gd name="T52" fmla="*/ 131 w 135"/>
                <a:gd name="T53" fmla="*/ 77 h 192"/>
                <a:gd name="T54" fmla="*/ 118 w 135"/>
                <a:gd name="T55" fmla="*/ 74 h 192"/>
                <a:gd name="T56" fmla="*/ 102 w 135"/>
                <a:gd name="T57" fmla="*/ 67 h 192"/>
                <a:gd name="T58" fmla="*/ 83 w 135"/>
                <a:gd name="T59" fmla="*/ 65 h 192"/>
                <a:gd name="T60" fmla="*/ 75 w 135"/>
                <a:gd name="T61" fmla="*/ 50 h 192"/>
                <a:gd name="T62" fmla="*/ 70 w 135"/>
                <a:gd name="T63" fmla="*/ 43 h 192"/>
                <a:gd name="T64" fmla="*/ 65 w 135"/>
                <a:gd name="T65" fmla="*/ 40 h 192"/>
                <a:gd name="T66" fmla="*/ 67 w 135"/>
                <a:gd name="T67" fmla="*/ 35 h 192"/>
                <a:gd name="T68" fmla="*/ 69 w 135"/>
                <a:gd name="T69" fmla="*/ 27 h 192"/>
                <a:gd name="T70" fmla="*/ 78 w 135"/>
                <a:gd name="T71" fmla="*/ 14 h 192"/>
                <a:gd name="T72" fmla="*/ 82 w 135"/>
                <a:gd name="T73" fmla="*/ 12 h 192"/>
                <a:gd name="T74" fmla="*/ 85 w 135"/>
                <a:gd name="T75" fmla="*/ 10 h 192"/>
                <a:gd name="T76" fmla="*/ 87 w 135"/>
                <a:gd name="T77" fmla="*/ 3 h 192"/>
                <a:gd name="T78" fmla="*/ 75 w 135"/>
                <a:gd name="T79" fmla="*/ 9 h 192"/>
                <a:gd name="T80" fmla="*/ 65 w 135"/>
                <a:gd name="T81" fmla="*/ 14 h 192"/>
                <a:gd name="T82" fmla="*/ 55 w 135"/>
                <a:gd name="T83" fmla="*/ 18 h 192"/>
                <a:gd name="T84" fmla="*/ 49 w 135"/>
                <a:gd name="T85" fmla="*/ 17 h 192"/>
                <a:gd name="T86" fmla="*/ 39 w 135"/>
                <a:gd name="T87" fmla="*/ 27 h 192"/>
                <a:gd name="T88" fmla="*/ 35 w 135"/>
                <a:gd name="T89" fmla="*/ 37 h 192"/>
                <a:gd name="T90" fmla="*/ 24 w 135"/>
                <a:gd name="T91" fmla="*/ 50 h 192"/>
                <a:gd name="T92" fmla="*/ 21 w 135"/>
                <a:gd name="T93" fmla="*/ 51 h 192"/>
                <a:gd name="T94" fmla="*/ 20 w 135"/>
                <a:gd name="T95" fmla="*/ 54 h 192"/>
                <a:gd name="T96" fmla="*/ 12 w 135"/>
                <a:gd name="T97" fmla="*/ 62 h 192"/>
                <a:gd name="T98" fmla="*/ 16 w 135"/>
                <a:gd name="T99" fmla="*/ 65 h 192"/>
                <a:gd name="T100" fmla="*/ 18 w 135"/>
                <a:gd name="T101" fmla="*/ 74 h 192"/>
                <a:gd name="T102" fmla="*/ 18 w 135"/>
                <a:gd name="T103" fmla="*/ 80 h 192"/>
                <a:gd name="T104" fmla="*/ 20 w 135"/>
                <a:gd name="T105" fmla="*/ 98 h 192"/>
                <a:gd name="T106" fmla="*/ 17 w 135"/>
                <a:gd name="T107" fmla="*/ 108 h 192"/>
                <a:gd name="T108" fmla="*/ 8 w 135"/>
                <a:gd name="T109" fmla="*/ 115 h 192"/>
                <a:gd name="T110" fmla="*/ 2 w 135"/>
                <a:gd name="T111" fmla="*/ 122 h 192"/>
                <a:gd name="T112" fmla="*/ 0 w 135"/>
                <a:gd name="T113" fmla="*/ 127 h 192"/>
                <a:gd name="T114" fmla="*/ 14 w 135"/>
                <a:gd name="T115" fmla="*/ 135 h 192"/>
                <a:gd name="T116" fmla="*/ 21 w 135"/>
                <a:gd name="T117" fmla="*/ 140 h 192"/>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35"/>
                <a:gd name="T178" fmla="*/ 0 h 192"/>
                <a:gd name="T179" fmla="*/ 135 w 135"/>
                <a:gd name="T180" fmla="*/ 192 h 192"/>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35" h="192">
                  <a:moveTo>
                    <a:pt x="21" y="140"/>
                  </a:moveTo>
                  <a:cubicBezTo>
                    <a:pt x="24" y="142"/>
                    <a:pt x="29" y="141"/>
                    <a:pt x="30" y="140"/>
                  </a:cubicBezTo>
                  <a:cubicBezTo>
                    <a:pt x="31" y="139"/>
                    <a:pt x="34" y="142"/>
                    <a:pt x="38" y="146"/>
                  </a:cubicBezTo>
                  <a:cubicBezTo>
                    <a:pt x="38" y="146"/>
                    <a:pt x="38" y="147"/>
                    <a:pt x="38" y="147"/>
                  </a:cubicBezTo>
                  <a:cubicBezTo>
                    <a:pt x="42" y="146"/>
                    <a:pt x="46" y="145"/>
                    <a:pt x="48" y="147"/>
                  </a:cubicBezTo>
                  <a:cubicBezTo>
                    <a:pt x="51" y="148"/>
                    <a:pt x="50" y="156"/>
                    <a:pt x="55" y="156"/>
                  </a:cubicBezTo>
                  <a:cubicBezTo>
                    <a:pt x="59" y="156"/>
                    <a:pt x="62" y="161"/>
                    <a:pt x="62" y="163"/>
                  </a:cubicBezTo>
                  <a:cubicBezTo>
                    <a:pt x="61" y="165"/>
                    <a:pt x="66" y="167"/>
                    <a:pt x="66" y="170"/>
                  </a:cubicBezTo>
                  <a:cubicBezTo>
                    <a:pt x="66" y="174"/>
                    <a:pt x="77" y="173"/>
                    <a:pt x="79" y="172"/>
                  </a:cubicBezTo>
                  <a:cubicBezTo>
                    <a:pt x="81" y="170"/>
                    <a:pt x="84" y="170"/>
                    <a:pt x="86" y="171"/>
                  </a:cubicBezTo>
                  <a:cubicBezTo>
                    <a:pt x="88" y="172"/>
                    <a:pt x="91" y="170"/>
                    <a:pt x="93" y="170"/>
                  </a:cubicBezTo>
                  <a:cubicBezTo>
                    <a:pt x="95" y="171"/>
                    <a:pt x="103" y="174"/>
                    <a:pt x="101" y="177"/>
                  </a:cubicBezTo>
                  <a:cubicBezTo>
                    <a:pt x="100" y="180"/>
                    <a:pt x="94" y="184"/>
                    <a:pt x="95" y="187"/>
                  </a:cubicBezTo>
                  <a:cubicBezTo>
                    <a:pt x="96" y="188"/>
                    <a:pt x="100" y="190"/>
                    <a:pt x="102" y="192"/>
                  </a:cubicBezTo>
                  <a:cubicBezTo>
                    <a:pt x="102" y="192"/>
                    <a:pt x="103" y="192"/>
                    <a:pt x="103" y="192"/>
                  </a:cubicBezTo>
                  <a:cubicBezTo>
                    <a:pt x="106" y="191"/>
                    <a:pt x="107" y="180"/>
                    <a:pt x="107" y="177"/>
                  </a:cubicBezTo>
                  <a:cubicBezTo>
                    <a:pt x="107" y="173"/>
                    <a:pt x="108" y="165"/>
                    <a:pt x="109" y="161"/>
                  </a:cubicBezTo>
                  <a:cubicBezTo>
                    <a:pt x="111" y="155"/>
                    <a:pt x="102" y="150"/>
                    <a:pt x="102" y="143"/>
                  </a:cubicBezTo>
                  <a:cubicBezTo>
                    <a:pt x="102" y="136"/>
                    <a:pt x="106" y="140"/>
                    <a:pt x="110" y="137"/>
                  </a:cubicBezTo>
                  <a:cubicBezTo>
                    <a:pt x="114" y="134"/>
                    <a:pt x="110" y="133"/>
                    <a:pt x="108" y="132"/>
                  </a:cubicBezTo>
                  <a:cubicBezTo>
                    <a:pt x="106" y="132"/>
                    <a:pt x="104" y="128"/>
                    <a:pt x="105" y="126"/>
                  </a:cubicBezTo>
                  <a:cubicBezTo>
                    <a:pt x="105" y="124"/>
                    <a:pt x="118" y="125"/>
                    <a:pt x="122" y="125"/>
                  </a:cubicBezTo>
                  <a:cubicBezTo>
                    <a:pt x="126" y="125"/>
                    <a:pt x="134" y="121"/>
                    <a:pt x="134" y="121"/>
                  </a:cubicBezTo>
                  <a:cubicBezTo>
                    <a:pt x="134" y="120"/>
                    <a:pt x="135" y="117"/>
                    <a:pt x="132" y="115"/>
                  </a:cubicBezTo>
                  <a:cubicBezTo>
                    <a:pt x="129" y="112"/>
                    <a:pt x="130" y="109"/>
                    <a:pt x="133" y="106"/>
                  </a:cubicBezTo>
                  <a:cubicBezTo>
                    <a:pt x="135" y="104"/>
                    <a:pt x="131" y="101"/>
                    <a:pt x="128" y="98"/>
                  </a:cubicBezTo>
                  <a:cubicBezTo>
                    <a:pt x="125" y="94"/>
                    <a:pt x="128" y="83"/>
                    <a:pt x="131" y="77"/>
                  </a:cubicBezTo>
                  <a:cubicBezTo>
                    <a:pt x="134" y="72"/>
                    <a:pt x="124" y="73"/>
                    <a:pt x="118" y="74"/>
                  </a:cubicBezTo>
                  <a:cubicBezTo>
                    <a:pt x="111" y="74"/>
                    <a:pt x="106" y="72"/>
                    <a:pt x="102" y="67"/>
                  </a:cubicBezTo>
                  <a:cubicBezTo>
                    <a:pt x="98" y="61"/>
                    <a:pt x="92" y="65"/>
                    <a:pt x="83" y="65"/>
                  </a:cubicBezTo>
                  <a:cubicBezTo>
                    <a:pt x="73" y="65"/>
                    <a:pt x="75" y="54"/>
                    <a:pt x="75" y="50"/>
                  </a:cubicBezTo>
                  <a:cubicBezTo>
                    <a:pt x="76" y="46"/>
                    <a:pt x="70" y="45"/>
                    <a:pt x="70" y="43"/>
                  </a:cubicBezTo>
                  <a:cubicBezTo>
                    <a:pt x="70" y="40"/>
                    <a:pt x="68" y="40"/>
                    <a:pt x="65" y="40"/>
                  </a:cubicBezTo>
                  <a:cubicBezTo>
                    <a:pt x="63" y="40"/>
                    <a:pt x="65" y="37"/>
                    <a:pt x="67" y="35"/>
                  </a:cubicBezTo>
                  <a:cubicBezTo>
                    <a:pt x="69" y="33"/>
                    <a:pt x="68" y="31"/>
                    <a:pt x="69" y="27"/>
                  </a:cubicBezTo>
                  <a:cubicBezTo>
                    <a:pt x="69" y="22"/>
                    <a:pt x="75" y="18"/>
                    <a:pt x="78" y="14"/>
                  </a:cubicBezTo>
                  <a:cubicBezTo>
                    <a:pt x="79" y="13"/>
                    <a:pt x="80" y="12"/>
                    <a:pt x="82" y="12"/>
                  </a:cubicBezTo>
                  <a:cubicBezTo>
                    <a:pt x="82" y="11"/>
                    <a:pt x="83" y="10"/>
                    <a:pt x="85" y="10"/>
                  </a:cubicBezTo>
                  <a:cubicBezTo>
                    <a:pt x="90" y="9"/>
                    <a:pt x="92" y="5"/>
                    <a:pt x="87" y="3"/>
                  </a:cubicBezTo>
                  <a:cubicBezTo>
                    <a:pt x="83" y="0"/>
                    <a:pt x="80" y="8"/>
                    <a:pt x="75" y="9"/>
                  </a:cubicBezTo>
                  <a:cubicBezTo>
                    <a:pt x="69" y="9"/>
                    <a:pt x="68" y="13"/>
                    <a:pt x="65" y="14"/>
                  </a:cubicBezTo>
                  <a:cubicBezTo>
                    <a:pt x="61" y="16"/>
                    <a:pt x="55" y="15"/>
                    <a:pt x="55" y="18"/>
                  </a:cubicBezTo>
                  <a:cubicBezTo>
                    <a:pt x="54" y="21"/>
                    <a:pt x="52" y="18"/>
                    <a:pt x="49" y="17"/>
                  </a:cubicBezTo>
                  <a:cubicBezTo>
                    <a:pt x="46" y="16"/>
                    <a:pt x="39" y="23"/>
                    <a:pt x="39" y="27"/>
                  </a:cubicBezTo>
                  <a:cubicBezTo>
                    <a:pt x="39" y="30"/>
                    <a:pt x="40" y="34"/>
                    <a:pt x="35" y="37"/>
                  </a:cubicBezTo>
                  <a:cubicBezTo>
                    <a:pt x="29" y="41"/>
                    <a:pt x="26" y="47"/>
                    <a:pt x="24" y="50"/>
                  </a:cubicBezTo>
                  <a:cubicBezTo>
                    <a:pt x="23" y="51"/>
                    <a:pt x="22" y="51"/>
                    <a:pt x="21" y="51"/>
                  </a:cubicBezTo>
                  <a:cubicBezTo>
                    <a:pt x="21" y="52"/>
                    <a:pt x="20" y="54"/>
                    <a:pt x="20" y="54"/>
                  </a:cubicBezTo>
                  <a:cubicBezTo>
                    <a:pt x="18" y="55"/>
                    <a:pt x="15" y="59"/>
                    <a:pt x="12" y="62"/>
                  </a:cubicBezTo>
                  <a:cubicBezTo>
                    <a:pt x="13" y="63"/>
                    <a:pt x="15" y="64"/>
                    <a:pt x="16" y="65"/>
                  </a:cubicBezTo>
                  <a:cubicBezTo>
                    <a:pt x="19" y="69"/>
                    <a:pt x="17" y="72"/>
                    <a:pt x="18" y="74"/>
                  </a:cubicBezTo>
                  <a:cubicBezTo>
                    <a:pt x="19" y="76"/>
                    <a:pt x="20" y="79"/>
                    <a:pt x="18" y="80"/>
                  </a:cubicBezTo>
                  <a:cubicBezTo>
                    <a:pt x="16" y="82"/>
                    <a:pt x="18" y="95"/>
                    <a:pt x="20" y="98"/>
                  </a:cubicBezTo>
                  <a:cubicBezTo>
                    <a:pt x="22" y="100"/>
                    <a:pt x="20" y="103"/>
                    <a:pt x="17" y="108"/>
                  </a:cubicBezTo>
                  <a:cubicBezTo>
                    <a:pt x="15" y="113"/>
                    <a:pt x="13" y="115"/>
                    <a:pt x="8" y="115"/>
                  </a:cubicBezTo>
                  <a:cubicBezTo>
                    <a:pt x="4" y="115"/>
                    <a:pt x="4" y="122"/>
                    <a:pt x="2" y="122"/>
                  </a:cubicBezTo>
                  <a:cubicBezTo>
                    <a:pt x="1" y="122"/>
                    <a:pt x="0" y="125"/>
                    <a:pt x="0" y="127"/>
                  </a:cubicBezTo>
                  <a:cubicBezTo>
                    <a:pt x="4" y="131"/>
                    <a:pt x="12" y="135"/>
                    <a:pt x="14" y="135"/>
                  </a:cubicBezTo>
                  <a:cubicBezTo>
                    <a:pt x="16" y="135"/>
                    <a:pt x="18" y="138"/>
                    <a:pt x="21" y="14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8" name="Freeform 114"/>
            <p:cNvSpPr>
              <a:spLocks noChangeArrowheads="1"/>
            </p:cNvSpPr>
            <p:nvPr/>
          </p:nvSpPr>
          <p:spPr bwMode="auto">
            <a:xfrm>
              <a:off x="2130432" y="2684465"/>
              <a:ext cx="266701" cy="300039"/>
            </a:xfrm>
            <a:custGeom>
              <a:avLst/>
              <a:gdLst>
                <a:gd name="T0" fmla="*/ 137 w 139"/>
                <a:gd name="T1" fmla="*/ 94 h 157"/>
                <a:gd name="T2" fmla="*/ 130 w 139"/>
                <a:gd name="T3" fmla="*/ 83 h 157"/>
                <a:gd name="T4" fmla="*/ 121 w 139"/>
                <a:gd name="T5" fmla="*/ 77 h 157"/>
                <a:gd name="T6" fmla="*/ 109 w 139"/>
                <a:gd name="T7" fmla="*/ 71 h 157"/>
                <a:gd name="T8" fmla="*/ 107 w 139"/>
                <a:gd name="T9" fmla="*/ 62 h 157"/>
                <a:gd name="T10" fmla="*/ 106 w 139"/>
                <a:gd name="T11" fmla="*/ 53 h 157"/>
                <a:gd name="T12" fmla="*/ 101 w 139"/>
                <a:gd name="T13" fmla="*/ 46 h 157"/>
                <a:gd name="T14" fmla="*/ 89 w 139"/>
                <a:gd name="T15" fmla="*/ 43 h 157"/>
                <a:gd name="T16" fmla="*/ 80 w 139"/>
                <a:gd name="T17" fmla="*/ 39 h 157"/>
                <a:gd name="T18" fmla="*/ 75 w 139"/>
                <a:gd name="T19" fmla="*/ 35 h 157"/>
                <a:gd name="T20" fmla="*/ 67 w 139"/>
                <a:gd name="T21" fmla="*/ 33 h 157"/>
                <a:gd name="T22" fmla="*/ 54 w 139"/>
                <a:gd name="T23" fmla="*/ 25 h 157"/>
                <a:gd name="T24" fmla="*/ 50 w 139"/>
                <a:gd name="T25" fmla="*/ 3 h 157"/>
                <a:gd name="T26" fmla="*/ 39 w 139"/>
                <a:gd name="T27" fmla="*/ 2 h 157"/>
                <a:gd name="T28" fmla="*/ 26 w 139"/>
                <a:gd name="T29" fmla="*/ 8 h 157"/>
                <a:gd name="T30" fmla="*/ 16 w 139"/>
                <a:gd name="T31" fmla="*/ 13 h 157"/>
                <a:gd name="T32" fmla="*/ 7 w 139"/>
                <a:gd name="T33" fmla="*/ 16 h 157"/>
                <a:gd name="T34" fmla="*/ 3 w 139"/>
                <a:gd name="T35" fmla="*/ 15 h 157"/>
                <a:gd name="T36" fmla="*/ 11 w 139"/>
                <a:gd name="T37" fmla="*/ 31 h 157"/>
                <a:gd name="T38" fmla="*/ 8 w 139"/>
                <a:gd name="T39" fmla="*/ 37 h 157"/>
                <a:gd name="T40" fmla="*/ 9 w 139"/>
                <a:gd name="T41" fmla="*/ 53 h 157"/>
                <a:gd name="T42" fmla="*/ 6 w 139"/>
                <a:gd name="T43" fmla="*/ 62 h 157"/>
                <a:gd name="T44" fmla="*/ 3 w 139"/>
                <a:gd name="T45" fmla="*/ 72 h 157"/>
                <a:gd name="T46" fmla="*/ 8 w 139"/>
                <a:gd name="T47" fmla="*/ 77 h 157"/>
                <a:gd name="T48" fmla="*/ 2 w 139"/>
                <a:gd name="T49" fmla="*/ 86 h 157"/>
                <a:gd name="T50" fmla="*/ 1 w 139"/>
                <a:gd name="T51" fmla="*/ 90 h 157"/>
                <a:gd name="T52" fmla="*/ 5 w 139"/>
                <a:gd name="T53" fmla="*/ 96 h 157"/>
                <a:gd name="T54" fmla="*/ 8 w 139"/>
                <a:gd name="T55" fmla="*/ 108 h 157"/>
                <a:gd name="T56" fmla="*/ 13 w 139"/>
                <a:gd name="T57" fmla="*/ 114 h 157"/>
                <a:gd name="T58" fmla="*/ 10 w 139"/>
                <a:gd name="T59" fmla="*/ 122 h 157"/>
                <a:gd name="T60" fmla="*/ 14 w 139"/>
                <a:gd name="T61" fmla="*/ 132 h 157"/>
                <a:gd name="T62" fmla="*/ 18 w 139"/>
                <a:gd name="T63" fmla="*/ 142 h 157"/>
                <a:gd name="T64" fmla="*/ 21 w 139"/>
                <a:gd name="T65" fmla="*/ 154 h 157"/>
                <a:gd name="T66" fmla="*/ 36 w 139"/>
                <a:gd name="T67" fmla="*/ 145 h 157"/>
                <a:gd name="T68" fmla="*/ 46 w 139"/>
                <a:gd name="T69" fmla="*/ 145 h 157"/>
                <a:gd name="T70" fmla="*/ 59 w 139"/>
                <a:gd name="T71" fmla="*/ 150 h 157"/>
                <a:gd name="T72" fmla="*/ 66 w 139"/>
                <a:gd name="T73" fmla="*/ 144 h 157"/>
                <a:gd name="T74" fmla="*/ 81 w 139"/>
                <a:gd name="T75" fmla="*/ 144 h 157"/>
                <a:gd name="T76" fmla="*/ 84 w 139"/>
                <a:gd name="T77" fmla="*/ 126 h 157"/>
                <a:gd name="T78" fmla="*/ 93 w 139"/>
                <a:gd name="T79" fmla="*/ 116 h 157"/>
                <a:gd name="T80" fmla="*/ 107 w 139"/>
                <a:gd name="T81" fmla="*/ 113 h 157"/>
                <a:gd name="T82" fmla="*/ 120 w 139"/>
                <a:gd name="T83" fmla="*/ 112 h 157"/>
                <a:gd name="T84" fmla="*/ 130 w 139"/>
                <a:gd name="T85" fmla="*/ 117 h 157"/>
                <a:gd name="T86" fmla="*/ 136 w 139"/>
                <a:gd name="T87" fmla="*/ 108 h 157"/>
                <a:gd name="T88" fmla="*/ 137 w 139"/>
                <a:gd name="T89" fmla="*/ 94 h 15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39"/>
                <a:gd name="T136" fmla="*/ 0 h 157"/>
                <a:gd name="T137" fmla="*/ 139 w 139"/>
                <a:gd name="T138" fmla="*/ 157 h 15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39" h="157">
                  <a:moveTo>
                    <a:pt x="137" y="94"/>
                  </a:moveTo>
                  <a:cubicBezTo>
                    <a:pt x="135" y="89"/>
                    <a:pt x="130" y="88"/>
                    <a:pt x="130" y="83"/>
                  </a:cubicBezTo>
                  <a:cubicBezTo>
                    <a:pt x="130" y="77"/>
                    <a:pt x="128" y="77"/>
                    <a:pt x="121" y="77"/>
                  </a:cubicBezTo>
                  <a:cubicBezTo>
                    <a:pt x="114" y="77"/>
                    <a:pt x="109" y="76"/>
                    <a:pt x="109" y="71"/>
                  </a:cubicBezTo>
                  <a:cubicBezTo>
                    <a:pt x="108" y="67"/>
                    <a:pt x="104" y="64"/>
                    <a:pt x="107" y="62"/>
                  </a:cubicBezTo>
                  <a:cubicBezTo>
                    <a:pt x="111" y="60"/>
                    <a:pt x="105" y="57"/>
                    <a:pt x="106" y="53"/>
                  </a:cubicBezTo>
                  <a:cubicBezTo>
                    <a:pt x="106" y="49"/>
                    <a:pt x="104" y="48"/>
                    <a:pt x="101" y="46"/>
                  </a:cubicBezTo>
                  <a:cubicBezTo>
                    <a:pt x="99" y="44"/>
                    <a:pt x="89" y="47"/>
                    <a:pt x="89" y="43"/>
                  </a:cubicBezTo>
                  <a:cubicBezTo>
                    <a:pt x="89" y="39"/>
                    <a:pt x="83" y="39"/>
                    <a:pt x="80" y="39"/>
                  </a:cubicBezTo>
                  <a:cubicBezTo>
                    <a:pt x="76" y="39"/>
                    <a:pt x="79" y="34"/>
                    <a:pt x="75" y="35"/>
                  </a:cubicBezTo>
                  <a:cubicBezTo>
                    <a:pt x="71" y="35"/>
                    <a:pt x="72" y="32"/>
                    <a:pt x="67" y="33"/>
                  </a:cubicBezTo>
                  <a:cubicBezTo>
                    <a:pt x="62" y="34"/>
                    <a:pt x="59" y="31"/>
                    <a:pt x="54" y="25"/>
                  </a:cubicBezTo>
                  <a:cubicBezTo>
                    <a:pt x="48" y="19"/>
                    <a:pt x="49" y="6"/>
                    <a:pt x="50" y="3"/>
                  </a:cubicBezTo>
                  <a:cubicBezTo>
                    <a:pt x="51" y="0"/>
                    <a:pt x="44" y="2"/>
                    <a:pt x="39" y="2"/>
                  </a:cubicBezTo>
                  <a:cubicBezTo>
                    <a:pt x="35" y="2"/>
                    <a:pt x="31" y="6"/>
                    <a:pt x="26" y="8"/>
                  </a:cubicBezTo>
                  <a:cubicBezTo>
                    <a:pt x="21" y="11"/>
                    <a:pt x="19" y="11"/>
                    <a:pt x="16" y="13"/>
                  </a:cubicBezTo>
                  <a:cubicBezTo>
                    <a:pt x="14" y="16"/>
                    <a:pt x="10" y="17"/>
                    <a:pt x="7" y="16"/>
                  </a:cubicBezTo>
                  <a:cubicBezTo>
                    <a:pt x="6" y="15"/>
                    <a:pt x="4" y="15"/>
                    <a:pt x="3" y="15"/>
                  </a:cubicBezTo>
                  <a:cubicBezTo>
                    <a:pt x="5" y="20"/>
                    <a:pt x="10" y="28"/>
                    <a:pt x="11" y="31"/>
                  </a:cubicBezTo>
                  <a:cubicBezTo>
                    <a:pt x="12" y="34"/>
                    <a:pt x="9" y="35"/>
                    <a:pt x="8" y="37"/>
                  </a:cubicBezTo>
                  <a:cubicBezTo>
                    <a:pt x="6" y="38"/>
                    <a:pt x="8" y="50"/>
                    <a:pt x="9" y="53"/>
                  </a:cubicBezTo>
                  <a:cubicBezTo>
                    <a:pt x="9" y="55"/>
                    <a:pt x="4" y="60"/>
                    <a:pt x="6" y="62"/>
                  </a:cubicBezTo>
                  <a:cubicBezTo>
                    <a:pt x="8" y="64"/>
                    <a:pt x="3" y="69"/>
                    <a:pt x="3" y="72"/>
                  </a:cubicBezTo>
                  <a:cubicBezTo>
                    <a:pt x="3" y="75"/>
                    <a:pt x="8" y="75"/>
                    <a:pt x="8" y="77"/>
                  </a:cubicBezTo>
                  <a:cubicBezTo>
                    <a:pt x="8" y="79"/>
                    <a:pt x="4" y="85"/>
                    <a:pt x="2" y="86"/>
                  </a:cubicBezTo>
                  <a:cubicBezTo>
                    <a:pt x="0" y="87"/>
                    <a:pt x="0" y="88"/>
                    <a:pt x="1" y="90"/>
                  </a:cubicBezTo>
                  <a:cubicBezTo>
                    <a:pt x="1" y="90"/>
                    <a:pt x="2" y="93"/>
                    <a:pt x="5" y="96"/>
                  </a:cubicBezTo>
                  <a:cubicBezTo>
                    <a:pt x="9" y="99"/>
                    <a:pt x="5" y="104"/>
                    <a:pt x="8" y="108"/>
                  </a:cubicBezTo>
                  <a:cubicBezTo>
                    <a:pt x="11" y="112"/>
                    <a:pt x="15" y="112"/>
                    <a:pt x="13" y="114"/>
                  </a:cubicBezTo>
                  <a:cubicBezTo>
                    <a:pt x="10" y="116"/>
                    <a:pt x="13" y="120"/>
                    <a:pt x="10" y="122"/>
                  </a:cubicBezTo>
                  <a:cubicBezTo>
                    <a:pt x="8" y="124"/>
                    <a:pt x="11" y="130"/>
                    <a:pt x="14" y="132"/>
                  </a:cubicBezTo>
                  <a:cubicBezTo>
                    <a:pt x="17" y="133"/>
                    <a:pt x="15" y="139"/>
                    <a:pt x="18" y="142"/>
                  </a:cubicBezTo>
                  <a:cubicBezTo>
                    <a:pt x="21" y="145"/>
                    <a:pt x="20" y="152"/>
                    <a:pt x="21" y="154"/>
                  </a:cubicBezTo>
                  <a:cubicBezTo>
                    <a:pt x="22" y="157"/>
                    <a:pt x="31" y="151"/>
                    <a:pt x="36" y="145"/>
                  </a:cubicBezTo>
                  <a:cubicBezTo>
                    <a:pt x="42" y="140"/>
                    <a:pt x="41" y="144"/>
                    <a:pt x="46" y="145"/>
                  </a:cubicBezTo>
                  <a:cubicBezTo>
                    <a:pt x="51" y="146"/>
                    <a:pt x="57" y="146"/>
                    <a:pt x="59" y="150"/>
                  </a:cubicBezTo>
                  <a:cubicBezTo>
                    <a:pt x="62" y="155"/>
                    <a:pt x="64" y="146"/>
                    <a:pt x="66" y="144"/>
                  </a:cubicBezTo>
                  <a:cubicBezTo>
                    <a:pt x="68" y="142"/>
                    <a:pt x="79" y="144"/>
                    <a:pt x="81" y="144"/>
                  </a:cubicBezTo>
                  <a:cubicBezTo>
                    <a:pt x="83" y="143"/>
                    <a:pt x="85" y="129"/>
                    <a:pt x="84" y="126"/>
                  </a:cubicBezTo>
                  <a:cubicBezTo>
                    <a:pt x="84" y="124"/>
                    <a:pt x="89" y="118"/>
                    <a:pt x="93" y="116"/>
                  </a:cubicBezTo>
                  <a:cubicBezTo>
                    <a:pt x="97" y="113"/>
                    <a:pt x="103" y="115"/>
                    <a:pt x="107" y="113"/>
                  </a:cubicBezTo>
                  <a:cubicBezTo>
                    <a:pt x="110" y="112"/>
                    <a:pt x="115" y="112"/>
                    <a:pt x="120" y="112"/>
                  </a:cubicBezTo>
                  <a:cubicBezTo>
                    <a:pt x="124" y="112"/>
                    <a:pt x="128" y="117"/>
                    <a:pt x="130" y="117"/>
                  </a:cubicBezTo>
                  <a:cubicBezTo>
                    <a:pt x="133" y="117"/>
                    <a:pt x="136" y="112"/>
                    <a:pt x="136" y="108"/>
                  </a:cubicBezTo>
                  <a:cubicBezTo>
                    <a:pt x="135" y="104"/>
                    <a:pt x="139" y="99"/>
                    <a:pt x="137" y="9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09" name="Freeform 115"/>
            <p:cNvSpPr>
              <a:spLocks noChangeArrowheads="1"/>
            </p:cNvSpPr>
            <p:nvPr/>
          </p:nvSpPr>
          <p:spPr bwMode="auto">
            <a:xfrm>
              <a:off x="1874844" y="2473328"/>
              <a:ext cx="279401" cy="404814"/>
            </a:xfrm>
            <a:custGeom>
              <a:avLst/>
              <a:gdLst>
                <a:gd name="T0" fmla="*/ 134 w 146"/>
                <a:gd name="T1" fmla="*/ 201 h 212"/>
                <a:gd name="T2" fmla="*/ 135 w 146"/>
                <a:gd name="T3" fmla="*/ 200 h 212"/>
                <a:gd name="T4" fmla="*/ 136 w 146"/>
                <a:gd name="T5" fmla="*/ 196 h 212"/>
                <a:gd name="T6" fmla="*/ 142 w 146"/>
                <a:gd name="T7" fmla="*/ 187 h 212"/>
                <a:gd name="T8" fmla="*/ 137 w 146"/>
                <a:gd name="T9" fmla="*/ 182 h 212"/>
                <a:gd name="T10" fmla="*/ 140 w 146"/>
                <a:gd name="T11" fmla="*/ 172 h 212"/>
                <a:gd name="T12" fmla="*/ 143 w 146"/>
                <a:gd name="T13" fmla="*/ 163 h 212"/>
                <a:gd name="T14" fmla="*/ 142 w 146"/>
                <a:gd name="T15" fmla="*/ 147 h 212"/>
                <a:gd name="T16" fmla="*/ 145 w 146"/>
                <a:gd name="T17" fmla="*/ 141 h 212"/>
                <a:gd name="T18" fmla="*/ 137 w 146"/>
                <a:gd name="T19" fmla="*/ 125 h 212"/>
                <a:gd name="T20" fmla="*/ 126 w 146"/>
                <a:gd name="T21" fmla="*/ 125 h 212"/>
                <a:gd name="T22" fmla="*/ 123 w 146"/>
                <a:gd name="T23" fmla="*/ 111 h 212"/>
                <a:gd name="T24" fmla="*/ 118 w 146"/>
                <a:gd name="T25" fmla="*/ 112 h 212"/>
                <a:gd name="T26" fmla="*/ 106 w 146"/>
                <a:gd name="T27" fmla="*/ 113 h 212"/>
                <a:gd name="T28" fmla="*/ 100 w 146"/>
                <a:gd name="T29" fmla="*/ 107 h 212"/>
                <a:gd name="T30" fmla="*/ 95 w 146"/>
                <a:gd name="T31" fmla="*/ 103 h 212"/>
                <a:gd name="T32" fmla="*/ 90 w 146"/>
                <a:gd name="T33" fmla="*/ 93 h 212"/>
                <a:gd name="T34" fmla="*/ 87 w 146"/>
                <a:gd name="T35" fmla="*/ 83 h 212"/>
                <a:gd name="T36" fmla="*/ 89 w 146"/>
                <a:gd name="T37" fmla="*/ 76 h 212"/>
                <a:gd name="T38" fmla="*/ 94 w 146"/>
                <a:gd name="T39" fmla="*/ 70 h 212"/>
                <a:gd name="T40" fmla="*/ 97 w 146"/>
                <a:gd name="T41" fmla="*/ 59 h 212"/>
                <a:gd name="T42" fmla="*/ 107 w 146"/>
                <a:gd name="T43" fmla="*/ 53 h 212"/>
                <a:gd name="T44" fmla="*/ 121 w 146"/>
                <a:gd name="T45" fmla="*/ 48 h 212"/>
                <a:gd name="T46" fmla="*/ 130 w 146"/>
                <a:gd name="T47" fmla="*/ 47 h 212"/>
                <a:gd name="T48" fmla="*/ 123 w 146"/>
                <a:gd name="T49" fmla="*/ 42 h 212"/>
                <a:gd name="T50" fmla="*/ 129 w 146"/>
                <a:gd name="T51" fmla="*/ 32 h 212"/>
                <a:gd name="T52" fmla="*/ 121 w 146"/>
                <a:gd name="T53" fmla="*/ 25 h 212"/>
                <a:gd name="T54" fmla="*/ 114 w 146"/>
                <a:gd name="T55" fmla="*/ 26 h 212"/>
                <a:gd name="T56" fmla="*/ 107 w 146"/>
                <a:gd name="T57" fmla="*/ 27 h 212"/>
                <a:gd name="T58" fmla="*/ 94 w 146"/>
                <a:gd name="T59" fmla="*/ 25 h 212"/>
                <a:gd name="T60" fmla="*/ 90 w 146"/>
                <a:gd name="T61" fmla="*/ 18 h 212"/>
                <a:gd name="T62" fmla="*/ 83 w 146"/>
                <a:gd name="T63" fmla="*/ 11 h 212"/>
                <a:gd name="T64" fmla="*/ 76 w 146"/>
                <a:gd name="T65" fmla="*/ 2 h 212"/>
                <a:gd name="T66" fmla="*/ 66 w 146"/>
                <a:gd name="T67" fmla="*/ 2 h 212"/>
                <a:gd name="T68" fmla="*/ 69 w 146"/>
                <a:gd name="T69" fmla="*/ 10 h 212"/>
                <a:gd name="T70" fmla="*/ 63 w 146"/>
                <a:gd name="T71" fmla="*/ 21 h 212"/>
                <a:gd name="T72" fmla="*/ 40 w 146"/>
                <a:gd name="T73" fmla="*/ 33 h 212"/>
                <a:gd name="T74" fmla="*/ 30 w 146"/>
                <a:gd name="T75" fmla="*/ 51 h 212"/>
                <a:gd name="T76" fmla="*/ 22 w 146"/>
                <a:gd name="T77" fmla="*/ 52 h 212"/>
                <a:gd name="T78" fmla="*/ 14 w 146"/>
                <a:gd name="T79" fmla="*/ 49 h 212"/>
                <a:gd name="T80" fmla="*/ 14 w 146"/>
                <a:gd name="T81" fmla="*/ 44 h 212"/>
                <a:gd name="T82" fmla="*/ 11 w 146"/>
                <a:gd name="T83" fmla="*/ 38 h 212"/>
                <a:gd name="T84" fmla="*/ 2 w 146"/>
                <a:gd name="T85" fmla="*/ 48 h 212"/>
                <a:gd name="T86" fmla="*/ 6 w 146"/>
                <a:gd name="T87" fmla="*/ 63 h 212"/>
                <a:gd name="T88" fmla="*/ 3 w 146"/>
                <a:gd name="T89" fmla="*/ 66 h 212"/>
                <a:gd name="T90" fmla="*/ 15 w 146"/>
                <a:gd name="T91" fmla="*/ 76 h 212"/>
                <a:gd name="T92" fmla="*/ 26 w 146"/>
                <a:gd name="T93" fmla="*/ 92 h 212"/>
                <a:gd name="T94" fmla="*/ 34 w 146"/>
                <a:gd name="T95" fmla="*/ 109 h 212"/>
                <a:gd name="T96" fmla="*/ 52 w 146"/>
                <a:gd name="T97" fmla="*/ 142 h 212"/>
                <a:gd name="T98" fmla="*/ 59 w 146"/>
                <a:gd name="T99" fmla="*/ 157 h 212"/>
                <a:gd name="T100" fmla="*/ 63 w 146"/>
                <a:gd name="T101" fmla="*/ 167 h 212"/>
                <a:gd name="T102" fmla="*/ 81 w 146"/>
                <a:gd name="T103" fmla="*/ 179 h 212"/>
                <a:gd name="T104" fmla="*/ 113 w 146"/>
                <a:gd name="T105" fmla="*/ 199 h 212"/>
                <a:gd name="T106" fmla="*/ 127 w 146"/>
                <a:gd name="T107" fmla="*/ 210 h 212"/>
                <a:gd name="T108" fmla="*/ 127 w 146"/>
                <a:gd name="T109" fmla="*/ 212 h 212"/>
                <a:gd name="T110" fmla="*/ 130 w 146"/>
                <a:gd name="T111" fmla="*/ 210 h 212"/>
                <a:gd name="T112" fmla="*/ 134 w 146"/>
                <a:gd name="T113" fmla="*/ 201 h 21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46"/>
                <a:gd name="T172" fmla="*/ 0 h 212"/>
                <a:gd name="T173" fmla="*/ 146 w 146"/>
                <a:gd name="T174" fmla="*/ 212 h 21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46" h="212">
                  <a:moveTo>
                    <a:pt x="134" y="201"/>
                  </a:moveTo>
                  <a:cubicBezTo>
                    <a:pt x="134" y="201"/>
                    <a:pt x="135" y="201"/>
                    <a:pt x="135" y="200"/>
                  </a:cubicBezTo>
                  <a:cubicBezTo>
                    <a:pt x="134" y="198"/>
                    <a:pt x="134" y="197"/>
                    <a:pt x="136" y="196"/>
                  </a:cubicBezTo>
                  <a:cubicBezTo>
                    <a:pt x="138" y="195"/>
                    <a:pt x="142" y="189"/>
                    <a:pt x="142" y="187"/>
                  </a:cubicBezTo>
                  <a:cubicBezTo>
                    <a:pt x="142" y="185"/>
                    <a:pt x="137" y="185"/>
                    <a:pt x="137" y="182"/>
                  </a:cubicBezTo>
                  <a:cubicBezTo>
                    <a:pt x="137" y="179"/>
                    <a:pt x="142" y="174"/>
                    <a:pt x="140" y="172"/>
                  </a:cubicBezTo>
                  <a:cubicBezTo>
                    <a:pt x="138" y="170"/>
                    <a:pt x="143" y="165"/>
                    <a:pt x="143" y="163"/>
                  </a:cubicBezTo>
                  <a:cubicBezTo>
                    <a:pt x="142" y="160"/>
                    <a:pt x="140" y="148"/>
                    <a:pt x="142" y="147"/>
                  </a:cubicBezTo>
                  <a:cubicBezTo>
                    <a:pt x="143" y="145"/>
                    <a:pt x="146" y="144"/>
                    <a:pt x="145" y="141"/>
                  </a:cubicBezTo>
                  <a:cubicBezTo>
                    <a:pt x="144" y="138"/>
                    <a:pt x="139" y="130"/>
                    <a:pt x="137" y="125"/>
                  </a:cubicBezTo>
                  <a:cubicBezTo>
                    <a:pt x="133" y="124"/>
                    <a:pt x="129" y="124"/>
                    <a:pt x="126" y="125"/>
                  </a:cubicBezTo>
                  <a:cubicBezTo>
                    <a:pt x="122" y="127"/>
                    <a:pt x="123" y="115"/>
                    <a:pt x="123" y="111"/>
                  </a:cubicBezTo>
                  <a:cubicBezTo>
                    <a:pt x="123" y="106"/>
                    <a:pt x="120" y="109"/>
                    <a:pt x="118" y="112"/>
                  </a:cubicBezTo>
                  <a:cubicBezTo>
                    <a:pt x="117" y="115"/>
                    <a:pt x="112" y="113"/>
                    <a:pt x="106" y="113"/>
                  </a:cubicBezTo>
                  <a:cubicBezTo>
                    <a:pt x="101" y="113"/>
                    <a:pt x="104" y="107"/>
                    <a:pt x="100" y="107"/>
                  </a:cubicBezTo>
                  <a:cubicBezTo>
                    <a:pt x="97" y="107"/>
                    <a:pt x="94" y="106"/>
                    <a:pt x="95" y="103"/>
                  </a:cubicBezTo>
                  <a:cubicBezTo>
                    <a:pt x="95" y="99"/>
                    <a:pt x="92" y="97"/>
                    <a:pt x="90" y="93"/>
                  </a:cubicBezTo>
                  <a:cubicBezTo>
                    <a:pt x="88" y="89"/>
                    <a:pt x="85" y="86"/>
                    <a:pt x="87" y="83"/>
                  </a:cubicBezTo>
                  <a:cubicBezTo>
                    <a:pt x="89" y="81"/>
                    <a:pt x="86" y="79"/>
                    <a:pt x="89" y="76"/>
                  </a:cubicBezTo>
                  <a:cubicBezTo>
                    <a:pt x="92" y="73"/>
                    <a:pt x="95" y="74"/>
                    <a:pt x="94" y="70"/>
                  </a:cubicBezTo>
                  <a:cubicBezTo>
                    <a:pt x="93" y="66"/>
                    <a:pt x="97" y="64"/>
                    <a:pt x="97" y="59"/>
                  </a:cubicBezTo>
                  <a:cubicBezTo>
                    <a:pt x="98" y="55"/>
                    <a:pt x="103" y="56"/>
                    <a:pt x="107" y="53"/>
                  </a:cubicBezTo>
                  <a:cubicBezTo>
                    <a:pt x="112" y="49"/>
                    <a:pt x="117" y="51"/>
                    <a:pt x="121" y="48"/>
                  </a:cubicBezTo>
                  <a:cubicBezTo>
                    <a:pt x="125" y="44"/>
                    <a:pt x="127" y="47"/>
                    <a:pt x="130" y="47"/>
                  </a:cubicBezTo>
                  <a:cubicBezTo>
                    <a:pt x="128" y="45"/>
                    <a:pt x="124" y="43"/>
                    <a:pt x="123" y="42"/>
                  </a:cubicBezTo>
                  <a:cubicBezTo>
                    <a:pt x="122" y="39"/>
                    <a:pt x="128" y="35"/>
                    <a:pt x="129" y="32"/>
                  </a:cubicBezTo>
                  <a:cubicBezTo>
                    <a:pt x="131" y="29"/>
                    <a:pt x="123" y="26"/>
                    <a:pt x="121" y="25"/>
                  </a:cubicBezTo>
                  <a:cubicBezTo>
                    <a:pt x="119" y="25"/>
                    <a:pt x="116" y="27"/>
                    <a:pt x="114" y="26"/>
                  </a:cubicBezTo>
                  <a:cubicBezTo>
                    <a:pt x="112" y="25"/>
                    <a:pt x="109" y="25"/>
                    <a:pt x="107" y="27"/>
                  </a:cubicBezTo>
                  <a:cubicBezTo>
                    <a:pt x="105" y="28"/>
                    <a:pt x="94" y="29"/>
                    <a:pt x="94" y="25"/>
                  </a:cubicBezTo>
                  <a:cubicBezTo>
                    <a:pt x="94" y="22"/>
                    <a:pt x="89" y="20"/>
                    <a:pt x="90" y="18"/>
                  </a:cubicBezTo>
                  <a:cubicBezTo>
                    <a:pt x="90" y="16"/>
                    <a:pt x="87" y="11"/>
                    <a:pt x="83" y="11"/>
                  </a:cubicBezTo>
                  <a:cubicBezTo>
                    <a:pt x="78" y="11"/>
                    <a:pt x="79" y="3"/>
                    <a:pt x="76" y="2"/>
                  </a:cubicBezTo>
                  <a:cubicBezTo>
                    <a:pt x="74" y="0"/>
                    <a:pt x="70" y="1"/>
                    <a:pt x="66" y="2"/>
                  </a:cubicBezTo>
                  <a:cubicBezTo>
                    <a:pt x="70" y="6"/>
                    <a:pt x="71" y="8"/>
                    <a:pt x="69" y="10"/>
                  </a:cubicBezTo>
                  <a:cubicBezTo>
                    <a:pt x="66" y="12"/>
                    <a:pt x="69" y="13"/>
                    <a:pt x="63" y="21"/>
                  </a:cubicBezTo>
                  <a:cubicBezTo>
                    <a:pt x="56" y="30"/>
                    <a:pt x="46" y="32"/>
                    <a:pt x="40" y="33"/>
                  </a:cubicBezTo>
                  <a:cubicBezTo>
                    <a:pt x="35" y="35"/>
                    <a:pt x="33" y="45"/>
                    <a:pt x="30" y="51"/>
                  </a:cubicBezTo>
                  <a:cubicBezTo>
                    <a:pt x="27" y="58"/>
                    <a:pt x="25" y="56"/>
                    <a:pt x="22" y="52"/>
                  </a:cubicBezTo>
                  <a:cubicBezTo>
                    <a:pt x="19" y="48"/>
                    <a:pt x="17" y="53"/>
                    <a:pt x="14" y="49"/>
                  </a:cubicBezTo>
                  <a:cubicBezTo>
                    <a:pt x="10" y="46"/>
                    <a:pt x="12" y="46"/>
                    <a:pt x="14" y="44"/>
                  </a:cubicBezTo>
                  <a:cubicBezTo>
                    <a:pt x="15" y="42"/>
                    <a:pt x="14" y="40"/>
                    <a:pt x="11" y="38"/>
                  </a:cubicBezTo>
                  <a:cubicBezTo>
                    <a:pt x="8" y="39"/>
                    <a:pt x="4" y="44"/>
                    <a:pt x="2" y="48"/>
                  </a:cubicBezTo>
                  <a:cubicBezTo>
                    <a:pt x="0" y="52"/>
                    <a:pt x="6" y="60"/>
                    <a:pt x="6" y="63"/>
                  </a:cubicBezTo>
                  <a:cubicBezTo>
                    <a:pt x="7" y="66"/>
                    <a:pt x="3" y="64"/>
                    <a:pt x="3" y="66"/>
                  </a:cubicBezTo>
                  <a:cubicBezTo>
                    <a:pt x="2" y="69"/>
                    <a:pt x="11" y="73"/>
                    <a:pt x="15" y="76"/>
                  </a:cubicBezTo>
                  <a:cubicBezTo>
                    <a:pt x="19" y="79"/>
                    <a:pt x="23" y="88"/>
                    <a:pt x="26" y="92"/>
                  </a:cubicBezTo>
                  <a:cubicBezTo>
                    <a:pt x="30" y="96"/>
                    <a:pt x="30" y="99"/>
                    <a:pt x="34" y="109"/>
                  </a:cubicBezTo>
                  <a:cubicBezTo>
                    <a:pt x="38" y="119"/>
                    <a:pt x="46" y="135"/>
                    <a:pt x="52" y="142"/>
                  </a:cubicBezTo>
                  <a:cubicBezTo>
                    <a:pt x="57" y="149"/>
                    <a:pt x="60" y="155"/>
                    <a:pt x="59" y="157"/>
                  </a:cubicBezTo>
                  <a:cubicBezTo>
                    <a:pt x="57" y="159"/>
                    <a:pt x="59" y="164"/>
                    <a:pt x="63" y="167"/>
                  </a:cubicBezTo>
                  <a:cubicBezTo>
                    <a:pt x="67" y="170"/>
                    <a:pt x="70" y="174"/>
                    <a:pt x="81" y="179"/>
                  </a:cubicBezTo>
                  <a:cubicBezTo>
                    <a:pt x="91" y="185"/>
                    <a:pt x="110" y="195"/>
                    <a:pt x="113" y="199"/>
                  </a:cubicBezTo>
                  <a:cubicBezTo>
                    <a:pt x="116" y="204"/>
                    <a:pt x="125" y="209"/>
                    <a:pt x="127" y="210"/>
                  </a:cubicBezTo>
                  <a:cubicBezTo>
                    <a:pt x="127" y="210"/>
                    <a:pt x="127" y="211"/>
                    <a:pt x="127" y="212"/>
                  </a:cubicBezTo>
                  <a:cubicBezTo>
                    <a:pt x="128" y="211"/>
                    <a:pt x="129" y="210"/>
                    <a:pt x="130" y="210"/>
                  </a:cubicBezTo>
                  <a:cubicBezTo>
                    <a:pt x="133" y="208"/>
                    <a:pt x="133" y="203"/>
                    <a:pt x="134" y="20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0" name="Freeform 116"/>
            <p:cNvSpPr>
              <a:spLocks noChangeArrowheads="1"/>
            </p:cNvSpPr>
            <p:nvPr/>
          </p:nvSpPr>
          <p:spPr bwMode="auto">
            <a:xfrm>
              <a:off x="2049470" y="2208214"/>
              <a:ext cx="296864" cy="250825"/>
            </a:xfrm>
            <a:custGeom>
              <a:avLst/>
              <a:gdLst>
                <a:gd name="T0" fmla="*/ 15 w 156"/>
                <a:gd name="T1" fmla="*/ 8 h 131"/>
                <a:gd name="T2" fmla="*/ 6 w 156"/>
                <a:gd name="T3" fmla="*/ 21 h 131"/>
                <a:gd name="T4" fmla="*/ 4 w 156"/>
                <a:gd name="T5" fmla="*/ 29 h 131"/>
                <a:gd name="T6" fmla="*/ 2 w 156"/>
                <a:gd name="T7" fmla="*/ 34 h 131"/>
                <a:gd name="T8" fmla="*/ 7 w 156"/>
                <a:gd name="T9" fmla="*/ 37 h 131"/>
                <a:gd name="T10" fmla="*/ 12 w 156"/>
                <a:gd name="T11" fmla="*/ 44 h 131"/>
                <a:gd name="T12" fmla="*/ 20 w 156"/>
                <a:gd name="T13" fmla="*/ 59 h 131"/>
                <a:gd name="T14" fmla="*/ 39 w 156"/>
                <a:gd name="T15" fmla="*/ 61 h 131"/>
                <a:gd name="T16" fmla="*/ 55 w 156"/>
                <a:gd name="T17" fmla="*/ 68 h 131"/>
                <a:gd name="T18" fmla="*/ 68 w 156"/>
                <a:gd name="T19" fmla="*/ 71 h 131"/>
                <a:gd name="T20" fmla="*/ 65 w 156"/>
                <a:gd name="T21" fmla="*/ 92 h 131"/>
                <a:gd name="T22" fmla="*/ 70 w 156"/>
                <a:gd name="T23" fmla="*/ 100 h 131"/>
                <a:gd name="T24" fmla="*/ 69 w 156"/>
                <a:gd name="T25" fmla="*/ 109 h 131"/>
                <a:gd name="T26" fmla="*/ 71 w 156"/>
                <a:gd name="T27" fmla="*/ 115 h 131"/>
                <a:gd name="T28" fmla="*/ 70 w 156"/>
                <a:gd name="T29" fmla="*/ 115 h 131"/>
                <a:gd name="T30" fmla="*/ 78 w 156"/>
                <a:gd name="T31" fmla="*/ 127 h 131"/>
                <a:gd name="T32" fmla="*/ 85 w 156"/>
                <a:gd name="T33" fmla="*/ 130 h 131"/>
                <a:gd name="T34" fmla="*/ 91 w 156"/>
                <a:gd name="T35" fmla="*/ 129 h 131"/>
                <a:gd name="T36" fmla="*/ 99 w 156"/>
                <a:gd name="T37" fmla="*/ 124 h 131"/>
                <a:gd name="T38" fmla="*/ 106 w 156"/>
                <a:gd name="T39" fmla="*/ 121 h 131"/>
                <a:gd name="T40" fmla="*/ 113 w 156"/>
                <a:gd name="T41" fmla="*/ 115 h 131"/>
                <a:gd name="T42" fmla="*/ 114 w 156"/>
                <a:gd name="T43" fmla="*/ 110 h 131"/>
                <a:gd name="T44" fmla="*/ 108 w 156"/>
                <a:gd name="T45" fmla="*/ 109 h 131"/>
                <a:gd name="T46" fmla="*/ 105 w 156"/>
                <a:gd name="T47" fmla="*/ 101 h 131"/>
                <a:gd name="T48" fmla="*/ 101 w 156"/>
                <a:gd name="T49" fmla="*/ 93 h 131"/>
                <a:gd name="T50" fmla="*/ 108 w 156"/>
                <a:gd name="T51" fmla="*/ 92 h 131"/>
                <a:gd name="T52" fmla="*/ 118 w 156"/>
                <a:gd name="T53" fmla="*/ 95 h 131"/>
                <a:gd name="T54" fmla="*/ 123 w 156"/>
                <a:gd name="T55" fmla="*/ 95 h 131"/>
                <a:gd name="T56" fmla="*/ 130 w 156"/>
                <a:gd name="T57" fmla="*/ 91 h 131"/>
                <a:gd name="T58" fmla="*/ 144 w 156"/>
                <a:gd name="T59" fmla="*/ 86 h 131"/>
                <a:gd name="T60" fmla="*/ 147 w 156"/>
                <a:gd name="T61" fmla="*/ 82 h 131"/>
                <a:gd name="T62" fmla="*/ 140 w 156"/>
                <a:gd name="T63" fmla="*/ 72 h 131"/>
                <a:gd name="T64" fmla="*/ 141 w 156"/>
                <a:gd name="T65" fmla="*/ 66 h 131"/>
                <a:gd name="T66" fmla="*/ 146 w 156"/>
                <a:gd name="T67" fmla="*/ 61 h 131"/>
                <a:gd name="T68" fmla="*/ 148 w 156"/>
                <a:gd name="T69" fmla="*/ 55 h 131"/>
                <a:gd name="T70" fmla="*/ 152 w 156"/>
                <a:gd name="T71" fmla="*/ 47 h 131"/>
                <a:gd name="T72" fmla="*/ 156 w 156"/>
                <a:gd name="T73" fmla="*/ 42 h 131"/>
                <a:gd name="T74" fmla="*/ 140 w 156"/>
                <a:gd name="T75" fmla="*/ 40 h 131"/>
                <a:gd name="T76" fmla="*/ 143 w 156"/>
                <a:gd name="T77" fmla="*/ 31 h 131"/>
                <a:gd name="T78" fmla="*/ 126 w 156"/>
                <a:gd name="T79" fmla="*/ 25 h 131"/>
                <a:gd name="T80" fmla="*/ 128 w 156"/>
                <a:gd name="T81" fmla="*/ 19 h 131"/>
                <a:gd name="T82" fmla="*/ 118 w 156"/>
                <a:gd name="T83" fmla="*/ 16 h 131"/>
                <a:gd name="T84" fmla="*/ 96 w 156"/>
                <a:gd name="T85" fmla="*/ 24 h 131"/>
                <a:gd name="T86" fmla="*/ 75 w 156"/>
                <a:gd name="T87" fmla="*/ 17 h 131"/>
                <a:gd name="T88" fmla="*/ 60 w 156"/>
                <a:gd name="T89" fmla="*/ 15 h 131"/>
                <a:gd name="T90" fmla="*/ 52 w 156"/>
                <a:gd name="T91" fmla="*/ 6 h 131"/>
                <a:gd name="T92" fmla="*/ 42 w 156"/>
                <a:gd name="T93" fmla="*/ 0 h 131"/>
                <a:gd name="T94" fmla="*/ 39 w 156"/>
                <a:gd name="T95" fmla="*/ 7 h 131"/>
                <a:gd name="T96" fmla="*/ 24 w 156"/>
                <a:gd name="T97" fmla="*/ 16 h 131"/>
                <a:gd name="T98" fmla="*/ 27 w 156"/>
                <a:gd name="T99" fmla="*/ 32 h 131"/>
                <a:gd name="T100" fmla="*/ 15 w 156"/>
                <a:gd name="T101" fmla="*/ 28 h 131"/>
                <a:gd name="T102" fmla="*/ 20 w 156"/>
                <a:gd name="T103" fmla="*/ 14 h 131"/>
                <a:gd name="T104" fmla="*/ 19 w 156"/>
                <a:gd name="T105" fmla="*/ 6 h 131"/>
                <a:gd name="T106" fmla="*/ 15 w 156"/>
                <a:gd name="T107" fmla="*/ 8 h 13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56"/>
                <a:gd name="T163" fmla="*/ 0 h 131"/>
                <a:gd name="T164" fmla="*/ 156 w 156"/>
                <a:gd name="T165" fmla="*/ 131 h 13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56" h="131">
                  <a:moveTo>
                    <a:pt x="15" y="8"/>
                  </a:moveTo>
                  <a:cubicBezTo>
                    <a:pt x="12" y="12"/>
                    <a:pt x="6" y="16"/>
                    <a:pt x="6" y="21"/>
                  </a:cubicBezTo>
                  <a:cubicBezTo>
                    <a:pt x="5" y="25"/>
                    <a:pt x="6" y="27"/>
                    <a:pt x="4" y="29"/>
                  </a:cubicBezTo>
                  <a:cubicBezTo>
                    <a:pt x="2" y="31"/>
                    <a:pt x="0" y="34"/>
                    <a:pt x="2" y="34"/>
                  </a:cubicBezTo>
                  <a:cubicBezTo>
                    <a:pt x="5" y="34"/>
                    <a:pt x="7" y="34"/>
                    <a:pt x="7" y="37"/>
                  </a:cubicBezTo>
                  <a:cubicBezTo>
                    <a:pt x="7" y="39"/>
                    <a:pt x="13" y="40"/>
                    <a:pt x="12" y="44"/>
                  </a:cubicBezTo>
                  <a:cubicBezTo>
                    <a:pt x="12" y="48"/>
                    <a:pt x="10" y="59"/>
                    <a:pt x="20" y="59"/>
                  </a:cubicBezTo>
                  <a:cubicBezTo>
                    <a:pt x="29" y="59"/>
                    <a:pt x="35" y="55"/>
                    <a:pt x="39" y="61"/>
                  </a:cubicBezTo>
                  <a:cubicBezTo>
                    <a:pt x="43" y="66"/>
                    <a:pt x="48" y="68"/>
                    <a:pt x="55" y="68"/>
                  </a:cubicBezTo>
                  <a:cubicBezTo>
                    <a:pt x="61" y="67"/>
                    <a:pt x="71" y="66"/>
                    <a:pt x="68" y="71"/>
                  </a:cubicBezTo>
                  <a:cubicBezTo>
                    <a:pt x="65" y="77"/>
                    <a:pt x="62" y="88"/>
                    <a:pt x="65" y="92"/>
                  </a:cubicBezTo>
                  <a:cubicBezTo>
                    <a:pt x="68" y="95"/>
                    <a:pt x="72" y="98"/>
                    <a:pt x="70" y="100"/>
                  </a:cubicBezTo>
                  <a:cubicBezTo>
                    <a:pt x="67" y="103"/>
                    <a:pt x="66" y="106"/>
                    <a:pt x="69" y="109"/>
                  </a:cubicBezTo>
                  <a:cubicBezTo>
                    <a:pt x="72" y="111"/>
                    <a:pt x="71" y="114"/>
                    <a:pt x="71" y="115"/>
                  </a:cubicBezTo>
                  <a:cubicBezTo>
                    <a:pt x="71" y="115"/>
                    <a:pt x="71" y="115"/>
                    <a:pt x="70" y="115"/>
                  </a:cubicBezTo>
                  <a:cubicBezTo>
                    <a:pt x="74" y="120"/>
                    <a:pt x="76" y="125"/>
                    <a:pt x="78" y="127"/>
                  </a:cubicBezTo>
                  <a:cubicBezTo>
                    <a:pt x="82" y="130"/>
                    <a:pt x="83" y="131"/>
                    <a:pt x="85" y="130"/>
                  </a:cubicBezTo>
                  <a:cubicBezTo>
                    <a:pt x="87" y="128"/>
                    <a:pt x="89" y="127"/>
                    <a:pt x="91" y="129"/>
                  </a:cubicBezTo>
                  <a:cubicBezTo>
                    <a:pt x="93" y="130"/>
                    <a:pt x="96" y="127"/>
                    <a:pt x="99" y="124"/>
                  </a:cubicBezTo>
                  <a:cubicBezTo>
                    <a:pt x="102" y="122"/>
                    <a:pt x="105" y="124"/>
                    <a:pt x="106" y="121"/>
                  </a:cubicBezTo>
                  <a:cubicBezTo>
                    <a:pt x="107" y="117"/>
                    <a:pt x="109" y="115"/>
                    <a:pt x="113" y="115"/>
                  </a:cubicBezTo>
                  <a:cubicBezTo>
                    <a:pt x="117" y="114"/>
                    <a:pt x="117" y="110"/>
                    <a:pt x="114" y="110"/>
                  </a:cubicBezTo>
                  <a:cubicBezTo>
                    <a:pt x="112" y="110"/>
                    <a:pt x="108" y="113"/>
                    <a:pt x="108" y="109"/>
                  </a:cubicBezTo>
                  <a:cubicBezTo>
                    <a:pt x="108" y="104"/>
                    <a:pt x="105" y="105"/>
                    <a:pt x="105" y="101"/>
                  </a:cubicBezTo>
                  <a:cubicBezTo>
                    <a:pt x="105" y="98"/>
                    <a:pt x="105" y="95"/>
                    <a:pt x="101" y="93"/>
                  </a:cubicBezTo>
                  <a:cubicBezTo>
                    <a:pt x="97" y="91"/>
                    <a:pt x="106" y="90"/>
                    <a:pt x="108" y="92"/>
                  </a:cubicBezTo>
                  <a:cubicBezTo>
                    <a:pt x="110" y="94"/>
                    <a:pt x="118" y="92"/>
                    <a:pt x="118" y="95"/>
                  </a:cubicBezTo>
                  <a:cubicBezTo>
                    <a:pt x="119" y="98"/>
                    <a:pt x="123" y="99"/>
                    <a:pt x="123" y="95"/>
                  </a:cubicBezTo>
                  <a:cubicBezTo>
                    <a:pt x="123" y="92"/>
                    <a:pt x="127" y="90"/>
                    <a:pt x="130" y="91"/>
                  </a:cubicBezTo>
                  <a:cubicBezTo>
                    <a:pt x="134" y="92"/>
                    <a:pt x="141" y="87"/>
                    <a:pt x="144" y="86"/>
                  </a:cubicBezTo>
                  <a:cubicBezTo>
                    <a:pt x="146" y="85"/>
                    <a:pt x="146" y="83"/>
                    <a:pt x="147" y="82"/>
                  </a:cubicBezTo>
                  <a:cubicBezTo>
                    <a:pt x="145" y="78"/>
                    <a:pt x="142" y="74"/>
                    <a:pt x="140" y="72"/>
                  </a:cubicBezTo>
                  <a:cubicBezTo>
                    <a:pt x="137" y="70"/>
                    <a:pt x="142" y="69"/>
                    <a:pt x="141" y="66"/>
                  </a:cubicBezTo>
                  <a:cubicBezTo>
                    <a:pt x="141" y="64"/>
                    <a:pt x="141" y="62"/>
                    <a:pt x="146" y="61"/>
                  </a:cubicBezTo>
                  <a:cubicBezTo>
                    <a:pt x="152" y="61"/>
                    <a:pt x="151" y="57"/>
                    <a:pt x="148" y="55"/>
                  </a:cubicBezTo>
                  <a:cubicBezTo>
                    <a:pt x="145" y="53"/>
                    <a:pt x="149" y="49"/>
                    <a:pt x="152" y="47"/>
                  </a:cubicBezTo>
                  <a:cubicBezTo>
                    <a:pt x="153" y="47"/>
                    <a:pt x="155" y="45"/>
                    <a:pt x="156" y="42"/>
                  </a:cubicBezTo>
                  <a:cubicBezTo>
                    <a:pt x="151" y="40"/>
                    <a:pt x="143" y="40"/>
                    <a:pt x="140" y="40"/>
                  </a:cubicBezTo>
                  <a:cubicBezTo>
                    <a:pt x="136" y="41"/>
                    <a:pt x="143" y="36"/>
                    <a:pt x="143" y="31"/>
                  </a:cubicBezTo>
                  <a:cubicBezTo>
                    <a:pt x="143" y="27"/>
                    <a:pt x="131" y="26"/>
                    <a:pt x="126" y="25"/>
                  </a:cubicBezTo>
                  <a:cubicBezTo>
                    <a:pt x="121" y="24"/>
                    <a:pt x="123" y="19"/>
                    <a:pt x="128" y="19"/>
                  </a:cubicBezTo>
                  <a:cubicBezTo>
                    <a:pt x="133" y="18"/>
                    <a:pt x="125" y="15"/>
                    <a:pt x="118" y="16"/>
                  </a:cubicBezTo>
                  <a:cubicBezTo>
                    <a:pt x="111" y="17"/>
                    <a:pt x="102" y="21"/>
                    <a:pt x="96" y="24"/>
                  </a:cubicBezTo>
                  <a:cubicBezTo>
                    <a:pt x="91" y="27"/>
                    <a:pt x="81" y="15"/>
                    <a:pt x="75" y="17"/>
                  </a:cubicBezTo>
                  <a:cubicBezTo>
                    <a:pt x="69" y="20"/>
                    <a:pt x="60" y="20"/>
                    <a:pt x="60" y="15"/>
                  </a:cubicBezTo>
                  <a:cubicBezTo>
                    <a:pt x="61" y="10"/>
                    <a:pt x="58" y="6"/>
                    <a:pt x="52" y="6"/>
                  </a:cubicBezTo>
                  <a:cubicBezTo>
                    <a:pt x="45" y="7"/>
                    <a:pt x="47" y="0"/>
                    <a:pt x="42" y="0"/>
                  </a:cubicBezTo>
                  <a:cubicBezTo>
                    <a:pt x="37" y="0"/>
                    <a:pt x="42" y="6"/>
                    <a:pt x="39" y="7"/>
                  </a:cubicBezTo>
                  <a:cubicBezTo>
                    <a:pt x="36" y="9"/>
                    <a:pt x="24" y="11"/>
                    <a:pt x="24" y="16"/>
                  </a:cubicBezTo>
                  <a:cubicBezTo>
                    <a:pt x="23" y="20"/>
                    <a:pt x="30" y="28"/>
                    <a:pt x="27" y="32"/>
                  </a:cubicBezTo>
                  <a:cubicBezTo>
                    <a:pt x="25" y="37"/>
                    <a:pt x="18" y="33"/>
                    <a:pt x="15" y="28"/>
                  </a:cubicBezTo>
                  <a:cubicBezTo>
                    <a:pt x="13" y="24"/>
                    <a:pt x="22" y="16"/>
                    <a:pt x="20" y="14"/>
                  </a:cubicBezTo>
                  <a:cubicBezTo>
                    <a:pt x="19" y="12"/>
                    <a:pt x="18" y="8"/>
                    <a:pt x="19" y="6"/>
                  </a:cubicBezTo>
                  <a:cubicBezTo>
                    <a:pt x="17" y="6"/>
                    <a:pt x="16" y="7"/>
                    <a:pt x="15" y="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1" name="Freeform 117"/>
            <p:cNvSpPr>
              <a:spLocks noChangeArrowheads="1"/>
            </p:cNvSpPr>
            <p:nvPr/>
          </p:nvSpPr>
          <p:spPr bwMode="auto">
            <a:xfrm>
              <a:off x="2382846" y="2336802"/>
              <a:ext cx="92076" cy="96838"/>
            </a:xfrm>
            <a:custGeom>
              <a:avLst/>
              <a:gdLst>
                <a:gd name="T0" fmla="*/ 11 w 48"/>
                <a:gd name="T1" fmla="*/ 10 h 51"/>
                <a:gd name="T2" fmla="*/ 6 w 48"/>
                <a:gd name="T3" fmla="*/ 16 h 51"/>
                <a:gd name="T4" fmla="*/ 2 w 48"/>
                <a:gd name="T5" fmla="*/ 25 h 51"/>
                <a:gd name="T6" fmla="*/ 11 w 48"/>
                <a:gd name="T7" fmla="*/ 37 h 51"/>
                <a:gd name="T8" fmla="*/ 18 w 48"/>
                <a:gd name="T9" fmla="*/ 50 h 51"/>
                <a:gd name="T10" fmla="*/ 23 w 48"/>
                <a:gd name="T11" fmla="*/ 50 h 51"/>
                <a:gd name="T12" fmla="*/ 28 w 48"/>
                <a:gd name="T13" fmla="*/ 43 h 51"/>
                <a:gd name="T14" fmla="*/ 41 w 48"/>
                <a:gd name="T15" fmla="*/ 43 h 51"/>
                <a:gd name="T16" fmla="*/ 42 w 48"/>
                <a:gd name="T17" fmla="*/ 45 h 51"/>
                <a:gd name="T18" fmla="*/ 45 w 48"/>
                <a:gd name="T19" fmla="*/ 39 h 51"/>
                <a:gd name="T20" fmla="*/ 44 w 48"/>
                <a:gd name="T21" fmla="*/ 24 h 51"/>
                <a:gd name="T22" fmla="*/ 46 w 48"/>
                <a:gd name="T23" fmla="*/ 11 h 51"/>
                <a:gd name="T24" fmla="*/ 48 w 48"/>
                <a:gd name="T25" fmla="*/ 5 h 51"/>
                <a:gd name="T26" fmla="*/ 37 w 48"/>
                <a:gd name="T27" fmla="*/ 3 h 51"/>
                <a:gd name="T28" fmla="*/ 22 w 48"/>
                <a:gd name="T29" fmla="*/ 3 h 51"/>
                <a:gd name="T30" fmla="*/ 14 w 48"/>
                <a:gd name="T31" fmla="*/ 3 h 51"/>
                <a:gd name="T32" fmla="*/ 13 w 48"/>
                <a:gd name="T33" fmla="*/ 3 h 51"/>
                <a:gd name="T34" fmla="*/ 11 w 48"/>
                <a:gd name="T35" fmla="*/ 10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8"/>
                <a:gd name="T55" fmla="*/ 0 h 51"/>
                <a:gd name="T56" fmla="*/ 48 w 48"/>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8" h="51">
                  <a:moveTo>
                    <a:pt x="11" y="10"/>
                  </a:moveTo>
                  <a:cubicBezTo>
                    <a:pt x="13" y="14"/>
                    <a:pt x="9" y="15"/>
                    <a:pt x="6" y="16"/>
                  </a:cubicBezTo>
                  <a:cubicBezTo>
                    <a:pt x="3" y="16"/>
                    <a:pt x="4" y="23"/>
                    <a:pt x="2" y="25"/>
                  </a:cubicBezTo>
                  <a:cubicBezTo>
                    <a:pt x="0" y="27"/>
                    <a:pt x="9" y="33"/>
                    <a:pt x="11" y="37"/>
                  </a:cubicBezTo>
                  <a:cubicBezTo>
                    <a:pt x="12" y="40"/>
                    <a:pt x="15" y="45"/>
                    <a:pt x="18" y="50"/>
                  </a:cubicBezTo>
                  <a:cubicBezTo>
                    <a:pt x="20" y="50"/>
                    <a:pt x="22" y="51"/>
                    <a:pt x="23" y="50"/>
                  </a:cubicBezTo>
                  <a:cubicBezTo>
                    <a:pt x="26" y="48"/>
                    <a:pt x="24" y="43"/>
                    <a:pt x="28" y="43"/>
                  </a:cubicBezTo>
                  <a:cubicBezTo>
                    <a:pt x="33" y="43"/>
                    <a:pt x="39" y="41"/>
                    <a:pt x="41" y="43"/>
                  </a:cubicBezTo>
                  <a:cubicBezTo>
                    <a:pt x="41" y="44"/>
                    <a:pt x="41" y="44"/>
                    <a:pt x="42" y="45"/>
                  </a:cubicBezTo>
                  <a:cubicBezTo>
                    <a:pt x="43" y="43"/>
                    <a:pt x="45" y="40"/>
                    <a:pt x="45" y="39"/>
                  </a:cubicBezTo>
                  <a:cubicBezTo>
                    <a:pt x="46" y="38"/>
                    <a:pt x="46" y="29"/>
                    <a:pt x="44" y="24"/>
                  </a:cubicBezTo>
                  <a:cubicBezTo>
                    <a:pt x="42" y="20"/>
                    <a:pt x="43" y="13"/>
                    <a:pt x="46" y="11"/>
                  </a:cubicBezTo>
                  <a:cubicBezTo>
                    <a:pt x="46" y="11"/>
                    <a:pt x="47" y="8"/>
                    <a:pt x="48" y="5"/>
                  </a:cubicBezTo>
                  <a:cubicBezTo>
                    <a:pt x="44" y="4"/>
                    <a:pt x="40" y="2"/>
                    <a:pt x="37" y="3"/>
                  </a:cubicBezTo>
                  <a:cubicBezTo>
                    <a:pt x="31" y="4"/>
                    <a:pt x="25" y="6"/>
                    <a:pt x="22" y="3"/>
                  </a:cubicBezTo>
                  <a:cubicBezTo>
                    <a:pt x="20" y="0"/>
                    <a:pt x="17" y="0"/>
                    <a:pt x="14" y="3"/>
                  </a:cubicBezTo>
                  <a:cubicBezTo>
                    <a:pt x="14" y="3"/>
                    <a:pt x="13" y="3"/>
                    <a:pt x="13" y="3"/>
                  </a:cubicBezTo>
                  <a:cubicBezTo>
                    <a:pt x="12" y="6"/>
                    <a:pt x="11" y="9"/>
                    <a:pt x="11"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2" name="Freeform 118"/>
            <p:cNvSpPr>
              <a:spLocks noChangeArrowheads="1"/>
            </p:cNvSpPr>
            <p:nvPr/>
          </p:nvSpPr>
          <p:spPr bwMode="auto">
            <a:xfrm>
              <a:off x="2311408" y="2287590"/>
              <a:ext cx="106364" cy="158750"/>
            </a:xfrm>
            <a:custGeom>
              <a:avLst/>
              <a:gdLst>
                <a:gd name="T0" fmla="*/ 15 w 56"/>
                <a:gd name="T1" fmla="*/ 5 h 83"/>
                <a:gd name="T2" fmla="*/ 11 w 56"/>
                <a:gd name="T3" fmla="*/ 13 h 83"/>
                <a:gd name="T4" fmla="*/ 9 w 56"/>
                <a:gd name="T5" fmla="*/ 19 h 83"/>
                <a:gd name="T6" fmla="*/ 4 w 56"/>
                <a:gd name="T7" fmla="*/ 24 h 83"/>
                <a:gd name="T8" fmla="*/ 3 w 56"/>
                <a:gd name="T9" fmla="*/ 30 h 83"/>
                <a:gd name="T10" fmla="*/ 10 w 56"/>
                <a:gd name="T11" fmla="*/ 40 h 83"/>
                <a:gd name="T12" fmla="*/ 14 w 56"/>
                <a:gd name="T13" fmla="*/ 37 h 83"/>
                <a:gd name="T14" fmla="*/ 19 w 56"/>
                <a:gd name="T15" fmla="*/ 47 h 83"/>
                <a:gd name="T16" fmla="*/ 20 w 56"/>
                <a:gd name="T17" fmla="*/ 56 h 83"/>
                <a:gd name="T18" fmla="*/ 22 w 56"/>
                <a:gd name="T19" fmla="*/ 76 h 83"/>
                <a:gd name="T20" fmla="*/ 35 w 56"/>
                <a:gd name="T21" fmla="*/ 80 h 83"/>
                <a:gd name="T22" fmla="*/ 42 w 56"/>
                <a:gd name="T23" fmla="*/ 77 h 83"/>
                <a:gd name="T24" fmla="*/ 48 w 56"/>
                <a:gd name="T25" fmla="*/ 75 h 83"/>
                <a:gd name="T26" fmla="*/ 56 w 56"/>
                <a:gd name="T27" fmla="*/ 75 h 83"/>
                <a:gd name="T28" fmla="*/ 49 w 56"/>
                <a:gd name="T29" fmla="*/ 62 h 83"/>
                <a:gd name="T30" fmla="*/ 40 w 56"/>
                <a:gd name="T31" fmla="*/ 50 h 83"/>
                <a:gd name="T32" fmla="*/ 44 w 56"/>
                <a:gd name="T33" fmla="*/ 41 h 83"/>
                <a:gd name="T34" fmla="*/ 49 w 56"/>
                <a:gd name="T35" fmla="*/ 35 h 83"/>
                <a:gd name="T36" fmla="*/ 51 w 56"/>
                <a:gd name="T37" fmla="*/ 28 h 83"/>
                <a:gd name="T38" fmla="*/ 40 w 56"/>
                <a:gd name="T39" fmla="*/ 19 h 83"/>
                <a:gd name="T40" fmla="*/ 35 w 56"/>
                <a:gd name="T41" fmla="*/ 12 h 83"/>
                <a:gd name="T42" fmla="*/ 23 w 56"/>
                <a:gd name="T43" fmla="*/ 3 h 83"/>
                <a:gd name="T44" fmla="*/ 19 w 56"/>
                <a:gd name="T45" fmla="*/ 0 h 83"/>
                <a:gd name="T46" fmla="*/ 15 w 56"/>
                <a:gd name="T47" fmla="*/ 5 h 8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
                <a:gd name="T73" fmla="*/ 0 h 83"/>
                <a:gd name="T74" fmla="*/ 56 w 56"/>
                <a:gd name="T75" fmla="*/ 83 h 8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 h="83">
                  <a:moveTo>
                    <a:pt x="15" y="5"/>
                  </a:moveTo>
                  <a:cubicBezTo>
                    <a:pt x="12" y="7"/>
                    <a:pt x="8" y="11"/>
                    <a:pt x="11" y="13"/>
                  </a:cubicBezTo>
                  <a:cubicBezTo>
                    <a:pt x="14" y="15"/>
                    <a:pt x="15" y="19"/>
                    <a:pt x="9" y="19"/>
                  </a:cubicBezTo>
                  <a:cubicBezTo>
                    <a:pt x="4" y="20"/>
                    <a:pt x="4" y="22"/>
                    <a:pt x="4" y="24"/>
                  </a:cubicBezTo>
                  <a:cubicBezTo>
                    <a:pt x="5" y="27"/>
                    <a:pt x="0" y="28"/>
                    <a:pt x="3" y="30"/>
                  </a:cubicBezTo>
                  <a:cubicBezTo>
                    <a:pt x="5" y="32"/>
                    <a:pt x="8" y="36"/>
                    <a:pt x="10" y="40"/>
                  </a:cubicBezTo>
                  <a:cubicBezTo>
                    <a:pt x="11" y="38"/>
                    <a:pt x="12" y="37"/>
                    <a:pt x="14" y="37"/>
                  </a:cubicBezTo>
                  <a:cubicBezTo>
                    <a:pt x="19" y="38"/>
                    <a:pt x="15" y="45"/>
                    <a:pt x="19" y="47"/>
                  </a:cubicBezTo>
                  <a:cubicBezTo>
                    <a:pt x="23" y="48"/>
                    <a:pt x="23" y="54"/>
                    <a:pt x="20" y="56"/>
                  </a:cubicBezTo>
                  <a:cubicBezTo>
                    <a:pt x="17" y="58"/>
                    <a:pt x="16" y="69"/>
                    <a:pt x="22" y="76"/>
                  </a:cubicBezTo>
                  <a:cubicBezTo>
                    <a:pt x="29" y="83"/>
                    <a:pt x="33" y="82"/>
                    <a:pt x="35" y="80"/>
                  </a:cubicBezTo>
                  <a:cubicBezTo>
                    <a:pt x="36" y="78"/>
                    <a:pt x="41" y="80"/>
                    <a:pt x="42" y="77"/>
                  </a:cubicBezTo>
                  <a:cubicBezTo>
                    <a:pt x="43" y="75"/>
                    <a:pt x="45" y="78"/>
                    <a:pt x="48" y="75"/>
                  </a:cubicBezTo>
                  <a:cubicBezTo>
                    <a:pt x="49" y="73"/>
                    <a:pt x="53" y="74"/>
                    <a:pt x="56" y="75"/>
                  </a:cubicBezTo>
                  <a:cubicBezTo>
                    <a:pt x="53" y="70"/>
                    <a:pt x="50" y="65"/>
                    <a:pt x="49" y="62"/>
                  </a:cubicBezTo>
                  <a:cubicBezTo>
                    <a:pt x="47" y="58"/>
                    <a:pt x="38" y="52"/>
                    <a:pt x="40" y="50"/>
                  </a:cubicBezTo>
                  <a:cubicBezTo>
                    <a:pt x="42" y="48"/>
                    <a:pt x="41" y="41"/>
                    <a:pt x="44" y="41"/>
                  </a:cubicBezTo>
                  <a:cubicBezTo>
                    <a:pt x="47" y="40"/>
                    <a:pt x="51" y="39"/>
                    <a:pt x="49" y="35"/>
                  </a:cubicBezTo>
                  <a:cubicBezTo>
                    <a:pt x="49" y="34"/>
                    <a:pt x="50" y="31"/>
                    <a:pt x="51" y="28"/>
                  </a:cubicBezTo>
                  <a:cubicBezTo>
                    <a:pt x="48" y="28"/>
                    <a:pt x="43" y="19"/>
                    <a:pt x="40" y="19"/>
                  </a:cubicBezTo>
                  <a:cubicBezTo>
                    <a:pt x="37" y="19"/>
                    <a:pt x="34" y="16"/>
                    <a:pt x="35" y="12"/>
                  </a:cubicBezTo>
                  <a:cubicBezTo>
                    <a:pt x="35" y="8"/>
                    <a:pt x="28" y="7"/>
                    <a:pt x="23" y="3"/>
                  </a:cubicBezTo>
                  <a:cubicBezTo>
                    <a:pt x="22" y="1"/>
                    <a:pt x="21" y="1"/>
                    <a:pt x="19" y="0"/>
                  </a:cubicBezTo>
                  <a:cubicBezTo>
                    <a:pt x="18" y="3"/>
                    <a:pt x="16" y="5"/>
                    <a:pt x="15"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3" name="Freeform 119"/>
            <p:cNvSpPr>
              <a:spLocks noChangeArrowheads="1"/>
            </p:cNvSpPr>
            <p:nvPr/>
          </p:nvSpPr>
          <p:spPr bwMode="auto">
            <a:xfrm>
              <a:off x="2463808" y="2346327"/>
              <a:ext cx="66675" cy="84138"/>
            </a:xfrm>
            <a:custGeom>
              <a:avLst/>
              <a:gdLst>
                <a:gd name="T0" fmla="*/ 2 w 35"/>
                <a:gd name="T1" fmla="*/ 19 h 44"/>
                <a:gd name="T2" fmla="*/ 3 w 35"/>
                <a:gd name="T3" fmla="*/ 34 h 44"/>
                <a:gd name="T4" fmla="*/ 0 w 35"/>
                <a:gd name="T5" fmla="*/ 40 h 44"/>
                <a:gd name="T6" fmla="*/ 10 w 35"/>
                <a:gd name="T7" fmla="*/ 42 h 44"/>
                <a:gd name="T8" fmla="*/ 22 w 35"/>
                <a:gd name="T9" fmla="*/ 37 h 44"/>
                <a:gd name="T10" fmla="*/ 35 w 35"/>
                <a:gd name="T11" fmla="*/ 19 h 44"/>
                <a:gd name="T12" fmla="*/ 35 w 35"/>
                <a:gd name="T13" fmla="*/ 19 h 44"/>
                <a:gd name="T14" fmla="*/ 16 w 35"/>
                <a:gd name="T15" fmla="*/ 4 h 44"/>
                <a:gd name="T16" fmla="*/ 6 w 35"/>
                <a:gd name="T17" fmla="*/ 0 h 44"/>
                <a:gd name="T18" fmla="*/ 4 w 35"/>
                <a:gd name="T19" fmla="*/ 6 h 44"/>
                <a:gd name="T20" fmla="*/ 2 w 35"/>
                <a:gd name="T21" fmla="*/ 19 h 4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
                <a:gd name="T34" fmla="*/ 0 h 44"/>
                <a:gd name="T35" fmla="*/ 35 w 35"/>
                <a:gd name="T36" fmla="*/ 44 h 4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 h="44">
                  <a:moveTo>
                    <a:pt x="2" y="19"/>
                  </a:moveTo>
                  <a:cubicBezTo>
                    <a:pt x="4" y="24"/>
                    <a:pt x="4" y="33"/>
                    <a:pt x="3" y="34"/>
                  </a:cubicBezTo>
                  <a:cubicBezTo>
                    <a:pt x="3" y="35"/>
                    <a:pt x="1" y="38"/>
                    <a:pt x="0" y="40"/>
                  </a:cubicBezTo>
                  <a:cubicBezTo>
                    <a:pt x="2" y="42"/>
                    <a:pt x="5" y="43"/>
                    <a:pt x="10" y="42"/>
                  </a:cubicBezTo>
                  <a:cubicBezTo>
                    <a:pt x="16" y="40"/>
                    <a:pt x="19" y="44"/>
                    <a:pt x="22" y="37"/>
                  </a:cubicBezTo>
                  <a:cubicBezTo>
                    <a:pt x="24" y="31"/>
                    <a:pt x="30" y="23"/>
                    <a:pt x="35" y="19"/>
                  </a:cubicBezTo>
                  <a:cubicBezTo>
                    <a:pt x="35" y="19"/>
                    <a:pt x="35" y="19"/>
                    <a:pt x="35" y="19"/>
                  </a:cubicBezTo>
                  <a:cubicBezTo>
                    <a:pt x="30" y="17"/>
                    <a:pt x="23" y="5"/>
                    <a:pt x="16" y="4"/>
                  </a:cubicBezTo>
                  <a:cubicBezTo>
                    <a:pt x="12" y="3"/>
                    <a:pt x="9" y="2"/>
                    <a:pt x="6" y="0"/>
                  </a:cubicBezTo>
                  <a:cubicBezTo>
                    <a:pt x="5" y="3"/>
                    <a:pt x="4" y="6"/>
                    <a:pt x="4" y="6"/>
                  </a:cubicBezTo>
                  <a:cubicBezTo>
                    <a:pt x="1" y="8"/>
                    <a:pt x="0" y="15"/>
                    <a:pt x="2"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4" name="Freeform 120"/>
            <p:cNvSpPr>
              <a:spLocks noChangeArrowheads="1"/>
            </p:cNvSpPr>
            <p:nvPr/>
          </p:nvSpPr>
          <p:spPr bwMode="auto">
            <a:xfrm>
              <a:off x="1806581" y="1952627"/>
              <a:ext cx="227014" cy="80963"/>
            </a:xfrm>
            <a:custGeom>
              <a:avLst/>
              <a:gdLst>
                <a:gd name="T0" fmla="*/ 96 w 119"/>
                <a:gd name="T1" fmla="*/ 27 h 43"/>
                <a:gd name="T2" fmla="*/ 42 w 119"/>
                <a:gd name="T3" fmla="*/ 5 h 43"/>
                <a:gd name="T4" fmla="*/ 2 w 119"/>
                <a:gd name="T5" fmla="*/ 19 h 43"/>
                <a:gd name="T6" fmla="*/ 21 w 119"/>
                <a:gd name="T7" fmla="*/ 10 h 43"/>
                <a:gd name="T8" fmla="*/ 32 w 119"/>
                <a:gd name="T9" fmla="*/ 15 h 43"/>
                <a:gd name="T10" fmla="*/ 51 w 119"/>
                <a:gd name="T11" fmla="*/ 19 h 43"/>
                <a:gd name="T12" fmla="*/ 75 w 119"/>
                <a:gd name="T13" fmla="*/ 32 h 43"/>
                <a:gd name="T14" fmla="*/ 81 w 119"/>
                <a:gd name="T15" fmla="*/ 41 h 43"/>
                <a:gd name="T16" fmla="*/ 117 w 119"/>
                <a:gd name="T17" fmla="*/ 40 h 43"/>
                <a:gd name="T18" fmla="*/ 96 w 119"/>
                <a:gd name="T19" fmla="*/ 27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9"/>
                <a:gd name="T31" fmla="*/ 0 h 43"/>
                <a:gd name="T32" fmla="*/ 119 w 119"/>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9" h="43">
                  <a:moveTo>
                    <a:pt x="96" y="27"/>
                  </a:moveTo>
                  <a:cubicBezTo>
                    <a:pt x="89" y="27"/>
                    <a:pt x="64" y="10"/>
                    <a:pt x="42" y="5"/>
                  </a:cubicBezTo>
                  <a:cubicBezTo>
                    <a:pt x="19" y="0"/>
                    <a:pt x="0" y="16"/>
                    <a:pt x="2" y="19"/>
                  </a:cubicBezTo>
                  <a:cubicBezTo>
                    <a:pt x="5" y="23"/>
                    <a:pt x="16" y="14"/>
                    <a:pt x="21" y="10"/>
                  </a:cubicBezTo>
                  <a:cubicBezTo>
                    <a:pt x="27" y="6"/>
                    <a:pt x="32" y="12"/>
                    <a:pt x="32" y="15"/>
                  </a:cubicBezTo>
                  <a:cubicBezTo>
                    <a:pt x="33" y="17"/>
                    <a:pt x="40" y="19"/>
                    <a:pt x="51" y="19"/>
                  </a:cubicBezTo>
                  <a:cubicBezTo>
                    <a:pt x="63" y="20"/>
                    <a:pt x="64" y="29"/>
                    <a:pt x="75" y="32"/>
                  </a:cubicBezTo>
                  <a:cubicBezTo>
                    <a:pt x="86" y="34"/>
                    <a:pt x="75" y="39"/>
                    <a:pt x="81" y="41"/>
                  </a:cubicBezTo>
                  <a:cubicBezTo>
                    <a:pt x="86" y="43"/>
                    <a:pt x="115" y="42"/>
                    <a:pt x="117" y="40"/>
                  </a:cubicBezTo>
                  <a:cubicBezTo>
                    <a:pt x="119" y="37"/>
                    <a:pt x="104" y="27"/>
                    <a:pt x="96" y="2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5" name="Freeform 121"/>
            <p:cNvSpPr>
              <a:spLocks noChangeArrowheads="1"/>
            </p:cNvSpPr>
            <p:nvPr/>
          </p:nvSpPr>
          <p:spPr bwMode="auto">
            <a:xfrm>
              <a:off x="1936756" y="2060578"/>
              <a:ext cx="52388" cy="25400"/>
            </a:xfrm>
            <a:custGeom>
              <a:avLst/>
              <a:gdLst>
                <a:gd name="T0" fmla="*/ 3 w 28"/>
                <a:gd name="T1" fmla="*/ 5 h 13"/>
                <a:gd name="T2" fmla="*/ 26 w 28"/>
                <a:gd name="T3" fmla="*/ 9 h 13"/>
                <a:gd name="T4" fmla="*/ 3 w 28"/>
                <a:gd name="T5" fmla="*/ 5 h 13"/>
                <a:gd name="T6" fmla="*/ 0 60000 65536"/>
                <a:gd name="T7" fmla="*/ 0 60000 65536"/>
                <a:gd name="T8" fmla="*/ 0 60000 65536"/>
                <a:gd name="T9" fmla="*/ 0 w 28"/>
                <a:gd name="T10" fmla="*/ 0 h 13"/>
                <a:gd name="T11" fmla="*/ 28 w 28"/>
                <a:gd name="T12" fmla="*/ 13 h 13"/>
              </a:gdLst>
              <a:ahLst/>
              <a:cxnLst>
                <a:cxn ang="T6">
                  <a:pos x="T0" y="T1"/>
                </a:cxn>
                <a:cxn ang="T7">
                  <a:pos x="T2" y="T3"/>
                </a:cxn>
                <a:cxn ang="T8">
                  <a:pos x="T4" y="T5"/>
                </a:cxn>
              </a:cxnLst>
              <a:rect l="T9" t="T10" r="T11" b="T12"/>
              <a:pathLst>
                <a:path w="28" h="13">
                  <a:moveTo>
                    <a:pt x="3" y="5"/>
                  </a:moveTo>
                  <a:cubicBezTo>
                    <a:pt x="5" y="8"/>
                    <a:pt x="24" y="13"/>
                    <a:pt x="26" y="9"/>
                  </a:cubicBezTo>
                  <a:cubicBezTo>
                    <a:pt x="28" y="4"/>
                    <a:pt x="0" y="0"/>
                    <a:pt x="3"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6" name="Freeform 122"/>
            <p:cNvSpPr>
              <a:spLocks noChangeArrowheads="1"/>
            </p:cNvSpPr>
            <p:nvPr/>
          </p:nvSpPr>
          <p:spPr bwMode="auto">
            <a:xfrm>
              <a:off x="2179645" y="2058990"/>
              <a:ext cx="47626" cy="26988"/>
            </a:xfrm>
            <a:custGeom>
              <a:avLst/>
              <a:gdLst>
                <a:gd name="T0" fmla="*/ 4 w 25"/>
                <a:gd name="T1" fmla="*/ 7 h 14"/>
                <a:gd name="T2" fmla="*/ 23 w 25"/>
                <a:gd name="T3" fmla="*/ 7 h 14"/>
                <a:gd name="T4" fmla="*/ 4 w 25"/>
                <a:gd name="T5" fmla="*/ 7 h 14"/>
                <a:gd name="T6" fmla="*/ 0 60000 65536"/>
                <a:gd name="T7" fmla="*/ 0 60000 65536"/>
                <a:gd name="T8" fmla="*/ 0 60000 65536"/>
                <a:gd name="T9" fmla="*/ 0 w 25"/>
                <a:gd name="T10" fmla="*/ 0 h 14"/>
                <a:gd name="T11" fmla="*/ 25 w 25"/>
                <a:gd name="T12" fmla="*/ 14 h 14"/>
              </a:gdLst>
              <a:ahLst/>
              <a:cxnLst>
                <a:cxn ang="T6">
                  <a:pos x="T0" y="T1"/>
                </a:cxn>
                <a:cxn ang="T7">
                  <a:pos x="T2" y="T3"/>
                </a:cxn>
                <a:cxn ang="T8">
                  <a:pos x="T4" y="T5"/>
                </a:cxn>
              </a:cxnLst>
              <a:rect l="T9" t="T10" r="T11" b="T12"/>
              <a:pathLst>
                <a:path w="25" h="14">
                  <a:moveTo>
                    <a:pt x="4" y="7"/>
                  </a:moveTo>
                  <a:cubicBezTo>
                    <a:pt x="9" y="14"/>
                    <a:pt x="22" y="9"/>
                    <a:pt x="23" y="7"/>
                  </a:cubicBezTo>
                  <a:cubicBezTo>
                    <a:pt x="25" y="2"/>
                    <a:pt x="0" y="0"/>
                    <a:pt x="4" y="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7" name="Freeform 123"/>
            <p:cNvSpPr>
              <a:spLocks noEditPoints="1" noChangeArrowheads="1"/>
            </p:cNvSpPr>
            <p:nvPr/>
          </p:nvSpPr>
          <p:spPr bwMode="auto">
            <a:xfrm>
              <a:off x="2065345" y="-1"/>
              <a:ext cx="1322393" cy="985840"/>
            </a:xfrm>
            <a:custGeom>
              <a:avLst/>
              <a:gdLst>
                <a:gd name="T0" fmla="*/ 606 w 691"/>
                <a:gd name="T1" fmla="*/ 59 h 516"/>
                <a:gd name="T2" fmla="*/ 555 w 691"/>
                <a:gd name="T3" fmla="*/ 83 h 516"/>
                <a:gd name="T4" fmla="*/ 552 w 691"/>
                <a:gd name="T5" fmla="*/ 52 h 516"/>
                <a:gd name="T6" fmla="*/ 494 w 691"/>
                <a:gd name="T7" fmla="*/ 47 h 516"/>
                <a:gd name="T8" fmla="*/ 551 w 691"/>
                <a:gd name="T9" fmla="*/ 38 h 516"/>
                <a:gd name="T10" fmla="*/ 546 w 691"/>
                <a:gd name="T11" fmla="*/ 17 h 516"/>
                <a:gd name="T12" fmla="*/ 467 w 691"/>
                <a:gd name="T13" fmla="*/ 1 h 516"/>
                <a:gd name="T14" fmla="*/ 393 w 691"/>
                <a:gd name="T15" fmla="*/ 10 h 516"/>
                <a:gd name="T16" fmla="*/ 337 w 691"/>
                <a:gd name="T17" fmla="*/ 11 h 516"/>
                <a:gd name="T18" fmla="*/ 291 w 691"/>
                <a:gd name="T19" fmla="*/ 31 h 516"/>
                <a:gd name="T20" fmla="*/ 280 w 691"/>
                <a:gd name="T21" fmla="*/ 37 h 516"/>
                <a:gd name="T22" fmla="*/ 247 w 691"/>
                <a:gd name="T23" fmla="*/ 47 h 516"/>
                <a:gd name="T24" fmla="*/ 216 w 691"/>
                <a:gd name="T25" fmla="*/ 58 h 516"/>
                <a:gd name="T26" fmla="*/ 162 w 691"/>
                <a:gd name="T27" fmla="*/ 47 h 516"/>
                <a:gd name="T28" fmla="*/ 133 w 691"/>
                <a:gd name="T29" fmla="*/ 70 h 516"/>
                <a:gd name="T30" fmla="*/ 88 w 691"/>
                <a:gd name="T31" fmla="*/ 99 h 516"/>
                <a:gd name="T32" fmla="*/ 0 w 691"/>
                <a:gd name="T33" fmla="*/ 142 h 516"/>
                <a:gd name="T34" fmla="*/ 56 w 691"/>
                <a:gd name="T35" fmla="*/ 158 h 516"/>
                <a:gd name="T36" fmla="*/ 16 w 691"/>
                <a:gd name="T37" fmla="*/ 172 h 516"/>
                <a:gd name="T38" fmla="*/ 50 w 691"/>
                <a:gd name="T39" fmla="*/ 194 h 516"/>
                <a:gd name="T40" fmla="*/ 95 w 691"/>
                <a:gd name="T41" fmla="*/ 192 h 516"/>
                <a:gd name="T42" fmla="*/ 163 w 691"/>
                <a:gd name="T43" fmla="*/ 211 h 516"/>
                <a:gd name="T44" fmla="*/ 197 w 691"/>
                <a:gd name="T45" fmla="*/ 256 h 516"/>
                <a:gd name="T46" fmla="*/ 202 w 691"/>
                <a:gd name="T47" fmla="*/ 297 h 516"/>
                <a:gd name="T48" fmla="*/ 245 w 691"/>
                <a:gd name="T49" fmla="*/ 312 h 516"/>
                <a:gd name="T50" fmla="*/ 240 w 691"/>
                <a:gd name="T51" fmla="*/ 328 h 516"/>
                <a:gd name="T52" fmla="*/ 234 w 691"/>
                <a:gd name="T53" fmla="*/ 356 h 516"/>
                <a:gd name="T54" fmla="*/ 226 w 691"/>
                <a:gd name="T55" fmla="*/ 390 h 516"/>
                <a:gd name="T56" fmla="*/ 235 w 691"/>
                <a:gd name="T57" fmla="*/ 436 h 516"/>
                <a:gd name="T58" fmla="*/ 256 w 691"/>
                <a:gd name="T59" fmla="*/ 463 h 516"/>
                <a:gd name="T60" fmla="*/ 287 w 691"/>
                <a:gd name="T61" fmla="*/ 498 h 516"/>
                <a:gd name="T62" fmla="*/ 331 w 691"/>
                <a:gd name="T63" fmla="*/ 515 h 516"/>
                <a:gd name="T64" fmla="*/ 344 w 691"/>
                <a:gd name="T65" fmla="*/ 471 h 516"/>
                <a:gd name="T66" fmla="*/ 363 w 691"/>
                <a:gd name="T67" fmla="*/ 449 h 516"/>
                <a:gd name="T68" fmla="*/ 365 w 691"/>
                <a:gd name="T69" fmla="*/ 427 h 516"/>
                <a:gd name="T70" fmla="*/ 384 w 691"/>
                <a:gd name="T71" fmla="*/ 413 h 516"/>
                <a:gd name="T72" fmla="*/ 401 w 691"/>
                <a:gd name="T73" fmla="*/ 409 h 516"/>
                <a:gd name="T74" fmla="*/ 461 w 691"/>
                <a:gd name="T75" fmla="*/ 369 h 516"/>
                <a:gd name="T76" fmla="*/ 500 w 691"/>
                <a:gd name="T77" fmla="*/ 359 h 516"/>
                <a:gd name="T78" fmla="*/ 576 w 691"/>
                <a:gd name="T79" fmla="*/ 325 h 516"/>
                <a:gd name="T80" fmla="*/ 535 w 691"/>
                <a:gd name="T81" fmla="*/ 316 h 516"/>
                <a:gd name="T82" fmla="*/ 577 w 691"/>
                <a:gd name="T83" fmla="*/ 319 h 516"/>
                <a:gd name="T84" fmla="*/ 569 w 691"/>
                <a:gd name="T85" fmla="*/ 280 h 516"/>
                <a:gd name="T86" fmla="*/ 547 w 691"/>
                <a:gd name="T87" fmla="*/ 261 h 516"/>
                <a:gd name="T88" fmla="*/ 596 w 691"/>
                <a:gd name="T89" fmla="*/ 254 h 516"/>
                <a:gd name="T90" fmla="*/ 609 w 691"/>
                <a:gd name="T91" fmla="*/ 230 h 516"/>
                <a:gd name="T92" fmla="*/ 603 w 691"/>
                <a:gd name="T93" fmla="*/ 193 h 516"/>
                <a:gd name="T94" fmla="*/ 590 w 691"/>
                <a:gd name="T95" fmla="*/ 178 h 516"/>
                <a:gd name="T96" fmla="*/ 595 w 691"/>
                <a:gd name="T97" fmla="*/ 162 h 516"/>
                <a:gd name="T98" fmla="*/ 578 w 691"/>
                <a:gd name="T99" fmla="*/ 154 h 516"/>
                <a:gd name="T100" fmla="*/ 624 w 691"/>
                <a:gd name="T101" fmla="*/ 106 h 516"/>
                <a:gd name="T102" fmla="*/ 613 w 691"/>
                <a:gd name="T103" fmla="*/ 94 h 516"/>
                <a:gd name="T104" fmla="*/ 626 w 691"/>
                <a:gd name="T105" fmla="*/ 81 h 516"/>
                <a:gd name="T106" fmla="*/ 691 w 691"/>
                <a:gd name="T107" fmla="*/ 58 h 516"/>
                <a:gd name="T108" fmla="*/ 228 w 691"/>
                <a:gd name="T109" fmla="*/ 329 h 516"/>
                <a:gd name="T110" fmla="*/ 216 w 691"/>
                <a:gd name="T111" fmla="*/ 342 h 5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691"/>
                <a:gd name="T169" fmla="*/ 0 h 516"/>
                <a:gd name="T170" fmla="*/ 691 w 691"/>
                <a:gd name="T171" fmla="*/ 516 h 5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691" h="516">
                  <a:moveTo>
                    <a:pt x="652" y="47"/>
                  </a:moveTo>
                  <a:cubicBezTo>
                    <a:pt x="640" y="47"/>
                    <a:pt x="630" y="49"/>
                    <a:pt x="629" y="58"/>
                  </a:cubicBezTo>
                  <a:cubicBezTo>
                    <a:pt x="628" y="67"/>
                    <a:pt x="613" y="56"/>
                    <a:pt x="606" y="59"/>
                  </a:cubicBezTo>
                  <a:cubicBezTo>
                    <a:pt x="599" y="62"/>
                    <a:pt x="603" y="52"/>
                    <a:pt x="596" y="56"/>
                  </a:cubicBezTo>
                  <a:cubicBezTo>
                    <a:pt x="589" y="59"/>
                    <a:pt x="582" y="67"/>
                    <a:pt x="574" y="70"/>
                  </a:cubicBezTo>
                  <a:cubicBezTo>
                    <a:pt x="566" y="74"/>
                    <a:pt x="560" y="82"/>
                    <a:pt x="555" y="83"/>
                  </a:cubicBezTo>
                  <a:cubicBezTo>
                    <a:pt x="550" y="83"/>
                    <a:pt x="566" y="67"/>
                    <a:pt x="574" y="59"/>
                  </a:cubicBezTo>
                  <a:cubicBezTo>
                    <a:pt x="582" y="51"/>
                    <a:pt x="577" y="42"/>
                    <a:pt x="567" y="43"/>
                  </a:cubicBezTo>
                  <a:cubicBezTo>
                    <a:pt x="556" y="44"/>
                    <a:pt x="558" y="51"/>
                    <a:pt x="552" y="52"/>
                  </a:cubicBezTo>
                  <a:cubicBezTo>
                    <a:pt x="546" y="53"/>
                    <a:pt x="518" y="68"/>
                    <a:pt x="516" y="63"/>
                  </a:cubicBezTo>
                  <a:cubicBezTo>
                    <a:pt x="515" y="59"/>
                    <a:pt x="540" y="52"/>
                    <a:pt x="540" y="49"/>
                  </a:cubicBezTo>
                  <a:cubicBezTo>
                    <a:pt x="539" y="46"/>
                    <a:pt x="508" y="45"/>
                    <a:pt x="494" y="47"/>
                  </a:cubicBezTo>
                  <a:cubicBezTo>
                    <a:pt x="480" y="49"/>
                    <a:pt x="455" y="57"/>
                    <a:pt x="455" y="53"/>
                  </a:cubicBezTo>
                  <a:cubicBezTo>
                    <a:pt x="455" y="49"/>
                    <a:pt x="484" y="44"/>
                    <a:pt x="498" y="42"/>
                  </a:cubicBezTo>
                  <a:cubicBezTo>
                    <a:pt x="513" y="40"/>
                    <a:pt x="540" y="43"/>
                    <a:pt x="551" y="38"/>
                  </a:cubicBezTo>
                  <a:cubicBezTo>
                    <a:pt x="563" y="34"/>
                    <a:pt x="580" y="33"/>
                    <a:pt x="583" y="30"/>
                  </a:cubicBezTo>
                  <a:cubicBezTo>
                    <a:pt x="586" y="26"/>
                    <a:pt x="570" y="21"/>
                    <a:pt x="562" y="21"/>
                  </a:cubicBezTo>
                  <a:cubicBezTo>
                    <a:pt x="554" y="22"/>
                    <a:pt x="546" y="21"/>
                    <a:pt x="546" y="17"/>
                  </a:cubicBezTo>
                  <a:cubicBezTo>
                    <a:pt x="547" y="13"/>
                    <a:pt x="534" y="12"/>
                    <a:pt x="533" y="9"/>
                  </a:cubicBezTo>
                  <a:cubicBezTo>
                    <a:pt x="531" y="6"/>
                    <a:pt x="506" y="8"/>
                    <a:pt x="501" y="5"/>
                  </a:cubicBezTo>
                  <a:cubicBezTo>
                    <a:pt x="496" y="1"/>
                    <a:pt x="480" y="0"/>
                    <a:pt x="467" y="1"/>
                  </a:cubicBezTo>
                  <a:cubicBezTo>
                    <a:pt x="453" y="2"/>
                    <a:pt x="426" y="1"/>
                    <a:pt x="420" y="2"/>
                  </a:cubicBezTo>
                  <a:cubicBezTo>
                    <a:pt x="413" y="3"/>
                    <a:pt x="409" y="5"/>
                    <a:pt x="404" y="5"/>
                  </a:cubicBezTo>
                  <a:cubicBezTo>
                    <a:pt x="398" y="4"/>
                    <a:pt x="389" y="6"/>
                    <a:pt x="393" y="10"/>
                  </a:cubicBezTo>
                  <a:cubicBezTo>
                    <a:pt x="399" y="16"/>
                    <a:pt x="384" y="19"/>
                    <a:pt x="385" y="14"/>
                  </a:cubicBezTo>
                  <a:cubicBezTo>
                    <a:pt x="386" y="9"/>
                    <a:pt x="372" y="7"/>
                    <a:pt x="367" y="11"/>
                  </a:cubicBezTo>
                  <a:cubicBezTo>
                    <a:pt x="362" y="15"/>
                    <a:pt x="340" y="6"/>
                    <a:pt x="337" y="11"/>
                  </a:cubicBezTo>
                  <a:cubicBezTo>
                    <a:pt x="333" y="15"/>
                    <a:pt x="307" y="14"/>
                    <a:pt x="299" y="15"/>
                  </a:cubicBezTo>
                  <a:cubicBezTo>
                    <a:pt x="292" y="16"/>
                    <a:pt x="311" y="22"/>
                    <a:pt x="311" y="25"/>
                  </a:cubicBezTo>
                  <a:cubicBezTo>
                    <a:pt x="310" y="29"/>
                    <a:pt x="286" y="25"/>
                    <a:pt x="291" y="31"/>
                  </a:cubicBezTo>
                  <a:cubicBezTo>
                    <a:pt x="296" y="37"/>
                    <a:pt x="312" y="42"/>
                    <a:pt x="319" y="49"/>
                  </a:cubicBezTo>
                  <a:cubicBezTo>
                    <a:pt x="327" y="57"/>
                    <a:pt x="313" y="52"/>
                    <a:pt x="305" y="47"/>
                  </a:cubicBezTo>
                  <a:cubicBezTo>
                    <a:pt x="296" y="41"/>
                    <a:pt x="285" y="43"/>
                    <a:pt x="280" y="37"/>
                  </a:cubicBezTo>
                  <a:cubicBezTo>
                    <a:pt x="274" y="32"/>
                    <a:pt x="254" y="27"/>
                    <a:pt x="249" y="31"/>
                  </a:cubicBezTo>
                  <a:cubicBezTo>
                    <a:pt x="243" y="34"/>
                    <a:pt x="263" y="42"/>
                    <a:pt x="263" y="46"/>
                  </a:cubicBezTo>
                  <a:cubicBezTo>
                    <a:pt x="263" y="51"/>
                    <a:pt x="250" y="45"/>
                    <a:pt x="247" y="47"/>
                  </a:cubicBezTo>
                  <a:cubicBezTo>
                    <a:pt x="245" y="49"/>
                    <a:pt x="233" y="36"/>
                    <a:pt x="227" y="36"/>
                  </a:cubicBezTo>
                  <a:cubicBezTo>
                    <a:pt x="220" y="36"/>
                    <a:pt x="226" y="42"/>
                    <a:pt x="226" y="50"/>
                  </a:cubicBezTo>
                  <a:cubicBezTo>
                    <a:pt x="226" y="58"/>
                    <a:pt x="213" y="63"/>
                    <a:pt x="216" y="58"/>
                  </a:cubicBezTo>
                  <a:cubicBezTo>
                    <a:pt x="220" y="52"/>
                    <a:pt x="217" y="37"/>
                    <a:pt x="210" y="35"/>
                  </a:cubicBezTo>
                  <a:cubicBezTo>
                    <a:pt x="203" y="32"/>
                    <a:pt x="185" y="40"/>
                    <a:pt x="176" y="40"/>
                  </a:cubicBezTo>
                  <a:cubicBezTo>
                    <a:pt x="167" y="40"/>
                    <a:pt x="154" y="43"/>
                    <a:pt x="162" y="47"/>
                  </a:cubicBezTo>
                  <a:cubicBezTo>
                    <a:pt x="170" y="52"/>
                    <a:pt x="162" y="55"/>
                    <a:pt x="155" y="50"/>
                  </a:cubicBezTo>
                  <a:cubicBezTo>
                    <a:pt x="148" y="45"/>
                    <a:pt x="125" y="50"/>
                    <a:pt x="130" y="53"/>
                  </a:cubicBezTo>
                  <a:cubicBezTo>
                    <a:pt x="134" y="56"/>
                    <a:pt x="136" y="66"/>
                    <a:pt x="133" y="70"/>
                  </a:cubicBezTo>
                  <a:cubicBezTo>
                    <a:pt x="130" y="74"/>
                    <a:pt x="120" y="66"/>
                    <a:pt x="111" y="67"/>
                  </a:cubicBezTo>
                  <a:cubicBezTo>
                    <a:pt x="102" y="67"/>
                    <a:pt x="58" y="89"/>
                    <a:pt x="60" y="94"/>
                  </a:cubicBezTo>
                  <a:cubicBezTo>
                    <a:pt x="63" y="100"/>
                    <a:pt x="82" y="95"/>
                    <a:pt x="88" y="99"/>
                  </a:cubicBezTo>
                  <a:cubicBezTo>
                    <a:pt x="94" y="102"/>
                    <a:pt x="86" y="114"/>
                    <a:pt x="79" y="119"/>
                  </a:cubicBezTo>
                  <a:cubicBezTo>
                    <a:pt x="71" y="124"/>
                    <a:pt x="44" y="120"/>
                    <a:pt x="43" y="126"/>
                  </a:cubicBezTo>
                  <a:cubicBezTo>
                    <a:pt x="43" y="132"/>
                    <a:pt x="0" y="133"/>
                    <a:pt x="0" y="142"/>
                  </a:cubicBezTo>
                  <a:cubicBezTo>
                    <a:pt x="0" y="146"/>
                    <a:pt x="2" y="150"/>
                    <a:pt x="7" y="151"/>
                  </a:cubicBezTo>
                  <a:cubicBezTo>
                    <a:pt x="13" y="152"/>
                    <a:pt x="20" y="150"/>
                    <a:pt x="26" y="156"/>
                  </a:cubicBezTo>
                  <a:cubicBezTo>
                    <a:pt x="31" y="162"/>
                    <a:pt x="46" y="162"/>
                    <a:pt x="56" y="158"/>
                  </a:cubicBezTo>
                  <a:cubicBezTo>
                    <a:pt x="67" y="154"/>
                    <a:pt x="74" y="159"/>
                    <a:pt x="74" y="165"/>
                  </a:cubicBezTo>
                  <a:cubicBezTo>
                    <a:pt x="74" y="171"/>
                    <a:pt x="51" y="163"/>
                    <a:pt x="44" y="167"/>
                  </a:cubicBezTo>
                  <a:cubicBezTo>
                    <a:pt x="37" y="171"/>
                    <a:pt x="15" y="168"/>
                    <a:pt x="16" y="172"/>
                  </a:cubicBezTo>
                  <a:cubicBezTo>
                    <a:pt x="17" y="177"/>
                    <a:pt x="28" y="176"/>
                    <a:pt x="36" y="178"/>
                  </a:cubicBezTo>
                  <a:cubicBezTo>
                    <a:pt x="45" y="179"/>
                    <a:pt x="37" y="183"/>
                    <a:pt x="37" y="187"/>
                  </a:cubicBezTo>
                  <a:cubicBezTo>
                    <a:pt x="36" y="190"/>
                    <a:pt x="41" y="190"/>
                    <a:pt x="50" y="194"/>
                  </a:cubicBezTo>
                  <a:cubicBezTo>
                    <a:pt x="59" y="198"/>
                    <a:pt x="73" y="201"/>
                    <a:pt x="68" y="196"/>
                  </a:cubicBezTo>
                  <a:cubicBezTo>
                    <a:pt x="64" y="191"/>
                    <a:pt x="77" y="192"/>
                    <a:pt x="80" y="195"/>
                  </a:cubicBezTo>
                  <a:cubicBezTo>
                    <a:pt x="82" y="198"/>
                    <a:pt x="88" y="190"/>
                    <a:pt x="95" y="192"/>
                  </a:cubicBezTo>
                  <a:cubicBezTo>
                    <a:pt x="101" y="194"/>
                    <a:pt x="103" y="186"/>
                    <a:pt x="108" y="189"/>
                  </a:cubicBezTo>
                  <a:cubicBezTo>
                    <a:pt x="113" y="193"/>
                    <a:pt x="137" y="195"/>
                    <a:pt x="145" y="199"/>
                  </a:cubicBezTo>
                  <a:cubicBezTo>
                    <a:pt x="153" y="203"/>
                    <a:pt x="164" y="204"/>
                    <a:pt x="163" y="211"/>
                  </a:cubicBezTo>
                  <a:cubicBezTo>
                    <a:pt x="162" y="217"/>
                    <a:pt x="169" y="222"/>
                    <a:pt x="178" y="226"/>
                  </a:cubicBezTo>
                  <a:cubicBezTo>
                    <a:pt x="187" y="230"/>
                    <a:pt x="189" y="238"/>
                    <a:pt x="189" y="244"/>
                  </a:cubicBezTo>
                  <a:cubicBezTo>
                    <a:pt x="188" y="250"/>
                    <a:pt x="198" y="254"/>
                    <a:pt x="197" y="256"/>
                  </a:cubicBezTo>
                  <a:cubicBezTo>
                    <a:pt x="195" y="259"/>
                    <a:pt x="196" y="263"/>
                    <a:pt x="202" y="268"/>
                  </a:cubicBezTo>
                  <a:cubicBezTo>
                    <a:pt x="208" y="273"/>
                    <a:pt x="193" y="277"/>
                    <a:pt x="197" y="282"/>
                  </a:cubicBezTo>
                  <a:cubicBezTo>
                    <a:pt x="200" y="287"/>
                    <a:pt x="191" y="296"/>
                    <a:pt x="202" y="297"/>
                  </a:cubicBezTo>
                  <a:cubicBezTo>
                    <a:pt x="213" y="299"/>
                    <a:pt x="211" y="290"/>
                    <a:pt x="219" y="290"/>
                  </a:cubicBezTo>
                  <a:cubicBezTo>
                    <a:pt x="227" y="290"/>
                    <a:pt x="219" y="297"/>
                    <a:pt x="223" y="301"/>
                  </a:cubicBezTo>
                  <a:cubicBezTo>
                    <a:pt x="227" y="306"/>
                    <a:pt x="236" y="305"/>
                    <a:pt x="245" y="312"/>
                  </a:cubicBezTo>
                  <a:cubicBezTo>
                    <a:pt x="253" y="319"/>
                    <a:pt x="248" y="322"/>
                    <a:pt x="240" y="316"/>
                  </a:cubicBezTo>
                  <a:cubicBezTo>
                    <a:pt x="232" y="311"/>
                    <a:pt x="210" y="312"/>
                    <a:pt x="210" y="314"/>
                  </a:cubicBezTo>
                  <a:cubicBezTo>
                    <a:pt x="210" y="316"/>
                    <a:pt x="235" y="330"/>
                    <a:pt x="240" y="328"/>
                  </a:cubicBezTo>
                  <a:cubicBezTo>
                    <a:pt x="246" y="326"/>
                    <a:pt x="254" y="336"/>
                    <a:pt x="250" y="340"/>
                  </a:cubicBezTo>
                  <a:cubicBezTo>
                    <a:pt x="247" y="343"/>
                    <a:pt x="249" y="351"/>
                    <a:pt x="248" y="355"/>
                  </a:cubicBezTo>
                  <a:cubicBezTo>
                    <a:pt x="247" y="359"/>
                    <a:pt x="239" y="355"/>
                    <a:pt x="234" y="356"/>
                  </a:cubicBezTo>
                  <a:cubicBezTo>
                    <a:pt x="228" y="357"/>
                    <a:pt x="225" y="358"/>
                    <a:pt x="225" y="364"/>
                  </a:cubicBezTo>
                  <a:cubicBezTo>
                    <a:pt x="225" y="370"/>
                    <a:pt x="216" y="374"/>
                    <a:pt x="215" y="381"/>
                  </a:cubicBezTo>
                  <a:cubicBezTo>
                    <a:pt x="214" y="388"/>
                    <a:pt x="222" y="387"/>
                    <a:pt x="226" y="390"/>
                  </a:cubicBezTo>
                  <a:cubicBezTo>
                    <a:pt x="231" y="393"/>
                    <a:pt x="218" y="395"/>
                    <a:pt x="218" y="400"/>
                  </a:cubicBezTo>
                  <a:cubicBezTo>
                    <a:pt x="217" y="405"/>
                    <a:pt x="229" y="414"/>
                    <a:pt x="233" y="417"/>
                  </a:cubicBezTo>
                  <a:cubicBezTo>
                    <a:pt x="238" y="419"/>
                    <a:pt x="234" y="430"/>
                    <a:pt x="235" y="436"/>
                  </a:cubicBezTo>
                  <a:cubicBezTo>
                    <a:pt x="237" y="442"/>
                    <a:pt x="243" y="435"/>
                    <a:pt x="242" y="442"/>
                  </a:cubicBezTo>
                  <a:cubicBezTo>
                    <a:pt x="241" y="449"/>
                    <a:pt x="247" y="449"/>
                    <a:pt x="248" y="453"/>
                  </a:cubicBezTo>
                  <a:cubicBezTo>
                    <a:pt x="248" y="458"/>
                    <a:pt x="258" y="457"/>
                    <a:pt x="256" y="463"/>
                  </a:cubicBezTo>
                  <a:cubicBezTo>
                    <a:pt x="254" y="469"/>
                    <a:pt x="259" y="473"/>
                    <a:pt x="262" y="477"/>
                  </a:cubicBezTo>
                  <a:cubicBezTo>
                    <a:pt x="264" y="480"/>
                    <a:pt x="273" y="486"/>
                    <a:pt x="274" y="490"/>
                  </a:cubicBezTo>
                  <a:cubicBezTo>
                    <a:pt x="276" y="494"/>
                    <a:pt x="281" y="500"/>
                    <a:pt x="287" y="498"/>
                  </a:cubicBezTo>
                  <a:cubicBezTo>
                    <a:pt x="293" y="497"/>
                    <a:pt x="293" y="502"/>
                    <a:pt x="298" y="502"/>
                  </a:cubicBezTo>
                  <a:cubicBezTo>
                    <a:pt x="303" y="501"/>
                    <a:pt x="310" y="504"/>
                    <a:pt x="311" y="507"/>
                  </a:cubicBezTo>
                  <a:cubicBezTo>
                    <a:pt x="313" y="511"/>
                    <a:pt x="327" y="514"/>
                    <a:pt x="331" y="515"/>
                  </a:cubicBezTo>
                  <a:cubicBezTo>
                    <a:pt x="335" y="516"/>
                    <a:pt x="336" y="508"/>
                    <a:pt x="339" y="506"/>
                  </a:cubicBezTo>
                  <a:cubicBezTo>
                    <a:pt x="343" y="504"/>
                    <a:pt x="342" y="490"/>
                    <a:pt x="345" y="489"/>
                  </a:cubicBezTo>
                  <a:cubicBezTo>
                    <a:pt x="348" y="488"/>
                    <a:pt x="347" y="472"/>
                    <a:pt x="344" y="471"/>
                  </a:cubicBezTo>
                  <a:cubicBezTo>
                    <a:pt x="341" y="470"/>
                    <a:pt x="342" y="464"/>
                    <a:pt x="350" y="465"/>
                  </a:cubicBezTo>
                  <a:cubicBezTo>
                    <a:pt x="357" y="466"/>
                    <a:pt x="355" y="459"/>
                    <a:pt x="358" y="458"/>
                  </a:cubicBezTo>
                  <a:cubicBezTo>
                    <a:pt x="362" y="457"/>
                    <a:pt x="360" y="450"/>
                    <a:pt x="363" y="449"/>
                  </a:cubicBezTo>
                  <a:cubicBezTo>
                    <a:pt x="366" y="448"/>
                    <a:pt x="365" y="444"/>
                    <a:pt x="363" y="441"/>
                  </a:cubicBezTo>
                  <a:cubicBezTo>
                    <a:pt x="361" y="438"/>
                    <a:pt x="364" y="436"/>
                    <a:pt x="368" y="436"/>
                  </a:cubicBezTo>
                  <a:cubicBezTo>
                    <a:pt x="372" y="435"/>
                    <a:pt x="371" y="429"/>
                    <a:pt x="365" y="427"/>
                  </a:cubicBezTo>
                  <a:cubicBezTo>
                    <a:pt x="360" y="425"/>
                    <a:pt x="362" y="419"/>
                    <a:pt x="367" y="423"/>
                  </a:cubicBezTo>
                  <a:cubicBezTo>
                    <a:pt x="372" y="427"/>
                    <a:pt x="376" y="424"/>
                    <a:pt x="373" y="420"/>
                  </a:cubicBezTo>
                  <a:cubicBezTo>
                    <a:pt x="370" y="416"/>
                    <a:pt x="377" y="414"/>
                    <a:pt x="384" y="413"/>
                  </a:cubicBezTo>
                  <a:cubicBezTo>
                    <a:pt x="391" y="413"/>
                    <a:pt x="395" y="409"/>
                    <a:pt x="393" y="404"/>
                  </a:cubicBezTo>
                  <a:cubicBezTo>
                    <a:pt x="392" y="398"/>
                    <a:pt x="401" y="399"/>
                    <a:pt x="399" y="403"/>
                  </a:cubicBezTo>
                  <a:cubicBezTo>
                    <a:pt x="397" y="408"/>
                    <a:pt x="398" y="413"/>
                    <a:pt x="401" y="409"/>
                  </a:cubicBezTo>
                  <a:cubicBezTo>
                    <a:pt x="405" y="406"/>
                    <a:pt x="411" y="408"/>
                    <a:pt x="422" y="405"/>
                  </a:cubicBezTo>
                  <a:cubicBezTo>
                    <a:pt x="434" y="402"/>
                    <a:pt x="445" y="392"/>
                    <a:pt x="447" y="383"/>
                  </a:cubicBezTo>
                  <a:cubicBezTo>
                    <a:pt x="450" y="374"/>
                    <a:pt x="463" y="375"/>
                    <a:pt x="461" y="369"/>
                  </a:cubicBezTo>
                  <a:cubicBezTo>
                    <a:pt x="460" y="363"/>
                    <a:pt x="464" y="361"/>
                    <a:pt x="472" y="365"/>
                  </a:cubicBezTo>
                  <a:cubicBezTo>
                    <a:pt x="480" y="369"/>
                    <a:pt x="474" y="362"/>
                    <a:pt x="483" y="362"/>
                  </a:cubicBezTo>
                  <a:cubicBezTo>
                    <a:pt x="492" y="362"/>
                    <a:pt x="491" y="359"/>
                    <a:pt x="500" y="359"/>
                  </a:cubicBezTo>
                  <a:cubicBezTo>
                    <a:pt x="509" y="358"/>
                    <a:pt x="532" y="354"/>
                    <a:pt x="540" y="348"/>
                  </a:cubicBezTo>
                  <a:cubicBezTo>
                    <a:pt x="548" y="341"/>
                    <a:pt x="565" y="335"/>
                    <a:pt x="572" y="331"/>
                  </a:cubicBezTo>
                  <a:cubicBezTo>
                    <a:pt x="579" y="327"/>
                    <a:pt x="581" y="323"/>
                    <a:pt x="576" y="325"/>
                  </a:cubicBezTo>
                  <a:cubicBezTo>
                    <a:pt x="572" y="328"/>
                    <a:pt x="563" y="328"/>
                    <a:pt x="556" y="326"/>
                  </a:cubicBezTo>
                  <a:cubicBezTo>
                    <a:pt x="550" y="325"/>
                    <a:pt x="539" y="319"/>
                    <a:pt x="531" y="323"/>
                  </a:cubicBezTo>
                  <a:cubicBezTo>
                    <a:pt x="524" y="328"/>
                    <a:pt x="528" y="317"/>
                    <a:pt x="535" y="316"/>
                  </a:cubicBezTo>
                  <a:cubicBezTo>
                    <a:pt x="541" y="315"/>
                    <a:pt x="538" y="312"/>
                    <a:pt x="537" y="305"/>
                  </a:cubicBezTo>
                  <a:cubicBezTo>
                    <a:pt x="535" y="299"/>
                    <a:pt x="547" y="303"/>
                    <a:pt x="553" y="311"/>
                  </a:cubicBezTo>
                  <a:cubicBezTo>
                    <a:pt x="558" y="318"/>
                    <a:pt x="568" y="322"/>
                    <a:pt x="577" y="319"/>
                  </a:cubicBezTo>
                  <a:cubicBezTo>
                    <a:pt x="586" y="316"/>
                    <a:pt x="578" y="309"/>
                    <a:pt x="581" y="304"/>
                  </a:cubicBezTo>
                  <a:cubicBezTo>
                    <a:pt x="585" y="299"/>
                    <a:pt x="554" y="283"/>
                    <a:pt x="552" y="278"/>
                  </a:cubicBezTo>
                  <a:cubicBezTo>
                    <a:pt x="550" y="273"/>
                    <a:pt x="560" y="276"/>
                    <a:pt x="569" y="280"/>
                  </a:cubicBezTo>
                  <a:cubicBezTo>
                    <a:pt x="577" y="284"/>
                    <a:pt x="579" y="273"/>
                    <a:pt x="579" y="268"/>
                  </a:cubicBezTo>
                  <a:cubicBezTo>
                    <a:pt x="579" y="264"/>
                    <a:pt x="561" y="263"/>
                    <a:pt x="552" y="268"/>
                  </a:cubicBezTo>
                  <a:cubicBezTo>
                    <a:pt x="544" y="273"/>
                    <a:pt x="536" y="262"/>
                    <a:pt x="547" y="261"/>
                  </a:cubicBezTo>
                  <a:cubicBezTo>
                    <a:pt x="559" y="259"/>
                    <a:pt x="548" y="255"/>
                    <a:pt x="552" y="251"/>
                  </a:cubicBezTo>
                  <a:cubicBezTo>
                    <a:pt x="555" y="248"/>
                    <a:pt x="569" y="261"/>
                    <a:pt x="577" y="259"/>
                  </a:cubicBezTo>
                  <a:cubicBezTo>
                    <a:pt x="584" y="256"/>
                    <a:pt x="589" y="259"/>
                    <a:pt x="596" y="254"/>
                  </a:cubicBezTo>
                  <a:cubicBezTo>
                    <a:pt x="602" y="249"/>
                    <a:pt x="584" y="244"/>
                    <a:pt x="581" y="240"/>
                  </a:cubicBezTo>
                  <a:cubicBezTo>
                    <a:pt x="577" y="236"/>
                    <a:pt x="599" y="237"/>
                    <a:pt x="606" y="238"/>
                  </a:cubicBezTo>
                  <a:cubicBezTo>
                    <a:pt x="612" y="238"/>
                    <a:pt x="614" y="228"/>
                    <a:pt x="609" y="230"/>
                  </a:cubicBezTo>
                  <a:cubicBezTo>
                    <a:pt x="603" y="232"/>
                    <a:pt x="584" y="223"/>
                    <a:pt x="588" y="217"/>
                  </a:cubicBezTo>
                  <a:cubicBezTo>
                    <a:pt x="592" y="211"/>
                    <a:pt x="600" y="218"/>
                    <a:pt x="608" y="214"/>
                  </a:cubicBezTo>
                  <a:cubicBezTo>
                    <a:pt x="616" y="210"/>
                    <a:pt x="609" y="193"/>
                    <a:pt x="603" y="193"/>
                  </a:cubicBezTo>
                  <a:cubicBezTo>
                    <a:pt x="597" y="193"/>
                    <a:pt x="583" y="191"/>
                    <a:pt x="583" y="188"/>
                  </a:cubicBezTo>
                  <a:cubicBezTo>
                    <a:pt x="583" y="185"/>
                    <a:pt x="571" y="183"/>
                    <a:pt x="574" y="180"/>
                  </a:cubicBezTo>
                  <a:cubicBezTo>
                    <a:pt x="578" y="177"/>
                    <a:pt x="582" y="183"/>
                    <a:pt x="590" y="178"/>
                  </a:cubicBezTo>
                  <a:cubicBezTo>
                    <a:pt x="597" y="172"/>
                    <a:pt x="613" y="179"/>
                    <a:pt x="620" y="178"/>
                  </a:cubicBezTo>
                  <a:cubicBezTo>
                    <a:pt x="627" y="176"/>
                    <a:pt x="617" y="163"/>
                    <a:pt x="613" y="166"/>
                  </a:cubicBezTo>
                  <a:cubicBezTo>
                    <a:pt x="609" y="168"/>
                    <a:pt x="596" y="169"/>
                    <a:pt x="595" y="162"/>
                  </a:cubicBezTo>
                  <a:cubicBezTo>
                    <a:pt x="594" y="155"/>
                    <a:pt x="608" y="162"/>
                    <a:pt x="610" y="158"/>
                  </a:cubicBezTo>
                  <a:cubicBezTo>
                    <a:pt x="612" y="155"/>
                    <a:pt x="591" y="146"/>
                    <a:pt x="587" y="153"/>
                  </a:cubicBezTo>
                  <a:cubicBezTo>
                    <a:pt x="584" y="160"/>
                    <a:pt x="572" y="158"/>
                    <a:pt x="578" y="154"/>
                  </a:cubicBezTo>
                  <a:cubicBezTo>
                    <a:pt x="585" y="150"/>
                    <a:pt x="586" y="139"/>
                    <a:pt x="585" y="133"/>
                  </a:cubicBezTo>
                  <a:cubicBezTo>
                    <a:pt x="585" y="127"/>
                    <a:pt x="608" y="127"/>
                    <a:pt x="605" y="118"/>
                  </a:cubicBezTo>
                  <a:cubicBezTo>
                    <a:pt x="603" y="108"/>
                    <a:pt x="616" y="106"/>
                    <a:pt x="624" y="106"/>
                  </a:cubicBezTo>
                  <a:cubicBezTo>
                    <a:pt x="632" y="106"/>
                    <a:pt x="624" y="96"/>
                    <a:pt x="616" y="97"/>
                  </a:cubicBezTo>
                  <a:cubicBezTo>
                    <a:pt x="609" y="98"/>
                    <a:pt x="601" y="107"/>
                    <a:pt x="598" y="103"/>
                  </a:cubicBezTo>
                  <a:cubicBezTo>
                    <a:pt x="594" y="100"/>
                    <a:pt x="606" y="94"/>
                    <a:pt x="613" y="94"/>
                  </a:cubicBezTo>
                  <a:cubicBezTo>
                    <a:pt x="620" y="94"/>
                    <a:pt x="636" y="93"/>
                    <a:pt x="641" y="90"/>
                  </a:cubicBezTo>
                  <a:cubicBezTo>
                    <a:pt x="647" y="87"/>
                    <a:pt x="631" y="84"/>
                    <a:pt x="621" y="85"/>
                  </a:cubicBezTo>
                  <a:cubicBezTo>
                    <a:pt x="610" y="86"/>
                    <a:pt x="610" y="82"/>
                    <a:pt x="626" y="81"/>
                  </a:cubicBezTo>
                  <a:cubicBezTo>
                    <a:pt x="642" y="81"/>
                    <a:pt x="639" y="78"/>
                    <a:pt x="651" y="76"/>
                  </a:cubicBezTo>
                  <a:cubicBezTo>
                    <a:pt x="662" y="75"/>
                    <a:pt x="658" y="70"/>
                    <a:pt x="665" y="70"/>
                  </a:cubicBezTo>
                  <a:cubicBezTo>
                    <a:pt x="672" y="70"/>
                    <a:pt x="691" y="62"/>
                    <a:pt x="691" y="58"/>
                  </a:cubicBezTo>
                  <a:cubicBezTo>
                    <a:pt x="691" y="55"/>
                    <a:pt x="664" y="47"/>
                    <a:pt x="652" y="47"/>
                  </a:cubicBezTo>
                  <a:close/>
                  <a:moveTo>
                    <a:pt x="237" y="338"/>
                  </a:moveTo>
                  <a:cubicBezTo>
                    <a:pt x="237" y="332"/>
                    <a:pt x="231" y="336"/>
                    <a:pt x="228" y="329"/>
                  </a:cubicBezTo>
                  <a:cubicBezTo>
                    <a:pt x="224" y="323"/>
                    <a:pt x="207" y="320"/>
                    <a:pt x="206" y="325"/>
                  </a:cubicBezTo>
                  <a:cubicBezTo>
                    <a:pt x="205" y="327"/>
                    <a:pt x="200" y="330"/>
                    <a:pt x="204" y="335"/>
                  </a:cubicBezTo>
                  <a:cubicBezTo>
                    <a:pt x="208" y="340"/>
                    <a:pt x="211" y="338"/>
                    <a:pt x="216" y="342"/>
                  </a:cubicBezTo>
                  <a:cubicBezTo>
                    <a:pt x="221" y="347"/>
                    <a:pt x="236" y="343"/>
                    <a:pt x="237" y="33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8" name="Freeform 124"/>
            <p:cNvSpPr>
              <a:spLocks noEditPoints="1" noChangeArrowheads="1"/>
            </p:cNvSpPr>
            <p:nvPr/>
          </p:nvSpPr>
          <p:spPr bwMode="auto">
            <a:xfrm>
              <a:off x="584202" y="17461"/>
              <a:ext cx="1920882" cy="1477966"/>
            </a:xfrm>
            <a:custGeom>
              <a:avLst/>
              <a:gdLst>
                <a:gd name="T0" fmla="*/ 205 w 1005"/>
                <a:gd name="T1" fmla="*/ 683 h 774"/>
                <a:gd name="T2" fmla="*/ 189 w 1005"/>
                <a:gd name="T3" fmla="*/ 227 h 774"/>
                <a:gd name="T4" fmla="*/ 387 w 1005"/>
                <a:gd name="T5" fmla="*/ 251 h 774"/>
                <a:gd name="T6" fmla="*/ 257 w 1005"/>
                <a:gd name="T7" fmla="*/ 269 h 774"/>
                <a:gd name="T8" fmla="*/ 386 w 1005"/>
                <a:gd name="T9" fmla="*/ 334 h 774"/>
                <a:gd name="T10" fmla="*/ 237 w 1005"/>
                <a:gd name="T11" fmla="*/ 194 h 774"/>
                <a:gd name="T12" fmla="*/ 208 w 1005"/>
                <a:gd name="T13" fmla="*/ 185 h 774"/>
                <a:gd name="T14" fmla="*/ 369 w 1005"/>
                <a:gd name="T15" fmla="*/ 213 h 774"/>
                <a:gd name="T16" fmla="*/ 297 w 1005"/>
                <a:gd name="T17" fmla="*/ 144 h 774"/>
                <a:gd name="T18" fmla="*/ 413 w 1005"/>
                <a:gd name="T19" fmla="*/ 119 h 774"/>
                <a:gd name="T20" fmla="*/ 416 w 1005"/>
                <a:gd name="T21" fmla="*/ 161 h 774"/>
                <a:gd name="T22" fmla="*/ 420 w 1005"/>
                <a:gd name="T23" fmla="*/ 185 h 774"/>
                <a:gd name="T24" fmla="*/ 543 w 1005"/>
                <a:gd name="T25" fmla="*/ 147 h 774"/>
                <a:gd name="T26" fmla="*/ 492 w 1005"/>
                <a:gd name="T27" fmla="*/ 232 h 774"/>
                <a:gd name="T28" fmla="*/ 687 w 1005"/>
                <a:gd name="T29" fmla="*/ 220 h 774"/>
                <a:gd name="T30" fmla="*/ 580 w 1005"/>
                <a:gd name="T31" fmla="*/ 151 h 774"/>
                <a:gd name="T32" fmla="*/ 598 w 1005"/>
                <a:gd name="T33" fmla="*/ 83 h 774"/>
                <a:gd name="T34" fmla="*/ 587 w 1005"/>
                <a:gd name="T35" fmla="*/ 66 h 774"/>
                <a:gd name="T36" fmla="*/ 634 w 1005"/>
                <a:gd name="T37" fmla="*/ 120 h 774"/>
                <a:gd name="T38" fmla="*/ 698 w 1005"/>
                <a:gd name="T39" fmla="*/ 180 h 774"/>
                <a:gd name="T40" fmla="*/ 795 w 1005"/>
                <a:gd name="T41" fmla="*/ 87 h 774"/>
                <a:gd name="T42" fmla="*/ 760 w 1005"/>
                <a:gd name="T43" fmla="*/ 9 h 774"/>
                <a:gd name="T44" fmla="*/ 569 w 1005"/>
                <a:gd name="T45" fmla="*/ 46 h 774"/>
                <a:gd name="T46" fmla="*/ 624 w 1005"/>
                <a:gd name="T47" fmla="*/ 440 h 774"/>
                <a:gd name="T48" fmla="*/ 827 w 1005"/>
                <a:gd name="T49" fmla="*/ 340 h 774"/>
                <a:gd name="T50" fmla="*/ 746 w 1005"/>
                <a:gd name="T51" fmla="*/ 272 h 774"/>
                <a:gd name="T52" fmla="*/ 624 w 1005"/>
                <a:gd name="T53" fmla="*/ 250 h 774"/>
                <a:gd name="T54" fmla="*/ 704 w 1005"/>
                <a:gd name="T55" fmla="*/ 309 h 774"/>
                <a:gd name="T56" fmla="*/ 736 w 1005"/>
                <a:gd name="T57" fmla="*/ 409 h 774"/>
                <a:gd name="T58" fmla="*/ 850 w 1005"/>
                <a:gd name="T59" fmla="*/ 419 h 774"/>
                <a:gd name="T60" fmla="*/ 682 w 1005"/>
                <a:gd name="T61" fmla="*/ 241 h 774"/>
                <a:gd name="T62" fmla="*/ 963 w 1005"/>
                <a:gd name="T63" fmla="*/ 641 h 774"/>
                <a:gd name="T64" fmla="*/ 110 w 1005"/>
                <a:gd name="T65" fmla="*/ 629 h 774"/>
                <a:gd name="T66" fmla="*/ 821 w 1005"/>
                <a:gd name="T67" fmla="*/ 686 h 774"/>
                <a:gd name="T68" fmla="*/ 963 w 1005"/>
                <a:gd name="T69" fmla="*/ 609 h 774"/>
                <a:gd name="T70" fmla="*/ 895 w 1005"/>
                <a:gd name="T71" fmla="*/ 560 h 774"/>
                <a:gd name="T72" fmla="*/ 844 w 1005"/>
                <a:gd name="T73" fmla="*/ 528 h 774"/>
                <a:gd name="T74" fmla="*/ 763 w 1005"/>
                <a:gd name="T75" fmla="*/ 463 h 774"/>
                <a:gd name="T76" fmla="*/ 727 w 1005"/>
                <a:gd name="T77" fmla="*/ 543 h 774"/>
                <a:gd name="T78" fmla="*/ 666 w 1005"/>
                <a:gd name="T79" fmla="*/ 617 h 774"/>
                <a:gd name="T80" fmla="*/ 538 w 1005"/>
                <a:gd name="T81" fmla="*/ 525 h 774"/>
                <a:gd name="T82" fmla="*/ 579 w 1005"/>
                <a:gd name="T83" fmla="*/ 430 h 774"/>
                <a:gd name="T84" fmla="*/ 649 w 1005"/>
                <a:gd name="T85" fmla="*/ 387 h 774"/>
                <a:gd name="T86" fmla="*/ 636 w 1005"/>
                <a:gd name="T87" fmla="*/ 339 h 774"/>
                <a:gd name="T88" fmla="*/ 580 w 1005"/>
                <a:gd name="T89" fmla="*/ 343 h 774"/>
                <a:gd name="T90" fmla="*/ 537 w 1005"/>
                <a:gd name="T91" fmla="*/ 271 h 774"/>
                <a:gd name="T92" fmla="*/ 518 w 1005"/>
                <a:gd name="T93" fmla="*/ 292 h 774"/>
                <a:gd name="T94" fmla="*/ 508 w 1005"/>
                <a:gd name="T95" fmla="*/ 364 h 774"/>
                <a:gd name="T96" fmla="*/ 492 w 1005"/>
                <a:gd name="T97" fmla="*/ 348 h 774"/>
                <a:gd name="T98" fmla="*/ 399 w 1005"/>
                <a:gd name="T99" fmla="*/ 348 h 774"/>
                <a:gd name="T100" fmla="*/ 268 w 1005"/>
                <a:gd name="T101" fmla="*/ 339 h 774"/>
                <a:gd name="T102" fmla="*/ 97 w 1005"/>
                <a:gd name="T103" fmla="*/ 340 h 774"/>
                <a:gd name="T104" fmla="*/ 47 w 1005"/>
                <a:gd name="T105" fmla="*/ 341 h 774"/>
                <a:gd name="T106" fmla="*/ 127 w 1005"/>
                <a:gd name="T107" fmla="*/ 588 h 774"/>
                <a:gd name="T108" fmla="*/ 182 w 1005"/>
                <a:gd name="T109" fmla="*/ 658 h 774"/>
                <a:gd name="T110" fmla="*/ 623 w 1005"/>
                <a:gd name="T111" fmla="*/ 689 h 774"/>
                <a:gd name="T112" fmla="*/ 701 w 1005"/>
                <a:gd name="T113" fmla="*/ 766 h 774"/>
                <a:gd name="T114" fmla="*/ 866 w 1005"/>
                <a:gd name="T115" fmla="*/ 722 h 774"/>
                <a:gd name="T116" fmla="*/ 243 w 1005"/>
                <a:gd name="T117" fmla="*/ 407 h 774"/>
                <a:gd name="T118" fmla="*/ 241 w 1005"/>
                <a:gd name="T119" fmla="*/ 392 h 774"/>
                <a:gd name="T120" fmla="*/ 503 w 1005"/>
                <a:gd name="T121" fmla="*/ 656 h 7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005"/>
                <a:gd name="T184" fmla="*/ 0 h 774"/>
                <a:gd name="T185" fmla="*/ 1005 w 1005"/>
                <a:gd name="T186" fmla="*/ 774 h 77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005" h="774">
                  <a:moveTo>
                    <a:pt x="198" y="678"/>
                  </a:moveTo>
                  <a:cubicBezTo>
                    <a:pt x="195" y="675"/>
                    <a:pt x="187" y="676"/>
                    <a:pt x="185" y="672"/>
                  </a:cubicBezTo>
                  <a:cubicBezTo>
                    <a:pt x="184" y="669"/>
                    <a:pt x="176" y="657"/>
                    <a:pt x="172" y="658"/>
                  </a:cubicBezTo>
                  <a:cubicBezTo>
                    <a:pt x="168" y="658"/>
                    <a:pt x="162" y="658"/>
                    <a:pt x="157" y="654"/>
                  </a:cubicBezTo>
                  <a:cubicBezTo>
                    <a:pt x="152" y="651"/>
                    <a:pt x="149" y="650"/>
                    <a:pt x="146" y="653"/>
                  </a:cubicBezTo>
                  <a:cubicBezTo>
                    <a:pt x="142" y="655"/>
                    <a:pt x="149" y="655"/>
                    <a:pt x="149" y="658"/>
                  </a:cubicBezTo>
                  <a:cubicBezTo>
                    <a:pt x="149" y="660"/>
                    <a:pt x="151" y="662"/>
                    <a:pt x="154" y="661"/>
                  </a:cubicBezTo>
                  <a:cubicBezTo>
                    <a:pt x="157" y="661"/>
                    <a:pt x="159" y="667"/>
                    <a:pt x="162" y="667"/>
                  </a:cubicBezTo>
                  <a:cubicBezTo>
                    <a:pt x="165" y="668"/>
                    <a:pt x="166" y="672"/>
                    <a:pt x="170" y="672"/>
                  </a:cubicBezTo>
                  <a:cubicBezTo>
                    <a:pt x="173" y="672"/>
                    <a:pt x="174" y="676"/>
                    <a:pt x="176" y="679"/>
                  </a:cubicBezTo>
                  <a:cubicBezTo>
                    <a:pt x="177" y="681"/>
                    <a:pt x="181" y="679"/>
                    <a:pt x="181" y="681"/>
                  </a:cubicBezTo>
                  <a:cubicBezTo>
                    <a:pt x="181" y="683"/>
                    <a:pt x="185" y="685"/>
                    <a:pt x="186" y="687"/>
                  </a:cubicBezTo>
                  <a:cubicBezTo>
                    <a:pt x="193" y="688"/>
                    <a:pt x="199" y="689"/>
                    <a:pt x="204" y="687"/>
                  </a:cubicBezTo>
                  <a:cubicBezTo>
                    <a:pt x="204" y="686"/>
                    <a:pt x="205" y="684"/>
                    <a:pt x="205" y="683"/>
                  </a:cubicBezTo>
                  <a:cubicBezTo>
                    <a:pt x="207" y="680"/>
                    <a:pt x="202" y="682"/>
                    <a:pt x="198" y="678"/>
                  </a:cubicBezTo>
                  <a:close/>
                  <a:moveTo>
                    <a:pt x="190" y="281"/>
                  </a:moveTo>
                  <a:cubicBezTo>
                    <a:pt x="199" y="283"/>
                    <a:pt x="200" y="299"/>
                    <a:pt x="206" y="299"/>
                  </a:cubicBezTo>
                  <a:cubicBezTo>
                    <a:pt x="210" y="299"/>
                    <a:pt x="207" y="294"/>
                    <a:pt x="213" y="294"/>
                  </a:cubicBezTo>
                  <a:cubicBezTo>
                    <a:pt x="220" y="294"/>
                    <a:pt x="218" y="291"/>
                    <a:pt x="224" y="291"/>
                  </a:cubicBezTo>
                  <a:cubicBezTo>
                    <a:pt x="230" y="292"/>
                    <a:pt x="235" y="290"/>
                    <a:pt x="235" y="283"/>
                  </a:cubicBezTo>
                  <a:cubicBezTo>
                    <a:pt x="235" y="276"/>
                    <a:pt x="240" y="273"/>
                    <a:pt x="246" y="272"/>
                  </a:cubicBezTo>
                  <a:cubicBezTo>
                    <a:pt x="252" y="270"/>
                    <a:pt x="246" y="263"/>
                    <a:pt x="255" y="261"/>
                  </a:cubicBezTo>
                  <a:cubicBezTo>
                    <a:pt x="263" y="259"/>
                    <a:pt x="287" y="249"/>
                    <a:pt x="291" y="246"/>
                  </a:cubicBezTo>
                  <a:cubicBezTo>
                    <a:pt x="295" y="243"/>
                    <a:pt x="286" y="239"/>
                    <a:pt x="277" y="233"/>
                  </a:cubicBezTo>
                  <a:cubicBezTo>
                    <a:pt x="268" y="228"/>
                    <a:pt x="261" y="226"/>
                    <a:pt x="254" y="231"/>
                  </a:cubicBezTo>
                  <a:cubicBezTo>
                    <a:pt x="247" y="235"/>
                    <a:pt x="252" y="226"/>
                    <a:pt x="247" y="228"/>
                  </a:cubicBezTo>
                  <a:cubicBezTo>
                    <a:pt x="241" y="231"/>
                    <a:pt x="226" y="224"/>
                    <a:pt x="224" y="222"/>
                  </a:cubicBezTo>
                  <a:cubicBezTo>
                    <a:pt x="222" y="219"/>
                    <a:pt x="195" y="227"/>
                    <a:pt x="189" y="227"/>
                  </a:cubicBezTo>
                  <a:cubicBezTo>
                    <a:pt x="182" y="227"/>
                    <a:pt x="189" y="234"/>
                    <a:pt x="194" y="238"/>
                  </a:cubicBezTo>
                  <a:cubicBezTo>
                    <a:pt x="198" y="241"/>
                    <a:pt x="183" y="252"/>
                    <a:pt x="186" y="255"/>
                  </a:cubicBezTo>
                  <a:cubicBezTo>
                    <a:pt x="189" y="257"/>
                    <a:pt x="183" y="264"/>
                    <a:pt x="176" y="272"/>
                  </a:cubicBezTo>
                  <a:cubicBezTo>
                    <a:pt x="169" y="280"/>
                    <a:pt x="181" y="279"/>
                    <a:pt x="190" y="281"/>
                  </a:cubicBezTo>
                  <a:close/>
                  <a:moveTo>
                    <a:pt x="440" y="322"/>
                  </a:moveTo>
                  <a:cubicBezTo>
                    <a:pt x="443" y="319"/>
                    <a:pt x="455" y="329"/>
                    <a:pt x="456" y="322"/>
                  </a:cubicBezTo>
                  <a:cubicBezTo>
                    <a:pt x="456" y="314"/>
                    <a:pt x="442" y="311"/>
                    <a:pt x="436" y="307"/>
                  </a:cubicBezTo>
                  <a:cubicBezTo>
                    <a:pt x="430" y="303"/>
                    <a:pt x="427" y="305"/>
                    <a:pt x="418" y="298"/>
                  </a:cubicBezTo>
                  <a:cubicBezTo>
                    <a:pt x="408" y="291"/>
                    <a:pt x="420" y="287"/>
                    <a:pt x="413" y="282"/>
                  </a:cubicBezTo>
                  <a:cubicBezTo>
                    <a:pt x="406" y="276"/>
                    <a:pt x="404" y="261"/>
                    <a:pt x="409" y="256"/>
                  </a:cubicBezTo>
                  <a:cubicBezTo>
                    <a:pt x="414" y="251"/>
                    <a:pt x="419" y="244"/>
                    <a:pt x="410" y="240"/>
                  </a:cubicBezTo>
                  <a:cubicBezTo>
                    <a:pt x="401" y="237"/>
                    <a:pt x="387" y="243"/>
                    <a:pt x="388" y="245"/>
                  </a:cubicBezTo>
                  <a:cubicBezTo>
                    <a:pt x="390" y="247"/>
                    <a:pt x="402" y="254"/>
                    <a:pt x="402" y="257"/>
                  </a:cubicBezTo>
                  <a:cubicBezTo>
                    <a:pt x="402" y="260"/>
                    <a:pt x="391" y="249"/>
                    <a:pt x="387" y="251"/>
                  </a:cubicBezTo>
                  <a:cubicBezTo>
                    <a:pt x="383" y="254"/>
                    <a:pt x="378" y="246"/>
                    <a:pt x="375" y="251"/>
                  </a:cubicBezTo>
                  <a:cubicBezTo>
                    <a:pt x="371" y="256"/>
                    <a:pt x="379" y="274"/>
                    <a:pt x="382" y="279"/>
                  </a:cubicBezTo>
                  <a:cubicBezTo>
                    <a:pt x="385" y="284"/>
                    <a:pt x="379" y="284"/>
                    <a:pt x="375" y="285"/>
                  </a:cubicBezTo>
                  <a:cubicBezTo>
                    <a:pt x="371" y="286"/>
                    <a:pt x="371" y="271"/>
                    <a:pt x="367" y="265"/>
                  </a:cubicBezTo>
                  <a:cubicBezTo>
                    <a:pt x="363" y="260"/>
                    <a:pt x="347" y="253"/>
                    <a:pt x="346" y="257"/>
                  </a:cubicBezTo>
                  <a:cubicBezTo>
                    <a:pt x="345" y="261"/>
                    <a:pt x="356" y="261"/>
                    <a:pt x="354" y="267"/>
                  </a:cubicBezTo>
                  <a:cubicBezTo>
                    <a:pt x="353" y="272"/>
                    <a:pt x="347" y="263"/>
                    <a:pt x="341" y="268"/>
                  </a:cubicBezTo>
                  <a:cubicBezTo>
                    <a:pt x="336" y="272"/>
                    <a:pt x="337" y="269"/>
                    <a:pt x="338" y="265"/>
                  </a:cubicBezTo>
                  <a:cubicBezTo>
                    <a:pt x="339" y="260"/>
                    <a:pt x="330" y="255"/>
                    <a:pt x="320" y="256"/>
                  </a:cubicBezTo>
                  <a:cubicBezTo>
                    <a:pt x="310" y="257"/>
                    <a:pt x="315" y="264"/>
                    <a:pt x="312" y="267"/>
                  </a:cubicBezTo>
                  <a:cubicBezTo>
                    <a:pt x="309" y="269"/>
                    <a:pt x="294" y="265"/>
                    <a:pt x="304" y="263"/>
                  </a:cubicBezTo>
                  <a:cubicBezTo>
                    <a:pt x="313" y="261"/>
                    <a:pt x="309" y="256"/>
                    <a:pt x="306" y="250"/>
                  </a:cubicBezTo>
                  <a:cubicBezTo>
                    <a:pt x="302" y="245"/>
                    <a:pt x="293" y="251"/>
                    <a:pt x="277" y="257"/>
                  </a:cubicBezTo>
                  <a:cubicBezTo>
                    <a:pt x="262" y="262"/>
                    <a:pt x="255" y="268"/>
                    <a:pt x="257" y="269"/>
                  </a:cubicBezTo>
                  <a:cubicBezTo>
                    <a:pt x="259" y="269"/>
                    <a:pt x="259" y="272"/>
                    <a:pt x="253" y="277"/>
                  </a:cubicBezTo>
                  <a:cubicBezTo>
                    <a:pt x="247" y="282"/>
                    <a:pt x="253" y="286"/>
                    <a:pt x="259" y="286"/>
                  </a:cubicBezTo>
                  <a:cubicBezTo>
                    <a:pt x="264" y="286"/>
                    <a:pt x="260" y="290"/>
                    <a:pt x="263" y="292"/>
                  </a:cubicBezTo>
                  <a:cubicBezTo>
                    <a:pt x="267" y="293"/>
                    <a:pt x="285" y="285"/>
                    <a:pt x="290" y="288"/>
                  </a:cubicBezTo>
                  <a:cubicBezTo>
                    <a:pt x="295" y="292"/>
                    <a:pt x="260" y="294"/>
                    <a:pt x="260" y="300"/>
                  </a:cubicBezTo>
                  <a:cubicBezTo>
                    <a:pt x="260" y="306"/>
                    <a:pt x="279" y="309"/>
                    <a:pt x="293" y="307"/>
                  </a:cubicBezTo>
                  <a:cubicBezTo>
                    <a:pt x="307" y="304"/>
                    <a:pt x="332" y="309"/>
                    <a:pt x="332" y="312"/>
                  </a:cubicBezTo>
                  <a:cubicBezTo>
                    <a:pt x="332" y="316"/>
                    <a:pt x="315" y="315"/>
                    <a:pt x="303" y="314"/>
                  </a:cubicBezTo>
                  <a:cubicBezTo>
                    <a:pt x="290" y="314"/>
                    <a:pt x="269" y="318"/>
                    <a:pt x="270" y="322"/>
                  </a:cubicBezTo>
                  <a:cubicBezTo>
                    <a:pt x="271" y="326"/>
                    <a:pt x="272" y="326"/>
                    <a:pt x="285" y="332"/>
                  </a:cubicBezTo>
                  <a:cubicBezTo>
                    <a:pt x="298" y="338"/>
                    <a:pt x="312" y="329"/>
                    <a:pt x="311" y="338"/>
                  </a:cubicBezTo>
                  <a:cubicBezTo>
                    <a:pt x="311" y="346"/>
                    <a:pt x="318" y="348"/>
                    <a:pt x="336" y="349"/>
                  </a:cubicBezTo>
                  <a:cubicBezTo>
                    <a:pt x="353" y="349"/>
                    <a:pt x="361" y="341"/>
                    <a:pt x="370" y="341"/>
                  </a:cubicBezTo>
                  <a:cubicBezTo>
                    <a:pt x="378" y="342"/>
                    <a:pt x="382" y="340"/>
                    <a:pt x="386" y="334"/>
                  </a:cubicBezTo>
                  <a:cubicBezTo>
                    <a:pt x="390" y="328"/>
                    <a:pt x="394" y="332"/>
                    <a:pt x="395" y="335"/>
                  </a:cubicBezTo>
                  <a:cubicBezTo>
                    <a:pt x="396" y="338"/>
                    <a:pt x="407" y="337"/>
                    <a:pt x="409" y="340"/>
                  </a:cubicBezTo>
                  <a:cubicBezTo>
                    <a:pt x="416" y="346"/>
                    <a:pt x="437" y="344"/>
                    <a:pt x="445" y="340"/>
                  </a:cubicBezTo>
                  <a:cubicBezTo>
                    <a:pt x="453" y="336"/>
                    <a:pt x="441" y="325"/>
                    <a:pt x="437" y="330"/>
                  </a:cubicBezTo>
                  <a:cubicBezTo>
                    <a:pt x="433" y="335"/>
                    <a:pt x="430" y="332"/>
                    <a:pt x="429" y="330"/>
                  </a:cubicBezTo>
                  <a:cubicBezTo>
                    <a:pt x="428" y="327"/>
                    <a:pt x="437" y="326"/>
                    <a:pt x="440" y="322"/>
                  </a:cubicBezTo>
                  <a:close/>
                  <a:moveTo>
                    <a:pt x="250" y="199"/>
                  </a:moveTo>
                  <a:cubicBezTo>
                    <a:pt x="259" y="200"/>
                    <a:pt x="268" y="192"/>
                    <a:pt x="267" y="188"/>
                  </a:cubicBezTo>
                  <a:cubicBezTo>
                    <a:pt x="267" y="183"/>
                    <a:pt x="245" y="199"/>
                    <a:pt x="250" y="199"/>
                  </a:cubicBezTo>
                  <a:close/>
                  <a:moveTo>
                    <a:pt x="208" y="185"/>
                  </a:moveTo>
                  <a:cubicBezTo>
                    <a:pt x="212" y="187"/>
                    <a:pt x="208" y="194"/>
                    <a:pt x="212" y="192"/>
                  </a:cubicBezTo>
                  <a:cubicBezTo>
                    <a:pt x="216" y="190"/>
                    <a:pt x="217" y="189"/>
                    <a:pt x="220" y="190"/>
                  </a:cubicBezTo>
                  <a:cubicBezTo>
                    <a:pt x="226" y="192"/>
                    <a:pt x="227" y="187"/>
                    <a:pt x="229" y="185"/>
                  </a:cubicBezTo>
                  <a:cubicBezTo>
                    <a:pt x="232" y="182"/>
                    <a:pt x="231" y="194"/>
                    <a:pt x="237" y="194"/>
                  </a:cubicBezTo>
                  <a:cubicBezTo>
                    <a:pt x="243" y="194"/>
                    <a:pt x="242" y="182"/>
                    <a:pt x="247" y="185"/>
                  </a:cubicBezTo>
                  <a:cubicBezTo>
                    <a:pt x="252" y="189"/>
                    <a:pt x="253" y="184"/>
                    <a:pt x="254" y="180"/>
                  </a:cubicBezTo>
                  <a:cubicBezTo>
                    <a:pt x="255" y="177"/>
                    <a:pt x="255" y="171"/>
                    <a:pt x="261" y="170"/>
                  </a:cubicBezTo>
                  <a:cubicBezTo>
                    <a:pt x="266" y="169"/>
                    <a:pt x="262" y="175"/>
                    <a:pt x="264" y="180"/>
                  </a:cubicBezTo>
                  <a:cubicBezTo>
                    <a:pt x="268" y="186"/>
                    <a:pt x="274" y="180"/>
                    <a:pt x="275" y="177"/>
                  </a:cubicBezTo>
                  <a:cubicBezTo>
                    <a:pt x="275" y="174"/>
                    <a:pt x="284" y="176"/>
                    <a:pt x="284" y="173"/>
                  </a:cubicBezTo>
                  <a:cubicBezTo>
                    <a:pt x="283" y="169"/>
                    <a:pt x="286" y="168"/>
                    <a:pt x="284" y="164"/>
                  </a:cubicBezTo>
                  <a:cubicBezTo>
                    <a:pt x="281" y="160"/>
                    <a:pt x="288" y="161"/>
                    <a:pt x="291" y="158"/>
                  </a:cubicBezTo>
                  <a:cubicBezTo>
                    <a:pt x="294" y="155"/>
                    <a:pt x="287" y="158"/>
                    <a:pt x="282" y="153"/>
                  </a:cubicBezTo>
                  <a:cubicBezTo>
                    <a:pt x="277" y="149"/>
                    <a:pt x="275" y="155"/>
                    <a:pt x="275" y="158"/>
                  </a:cubicBezTo>
                  <a:cubicBezTo>
                    <a:pt x="275" y="161"/>
                    <a:pt x="265" y="158"/>
                    <a:pt x="260" y="156"/>
                  </a:cubicBezTo>
                  <a:cubicBezTo>
                    <a:pt x="254" y="154"/>
                    <a:pt x="247" y="163"/>
                    <a:pt x="239" y="167"/>
                  </a:cubicBezTo>
                  <a:cubicBezTo>
                    <a:pt x="231" y="171"/>
                    <a:pt x="231" y="178"/>
                    <a:pt x="223" y="177"/>
                  </a:cubicBezTo>
                  <a:cubicBezTo>
                    <a:pt x="216" y="177"/>
                    <a:pt x="205" y="184"/>
                    <a:pt x="208" y="185"/>
                  </a:cubicBezTo>
                  <a:close/>
                  <a:moveTo>
                    <a:pt x="286" y="183"/>
                  </a:moveTo>
                  <a:cubicBezTo>
                    <a:pt x="279" y="183"/>
                    <a:pt x="280" y="190"/>
                    <a:pt x="288" y="190"/>
                  </a:cubicBezTo>
                  <a:cubicBezTo>
                    <a:pt x="296" y="190"/>
                    <a:pt x="298" y="193"/>
                    <a:pt x="287" y="192"/>
                  </a:cubicBezTo>
                  <a:cubicBezTo>
                    <a:pt x="275" y="192"/>
                    <a:pt x="270" y="202"/>
                    <a:pt x="278" y="200"/>
                  </a:cubicBezTo>
                  <a:cubicBezTo>
                    <a:pt x="286" y="198"/>
                    <a:pt x="296" y="198"/>
                    <a:pt x="290" y="200"/>
                  </a:cubicBezTo>
                  <a:cubicBezTo>
                    <a:pt x="284" y="202"/>
                    <a:pt x="268" y="203"/>
                    <a:pt x="270" y="206"/>
                  </a:cubicBezTo>
                  <a:cubicBezTo>
                    <a:pt x="271" y="208"/>
                    <a:pt x="278" y="208"/>
                    <a:pt x="284" y="210"/>
                  </a:cubicBezTo>
                  <a:cubicBezTo>
                    <a:pt x="291" y="213"/>
                    <a:pt x="295" y="214"/>
                    <a:pt x="300" y="209"/>
                  </a:cubicBezTo>
                  <a:cubicBezTo>
                    <a:pt x="305" y="203"/>
                    <a:pt x="311" y="198"/>
                    <a:pt x="309" y="205"/>
                  </a:cubicBezTo>
                  <a:cubicBezTo>
                    <a:pt x="306" y="213"/>
                    <a:pt x="317" y="207"/>
                    <a:pt x="330" y="207"/>
                  </a:cubicBezTo>
                  <a:cubicBezTo>
                    <a:pt x="344" y="206"/>
                    <a:pt x="328" y="215"/>
                    <a:pt x="314" y="216"/>
                  </a:cubicBezTo>
                  <a:cubicBezTo>
                    <a:pt x="300" y="217"/>
                    <a:pt x="302" y="224"/>
                    <a:pt x="313" y="226"/>
                  </a:cubicBezTo>
                  <a:cubicBezTo>
                    <a:pt x="324" y="229"/>
                    <a:pt x="348" y="219"/>
                    <a:pt x="353" y="214"/>
                  </a:cubicBezTo>
                  <a:cubicBezTo>
                    <a:pt x="359" y="208"/>
                    <a:pt x="364" y="217"/>
                    <a:pt x="369" y="213"/>
                  </a:cubicBezTo>
                  <a:cubicBezTo>
                    <a:pt x="375" y="209"/>
                    <a:pt x="385" y="213"/>
                    <a:pt x="395" y="211"/>
                  </a:cubicBezTo>
                  <a:cubicBezTo>
                    <a:pt x="404" y="209"/>
                    <a:pt x="406" y="191"/>
                    <a:pt x="399" y="188"/>
                  </a:cubicBezTo>
                  <a:cubicBezTo>
                    <a:pt x="392" y="185"/>
                    <a:pt x="392" y="192"/>
                    <a:pt x="386" y="193"/>
                  </a:cubicBezTo>
                  <a:cubicBezTo>
                    <a:pt x="381" y="194"/>
                    <a:pt x="378" y="187"/>
                    <a:pt x="373" y="182"/>
                  </a:cubicBezTo>
                  <a:cubicBezTo>
                    <a:pt x="369" y="178"/>
                    <a:pt x="372" y="169"/>
                    <a:pt x="365" y="170"/>
                  </a:cubicBezTo>
                  <a:cubicBezTo>
                    <a:pt x="359" y="171"/>
                    <a:pt x="345" y="182"/>
                    <a:pt x="353" y="183"/>
                  </a:cubicBezTo>
                  <a:cubicBezTo>
                    <a:pt x="362" y="184"/>
                    <a:pt x="359" y="188"/>
                    <a:pt x="354" y="190"/>
                  </a:cubicBezTo>
                  <a:cubicBezTo>
                    <a:pt x="350" y="192"/>
                    <a:pt x="365" y="196"/>
                    <a:pt x="363" y="199"/>
                  </a:cubicBezTo>
                  <a:cubicBezTo>
                    <a:pt x="361" y="202"/>
                    <a:pt x="338" y="199"/>
                    <a:pt x="337" y="194"/>
                  </a:cubicBezTo>
                  <a:cubicBezTo>
                    <a:pt x="336" y="189"/>
                    <a:pt x="318" y="180"/>
                    <a:pt x="310" y="182"/>
                  </a:cubicBezTo>
                  <a:cubicBezTo>
                    <a:pt x="303" y="184"/>
                    <a:pt x="306" y="176"/>
                    <a:pt x="298" y="176"/>
                  </a:cubicBezTo>
                  <a:cubicBezTo>
                    <a:pt x="291" y="175"/>
                    <a:pt x="293" y="182"/>
                    <a:pt x="286" y="183"/>
                  </a:cubicBezTo>
                  <a:close/>
                  <a:moveTo>
                    <a:pt x="312" y="147"/>
                  </a:moveTo>
                  <a:cubicBezTo>
                    <a:pt x="315" y="141"/>
                    <a:pt x="296" y="142"/>
                    <a:pt x="297" y="144"/>
                  </a:cubicBezTo>
                  <a:cubicBezTo>
                    <a:pt x="301" y="148"/>
                    <a:pt x="310" y="153"/>
                    <a:pt x="312" y="147"/>
                  </a:cubicBezTo>
                  <a:close/>
                  <a:moveTo>
                    <a:pt x="354" y="144"/>
                  </a:moveTo>
                  <a:cubicBezTo>
                    <a:pt x="360" y="143"/>
                    <a:pt x="357" y="138"/>
                    <a:pt x="347" y="140"/>
                  </a:cubicBezTo>
                  <a:cubicBezTo>
                    <a:pt x="336" y="141"/>
                    <a:pt x="318" y="141"/>
                    <a:pt x="318" y="149"/>
                  </a:cubicBezTo>
                  <a:cubicBezTo>
                    <a:pt x="318" y="155"/>
                    <a:pt x="322" y="158"/>
                    <a:pt x="333" y="159"/>
                  </a:cubicBezTo>
                  <a:cubicBezTo>
                    <a:pt x="345" y="160"/>
                    <a:pt x="355" y="149"/>
                    <a:pt x="349" y="149"/>
                  </a:cubicBezTo>
                  <a:cubicBezTo>
                    <a:pt x="344" y="149"/>
                    <a:pt x="347" y="145"/>
                    <a:pt x="354" y="144"/>
                  </a:cubicBezTo>
                  <a:close/>
                  <a:moveTo>
                    <a:pt x="329" y="135"/>
                  </a:moveTo>
                  <a:cubicBezTo>
                    <a:pt x="334" y="137"/>
                    <a:pt x="339" y="130"/>
                    <a:pt x="343" y="133"/>
                  </a:cubicBezTo>
                  <a:cubicBezTo>
                    <a:pt x="346" y="136"/>
                    <a:pt x="362" y="139"/>
                    <a:pt x="362" y="131"/>
                  </a:cubicBezTo>
                  <a:cubicBezTo>
                    <a:pt x="362" y="123"/>
                    <a:pt x="342" y="122"/>
                    <a:pt x="337" y="125"/>
                  </a:cubicBezTo>
                  <a:cubicBezTo>
                    <a:pt x="332" y="128"/>
                    <a:pt x="309" y="129"/>
                    <a:pt x="316" y="134"/>
                  </a:cubicBezTo>
                  <a:cubicBezTo>
                    <a:pt x="320" y="137"/>
                    <a:pt x="324" y="133"/>
                    <a:pt x="329" y="135"/>
                  </a:cubicBezTo>
                  <a:close/>
                  <a:moveTo>
                    <a:pt x="413" y="119"/>
                  </a:moveTo>
                  <a:cubicBezTo>
                    <a:pt x="419" y="115"/>
                    <a:pt x="430" y="122"/>
                    <a:pt x="428" y="126"/>
                  </a:cubicBezTo>
                  <a:cubicBezTo>
                    <a:pt x="426" y="131"/>
                    <a:pt x="409" y="125"/>
                    <a:pt x="410" y="129"/>
                  </a:cubicBezTo>
                  <a:cubicBezTo>
                    <a:pt x="410" y="131"/>
                    <a:pt x="412" y="137"/>
                    <a:pt x="424" y="133"/>
                  </a:cubicBezTo>
                  <a:cubicBezTo>
                    <a:pt x="436" y="130"/>
                    <a:pt x="446" y="132"/>
                    <a:pt x="454" y="139"/>
                  </a:cubicBezTo>
                  <a:cubicBezTo>
                    <a:pt x="462" y="145"/>
                    <a:pt x="470" y="148"/>
                    <a:pt x="475" y="141"/>
                  </a:cubicBezTo>
                  <a:cubicBezTo>
                    <a:pt x="481" y="135"/>
                    <a:pt x="468" y="134"/>
                    <a:pt x="471" y="129"/>
                  </a:cubicBezTo>
                  <a:cubicBezTo>
                    <a:pt x="473" y="124"/>
                    <a:pt x="463" y="121"/>
                    <a:pt x="457" y="121"/>
                  </a:cubicBezTo>
                  <a:cubicBezTo>
                    <a:pt x="452" y="121"/>
                    <a:pt x="450" y="111"/>
                    <a:pt x="445" y="113"/>
                  </a:cubicBezTo>
                  <a:cubicBezTo>
                    <a:pt x="441" y="115"/>
                    <a:pt x="438" y="118"/>
                    <a:pt x="438" y="112"/>
                  </a:cubicBezTo>
                  <a:cubicBezTo>
                    <a:pt x="438" y="105"/>
                    <a:pt x="412" y="105"/>
                    <a:pt x="405" y="107"/>
                  </a:cubicBezTo>
                  <a:cubicBezTo>
                    <a:pt x="399" y="110"/>
                    <a:pt x="407" y="123"/>
                    <a:pt x="413" y="119"/>
                  </a:cubicBezTo>
                  <a:close/>
                  <a:moveTo>
                    <a:pt x="416" y="161"/>
                  </a:moveTo>
                  <a:cubicBezTo>
                    <a:pt x="420" y="156"/>
                    <a:pt x="400" y="140"/>
                    <a:pt x="399" y="148"/>
                  </a:cubicBezTo>
                  <a:cubicBezTo>
                    <a:pt x="398" y="155"/>
                    <a:pt x="412" y="166"/>
                    <a:pt x="416" y="161"/>
                  </a:cubicBezTo>
                  <a:close/>
                  <a:moveTo>
                    <a:pt x="481" y="96"/>
                  </a:moveTo>
                  <a:cubicBezTo>
                    <a:pt x="485" y="90"/>
                    <a:pt x="460" y="85"/>
                    <a:pt x="466" y="90"/>
                  </a:cubicBezTo>
                  <a:cubicBezTo>
                    <a:pt x="470" y="93"/>
                    <a:pt x="478" y="102"/>
                    <a:pt x="481" y="96"/>
                  </a:cubicBezTo>
                  <a:close/>
                  <a:moveTo>
                    <a:pt x="425" y="209"/>
                  </a:moveTo>
                  <a:cubicBezTo>
                    <a:pt x="428" y="205"/>
                    <a:pt x="417" y="197"/>
                    <a:pt x="414" y="204"/>
                  </a:cubicBezTo>
                  <a:cubicBezTo>
                    <a:pt x="411" y="211"/>
                    <a:pt x="421" y="213"/>
                    <a:pt x="425" y="209"/>
                  </a:cubicBezTo>
                  <a:close/>
                  <a:moveTo>
                    <a:pt x="481" y="174"/>
                  </a:moveTo>
                  <a:cubicBezTo>
                    <a:pt x="481" y="179"/>
                    <a:pt x="469" y="173"/>
                    <a:pt x="460" y="170"/>
                  </a:cubicBezTo>
                  <a:cubicBezTo>
                    <a:pt x="451" y="166"/>
                    <a:pt x="457" y="177"/>
                    <a:pt x="464" y="183"/>
                  </a:cubicBezTo>
                  <a:cubicBezTo>
                    <a:pt x="471" y="189"/>
                    <a:pt x="460" y="186"/>
                    <a:pt x="451" y="179"/>
                  </a:cubicBezTo>
                  <a:cubicBezTo>
                    <a:pt x="441" y="173"/>
                    <a:pt x="442" y="184"/>
                    <a:pt x="447" y="187"/>
                  </a:cubicBezTo>
                  <a:cubicBezTo>
                    <a:pt x="451" y="191"/>
                    <a:pt x="446" y="196"/>
                    <a:pt x="440" y="188"/>
                  </a:cubicBezTo>
                  <a:cubicBezTo>
                    <a:pt x="434" y="180"/>
                    <a:pt x="431" y="171"/>
                    <a:pt x="421" y="171"/>
                  </a:cubicBezTo>
                  <a:cubicBezTo>
                    <a:pt x="412" y="170"/>
                    <a:pt x="416" y="180"/>
                    <a:pt x="420" y="185"/>
                  </a:cubicBezTo>
                  <a:cubicBezTo>
                    <a:pt x="425" y="191"/>
                    <a:pt x="430" y="193"/>
                    <a:pt x="438" y="197"/>
                  </a:cubicBezTo>
                  <a:cubicBezTo>
                    <a:pt x="446" y="202"/>
                    <a:pt x="459" y="195"/>
                    <a:pt x="465" y="197"/>
                  </a:cubicBezTo>
                  <a:cubicBezTo>
                    <a:pt x="471" y="198"/>
                    <a:pt x="458" y="206"/>
                    <a:pt x="462" y="211"/>
                  </a:cubicBezTo>
                  <a:cubicBezTo>
                    <a:pt x="466" y="216"/>
                    <a:pt x="477" y="212"/>
                    <a:pt x="486" y="212"/>
                  </a:cubicBezTo>
                  <a:cubicBezTo>
                    <a:pt x="494" y="211"/>
                    <a:pt x="490" y="206"/>
                    <a:pt x="495" y="203"/>
                  </a:cubicBezTo>
                  <a:cubicBezTo>
                    <a:pt x="500" y="199"/>
                    <a:pt x="490" y="200"/>
                    <a:pt x="494" y="191"/>
                  </a:cubicBezTo>
                  <a:cubicBezTo>
                    <a:pt x="498" y="183"/>
                    <a:pt x="482" y="169"/>
                    <a:pt x="481" y="174"/>
                  </a:cubicBezTo>
                  <a:close/>
                  <a:moveTo>
                    <a:pt x="502" y="145"/>
                  </a:moveTo>
                  <a:cubicBezTo>
                    <a:pt x="510" y="145"/>
                    <a:pt x="516" y="144"/>
                    <a:pt x="522" y="141"/>
                  </a:cubicBezTo>
                  <a:cubicBezTo>
                    <a:pt x="529" y="139"/>
                    <a:pt x="519" y="139"/>
                    <a:pt x="523" y="133"/>
                  </a:cubicBezTo>
                  <a:cubicBezTo>
                    <a:pt x="528" y="127"/>
                    <a:pt x="512" y="126"/>
                    <a:pt x="511" y="128"/>
                  </a:cubicBezTo>
                  <a:cubicBezTo>
                    <a:pt x="510" y="130"/>
                    <a:pt x="491" y="116"/>
                    <a:pt x="488" y="121"/>
                  </a:cubicBezTo>
                  <a:cubicBezTo>
                    <a:pt x="485" y="125"/>
                    <a:pt x="495" y="145"/>
                    <a:pt x="502" y="145"/>
                  </a:cubicBezTo>
                  <a:close/>
                  <a:moveTo>
                    <a:pt x="543" y="147"/>
                  </a:moveTo>
                  <a:cubicBezTo>
                    <a:pt x="542" y="144"/>
                    <a:pt x="504" y="149"/>
                    <a:pt x="510" y="153"/>
                  </a:cubicBezTo>
                  <a:cubicBezTo>
                    <a:pt x="520" y="161"/>
                    <a:pt x="544" y="150"/>
                    <a:pt x="543" y="147"/>
                  </a:cubicBezTo>
                  <a:close/>
                  <a:moveTo>
                    <a:pt x="537" y="220"/>
                  </a:moveTo>
                  <a:cubicBezTo>
                    <a:pt x="546" y="220"/>
                    <a:pt x="542" y="209"/>
                    <a:pt x="532" y="201"/>
                  </a:cubicBezTo>
                  <a:cubicBezTo>
                    <a:pt x="522" y="194"/>
                    <a:pt x="499" y="209"/>
                    <a:pt x="503" y="212"/>
                  </a:cubicBezTo>
                  <a:cubicBezTo>
                    <a:pt x="508" y="216"/>
                    <a:pt x="528" y="221"/>
                    <a:pt x="537" y="220"/>
                  </a:cubicBezTo>
                  <a:close/>
                  <a:moveTo>
                    <a:pt x="473" y="290"/>
                  </a:moveTo>
                  <a:cubicBezTo>
                    <a:pt x="484" y="298"/>
                    <a:pt x="481" y="284"/>
                    <a:pt x="493" y="285"/>
                  </a:cubicBezTo>
                  <a:cubicBezTo>
                    <a:pt x="506" y="285"/>
                    <a:pt x="506" y="265"/>
                    <a:pt x="508" y="257"/>
                  </a:cubicBezTo>
                  <a:cubicBezTo>
                    <a:pt x="510" y="250"/>
                    <a:pt x="498" y="250"/>
                    <a:pt x="501" y="256"/>
                  </a:cubicBezTo>
                  <a:cubicBezTo>
                    <a:pt x="504" y="261"/>
                    <a:pt x="501" y="267"/>
                    <a:pt x="500" y="260"/>
                  </a:cubicBezTo>
                  <a:cubicBezTo>
                    <a:pt x="499" y="254"/>
                    <a:pt x="489" y="260"/>
                    <a:pt x="486" y="255"/>
                  </a:cubicBezTo>
                  <a:cubicBezTo>
                    <a:pt x="482" y="250"/>
                    <a:pt x="497" y="249"/>
                    <a:pt x="500" y="243"/>
                  </a:cubicBezTo>
                  <a:cubicBezTo>
                    <a:pt x="504" y="236"/>
                    <a:pt x="489" y="237"/>
                    <a:pt x="492" y="232"/>
                  </a:cubicBezTo>
                  <a:cubicBezTo>
                    <a:pt x="496" y="227"/>
                    <a:pt x="470" y="233"/>
                    <a:pt x="478" y="236"/>
                  </a:cubicBezTo>
                  <a:cubicBezTo>
                    <a:pt x="485" y="239"/>
                    <a:pt x="478" y="243"/>
                    <a:pt x="471" y="238"/>
                  </a:cubicBezTo>
                  <a:cubicBezTo>
                    <a:pt x="464" y="233"/>
                    <a:pt x="445" y="241"/>
                    <a:pt x="452" y="247"/>
                  </a:cubicBezTo>
                  <a:cubicBezTo>
                    <a:pt x="457" y="251"/>
                    <a:pt x="474" y="244"/>
                    <a:pt x="464" y="257"/>
                  </a:cubicBezTo>
                  <a:cubicBezTo>
                    <a:pt x="455" y="270"/>
                    <a:pt x="451" y="253"/>
                    <a:pt x="442" y="255"/>
                  </a:cubicBezTo>
                  <a:cubicBezTo>
                    <a:pt x="433" y="256"/>
                    <a:pt x="437" y="267"/>
                    <a:pt x="450" y="271"/>
                  </a:cubicBezTo>
                  <a:cubicBezTo>
                    <a:pt x="464" y="275"/>
                    <a:pt x="462" y="283"/>
                    <a:pt x="473" y="290"/>
                  </a:cubicBezTo>
                  <a:close/>
                  <a:moveTo>
                    <a:pt x="555" y="210"/>
                  </a:moveTo>
                  <a:cubicBezTo>
                    <a:pt x="558" y="220"/>
                    <a:pt x="562" y="213"/>
                    <a:pt x="568" y="217"/>
                  </a:cubicBezTo>
                  <a:cubicBezTo>
                    <a:pt x="573" y="221"/>
                    <a:pt x="582" y="224"/>
                    <a:pt x="586" y="220"/>
                  </a:cubicBezTo>
                  <a:cubicBezTo>
                    <a:pt x="591" y="216"/>
                    <a:pt x="593" y="213"/>
                    <a:pt x="594" y="216"/>
                  </a:cubicBezTo>
                  <a:cubicBezTo>
                    <a:pt x="597" y="222"/>
                    <a:pt x="608" y="223"/>
                    <a:pt x="632" y="223"/>
                  </a:cubicBezTo>
                  <a:cubicBezTo>
                    <a:pt x="656" y="224"/>
                    <a:pt x="650" y="213"/>
                    <a:pt x="657" y="217"/>
                  </a:cubicBezTo>
                  <a:cubicBezTo>
                    <a:pt x="664" y="221"/>
                    <a:pt x="680" y="221"/>
                    <a:pt x="687" y="220"/>
                  </a:cubicBezTo>
                  <a:cubicBezTo>
                    <a:pt x="694" y="218"/>
                    <a:pt x="697" y="207"/>
                    <a:pt x="697" y="202"/>
                  </a:cubicBezTo>
                  <a:cubicBezTo>
                    <a:pt x="696" y="196"/>
                    <a:pt x="643" y="192"/>
                    <a:pt x="633" y="197"/>
                  </a:cubicBezTo>
                  <a:cubicBezTo>
                    <a:pt x="624" y="203"/>
                    <a:pt x="609" y="195"/>
                    <a:pt x="601" y="199"/>
                  </a:cubicBezTo>
                  <a:cubicBezTo>
                    <a:pt x="594" y="203"/>
                    <a:pt x="596" y="194"/>
                    <a:pt x="583" y="193"/>
                  </a:cubicBezTo>
                  <a:cubicBezTo>
                    <a:pt x="569" y="193"/>
                    <a:pt x="584" y="186"/>
                    <a:pt x="586" y="183"/>
                  </a:cubicBezTo>
                  <a:cubicBezTo>
                    <a:pt x="589" y="180"/>
                    <a:pt x="566" y="172"/>
                    <a:pt x="556" y="174"/>
                  </a:cubicBezTo>
                  <a:cubicBezTo>
                    <a:pt x="547" y="176"/>
                    <a:pt x="541" y="171"/>
                    <a:pt x="532" y="167"/>
                  </a:cubicBezTo>
                  <a:cubicBezTo>
                    <a:pt x="523" y="163"/>
                    <a:pt x="499" y="163"/>
                    <a:pt x="504" y="171"/>
                  </a:cubicBezTo>
                  <a:cubicBezTo>
                    <a:pt x="507" y="176"/>
                    <a:pt x="536" y="186"/>
                    <a:pt x="539" y="181"/>
                  </a:cubicBezTo>
                  <a:cubicBezTo>
                    <a:pt x="542" y="176"/>
                    <a:pt x="550" y="187"/>
                    <a:pt x="554" y="193"/>
                  </a:cubicBezTo>
                  <a:cubicBezTo>
                    <a:pt x="559" y="198"/>
                    <a:pt x="551" y="200"/>
                    <a:pt x="555" y="210"/>
                  </a:cubicBezTo>
                  <a:close/>
                  <a:moveTo>
                    <a:pt x="580" y="151"/>
                  </a:moveTo>
                  <a:cubicBezTo>
                    <a:pt x="571" y="147"/>
                    <a:pt x="560" y="156"/>
                    <a:pt x="569" y="160"/>
                  </a:cubicBezTo>
                  <a:cubicBezTo>
                    <a:pt x="577" y="163"/>
                    <a:pt x="589" y="156"/>
                    <a:pt x="580" y="151"/>
                  </a:cubicBezTo>
                  <a:close/>
                  <a:moveTo>
                    <a:pt x="508" y="95"/>
                  </a:moveTo>
                  <a:cubicBezTo>
                    <a:pt x="516" y="99"/>
                    <a:pt x="511" y="104"/>
                    <a:pt x="519" y="107"/>
                  </a:cubicBezTo>
                  <a:cubicBezTo>
                    <a:pt x="527" y="111"/>
                    <a:pt x="550" y="103"/>
                    <a:pt x="552" y="108"/>
                  </a:cubicBezTo>
                  <a:cubicBezTo>
                    <a:pt x="554" y="114"/>
                    <a:pt x="529" y="114"/>
                    <a:pt x="532" y="118"/>
                  </a:cubicBezTo>
                  <a:cubicBezTo>
                    <a:pt x="536" y="121"/>
                    <a:pt x="550" y="127"/>
                    <a:pt x="548" y="130"/>
                  </a:cubicBezTo>
                  <a:cubicBezTo>
                    <a:pt x="546" y="133"/>
                    <a:pt x="572" y="141"/>
                    <a:pt x="575" y="137"/>
                  </a:cubicBezTo>
                  <a:cubicBezTo>
                    <a:pt x="577" y="133"/>
                    <a:pt x="584" y="134"/>
                    <a:pt x="591" y="137"/>
                  </a:cubicBezTo>
                  <a:cubicBezTo>
                    <a:pt x="597" y="139"/>
                    <a:pt x="598" y="121"/>
                    <a:pt x="602" y="124"/>
                  </a:cubicBezTo>
                  <a:cubicBezTo>
                    <a:pt x="607" y="127"/>
                    <a:pt x="606" y="118"/>
                    <a:pt x="614" y="115"/>
                  </a:cubicBezTo>
                  <a:cubicBezTo>
                    <a:pt x="621" y="112"/>
                    <a:pt x="632" y="111"/>
                    <a:pt x="633" y="108"/>
                  </a:cubicBezTo>
                  <a:cubicBezTo>
                    <a:pt x="633" y="106"/>
                    <a:pt x="631" y="102"/>
                    <a:pt x="622" y="103"/>
                  </a:cubicBezTo>
                  <a:cubicBezTo>
                    <a:pt x="613" y="104"/>
                    <a:pt x="607" y="101"/>
                    <a:pt x="611" y="96"/>
                  </a:cubicBezTo>
                  <a:cubicBezTo>
                    <a:pt x="615" y="91"/>
                    <a:pt x="601" y="89"/>
                    <a:pt x="606" y="85"/>
                  </a:cubicBezTo>
                  <a:cubicBezTo>
                    <a:pt x="611" y="81"/>
                    <a:pt x="596" y="77"/>
                    <a:pt x="598" y="83"/>
                  </a:cubicBezTo>
                  <a:cubicBezTo>
                    <a:pt x="599" y="89"/>
                    <a:pt x="589" y="84"/>
                    <a:pt x="587" y="78"/>
                  </a:cubicBezTo>
                  <a:cubicBezTo>
                    <a:pt x="586" y="73"/>
                    <a:pt x="565" y="71"/>
                    <a:pt x="552" y="59"/>
                  </a:cubicBezTo>
                  <a:cubicBezTo>
                    <a:pt x="538" y="47"/>
                    <a:pt x="524" y="55"/>
                    <a:pt x="532" y="56"/>
                  </a:cubicBezTo>
                  <a:cubicBezTo>
                    <a:pt x="540" y="58"/>
                    <a:pt x="540" y="62"/>
                    <a:pt x="533" y="61"/>
                  </a:cubicBezTo>
                  <a:cubicBezTo>
                    <a:pt x="527" y="61"/>
                    <a:pt x="515" y="62"/>
                    <a:pt x="526" y="66"/>
                  </a:cubicBezTo>
                  <a:cubicBezTo>
                    <a:pt x="536" y="70"/>
                    <a:pt x="525" y="71"/>
                    <a:pt x="516" y="71"/>
                  </a:cubicBezTo>
                  <a:cubicBezTo>
                    <a:pt x="508" y="71"/>
                    <a:pt x="507" y="82"/>
                    <a:pt x="518" y="84"/>
                  </a:cubicBezTo>
                  <a:cubicBezTo>
                    <a:pt x="529" y="85"/>
                    <a:pt x="521" y="92"/>
                    <a:pt x="512" y="89"/>
                  </a:cubicBezTo>
                  <a:cubicBezTo>
                    <a:pt x="503" y="87"/>
                    <a:pt x="500" y="91"/>
                    <a:pt x="508" y="95"/>
                  </a:cubicBezTo>
                  <a:close/>
                  <a:moveTo>
                    <a:pt x="569" y="46"/>
                  </a:moveTo>
                  <a:cubicBezTo>
                    <a:pt x="576" y="41"/>
                    <a:pt x="581" y="44"/>
                    <a:pt x="575" y="47"/>
                  </a:cubicBezTo>
                  <a:cubicBezTo>
                    <a:pt x="569" y="50"/>
                    <a:pt x="571" y="52"/>
                    <a:pt x="580" y="52"/>
                  </a:cubicBezTo>
                  <a:cubicBezTo>
                    <a:pt x="588" y="51"/>
                    <a:pt x="576" y="54"/>
                    <a:pt x="576" y="59"/>
                  </a:cubicBezTo>
                  <a:cubicBezTo>
                    <a:pt x="576" y="64"/>
                    <a:pt x="586" y="61"/>
                    <a:pt x="587" y="66"/>
                  </a:cubicBezTo>
                  <a:cubicBezTo>
                    <a:pt x="587" y="71"/>
                    <a:pt x="609" y="73"/>
                    <a:pt x="615" y="67"/>
                  </a:cubicBezTo>
                  <a:cubicBezTo>
                    <a:pt x="622" y="61"/>
                    <a:pt x="619" y="69"/>
                    <a:pt x="619" y="73"/>
                  </a:cubicBezTo>
                  <a:cubicBezTo>
                    <a:pt x="618" y="77"/>
                    <a:pt x="649" y="80"/>
                    <a:pt x="651" y="75"/>
                  </a:cubicBezTo>
                  <a:cubicBezTo>
                    <a:pt x="652" y="70"/>
                    <a:pt x="657" y="72"/>
                    <a:pt x="663" y="74"/>
                  </a:cubicBezTo>
                  <a:cubicBezTo>
                    <a:pt x="669" y="75"/>
                    <a:pt x="698" y="68"/>
                    <a:pt x="699" y="62"/>
                  </a:cubicBezTo>
                  <a:cubicBezTo>
                    <a:pt x="699" y="56"/>
                    <a:pt x="708" y="65"/>
                    <a:pt x="699" y="72"/>
                  </a:cubicBezTo>
                  <a:cubicBezTo>
                    <a:pt x="689" y="78"/>
                    <a:pt x="670" y="77"/>
                    <a:pt x="662" y="80"/>
                  </a:cubicBezTo>
                  <a:cubicBezTo>
                    <a:pt x="653" y="82"/>
                    <a:pt x="667" y="88"/>
                    <a:pt x="676" y="95"/>
                  </a:cubicBezTo>
                  <a:cubicBezTo>
                    <a:pt x="684" y="101"/>
                    <a:pt x="665" y="98"/>
                    <a:pt x="657" y="89"/>
                  </a:cubicBezTo>
                  <a:cubicBezTo>
                    <a:pt x="649" y="81"/>
                    <a:pt x="631" y="81"/>
                    <a:pt x="621" y="81"/>
                  </a:cubicBezTo>
                  <a:cubicBezTo>
                    <a:pt x="612" y="82"/>
                    <a:pt x="615" y="99"/>
                    <a:pt x="622" y="99"/>
                  </a:cubicBezTo>
                  <a:cubicBezTo>
                    <a:pt x="629" y="99"/>
                    <a:pt x="636" y="102"/>
                    <a:pt x="643" y="113"/>
                  </a:cubicBezTo>
                  <a:cubicBezTo>
                    <a:pt x="650" y="124"/>
                    <a:pt x="665" y="121"/>
                    <a:pt x="665" y="126"/>
                  </a:cubicBezTo>
                  <a:cubicBezTo>
                    <a:pt x="665" y="131"/>
                    <a:pt x="645" y="122"/>
                    <a:pt x="634" y="120"/>
                  </a:cubicBezTo>
                  <a:cubicBezTo>
                    <a:pt x="623" y="118"/>
                    <a:pt x="606" y="125"/>
                    <a:pt x="605" y="133"/>
                  </a:cubicBezTo>
                  <a:cubicBezTo>
                    <a:pt x="605" y="141"/>
                    <a:pt x="621" y="140"/>
                    <a:pt x="632" y="134"/>
                  </a:cubicBezTo>
                  <a:cubicBezTo>
                    <a:pt x="643" y="127"/>
                    <a:pt x="635" y="136"/>
                    <a:pt x="630" y="141"/>
                  </a:cubicBezTo>
                  <a:cubicBezTo>
                    <a:pt x="624" y="146"/>
                    <a:pt x="643" y="150"/>
                    <a:pt x="643" y="156"/>
                  </a:cubicBezTo>
                  <a:cubicBezTo>
                    <a:pt x="643" y="162"/>
                    <a:pt x="629" y="160"/>
                    <a:pt x="628" y="154"/>
                  </a:cubicBezTo>
                  <a:cubicBezTo>
                    <a:pt x="626" y="149"/>
                    <a:pt x="621" y="143"/>
                    <a:pt x="608" y="144"/>
                  </a:cubicBezTo>
                  <a:cubicBezTo>
                    <a:pt x="595" y="145"/>
                    <a:pt x="599" y="154"/>
                    <a:pt x="607" y="155"/>
                  </a:cubicBezTo>
                  <a:cubicBezTo>
                    <a:pt x="615" y="156"/>
                    <a:pt x="615" y="162"/>
                    <a:pt x="606" y="162"/>
                  </a:cubicBezTo>
                  <a:cubicBezTo>
                    <a:pt x="597" y="162"/>
                    <a:pt x="577" y="168"/>
                    <a:pt x="583" y="174"/>
                  </a:cubicBezTo>
                  <a:cubicBezTo>
                    <a:pt x="590" y="180"/>
                    <a:pt x="616" y="174"/>
                    <a:pt x="620" y="178"/>
                  </a:cubicBezTo>
                  <a:cubicBezTo>
                    <a:pt x="625" y="182"/>
                    <a:pt x="637" y="183"/>
                    <a:pt x="640" y="179"/>
                  </a:cubicBezTo>
                  <a:cubicBezTo>
                    <a:pt x="643" y="174"/>
                    <a:pt x="653" y="176"/>
                    <a:pt x="663" y="176"/>
                  </a:cubicBezTo>
                  <a:cubicBezTo>
                    <a:pt x="673" y="176"/>
                    <a:pt x="676" y="178"/>
                    <a:pt x="680" y="182"/>
                  </a:cubicBezTo>
                  <a:cubicBezTo>
                    <a:pt x="685" y="186"/>
                    <a:pt x="693" y="184"/>
                    <a:pt x="698" y="180"/>
                  </a:cubicBezTo>
                  <a:cubicBezTo>
                    <a:pt x="704" y="176"/>
                    <a:pt x="704" y="176"/>
                    <a:pt x="711" y="176"/>
                  </a:cubicBezTo>
                  <a:cubicBezTo>
                    <a:pt x="718" y="176"/>
                    <a:pt x="719" y="172"/>
                    <a:pt x="716" y="166"/>
                  </a:cubicBezTo>
                  <a:cubicBezTo>
                    <a:pt x="712" y="161"/>
                    <a:pt x="703" y="170"/>
                    <a:pt x="702" y="166"/>
                  </a:cubicBezTo>
                  <a:cubicBezTo>
                    <a:pt x="701" y="161"/>
                    <a:pt x="693" y="160"/>
                    <a:pt x="679" y="162"/>
                  </a:cubicBezTo>
                  <a:cubicBezTo>
                    <a:pt x="665" y="164"/>
                    <a:pt x="671" y="153"/>
                    <a:pt x="679" y="155"/>
                  </a:cubicBezTo>
                  <a:cubicBezTo>
                    <a:pt x="688" y="158"/>
                    <a:pt x="699" y="157"/>
                    <a:pt x="709" y="154"/>
                  </a:cubicBezTo>
                  <a:cubicBezTo>
                    <a:pt x="718" y="152"/>
                    <a:pt x="711" y="147"/>
                    <a:pt x="711" y="143"/>
                  </a:cubicBezTo>
                  <a:cubicBezTo>
                    <a:pt x="711" y="139"/>
                    <a:pt x="723" y="142"/>
                    <a:pt x="732" y="142"/>
                  </a:cubicBezTo>
                  <a:cubicBezTo>
                    <a:pt x="741" y="142"/>
                    <a:pt x="754" y="127"/>
                    <a:pt x="754" y="119"/>
                  </a:cubicBezTo>
                  <a:cubicBezTo>
                    <a:pt x="755" y="110"/>
                    <a:pt x="734" y="112"/>
                    <a:pt x="724" y="112"/>
                  </a:cubicBezTo>
                  <a:cubicBezTo>
                    <a:pt x="714" y="112"/>
                    <a:pt x="731" y="105"/>
                    <a:pt x="750" y="106"/>
                  </a:cubicBezTo>
                  <a:cubicBezTo>
                    <a:pt x="769" y="107"/>
                    <a:pt x="760" y="98"/>
                    <a:pt x="764" y="95"/>
                  </a:cubicBezTo>
                  <a:cubicBezTo>
                    <a:pt x="767" y="92"/>
                    <a:pt x="776" y="99"/>
                    <a:pt x="786" y="97"/>
                  </a:cubicBezTo>
                  <a:cubicBezTo>
                    <a:pt x="795" y="95"/>
                    <a:pt x="789" y="87"/>
                    <a:pt x="795" y="87"/>
                  </a:cubicBezTo>
                  <a:cubicBezTo>
                    <a:pt x="800" y="87"/>
                    <a:pt x="810" y="80"/>
                    <a:pt x="831" y="68"/>
                  </a:cubicBezTo>
                  <a:cubicBezTo>
                    <a:pt x="851" y="57"/>
                    <a:pt x="867" y="59"/>
                    <a:pt x="868" y="52"/>
                  </a:cubicBezTo>
                  <a:cubicBezTo>
                    <a:pt x="869" y="46"/>
                    <a:pt x="840" y="52"/>
                    <a:pt x="835" y="50"/>
                  </a:cubicBezTo>
                  <a:cubicBezTo>
                    <a:pt x="830" y="48"/>
                    <a:pt x="855" y="43"/>
                    <a:pt x="861" y="44"/>
                  </a:cubicBezTo>
                  <a:cubicBezTo>
                    <a:pt x="867" y="46"/>
                    <a:pt x="875" y="44"/>
                    <a:pt x="896" y="34"/>
                  </a:cubicBezTo>
                  <a:cubicBezTo>
                    <a:pt x="916" y="24"/>
                    <a:pt x="907" y="22"/>
                    <a:pt x="899" y="23"/>
                  </a:cubicBezTo>
                  <a:cubicBezTo>
                    <a:pt x="890" y="25"/>
                    <a:pt x="881" y="22"/>
                    <a:pt x="881" y="16"/>
                  </a:cubicBezTo>
                  <a:cubicBezTo>
                    <a:pt x="882" y="11"/>
                    <a:pt x="869" y="16"/>
                    <a:pt x="868" y="13"/>
                  </a:cubicBezTo>
                  <a:cubicBezTo>
                    <a:pt x="868" y="10"/>
                    <a:pt x="856" y="11"/>
                    <a:pt x="843" y="16"/>
                  </a:cubicBezTo>
                  <a:cubicBezTo>
                    <a:pt x="830" y="21"/>
                    <a:pt x="842" y="11"/>
                    <a:pt x="847" y="9"/>
                  </a:cubicBezTo>
                  <a:cubicBezTo>
                    <a:pt x="853" y="7"/>
                    <a:pt x="814" y="9"/>
                    <a:pt x="808" y="5"/>
                  </a:cubicBezTo>
                  <a:cubicBezTo>
                    <a:pt x="801" y="0"/>
                    <a:pt x="794" y="12"/>
                    <a:pt x="788" y="6"/>
                  </a:cubicBezTo>
                  <a:cubicBezTo>
                    <a:pt x="782" y="0"/>
                    <a:pt x="766" y="5"/>
                    <a:pt x="768" y="10"/>
                  </a:cubicBezTo>
                  <a:cubicBezTo>
                    <a:pt x="770" y="14"/>
                    <a:pt x="766" y="14"/>
                    <a:pt x="760" y="9"/>
                  </a:cubicBezTo>
                  <a:cubicBezTo>
                    <a:pt x="754" y="4"/>
                    <a:pt x="742" y="10"/>
                    <a:pt x="732" y="8"/>
                  </a:cubicBezTo>
                  <a:cubicBezTo>
                    <a:pt x="721" y="7"/>
                    <a:pt x="726" y="17"/>
                    <a:pt x="714" y="12"/>
                  </a:cubicBezTo>
                  <a:cubicBezTo>
                    <a:pt x="703" y="7"/>
                    <a:pt x="690" y="9"/>
                    <a:pt x="694" y="11"/>
                  </a:cubicBezTo>
                  <a:cubicBezTo>
                    <a:pt x="697" y="12"/>
                    <a:pt x="693" y="15"/>
                    <a:pt x="688" y="14"/>
                  </a:cubicBezTo>
                  <a:cubicBezTo>
                    <a:pt x="683" y="12"/>
                    <a:pt x="678" y="14"/>
                    <a:pt x="681" y="19"/>
                  </a:cubicBezTo>
                  <a:cubicBezTo>
                    <a:pt x="683" y="24"/>
                    <a:pt x="662" y="18"/>
                    <a:pt x="662" y="23"/>
                  </a:cubicBezTo>
                  <a:cubicBezTo>
                    <a:pt x="662" y="29"/>
                    <a:pt x="655" y="32"/>
                    <a:pt x="649" y="27"/>
                  </a:cubicBezTo>
                  <a:cubicBezTo>
                    <a:pt x="643" y="22"/>
                    <a:pt x="624" y="20"/>
                    <a:pt x="629" y="25"/>
                  </a:cubicBezTo>
                  <a:cubicBezTo>
                    <a:pt x="635" y="29"/>
                    <a:pt x="612" y="27"/>
                    <a:pt x="618" y="31"/>
                  </a:cubicBezTo>
                  <a:cubicBezTo>
                    <a:pt x="624" y="36"/>
                    <a:pt x="611" y="39"/>
                    <a:pt x="611" y="37"/>
                  </a:cubicBezTo>
                  <a:cubicBezTo>
                    <a:pt x="611" y="34"/>
                    <a:pt x="598" y="30"/>
                    <a:pt x="593" y="34"/>
                  </a:cubicBezTo>
                  <a:cubicBezTo>
                    <a:pt x="588" y="39"/>
                    <a:pt x="587" y="44"/>
                    <a:pt x="584" y="41"/>
                  </a:cubicBezTo>
                  <a:cubicBezTo>
                    <a:pt x="582" y="38"/>
                    <a:pt x="571" y="39"/>
                    <a:pt x="560" y="43"/>
                  </a:cubicBezTo>
                  <a:cubicBezTo>
                    <a:pt x="550" y="47"/>
                    <a:pt x="562" y="50"/>
                    <a:pt x="569" y="46"/>
                  </a:cubicBezTo>
                  <a:close/>
                  <a:moveTo>
                    <a:pt x="695" y="477"/>
                  </a:moveTo>
                  <a:cubicBezTo>
                    <a:pt x="698" y="477"/>
                    <a:pt x="705" y="464"/>
                    <a:pt x="696" y="465"/>
                  </a:cubicBezTo>
                  <a:cubicBezTo>
                    <a:pt x="687" y="465"/>
                    <a:pt x="689" y="478"/>
                    <a:pt x="695" y="477"/>
                  </a:cubicBezTo>
                  <a:close/>
                  <a:moveTo>
                    <a:pt x="651" y="466"/>
                  </a:moveTo>
                  <a:cubicBezTo>
                    <a:pt x="659" y="471"/>
                    <a:pt x="671" y="458"/>
                    <a:pt x="670" y="454"/>
                  </a:cubicBezTo>
                  <a:cubicBezTo>
                    <a:pt x="669" y="450"/>
                    <a:pt x="641" y="460"/>
                    <a:pt x="651" y="466"/>
                  </a:cubicBezTo>
                  <a:close/>
                  <a:moveTo>
                    <a:pt x="687" y="439"/>
                  </a:moveTo>
                  <a:cubicBezTo>
                    <a:pt x="688" y="434"/>
                    <a:pt x="670" y="432"/>
                    <a:pt x="671" y="426"/>
                  </a:cubicBezTo>
                  <a:cubicBezTo>
                    <a:pt x="672" y="421"/>
                    <a:pt x="655" y="416"/>
                    <a:pt x="649" y="413"/>
                  </a:cubicBezTo>
                  <a:cubicBezTo>
                    <a:pt x="644" y="410"/>
                    <a:pt x="635" y="409"/>
                    <a:pt x="635" y="403"/>
                  </a:cubicBezTo>
                  <a:cubicBezTo>
                    <a:pt x="635" y="397"/>
                    <a:pt x="623" y="401"/>
                    <a:pt x="623" y="410"/>
                  </a:cubicBezTo>
                  <a:cubicBezTo>
                    <a:pt x="622" y="419"/>
                    <a:pt x="617" y="417"/>
                    <a:pt x="620" y="426"/>
                  </a:cubicBezTo>
                  <a:cubicBezTo>
                    <a:pt x="622" y="434"/>
                    <a:pt x="609" y="436"/>
                    <a:pt x="610" y="441"/>
                  </a:cubicBezTo>
                  <a:cubicBezTo>
                    <a:pt x="612" y="445"/>
                    <a:pt x="618" y="440"/>
                    <a:pt x="624" y="440"/>
                  </a:cubicBezTo>
                  <a:cubicBezTo>
                    <a:pt x="630" y="440"/>
                    <a:pt x="623" y="448"/>
                    <a:pt x="630" y="449"/>
                  </a:cubicBezTo>
                  <a:cubicBezTo>
                    <a:pt x="636" y="450"/>
                    <a:pt x="647" y="443"/>
                    <a:pt x="649" y="439"/>
                  </a:cubicBezTo>
                  <a:cubicBezTo>
                    <a:pt x="652" y="435"/>
                    <a:pt x="657" y="433"/>
                    <a:pt x="664" y="438"/>
                  </a:cubicBezTo>
                  <a:cubicBezTo>
                    <a:pt x="671" y="443"/>
                    <a:pt x="686" y="444"/>
                    <a:pt x="687" y="439"/>
                  </a:cubicBezTo>
                  <a:close/>
                  <a:moveTo>
                    <a:pt x="850" y="395"/>
                  </a:moveTo>
                  <a:cubicBezTo>
                    <a:pt x="856" y="395"/>
                    <a:pt x="857" y="403"/>
                    <a:pt x="867" y="411"/>
                  </a:cubicBezTo>
                  <a:cubicBezTo>
                    <a:pt x="876" y="419"/>
                    <a:pt x="877" y="413"/>
                    <a:pt x="879" y="408"/>
                  </a:cubicBezTo>
                  <a:cubicBezTo>
                    <a:pt x="880" y="402"/>
                    <a:pt x="891" y="407"/>
                    <a:pt x="890" y="401"/>
                  </a:cubicBezTo>
                  <a:cubicBezTo>
                    <a:pt x="890" y="396"/>
                    <a:pt x="899" y="389"/>
                    <a:pt x="905" y="387"/>
                  </a:cubicBezTo>
                  <a:cubicBezTo>
                    <a:pt x="911" y="384"/>
                    <a:pt x="900" y="378"/>
                    <a:pt x="892" y="379"/>
                  </a:cubicBezTo>
                  <a:cubicBezTo>
                    <a:pt x="884" y="379"/>
                    <a:pt x="882" y="374"/>
                    <a:pt x="882" y="370"/>
                  </a:cubicBezTo>
                  <a:cubicBezTo>
                    <a:pt x="882" y="367"/>
                    <a:pt x="867" y="358"/>
                    <a:pt x="862" y="360"/>
                  </a:cubicBezTo>
                  <a:cubicBezTo>
                    <a:pt x="857" y="361"/>
                    <a:pt x="849" y="353"/>
                    <a:pt x="842" y="353"/>
                  </a:cubicBezTo>
                  <a:cubicBezTo>
                    <a:pt x="836" y="352"/>
                    <a:pt x="826" y="347"/>
                    <a:pt x="827" y="340"/>
                  </a:cubicBezTo>
                  <a:cubicBezTo>
                    <a:pt x="828" y="333"/>
                    <a:pt x="840" y="342"/>
                    <a:pt x="843" y="337"/>
                  </a:cubicBezTo>
                  <a:cubicBezTo>
                    <a:pt x="845" y="331"/>
                    <a:pt x="830" y="334"/>
                    <a:pt x="830" y="330"/>
                  </a:cubicBezTo>
                  <a:cubicBezTo>
                    <a:pt x="829" y="326"/>
                    <a:pt x="833" y="328"/>
                    <a:pt x="836" y="325"/>
                  </a:cubicBezTo>
                  <a:cubicBezTo>
                    <a:pt x="839" y="323"/>
                    <a:pt x="834" y="318"/>
                    <a:pt x="830" y="316"/>
                  </a:cubicBezTo>
                  <a:cubicBezTo>
                    <a:pt x="827" y="314"/>
                    <a:pt x="826" y="320"/>
                    <a:pt x="822" y="320"/>
                  </a:cubicBezTo>
                  <a:cubicBezTo>
                    <a:pt x="819" y="320"/>
                    <a:pt x="822" y="314"/>
                    <a:pt x="824" y="311"/>
                  </a:cubicBezTo>
                  <a:cubicBezTo>
                    <a:pt x="827" y="307"/>
                    <a:pt x="813" y="303"/>
                    <a:pt x="807" y="305"/>
                  </a:cubicBezTo>
                  <a:cubicBezTo>
                    <a:pt x="801" y="307"/>
                    <a:pt x="799" y="304"/>
                    <a:pt x="799" y="300"/>
                  </a:cubicBezTo>
                  <a:cubicBezTo>
                    <a:pt x="799" y="296"/>
                    <a:pt x="788" y="300"/>
                    <a:pt x="784" y="303"/>
                  </a:cubicBezTo>
                  <a:cubicBezTo>
                    <a:pt x="780" y="306"/>
                    <a:pt x="775" y="300"/>
                    <a:pt x="780" y="299"/>
                  </a:cubicBezTo>
                  <a:cubicBezTo>
                    <a:pt x="785" y="299"/>
                    <a:pt x="791" y="295"/>
                    <a:pt x="790" y="290"/>
                  </a:cubicBezTo>
                  <a:cubicBezTo>
                    <a:pt x="788" y="286"/>
                    <a:pt x="775" y="285"/>
                    <a:pt x="773" y="291"/>
                  </a:cubicBezTo>
                  <a:cubicBezTo>
                    <a:pt x="770" y="296"/>
                    <a:pt x="760" y="285"/>
                    <a:pt x="760" y="280"/>
                  </a:cubicBezTo>
                  <a:cubicBezTo>
                    <a:pt x="760" y="276"/>
                    <a:pt x="744" y="280"/>
                    <a:pt x="746" y="272"/>
                  </a:cubicBezTo>
                  <a:cubicBezTo>
                    <a:pt x="748" y="265"/>
                    <a:pt x="727" y="263"/>
                    <a:pt x="722" y="263"/>
                  </a:cubicBezTo>
                  <a:cubicBezTo>
                    <a:pt x="716" y="263"/>
                    <a:pt x="708" y="267"/>
                    <a:pt x="709" y="272"/>
                  </a:cubicBezTo>
                  <a:cubicBezTo>
                    <a:pt x="710" y="277"/>
                    <a:pt x="703" y="275"/>
                    <a:pt x="702" y="270"/>
                  </a:cubicBezTo>
                  <a:cubicBezTo>
                    <a:pt x="701" y="264"/>
                    <a:pt x="688" y="276"/>
                    <a:pt x="684" y="276"/>
                  </a:cubicBezTo>
                  <a:cubicBezTo>
                    <a:pt x="680" y="276"/>
                    <a:pt x="686" y="261"/>
                    <a:pt x="684" y="257"/>
                  </a:cubicBezTo>
                  <a:cubicBezTo>
                    <a:pt x="682" y="252"/>
                    <a:pt x="679" y="251"/>
                    <a:pt x="676" y="243"/>
                  </a:cubicBezTo>
                  <a:cubicBezTo>
                    <a:pt x="673" y="236"/>
                    <a:pt x="658" y="239"/>
                    <a:pt x="654" y="243"/>
                  </a:cubicBezTo>
                  <a:cubicBezTo>
                    <a:pt x="650" y="248"/>
                    <a:pt x="637" y="246"/>
                    <a:pt x="630" y="253"/>
                  </a:cubicBezTo>
                  <a:cubicBezTo>
                    <a:pt x="623" y="260"/>
                    <a:pt x="631" y="267"/>
                    <a:pt x="634" y="269"/>
                  </a:cubicBezTo>
                  <a:cubicBezTo>
                    <a:pt x="637" y="272"/>
                    <a:pt x="623" y="276"/>
                    <a:pt x="628" y="280"/>
                  </a:cubicBezTo>
                  <a:cubicBezTo>
                    <a:pt x="632" y="284"/>
                    <a:pt x="639" y="282"/>
                    <a:pt x="640" y="288"/>
                  </a:cubicBezTo>
                  <a:cubicBezTo>
                    <a:pt x="640" y="295"/>
                    <a:pt x="623" y="286"/>
                    <a:pt x="621" y="281"/>
                  </a:cubicBezTo>
                  <a:cubicBezTo>
                    <a:pt x="618" y="275"/>
                    <a:pt x="622" y="270"/>
                    <a:pt x="618" y="266"/>
                  </a:cubicBezTo>
                  <a:cubicBezTo>
                    <a:pt x="615" y="262"/>
                    <a:pt x="618" y="257"/>
                    <a:pt x="624" y="250"/>
                  </a:cubicBezTo>
                  <a:cubicBezTo>
                    <a:pt x="631" y="243"/>
                    <a:pt x="636" y="244"/>
                    <a:pt x="636" y="240"/>
                  </a:cubicBezTo>
                  <a:cubicBezTo>
                    <a:pt x="636" y="236"/>
                    <a:pt x="608" y="236"/>
                    <a:pt x="591" y="251"/>
                  </a:cubicBezTo>
                  <a:cubicBezTo>
                    <a:pt x="575" y="266"/>
                    <a:pt x="580" y="286"/>
                    <a:pt x="581" y="290"/>
                  </a:cubicBezTo>
                  <a:cubicBezTo>
                    <a:pt x="582" y="294"/>
                    <a:pt x="596" y="292"/>
                    <a:pt x="605" y="295"/>
                  </a:cubicBezTo>
                  <a:cubicBezTo>
                    <a:pt x="613" y="297"/>
                    <a:pt x="609" y="301"/>
                    <a:pt x="602" y="300"/>
                  </a:cubicBezTo>
                  <a:cubicBezTo>
                    <a:pt x="596" y="299"/>
                    <a:pt x="585" y="297"/>
                    <a:pt x="585" y="301"/>
                  </a:cubicBezTo>
                  <a:cubicBezTo>
                    <a:pt x="586" y="306"/>
                    <a:pt x="599" y="314"/>
                    <a:pt x="607" y="312"/>
                  </a:cubicBezTo>
                  <a:cubicBezTo>
                    <a:pt x="615" y="310"/>
                    <a:pt x="615" y="310"/>
                    <a:pt x="619" y="315"/>
                  </a:cubicBezTo>
                  <a:cubicBezTo>
                    <a:pt x="622" y="319"/>
                    <a:pt x="632" y="318"/>
                    <a:pt x="641" y="318"/>
                  </a:cubicBezTo>
                  <a:cubicBezTo>
                    <a:pt x="651" y="319"/>
                    <a:pt x="662" y="322"/>
                    <a:pt x="666" y="323"/>
                  </a:cubicBezTo>
                  <a:cubicBezTo>
                    <a:pt x="671" y="323"/>
                    <a:pt x="676" y="320"/>
                    <a:pt x="678" y="318"/>
                  </a:cubicBezTo>
                  <a:cubicBezTo>
                    <a:pt x="679" y="315"/>
                    <a:pt x="698" y="322"/>
                    <a:pt x="703" y="321"/>
                  </a:cubicBezTo>
                  <a:cubicBezTo>
                    <a:pt x="709" y="321"/>
                    <a:pt x="705" y="316"/>
                    <a:pt x="702" y="314"/>
                  </a:cubicBezTo>
                  <a:cubicBezTo>
                    <a:pt x="698" y="313"/>
                    <a:pt x="700" y="306"/>
                    <a:pt x="704" y="309"/>
                  </a:cubicBezTo>
                  <a:cubicBezTo>
                    <a:pt x="709" y="311"/>
                    <a:pt x="716" y="313"/>
                    <a:pt x="718" y="317"/>
                  </a:cubicBezTo>
                  <a:cubicBezTo>
                    <a:pt x="719" y="321"/>
                    <a:pt x="723" y="319"/>
                    <a:pt x="724" y="323"/>
                  </a:cubicBezTo>
                  <a:cubicBezTo>
                    <a:pt x="724" y="326"/>
                    <a:pt x="740" y="330"/>
                    <a:pt x="741" y="334"/>
                  </a:cubicBezTo>
                  <a:cubicBezTo>
                    <a:pt x="741" y="338"/>
                    <a:pt x="725" y="340"/>
                    <a:pt x="730" y="344"/>
                  </a:cubicBezTo>
                  <a:cubicBezTo>
                    <a:pt x="734" y="347"/>
                    <a:pt x="741" y="339"/>
                    <a:pt x="747" y="339"/>
                  </a:cubicBezTo>
                  <a:cubicBezTo>
                    <a:pt x="753" y="338"/>
                    <a:pt x="753" y="352"/>
                    <a:pt x="758" y="350"/>
                  </a:cubicBezTo>
                  <a:cubicBezTo>
                    <a:pt x="764" y="347"/>
                    <a:pt x="769" y="352"/>
                    <a:pt x="775" y="361"/>
                  </a:cubicBezTo>
                  <a:cubicBezTo>
                    <a:pt x="781" y="369"/>
                    <a:pt x="774" y="377"/>
                    <a:pt x="775" y="380"/>
                  </a:cubicBezTo>
                  <a:cubicBezTo>
                    <a:pt x="775" y="383"/>
                    <a:pt x="787" y="382"/>
                    <a:pt x="793" y="379"/>
                  </a:cubicBezTo>
                  <a:cubicBezTo>
                    <a:pt x="800" y="375"/>
                    <a:pt x="806" y="383"/>
                    <a:pt x="811" y="387"/>
                  </a:cubicBezTo>
                  <a:cubicBezTo>
                    <a:pt x="816" y="392"/>
                    <a:pt x="792" y="399"/>
                    <a:pt x="794" y="395"/>
                  </a:cubicBezTo>
                  <a:cubicBezTo>
                    <a:pt x="796" y="391"/>
                    <a:pt x="780" y="379"/>
                    <a:pt x="766" y="385"/>
                  </a:cubicBezTo>
                  <a:cubicBezTo>
                    <a:pt x="751" y="390"/>
                    <a:pt x="761" y="399"/>
                    <a:pt x="763" y="404"/>
                  </a:cubicBezTo>
                  <a:cubicBezTo>
                    <a:pt x="764" y="409"/>
                    <a:pt x="750" y="414"/>
                    <a:pt x="736" y="409"/>
                  </a:cubicBezTo>
                  <a:cubicBezTo>
                    <a:pt x="723" y="405"/>
                    <a:pt x="727" y="412"/>
                    <a:pt x="721" y="412"/>
                  </a:cubicBezTo>
                  <a:cubicBezTo>
                    <a:pt x="716" y="412"/>
                    <a:pt x="710" y="421"/>
                    <a:pt x="715" y="426"/>
                  </a:cubicBezTo>
                  <a:cubicBezTo>
                    <a:pt x="720" y="432"/>
                    <a:pt x="731" y="427"/>
                    <a:pt x="740" y="427"/>
                  </a:cubicBezTo>
                  <a:cubicBezTo>
                    <a:pt x="749" y="428"/>
                    <a:pt x="750" y="430"/>
                    <a:pt x="751" y="425"/>
                  </a:cubicBezTo>
                  <a:cubicBezTo>
                    <a:pt x="752" y="420"/>
                    <a:pt x="761" y="423"/>
                    <a:pt x="768" y="424"/>
                  </a:cubicBezTo>
                  <a:cubicBezTo>
                    <a:pt x="774" y="426"/>
                    <a:pt x="773" y="435"/>
                    <a:pt x="781" y="436"/>
                  </a:cubicBezTo>
                  <a:cubicBezTo>
                    <a:pt x="789" y="437"/>
                    <a:pt x="782" y="445"/>
                    <a:pt x="787" y="450"/>
                  </a:cubicBezTo>
                  <a:cubicBezTo>
                    <a:pt x="792" y="456"/>
                    <a:pt x="808" y="453"/>
                    <a:pt x="814" y="459"/>
                  </a:cubicBezTo>
                  <a:cubicBezTo>
                    <a:pt x="820" y="465"/>
                    <a:pt x="846" y="476"/>
                    <a:pt x="849" y="472"/>
                  </a:cubicBezTo>
                  <a:cubicBezTo>
                    <a:pt x="853" y="467"/>
                    <a:pt x="827" y="444"/>
                    <a:pt x="820" y="442"/>
                  </a:cubicBezTo>
                  <a:cubicBezTo>
                    <a:pt x="812" y="440"/>
                    <a:pt x="827" y="438"/>
                    <a:pt x="837" y="445"/>
                  </a:cubicBezTo>
                  <a:cubicBezTo>
                    <a:pt x="846" y="453"/>
                    <a:pt x="860" y="456"/>
                    <a:pt x="867" y="447"/>
                  </a:cubicBezTo>
                  <a:cubicBezTo>
                    <a:pt x="874" y="438"/>
                    <a:pt x="861" y="441"/>
                    <a:pt x="861" y="434"/>
                  </a:cubicBezTo>
                  <a:cubicBezTo>
                    <a:pt x="861" y="428"/>
                    <a:pt x="857" y="419"/>
                    <a:pt x="850" y="419"/>
                  </a:cubicBezTo>
                  <a:cubicBezTo>
                    <a:pt x="843" y="419"/>
                    <a:pt x="825" y="405"/>
                    <a:pt x="831" y="402"/>
                  </a:cubicBezTo>
                  <a:cubicBezTo>
                    <a:pt x="838" y="399"/>
                    <a:pt x="829" y="395"/>
                    <a:pt x="834" y="389"/>
                  </a:cubicBezTo>
                  <a:cubicBezTo>
                    <a:pt x="839" y="384"/>
                    <a:pt x="844" y="394"/>
                    <a:pt x="850" y="395"/>
                  </a:cubicBezTo>
                  <a:close/>
                  <a:moveTo>
                    <a:pt x="745" y="371"/>
                  </a:moveTo>
                  <a:cubicBezTo>
                    <a:pt x="751" y="370"/>
                    <a:pt x="750" y="360"/>
                    <a:pt x="746" y="356"/>
                  </a:cubicBezTo>
                  <a:cubicBezTo>
                    <a:pt x="744" y="352"/>
                    <a:pt x="737" y="352"/>
                    <a:pt x="732" y="352"/>
                  </a:cubicBezTo>
                  <a:cubicBezTo>
                    <a:pt x="726" y="353"/>
                    <a:pt x="717" y="361"/>
                    <a:pt x="722" y="370"/>
                  </a:cubicBezTo>
                  <a:cubicBezTo>
                    <a:pt x="727" y="378"/>
                    <a:pt x="739" y="372"/>
                    <a:pt x="745" y="371"/>
                  </a:cubicBezTo>
                  <a:close/>
                  <a:moveTo>
                    <a:pt x="682" y="241"/>
                  </a:moveTo>
                  <a:cubicBezTo>
                    <a:pt x="679" y="247"/>
                    <a:pt x="689" y="247"/>
                    <a:pt x="689" y="255"/>
                  </a:cubicBezTo>
                  <a:cubicBezTo>
                    <a:pt x="690" y="262"/>
                    <a:pt x="699" y="265"/>
                    <a:pt x="706" y="260"/>
                  </a:cubicBezTo>
                  <a:cubicBezTo>
                    <a:pt x="713" y="256"/>
                    <a:pt x="733" y="261"/>
                    <a:pt x="733" y="256"/>
                  </a:cubicBezTo>
                  <a:cubicBezTo>
                    <a:pt x="733" y="250"/>
                    <a:pt x="712" y="240"/>
                    <a:pt x="705" y="242"/>
                  </a:cubicBezTo>
                  <a:cubicBezTo>
                    <a:pt x="697" y="243"/>
                    <a:pt x="685" y="234"/>
                    <a:pt x="682" y="241"/>
                  </a:cubicBezTo>
                  <a:close/>
                  <a:moveTo>
                    <a:pt x="870" y="666"/>
                  </a:moveTo>
                  <a:cubicBezTo>
                    <a:pt x="871" y="670"/>
                    <a:pt x="900" y="682"/>
                    <a:pt x="901" y="677"/>
                  </a:cubicBezTo>
                  <a:cubicBezTo>
                    <a:pt x="902" y="671"/>
                    <a:pt x="869" y="663"/>
                    <a:pt x="870" y="666"/>
                  </a:cubicBezTo>
                  <a:close/>
                  <a:moveTo>
                    <a:pt x="997" y="696"/>
                  </a:moveTo>
                  <a:cubicBezTo>
                    <a:pt x="995" y="700"/>
                    <a:pt x="992" y="693"/>
                    <a:pt x="996" y="690"/>
                  </a:cubicBezTo>
                  <a:cubicBezTo>
                    <a:pt x="1000" y="687"/>
                    <a:pt x="995" y="685"/>
                    <a:pt x="991" y="687"/>
                  </a:cubicBezTo>
                  <a:cubicBezTo>
                    <a:pt x="987" y="689"/>
                    <a:pt x="988" y="678"/>
                    <a:pt x="992" y="676"/>
                  </a:cubicBezTo>
                  <a:cubicBezTo>
                    <a:pt x="996" y="674"/>
                    <a:pt x="983" y="670"/>
                    <a:pt x="983" y="674"/>
                  </a:cubicBezTo>
                  <a:cubicBezTo>
                    <a:pt x="983" y="678"/>
                    <a:pt x="974" y="675"/>
                    <a:pt x="973" y="672"/>
                  </a:cubicBezTo>
                  <a:cubicBezTo>
                    <a:pt x="972" y="669"/>
                    <a:pt x="966" y="668"/>
                    <a:pt x="968" y="665"/>
                  </a:cubicBezTo>
                  <a:cubicBezTo>
                    <a:pt x="970" y="663"/>
                    <a:pt x="960" y="662"/>
                    <a:pt x="959" y="666"/>
                  </a:cubicBezTo>
                  <a:cubicBezTo>
                    <a:pt x="958" y="670"/>
                    <a:pt x="955" y="663"/>
                    <a:pt x="960" y="658"/>
                  </a:cubicBezTo>
                  <a:cubicBezTo>
                    <a:pt x="965" y="652"/>
                    <a:pt x="964" y="648"/>
                    <a:pt x="968" y="645"/>
                  </a:cubicBezTo>
                  <a:cubicBezTo>
                    <a:pt x="973" y="642"/>
                    <a:pt x="968" y="639"/>
                    <a:pt x="963" y="641"/>
                  </a:cubicBezTo>
                  <a:cubicBezTo>
                    <a:pt x="958" y="643"/>
                    <a:pt x="945" y="662"/>
                    <a:pt x="945" y="667"/>
                  </a:cubicBezTo>
                  <a:cubicBezTo>
                    <a:pt x="945" y="672"/>
                    <a:pt x="944" y="678"/>
                    <a:pt x="940" y="677"/>
                  </a:cubicBezTo>
                  <a:cubicBezTo>
                    <a:pt x="935" y="677"/>
                    <a:pt x="930" y="681"/>
                    <a:pt x="933" y="684"/>
                  </a:cubicBezTo>
                  <a:cubicBezTo>
                    <a:pt x="937" y="687"/>
                    <a:pt x="924" y="694"/>
                    <a:pt x="930" y="698"/>
                  </a:cubicBezTo>
                  <a:cubicBezTo>
                    <a:pt x="934" y="700"/>
                    <a:pt x="941" y="697"/>
                    <a:pt x="947" y="697"/>
                  </a:cubicBezTo>
                  <a:cubicBezTo>
                    <a:pt x="953" y="698"/>
                    <a:pt x="958" y="698"/>
                    <a:pt x="963" y="695"/>
                  </a:cubicBezTo>
                  <a:cubicBezTo>
                    <a:pt x="968" y="691"/>
                    <a:pt x="968" y="698"/>
                    <a:pt x="974" y="697"/>
                  </a:cubicBezTo>
                  <a:cubicBezTo>
                    <a:pt x="979" y="697"/>
                    <a:pt x="971" y="702"/>
                    <a:pt x="971" y="705"/>
                  </a:cubicBezTo>
                  <a:cubicBezTo>
                    <a:pt x="971" y="709"/>
                    <a:pt x="977" y="703"/>
                    <a:pt x="981" y="701"/>
                  </a:cubicBezTo>
                  <a:cubicBezTo>
                    <a:pt x="985" y="699"/>
                    <a:pt x="990" y="701"/>
                    <a:pt x="988" y="705"/>
                  </a:cubicBezTo>
                  <a:cubicBezTo>
                    <a:pt x="986" y="708"/>
                    <a:pt x="999" y="711"/>
                    <a:pt x="1002" y="706"/>
                  </a:cubicBezTo>
                  <a:cubicBezTo>
                    <a:pt x="1005" y="701"/>
                    <a:pt x="999" y="692"/>
                    <a:pt x="997" y="696"/>
                  </a:cubicBezTo>
                  <a:close/>
                  <a:moveTo>
                    <a:pt x="93" y="604"/>
                  </a:moveTo>
                  <a:cubicBezTo>
                    <a:pt x="84" y="609"/>
                    <a:pt x="106" y="632"/>
                    <a:pt x="110" y="629"/>
                  </a:cubicBezTo>
                  <a:cubicBezTo>
                    <a:pt x="113" y="627"/>
                    <a:pt x="105" y="617"/>
                    <a:pt x="105" y="611"/>
                  </a:cubicBezTo>
                  <a:cubicBezTo>
                    <a:pt x="105" y="605"/>
                    <a:pt x="102" y="599"/>
                    <a:pt x="93" y="604"/>
                  </a:cubicBezTo>
                  <a:close/>
                  <a:moveTo>
                    <a:pt x="917" y="718"/>
                  </a:moveTo>
                  <a:cubicBezTo>
                    <a:pt x="913" y="719"/>
                    <a:pt x="916" y="713"/>
                    <a:pt x="917" y="710"/>
                  </a:cubicBezTo>
                  <a:cubicBezTo>
                    <a:pt x="917" y="708"/>
                    <a:pt x="909" y="712"/>
                    <a:pt x="909" y="715"/>
                  </a:cubicBezTo>
                  <a:cubicBezTo>
                    <a:pt x="909" y="718"/>
                    <a:pt x="903" y="719"/>
                    <a:pt x="903" y="721"/>
                  </a:cubicBezTo>
                  <a:cubicBezTo>
                    <a:pt x="903" y="727"/>
                    <a:pt x="902" y="724"/>
                    <a:pt x="898" y="726"/>
                  </a:cubicBezTo>
                  <a:cubicBezTo>
                    <a:pt x="894" y="728"/>
                    <a:pt x="879" y="726"/>
                    <a:pt x="878" y="723"/>
                  </a:cubicBezTo>
                  <a:cubicBezTo>
                    <a:pt x="878" y="719"/>
                    <a:pt x="867" y="717"/>
                    <a:pt x="866" y="713"/>
                  </a:cubicBezTo>
                  <a:cubicBezTo>
                    <a:pt x="866" y="708"/>
                    <a:pt x="860" y="706"/>
                    <a:pt x="865" y="701"/>
                  </a:cubicBezTo>
                  <a:cubicBezTo>
                    <a:pt x="869" y="696"/>
                    <a:pt x="864" y="693"/>
                    <a:pt x="860" y="697"/>
                  </a:cubicBezTo>
                  <a:cubicBezTo>
                    <a:pt x="855" y="701"/>
                    <a:pt x="853" y="695"/>
                    <a:pt x="859" y="693"/>
                  </a:cubicBezTo>
                  <a:cubicBezTo>
                    <a:pt x="864" y="691"/>
                    <a:pt x="875" y="688"/>
                    <a:pt x="870" y="678"/>
                  </a:cubicBezTo>
                  <a:cubicBezTo>
                    <a:pt x="864" y="668"/>
                    <a:pt x="830" y="681"/>
                    <a:pt x="821" y="686"/>
                  </a:cubicBezTo>
                  <a:cubicBezTo>
                    <a:pt x="812" y="691"/>
                    <a:pt x="801" y="707"/>
                    <a:pt x="796" y="707"/>
                  </a:cubicBezTo>
                  <a:cubicBezTo>
                    <a:pt x="792" y="707"/>
                    <a:pt x="805" y="699"/>
                    <a:pt x="807" y="696"/>
                  </a:cubicBezTo>
                  <a:cubicBezTo>
                    <a:pt x="809" y="692"/>
                    <a:pt x="806" y="689"/>
                    <a:pt x="809" y="690"/>
                  </a:cubicBezTo>
                  <a:cubicBezTo>
                    <a:pt x="812" y="692"/>
                    <a:pt x="819" y="680"/>
                    <a:pt x="825" y="676"/>
                  </a:cubicBezTo>
                  <a:cubicBezTo>
                    <a:pt x="830" y="672"/>
                    <a:pt x="836" y="675"/>
                    <a:pt x="836" y="672"/>
                  </a:cubicBezTo>
                  <a:cubicBezTo>
                    <a:pt x="837" y="669"/>
                    <a:pt x="840" y="667"/>
                    <a:pt x="845" y="662"/>
                  </a:cubicBezTo>
                  <a:cubicBezTo>
                    <a:pt x="850" y="658"/>
                    <a:pt x="909" y="658"/>
                    <a:pt x="915" y="659"/>
                  </a:cubicBezTo>
                  <a:cubicBezTo>
                    <a:pt x="921" y="659"/>
                    <a:pt x="932" y="651"/>
                    <a:pt x="935" y="646"/>
                  </a:cubicBezTo>
                  <a:cubicBezTo>
                    <a:pt x="939" y="641"/>
                    <a:pt x="943" y="641"/>
                    <a:pt x="951" y="642"/>
                  </a:cubicBezTo>
                  <a:cubicBezTo>
                    <a:pt x="959" y="642"/>
                    <a:pt x="963" y="635"/>
                    <a:pt x="967" y="632"/>
                  </a:cubicBezTo>
                  <a:cubicBezTo>
                    <a:pt x="971" y="629"/>
                    <a:pt x="969" y="628"/>
                    <a:pt x="966" y="627"/>
                  </a:cubicBezTo>
                  <a:cubicBezTo>
                    <a:pt x="962" y="627"/>
                    <a:pt x="959" y="624"/>
                    <a:pt x="962" y="624"/>
                  </a:cubicBezTo>
                  <a:cubicBezTo>
                    <a:pt x="966" y="624"/>
                    <a:pt x="968" y="622"/>
                    <a:pt x="969" y="617"/>
                  </a:cubicBezTo>
                  <a:cubicBezTo>
                    <a:pt x="971" y="613"/>
                    <a:pt x="968" y="615"/>
                    <a:pt x="963" y="609"/>
                  </a:cubicBezTo>
                  <a:cubicBezTo>
                    <a:pt x="958" y="602"/>
                    <a:pt x="956" y="611"/>
                    <a:pt x="951" y="610"/>
                  </a:cubicBezTo>
                  <a:cubicBezTo>
                    <a:pt x="946" y="610"/>
                    <a:pt x="954" y="604"/>
                    <a:pt x="950" y="601"/>
                  </a:cubicBezTo>
                  <a:cubicBezTo>
                    <a:pt x="946" y="599"/>
                    <a:pt x="939" y="600"/>
                    <a:pt x="933" y="605"/>
                  </a:cubicBezTo>
                  <a:cubicBezTo>
                    <a:pt x="927" y="610"/>
                    <a:pt x="927" y="605"/>
                    <a:pt x="922" y="610"/>
                  </a:cubicBezTo>
                  <a:cubicBezTo>
                    <a:pt x="917" y="615"/>
                    <a:pt x="917" y="608"/>
                    <a:pt x="919" y="606"/>
                  </a:cubicBezTo>
                  <a:cubicBezTo>
                    <a:pt x="922" y="604"/>
                    <a:pt x="924" y="606"/>
                    <a:pt x="926" y="603"/>
                  </a:cubicBezTo>
                  <a:cubicBezTo>
                    <a:pt x="928" y="600"/>
                    <a:pt x="930" y="603"/>
                    <a:pt x="936" y="599"/>
                  </a:cubicBezTo>
                  <a:cubicBezTo>
                    <a:pt x="942" y="595"/>
                    <a:pt x="947" y="597"/>
                    <a:pt x="949" y="594"/>
                  </a:cubicBezTo>
                  <a:cubicBezTo>
                    <a:pt x="950" y="592"/>
                    <a:pt x="946" y="588"/>
                    <a:pt x="940" y="589"/>
                  </a:cubicBezTo>
                  <a:cubicBezTo>
                    <a:pt x="935" y="590"/>
                    <a:pt x="931" y="582"/>
                    <a:pt x="928" y="584"/>
                  </a:cubicBezTo>
                  <a:cubicBezTo>
                    <a:pt x="924" y="587"/>
                    <a:pt x="925" y="580"/>
                    <a:pt x="921" y="583"/>
                  </a:cubicBezTo>
                  <a:cubicBezTo>
                    <a:pt x="917" y="585"/>
                    <a:pt x="915" y="582"/>
                    <a:pt x="913" y="577"/>
                  </a:cubicBezTo>
                  <a:cubicBezTo>
                    <a:pt x="911" y="573"/>
                    <a:pt x="900" y="565"/>
                    <a:pt x="894" y="563"/>
                  </a:cubicBezTo>
                  <a:cubicBezTo>
                    <a:pt x="887" y="561"/>
                    <a:pt x="892" y="557"/>
                    <a:pt x="895" y="560"/>
                  </a:cubicBezTo>
                  <a:cubicBezTo>
                    <a:pt x="899" y="562"/>
                    <a:pt x="903" y="557"/>
                    <a:pt x="904" y="555"/>
                  </a:cubicBezTo>
                  <a:cubicBezTo>
                    <a:pt x="906" y="552"/>
                    <a:pt x="902" y="550"/>
                    <a:pt x="900" y="550"/>
                  </a:cubicBezTo>
                  <a:cubicBezTo>
                    <a:pt x="898" y="550"/>
                    <a:pt x="898" y="546"/>
                    <a:pt x="898" y="544"/>
                  </a:cubicBezTo>
                  <a:cubicBezTo>
                    <a:pt x="899" y="541"/>
                    <a:pt x="891" y="538"/>
                    <a:pt x="891" y="536"/>
                  </a:cubicBezTo>
                  <a:cubicBezTo>
                    <a:pt x="891" y="533"/>
                    <a:pt x="886" y="531"/>
                    <a:pt x="887" y="529"/>
                  </a:cubicBezTo>
                  <a:cubicBezTo>
                    <a:pt x="887" y="527"/>
                    <a:pt x="882" y="524"/>
                    <a:pt x="882" y="521"/>
                  </a:cubicBezTo>
                  <a:cubicBezTo>
                    <a:pt x="882" y="518"/>
                    <a:pt x="875" y="512"/>
                    <a:pt x="875" y="508"/>
                  </a:cubicBezTo>
                  <a:cubicBezTo>
                    <a:pt x="874" y="505"/>
                    <a:pt x="870" y="502"/>
                    <a:pt x="869" y="498"/>
                  </a:cubicBezTo>
                  <a:cubicBezTo>
                    <a:pt x="867" y="494"/>
                    <a:pt x="865" y="496"/>
                    <a:pt x="864" y="502"/>
                  </a:cubicBezTo>
                  <a:cubicBezTo>
                    <a:pt x="862" y="508"/>
                    <a:pt x="857" y="507"/>
                    <a:pt x="859" y="509"/>
                  </a:cubicBezTo>
                  <a:cubicBezTo>
                    <a:pt x="862" y="513"/>
                    <a:pt x="859" y="514"/>
                    <a:pt x="857" y="516"/>
                  </a:cubicBezTo>
                  <a:cubicBezTo>
                    <a:pt x="855" y="519"/>
                    <a:pt x="859" y="522"/>
                    <a:pt x="855" y="522"/>
                  </a:cubicBezTo>
                  <a:cubicBezTo>
                    <a:pt x="851" y="522"/>
                    <a:pt x="853" y="530"/>
                    <a:pt x="851" y="527"/>
                  </a:cubicBezTo>
                  <a:cubicBezTo>
                    <a:pt x="849" y="523"/>
                    <a:pt x="844" y="524"/>
                    <a:pt x="844" y="528"/>
                  </a:cubicBezTo>
                  <a:cubicBezTo>
                    <a:pt x="844" y="531"/>
                    <a:pt x="836" y="534"/>
                    <a:pt x="833" y="534"/>
                  </a:cubicBezTo>
                  <a:cubicBezTo>
                    <a:pt x="830" y="534"/>
                    <a:pt x="830" y="527"/>
                    <a:pt x="827" y="529"/>
                  </a:cubicBezTo>
                  <a:cubicBezTo>
                    <a:pt x="824" y="531"/>
                    <a:pt x="825" y="523"/>
                    <a:pt x="820" y="524"/>
                  </a:cubicBezTo>
                  <a:cubicBezTo>
                    <a:pt x="816" y="524"/>
                    <a:pt x="813" y="523"/>
                    <a:pt x="814" y="520"/>
                  </a:cubicBezTo>
                  <a:cubicBezTo>
                    <a:pt x="816" y="516"/>
                    <a:pt x="807" y="514"/>
                    <a:pt x="810" y="512"/>
                  </a:cubicBezTo>
                  <a:cubicBezTo>
                    <a:pt x="813" y="510"/>
                    <a:pt x="809" y="506"/>
                    <a:pt x="809" y="499"/>
                  </a:cubicBezTo>
                  <a:cubicBezTo>
                    <a:pt x="808" y="493"/>
                    <a:pt x="812" y="492"/>
                    <a:pt x="812" y="490"/>
                  </a:cubicBezTo>
                  <a:cubicBezTo>
                    <a:pt x="812" y="487"/>
                    <a:pt x="809" y="487"/>
                    <a:pt x="806" y="489"/>
                  </a:cubicBezTo>
                  <a:cubicBezTo>
                    <a:pt x="803" y="491"/>
                    <a:pt x="803" y="486"/>
                    <a:pt x="800" y="487"/>
                  </a:cubicBezTo>
                  <a:cubicBezTo>
                    <a:pt x="797" y="487"/>
                    <a:pt x="787" y="486"/>
                    <a:pt x="787" y="482"/>
                  </a:cubicBezTo>
                  <a:cubicBezTo>
                    <a:pt x="786" y="477"/>
                    <a:pt x="783" y="480"/>
                    <a:pt x="781" y="475"/>
                  </a:cubicBezTo>
                  <a:cubicBezTo>
                    <a:pt x="780" y="471"/>
                    <a:pt x="776" y="474"/>
                    <a:pt x="776" y="471"/>
                  </a:cubicBezTo>
                  <a:cubicBezTo>
                    <a:pt x="776" y="468"/>
                    <a:pt x="774" y="467"/>
                    <a:pt x="771" y="467"/>
                  </a:cubicBezTo>
                  <a:cubicBezTo>
                    <a:pt x="768" y="467"/>
                    <a:pt x="767" y="463"/>
                    <a:pt x="763" y="463"/>
                  </a:cubicBezTo>
                  <a:cubicBezTo>
                    <a:pt x="759" y="462"/>
                    <a:pt x="754" y="466"/>
                    <a:pt x="752" y="467"/>
                  </a:cubicBezTo>
                  <a:cubicBezTo>
                    <a:pt x="750" y="468"/>
                    <a:pt x="744" y="463"/>
                    <a:pt x="742" y="465"/>
                  </a:cubicBezTo>
                  <a:cubicBezTo>
                    <a:pt x="739" y="467"/>
                    <a:pt x="739" y="464"/>
                    <a:pt x="733" y="462"/>
                  </a:cubicBezTo>
                  <a:cubicBezTo>
                    <a:pt x="726" y="460"/>
                    <a:pt x="718" y="460"/>
                    <a:pt x="718" y="462"/>
                  </a:cubicBezTo>
                  <a:cubicBezTo>
                    <a:pt x="717" y="464"/>
                    <a:pt x="712" y="465"/>
                    <a:pt x="713" y="470"/>
                  </a:cubicBezTo>
                  <a:cubicBezTo>
                    <a:pt x="714" y="475"/>
                    <a:pt x="719" y="474"/>
                    <a:pt x="720" y="478"/>
                  </a:cubicBezTo>
                  <a:cubicBezTo>
                    <a:pt x="721" y="481"/>
                    <a:pt x="718" y="480"/>
                    <a:pt x="717" y="483"/>
                  </a:cubicBezTo>
                  <a:cubicBezTo>
                    <a:pt x="717" y="487"/>
                    <a:pt x="714" y="486"/>
                    <a:pt x="714" y="489"/>
                  </a:cubicBezTo>
                  <a:cubicBezTo>
                    <a:pt x="714" y="491"/>
                    <a:pt x="716" y="490"/>
                    <a:pt x="717" y="495"/>
                  </a:cubicBezTo>
                  <a:cubicBezTo>
                    <a:pt x="719" y="499"/>
                    <a:pt x="721" y="499"/>
                    <a:pt x="722" y="505"/>
                  </a:cubicBezTo>
                  <a:cubicBezTo>
                    <a:pt x="723" y="511"/>
                    <a:pt x="720" y="510"/>
                    <a:pt x="717" y="511"/>
                  </a:cubicBezTo>
                  <a:cubicBezTo>
                    <a:pt x="715" y="511"/>
                    <a:pt x="718" y="514"/>
                    <a:pt x="714" y="518"/>
                  </a:cubicBezTo>
                  <a:cubicBezTo>
                    <a:pt x="711" y="522"/>
                    <a:pt x="708" y="527"/>
                    <a:pt x="710" y="529"/>
                  </a:cubicBezTo>
                  <a:cubicBezTo>
                    <a:pt x="713" y="532"/>
                    <a:pt x="723" y="536"/>
                    <a:pt x="727" y="543"/>
                  </a:cubicBezTo>
                  <a:cubicBezTo>
                    <a:pt x="731" y="549"/>
                    <a:pt x="731" y="560"/>
                    <a:pt x="730" y="567"/>
                  </a:cubicBezTo>
                  <a:cubicBezTo>
                    <a:pt x="729" y="575"/>
                    <a:pt x="720" y="577"/>
                    <a:pt x="714" y="583"/>
                  </a:cubicBezTo>
                  <a:cubicBezTo>
                    <a:pt x="708" y="590"/>
                    <a:pt x="701" y="589"/>
                    <a:pt x="698" y="589"/>
                  </a:cubicBezTo>
                  <a:cubicBezTo>
                    <a:pt x="695" y="589"/>
                    <a:pt x="697" y="595"/>
                    <a:pt x="701" y="600"/>
                  </a:cubicBezTo>
                  <a:cubicBezTo>
                    <a:pt x="705" y="605"/>
                    <a:pt x="702" y="606"/>
                    <a:pt x="704" y="611"/>
                  </a:cubicBezTo>
                  <a:cubicBezTo>
                    <a:pt x="706" y="616"/>
                    <a:pt x="704" y="620"/>
                    <a:pt x="707" y="625"/>
                  </a:cubicBezTo>
                  <a:cubicBezTo>
                    <a:pt x="711" y="629"/>
                    <a:pt x="709" y="631"/>
                    <a:pt x="705" y="634"/>
                  </a:cubicBezTo>
                  <a:cubicBezTo>
                    <a:pt x="701" y="637"/>
                    <a:pt x="706" y="636"/>
                    <a:pt x="707" y="640"/>
                  </a:cubicBezTo>
                  <a:cubicBezTo>
                    <a:pt x="707" y="644"/>
                    <a:pt x="705" y="642"/>
                    <a:pt x="702" y="639"/>
                  </a:cubicBezTo>
                  <a:cubicBezTo>
                    <a:pt x="698" y="637"/>
                    <a:pt x="695" y="644"/>
                    <a:pt x="695" y="646"/>
                  </a:cubicBezTo>
                  <a:cubicBezTo>
                    <a:pt x="695" y="649"/>
                    <a:pt x="688" y="643"/>
                    <a:pt x="686" y="643"/>
                  </a:cubicBezTo>
                  <a:cubicBezTo>
                    <a:pt x="684" y="643"/>
                    <a:pt x="686" y="639"/>
                    <a:pt x="682" y="635"/>
                  </a:cubicBezTo>
                  <a:cubicBezTo>
                    <a:pt x="677" y="632"/>
                    <a:pt x="674" y="631"/>
                    <a:pt x="674" y="627"/>
                  </a:cubicBezTo>
                  <a:cubicBezTo>
                    <a:pt x="674" y="624"/>
                    <a:pt x="666" y="621"/>
                    <a:pt x="666" y="617"/>
                  </a:cubicBezTo>
                  <a:cubicBezTo>
                    <a:pt x="666" y="613"/>
                    <a:pt x="667" y="603"/>
                    <a:pt x="665" y="600"/>
                  </a:cubicBezTo>
                  <a:cubicBezTo>
                    <a:pt x="664" y="597"/>
                    <a:pt x="665" y="594"/>
                    <a:pt x="667" y="591"/>
                  </a:cubicBezTo>
                  <a:cubicBezTo>
                    <a:pt x="668" y="588"/>
                    <a:pt x="665" y="584"/>
                    <a:pt x="660" y="584"/>
                  </a:cubicBezTo>
                  <a:cubicBezTo>
                    <a:pt x="656" y="584"/>
                    <a:pt x="650" y="583"/>
                    <a:pt x="643" y="583"/>
                  </a:cubicBezTo>
                  <a:cubicBezTo>
                    <a:pt x="637" y="584"/>
                    <a:pt x="634" y="583"/>
                    <a:pt x="632" y="581"/>
                  </a:cubicBezTo>
                  <a:cubicBezTo>
                    <a:pt x="630" y="579"/>
                    <a:pt x="624" y="575"/>
                    <a:pt x="616" y="573"/>
                  </a:cubicBezTo>
                  <a:cubicBezTo>
                    <a:pt x="608" y="571"/>
                    <a:pt x="605" y="567"/>
                    <a:pt x="604" y="565"/>
                  </a:cubicBezTo>
                  <a:cubicBezTo>
                    <a:pt x="603" y="563"/>
                    <a:pt x="596" y="561"/>
                    <a:pt x="594" y="559"/>
                  </a:cubicBezTo>
                  <a:cubicBezTo>
                    <a:pt x="592" y="557"/>
                    <a:pt x="585" y="555"/>
                    <a:pt x="582" y="556"/>
                  </a:cubicBezTo>
                  <a:cubicBezTo>
                    <a:pt x="579" y="556"/>
                    <a:pt x="571" y="550"/>
                    <a:pt x="567" y="550"/>
                  </a:cubicBezTo>
                  <a:cubicBezTo>
                    <a:pt x="562" y="550"/>
                    <a:pt x="552" y="555"/>
                    <a:pt x="550" y="555"/>
                  </a:cubicBezTo>
                  <a:cubicBezTo>
                    <a:pt x="548" y="555"/>
                    <a:pt x="550" y="551"/>
                    <a:pt x="551" y="549"/>
                  </a:cubicBezTo>
                  <a:cubicBezTo>
                    <a:pt x="553" y="548"/>
                    <a:pt x="548" y="540"/>
                    <a:pt x="546" y="535"/>
                  </a:cubicBezTo>
                  <a:cubicBezTo>
                    <a:pt x="545" y="530"/>
                    <a:pt x="543" y="525"/>
                    <a:pt x="538" y="525"/>
                  </a:cubicBezTo>
                  <a:cubicBezTo>
                    <a:pt x="533" y="526"/>
                    <a:pt x="527" y="523"/>
                    <a:pt x="526" y="522"/>
                  </a:cubicBezTo>
                  <a:cubicBezTo>
                    <a:pt x="524" y="521"/>
                    <a:pt x="524" y="507"/>
                    <a:pt x="525" y="501"/>
                  </a:cubicBezTo>
                  <a:cubicBezTo>
                    <a:pt x="526" y="495"/>
                    <a:pt x="533" y="486"/>
                    <a:pt x="533" y="482"/>
                  </a:cubicBezTo>
                  <a:cubicBezTo>
                    <a:pt x="533" y="479"/>
                    <a:pt x="537" y="477"/>
                    <a:pt x="541" y="476"/>
                  </a:cubicBezTo>
                  <a:cubicBezTo>
                    <a:pt x="545" y="475"/>
                    <a:pt x="542" y="468"/>
                    <a:pt x="545" y="467"/>
                  </a:cubicBezTo>
                  <a:cubicBezTo>
                    <a:pt x="549" y="467"/>
                    <a:pt x="549" y="465"/>
                    <a:pt x="550" y="462"/>
                  </a:cubicBezTo>
                  <a:cubicBezTo>
                    <a:pt x="551" y="459"/>
                    <a:pt x="555" y="461"/>
                    <a:pt x="553" y="459"/>
                  </a:cubicBezTo>
                  <a:cubicBezTo>
                    <a:pt x="550" y="456"/>
                    <a:pt x="552" y="455"/>
                    <a:pt x="558" y="455"/>
                  </a:cubicBezTo>
                  <a:cubicBezTo>
                    <a:pt x="564" y="455"/>
                    <a:pt x="572" y="453"/>
                    <a:pt x="571" y="448"/>
                  </a:cubicBezTo>
                  <a:cubicBezTo>
                    <a:pt x="570" y="442"/>
                    <a:pt x="555" y="446"/>
                    <a:pt x="555" y="441"/>
                  </a:cubicBezTo>
                  <a:cubicBezTo>
                    <a:pt x="555" y="437"/>
                    <a:pt x="536" y="436"/>
                    <a:pt x="537" y="434"/>
                  </a:cubicBezTo>
                  <a:cubicBezTo>
                    <a:pt x="538" y="431"/>
                    <a:pt x="556" y="436"/>
                    <a:pt x="563" y="438"/>
                  </a:cubicBezTo>
                  <a:cubicBezTo>
                    <a:pt x="569" y="441"/>
                    <a:pt x="571" y="440"/>
                    <a:pt x="576" y="440"/>
                  </a:cubicBezTo>
                  <a:cubicBezTo>
                    <a:pt x="581" y="440"/>
                    <a:pt x="578" y="433"/>
                    <a:pt x="579" y="430"/>
                  </a:cubicBezTo>
                  <a:cubicBezTo>
                    <a:pt x="580" y="428"/>
                    <a:pt x="590" y="435"/>
                    <a:pt x="596" y="433"/>
                  </a:cubicBezTo>
                  <a:cubicBezTo>
                    <a:pt x="601" y="432"/>
                    <a:pt x="607" y="420"/>
                    <a:pt x="612" y="417"/>
                  </a:cubicBezTo>
                  <a:cubicBezTo>
                    <a:pt x="616" y="413"/>
                    <a:pt x="612" y="410"/>
                    <a:pt x="603" y="411"/>
                  </a:cubicBezTo>
                  <a:cubicBezTo>
                    <a:pt x="594" y="412"/>
                    <a:pt x="588" y="408"/>
                    <a:pt x="583" y="405"/>
                  </a:cubicBezTo>
                  <a:cubicBezTo>
                    <a:pt x="578" y="401"/>
                    <a:pt x="579" y="398"/>
                    <a:pt x="584" y="398"/>
                  </a:cubicBezTo>
                  <a:cubicBezTo>
                    <a:pt x="589" y="399"/>
                    <a:pt x="602" y="409"/>
                    <a:pt x="607" y="409"/>
                  </a:cubicBezTo>
                  <a:cubicBezTo>
                    <a:pt x="611" y="410"/>
                    <a:pt x="620" y="400"/>
                    <a:pt x="624" y="397"/>
                  </a:cubicBezTo>
                  <a:cubicBezTo>
                    <a:pt x="628" y="394"/>
                    <a:pt x="620" y="393"/>
                    <a:pt x="617" y="391"/>
                  </a:cubicBezTo>
                  <a:cubicBezTo>
                    <a:pt x="614" y="388"/>
                    <a:pt x="622" y="387"/>
                    <a:pt x="626" y="387"/>
                  </a:cubicBezTo>
                  <a:cubicBezTo>
                    <a:pt x="630" y="387"/>
                    <a:pt x="632" y="390"/>
                    <a:pt x="633" y="392"/>
                  </a:cubicBezTo>
                  <a:cubicBezTo>
                    <a:pt x="635" y="394"/>
                    <a:pt x="642" y="391"/>
                    <a:pt x="645" y="391"/>
                  </a:cubicBezTo>
                  <a:cubicBezTo>
                    <a:pt x="649" y="391"/>
                    <a:pt x="645" y="385"/>
                    <a:pt x="639" y="383"/>
                  </a:cubicBezTo>
                  <a:cubicBezTo>
                    <a:pt x="633" y="381"/>
                    <a:pt x="639" y="376"/>
                    <a:pt x="641" y="380"/>
                  </a:cubicBezTo>
                  <a:cubicBezTo>
                    <a:pt x="643" y="383"/>
                    <a:pt x="647" y="383"/>
                    <a:pt x="649" y="387"/>
                  </a:cubicBezTo>
                  <a:cubicBezTo>
                    <a:pt x="652" y="392"/>
                    <a:pt x="653" y="389"/>
                    <a:pt x="658" y="387"/>
                  </a:cubicBezTo>
                  <a:cubicBezTo>
                    <a:pt x="663" y="385"/>
                    <a:pt x="666" y="382"/>
                    <a:pt x="669" y="379"/>
                  </a:cubicBezTo>
                  <a:cubicBezTo>
                    <a:pt x="671" y="376"/>
                    <a:pt x="672" y="380"/>
                    <a:pt x="675" y="375"/>
                  </a:cubicBezTo>
                  <a:cubicBezTo>
                    <a:pt x="678" y="370"/>
                    <a:pt x="674" y="366"/>
                    <a:pt x="670" y="363"/>
                  </a:cubicBezTo>
                  <a:cubicBezTo>
                    <a:pt x="666" y="360"/>
                    <a:pt x="670" y="357"/>
                    <a:pt x="666" y="355"/>
                  </a:cubicBezTo>
                  <a:cubicBezTo>
                    <a:pt x="662" y="353"/>
                    <a:pt x="661" y="349"/>
                    <a:pt x="666" y="350"/>
                  </a:cubicBezTo>
                  <a:cubicBezTo>
                    <a:pt x="671" y="351"/>
                    <a:pt x="675" y="349"/>
                    <a:pt x="677" y="346"/>
                  </a:cubicBezTo>
                  <a:cubicBezTo>
                    <a:pt x="680" y="342"/>
                    <a:pt x="670" y="342"/>
                    <a:pt x="674" y="339"/>
                  </a:cubicBezTo>
                  <a:cubicBezTo>
                    <a:pt x="679" y="337"/>
                    <a:pt x="675" y="334"/>
                    <a:pt x="671" y="334"/>
                  </a:cubicBezTo>
                  <a:cubicBezTo>
                    <a:pt x="666" y="334"/>
                    <a:pt x="662" y="332"/>
                    <a:pt x="662" y="328"/>
                  </a:cubicBezTo>
                  <a:cubicBezTo>
                    <a:pt x="662" y="324"/>
                    <a:pt x="654" y="327"/>
                    <a:pt x="649" y="325"/>
                  </a:cubicBezTo>
                  <a:cubicBezTo>
                    <a:pt x="645" y="322"/>
                    <a:pt x="634" y="323"/>
                    <a:pt x="632" y="323"/>
                  </a:cubicBezTo>
                  <a:cubicBezTo>
                    <a:pt x="629" y="323"/>
                    <a:pt x="629" y="334"/>
                    <a:pt x="633" y="334"/>
                  </a:cubicBezTo>
                  <a:cubicBezTo>
                    <a:pt x="636" y="334"/>
                    <a:pt x="639" y="338"/>
                    <a:pt x="636" y="339"/>
                  </a:cubicBezTo>
                  <a:cubicBezTo>
                    <a:pt x="633" y="341"/>
                    <a:pt x="637" y="345"/>
                    <a:pt x="634" y="344"/>
                  </a:cubicBezTo>
                  <a:cubicBezTo>
                    <a:pt x="632" y="344"/>
                    <a:pt x="628" y="343"/>
                    <a:pt x="627" y="349"/>
                  </a:cubicBezTo>
                  <a:cubicBezTo>
                    <a:pt x="626" y="356"/>
                    <a:pt x="626" y="358"/>
                    <a:pt x="621" y="361"/>
                  </a:cubicBezTo>
                  <a:cubicBezTo>
                    <a:pt x="617" y="363"/>
                    <a:pt x="620" y="353"/>
                    <a:pt x="616" y="354"/>
                  </a:cubicBezTo>
                  <a:cubicBezTo>
                    <a:pt x="612" y="354"/>
                    <a:pt x="612" y="362"/>
                    <a:pt x="615" y="362"/>
                  </a:cubicBezTo>
                  <a:cubicBezTo>
                    <a:pt x="618" y="363"/>
                    <a:pt x="618" y="366"/>
                    <a:pt x="619" y="369"/>
                  </a:cubicBezTo>
                  <a:cubicBezTo>
                    <a:pt x="620" y="373"/>
                    <a:pt x="614" y="370"/>
                    <a:pt x="611" y="375"/>
                  </a:cubicBezTo>
                  <a:cubicBezTo>
                    <a:pt x="609" y="379"/>
                    <a:pt x="608" y="373"/>
                    <a:pt x="605" y="370"/>
                  </a:cubicBezTo>
                  <a:cubicBezTo>
                    <a:pt x="601" y="367"/>
                    <a:pt x="597" y="362"/>
                    <a:pt x="597" y="358"/>
                  </a:cubicBezTo>
                  <a:cubicBezTo>
                    <a:pt x="598" y="355"/>
                    <a:pt x="599" y="354"/>
                    <a:pt x="602" y="353"/>
                  </a:cubicBezTo>
                  <a:cubicBezTo>
                    <a:pt x="605" y="353"/>
                    <a:pt x="602" y="350"/>
                    <a:pt x="602" y="346"/>
                  </a:cubicBezTo>
                  <a:cubicBezTo>
                    <a:pt x="602" y="341"/>
                    <a:pt x="598" y="343"/>
                    <a:pt x="594" y="338"/>
                  </a:cubicBezTo>
                  <a:cubicBezTo>
                    <a:pt x="590" y="333"/>
                    <a:pt x="586" y="333"/>
                    <a:pt x="584" y="335"/>
                  </a:cubicBezTo>
                  <a:cubicBezTo>
                    <a:pt x="582" y="338"/>
                    <a:pt x="583" y="342"/>
                    <a:pt x="580" y="343"/>
                  </a:cubicBezTo>
                  <a:cubicBezTo>
                    <a:pt x="576" y="345"/>
                    <a:pt x="578" y="352"/>
                    <a:pt x="575" y="352"/>
                  </a:cubicBezTo>
                  <a:cubicBezTo>
                    <a:pt x="572" y="353"/>
                    <a:pt x="573" y="340"/>
                    <a:pt x="571" y="339"/>
                  </a:cubicBezTo>
                  <a:cubicBezTo>
                    <a:pt x="568" y="338"/>
                    <a:pt x="569" y="335"/>
                    <a:pt x="572" y="334"/>
                  </a:cubicBezTo>
                  <a:cubicBezTo>
                    <a:pt x="576" y="334"/>
                    <a:pt x="578" y="330"/>
                    <a:pt x="575" y="330"/>
                  </a:cubicBezTo>
                  <a:cubicBezTo>
                    <a:pt x="572" y="330"/>
                    <a:pt x="566" y="326"/>
                    <a:pt x="564" y="325"/>
                  </a:cubicBezTo>
                  <a:cubicBezTo>
                    <a:pt x="562" y="324"/>
                    <a:pt x="558" y="329"/>
                    <a:pt x="555" y="327"/>
                  </a:cubicBezTo>
                  <a:cubicBezTo>
                    <a:pt x="553" y="325"/>
                    <a:pt x="556" y="320"/>
                    <a:pt x="556" y="318"/>
                  </a:cubicBezTo>
                  <a:cubicBezTo>
                    <a:pt x="556" y="315"/>
                    <a:pt x="560" y="319"/>
                    <a:pt x="562" y="315"/>
                  </a:cubicBezTo>
                  <a:cubicBezTo>
                    <a:pt x="565" y="312"/>
                    <a:pt x="555" y="312"/>
                    <a:pt x="555" y="308"/>
                  </a:cubicBezTo>
                  <a:cubicBezTo>
                    <a:pt x="555" y="304"/>
                    <a:pt x="548" y="303"/>
                    <a:pt x="545" y="302"/>
                  </a:cubicBezTo>
                  <a:cubicBezTo>
                    <a:pt x="543" y="301"/>
                    <a:pt x="547" y="295"/>
                    <a:pt x="546" y="292"/>
                  </a:cubicBezTo>
                  <a:cubicBezTo>
                    <a:pt x="545" y="290"/>
                    <a:pt x="535" y="281"/>
                    <a:pt x="531" y="282"/>
                  </a:cubicBezTo>
                  <a:cubicBezTo>
                    <a:pt x="527" y="283"/>
                    <a:pt x="526" y="277"/>
                    <a:pt x="529" y="277"/>
                  </a:cubicBezTo>
                  <a:cubicBezTo>
                    <a:pt x="531" y="277"/>
                    <a:pt x="533" y="276"/>
                    <a:pt x="537" y="271"/>
                  </a:cubicBezTo>
                  <a:cubicBezTo>
                    <a:pt x="541" y="266"/>
                    <a:pt x="542" y="265"/>
                    <a:pt x="539" y="264"/>
                  </a:cubicBezTo>
                  <a:cubicBezTo>
                    <a:pt x="536" y="263"/>
                    <a:pt x="534" y="260"/>
                    <a:pt x="539" y="260"/>
                  </a:cubicBezTo>
                  <a:cubicBezTo>
                    <a:pt x="545" y="260"/>
                    <a:pt x="554" y="264"/>
                    <a:pt x="557" y="262"/>
                  </a:cubicBezTo>
                  <a:cubicBezTo>
                    <a:pt x="560" y="259"/>
                    <a:pt x="569" y="245"/>
                    <a:pt x="573" y="239"/>
                  </a:cubicBezTo>
                  <a:cubicBezTo>
                    <a:pt x="577" y="234"/>
                    <a:pt x="570" y="234"/>
                    <a:pt x="561" y="234"/>
                  </a:cubicBezTo>
                  <a:cubicBezTo>
                    <a:pt x="552" y="235"/>
                    <a:pt x="550" y="231"/>
                    <a:pt x="543" y="230"/>
                  </a:cubicBezTo>
                  <a:cubicBezTo>
                    <a:pt x="535" y="230"/>
                    <a:pt x="521" y="232"/>
                    <a:pt x="519" y="234"/>
                  </a:cubicBezTo>
                  <a:cubicBezTo>
                    <a:pt x="517" y="236"/>
                    <a:pt x="523" y="238"/>
                    <a:pt x="522" y="241"/>
                  </a:cubicBezTo>
                  <a:cubicBezTo>
                    <a:pt x="522" y="243"/>
                    <a:pt x="517" y="239"/>
                    <a:pt x="515" y="240"/>
                  </a:cubicBezTo>
                  <a:cubicBezTo>
                    <a:pt x="513" y="241"/>
                    <a:pt x="516" y="244"/>
                    <a:pt x="515" y="253"/>
                  </a:cubicBezTo>
                  <a:cubicBezTo>
                    <a:pt x="514" y="262"/>
                    <a:pt x="517" y="262"/>
                    <a:pt x="519" y="266"/>
                  </a:cubicBezTo>
                  <a:cubicBezTo>
                    <a:pt x="522" y="269"/>
                    <a:pt x="521" y="273"/>
                    <a:pt x="521" y="279"/>
                  </a:cubicBezTo>
                  <a:cubicBezTo>
                    <a:pt x="521" y="284"/>
                    <a:pt x="516" y="284"/>
                    <a:pt x="514" y="285"/>
                  </a:cubicBezTo>
                  <a:cubicBezTo>
                    <a:pt x="513" y="286"/>
                    <a:pt x="519" y="288"/>
                    <a:pt x="518" y="292"/>
                  </a:cubicBezTo>
                  <a:cubicBezTo>
                    <a:pt x="517" y="295"/>
                    <a:pt x="512" y="290"/>
                    <a:pt x="509" y="291"/>
                  </a:cubicBezTo>
                  <a:cubicBezTo>
                    <a:pt x="506" y="292"/>
                    <a:pt x="503" y="300"/>
                    <a:pt x="506" y="303"/>
                  </a:cubicBezTo>
                  <a:cubicBezTo>
                    <a:pt x="510" y="306"/>
                    <a:pt x="511" y="305"/>
                    <a:pt x="508" y="309"/>
                  </a:cubicBezTo>
                  <a:cubicBezTo>
                    <a:pt x="506" y="312"/>
                    <a:pt x="503" y="317"/>
                    <a:pt x="509" y="321"/>
                  </a:cubicBezTo>
                  <a:cubicBezTo>
                    <a:pt x="515" y="326"/>
                    <a:pt x="526" y="326"/>
                    <a:pt x="532" y="329"/>
                  </a:cubicBezTo>
                  <a:cubicBezTo>
                    <a:pt x="538" y="333"/>
                    <a:pt x="529" y="331"/>
                    <a:pt x="532" y="335"/>
                  </a:cubicBezTo>
                  <a:cubicBezTo>
                    <a:pt x="534" y="339"/>
                    <a:pt x="528" y="341"/>
                    <a:pt x="528" y="344"/>
                  </a:cubicBezTo>
                  <a:cubicBezTo>
                    <a:pt x="528" y="347"/>
                    <a:pt x="531" y="346"/>
                    <a:pt x="534" y="340"/>
                  </a:cubicBezTo>
                  <a:cubicBezTo>
                    <a:pt x="537" y="335"/>
                    <a:pt x="539" y="342"/>
                    <a:pt x="539" y="346"/>
                  </a:cubicBezTo>
                  <a:cubicBezTo>
                    <a:pt x="538" y="351"/>
                    <a:pt x="534" y="348"/>
                    <a:pt x="531" y="353"/>
                  </a:cubicBezTo>
                  <a:cubicBezTo>
                    <a:pt x="528" y="358"/>
                    <a:pt x="525" y="359"/>
                    <a:pt x="520" y="358"/>
                  </a:cubicBezTo>
                  <a:cubicBezTo>
                    <a:pt x="515" y="357"/>
                    <a:pt x="518" y="364"/>
                    <a:pt x="520" y="369"/>
                  </a:cubicBezTo>
                  <a:cubicBezTo>
                    <a:pt x="522" y="373"/>
                    <a:pt x="519" y="374"/>
                    <a:pt x="514" y="373"/>
                  </a:cubicBezTo>
                  <a:cubicBezTo>
                    <a:pt x="508" y="371"/>
                    <a:pt x="505" y="368"/>
                    <a:pt x="508" y="364"/>
                  </a:cubicBezTo>
                  <a:cubicBezTo>
                    <a:pt x="511" y="359"/>
                    <a:pt x="513" y="354"/>
                    <a:pt x="509" y="355"/>
                  </a:cubicBezTo>
                  <a:cubicBezTo>
                    <a:pt x="506" y="355"/>
                    <a:pt x="499" y="355"/>
                    <a:pt x="496" y="351"/>
                  </a:cubicBezTo>
                  <a:cubicBezTo>
                    <a:pt x="494" y="348"/>
                    <a:pt x="498" y="349"/>
                    <a:pt x="505" y="350"/>
                  </a:cubicBezTo>
                  <a:cubicBezTo>
                    <a:pt x="511" y="351"/>
                    <a:pt x="506" y="345"/>
                    <a:pt x="511" y="345"/>
                  </a:cubicBezTo>
                  <a:cubicBezTo>
                    <a:pt x="516" y="345"/>
                    <a:pt x="519" y="348"/>
                    <a:pt x="524" y="344"/>
                  </a:cubicBezTo>
                  <a:cubicBezTo>
                    <a:pt x="528" y="341"/>
                    <a:pt x="521" y="333"/>
                    <a:pt x="517" y="335"/>
                  </a:cubicBezTo>
                  <a:cubicBezTo>
                    <a:pt x="514" y="336"/>
                    <a:pt x="508" y="337"/>
                    <a:pt x="508" y="334"/>
                  </a:cubicBezTo>
                  <a:cubicBezTo>
                    <a:pt x="508" y="330"/>
                    <a:pt x="514" y="333"/>
                    <a:pt x="518" y="332"/>
                  </a:cubicBezTo>
                  <a:cubicBezTo>
                    <a:pt x="521" y="331"/>
                    <a:pt x="516" y="327"/>
                    <a:pt x="511" y="328"/>
                  </a:cubicBezTo>
                  <a:cubicBezTo>
                    <a:pt x="506" y="329"/>
                    <a:pt x="502" y="330"/>
                    <a:pt x="498" y="325"/>
                  </a:cubicBezTo>
                  <a:cubicBezTo>
                    <a:pt x="494" y="321"/>
                    <a:pt x="487" y="319"/>
                    <a:pt x="485" y="328"/>
                  </a:cubicBezTo>
                  <a:cubicBezTo>
                    <a:pt x="484" y="338"/>
                    <a:pt x="477" y="333"/>
                    <a:pt x="474" y="336"/>
                  </a:cubicBezTo>
                  <a:cubicBezTo>
                    <a:pt x="471" y="339"/>
                    <a:pt x="477" y="342"/>
                    <a:pt x="484" y="342"/>
                  </a:cubicBezTo>
                  <a:cubicBezTo>
                    <a:pt x="491" y="342"/>
                    <a:pt x="496" y="348"/>
                    <a:pt x="492" y="348"/>
                  </a:cubicBezTo>
                  <a:cubicBezTo>
                    <a:pt x="489" y="348"/>
                    <a:pt x="491" y="353"/>
                    <a:pt x="487" y="351"/>
                  </a:cubicBezTo>
                  <a:cubicBezTo>
                    <a:pt x="484" y="350"/>
                    <a:pt x="480" y="351"/>
                    <a:pt x="483" y="354"/>
                  </a:cubicBezTo>
                  <a:cubicBezTo>
                    <a:pt x="485" y="357"/>
                    <a:pt x="482" y="359"/>
                    <a:pt x="482" y="362"/>
                  </a:cubicBezTo>
                  <a:cubicBezTo>
                    <a:pt x="482" y="365"/>
                    <a:pt x="477" y="362"/>
                    <a:pt x="471" y="361"/>
                  </a:cubicBezTo>
                  <a:cubicBezTo>
                    <a:pt x="466" y="361"/>
                    <a:pt x="456" y="363"/>
                    <a:pt x="449" y="364"/>
                  </a:cubicBezTo>
                  <a:cubicBezTo>
                    <a:pt x="442" y="366"/>
                    <a:pt x="435" y="363"/>
                    <a:pt x="432" y="360"/>
                  </a:cubicBezTo>
                  <a:cubicBezTo>
                    <a:pt x="429" y="357"/>
                    <a:pt x="425" y="357"/>
                    <a:pt x="420" y="357"/>
                  </a:cubicBezTo>
                  <a:cubicBezTo>
                    <a:pt x="415" y="357"/>
                    <a:pt x="416" y="352"/>
                    <a:pt x="410" y="352"/>
                  </a:cubicBezTo>
                  <a:cubicBezTo>
                    <a:pt x="403" y="352"/>
                    <a:pt x="405" y="346"/>
                    <a:pt x="404" y="343"/>
                  </a:cubicBezTo>
                  <a:cubicBezTo>
                    <a:pt x="403" y="340"/>
                    <a:pt x="390" y="341"/>
                    <a:pt x="385" y="344"/>
                  </a:cubicBezTo>
                  <a:cubicBezTo>
                    <a:pt x="381" y="347"/>
                    <a:pt x="371" y="346"/>
                    <a:pt x="369" y="351"/>
                  </a:cubicBezTo>
                  <a:cubicBezTo>
                    <a:pt x="366" y="357"/>
                    <a:pt x="371" y="356"/>
                    <a:pt x="374" y="356"/>
                  </a:cubicBezTo>
                  <a:cubicBezTo>
                    <a:pt x="378" y="356"/>
                    <a:pt x="377" y="351"/>
                    <a:pt x="384" y="352"/>
                  </a:cubicBezTo>
                  <a:cubicBezTo>
                    <a:pt x="391" y="353"/>
                    <a:pt x="396" y="345"/>
                    <a:pt x="399" y="348"/>
                  </a:cubicBezTo>
                  <a:cubicBezTo>
                    <a:pt x="402" y="351"/>
                    <a:pt x="387" y="357"/>
                    <a:pt x="381" y="358"/>
                  </a:cubicBezTo>
                  <a:cubicBezTo>
                    <a:pt x="374" y="359"/>
                    <a:pt x="376" y="364"/>
                    <a:pt x="382" y="373"/>
                  </a:cubicBezTo>
                  <a:cubicBezTo>
                    <a:pt x="388" y="383"/>
                    <a:pt x="379" y="377"/>
                    <a:pt x="379" y="382"/>
                  </a:cubicBezTo>
                  <a:cubicBezTo>
                    <a:pt x="379" y="386"/>
                    <a:pt x="368" y="380"/>
                    <a:pt x="372" y="379"/>
                  </a:cubicBezTo>
                  <a:cubicBezTo>
                    <a:pt x="377" y="377"/>
                    <a:pt x="375" y="373"/>
                    <a:pt x="371" y="370"/>
                  </a:cubicBezTo>
                  <a:cubicBezTo>
                    <a:pt x="367" y="367"/>
                    <a:pt x="365" y="370"/>
                    <a:pt x="365" y="366"/>
                  </a:cubicBezTo>
                  <a:cubicBezTo>
                    <a:pt x="366" y="363"/>
                    <a:pt x="361" y="367"/>
                    <a:pt x="358" y="364"/>
                  </a:cubicBezTo>
                  <a:cubicBezTo>
                    <a:pt x="354" y="361"/>
                    <a:pt x="353" y="359"/>
                    <a:pt x="348" y="361"/>
                  </a:cubicBezTo>
                  <a:cubicBezTo>
                    <a:pt x="343" y="364"/>
                    <a:pt x="338" y="363"/>
                    <a:pt x="327" y="365"/>
                  </a:cubicBezTo>
                  <a:cubicBezTo>
                    <a:pt x="317" y="367"/>
                    <a:pt x="297" y="366"/>
                    <a:pt x="294" y="363"/>
                  </a:cubicBezTo>
                  <a:cubicBezTo>
                    <a:pt x="290" y="359"/>
                    <a:pt x="303" y="353"/>
                    <a:pt x="307" y="354"/>
                  </a:cubicBezTo>
                  <a:cubicBezTo>
                    <a:pt x="310" y="355"/>
                    <a:pt x="308" y="350"/>
                    <a:pt x="302" y="345"/>
                  </a:cubicBezTo>
                  <a:cubicBezTo>
                    <a:pt x="297" y="341"/>
                    <a:pt x="284" y="338"/>
                    <a:pt x="284" y="341"/>
                  </a:cubicBezTo>
                  <a:cubicBezTo>
                    <a:pt x="284" y="344"/>
                    <a:pt x="277" y="341"/>
                    <a:pt x="268" y="339"/>
                  </a:cubicBezTo>
                  <a:cubicBezTo>
                    <a:pt x="258" y="338"/>
                    <a:pt x="257" y="334"/>
                    <a:pt x="251" y="334"/>
                  </a:cubicBezTo>
                  <a:cubicBezTo>
                    <a:pt x="245" y="334"/>
                    <a:pt x="236" y="332"/>
                    <a:pt x="229" y="327"/>
                  </a:cubicBezTo>
                  <a:cubicBezTo>
                    <a:pt x="222" y="321"/>
                    <a:pt x="206" y="323"/>
                    <a:pt x="204" y="328"/>
                  </a:cubicBezTo>
                  <a:cubicBezTo>
                    <a:pt x="202" y="333"/>
                    <a:pt x="196" y="332"/>
                    <a:pt x="191" y="332"/>
                  </a:cubicBezTo>
                  <a:cubicBezTo>
                    <a:pt x="185" y="332"/>
                    <a:pt x="193" y="326"/>
                    <a:pt x="191" y="325"/>
                  </a:cubicBezTo>
                  <a:cubicBezTo>
                    <a:pt x="188" y="324"/>
                    <a:pt x="191" y="317"/>
                    <a:pt x="187" y="316"/>
                  </a:cubicBezTo>
                  <a:cubicBezTo>
                    <a:pt x="183" y="316"/>
                    <a:pt x="180" y="333"/>
                    <a:pt x="172" y="332"/>
                  </a:cubicBezTo>
                  <a:cubicBezTo>
                    <a:pt x="165" y="332"/>
                    <a:pt x="161" y="314"/>
                    <a:pt x="155" y="310"/>
                  </a:cubicBezTo>
                  <a:cubicBezTo>
                    <a:pt x="149" y="305"/>
                    <a:pt x="143" y="305"/>
                    <a:pt x="148" y="312"/>
                  </a:cubicBezTo>
                  <a:cubicBezTo>
                    <a:pt x="154" y="319"/>
                    <a:pt x="144" y="314"/>
                    <a:pt x="144" y="318"/>
                  </a:cubicBezTo>
                  <a:cubicBezTo>
                    <a:pt x="145" y="323"/>
                    <a:pt x="136" y="328"/>
                    <a:pt x="136" y="326"/>
                  </a:cubicBezTo>
                  <a:cubicBezTo>
                    <a:pt x="136" y="323"/>
                    <a:pt x="131" y="320"/>
                    <a:pt x="125" y="327"/>
                  </a:cubicBezTo>
                  <a:cubicBezTo>
                    <a:pt x="119" y="334"/>
                    <a:pt x="115" y="333"/>
                    <a:pt x="114" y="331"/>
                  </a:cubicBezTo>
                  <a:cubicBezTo>
                    <a:pt x="114" y="328"/>
                    <a:pt x="96" y="337"/>
                    <a:pt x="97" y="340"/>
                  </a:cubicBezTo>
                  <a:cubicBezTo>
                    <a:pt x="98" y="343"/>
                    <a:pt x="94" y="346"/>
                    <a:pt x="89" y="345"/>
                  </a:cubicBezTo>
                  <a:cubicBezTo>
                    <a:pt x="85" y="345"/>
                    <a:pt x="88" y="341"/>
                    <a:pt x="92" y="339"/>
                  </a:cubicBezTo>
                  <a:cubicBezTo>
                    <a:pt x="96" y="337"/>
                    <a:pt x="108" y="328"/>
                    <a:pt x="114" y="327"/>
                  </a:cubicBezTo>
                  <a:cubicBezTo>
                    <a:pt x="120" y="326"/>
                    <a:pt x="131" y="321"/>
                    <a:pt x="132" y="318"/>
                  </a:cubicBezTo>
                  <a:cubicBezTo>
                    <a:pt x="132" y="315"/>
                    <a:pt x="126" y="318"/>
                    <a:pt x="122" y="317"/>
                  </a:cubicBezTo>
                  <a:cubicBezTo>
                    <a:pt x="118" y="316"/>
                    <a:pt x="111" y="321"/>
                    <a:pt x="104" y="324"/>
                  </a:cubicBezTo>
                  <a:cubicBezTo>
                    <a:pt x="97" y="327"/>
                    <a:pt x="90" y="326"/>
                    <a:pt x="92" y="330"/>
                  </a:cubicBezTo>
                  <a:cubicBezTo>
                    <a:pt x="94" y="334"/>
                    <a:pt x="85" y="329"/>
                    <a:pt x="84" y="332"/>
                  </a:cubicBezTo>
                  <a:cubicBezTo>
                    <a:pt x="82" y="335"/>
                    <a:pt x="79" y="332"/>
                    <a:pt x="81" y="330"/>
                  </a:cubicBezTo>
                  <a:cubicBezTo>
                    <a:pt x="84" y="329"/>
                    <a:pt x="75" y="326"/>
                    <a:pt x="75" y="328"/>
                  </a:cubicBezTo>
                  <a:cubicBezTo>
                    <a:pt x="75" y="329"/>
                    <a:pt x="74" y="332"/>
                    <a:pt x="68" y="332"/>
                  </a:cubicBezTo>
                  <a:cubicBezTo>
                    <a:pt x="62" y="332"/>
                    <a:pt x="56" y="336"/>
                    <a:pt x="60" y="339"/>
                  </a:cubicBezTo>
                  <a:cubicBezTo>
                    <a:pt x="64" y="342"/>
                    <a:pt x="66" y="343"/>
                    <a:pt x="64" y="345"/>
                  </a:cubicBezTo>
                  <a:cubicBezTo>
                    <a:pt x="62" y="347"/>
                    <a:pt x="56" y="340"/>
                    <a:pt x="47" y="341"/>
                  </a:cubicBezTo>
                  <a:cubicBezTo>
                    <a:pt x="38" y="342"/>
                    <a:pt x="21" y="331"/>
                    <a:pt x="21" y="329"/>
                  </a:cubicBezTo>
                  <a:cubicBezTo>
                    <a:pt x="21" y="326"/>
                    <a:pt x="9" y="328"/>
                    <a:pt x="0" y="327"/>
                  </a:cubicBezTo>
                  <a:cubicBezTo>
                    <a:pt x="0" y="500"/>
                    <a:pt x="0" y="500"/>
                    <a:pt x="0" y="500"/>
                  </a:cubicBezTo>
                  <a:cubicBezTo>
                    <a:pt x="0" y="500"/>
                    <a:pt x="4" y="503"/>
                    <a:pt x="6" y="501"/>
                  </a:cubicBezTo>
                  <a:cubicBezTo>
                    <a:pt x="8" y="499"/>
                    <a:pt x="11" y="502"/>
                    <a:pt x="16" y="499"/>
                  </a:cubicBezTo>
                  <a:cubicBezTo>
                    <a:pt x="22" y="496"/>
                    <a:pt x="24" y="502"/>
                    <a:pt x="24" y="505"/>
                  </a:cubicBezTo>
                  <a:cubicBezTo>
                    <a:pt x="24" y="507"/>
                    <a:pt x="32" y="512"/>
                    <a:pt x="35" y="516"/>
                  </a:cubicBezTo>
                  <a:cubicBezTo>
                    <a:pt x="39" y="520"/>
                    <a:pt x="40" y="524"/>
                    <a:pt x="44" y="522"/>
                  </a:cubicBezTo>
                  <a:cubicBezTo>
                    <a:pt x="48" y="519"/>
                    <a:pt x="54" y="518"/>
                    <a:pt x="54" y="514"/>
                  </a:cubicBezTo>
                  <a:cubicBezTo>
                    <a:pt x="54" y="509"/>
                    <a:pt x="70" y="509"/>
                    <a:pt x="70" y="514"/>
                  </a:cubicBezTo>
                  <a:cubicBezTo>
                    <a:pt x="70" y="520"/>
                    <a:pt x="85" y="527"/>
                    <a:pt x="94" y="542"/>
                  </a:cubicBezTo>
                  <a:cubicBezTo>
                    <a:pt x="103" y="557"/>
                    <a:pt x="101" y="561"/>
                    <a:pt x="114" y="566"/>
                  </a:cubicBezTo>
                  <a:cubicBezTo>
                    <a:pt x="127" y="571"/>
                    <a:pt x="126" y="573"/>
                    <a:pt x="125" y="578"/>
                  </a:cubicBezTo>
                  <a:cubicBezTo>
                    <a:pt x="123" y="582"/>
                    <a:pt x="132" y="584"/>
                    <a:pt x="127" y="588"/>
                  </a:cubicBezTo>
                  <a:cubicBezTo>
                    <a:pt x="125" y="589"/>
                    <a:pt x="122" y="591"/>
                    <a:pt x="119" y="593"/>
                  </a:cubicBezTo>
                  <a:cubicBezTo>
                    <a:pt x="120" y="595"/>
                    <a:pt x="122" y="597"/>
                    <a:pt x="124" y="599"/>
                  </a:cubicBezTo>
                  <a:cubicBezTo>
                    <a:pt x="127" y="602"/>
                    <a:pt x="119" y="602"/>
                    <a:pt x="121" y="604"/>
                  </a:cubicBezTo>
                  <a:cubicBezTo>
                    <a:pt x="124" y="606"/>
                    <a:pt x="121" y="610"/>
                    <a:pt x="123" y="612"/>
                  </a:cubicBezTo>
                  <a:cubicBezTo>
                    <a:pt x="126" y="615"/>
                    <a:pt x="130" y="614"/>
                    <a:pt x="133" y="612"/>
                  </a:cubicBezTo>
                  <a:cubicBezTo>
                    <a:pt x="136" y="610"/>
                    <a:pt x="138" y="615"/>
                    <a:pt x="135" y="618"/>
                  </a:cubicBezTo>
                  <a:cubicBezTo>
                    <a:pt x="133" y="622"/>
                    <a:pt x="138" y="625"/>
                    <a:pt x="140" y="622"/>
                  </a:cubicBezTo>
                  <a:cubicBezTo>
                    <a:pt x="142" y="619"/>
                    <a:pt x="147" y="627"/>
                    <a:pt x="149" y="628"/>
                  </a:cubicBezTo>
                  <a:cubicBezTo>
                    <a:pt x="152" y="629"/>
                    <a:pt x="154" y="633"/>
                    <a:pt x="150" y="633"/>
                  </a:cubicBezTo>
                  <a:cubicBezTo>
                    <a:pt x="146" y="633"/>
                    <a:pt x="147" y="639"/>
                    <a:pt x="150" y="640"/>
                  </a:cubicBezTo>
                  <a:cubicBezTo>
                    <a:pt x="152" y="640"/>
                    <a:pt x="152" y="643"/>
                    <a:pt x="152" y="646"/>
                  </a:cubicBezTo>
                  <a:cubicBezTo>
                    <a:pt x="152" y="648"/>
                    <a:pt x="161" y="651"/>
                    <a:pt x="164" y="650"/>
                  </a:cubicBezTo>
                  <a:cubicBezTo>
                    <a:pt x="167" y="649"/>
                    <a:pt x="170" y="652"/>
                    <a:pt x="172" y="655"/>
                  </a:cubicBezTo>
                  <a:cubicBezTo>
                    <a:pt x="173" y="658"/>
                    <a:pt x="179" y="660"/>
                    <a:pt x="182" y="658"/>
                  </a:cubicBezTo>
                  <a:cubicBezTo>
                    <a:pt x="184" y="656"/>
                    <a:pt x="185" y="661"/>
                    <a:pt x="186" y="665"/>
                  </a:cubicBezTo>
                  <a:cubicBezTo>
                    <a:pt x="186" y="668"/>
                    <a:pt x="191" y="666"/>
                    <a:pt x="194" y="666"/>
                  </a:cubicBezTo>
                  <a:cubicBezTo>
                    <a:pt x="197" y="666"/>
                    <a:pt x="199" y="670"/>
                    <a:pt x="201" y="669"/>
                  </a:cubicBezTo>
                  <a:cubicBezTo>
                    <a:pt x="206" y="667"/>
                    <a:pt x="207" y="675"/>
                    <a:pt x="210" y="680"/>
                  </a:cubicBezTo>
                  <a:cubicBezTo>
                    <a:pt x="520" y="678"/>
                    <a:pt x="520" y="678"/>
                    <a:pt x="520" y="678"/>
                  </a:cubicBezTo>
                  <a:cubicBezTo>
                    <a:pt x="520" y="678"/>
                    <a:pt x="521" y="670"/>
                    <a:pt x="524" y="673"/>
                  </a:cubicBezTo>
                  <a:cubicBezTo>
                    <a:pt x="528" y="676"/>
                    <a:pt x="525" y="680"/>
                    <a:pt x="529" y="682"/>
                  </a:cubicBezTo>
                  <a:cubicBezTo>
                    <a:pt x="533" y="683"/>
                    <a:pt x="536" y="686"/>
                    <a:pt x="539" y="685"/>
                  </a:cubicBezTo>
                  <a:cubicBezTo>
                    <a:pt x="541" y="684"/>
                    <a:pt x="545" y="681"/>
                    <a:pt x="549" y="685"/>
                  </a:cubicBezTo>
                  <a:cubicBezTo>
                    <a:pt x="553" y="690"/>
                    <a:pt x="556" y="686"/>
                    <a:pt x="558" y="689"/>
                  </a:cubicBezTo>
                  <a:cubicBezTo>
                    <a:pt x="561" y="692"/>
                    <a:pt x="565" y="694"/>
                    <a:pt x="568" y="691"/>
                  </a:cubicBezTo>
                  <a:cubicBezTo>
                    <a:pt x="570" y="688"/>
                    <a:pt x="580" y="691"/>
                    <a:pt x="584" y="693"/>
                  </a:cubicBezTo>
                  <a:cubicBezTo>
                    <a:pt x="590" y="688"/>
                    <a:pt x="594" y="679"/>
                    <a:pt x="599" y="679"/>
                  </a:cubicBezTo>
                  <a:cubicBezTo>
                    <a:pt x="605" y="679"/>
                    <a:pt x="622" y="681"/>
                    <a:pt x="623" y="689"/>
                  </a:cubicBezTo>
                  <a:cubicBezTo>
                    <a:pt x="624" y="698"/>
                    <a:pt x="634" y="690"/>
                    <a:pt x="635" y="698"/>
                  </a:cubicBezTo>
                  <a:cubicBezTo>
                    <a:pt x="636" y="704"/>
                    <a:pt x="642" y="710"/>
                    <a:pt x="641" y="713"/>
                  </a:cubicBezTo>
                  <a:cubicBezTo>
                    <a:pt x="643" y="714"/>
                    <a:pt x="645" y="716"/>
                    <a:pt x="648" y="718"/>
                  </a:cubicBezTo>
                  <a:cubicBezTo>
                    <a:pt x="651" y="717"/>
                    <a:pt x="659" y="718"/>
                    <a:pt x="665" y="720"/>
                  </a:cubicBezTo>
                  <a:cubicBezTo>
                    <a:pt x="672" y="723"/>
                    <a:pt x="682" y="717"/>
                    <a:pt x="686" y="726"/>
                  </a:cubicBezTo>
                  <a:cubicBezTo>
                    <a:pt x="689" y="734"/>
                    <a:pt x="697" y="740"/>
                    <a:pt x="690" y="741"/>
                  </a:cubicBezTo>
                  <a:cubicBezTo>
                    <a:pt x="683" y="742"/>
                    <a:pt x="675" y="733"/>
                    <a:pt x="675" y="738"/>
                  </a:cubicBezTo>
                  <a:cubicBezTo>
                    <a:pt x="676" y="743"/>
                    <a:pt x="672" y="740"/>
                    <a:pt x="672" y="748"/>
                  </a:cubicBezTo>
                  <a:cubicBezTo>
                    <a:pt x="672" y="755"/>
                    <a:pt x="667" y="766"/>
                    <a:pt x="664" y="765"/>
                  </a:cubicBezTo>
                  <a:cubicBezTo>
                    <a:pt x="664" y="765"/>
                    <a:pt x="664" y="765"/>
                    <a:pt x="664" y="765"/>
                  </a:cubicBezTo>
                  <a:cubicBezTo>
                    <a:pt x="663" y="768"/>
                    <a:pt x="663" y="771"/>
                    <a:pt x="665" y="774"/>
                  </a:cubicBezTo>
                  <a:cubicBezTo>
                    <a:pt x="669" y="771"/>
                    <a:pt x="675" y="766"/>
                    <a:pt x="679" y="767"/>
                  </a:cubicBezTo>
                  <a:cubicBezTo>
                    <a:pt x="687" y="767"/>
                    <a:pt x="689" y="772"/>
                    <a:pt x="694" y="768"/>
                  </a:cubicBezTo>
                  <a:cubicBezTo>
                    <a:pt x="699" y="765"/>
                    <a:pt x="700" y="763"/>
                    <a:pt x="701" y="766"/>
                  </a:cubicBezTo>
                  <a:cubicBezTo>
                    <a:pt x="701" y="766"/>
                    <a:pt x="701" y="766"/>
                    <a:pt x="701" y="767"/>
                  </a:cubicBezTo>
                  <a:cubicBezTo>
                    <a:pt x="703" y="766"/>
                    <a:pt x="704" y="765"/>
                    <a:pt x="704" y="764"/>
                  </a:cubicBezTo>
                  <a:cubicBezTo>
                    <a:pt x="704" y="763"/>
                    <a:pt x="704" y="761"/>
                    <a:pt x="703" y="759"/>
                  </a:cubicBezTo>
                  <a:cubicBezTo>
                    <a:pt x="698" y="760"/>
                    <a:pt x="697" y="760"/>
                    <a:pt x="695" y="757"/>
                  </a:cubicBezTo>
                  <a:cubicBezTo>
                    <a:pt x="693" y="752"/>
                    <a:pt x="710" y="747"/>
                    <a:pt x="718" y="748"/>
                  </a:cubicBezTo>
                  <a:cubicBezTo>
                    <a:pt x="726" y="749"/>
                    <a:pt x="731" y="744"/>
                    <a:pt x="734" y="747"/>
                  </a:cubicBezTo>
                  <a:cubicBezTo>
                    <a:pt x="739" y="743"/>
                    <a:pt x="747" y="736"/>
                    <a:pt x="749" y="736"/>
                  </a:cubicBezTo>
                  <a:cubicBezTo>
                    <a:pt x="752" y="736"/>
                    <a:pt x="788" y="735"/>
                    <a:pt x="788" y="735"/>
                  </a:cubicBezTo>
                  <a:cubicBezTo>
                    <a:pt x="788" y="735"/>
                    <a:pt x="800" y="728"/>
                    <a:pt x="802" y="721"/>
                  </a:cubicBezTo>
                  <a:cubicBezTo>
                    <a:pt x="803" y="714"/>
                    <a:pt x="811" y="697"/>
                    <a:pt x="816" y="701"/>
                  </a:cubicBezTo>
                  <a:cubicBezTo>
                    <a:pt x="821" y="704"/>
                    <a:pt x="831" y="702"/>
                    <a:pt x="831" y="705"/>
                  </a:cubicBezTo>
                  <a:cubicBezTo>
                    <a:pt x="831" y="708"/>
                    <a:pt x="828" y="719"/>
                    <a:pt x="841" y="736"/>
                  </a:cubicBezTo>
                  <a:cubicBezTo>
                    <a:pt x="845" y="733"/>
                    <a:pt x="850" y="731"/>
                    <a:pt x="852" y="731"/>
                  </a:cubicBezTo>
                  <a:cubicBezTo>
                    <a:pt x="857" y="732"/>
                    <a:pt x="864" y="726"/>
                    <a:pt x="866" y="722"/>
                  </a:cubicBezTo>
                  <a:cubicBezTo>
                    <a:pt x="868" y="718"/>
                    <a:pt x="870" y="725"/>
                    <a:pt x="866" y="727"/>
                  </a:cubicBezTo>
                  <a:cubicBezTo>
                    <a:pt x="862" y="728"/>
                    <a:pt x="870" y="731"/>
                    <a:pt x="877" y="731"/>
                  </a:cubicBezTo>
                  <a:cubicBezTo>
                    <a:pt x="884" y="730"/>
                    <a:pt x="873" y="733"/>
                    <a:pt x="868" y="733"/>
                  </a:cubicBezTo>
                  <a:cubicBezTo>
                    <a:pt x="863" y="733"/>
                    <a:pt x="861" y="733"/>
                    <a:pt x="854" y="740"/>
                  </a:cubicBezTo>
                  <a:cubicBezTo>
                    <a:pt x="847" y="747"/>
                    <a:pt x="848" y="749"/>
                    <a:pt x="852" y="753"/>
                  </a:cubicBezTo>
                  <a:cubicBezTo>
                    <a:pt x="856" y="756"/>
                    <a:pt x="862" y="755"/>
                    <a:pt x="867" y="750"/>
                  </a:cubicBezTo>
                  <a:cubicBezTo>
                    <a:pt x="873" y="745"/>
                    <a:pt x="872" y="741"/>
                    <a:pt x="878" y="741"/>
                  </a:cubicBezTo>
                  <a:cubicBezTo>
                    <a:pt x="883" y="741"/>
                    <a:pt x="898" y="736"/>
                    <a:pt x="904" y="734"/>
                  </a:cubicBezTo>
                  <a:cubicBezTo>
                    <a:pt x="910" y="732"/>
                    <a:pt x="906" y="731"/>
                    <a:pt x="906" y="728"/>
                  </a:cubicBezTo>
                  <a:cubicBezTo>
                    <a:pt x="906" y="725"/>
                    <a:pt x="917" y="725"/>
                    <a:pt x="921" y="723"/>
                  </a:cubicBezTo>
                  <a:cubicBezTo>
                    <a:pt x="925" y="720"/>
                    <a:pt x="920" y="718"/>
                    <a:pt x="917" y="718"/>
                  </a:cubicBezTo>
                  <a:close/>
                  <a:moveTo>
                    <a:pt x="266" y="394"/>
                  </a:moveTo>
                  <a:cubicBezTo>
                    <a:pt x="260" y="402"/>
                    <a:pt x="257" y="403"/>
                    <a:pt x="251" y="402"/>
                  </a:cubicBezTo>
                  <a:cubicBezTo>
                    <a:pt x="244" y="401"/>
                    <a:pt x="240" y="404"/>
                    <a:pt x="243" y="407"/>
                  </a:cubicBezTo>
                  <a:cubicBezTo>
                    <a:pt x="246" y="409"/>
                    <a:pt x="247" y="411"/>
                    <a:pt x="240" y="413"/>
                  </a:cubicBezTo>
                  <a:cubicBezTo>
                    <a:pt x="233" y="414"/>
                    <a:pt x="228" y="420"/>
                    <a:pt x="225" y="419"/>
                  </a:cubicBezTo>
                  <a:cubicBezTo>
                    <a:pt x="223" y="418"/>
                    <a:pt x="237" y="408"/>
                    <a:pt x="234" y="405"/>
                  </a:cubicBezTo>
                  <a:cubicBezTo>
                    <a:pt x="230" y="402"/>
                    <a:pt x="220" y="410"/>
                    <a:pt x="220" y="413"/>
                  </a:cubicBezTo>
                  <a:cubicBezTo>
                    <a:pt x="220" y="417"/>
                    <a:pt x="214" y="417"/>
                    <a:pt x="210" y="417"/>
                  </a:cubicBezTo>
                  <a:cubicBezTo>
                    <a:pt x="206" y="416"/>
                    <a:pt x="201" y="413"/>
                    <a:pt x="205" y="412"/>
                  </a:cubicBezTo>
                  <a:cubicBezTo>
                    <a:pt x="209" y="412"/>
                    <a:pt x="206" y="408"/>
                    <a:pt x="211" y="406"/>
                  </a:cubicBezTo>
                  <a:cubicBezTo>
                    <a:pt x="217" y="404"/>
                    <a:pt x="210" y="401"/>
                    <a:pt x="212" y="399"/>
                  </a:cubicBezTo>
                  <a:cubicBezTo>
                    <a:pt x="214" y="397"/>
                    <a:pt x="224" y="401"/>
                    <a:pt x="224" y="397"/>
                  </a:cubicBezTo>
                  <a:cubicBezTo>
                    <a:pt x="225" y="393"/>
                    <a:pt x="214" y="390"/>
                    <a:pt x="210" y="392"/>
                  </a:cubicBezTo>
                  <a:cubicBezTo>
                    <a:pt x="207" y="394"/>
                    <a:pt x="198" y="400"/>
                    <a:pt x="188" y="396"/>
                  </a:cubicBezTo>
                  <a:cubicBezTo>
                    <a:pt x="185" y="394"/>
                    <a:pt x="213" y="391"/>
                    <a:pt x="218" y="387"/>
                  </a:cubicBezTo>
                  <a:cubicBezTo>
                    <a:pt x="223" y="382"/>
                    <a:pt x="244" y="377"/>
                    <a:pt x="246" y="381"/>
                  </a:cubicBezTo>
                  <a:cubicBezTo>
                    <a:pt x="248" y="385"/>
                    <a:pt x="235" y="388"/>
                    <a:pt x="241" y="392"/>
                  </a:cubicBezTo>
                  <a:cubicBezTo>
                    <a:pt x="247" y="395"/>
                    <a:pt x="258" y="393"/>
                    <a:pt x="260" y="389"/>
                  </a:cubicBezTo>
                  <a:cubicBezTo>
                    <a:pt x="262" y="385"/>
                    <a:pt x="273" y="386"/>
                    <a:pt x="266" y="394"/>
                  </a:cubicBezTo>
                  <a:close/>
                  <a:moveTo>
                    <a:pt x="329" y="474"/>
                  </a:moveTo>
                  <a:cubicBezTo>
                    <a:pt x="322" y="481"/>
                    <a:pt x="322" y="479"/>
                    <a:pt x="315" y="480"/>
                  </a:cubicBezTo>
                  <a:cubicBezTo>
                    <a:pt x="309" y="482"/>
                    <a:pt x="314" y="488"/>
                    <a:pt x="306" y="489"/>
                  </a:cubicBezTo>
                  <a:cubicBezTo>
                    <a:pt x="298" y="490"/>
                    <a:pt x="278" y="490"/>
                    <a:pt x="275" y="486"/>
                  </a:cubicBezTo>
                  <a:cubicBezTo>
                    <a:pt x="274" y="484"/>
                    <a:pt x="286" y="485"/>
                    <a:pt x="287" y="482"/>
                  </a:cubicBezTo>
                  <a:cubicBezTo>
                    <a:pt x="288" y="479"/>
                    <a:pt x="291" y="473"/>
                    <a:pt x="296" y="473"/>
                  </a:cubicBezTo>
                  <a:cubicBezTo>
                    <a:pt x="301" y="473"/>
                    <a:pt x="300" y="467"/>
                    <a:pt x="292" y="463"/>
                  </a:cubicBezTo>
                  <a:cubicBezTo>
                    <a:pt x="284" y="459"/>
                    <a:pt x="304" y="456"/>
                    <a:pt x="308" y="463"/>
                  </a:cubicBezTo>
                  <a:cubicBezTo>
                    <a:pt x="313" y="469"/>
                    <a:pt x="321" y="473"/>
                    <a:pt x="326" y="469"/>
                  </a:cubicBezTo>
                  <a:cubicBezTo>
                    <a:pt x="330" y="464"/>
                    <a:pt x="356" y="452"/>
                    <a:pt x="356" y="458"/>
                  </a:cubicBezTo>
                  <a:cubicBezTo>
                    <a:pt x="356" y="464"/>
                    <a:pt x="337" y="468"/>
                    <a:pt x="329" y="474"/>
                  </a:cubicBezTo>
                  <a:close/>
                  <a:moveTo>
                    <a:pt x="503" y="656"/>
                  </a:moveTo>
                  <a:cubicBezTo>
                    <a:pt x="498" y="657"/>
                    <a:pt x="504" y="642"/>
                    <a:pt x="494" y="636"/>
                  </a:cubicBezTo>
                  <a:cubicBezTo>
                    <a:pt x="482" y="630"/>
                    <a:pt x="477" y="618"/>
                    <a:pt x="477" y="611"/>
                  </a:cubicBezTo>
                  <a:cubicBezTo>
                    <a:pt x="477" y="605"/>
                    <a:pt x="487" y="602"/>
                    <a:pt x="491" y="607"/>
                  </a:cubicBezTo>
                  <a:cubicBezTo>
                    <a:pt x="495" y="612"/>
                    <a:pt x="501" y="632"/>
                    <a:pt x="504" y="639"/>
                  </a:cubicBezTo>
                  <a:cubicBezTo>
                    <a:pt x="508" y="645"/>
                    <a:pt x="508" y="656"/>
                    <a:pt x="503" y="65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19" name="Freeform 125"/>
            <p:cNvSpPr>
              <a:spLocks noEditPoints="1" noChangeArrowheads="1"/>
            </p:cNvSpPr>
            <p:nvPr/>
          </p:nvSpPr>
          <p:spPr bwMode="auto">
            <a:xfrm>
              <a:off x="0" y="574675"/>
              <a:ext cx="2192345" cy="1346202"/>
            </a:xfrm>
            <a:custGeom>
              <a:avLst/>
              <a:gdLst>
                <a:gd name="T0" fmla="*/ 350 w 1147"/>
                <a:gd name="T1" fmla="*/ 230 h 705"/>
                <a:gd name="T2" fmla="*/ 306 w 1147"/>
                <a:gd name="T3" fmla="*/ 35 h 705"/>
                <a:gd name="T4" fmla="*/ 185 w 1147"/>
                <a:gd name="T5" fmla="*/ 21 h 705"/>
                <a:gd name="T6" fmla="*/ 135 w 1147"/>
                <a:gd name="T7" fmla="*/ 10 h 705"/>
                <a:gd name="T8" fmla="*/ 93 w 1147"/>
                <a:gd name="T9" fmla="*/ 21 h 705"/>
                <a:gd name="T10" fmla="*/ 19 w 1147"/>
                <a:gd name="T11" fmla="*/ 59 h 705"/>
                <a:gd name="T12" fmla="*/ 71 w 1147"/>
                <a:gd name="T13" fmla="*/ 103 h 705"/>
                <a:gd name="T14" fmla="*/ 17 w 1147"/>
                <a:gd name="T15" fmla="*/ 106 h 705"/>
                <a:gd name="T16" fmla="*/ 59 w 1147"/>
                <a:gd name="T17" fmla="*/ 136 h 705"/>
                <a:gd name="T18" fmla="*/ 43 w 1147"/>
                <a:gd name="T19" fmla="*/ 158 h 705"/>
                <a:gd name="T20" fmla="*/ 45 w 1147"/>
                <a:gd name="T21" fmla="*/ 219 h 705"/>
                <a:gd name="T22" fmla="*/ 96 w 1147"/>
                <a:gd name="T23" fmla="*/ 236 h 705"/>
                <a:gd name="T24" fmla="*/ 102 w 1147"/>
                <a:gd name="T25" fmla="*/ 269 h 705"/>
                <a:gd name="T26" fmla="*/ 84 w 1147"/>
                <a:gd name="T27" fmla="*/ 287 h 705"/>
                <a:gd name="T28" fmla="*/ 147 w 1147"/>
                <a:gd name="T29" fmla="*/ 250 h 705"/>
                <a:gd name="T30" fmla="*/ 173 w 1147"/>
                <a:gd name="T31" fmla="*/ 213 h 705"/>
                <a:gd name="T32" fmla="*/ 191 w 1147"/>
                <a:gd name="T33" fmla="*/ 201 h 705"/>
                <a:gd name="T34" fmla="*/ 226 w 1147"/>
                <a:gd name="T35" fmla="*/ 215 h 705"/>
                <a:gd name="T36" fmla="*/ 248 w 1147"/>
                <a:gd name="T37" fmla="*/ 202 h 705"/>
                <a:gd name="T38" fmla="*/ 276 w 1147"/>
                <a:gd name="T39" fmla="*/ 213 h 705"/>
                <a:gd name="T40" fmla="*/ 340 w 1147"/>
                <a:gd name="T41" fmla="*/ 232 h 705"/>
                <a:gd name="T42" fmla="*/ 375 w 1147"/>
                <a:gd name="T43" fmla="*/ 248 h 705"/>
                <a:gd name="T44" fmla="*/ 376 w 1147"/>
                <a:gd name="T45" fmla="*/ 261 h 705"/>
                <a:gd name="T46" fmla="*/ 389 w 1147"/>
                <a:gd name="T47" fmla="*/ 263 h 705"/>
                <a:gd name="T48" fmla="*/ 401 w 1147"/>
                <a:gd name="T49" fmla="*/ 274 h 705"/>
                <a:gd name="T50" fmla="*/ 396 w 1147"/>
                <a:gd name="T51" fmla="*/ 300 h 705"/>
                <a:gd name="T52" fmla="*/ 421 w 1147"/>
                <a:gd name="T53" fmla="*/ 299 h 705"/>
                <a:gd name="T54" fmla="*/ 15 w 1147"/>
                <a:gd name="T55" fmla="*/ 313 h 705"/>
                <a:gd name="T56" fmla="*/ 178 w 1147"/>
                <a:gd name="T57" fmla="*/ 240 h 705"/>
                <a:gd name="T58" fmla="*/ 177 w 1147"/>
                <a:gd name="T59" fmla="*/ 256 h 705"/>
                <a:gd name="T60" fmla="*/ 25 w 1147"/>
                <a:gd name="T61" fmla="*/ 219 h 705"/>
                <a:gd name="T62" fmla="*/ 1094 w 1147"/>
                <a:gd name="T63" fmla="*/ 443 h 705"/>
                <a:gd name="T64" fmla="*/ 1010 w 1147"/>
                <a:gd name="T65" fmla="*/ 472 h 705"/>
                <a:gd name="T66" fmla="*/ 970 w 1147"/>
                <a:gd name="T67" fmla="*/ 473 h 705"/>
                <a:gd name="T68" fmla="*/ 926 w 1147"/>
                <a:gd name="T69" fmla="*/ 471 h 705"/>
                <a:gd name="T70" fmla="*/ 954 w 1147"/>
                <a:gd name="T71" fmla="*/ 426 h 705"/>
                <a:gd name="T72" fmla="*/ 902 w 1147"/>
                <a:gd name="T73" fmla="*/ 410 h 705"/>
                <a:gd name="T74" fmla="*/ 864 w 1147"/>
                <a:gd name="T75" fmla="*/ 397 h 705"/>
                <a:gd name="T76" fmla="*/ 516 w 1147"/>
                <a:gd name="T77" fmla="*/ 388 h 705"/>
                <a:gd name="T78" fmla="*/ 510 w 1147"/>
                <a:gd name="T79" fmla="*/ 395 h 705"/>
                <a:gd name="T80" fmla="*/ 501 w 1147"/>
                <a:gd name="T81" fmla="*/ 436 h 705"/>
                <a:gd name="T82" fmla="*/ 513 w 1147"/>
                <a:gd name="T83" fmla="*/ 539 h 705"/>
                <a:gd name="T84" fmla="*/ 557 w 1147"/>
                <a:gd name="T85" fmla="*/ 590 h 705"/>
                <a:gd name="T86" fmla="*/ 647 w 1147"/>
                <a:gd name="T87" fmla="*/ 625 h 705"/>
                <a:gd name="T88" fmla="*/ 724 w 1147"/>
                <a:gd name="T89" fmla="*/ 647 h 705"/>
                <a:gd name="T90" fmla="*/ 783 w 1147"/>
                <a:gd name="T91" fmla="*/ 685 h 705"/>
                <a:gd name="T92" fmla="*/ 818 w 1147"/>
                <a:gd name="T93" fmla="*/ 658 h 705"/>
                <a:gd name="T94" fmla="*/ 862 w 1147"/>
                <a:gd name="T95" fmla="*/ 644 h 705"/>
                <a:gd name="T96" fmla="*/ 889 w 1147"/>
                <a:gd name="T97" fmla="*/ 641 h 705"/>
                <a:gd name="T98" fmla="*/ 944 w 1147"/>
                <a:gd name="T99" fmla="*/ 645 h 705"/>
                <a:gd name="T100" fmla="*/ 983 w 1147"/>
                <a:gd name="T101" fmla="*/ 699 h 705"/>
                <a:gd name="T102" fmla="*/ 994 w 1147"/>
                <a:gd name="T103" fmla="*/ 608 h 705"/>
                <a:gd name="T104" fmla="*/ 1036 w 1147"/>
                <a:gd name="T105" fmla="*/ 571 h 705"/>
                <a:gd name="T106" fmla="*/ 1032 w 1147"/>
                <a:gd name="T107" fmla="*/ 539 h 705"/>
                <a:gd name="T108" fmla="*/ 1049 w 1147"/>
                <a:gd name="T109" fmla="*/ 541 h 705"/>
                <a:gd name="T110" fmla="*/ 1088 w 1147"/>
                <a:gd name="T111" fmla="*/ 499 h 705"/>
                <a:gd name="T112" fmla="*/ 1102 w 1147"/>
                <a:gd name="T113" fmla="*/ 475 h 705"/>
                <a:gd name="T114" fmla="*/ 1137 w 1147"/>
                <a:gd name="T115" fmla="*/ 413 h 70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47"/>
                <a:gd name="T175" fmla="*/ 0 h 705"/>
                <a:gd name="T176" fmla="*/ 1147 w 1147"/>
                <a:gd name="T177" fmla="*/ 705 h 705"/>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47" h="705">
                  <a:moveTo>
                    <a:pt x="431" y="286"/>
                  </a:moveTo>
                  <a:cubicBezTo>
                    <a:pt x="432" y="281"/>
                    <a:pt x="433" y="279"/>
                    <a:pt x="420" y="274"/>
                  </a:cubicBezTo>
                  <a:cubicBezTo>
                    <a:pt x="407" y="269"/>
                    <a:pt x="409" y="265"/>
                    <a:pt x="400" y="250"/>
                  </a:cubicBezTo>
                  <a:cubicBezTo>
                    <a:pt x="391" y="235"/>
                    <a:pt x="376" y="228"/>
                    <a:pt x="376" y="222"/>
                  </a:cubicBezTo>
                  <a:cubicBezTo>
                    <a:pt x="376" y="217"/>
                    <a:pt x="360" y="217"/>
                    <a:pt x="360" y="222"/>
                  </a:cubicBezTo>
                  <a:cubicBezTo>
                    <a:pt x="360" y="226"/>
                    <a:pt x="354" y="227"/>
                    <a:pt x="350" y="230"/>
                  </a:cubicBezTo>
                  <a:cubicBezTo>
                    <a:pt x="346" y="232"/>
                    <a:pt x="345" y="228"/>
                    <a:pt x="341" y="224"/>
                  </a:cubicBezTo>
                  <a:cubicBezTo>
                    <a:pt x="338" y="220"/>
                    <a:pt x="330" y="215"/>
                    <a:pt x="330" y="213"/>
                  </a:cubicBezTo>
                  <a:cubicBezTo>
                    <a:pt x="330" y="210"/>
                    <a:pt x="328" y="204"/>
                    <a:pt x="322" y="207"/>
                  </a:cubicBezTo>
                  <a:cubicBezTo>
                    <a:pt x="317" y="210"/>
                    <a:pt x="314" y="207"/>
                    <a:pt x="312" y="209"/>
                  </a:cubicBezTo>
                  <a:cubicBezTo>
                    <a:pt x="310" y="211"/>
                    <a:pt x="306" y="208"/>
                    <a:pt x="306" y="208"/>
                  </a:cubicBezTo>
                  <a:cubicBezTo>
                    <a:pt x="306" y="35"/>
                    <a:pt x="306" y="35"/>
                    <a:pt x="306" y="35"/>
                  </a:cubicBezTo>
                  <a:cubicBezTo>
                    <a:pt x="304" y="35"/>
                    <a:pt x="302" y="34"/>
                    <a:pt x="301" y="34"/>
                  </a:cubicBezTo>
                  <a:cubicBezTo>
                    <a:pt x="294" y="31"/>
                    <a:pt x="283" y="26"/>
                    <a:pt x="277" y="27"/>
                  </a:cubicBezTo>
                  <a:cubicBezTo>
                    <a:pt x="271" y="29"/>
                    <a:pt x="260" y="30"/>
                    <a:pt x="256" y="28"/>
                  </a:cubicBezTo>
                  <a:cubicBezTo>
                    <a:pt x="252" y="26"/>
                    <a:pt x="246" y="24"/>
                    <a:pt x="238" y="26"/>
                  </a:cubicBezTo>
                  <a:cubicBezTo>
                    <a:pt x="230" y="27"/>
                    <a:pt x="225" y="21"/>
                    <a:pt x="214" y="19"/>
                  </a:cubicBezTo>
                  <a:cubicBezTo>
                    <a:pt x="204" y="16"/>
                    <a:pt x="189" y="19"/>
                    <a:pt x="185" y="21"/>
                  </a:cubicBezTo>
                  <a:cubicBezTo>
                    <a:pt x="182" y="22"/>
                    <a:pt x="183" y="17"/>
                    <a:pt x="178" y="17"/>
                  </a:cubicBezTo>
                  <a:cubicBezTo>
                    <a:pt x="174" y="18"/>
                    <a:pt x="177" y="15"/>
                    <a:pt x="175" y="12"/>
                  </a:cubicBezTo>
                  <a:cubicBezTo>
                    <a:pt x="172" y="8"/>
                    <a:pt x="160" y="11"/>
                    <a:pt x="155" y="12"/>
                  </a:cubicBezTo>
                  <a:cubicBezTo>
                    <a:pt x="151" y="12"/>
                    <a:pt x="149" y="10"/>
                    <a:pt x="150" y="7"/>
                  </a:cubicBezTo>
                  <a:cubicBezTo>
                    <a:pt x="150" y="5"/>
                    <a:pt x="146" y="6"/>
                    <a:pt x="144" y="9"/>
                  </a:cubicBezTo>
                  <a:cubicBezTo>
                    <a:pt x="142" y="12"/>
                    <a:pt x="137" y="12"/>
                    <a:pt x="135" y="10"/>
                  </a:cubicBezTo>
                  <a:cubicBezTo>
                    <a:pt x="133" y="8"/>
                    <a:pt x="139" y="8"/>
                    <a:pt x="140" y="5"/>
                  </a:cubicBezTo>
                  <a:cubicBezTo>
                    <a:pt x="140" y="3"/>
                    <a:pt x="133" y="2"/>
                    <a:pt x="131" y="1"/>
                  </a:cubicBezTo>
                  <a:cubicBezTo>
                    <a:pt x="128" y="0"/>
                    <a:pt x="124" y="4"/>
                    <a:pt x="119" y="8"/>
                  </a:cubicBezTo>
                  <a:cubicBezTo>
                    <a:pt x="114" y="13"/>
                    <a:pt x="106" y="13"/>
                    <a:pt x="101" y="12"/>
                  </a:cubicBezTo>
                  <a:cubicBezTo>
                    <a:pt x="96" y="12"/>
                    <a:pt x="90" y="13"/>
                    <a:pt x="91" y="15"/>
                  </a:cubicBezTo>
                  <a:cubicBezTo>
                    <a:pt x="91" y="18"/>
                    <a:pt x="97" y="18"/>
                    <a:pt x="93" y="21"/>
                  </a:cubicBezTo>
                  <a:cubicBezTo>
                    <a:pt x="90" y="25"/>
                    <a:pt x="88" y="17"/>
                    <a:pt x="85" y="20"/>
                  </a:cubicBezTo>
                  <a:cubicBezTo>
                    <a:pt x="81" y="24"/>
                    <a:pt x="71" y="24"/>
                    <a:pt x="68" y="23"/>
                  </a:cubicBezTo>
                  <a:cubicBezTo>
                    <a:pt x="66" y="23"/>
                    <a:pt x="58" y="32"/>
                    <a:pt x="55" y="34"/>
                  </a:cubicBezTo>
                  <a:cubicBezTo>
                    <a:pt x="53" y="37"/>
                    <a:pt x="57" y="39"/>
                    <a:pt x="50" y="46"/>
                  </a:cubicBezTo>
                  <a:cubicBezTo>
                    <a:pt x="44" y="54"/>
                    <a:pt x="26" y="52"/>
                    <a:pt x="22" y="52"/>
                  </a:cubicBezTo>
                  <a:cubicBezTo>
                    <a:pt x="18" y="52"/>
                    <a:pt x="21" y="56"/>
                    <a:pt x="19" y="59"/>
                  </a:cubicBezTo>
                  <a:cubicBezTo>
                    <a:pt x="17" y="62"/>
                    <a:pt x="21" y="64"/>
                    <a:pt x="31" y="67"/>
                  </a:cubicBezTo>
                  <a:cubicBezTo>
                    <a:pt x="42" y="70"/>
                    <a:pt x="49" y="83"/>
                    <a:pt x="50" y="87"/>
                  </a:cubicBezTo>
                  <a:cubicBezTo>
                    <a:pt x="51" y="90"/>
                    <a:pt x="64" y="86"/>
                    <a:pt x="69" y="87"/>
                  </a:cubicBezTo>
                  <a:cubicBezTo>
                    <a:pt x="74" y="88"/>
                    <a:pt x="68" y="95"/>
                    <a:pt x="73" y="97"/>
                  </a:cubicBezTo>
                  <a:cubicBezTo>
                    <a:pt x="77" y="99"/>
                    <a:pt x="83" y="96"/>
                    <a:pt x="85" y="99"/>
                  </a:cubicBezTo>
                  <a:cubicBezTo>
                    <a:pt x="86" y="103"/>
                    <a:pt x="76" y="99"/>
                    <a:pt x="71" y="103"/>
                  </a:cubicBezTo>
                  <a:cubicBezTo>
                    <a:pt x="66" y="107"/>
                    <a:pt x="64" y="109"/>
                    <a:pt x="62" y="106"/>
                  </a:cubicBezTo>
                  <a:cubicBezTo>
                    <a:pt x="60" y="103"/>
                    <a:pt x="51" y="105"/>
                    <a:pt x="47" y="105"/>
                  </a:cubicBezTo>
                  <a:cubicBezTo>
                    <a:pt x="43" y="106"/>
                    <a:pt x="47" y="100"/>
                    <a:pt x="47" y="98"/>
                  </a:cubicBezTo>
                  <a:cubicBezTo>
                    <a:pt x="47" y="95"/>
                    <a:pt x="41" y="93"/>
                    <a:pt x="33" y="98"/>
                  </a:cubicBezTo>
                  <a:cubicBezTo>
                    <a:pt x="25" y="103"/>
                    <a:pt x="28" y="101"/>
                    <a:pt x="27" y="105"/>
                  </a:cubicBezTo>
                  <a:cubicBezTo>
                    <a:pt x="26" y="109"/>
                    <a:pt x="22" y="103"/>
                    <a:pt x="17" y="106"/>
                  </a:cubicBezTo>
                  <a:cubicBezTo>
                    <a:pt x="12" y="109"/>
                    <a:pt x="3" y="111"/>
                    <a:pt x="2" y="115"/>
                  </a:cubicBezTo>
                  <a:cubicBezTo>
                    <a:pt x="0" y="118"/>
                    <a:pt x="13" y="120"/>
                    <a:pt x="18" y="121"/>
                  </a:cubicBezTo>
                  <a:cubicBezTo>
                    <a:pt x="23" y="122"/>
                    <a:pt x="12" y="125"/>
                    <a:pt x="16" y="127"/>
                  </a:cubicBezTo>
                  <a:cubicBezTo>
                    <a:pt x="20" y="128"/>
                    <a:pt x="18" y="132"/>
                    <a:pt x="25" y="135"/>
                  </a:cubicBezTo>
                  <a:cubicBezTo>
                    <a:pt x="31" y="138"/>
                    <a:pt x="45" y="135"/>
                    <a:pt x="49" y="135"/>
                  </a:cubicBezTo>
                  <a:cubicBezTo>
                    <a:pt x="52" y="135"/>
                    <a:pt x="56" y="139"/>
                    <a:pt x="59" y="136"/>
                  </a:cubicBezTo>
                  <a:cubicBezTo>
                    <a:pt x="62" y="133"/>
                    <a:pt x="73" y="124"/>
                    <a:pt x="79" y="129"/>
                  </a:cubicBezTo>
                  <a:cubicBezTo>
                    <a:pt x="85" y="134"/>
                    <a:pt x="73" y="134"/>
                    <a:pt x="76" y="137"/>
                  </a:cubicBezTo>
                  <a:cubicBezTo>
                    <a:pt x="79" y="140"/>
                    <a:pt x="82" y="148"/>
                    <a:pt x="77" y="152"/>
                  </a:cubicBezTo>
                  <a:cubicBezTo>
                    <a:pt x="71" y="156"/>
                    <a:pt x="66" y="153"/>
                    <a:pt x="63" y="153"/>
                  </a:cubicBezTo>
                  <a:cubicBezTo>
                    <a:pt x="60" y="153"/>
                    <a:pt x="62" y="158"/>
                    <a:pt x="57" y="162"/>
                  </a:cubicBezTo>
                  <a:cubicBezTo>
                    <a:pt x="52" y="166"/>
                    <a:pt x="49" y="158"/>
                    <a:pt x="43" y="158"/>
                  </a:cubicBezTo>
                  <a:cubicBezTo>
                    <a:pt x="37" y="158"/>
                    <a:pt x="38" y="166"/>
                    <a:pt x="38" y="170"/>
                  </a:cubicBezTo>
                  <a:cubicBezTo>
                    <a:pt x="39" y="173"/>
                    <a:pt x="29" y="169"/>
                    <a:pt x="27" y="178"/>
                  </a:cubicBezTo>
                  <a:cubicBezTo>
                    <a:pt x="25" y="187"/>
                    <a:pt x="15" y="179"/>
                    <a:pt x="22" y="188"/>
                  </a:cubicBezTo>
                  <a:cubicBezTo>
                    <a:pt x="28" y="197"/>
                    <a:pt x="27" y="191"/>
                    <a:pt x="32" y="195"/>
                  </a:cubicBezTo>
                  <a:cubicBezTo>
                    <a:pt x="37" y="198"/>
                    <a:pt x="26" y="204"/>
                    <a:pt x="31" y="205"/>
                  </a:cubicBezTo>
                  <a:cubicBezTo>
                    <a:pt x="36" y="206"/>
                    <a:pt x="42" y="215"/>
                    <a:pt x="45" y="219"/>
                  </a:cubicBezTo>
                  <a:cubicBezTo>
                    <a:pt x="49" y="222"/>
                    <a:pt x="53" y="217"/>
                    <a:pt x="59" y="217"/>
                  </a:cubicBezTo>
                  <a:cubicBezTo>
                    <a:pt x="64" y="216"/>
                    <a:pt x="61" y="209"/>
                    <a:pt x="64" y="212"/>
                  </a:cubicBezTo>
                  <a:cubicBezTo>
                    <a:pt x="67" y="215"/>
                    <a:pt x="72" y="223"/>
                    <a:pt x="69" y="225"/>
                  </a:cubicBezTo>
                  <a:cubicBezTo>
                    <a:pt x="66" y="227"/>
                    <a:pt x="68" y="233"/>
                    <a:pt x="68" y="236"/>
                  </a:cubicBezTo>
                  <a:cubicBezTo>
                    <a:pt x="67" y="239"/>
                    <a:pt x="79" y="238"/>
                    <a:pt x="80" y="234"/>
                  </a:cubicBezTo>
                  <a:cubicBezTo>
                    <a:pt x="81" y="231"/>
                    <a:pt x="90" y="230"/>
                    <a:pt x="96" y="236"/>
                  </a:cubicBezTo>
                  <a:cubicBezTo>
                    <a:pt x="101" y="241"/>
                    <a:pt x="103" y="242"/>
                    <a:pt x="103" y="238"/>
                  </a:cubicBezTo>
                  <a:cubicBezTo>
                    <a:pt x="103" y="233"/>
                    <a:pt x="107" y="228"/>
                    <a:pt x="107" y="232"/>
                  </a:cubicBezTo>
                  <a:cubicBezTo>
                    <a:pt x="108" y="236"/>
                    <a:pt x="112" y="237"/>
                    <a:pt x="120" y="233"/>
                  </a:cubicBezTo>
                  <a:cubicBezTo>
                    <a:pt x="127" y="230"/>
                    <a:pt x="124" y="234"/>
                    <a:pt x="120" y="239"/>
                  </a:cubicBezTo>
                  <a:cubicBezTo>
                    <a:pt x="114" y="245"/>
                    <a:pt x="120" y="256"/>
                    <a:pt x="116" y="257"/>
                  </a:cubicBezTo>
                  <a:cubicBezTo>
                    <a:pt x="112" y="258"/>
                    <a:pt x="109" y="268"/>
                    <a:pt x="102" y="269"/>
                  </a:cubicBezTo>
                  <a:cubicBezTo>
                    <a:pt x="96" y="269"/>
                    <a:pt x="85" y="282"/>
                    <a:pt x="83" y="284"/>
                  </a:cubicBezTo>
                  <a:cubicBezTo>
                    <a:pt x="82" y="286"/>
                    <a:pt x="68" y="280"/>
                    <a:pt x="66" y="285"/>
                  </a:cubicBezTo>
                  <a:cubicBezTo>
                    <a:pt x="64" y="291"/>
                    <a:pt x="55" y="295"/>
                    <a:pt x="57" y="298"/>
                  </a:cubicBezTo>
                  <a:cubicBezTo>
                    <a:pt x="59" y="299"/>
                    <a:pt x="70" y="293"/>
                    <a:pt x="71" y="290"/>
                  </a:cubicBezTo>
                  <a:cubicBezTo>
                    <a:pt x="71" y="287"/>
                    <a:pt x="73" y="288"/>
                    <a:pt x="75" y="290"/>
                  </a:cubicBezTo>
                  <a:cubicBezTo>
                    <a:pt x="77" y="292"/>
                    <a:pt x="82" y="289"/>
                    <a:pt x="84" y="287"/>
                  </a:cubicBezTo>
                  <a:cubicBezTo>
                    <a:pt x="86" y="285"/>
                    <a:pt x="90" y="286"/>
                    <a:pt x="92" y="286"/>
                  </a:cubicBezTo>
                  <a:cubicBezTo>
                    <a:pt x="95" y="286"/>
                    <a:pt x="96" y="283"/>
                    <a:pt x="102" y="282"/>
                  </a:cubicBezTo>
                  <a:cubicBezTo>
                    <a:pt x="109" y="281"/>
                    <a:pt x="108" y="279"/>
                    <a:pt x="109" y="275"/>
                  </a:cubicBezTo>
                  <a:cubicBezTo>
                    <a:pt x="111" y="272"/>
                    <a:pt x="127" y="264"/>
                    <a:pt x="130" y="264"/>
                  </a:cubicBezTo>
                  <a:cubicBezTo>
                    <a:pt x="133" y="263"/>
                    <a:pt x="131" y="258"/>
                    <a:pt x="134" y="258"/>
                  </a:cubicBezTo>
                  <a:cubicBezTo>
                    <a:pt x="137" y="257"/>
                    <a:pt x="142" y="253"/>
                    <a:pt x="147" y="250"/>
                  </a:cubicBezTo>
                  <a:cubicBezTo>
                    <a:pt x="151" y="246"/>
                    <a:pt x="152" y="248"/>
                    <a:pt x="155" y="247"/>
                  </a:cubicBezTo>
                  <a:cubicBezTo>
                    <a:pt x="158" y="245"/>
                    <a:pt x="156" y="239"/>
                    <a:pt x="159" y="238"/>
                  </a:cubicBezTo>
                  <a:cubicBezTo>
                    <a:pt x="162" y="238"/>
                    <a:pt x="165" y="235"/>
                    <a:pt x="165" y="233"/>
                  </a:cubicBezTo>
                  <a:cubicBezTo>
                    <a:pt x="165" y="230"/>
                    <a:pt x="157" y="230"/>
                    <a:pt x="156" y="228"/>
                  </a:cubicBezTo>
                  <a:cubicBezTo>
                    <a:pt x="155" y="226"/>
                    <a:pt x="162" y="220"/>
                    <a:pt x="165" y="220"/>
                  </a:cubicBezTo>
                  <a:cubicBezTo>
                    <a:pt x="168" y="220"/>
                    <a:pt x="172" y="217"/>
                    <a:pt x="173" y="213"/>
                  </a:cubicBezTo>
                  <a:cubicBezTo>
                    <a:pt x="173" y="209"/>
                    <a:pt x="177" y="209"/>
                    <a:pt x="180" y="205"/>
                  </a:cubicBezTo>
                  <a:cubicBezTo>
                    <a:pt x="183" y="202"/>
                    <a:pt x="183" y="199"/>
                    <a:pt x="186" y="198"/>
                  </a:cubicBezTo>
                  <a:cubicBezTo>
                    <a:pt x="189" y="198"/>
                    <a:pt x="192" y="194"/>
                    <a:pt x="196" y="192"/>
                  </a:cubicBezTo>
                  <a:cubicBezTo>
                    <a:pt x="199" y="190"/>
                    <a:pt x="196" y="194"/>
                    <a:pt x="202" y="194"/>
                  </a:cubicBezTo>
                  <a:cubicBezTo>
                    <a:pt x="209" y="195"/>
                    <a:pt x="208" y="201"/>
                    <a:pt x="203" y="199"/>
                  </a:cubicBezTo>
                  <a:cubicBezTo>
                    <a:pt x="198" y="196"/>
                    <a:pt x="195" y="197"/>
                    <a:pt x="191" y="201"/>
                  </a:cubicBezTo>
                  <a:cubicBezTo>
                    <a:pt x="186" y="205"/>
                    <a:pt x="190" y="206"/>
                    <a:pt x="186" y="211"/>
                  </a:cubicBezTo>
                  <a:cubicBezTo>
                    <a:pt x="183" y="216"/>
                    <a:pt x="183" y="219"/>
                    <a:pt x="187" y="219"/>
                  </a:cubicBezTo>
                  <a:cubicBezTo>
                    <a:pt x="192" y="220"/>
                    <a:pt x="187" y="223"/>
                    <a:pt x="183" y="224"/>
                  </a:cubicBezTo>
                  <a:cubicBezTo>
                    <a:pt x="179" y="226"/>
                    <a:pt x="182" y="228"/>
                    <a:pt x="188" y="228"/>
                  </a:cubicBezTo>
                  <a:cubicBezTo>
                    <a:pt x="193" y="228"/>
                    <a:pt x="202" y="220"/>
                    <a:pt x="210" y="216"/>
                  </a:cubicBezTo>
                  <a:cubicBezTo>
                    <a:pt x="218" y="212"/>
                    <a:pt x="224" y="216"/>
                    <a:pt x="226" y="215"/>
                  </a:cubicBezTo>
                  <a:cubicBezTo>
                    <a:pt x="228" y="214"/>
                    <a:pt x="224" y="211"/>
                    <a:pt x="226" y="209"/>
                  </a:cubicBezTo>
                  <a:cubicBezTo>
                    <a:pt x="229" y="208"/>
                    <a:pt x="223" y="207"/>
                    <a:pt x="221" y="203"/>
                  </a:cubicBezTo>
                  <a:cubicBezTo>
                    <a:pt x="220" y="198"/>
                    <a:pt x="224" y="201"/>
                    <a:pt x="225" y="197"/>
                  </a:cubicBezTo>
                  <a:cubicBezTo>
                    <a:pt x="226" y="193"/>
                    <a:pt x="229" y="195"/>
                    <a:pt x="231" y="197"/>
                  </a:cubicBezTo>
                  <a:cubicBezTo>
                    <a:pt x="234" y="198"/>
                    <a:pt x="237" y="195"/>
                    <a:pt x="240" y="200"/>
                  </a:cubicBezTo>
                  <a:cubicBezTo>
                    <a:pt x="242" y="204"/>
                    <a:pt x="244" y="198"/>
                    <a:pt x="248" y="202"/>
                  </a:cubicBezTo>
                  <a:cubicBezTo>
                    <a:pt x="252" y="205"/>
                    <a:pt x="248" y="204"/>
                    <a:pt x="243" y="205"/>
                  </a:cubicBezTo>
                  <a:cubicBezTo>
                    <a:pt x="239" y="206"/>
                    <a:pt x="241" y="212"/>
                    <a:pt x="245" y="209"/>
                  </a:cubicBezTo>
                  <a:cubicBezTo>
                    <a:pt x="248" y="207"/>
                    <a:pt x="251" y="205"/>
                    <a:pt x="254" y="208"/>
                  </a:cubicBezTo>
                  <a:cubicBezTo>
                    <a:pt x="257" y="210"/>
                    <a:pt x="258" y="209"/>
                    <a:pt x="260" y="207"/>
                  </a:cubicBezTo>
                  <a:cubicBezTo>
                    <a:pt x="263" y="204"/>
                    <a:pt x="263" y="207"/>
                    <a:pt x="263" y="209"/>
                  </a:cubicBezTo>
                  <a:cubicBezTo>
                    <a:pt x="263" y="211"/>
                    <a:pt x="268" y="212"/>
                    <a:pt x="276" y="213"/>
                  </a:cubicBezTo>
                  <a:cubicBezTo>
                    <a:pt x="283" y="214"/>
                    <a:pt x="297" y="212"/>
                    <a:pt x="300" y="212"/>
                  </a:cubicBezTo>
                  <a:cubicBezTo>
                    <a:pt x="304" y="212"/>
                    <a:pt x="302" y="217"/>
                    <a:pt x="310" y="219"/>
                  </a:cubicBezTo>
                  <a:cubicBezTo>
                    <a:pt x="318" y="220"/>
                    <a:pt x="320" y="211"/>
                    <a:pt x="324" y="214"/>
                  </a:cubicBezTo>
                  <a:cubicBezTo>
                    <a:pt x="328" y="218"/>
                    <a:pt x="324" y="219"/>
                    <a:pt x="322" y="221"/>
                  </a:cubicBezTo>
                  <a:cubicBezTo>
                    <a:pt x="319" y="224"/>
                    <a:pt x="324" y="224"/>
                    <a:pt x="327" y="225"/>
                  </a:cubicBezTo>
                  <a:cubicBezTo>
                    <a:pt x="330" y="227"/>
                    <a:pt x="337" y="229"/>
                    <a:pt x="340" y="232"/>
                  </a:cubicBezTo>
                  <a:cubicBezTo>
                    <a:pt x="344" y="235"/>
                    <a:pt x="346" y="239"/>
                    <a:pt x="354" y="243"/>
                  </a:cubicBezTo>
                  <a:cubicBezTo>
                    <a:pt x="362" y="247"/>
                    <a:pt x="354" y="233"/>
                    <a:pt x="360" y="237"/>
                  </a:cubicBezTo>
                  <a:cubicBezTo>
                    <a:pt x="366" y="242"/>
                    <a:pt x="364" y="237"/>
                    <a:pt x="369" y="242"/>
                  </a:cubicBezTo>
                  <a:cubicBezTo>
                    <a:pt x="374" y="246"/>
                    <a:pt x="372" y="240"/>
                    <a:pt x="370" y="232"/>
                  </a:cubicBezTo>
                  <a:cubicBezTo>
                    <a:pt x="368" y="225"/>
                    <a:pt x="372" y="230"/>
                    <a:pt x="375" y="233"/>
                  </a:cubicBezTo>
                  <a:cubicBezTo>
                    <a:pt x="377" y="237"/>
                    <a:pt x="377" y="244"/>
                    <a:pt x="375" y="248"/>
                  </a:cubicBezTo>
                  <a:cubicBezTo>
                    <a:pt x="374" y="253"/>
                    <a:pt x="366" y="249"/>
                    <a:pt x="367" y="246"/>
                  </a:cubicBezTo>
                  <a:cubicBezTo>
                    <a:pt x="368" y="244"/>
                    <a:pt x="360" y="245"/>
                    <a:pt x="359" y="248"/>
                  </a:cubicBezTo>
                  <a:cubicBezTo>
                    <a:pt x="359" y="252"/>
                    <a:pt x="365" y="259"/>
                    <a:pt x="369" y="259"/>
                  </a:cubicBezTo>
                  <a:cubicBezTo>
                    <a:pt x="373" y="260"/>
                    <a:pt x="370" y="266"/>
                    <a:pt x="372" y="267"/>
                  </a:cubicBezTo>
                  <a:cubicBezTo>
                    <a:pt x="376" y="268"/>
                    <a:pt x="375" y="275"/>
                    <a:pt x="377" y="274"/>
                  </a:cubicBezTo>
                  <a:cubicBezTo>
                    <a:pt x="379" y="273"/>
                    <a:pt x="379" y="265"/>
                    <a:pt x="376" y="261"/>
                  </a:cubicBezTo>
                  <a:cubicBezTo>
                    <a:pt x="374" y="258"/>
                    <a:pt x="375" y="253"/>
                    <a:pt x="378" y="254"/>
                  </a:cubicBezTo>
                  <a:cubicBezTo>
                    <a:pt x="381" y="255"/>
                    <a:pt x="378" y="260"/>
                    <a:pt x="380" y="262"/>
                  </a:cubicBezTo>
                  <a:cubicBezTo>
                    <a:pt x="381" y="264"/>
                    <a:pt x="383" y="260"/>
                    <a:pt x="386" y="258"/>
                  </a:cubicBezTo>
                  <a:cubicBezTo>
                    <a:pt x="390" y="256"/>
                    <a:pt x="385" y="250"/>
                    <a:pt x="386" y="247"/>
                  </a:cubicBezTo>
                  <a:cubicBezTo>
                    <a:pt x="387" y="244"/>
                    <a:pt x="391" y="250"/>
                    <a:pt x="393" y="255"/>
                  </a:cubicBezTo>
                  <a:cubicBezTo>
                    <a:pt x="394" y="260"/>
                    <a:pt x="389" y="260"/>
                    <a:pt x="389" y="263"/>
                  </a:cubicBezTo>
                  <a:cubicBezTo>
                    <a:pt x="389" y="266"/>
                    <a:pt x="384" y="264"/>
                    <a:pt x="383" y="266"/>
                  </a:cubicBezTo>
                  <a:cubicBezTo>
                    <a:pt x="381" y="267"/>
                    <a:pt x="382" y="277"/>
                    <a:pt x="384" y="278"/>
                  </a:cubicBezTo>
                  <a:cubicBezTo>
                    <a:pt x="386" y="278"/>
                    <a:pt x="387" y="269"/>
                    <a:pt x="389" y="274"/>
                  </a:cubicBezTo>
                  <a:cubicBezTo>
                    <a:pt x="390" y="278"/>
                    <a:pt x="395" y="268"/>
                    <a:pt x="396" y="272"/>
                  </a:cubicBezTo>
                  <a:cubicBezTo>
                    <a:pt x="397" y="276"/>
                    <a:pt x="403" y="281"/>
                    <a:pt x="405" y="280"/>
                  </a:cubicBezTo>
                  <a:cubicBezTo>
                    <a:pt x="408" y="279"/>
                    <a:pt x="404" y="274"/>
                    <a:pt x="401" y="274"/>
                  </a:cubicBezTo>
                  <a:cubicBezTo>
                    <a:pt x="397" y="274"/>
                    <a:pt x="398" y="268"/>
                    <a:pt x="401" y="268"/>
                  </a:cubicBezTo>
                  <a:cubicBezTo>
                    <a:pt x="404" y="268"/>
                    <a:pt x="410" y="276"/>
                    <a:pt x="410" y="279"/>
                  </a:cubicBezTo>
                  <a:cubicBezTo>
                    <a:pt x="410" y="282"/>
                    <a:pt x="407" y="282"/>
                    <a:pt x="404" y="285"/>
                  </a:cubicBezTo>
                  <a:cubicBezTo>
                    <a:pt x="401" y="288"/>
                    <a:pt x="398" y="280"/>
                    <a:pt x="394" y="280"/>
                  </a:cubicBezTo>
                  <a:cubicBezTo>
                    <a:pt x="391" y="280"/>
                    <a:pt x="394" y="285"/>
                    <a:pt x="396" y="289"/>
                  </a:cubicBezTo>
                  <a:cubicBezTo>
                    <a:pt x="397" y="292"/>
                    <a:pt x="392" y="297"/>
                    <a:pt x="396" y="300"/>
                  </a:cubicBezTo>
                  <a:cubicBezTo>
                    <a:pt x="400" y="303"/>
                    <a:pt x="399" y="298"/>
                    <a:pt x="400" y="296"/>
                  </a:cubicBezTo>
                  <a:cubicBezTo>
                    <a:pt x="401" y="294"/>
                    <a:pt x="404" y="297"/>
                    <a:pt x="406" y="298"/>
                  </a:cubicBezTo>
                  <a:cubicBezTo>
                    <a:pt x="408" y="300"/>
                    <a:pt x="409" y="294"/>
                    <a:pt x="409" y="292"/>
                  </a:cubicBezTo>
                  <a:cubicBezTo>
                    <a:pt x="409" y="290"/>
                    <a:pt x="412" y="291"/>
                    <a:pt x="414" y="294"/>
                  </a:cubicBezTo>
                  <a:cubicBezTo>
                    <a:pt x="416" y="297"/>
                    <a:pt x="417" y="291"/>
                    <a:pt x="420" y="291"/>
                  </a:cubicBezTo>
                  <a:cubicBezTo>
                    <a:pt x="423" y="292"/>
                    <a:pt x="421" y="297"/>
                    <a:pt x="421" y="299"/>
                  </a:cubicBezTo>
                  <a:cubicBezTo>
                    <a:pt x="421" y="302"/>
                    <a:pt x="426" y="297"/>
                    <a:pt x="425" y="300"/>
                  </a:cubicBezTo>
                  <a:cubicBezTo>
                    <a:pt x="425" y="300"/>
                    <a:pt x="425" y="301"/>
                    <a:pt x="425" y="301"/>
                  </a:cubicBezTo>
                  <a:cubicBezTo>
                    <a:pt x="428" y="299"/>
                    <a:pt x="431" y="297"/>
                    <a:pt x="433" y="296"/>
                  </a:cubicBezTo>
                  <a:cubicBezTo>
                    <a:pt x="438" y="292"/>
                    <a:pt x="429" y="290"/>
                    <a:pt x="431" y="286"/>
                  </a:cubicBezTo>
                  <a:close/>
                  <a:moveTo>
                    <a:pt x="9" y="321"/>
                  </a:moveTo>
                  <a:cubicBezTo>
                    <a:pt x="15" y="319"/>
                    <a:pt x="17" y="316"/>
                    <a:pt x="15" y="313"/>
                  </a:cubicBezTo>
                  <a:cubicBezTo>
                    <a:pt x="12" y="310"/>
                    <a:pt x="4" y="323"/>
                    <a:pt x="9" y="321"/>
                  </a:cubicBezTo>
                  <a:close/>
                  <a:moveTo>
                    <a:pt x="51" y="299"/>
                  </a:moveTo>
                  <a:cubicBezTo>
                    <a:pt x="46" y="297"/>
                    <a:pt x="31" y="305"/>
                    <a:pt x="36" y="306"/>
                  </a:cubicBezTo>
                  <a:cubicBezTo>
                    <a:pt x="40" y="307"/>
                    <a:pt x="41" y="303"/>
                    <a:pt x="45" y="303"/>
                  </a:cubicBezTo>
                  <a:cubicBezTo>
                    <a:pt x="49" y="303"/>
                    <a:pt x="57" y="301"/>
                    <a:pt x="51" y="299"/>
                  </a:cubicBezTo>
                  <a:close/>
                  <a:moveTo>
                    <a:pt x="178" y="240"/>
                  </a:moveTo>
                  <a:cubicBezTo>
                    <a:pt x="178" y="237"/>
                    <a:pt x="174" y="237"/>
                    <a:pt x="169" y="243"/>
                  </a:cubicBezTo>
                  <a:cubicBezTo>
                    <a:pt x="164" y="249"/>
                    <a:pt x="160" y="252"/>
                    <a:pt x="159" y="255"/>
                  </a:cubicBezTo>
                  <a:cubicBezTo>
                    <a:pt x="159" y="257"/>
                    <a:pt x="153" y="254"/>
                    <a:pt x="151" y="258"/>
                  </a:cubicBezTo>
                  <a:cubicBezTo>
                    <a:pt x="149" y="261"/>
                    <a:pt x="152" y="269"/>
                    <a:pt x="156" y="266"/>
                  </a:cubicBezTo>
                  <a:cubicBezTo>
                    <a:pt x="159" y="264"/>
                    <a:pt x="160" y="266"/>
                    <a:pt x="162" y="266"/>
                  </a:cubicBezTo>
                  <a:cubicBezTo>
                    <a:pt x="164" y="266"/>
                    <a:pt x="174" y="259"/>
                    <a:pt x="177" y="256"/>
                  </a:cubicBezTo>
                  <a:cubicBezTo>
                    <a:pt x="179" y="252"/>
                    <a:pt x="173" y="251"/>
                    <a:pt x="172" y="249"/>
                  </a:cubicBezTo>
                  <a:cubicBezTo>
                    <a:pt x="172" y="247"/>
                    <a:pt x="178" y="247"/>
                    <a:pt x="180" y="245"/>
                  </a:cubicBezTo>
                  <a:cubicBezTo>
                    <a:pt x="183" y="244"/>
                    <a:pt x="178" y="243"/>
                    <a:pt x="178" y="240"/>
                  </a:cubicBezTo>
                  <a:close/>
                  <a:moveTo>
                    <a:pt x="19" y="210"/>
                  </a:moveTo>
                  <a:cubicBezTo>
                    <a:pt x="18" y="206"/>
                    <a:pt x="8" y="210"/>
                    <a:pt x="9" y="214"/>
                  </a:cubicBezTo>
                  <a:cubicBezTo>
                    <a:pt x="10" y="218"/>
                    <a:pt x="20" y="220"/>
                    <a:pt x="25" y="219"/>
                  </a:cubicBezTo>
                  <a:cubicBezTo>
                    <a:pt x="28" y="217"/>
                    <a:pt x="30" y="213"/>
                    <a:pt x="27" y="211"/>
                  </a:cubicBezTo>
                  <a:cubicBezTo>
                    <a:pt x="24" y="208"/>
                    <a:pt x="19" y="214"/>
                    <a:pt x="19" y="210"/>
                  </a:cubicBezTo>
                  <a:close/>
                  <a:moveTo>
                    <a:pt x="1137" y="413"/>
                  </a:moveTo>
                  <a:cubicBezTo>
                    <a:pt x="1137" y="410"/>
                    <a:pt x="1127" y="412"/>
                    <a:pt x="1122" y="409"/>
                  </a:cubicBezTo>
                  <a:cubicBezTo>
                    <a:pt x="1117" y="405"/>
                    <a:pt x="1109" y="422"/>
                    <a:pt x="1108" y="429"/>
                  </a:cubicBezTo>
                  <a:cubicBezTo>
                    <a:pt x="1106" y="436"/>
                    <a:pt x="1094" y="443"/>
                    <a:pt x="1094" y="443"/>
                  </a:cubicBezTo>
                  <a:cubicBezTo>
                    <a:pt x="1094" y="443"/>
                    <a:pt x="1058" y="444"/>
                    <a:pt x="1055" y="444"/>
                  </a:cubicBezTo>
                  <a:cubicBezTo>
                    <a:pt x="1053" y="444"/>
                    <a:pt x="1045" y="451"/>
                    <a:pt x="1040" y="455"/>
                  </a:cubicBezTo>
                  <a:cubicBezTo>
                    <a:pt x="1040" y="455"/>
                    <a:pt x="1040" y="455"/>
                    <a:pt x="1040" y="456"/>
                  </a:cubicBezTo>
                  <a:cubicBezTo>
                    <a:pt x="1044" y="462"/>
                    <a:pt x="1031" y="466"/>
                    <a:pt x="1018" y="467"/>
                  </a:cubicBezTo>
                  <a:cubicBezTo>
                    <a:pt x="1015" y="467"/>
                    <a:pt x="1012" y="467"/>
                    <a:pt x="1009" y="467"/>
                  </a:cubicBezTo>
                  <a:cubicBezTo>
                    <a:pt x="1010" y="469"/>
                    <a:pt x="1010" y="471"/>
                    <a:pt x="1010" y="472"/>
                  </a:cubicBezTo>
                  <a:cubicBezTo>
                    <a:pt x="1010" y="473"/>
                    <a:pt x="1009" y="474"/>
                    <a:pt x="1007" y="475"/>
                  </a:cubicBezTo>
                  <a:cubicBezTo>
                    <a:pt x="1005" y="479"/>
                    <a:pt x="989" y="486"/>
                    <a:pt x="981" y="491"/>
                  </a:cubicBezTo>
                  <a:cubicBezTo>
                    <a:pt x="971" y="496"/>
                    <a:pt x="958" y="493"/>
                    <a:pt x="958" y="486"/>
                  </a:cubicBezTo>
                  <a:cubicBezTo>
                    <a:pt x="958" y="478"/>
                    <a:pt x="965" y="480"/>
                    <a:pt x="967" y="483"/>
                  </a:cubicBezTo>
                  <a:cubicBezTo>
                    <a:pt x="967" y="484"/>
                    <a:pt x="969" y="483"/>
                    <a:pt x="971" y="482"/>
                  </a:cubicBezTo>
                  <a:cubicBezTo>
                    <a:pt x="969" y="479"/>
                    <a:pt x="969" y="476"/>
                    <a:pt x="970" y="473"/>
                  </a:cubicBezTo>
                  <a:cubicBezTo>
                    <a:pt x="967" y="472"/>
                    <a:pt x="971" y="460"/>
                    <a:pt x="965" y="459"/>
                  </a:cubicBezTo>
                  <a:cubicBezTo>
                    <a:pt x="959" y="457"/>
                    <a:pt x="952" y="467"/>
                    <a:pt x="953" y="461"/>
                  </a:cubicBezTo>
                  <a:cubicBezTo>
                    <a:pt x="954" y="454"/>
                    <a:pt x="963" y="449"/>
                    <a:pt x="958" y="440"/>
                  </a:cubicBezTo>
                  <a:cubicBezTo>
                    <a:pt x="952" y="432"/>
                    <a:pt x="942" y="432"/>
                    <a:pt x="940" y="438"/>
                  </a:cubicBezTo>
                  <a:cubicBezTo>
                    <a:pt x="938" y="445"/>
                    <a:pt x="931" y="442"/>
                    <a:pt x="929" y="447"/>
                  </a:cubicBezTo>
                  <a:cubicBezTo>
                    <a:pt x="926" y="452"/>
                    <a:pt x="924" y="463"/>
                    <a:pt x="926" y="471"/>
                  </a:cubicBezTo>
                  <a:cubicBezTo>
                    <a:pt x="928" y="479"/>
                    <a:pt x="925" y="483"/>
                    <a:pt x="918" y="487"/>
                  </a:cubicBezTo>
                  <a:cubicBezTo>
                    <a:pt x="910" y="492"/>
                    <a:pt x="906" y="480"/>
                    <a:pt x="909" y="466"/>
                  </a:cubicBezTo>
                  <a:cubicBezTo>
                    <a:pt x="911" y="456"/>
                    <a:pt x="917" y="446"/>
                    <a:pt x="912" y="446"/>
                  </a:cubicBezTo>
                  <a:cubicBezTo>
                    <a:pt x="907" y="446"/>
                    <a:pt x="918" y="434"/>
                    <a:pt x="929" y="432"/>
                  </a:cubicBezTo>
                  <a:cubicBezTo>
                    <a:pt x="939" y="429"/>
                    <a:pt x="952" y="430"/>
                    <a:pt x="952" y="427"/>
                  </a:cubicBezTo>
                  <a:cubicBezTo>
                    <a:pt x="952" y="426"/>
                    <a:pt x="953" y="426"/>
                    <a:pt x="954" y="426"/>
                  </a:cubicBezTo>
                  <a:cubicBezTo>
                    <a:pt x="951" y="424"/>
                    <a:pt x="949" y="422"/>
                    <a:pt x="947" y="421"/>
                  </a:cubicBezTo>
                  <a:cubicBezTo>
                    <a:pt x="947" y="422"/>
                    <a:pt x="947" y="422"/>
                    <a:pt x="946" y="423"/>
                  </a:cubicBezTo>
                  <a:cubicBezTo>
                    <a:pt x="942" y="426"/>
                    <a:pt x="943" y="419"/>
                    <a:pt x="935" y="419"/>
                  </a:cubicBezTo>
                  <a:cubicBezTo>
                    <a:pt x="928" y="419"/>
                    <a:pt x="920" y="426"/>
                    <a:pt x="914" y="423"/>
                  </a:cubicBezTo>
                  <a:cubicBezTo>
                    <a:pt x="908" y="420"/>
                    <a:pt x="911" y="416"/>
                    <a:pt x="906" y="416"/>
                  </a:cubicBezTo>
                  <a:cubicBezTo>
                    <a:pt x="900" y="416"/>
                    <a:pt x="910" y="405"/>
                    <a:pt x="902" y="410"/>
                  </a:cubicBezTo>
                  <a:cubicBezTo>
                    <a:pt x="894" y="414"/>
                    <a:pt x="882" y="425"/>
                    <a:pt x="876" y="420"/>
                  </a:cubicBezTo>
                  <a:cubicBezTo>
                    <a:pt x="871" y="415"/>
                    <a:pt x="866" y="422"/>
                    <a:pt x="862" y="418"/>
                  </a:cubicBezTo>
                  <a:cubicBezTo>
                    <a:pt x="858" y="414"/>
                    <a:pt x="876" y="403"/>
                    <a:pt x="884" y="403"/>
                  </a:cubicBezTo>
                  <a:cubicBezTo>
                    <a:pt x="886" y="403"/>
                    <a:pt x="888" y="402"/>
                    <a:pt x="890" y="401"/>
                  </a:cubicBezTo>
                  <a:cubicBezTo>
                    <a:pt x="886" y="399"/>
                    <a:pt x="876" y="396"/>
                    <a:pt x="874" y="399"/>
                  </a:cubicBezTo>
                  <a:cubicBezTo>
                    <a:pt x="871" y="402"/>
                    <a:pt x="867" y="400"/>
                    <a:pt x="864" y="397"/>
                  </a:cubicBezTo>
                  <a:cubicBezTo>
                    <a:pt x="862" y="394"/>
                    <a:pt x="859" y="398"/>
                    <a:pt x="855" y="393"/>
                  </a:cubicBezTo>
                  <a:cubicBezTo>
                    <a:pt x="851" y="389"/>
                    <a:pt x="847" y="392"/>
                    <a:pt x="845" y="393"/>
                  </a:cubicBezTo>
                  <a:cubicBezTo>
                    <a:pt x="842" y="394"/>
                    <a:pt x="839" y="391"/>
                    <a:pt x="835" y="390"/>
                  </a:cubicBezTo>
                  <a:cubicBezTo>
                    <a:pt x="831" y="388"/>
                    <a:pt x="834" y="384"/>
                    <a:pt x="830" y="381"/>
                  </a:cubicBezTo>
                  <a:cubicBezTo>
                    <a:pt x="827" y="378"/>
                    <a:pt x="826" y="386"/>
                    <a:pt x="826" y="386"/>
                  </a:cubicBezTo>
                  <a:cubicBezTo>
                    <a:pt x="516" y="388"/>
                    <a:pt x="516" y="388"/>
                    <a:pt x="516" y="388"/>
                  </a:cubicBezTo>
                  <a:cubicBezTo>
                    <a:pt x="516" y="388"/>
                    <a:pt x="516" y="389"/>
                    <a:pt x="517" y="389"/>
                  </a:cubicBezTo>
                  <a:cubicBezTo>
                    <a:pt x="521" y="393"/>
                    <a:pt x="518" y="396"/>
                    <a:pt x="519" y="401"/>
                  </a:cubicBezTo>
                  <a:cubicBezTo>
                    <a:pt x="520" y="406"/>
                    <a:pt x="519" y="412"/>
                    <a:pt x="515" y="412"/>
                  </a:cubicBezTo>
                  <a:cubicBezTo>
                    <a:pt x="512" y="412"/>
                    <a:pt x="511" y="408"/>
                    <a:pt x="514" y="407"/>
                  </a:cubicBezTo>
                  <a:cubicBezTo>
                    <a:pt x="517" y="405"/>
                    <a:pt x="515" y="400"/>
                    <a:pt x="512" y="400"/>
                  </a:cubicBezTo>
                  <a:cubicBezTo>
                    <a:pt x="511" y="400"/>
                    <a:pt x="510" y="398"/>
                    <a:pt x="510" y="395"/>
                  </a:cubicBezTo>
                  <a:cubicBezTo>
                    <a:pt x="505" y="397"/>
                    <a:pt x="499" y="396"/>
                    <a:pt x="492" y="395"/>
                  </a:cubicBezTo>
                  <a:cubicBezTo>
                    <a:pt x="492" y="396"/>
                    <a:pt x="493" y="396"/>
                    <a:pt x="493" y="396"/>
                  </a:cubicBezTo>
                  <a:cubicBezTo>
                    <a:pt x="493" y="399"/>
                    <a:pt x="494" y="406"/>
                    <a:pt x="498" y="411"/>
                  </a:cubicBezTo>
                  <a:cubicBezTo>
                    <a:pt x="502" y="417"/>
                    <a:pt x="500" y="420"/>
                    <a:pt x="503" y="422"/>
                  </a:cubicBezTo>
                  <a:cubicBezTo>
                    <a:pt x="507" y="424"/>
                    <a:pt x="507" y="426"/>
                    <a:pt x="503" y="426"/>
                  </a:cubicBezTo>
                  <a:cubicBezTo>
                    <a:pt x="500" y="425"/>
                    <a:pt x="502" y="428"/>
                    <a:pt x="501" y="436"/>
                  </a:cubicBezTo>
                  <a:cubicBezTo>
                    <a:pt x="500" y="443"/>
                    <a:pt x="500" y="459"/>
                    <a:pt x="499" y="464"/>
                  </a:cubicBezTo>
                  <a:cubicBezTo>
                    <a:pt x="499" y="468"/>
                    <a:pt x="493" y="476"/>
                    <a:pt x="496" y="481"/>
                  </a:cubicBezTo>
                  <a:cubicBezTo>
                    <a:pt x="500" y="486"/>
                    <a:pt x="502" y="493"/>
                    <a:pt x="500" y="499"/>
                  </a:cubicBezTo>
                  <a:cubicBezTo>
                    <a:pt x="498" y="506"/>
                    <a:pt x="499" y="509"/>
                    <a:pt x="501" y="514"/>
                  </a:cubicBezTo>
                  <a:cubicBezTo>
                    <a:pt x="504" y="519"/>
                    <a:pt x="502" y="527"/>
                    <a:pt x="505" y="529"/>
                  </a:cubicBezTo>
                  <a:cubicBezTo>
                    <a:pt x="508" y="531"/>
                    <a:pt x="511" y="534"/>
                    <a:pt x="513" y="539"/>
                  </a:cubicBezTo>
                  <a:cubicBezTo>
                    <a:pt x="516" y="543"/>
                    <a:pt x="519" y="540"/>
                    <a:pt x="519" y="545"/>
                  </a:cubicBezTo>
                  <a:cubicBezTo>
                    <a:pt x="520" y="549"/>
                    <a:pt x="520" y="550"/>
                    <a:pt x="524" y="552"/>
                  </a:cubicBezTo>
                  <a:cubicBezTo>
                    <a:pt x="528" y="554"/>
                    <a:pt x="525" y="558"/>
                    <a:pt x="525" y="561"/>
                  </a:cubicBezTo>
                  <a:cubicBezTo>
                    <a:pt x="525" y="563"/>
                    <a:pt x="530" y="568"/>
                    <a:pt x="537" y="573"/>
                  </a:cubicBezTo>
                  <a:cubicBezTo>
                    <a:pt x="543" y="579"/>
                    <a:pt x="538" y="584"/>
                    <a:pt x="543" y="584"/>
                  </a:cubicBezTo>
                  <a:cubicBezTo>
                    <a:pt x="547" y="584"/>
                    <a:pt x="552" y="587"/>
                    <a:pt x="557" y="590"/>
                  </a:cubicBezTo>
                  <a:cubicBezTo>
                    <a:pt x="561" y="593"/>
                    <a:pt x="563" y="591"/>
                    <a:pt x="566" y="592"/>
                  </a:cubicBezTo>
                  <a:cubicBezTo>
                    <a:pt x="569" y="592"/>
                    <a:pt x="575" y="599"/>
                    <a:pt x="577" y="604"/>
                  </a:cubicBezTo>
                  <a:cubicBezTo>
                    <a:pt x="577" y="606"/>
                    <a:pt x="578" y="609"/>
                    <a:pt x="579" y="611"/>
                  </a:cubicBezTo>
                  <a:cubicBezTo>
                    <a:pt x="605" y="608"/>
                    <a:pt x="605" y="608"/>
                    <a:pt x="605" y="608"/>
                  </a:cubicBezTo>
                  <a:cubicBezTo>
                    <a:pt x="605" y="608"/>
                    <a:pt x="613" y="613"/>
                    <a:pt x="618" y="614"/>
                  </a:cubicBezTo>
                  <a:cubicBezTo>
                    <a:pt x="622" y="615"/>
                    <a:pt x="647" y="625"/>
                    <a:pt x="647" y="625"/>
                  </a:cubicBezTo>
                  <a:cubicBezTo>
                    <a:pt x="679" y="624"/>
                    <a:pt x="679" y="624"/>
                    <a:pt x="679" y="624"/>
                  </a:cubicBezTo>
                  <a:cubicBezTo>
                    <a:pt x="683" y="619"/>
                    <a:pt x="683" y="619"/>
                    <a:pt x="683" y="619"/>
                  </a:cubicBezTo>
                  <a:cubicBezTo>
                    <a:pt x="700" y="619"/>
                    <a:pt x="700" y="619"/>
                    <a:pt x="700" y="619"/>
                  </a:cubicBezTo>
                  <a:cubicBezTo>
                    <a:pt x="700" y="619"/>
                    <a:pt x="711" y="630"/>
                    <a:pt x="713" y="631"/>
                  </a:cubicBezTo>
                  <a:cubicBezTo>
                    <a:pt x="715" y="632"/>
                    <a:pt x="720" y="637"/>
                    <a:pt x="720" y="640"/>
                  </a:cubicBezTo>
                  <a:cubicBezTo>
                    <a:pt x="720" y="643"/>
                    <a:pt x="722" y="646"/>
                    <a:pt x="724" y="647"/>
                  </a:cubicBezTo>
                  <a:cubicBezTo>
                    <a:pt x="727" y="648"/>
                    <a:pt x="736" y="654"/>
                    <a:pt x="737" y="654"/>
                  </a:cubicBezTo>
                  <a:cubicBezTo>
                    <a:pt x="739" y="653"/>
                    <a:pt x="741" y="643"/>
                    <a:pt x="746" y="643"/>
                  </a:cubicBezTo>
                  <a:cubicBezTo>
                    <a:pt x="751" y="644"/>
                    <a:pt x="764" y="647"/>
                    <a:pt x="766" y="655"/>
                  </a:cubicBezTo>
                  <a:cubicBezTo>
                    <a:pt x="768" y="662"/>
                    <a:pt x="775" y="668"/>
                    <a:pt x="777" y="670"/>
                  </a:cubicBezTo>
                  <a:cubicBezTo>
                    <a:pt x="779" y="672"/>
                    <a:pt x="778" y="676"/>
                    <a:pt x="779" y="679"/>
                  </a:cubicBezTo>
                  <a:cubicBezTo>
                    <a:pt x="781" y="681"/>
                    <a:pt x="781" y="685"/>
                    <a:pt x="783" y="685"/>
                  </a:cubicBezTo>
                  <a:cubicBezTo>
                    <a:pt x="785" y="685"/>
                    <a:pt x="794" y="691"/>
                    <a:pt x="798" y="691"/>
                  </a:cubicBezTo>
                  <a:cubicBezTo>
                    <a:pt x="800" y="691"/>
                    <a:pt x="801" y="692"/>
                    <a:pt x="803" y="693"/>
                  </a:cubicBezTo>
                  <a:cubicBezTo>
                    <a:pt x="804" y="684"/>
                    <a:pt x="794" y="682"/>
                    <a:pt x="800" y="678"/>
                  </a:cubicBezTo>
                  <a:cubicBezTo>
                    <a:pt x="806" y="674"/>
                    <a:pt x="800" y="670"/>
                    <a:pt x="803" y="668"/>
                  </a:cubicBezTo>
                  <a:cubicBezTo>
                    <a:pt x="806" y="666"/>
                    <a:pt x="811" y="664"/>
                    <a:pt x="811" y="661"/>
                  </a:cubicBezTo>
                  <a:cubicBezTo>
                    <a:pt x="811" y="658"/>
                    <a:pt x="814" y="658"/>
                    <a:pt x="818" y="658"/>
                  </a:cubicBezTo>
                  <a:cubicBezTo>
                    <a:pt x="822" y="659"/>
                    <a:pt x="829" y="652"/>
                    <a:pt x="829" y="649"/>
                  </a:cubicBezTo>
                  <a:cubicBezTo>
                    <a:pt x="828" y="646"/>
                    <a:pt x="829" y="646"/>
                    <a:pt x="834" y="647"/>
                  </a:cubicBezTo>
                  <a:cubicBezTo>
                    <a:pt x="839" y="648"/>
                    <a:pt x="838" y="641"/>
                    <a:pt x="841" y="642"/>
                  </a:cubicBezTo>
                  <a:cubicBezTo>
                    <a:pt x="844" y="643"/>
                    <a:pt x="847" y="645"/>
                    <a:pt x="847" y="643"/>
                  </a:cubicBezTo>
                  <a:cubicBezTo>
                    <a:pt x="847" y="640"/>
                    <a:pt x="850" y="641"/>
                    <a:pt x="852" y="644"/>
                  </a:cubicBezTo>
                  <a:cubicBezTo>
                    <a:pt x="855" y="647"/>
                    <a:pt x="861" y="648"/>
                    <a:pt x="862" y="644"/>
                  </a:cubicBezTo>
                  <a:cubicBezTo>
                    <a:pt x="862" y="641"/>
                    <a:pt x="866" y="644"/>
                    <a:pt x="869" y="648"/>
                  </a:cubicBezTo>
                  <a:cubicBezTo>
                    <a:pt x="872" y="651"/>
                    <a:pt x="874" y="650"/>
                    <a:pt x="879" y="650"/>
                  </a:cubicBezTo>
                  <a:cubicBezTo>
                    <a:pt x="883" y="651"/>
                    <a:pt x="883" y="649"/>
                    <a:pt x="884" y="646"/>
                  </a:cubicBezTo>
                  <a:cubicBezTo>
                    <a:pt x="884" y="643"/>
                    <a:pt x="889" y="653"/>
                    <a:pt x="894" y="653"/>
                  </a:cubicBezTo>
                  <a:cubicBezTo>
                    <a:pt x="898" y="654"/>
                    <a:pt x="895" y="650"/>
                    <a:pt x="891" y="648"/>
                  </a:cubicBezTo>
                  <a:cubicBezTo>
                    <a:pt x="888" y="645"/>
                    <a:pt x="892" y="644"/>
                    <a:pt x="889" y="641"/>
                  </a:cubicBezTo>
                  <a:cubicBezTo>
                    <a:pt x="886" y="639"/>
                    <a:pt x="893" y="636"/>
                    <a:pt x="899" y="636"/>
                  </a:cubicBezTo>
                  <a:cubicBezTo>
                    <a:pt x="905" y="637"/>
                    <a:pt x="904" y="638"/>
                    <a:pt x="907" y="635"/>
                  </a:cubicBezTo>
                  <a:cubicBezTo>
                    <a:pt x="909" y="631"/>
                    <a:pt x="911" y="635"/>
                    <a:pt x="911" y="638"/>
                  </a:cubicBezTo>
                  <a:cubicBezTo>
                    <a:pt x="911" y="641"/>
                    <a:pt x="921" y="636"/>
                    <a:pt x="926" y="636"/>
                  </a:cubicBezTo>
                  <a:cubicBezTo>
                    <a:pt x="931" y="636"/>
                    <a:pt x="936" y="640"/>
                    <a:pt x="937" y="643"/>
                  </a:cubicBezTo>
                  <a:cubicBezTo>
                    <a:pt x="937" y="646"/>
                    <a:pt x="941" y="648"/>
                    <a:pt x="944" y="645"/>
                  </a:cubicBezTo>
                  <a:cubicBezTo>
                    <a:pt x="948" y="641"/>
                    <a:pt x="951" y="638"/>
                    <a:pt x="955" y="641"/>
                  </a:cubicBezTo>
                  <a:cubicBezTo>
                    <a:pt x="958" y="645"/>
                    <a:pt x="962" y="649"/>
                    <a:pt x="966" y="654"/>
                  </a:cubicBezTo>
                  <a:cubicBezTo>
                    <a:pt x="970" y="658"/>
                    <a:pt x="964" y="663"/>
                    <a:pt x="966" y="666"/>
                  </a:cubicBezTo>
                  <a:cubicBezTo>
                    <a:pt x="969" y="670"/>
                    <a:pt x="966" y="674"/>
                    <a:pt x="971" y="678"/>
                  </a:cubicBezTo>
                  <a:cubicBezTo>
                    <a:pt x="976" y="681"/>
                    <a:pt x="972" y="688"/>
                    <a:pt x="976" y="689"/>
                  </a:cubicBezTo>
                  <a:cubicBezTo>
                    <a:pt x="980" y="690"/>
                    <a:pt x="983" y="697"/>
                    <a:pt x="983" y="699"/>
                  </a:cubicBezTo>
                  <a:cubicBezTo>
                    <a:pt x="984" y="702"/>
                    <a:pt x="991" y="705"/>
                    <a:pt x="992" y="701"/>
                  </a:cubicBezTo>
                  <a:cubicBezTo>
                    <a:pt x="992" y="696"/>
                    <a:pt x="996" y="691"/>
                    <a:pt x="997" y="687"/>
                  </a:cubicBezTo>
                  <a:cubicBezTo>
                    <a:pt x="997" y="683"/>
                    <a:pt x="994" y="669"/>
                    <a:pt x="991" y="665"/>
                  </a:cubicBezTo>
                  <a:cubicBezTo>
                    <a:pt x="987" y="660"/>
                    <a:pt x="991" y="659"/>
                    <a:pt x="987" y="654"/>
                  </a:cubicBezTo>
                  <a:cubicBezTo>
                    <a:pt x="983" y="649"/>
                    <a:pt x="981" y="639"/>
                    <a:pt x="981" y="632"/>
                  </a:cubicBezTo>
                  <a:cubicBezTo>
                    <a:pt x="981" y="624"/>
                    <a:pt x="990" y="612"/>
                    <a:pt x="994" y="608"/>
                  </a:cubicBezTo>
                  <a:cubicBezTo>
                    <a:pt x="999" y="605"/>
                    <a:pt x="1003" y="607"/>
                    <a:pt x="1004" y="603"/>
                  </a:cubicBezTo>
                  <a:cubicBezTo>
                    <a:pt x="1005" y="599"/>
                    <a:pt x="1011" y="594"/>
                    <a:pt x="1014" y="594"/>
                  </a:cubicBezTo>
                  <a:cubicBezTo>
                    <a:pt x="1017" y="594"/>
                    <a:pt x="1020" y="594"/>
                    <a:pt x="1020" y="591"/>
                  </a:cubicBezTo>
                  <a:cubicBezTo>
                    <a:pt x="1021" y="588"/>
                    <a:pt x="1026" y="584"/>
                    <a:pt x="1032" y="583"/>
                  </a:cubicBezTo>
                  <a:cubicBezTo>
                    <a:pt x="1039" y="582"/>
                    <a:pt x="1035" y="578"/>
                    <a:pt x="1033" y="575"/>
                  </a:cubicBezTo>
                  <a:cubicBezTo>
                    <a:pt x="1032" y="572"/>
                    <a:pt x="1035" y="569"/>
                    <a:pt x="1036" y="571"/>
                  </a:cubicBezTo>
                  <a:cubicBezTo>
                    <a:pt x="1037" y="573"/>
                    <a:pt x="1041" y="574"/>
                    <a:pt x="1044" y="572"/>
                  </a:cubicBezTo>
                  <a:cubicBezTo>
                    <a:pt x="1046" y="570"/>
                    <a:pt x="1052" y="565"/>
                    <a:pt x="1047" y="565"/>
                  </a:cubicBezTo>
                  <a:cubicBezTo>
                    <a:pt x="1041" y="565"/>
                    <a:pt x="1040" y="563"/>
                    <a:pt x="1043" y="561"/>
                  </a:cubicBezTo>
                  <a:cubicBezTo>
                    <a:pt x="1046" y="560"/>
                    <a:pt x="1044" y="554"/>
                    <a:pt x="1039" y="554"/>
                  </a:cubicBezTo>
                  <a:cubicBezTo>
                    <a:pt x="1035" y="553"/>
                    <a:pt x="1036" y="551"/>
                    <a:pt x="1039" y="548"/>
                  </a:cubicBezTo>
                  <a:cubicBezTo>
                    <a:pt x="1042" y="545"/>
                    <a:pt x="1035" y="541"/>
                    <a:pt x="1032" y="539"/>
                  </a:cubicBezTo>
                  <a:cubicBezTo>
                    <a:pt x="1028" y="536"/>
                    <a:pt x="1034" y="535"/>
                    <a:pt x="1036" y="535"/>
                  </a:cubicBezTo>
                  <a:cubicBezTo>
                    <a:pt x="1039" y="534"/>
                    <a:pt x="1037" y="523"/>
                    <a:pt x="1038" y="520"/>
                  </a:cubicBezTo>
                  <a:cubicBezTo>
                    <a:pt x="1039" y="517"/>
                    <a:pt x="1043" y="517"/>
                    <a:pt x="1042" y="520"/>
                  </a:cubicBezTo>
                  <a:cubicBezTo>
                    <a:pt x="1040" y="523"/>
                    <a:pt x="1037" y="527"/>
                    <a:pt x="1041" y="531"/>
                  </a:cubicBezTo>
                  <a:cubicBezTo>
                    <a:pt x="1044" y="535"/>
                    <a:pt x="1045" y="539"/>
                    <a:pt x="1044" y="544"/>
                  </a:cubicBezTo>
                  <a:cubicBezTo>
                    <a:pt x="1042" y="550"/>
                    <a:pt x="1045" y="549"/>
                    <a:pt x="1049" y="541"/>
                  </a:cubicBezTo>
                  <a:cubicBezTo>
                    <a:pt x="1052" y="534"/>
                    <a:pt x="1053" y="527"/>
                    <a:pt x="1050" y="526"/>
                  </a:cubicBezTo>
                  <a:cubicBezTo>
                    <a:pt x="1048" y="526"/>
                    <a:pt x="1048" y="518"/>
                    <a:pt x="1051" y="522"/>
                  </a:cubicBezTo>
                  <a:cubicBezTo>
                    <a:pt x="1054" y="525"/>
                    <a:pt x="1055" y="526"/>
                    <a:pt x="1059" y="521"/>
                  </a:cubicBezTo>
                  <a:cubicBezTo>
                    <a:pt x="1063" y="517"/>
                    <a:pt x="1068" y="509"/>
                    <a:pt x="1065" y="507"/>
                  </a:cubicBezTo>
                  <a:cubicBezTo>
                    <a:pt x="1062" y="505"/>
                    <a:pt x="1066" y="504"/>
                    <a:pt x="1071" y="504"/>
                  </a:cubicBezTo>
                  <a:cubicBezTo>
                    <a:pt x="1076" y="504"/>
                    <a:pt x="1087" y="501"/>
                    <a:pt x="1088" y="499"/>
                  </a:cubicBezTo>
                  <a:cubicBezTo>
                    <a:pt x="1090" y="494"/>
                    <a:pt x="1070" y="502"/>
                    <a:pt x="1070" y="499"/>
                  </a:cubicBezTo>
                  <a:cubicBezTo>
                    <a:pt x="1070" y="496"/>
                    <a:pt x="1083" y="493"/>
                    <a:pt x="1089" y="493"/>
                  </a:cubicBezTo>
                  <a:cubicBezTo>
                    <a:pt x="1094" y="493"/>
                    <a:pt x="1092" y="485"/>
                    <a:pt x="1094" y="488"/>
                  </a:cubicBezTo>
                  <a:cubicBezTo>
                    <a:pt x="1097" y="492"/>
                    <a:pt x="1100" y="491"/>
                    <a:pt x="1104" y="489"/>
                  </a:cubicBezTo>
                  <a:cubicBezTo>
                    <a:pt x="1107" y="487"/>
                    <a:pt x="1104" y="481"/>
                    <a:pt x="1101" y="480"/>
                  </a:cubicBezTo>
                  <a:cubicBezTo>
                    <a:pt x="1097" y="479"/>
                    <a:pt x="1103" y="477"/>
                    <a:pt x="1102" y="475"/>
                  </a:cubicBezTo>
                  <a:cubicBezTo>
                    <a:pt x="1101" y="472"/>
                    <a:pt x="1105" y="463"/>
                    <a:pt x="1109" y="462"/>
                  </a:cubicBezTo>
                  <a:cubicBezTo>
                    <a:pt x="1114" y="461"/>
                    <a:pt x="1112" y="458"/>
                    <a:pt x="1116" y="458"/>
                  </a:cubicBezTo>
                  <a:cubicBezTo>
                    <a:pt x="1120" y="458"/>
                    <a:pt x="1121" y="454"/>
                    <a:pt x="1124" y="450"/>
                  </a:cubicBezTo>
                  <a:cubicBezTo>
                    <a:pt x="1128" y="447"/>
                    <a:pt x="1133" y="456"/>
                    <a:pt x="1138" y="451"/>
                  </a:cubicBezTo>
                  <a:cubicBezTo>
                    <a:pt x="1140" y="448"/>
                    <a:pt x="1143" y="446"/>
                    <a:pt x="1147" y="444"/>
                  </a:cubicBezTo>
                  <a:cubicBezTo>
                    <a:pt x="1134" y="427"/>
                    <a:pt x="1137" y="416"/>
                    <a:pt x="1137" y="4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0" name="Freeform 126"/>
            <p:cNvSpPr>
              <a:spLocks noEditPoints="1" noChangeArrowheads="1"/>
            </p:cNvSpPr>
            <p:nvPr/>
          </p:nvSpPr>
          <p:spPr bwMode="auto">
            <a:xfrm>
              <a:off x="3444886" y="1455738"/>
              <a:ext cx="276226" cy="196851"/>
            </a:xfrm>
            <a:custGeom>
              <a:avLst/>
              <a:gdLst>
                <a:gd name="T0" fmla="*/ 143 w 145"/>
                <a:gd name="T1" fmla="*/ 18 h 103"/>
                <a:gd name="T2" fmla="*/ 132 w 145"/>
                <a:gd name="T3" fmla="*/ 18 h 103"/>
                <a:gd name="T4" fmla="*/ 118 w 145"/>
                <a:gd name="T5" fmla="*/ 15 h 103"/>
                <a:gd name="T6" fmla="*/ 113 w 145"/>
                <a:gd name="T7" fmla="*/ 13 h 103"/>
                <a:gd name="T8" fmla="*/ 104 w 145"/>
                <a:gd name="T9" fmla="*/ 14 h 103"/>
                <a:gd name="T10" fmla="*/ 93 w 145"/>
                <a:gd name="T11" fmla="*/ 9 h 103"/>
                <a:gd name="T12" fmla="*/ 87 w 145"/>
                <a:gd name="T13" fmla="*/ 6 h 103"/>
                <a:gd name="T14" fmla="*/ 67 w 145"/>
                <a:gd name="T15" fmla="*/ 4 h 103"/>
                <a:gd name="T16" fmla="*/ 30 w 145"/>
                <a:gd name="T17" fmla="*/ 3 h 103"/>
                <a:gd name="T18" fmla="*/ 16 w 145"/>
                <a:gd name="T19" fmla="*/ 0 h 103"/>
                <a:gd name="T20" fmla="*/ 7 w 145"/>
                <a:gd name="T21" fmla="*/ 6 h 103"/>
                <a:gd name="T22" fmla="*/ 5 w 145"/>
                <a:gd name="T23" fmla="*/ 14 h 103"/>
                <a:gd name="T24" fmla="*/ 7 w 145"/>
                <a:gd name="T25" fmla="*/ 25 h 103"/>
                <a:gd name="T26" fmla="*/ 10 w 145"/>
                <a:gd name="T27" fmla="*/ 23 h 103"/>
                <a:gd name="T28" fmla="*/ 14 w 145"/>
                <a:gd name="T29" fmla="*/ 24 h 103"/>
                <a:gd name="T30" fmla="*/ 21 w 145"/>
                <a:gd name="T31" fmla="*/ 25 h 103"/>
                <a:gd name="T32" fmla="*/ 25 w 145"/>
                <a:gd name="T33" fmla="*/ 25 h 103"/>
                <a:gd name="T34" fmla="*/ 32 w 145"/>
                <a:gd name="T35" fmla="*/ 27 h 103"/>
                <a:gd name="T36" fmla="*/ 35 w 145"/>
                <a:gd name="T37" fmla="*/ 31 h 103"/>
                <a:gd name="T38" fmla="*/ 27 w 145"/>
                <a:gd name="T39" fmla="*/ 38 h 103"/>
                <a:gd name="T40" fmla="*/ 28 w 145"/>
                <a:gd name="T41" fmla="*/ 48 h 103"/>
                <a:gd name="T42" fmla="*/ 26 w 145"/>
                <a:gd name="T43" fmla="*/ 56 h 103"/>
                <a:gd name="T44" fmla="*/ 23 w 145"/>
                <a:gd name="T45" fmla="*/ 60 h 103"/>
                <a:gd name="T46" fmla="*/ 27 w 145"/>
                <a:gd name="T47" fmla="*/ 66 h 103"/>
                <a:gd name="T48" fmla="*/ 24 w 145"/>
                <a:gd name="T49" fmla="*/ 73 h 103"/>
                <a:gd name="T50" fmla="*/ 26 w 145"/>
                <a:gd name="T51" fmla="*/ 78 h 103"/>
                <a:gd name="T52" fmla="*/ 22 w 145"/>
                <a:gd name="T53" fmla="*/ 85 h 103"/>
                <a:gd name="T54" fmla="*/ 23 w 145"/>
                <a:gd name="T55" fmla="*/ 89 h 103"/>
                <a:gd name="T56" fmla="*/ 29 w 145"/>
                <a:gd name="T57" fmla="*/ 89 h 103"/>
                <a:gd name="T58" fmla="*/ 43 w 145"/>
                <a:gd name="T59" fmla="*/ 102 h 103"/>
                <a:gd name="T60" fmla="*/ 46 w 145"/>
                <a:gd name="T61" fmla="*/ 99 h 103"/>
                <a:gd name="T62" fmla="*/ 52 w 145"/>
                <a:gd name="T63" fmla="*/ 98 h 103"/>
                <a:gd name="T64" fmla="*/ 63 w 145"/>
                <a:gd name="T65" fmla="*/ 94 h 103"/>
                <a:gd name="T66" fmla="*/ 77 w 145"/>
                <a:gd name="T67" fmla="*/ 94 h 103"/>
                <a:gd name="T68" fmla="*/ 85 w 145"/>
                <a:gd name="T69" fmla="*/ 90 h 103"/>
                <a:gd name="T70" fmla="*/ 94 w 145"/>
                <a:gd name="T71" fmla="*/ 84 h 103"/>
                <a:gd name="T72" fmla="*/ 98 w 145"/>
                <a:gd name="T73" fmla="*/ 76 h 103"/>
                <a:gd name="T74" fmla="*/ 106 w 145"/>
                <a:gd name="T75" fmla="*/ 67 h 103"/>
                <a:gd name="T76" fmla="*/ 107 w 145"/>
                <a:gd name="T77" fmla="*/ 51 h 103"/>
                <a:gd name="T78" fmla="*/ 116 w 145"/>
                <a:gd name="T79" fmla="*/ 40 h 103"/>
                <a:gd name="T80" fmla="*/ 126 w 145"/>
                <a:gd name="T81" fmla="*/ 34 h 103"/>
                <a:gd name="T82" fmla="*/ 139 w 145"/>
                <a:gd name="T83" fmla="*/ 28 h 103"/>
                <a:gd name="T84" fmla="*/ 143 w 145"/>
                <a:gd name="T85" fmla="*/ 18 h 103"/>
                <a:gd name="T86" fmla="*/ 144 w 145"/>
                <a:gd name="T87" fmla="*/ 55 h 103"/>
                <a:gd name="T88" fmla="*/ 134 w 145"/>
                <a:gd name="T89" fmla="*/ 58 h 103"/>
                <a:gd name="T90" fmla="*/ 144 w 145"/>
                <a:gd name="T91" fmla="*/ 55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45"/>
                <a:gd name="T139" fmla="*/ 0 h 103"/>
                <a:gd name="T140" fmla="*/ 145 w 145"/>
                <a:gd name="T141" fmla="*/ 103 h 10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45" h="103">
                  <a:moveTo>
                    <a:pt x="143" y="18"/>
                  </a:moveTo>
                  <a:cubicBezTo>
                    <a:pt x="139" y="18"/>
                    <a:pt x="135" y="18"/>
                    <a:pt x="132" y="18"/>
                  </a:cubicBezTo>
                  <a:cubicBezTo>
                    <a:pt x="128" y="17"/>
                    <a:pt x="120" y="17"/>
                    <a:pt x="118" y="15"/>
                  </a:cubicBezTo>
                  <a:cubicBezTo>
                    <a:pt x="116" y="12"/>
                    <a:pt x="113" y="11"/>
                    <a:pt x="113" y="13"/>
                  </a:cubicBezTo>
                  <a:cubicBezTo>
                    <a:pt x="113" y="16"/>
                    <a:pt x="107" y="16"/>
                    <a:pt x="104" y="14"/>
                  </a:cubicBezTo>
                  <a:cubicBezTo>
                    <a:pt x="101" y="12"/>
                    <a:pt x="96" y="10"/>
                    <a:pt x="93" y="9"/>
                  </a:cubicBezTo>
                  <a:cubicBezTo>
                    <a:pt x="92" y="8"/>
                    <a:pt x="89" y="7"/>
                    <a:pt x="87" y="6"/>
                  </a:cubicBezTo>
                  <a:cubicBezTo>
                    <a:pt x="83" y="6"/>
                    <a:pt x="74" y="3"/>
                    <a:pt x="67" y="4"/>
                  </a:cubicBezTo>
                  <a:cubicBezTo>
                    <a:pt x="60" y="4"/>
                    <a:pt x="39" y="3"/>
                    <a:pt x="30" y="3"/>
                  </a:cubicBezTo>
                  <a:cubicBezTo>
                    <a:pt x="22" y="4"/>
                    <a:pt x="21" y="0"/>
                    <a:pt x="16" y="0"/>
                  </a:cubicBezTo>
                  <a:cubicBezTo>
                    <a:pt x="12" y="0"/>
                    <a:pt x="14" y="5"/>
                    <a:pt x="7" y="6"/>
                  </a:cubicBezTo>
                  <a:cubicBezTo>
                    <a:pt x="0" y="6"/>
                    <a:pt x="0" y="10"/>
                    <a:pt x="5" y="14"/>
                  </a:cubicBezTo>
                  <a:cubicBezTo>
                    <a:pt x="7" y="16"/>
                    <a:pt x="7" y="20"/>
                    <a:pt x="7" y="25"/>
                  </a:cubicBezTo>
                  <a:cubicBezTo>
                    <a:pt x="8" y="25"/>
                    <a:pt x="9" y="24"/>
                    <a:pt x="10" y="23"/>
                  </a:cubicBezTo>
                  <a:cubicBezTo>
                    <a:pt x="12" y="21"/>
                    <a:pt x="14" y="21"/>
                    <a:pt x="14" y="24"/>
                  </a:cubicBezTo>
                  <a:cubicBezTo>
                    <a:pt x="14" y="26"/>
                    <a:pt x="18" y="25"/>
                    <a:pt x="21" y="25"/>
                  </a:cubicBezTo>
                  <a:cubicBezTo>
                    <a:pt x="23" y="25"/>
                    <a:pt x="22" y="27"/>
                    <a:pt x="25" y="25"/>
                  </a:cubicBezTo>
                  <a:cubicBezTo>
                    <a:pt x="28" y="23"/>
                    <a:pt x="32" y="24"/>
                    <a:pt x="32" y="27"/>
                  </a:cubicBezTo>
                  <a:cubicBezTo>
                    <a:pt x="32" y="29"/>
                    <a:pt x="38" y="28"/>
                    <a:pt x="35" y="31"/>
                  </a:cubicBezTo>
                  <a:cubicBezTo>
                    <a:pt x="31" y="34"/>
                    <a:pt x="27" y="35"/>
                    <a:pt x="27" y="38"/>
                  </a:cubicBezTo>
                  <a:cubicBezTo>
                    <a:pt x="27" y="40"/>
                    <a:pt x="31" y="45"/>
                    <a:pt x="28" y="48"/>
                  </a:cubicBezTo>
                  <a:cubicBezTo>
                    <a:pt x="25" y="51"/>
                    <a:pt x="29" y="56"/>
                    <a:pt x="26" y="56"/>
                  </a:cubicBezTo>
                  <a:cubicBezTo>
                    <a:pt x="23" y="56"/>
                    <a:pt x="20" y="57"/>
                    <a:pt x="23" y="60"/>
                  </a:cubicBezTo>
                  <a:cubicBezTo>
                    <a:pt x="27" y="64"/>
                    <a:pt x="29" y="66"/>
                    <a:pt x="27" y="66"/>
                  </a:cubicBezTo>
                  <a:cubicBezTo>
                    <a:pt x="24" y="66"/>
                    <a:pt x="23" y="71"/>
                    <a:pt x="24" y="73"/>
                  </a:cubicBezTo>
                  <a:cubicBezTo>
                    <a:pt x="25" y="74"/>
                    <a:pt x="31" y="77"/>
                    <a:pt x="26" y="78"/>
                  </a:cubicBezTo>
                  <a:cubicBezTo>
                    <a:pt x="22" y="79"/>
                    <a:pt x="22" y="83"/>
                    <a:pt x="22" y="85"/>
                  </a:cubicBezTo>
                  <a:cubicBezTo>
                    <a:pt x="22" y="86"/>
                    <a:pt x="22" y="87"/>
                    <a:pt x="23" y="89"/>
                  </a:cubicBezTo>
                  <a:cubicBezTo>
                    <a:pt x="25" y="88"/>
                    <a:pt x="27" y="88"/>
                    <a:pt x="29" y="89"/>
                  </a:cubicBezTo>
                  <a:cubicBezTo>
                    <a:pt x="34" y="91"/>
                    <a:pt x="37" y="103"/>
                    <a:pt x="43" y="102"/>
                  </a:cubicBezTo>
                  <a:cubicBezTo>
                    <a:pt x="46" y="102"/>
                    <a:pt x="44" y="100"/>
                    <a:pt x="46" y="99"/>
                  </a:cubicBezTo>
                  <a:cubicBezTo>
                    <a:pt x="47" y="97"/>
                    <a:pt x="50" y="98"/>
                    <a:pt x="52" y="98"/>
                  </a:cubicBezTo>
                  <a:cubicBezTo>
                    <a:pt x="55" y="98"/>
                    <a:pt x="56" y="94"/>
                    <a:pt x="63" y="94"/>
                  </a:cubicBezTo>
                  <a:cubicBezTo>
                    <a:pt x="69" y="94"/>
                    <a:pt x="73" y="94"/>
                    <a:pt x="77" y="94"/>
                  </a:cubicBezTo>
                  <a:cubicBezTo>
                    <a:pt x="81" y="94"/>
                    <a:pt x="84" y="93"/>
                    <a:pt x="85" y="90"/>
                  </a:cubicBezTo>
                  <a:cubicBezTo>
                    <a:pt x="86" y="87"/>
                    <a:pt x="89" y="84"/>
                    <a:pt x="94" y="84"/>
                  </a:cubicBezTo>
                  <a:cubicBezTo>
                    <a:pt x="98" y="83"/>
                    <a:pt x="98" y="78"/>
                    <a:pt x="98" y="76"/>
                  </a:cubicBezTo>
                  <a:cubicBezTo>
                    <a:pt x="98" y="73"/>
                    <a:pt x="106" y="69"/>
                    <a:pt x="106" y="67"/>
                  </a:cubicBezTo>
                  <a:cubicBezTo>
                    <a:pt x="107" y="65"/>
                    <a:pt x="102" y="57"/>
                    <a:pt x="107" y="51"/>
                  </a:cubicBezTo>
                  <a:cubicBezTo>
                    <a:pt x="111" y="44"/>
                    <a:pt x="116" y="43"/>
                    <a:pt x="116" y="40"/>
                  </a:cubicBezTo>
                  <a:cubicBezTo>
                    <a:pt x="116" y="36"/>
                    <a:pt x="121" y="35"/>
                    <a:pt x="126" y="34"/>
                  </a:cubicBezTo>
                  <a:cubicBezTo>
                    <a:pt x="132" y="33"/>
                    <a:pt x="134" y="30"/>
                    <a:pt x="139" y="28"/>
                  </a:cubicBezTo>
                  <a:cubicBezTo>
                    <a:pt x="143" y="26"/>
                    <a:pt x="144" y="23"/>
                    <a:pt x="143" y="18"/>
                  </a:cubicBezTo>
                  <a:close/>
                  <a:moveTo>
                    <a:pt x="144" y="55"/>
                  </a:moveTo>
                  <a:cubicBezTo>
                    <a:pt x="143" y="49"/>
                    <a:pt x="132" y="56"/>
                    <a:pt x="134" y="58"/>
                  </a:cubicBezTo>
                  <a:cubicBezTo>
                    <a:pt x="139" y="61"/>
                    <a:pt x="145" y="60"/>
                    <a:pt x="144" y="5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1" name="Freeform 127"/>
            <p:cNvSpPr>
              <a:spLocks noEditPoints="1" noChangeArrowheads="1"/>
            </p:cNvSpPr>
            <p:nvPr/>
          </p:nvSpPr>
          <p:spPr bwMode="auto">
            <a:xfrm>
              <a:off x="4075127" y="1506539"/>
              <a:ext cx="136526" cy="169864"/>
            </a:xfrm>
            <a:custGeom>
              <a:avLst/>
              <a:gdLst>
                <a:gd name="T0" fmla="*/ 70 w 71"/>
                <a:gd name="T1" fmla="*/ 0 h 89"/>
                <a:gd name="T2" fmla="*/ 65 w 71"/>
                <a:gd name="T3" fmla="*/ 2 h 89"/>
                <a:gd name="T4" fmla="*/ 61 w 71"/>
                <a:gd name="T5" fmla="*/ 5 h 89"/>
                <a:gd name="T6" fmla="*/ 49 w 71"/>
                <a:gd name="T7" fmla="*/ 3 h 89"/>
                <a:gd name="T8" fmla="*/ 34 w 71"/>
                <a:gd name="T9" fmla="*/ 3 h 89"/>
                <a:gd name="T10" fmla="*/ 33 w 71"/>
                <a:gd name="T11" fmla="*/ 3 h 89"/>
                <a:gd name="T12" fmla="*/ 23 w 71"/>
                <a:gd name="T13" fmla="*/ 8 h 89"/>
                <a:gd name="T14" fmla="*/ 18 w 71"/>
                <a:gd name="T15" fmla="*/ 11 h 89"/>
                <a:gd name="T16" fmla="*/ 10 w 71"/>
                <a:gd name="T17" fmla="*/ 12 h 89"/>
                <a:gd name="T18" fmla="*/ 6 w 71"/>
                <a:gd name="T19" fmla="*/ 19 h 89"/>
                <a:gd name="T20" fmla="*/ 3 w 71"/>
                <a:gd name="T21" fmla="*/ 23 h 89"/>
                <a:gd name="T22" fmla="*/ 0 w 71"/>
                <a:gd name="T23" fmla="*/ 29 h 89"/>
                <a:gd name="T24" fmla="*/ 0 w 71"/>
                <a:gd name="T25" fmla="*/ 29 h 89"/>
                <a:gd name="T26" fmla="*/ 6 w 71"/>
                <a:gd name="T27" fmla="*/ 39 h 89"/>
                <a:gd name="T28" fmla="*/ 14 w 71"/>
                <a:gd name="T29" fmla="*/ 42 h 89"/>
                <a:gd name="T30" fmla="*/ 25 w 71"/>
                <a:gd name="T31" fmla="*/ 45 h 89"/>
                <a:gd name="T32" fmla="*/ 13 w 71"/>
                <a:gd name="T33" fmla="*/ 46 h 89"/>
                <a:gd name="T34" fmla="*/ 15 w 71"/>
                <a:gd name="T35" fmla="*/ 56 h 89"/>
                <a:gd name="T36" fmla="*/ 21 w 71"/>
                <a:gd name="T37" fmla="*/ 64 h 89"/>
                <a:gd name="T38" fmla="*/ 31 w 71"/>
                <a:gd name="T39" fmla="*/ 69 h 89"/>
                <a:gd name="T40" fmla="*/ 29 w 71"/>
                <a:gd name="T41" fmla="*/ 57 h 89"/>
                <a:gd name="T42" fmla="*/ 37 w 71"/>
                <a:gd name="T43" fmla="*/ 57 h 89"/>
                <a:gd name="T44" fmla="*/ 32 w 71"/>
                <a:gd name="T45" fmla="*/ 53 h 89"/>
                <a:gd name="T46" fmla="*/ 36 w 71"/>
                <a:gd name="T47" fmla="*/ 50 h 89"/>
                <a:gd name="T48" fmla="*/ 44 w 71"/>
                <a:gd name="T49" fmla="*/ 49 h 89"/>
                <a:gd name="T50" fmla="*/ 40 w 71"/>
                <a:gd name="T51" fmla="*/ 40 h 89"/>
                <a:gd name="T52" fmla="*/ 31 w 71"/>
                <a:gd name="T53" fmla="*/ 41 h 89"/>
                <a:gd name="T54" fmla="*/ 35 w 71"/>
                <a:gd name="T55" fmla="*/ 35 h 89"/>
                <a:gd name="T56" fmla="*/ 26 w 71"/>
                <a:gd name="T57" fmla="*/ 22 h 89"/>
                <a:gd name="T58" fmla="*/ 31 w 71"/>
                <a:gd name="T59" fmla="*/ 19 h 89"/>
                <a:gd name="T60" fmla="*/ 40 w 71"/>
                <a:gd name="T61" fmla="*/ 20 h 89"/>
                <a:gd name="T62" fmla="*/ 43 w 71"/>
                <a:gd name="T63" fmla="*/ 12 h 89"/>
                <a:gd name="T64" fmla="*/ 49 w 71"/>
                <a:gd name="T65" fmla="*/ 14 h 89"/>
                <a:gd name="T66" fmla="*/ 58 w 71"/>
                <a:gd name="T67" fmla="*/ 10 h 89"/>
                <a:gd name="T68" fmla="*/ 65 w 71"/>
                <a:gd name="T69" fmla="*/ 13 h 89"/>
                <a:gd name="T70" fmla="*/ 68 w 71"/>
                <a:gd name="T71" fmla="*/ 9 h 89"/>
                <a:gd name="T72" fmla="*/ 71 w 71"/>
                <a:gd name="T73" fmla="*/ 4 h 89"/>
                <a:gd name="T74" fmla="*/ 70 w 71"/>
                <a:gd name="T75" fmla="*/ 0 h 89"/>
                <a:gd name="T76" fmla="*/ 61 w 71"/>
                <a:gd name="T77" fmla="*/ 84 h 89"/>
                <a:gd name="T78" fmla="*/ 43 w 71"/>
                <a:gd name="T79" fmla="*/ 82 h 89"/>
                <a:gd name="T80" fmla="*/ 36 w 71"/>
                <a:gd name="T81" fmla="*/ 85 h 89"/>
                <a:gd name="T82" fmla="*/ 53 w 71"/>
                <a:gd name="T83" fmla="*/ 89 h 89"/>
                <a:gd name="T84" fmla="*/ 68 w 71"/>
                <a:gd name="T85" fmla="*/ 84 h 89"/>
                <a:gd name="T86" fmla="*/ 61 w 71"/>
                <a:gd name="T87" fmla="*/ 84 h 8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
                <a:gd name="T133" fmla="*/ 0 h 89"/>
                <a:gd name="T134" fmla="*/ 71 w 71"/>
                <a:gd name="T135" fmla="*/ 89 h 8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 h="89">
                  <a:moveTo>
                    <a:pt x="70" y="0"/>
                  </a:moveTo>
                  <a:cubicBezTo>
                    <a:pt x="68" y="0"/>
                    <a:pt x="64" y="1"/>
                    <a:pt x="65" y="2"/>
                  </a:cubicBezTo>
                  <a:cubicBezTo>
                    <a:pt x="66" y="4"/>
                    <a:pt x="63" y="5"/>
                    <a:pt x="61" y="5"/>
                  </a:cubicBezTo>
                  <a:cubicBezTo>
                    <a:pt x="61" y="5"/>
                    <a:pt x="51" y="4"/>
                    <a:pt x="49" y="3"/>
                  </a:cubicBezTo>
                  <a:cubicBezTo>
                    <a:pt x="47" y="2"/>
                    <a:pt x="38" y="2"/>
                    <a:pt x="34" y="3"/>
                  </a:cubicBezTo>
                  <a:cubicBezTo>
                    <a:pt x="34" y="3"/>
                    <a:pt x="33" y="3"/>
                    <a:pt x="33" y="3"/>
                  </a:cubicBezTo>
                  <a:cubicBezTo>
                    <a:pt x="32" y="5"/>
                    <a:pt x="24" y="9"/>
                    <a:pt x="23" y="8"/>
                  </a:cubicBezTo>
                  <a:cubicBezTo>
                    <a:pt x="21" y="7"/>
                    <a:pt x="21" y="11"/>
                    <a:pt x="18" y="11"/>
                  </a:cubicBezTo>
                  <a:cubicBezTo>
                    <a:pt x="15" y="12"/>
                    <a:pt x="10" y="11"/>
                    <a:pt x="10" y="12"/>
                  </a:cubicBezTo>
                  <a:cubicBezTo>
                    <a:pt x="10" y="14"/>
                    <a:pt x="8" y="17"/>
                    <a:pt x="6" y="19"/>
                  </a:cubicBezTo>
                  <a:cubicBezTo>
                    <a:pt x="4" y="21"/>
                    <a:pt x="6" y="23"/>
                    <a:pt x="3" y="23"/>
                  </a:cubicBezTo>
                  <a:cubicBezTo>
                    <a:pt x="1" y="23"/>
                    <a:pt x="1" y="26"/>
                    <a:pt x="0" y="29"/>
                  </a:cubicBezTo>
                  <a:cubicBezTo>
                    <a:pt x="0" y="29"/>
                    <a:pt x="0" y="29"/>
                    <a:pt x="0" y="29"/>
                  </a:cubicBezTo>
                  <a:cubicBezTo>
                    <a:pt x="4" y="31"/>
                    <a:pt x="7" y="35"/>
                    <a:pt x="6" y="39"/>
                  </a:cubicBezTo>
                  <a:cubicBezTo>
                    <a:pt x="6" y="43"/>
                    <a:pt x="12" y="45"/>
                    <a:pt x="14" y="42"/>
                  </a:cubicBezTo>
                  <a:cubicBezTo>
                    <a:pt x="17" y="39"/>
                    <a:pt x="25" y="43"/>
                    <a:pt x="25" y="45"/>
                  </a:cubicBezTo>
                  <a:cubicBezTo>
                    <a:pt x="25" y="47"/>
                    <a:pt x="17" y="43"/>
                    <a:pt x="13" y="46"/>
                  </a:cubicBezTo>
                  <a:cubicBezTo>
                    <a:pt x="8" y="50"/>
                    <a:pt x="16" y="53"/>
                    <a:pt x="15" y="56"/>
                  </a:cubicBezTo>
                  <a:cubicBezTo>
                    <a:pt x="14" y="59"/>
                    <a:pt x="17" y="64"/>
                    <a:pt x="21" y="64"/>
                  </a:cubicBezTo>
                  <a:cubicBezTo>
                    <a:pt x="25" y="64"/>
                    <a:pt x="29" y="70"/>
                    <a:pt x="31" y="69"/>
                  </a:cubicBezTo>
                  <a:cubicBezTo>
                    <a:pt x="34" y="68"/>
                    <a:pt x="28" y="59"/>
                    <a:pt x="29" y="57"/>
                  </a:cubicBezTo>
                  <a:cubicBezTo>
                    <a:pt x="30" y="56"/>
                    <a:pt x="35" y="60"/>
                    <a:pt x="37" y="57"/>
                  </a:cubicBezTo>
                  <a:cubicBezTo>
                    <a:pt x="39" y="54"/>
                    <a:pt x="35" y="52"/>
                    <a:pt x="32" y="53"/>
                  </a:cubicBezTo>
                  <a:cubicBezTo>
                    <a:pt x="28" y="53"/>
                    <a:pt x="32" y="48"/>
                    <a:pt x="36" y="50"/>
                  </a:cubicBezTo>
                  <a:cubicBezTo>
                    <a:pt x="40" y="53"/>
                    <a:pt x="42" y="50"/>
                    <a:pt x="44" y="49"/>
                  </a:cubicBezTo>
                  <a:cubicBezTo>
                    <a:pt x="46" y="49"/>
                    <a:pt x="47" y="42"/>
                    <a:pt x="40" y="40"/>
                  </a:cubicBezTo>
                  <a:cubicBezTo>
                    <a:pt x="34" y="39"/>
                    <a:pt x="35" y="45"/>
                    <a:pt x="31" y="41"/>
                  </a:cubicBezTo>
                  <a:cubicBezTo>
                    <a:pt x="27" y="36"/>
                    <a:pt x="35" y="38"/>
                    <a:pt x="35" y="35"/>
                  </a:cubicBezTo>
                  <a:cubicBezTo>
                    <a:pt x="35" y="31"/>
                    <a:pt x="29" y="26"/>
                    <a:pt x="26" y="22"/>
                  </a:cubicBezTo>
                  <a:cubicBezTo>
                    <a:pt x="23" y="18"/>
                    <a:pt x="30" y="16"/>
                    <a:pt x="31" y="19"/>
                  </a:cubicBezTo>
                  <a:cubicBezTo>
                    <a:pt x="33" y="22"/>
                    <a:pt x="38" y="21"/>
                    <a:pt x="40" y="20"/>
                  </a:cubicBezTo>
                  <a:cubicBezTo>
                    <a:pt x="43" y="19"/>
                    <a:pt x="37" y="14"/>
                    <a:pt x="43" y="12"/>
                  </a:cubicBezTo>
                  <a:cubicBezTo>
                    <a:pt x="48" y="10"/>
                    <a:pt x="48" y="13"/>
                    <a:pt x="49" y="14"/>
                  </a:cubicBezTo>
                  <a:cubicBezTo>
                    <a:pt x="51" y="14"/>
                    <a:pt x="53" y="10"/>
                    <a:pt x="58" y="10"/>
                  </a:cubicBezTo>
                  <a:cubicBezTo>
                    <a:pt x="61" y="10"/>
                    <a:pt x="63" y="11"/>
                    <a:pt x="65" y="13"/>
                  </a:cubicBezTo>
                  <a:cubicBezTo>
                    <a:pt x="67" y="12"/>
                    <a:pt x="68" y="11"/>
                    <a:pt x="68" y="9"/>
                  </a:cubicBezTo>
                  <a:cubicBezTo>
                    <a:pt x="68" y="8"/>
                    <a:pt x="71" y="7"/>
                    <a:pt x="71" y="4"/>
                  </a:cubicBezTo>
                  <a:cubicBezTo>
                    <a:pt x="71" y="3"/>
                    <a:pt x="71" y="1"/>
                    <a:pt x="70" y="0"/>
                  </a:cubicBezTo>
                  <a:close/>
                  <a:moveTo>
                    <a:pt x="61" y="84"/>
                  </a:moveTo>
                  <a:cubicBezTo>
                    <a:pt x="58" y="82"/>
                    <a:pt x="46" y="85"/>
                    <a:pt x="43" y="82"/>
                  </a:cubicBezTo>
                  <a:cubicBezTo>
                    <a:pt x="40" y="79"/>
                    <a:pt x="34" y="84"/>
                    <a:pt x="36" y="85"/>
                  </a:cubicBezTo>
                  <a:cubicBezTo>
                    <a:pt x="40" y="85"/>
                    <a:pt x="46" y="89"/>
                    <a:pt x="53" y="89"/>
                  </a:cubicBezTo>
                  <a:cubicBezTo>
                    <a:pt x="59" y="89"/>
                    <a:pt x="68" y="86"/>
                    <a:pt x="68" y="84"/>
                  </a:cubicBezTo>
                  <a:cubicBezTo>
                    <a:pt x="68" y="83"/>
                    <a:pt x="64" y="85"/>
                    <a:pt x="61" y="8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2" name="Freeform 128"/>
            <p:cNvSpPr>
              <a:spLocks noChangeArrowheads="1"/>
            </p:cNvSpPr>
            <p:nvPr/>
          </p:nvSpPr>
          <p:spPr bwMode="auto">
            <a:xfrm>
              <a:off x="4329128" y="1654176"/>
              <a:ext cx="55564" cy="34925"/>
            </a:xfrm>
            <a:custGeom>
              <a:avLst/>
              <a:gdLst>
                <a:gd name="T0" fmla="*/ 20 w 29"/>
                <a:gd name="T1" fmla="*/ 11 h 18"/>
                <a:gd name="T2" fmla="*/ 26 w 29"/>
                <a:gd name="T3" fmla="*/ 4 h 18"/>
                <a:gd name="T4" fmla="*/ 25 w 29"/>
                <a:gd name="T5" fmla="*/ 2 h 18"/>
                <a:gd name="T6" fmla="*/ 9 w 29"/>
                <a:gd name="T7" fmla="*/ 7 h 18"/>
                <a:gd name="T8" fmla="*/ 4 w 29"/>
                <a:gd name="T9" fmla="*/ 15 h 18"/>
                <a:gd name="T10" fmla="*/ 20 w 29"/>
                <a:gd name="T11" fmla="*/ 11 h 18"/>
                <a:gd name="T12" fmla="*/ 0 60000 65536"/>
                <a:gd name="T13" fmla="*/ 0 60000 65536"/>
                <a:gd name="T14" fmla="*/ 0 60000 65536"/>
                <a:gd name="T15" fmla="*/ 0 60000 65536"/>
                <a:gd name="T16" fmla="*/ 0 60000 65536"/>
                <a:gd name="T17" fmla="*/ 0 60000 65536"/>
                <a:gd name="T18" fmla="*/ 0 w 29"/>
                <a:gd name="T19" fmla="*/ 0 h 18"/>
                <a:gd name="T20" fmla="*/ 29 w 29"/>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29" h="18">
                  <a:moveTo>
                    <a:pt x="20" y="11"/>
                  </a:moveTo>
                  <a:cubicBezTo>
                    <a:pt x="19" y="10"/>
                    <a:pt x="22" y="6"/>
                    <a:pt x="26" y="4"/>
                  </a:cubicBezTo>
                  <a:cubicBezTo>
                    <a:pt x="29" y="3"/>
                    <a:pt x="28" y="0"/>
                    <a:pt x="25" y="2"/>
                  </a:cubicBezTo>
                  <a:cubicBezTo>
                    <a:pt x="23" y="4"/>
                    <a:pt x="17" y="7"/>
                    <a:pt x="9" y="7"/>
                  </a:cubicBezTo>
                  <a:cubicBezTo>
                    <a:pt x="2" y="7"/>
                    <a:pt x="0" y="12"/>
                    <a:pt x="4" y="15"/>
                  </a:cubicBezTo>
                  <a:cubicBezTo>
                    <a:pt x="10" y="18"/>
                    <a:pt x="20" y="13"/>
                    <a:pt x="20" y="1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3" name="Freeform 129"/>
            <p:cNvSpPr>
              <a:spLocks noChangeArrowheads="1"/>
            </p:cNvSpPr>
            <p:nvPr/>
          </p:nvSpPr>
          <p:spPr bwMode="auto">
            <a:xfrm>
              <a:off x="3122624" y="754062"/>
              <a:ext cx="231776" cy="117475"/>
            </a:xfrm>
            <a:custGeom>
              <a:avLst/>
              <a:gdLst>
                <a:gd name="T0" fmla="*/ 102 w 121"/>
                <a:gd name="T1" fmla="*/ 44 h 61"/>
                <a:gd name="T2" fmla="*/ 111 w 121"/>
                <a:gd name="T3" fmla="*/ 36 h 61"/>
                <a:gd name="T4" fmla="*/ 120 w 121"/>
                <a:gd name="T5" fmla="*/ 28 h 61"/>
                <a:gd name="T6" fmla="*/ 114 w 121"/>
                <a:gd name="T7" fmla="*/ 19 h 61"/>
                <a:gd name="T8" fmla="*/ 108 w 121"/>
                <a:gd name="T9" fmla="*/ 13 h 61"/>
                <a:gd name="T10" fmla="*/ 106 w 121"/>
                <a:gd name="T11" fmla="*/ 6 h 61"/>
                <a:gd name="T12" fmla="*/ 98 w 121"/>
                <a:gd name="T13" fmla="*/ 7 h 61"/>
                <a:gd name="T14" fmla="*/ 87 w 121"/>
                <a:gd name="T15" fmla="*/ 2 h 61"/>
                <a:gd name="T16" fmla="*/ 86 w 121"/>
                <a:gd name="T17" fmla="*/ 8 h 61"/>
                <a:gd name="T18" fmla="*/ 79 w 121"/>
                <a:gd name="T19" fmla="*/ 9 h 61"/>
                <a:gd name="T20" fmla="*/ 75 w 121"/>
                <a:gd name="T21" fmla="*/ 9 h 61"/>
                <a:gd name="T22" fmla="*/ 68 w 121"/>
                <a:gd name="T23" fmla="*/ 10 h 61"/>
                <a:gd name="T24" fmla="*/ 62 w 121"/>
                <a:gd name="T25" fmla="*/ 8 h 61"/>
                <a:gd name="T26" fmla="*/ 55 w 121"/>
                <a:gd name="T27" fmla="*/ 13 h 61"/>
                <a:gd name="T28" fmla="*/ 50 w 121"/>
                <a:gd name="T29" fmla="*/ 11 h 61"/>
                <a:gd name="T30" fmla="*/ 45 w 121"/>
                <a:gd name="T31" fmla="*/ 14 h 61"/>
                <a:gd name="T32" fmla="*/ 44 w 121"/>
                <a:gd name="T33" fmla="*/ 20 h 61"/>
                <a:gd name="T34" fmla="*/ 36 w 121"/>
                <a:gd name="T35" fmla="*/ 23 h 61"/>
                <a:gd name="T36" fmla="*/ 33 w 121"/>
                <a:gd name="T37" fmla="*/ 14 h 61"/>
                <a:gd name="T38" fmla="*/ 16 w 121"/>
                <a:gd name="T39" fmla="*/ 3 h 61"/>
                <a:gd name="T40" fmla="*/ 18 w 121"/>
                <a:gd name="T41" fmla="*/ 9 h 61"/>
                <a:gd name="T42" fmla="*/ 14 w 121"/>
                <a:gd name="T43" fmla="*/ 9 h 61"/>
                <a:gd name="T44" fmla="*/ 6 w 121"/>
                <a:gd name="T45" fmla="*/ 11 h 61"/>
                <a:gd name="T46" fmla="*/ 1 w 121"/>
                <a:gd name="T47" fmla="*/ 19 h 61"/>
                <a:gd name="T48" fmla="*/ 12 w 121"/>
                <a:gd name="T49" fmla="*/ 22 h 61"/>
                <a:gd name="T50" fmla="*/ 25 w 121"/>
                <a:gd name="T51" fmla="*/ 22 h 61"/>
                <a:gd name="T52" fmla="*/ 23 w 121"/>
                <a:gd name="T53" fmla="*/ 27 h 61"/>
                <a:gd name="T54" fmla="*/ 17 w 121"/>
                <a:gd name="T55" fmla="*/ 30 h 61"/>
                <a:gd name="T56" fmla="*/ 4 w 121"/>
                <a:gd name="T57" fmla="*/ 34 h 61"/>
                <a:gd name="T58" fmla="*/ 21 w 121"/>
                <a:gd name="T59" fmla="*/ 34 h 61"/>
                <a:gd name="T60" fmla="*/ 25 w 121"/>
                <a:gd name="T61" fmla="*/ 38 h 61"/>
                <a:gd name="T62" fmla="*/ 28 w 121"/>
                <a:gd name="T63" fmla="*/ 42 h 61"/>
                <a:gd name="T64" fmla="*/ 24 w 121"/>
                <a:gd name="T65" fmla="*/ 47 h 61"/>
                <a:gd name="T66" fmla="*/ 19 w 121"/>
                <a:gd name="T67" fmla="*/ 51 h 61"/>
                <a:gd name="T68" fmla="*/ 33 w 121"/>
                <a:gd name="T69" fmla="*/ 50 h 61"/>
                <a:gd name="T70" fmla="*/ 53 w 121"/>
                <a:gd name="T71" fmla="*/ 59 h 61"/>
                <a:gd name="T72" fmla="*/ 73 w 121"/>
                <a:gd name="T73" fmla="*/ 54 h 61"/>
                <a:gd name="T74" fmla="*/ 87 w 121"/>
                <a:gd name="T75" fmla="*/ 49 h 61"/>
                <a:gd name="T76" fmla="*/ 102 w 121"/>
                <a:gd name="T77" fmla="*/ 44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1"/>
                <a:gd name="T118" fmla="*/ 0 h 61"/>
                <a:gd name="T119" fmla="*/ 121 w 121"/>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1" h="61">
                  <a:moveTo>
                    <a:pt x="102" y="44"/>
                  </a:moveTo>
                  <a:cubicBezTo>
                    <a:pt x="109" y="43"/>
                    <a:pt x="108" y="36"/>
                    <a:pt x="111" y="36"/>
                  </a:cubicBezTo>
                  <a:cubicBezTo>
                    <a:pt x="114" y="37"/>
                    <a:pt x="118" y="31"/>
                    <a:pt x="120" y="28"/>
                  </a:cubicBezTo>
                  <a:cubicBezTo>
                    <a:pt x="121" y="25"/>
                    <a:pt x="118" y="19"/>
                    <a:pt x="114" y="19"/>
                  </a:cubicBezTo>
                  <a:cubicBezTo>
                    <a:pt x="110" y="19"/>
                    <a:pt x="107" y="16"/>
                    <a:pt x="108" y="13"/>
                  </a:cubicBezTo>
                  <a:cubicBezTo>
                    <a:pt x="109" y="11"/>
                    <a:pt x="106" y="8"/>
                    <a:pt x="106" y="6"/>
                  </a:cubicBezTo>
                  <a:cubicBezTo>
                    <a:pt x="106" y="5"/>
                    <a:pt x="101" y="6"/>
                    <a:pt x="98" y="7"/>
                  </a:cubicBezTo>
                  <a:cubicBezTo>
                    <a:pt x="95" y="7"/>
                    <a:pt x="90" y="0"/>
                    <a:pt x="87" y="2"/>
                  </a:cubicBezTo>
                  <a:cubicBezTo>
                    <a:pt x="85" y="3"/>
                    <a:pt x="87" y="6"/>
                    <a:pt x="86" y="8"/>
                  </a:cubicBezTo>
                  <a:cubicBezTo>
                    <a:pt x="85" y="10"/>
                    <a:pt x="79" y="7"/>
                    <a:pt x="79" y="9"/>
                  </a:cubicBezTo>
                  <a:cubicBezTo>
                    <a:pt x="79" y="11"/>
                    <a:pt x="77" y="12"/>
                    <a:pt x="75" y="9"/>
                  </a:cubicBezTo>
                  <a:cubicBezTo>
                    <a:pt x="73" y="7"/>
                    <a:pt x="68" y="8"/>
                    <a:pt x="68" y="10"/>
                  </a:cubicBezTo>
                  <a:cubicBezTo>
                    <a:pt x="68" y="12"/>
                    <a:pt x="66" y="10"/>
                    <a:pt x="62" y="8"/>
                  </a:cubicBezTo>
                  <a:cubicBezTo>
                    <a:pt x="59" y="6"/>
                    <a:pt x="55" y="11"/>
                    <a:pt x="55" y="13"/>
                  </a:cubicBezTo>
                  <a:cubicBezTo>
                    <a:pt x="55" y="16"/>
                    <a:pt x="54" y="16"/>
                    <a:pt x="50" y="11"/>
                  </a:cubicBezTo>
                  <a:cubicBezTo>
                    <a:pt x="47" y="5"/>
                    <a:pt x="44" y="11"/>
                    <a:pt x="45" y="14"/>
                  </a:cubicBezTo>
                  <a:cubicBezTo>
                    <a:pt x="47" y="17"/>
                    <a:pt x="46" y="21"/>
                    <a:pt x="44" y="20"/>
                  </a:cubicBezTo>
                  <a:cubicBezTo>
                    <a:pt x="41" y="18"/>
                    <a:pt x="38" y="21"/>
                    <a:pt x="36" y="23"/>
                  </a:cubicBezTo>
                  <a:cubicBezTo>
                    <a:pt x="35" y="25"/>
                    <a:pt x="30" y="16"/>
                    <a:pt x="33" y="14"/>
                  </a:cubicBezTo>
                  <a:cubicBezTo>
                    <a:pt x="37" y="12"/>
                    <a:pt x="21" y="3"/>
                    <a:pt x="16" y="3"/>
                  </a:cubicBezTo>
                  <a:cubicBezTo>
                    <a:pt x="11" y="3"/>
                    <a:pt x="15" y="6"/>
                    <a:pt x="18" y="9"/>
                  </a:cubicBezTo>
                  <a:cubicBezTo>
                    <a:pt x="21" y="12"/>
                    <a:pt x="16" y="11"/>
                    <a:pt x="14" y="9"/>
                  </a:cubicBezTo>
                  <a:cubicBezTo>
                    <a:pt x="12" y="6"/>
                    <a:pt x="8" y="8"/>
                    <a:pt x="6" y="11"/>
                  </a:cubicBezTo>
                  <a:cubicBezTo>
                    <a:pt x="4" y="15"/>
                    <a:pt x="1" y="17"/>
                    <a:pt x="1" y="19"/>
                  </a:cubicBezTo>
                  <a:cubicBezTo>
                    <a:pt x="0" y="21"/>
                    <a:pt x="6" y="24"/>
                    <a:pt x="12" y="22"/>
                  </a:cubicBezTo>
                  <a:cubicBezTo>
                    <a:pt x="17" y="19"/>
                    <a:pt x="23" y="19"/>
                    <a:pt x="25" y="22"/>
                  </a:cubicBezTo>
                  <a:cubicBezTo>
                    <a:pt x="28" y="24"/>
                    <a:pt x="20" y="25"/>
                    <a:pt x="23" y="27"/>
                  </a:cubicBezTo>
                  <a:cubicBezTo>
                    <a:pt x="26" y="29"/>
                    <a:pt x="24" y="31"/>
                    <a:pt x="17" y="30"/>
                  </a:cubicBezTo>
                  <a:cubicBezTo>
                    <a:pt x="11" y="30"/>
                    <a:pt x="3" y="32"/>
                    <a:pt x="4" y="34"/>
                  </a:cubicBezTo>
                  <a:cubicBezTo>
                    <a:pt x="6" y="36"/>
                    <a:pt x="21" y="32"/>
                    <a:pt x="21" y="34"/>
                  </a:cubicBezTo>
                  <a:cubicBezTo>
                    <a:pt x="21" y="36"/>
                    <a:pt x="21" y="40"/>
                    <a:pt x="25" y="38"/>
                  </a:cubicBezTo>
                  <a:cubicBezTo>
                    <a:pt x="29" y="37"/>
                    <a:pt x="26" y="41"/>
                    <a:pt x="28" y="42"/>
                  </a:cubicBezTo>
                  <a:cubicBezTo>
                    <a:pt x="30" y="43"/>
                    <a:pt x="30" y="47"/>
                    <a:pt x="24" y="47"/>
                  </a:cubicBezTo>
                  <a:cubicBezTo>
                    <a:pt x="19" y="48"/>
                    <a:pt x="16" y="49"/>
                    <a:pt x="19" y="51"/>
                  </a:cubicBezTo>
                  <a:cubicBezTo>
                    <a:pt x="21" y="54"/>
                    <a:pt x="27" y="52"/>
                    <a:pt x="33" y="50"/>
                  </a:cubicBezTo>
                  <a:cubicBezTo>
                    <a:pt x="39" y="49"/>
                    <a:pt x="47" y="56"/>
                    <a:pt x="53" y="59"/>
                  </a:cubicBezTo>
                  <a:cubicBezTo>
                    <a:pt x="60" y="61"/>
                    <a:pt x="72" y="58"/>
                    <a:pt x="73" y="54"/>
                  </a:cubicBezTo>
                  <a:cubicBezTo>
                    <a:pt x="74" y="51"/>
                    <a:pt x="83" y="52"/>
                    <a:pt x="87" y="49"/>
                  </a:cubicBezTo>
                  <a:cubicBezTo>
                    <a:pt x="91" y="47"/>
                    <a:pt x="96" y="44"/>
                    <a:pt x="102" y="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4" name="Freeform 130"/>
            <p:cNvSpPr>
              <a:spLocks noChangeArrowheads="1"/>
            </p:cNvSpPr>
            <p:nvPr/>
          </p:nvSpPr>
          <p:spPr bwMode="auto">
            <a:xfrm>
              <a:off x="3421075" y="1131887"/>
              <a:ext cx="98426" cy="107950"/>
            </a:xfrm>
            <a:custGeom>
              <a:avLst/>
              <a:gdLst>
                <a:gd name="T0" fmla="*/ 45 w 51"/>
                <a:gd name="T1" fmla="*/ 17 h 56"/>
                <a:gd name="T2" fmla="*/ 42 w 51"/>
                <a:gd name="T3" fmla="*/ 14 h 56"/>
                <a:gd name="T4" fmla="*/ 35 w 51"/>
                <a:gd name="T5" fmla="*/ 16 h 56"/>
                <a:gd name="T6" fmla="*/ 28 w 51"/>
                <a:gd name="T7" fmla="*/ 15 h 56"/>
                <a:gd name="T8" fmla="*/ 31 w 51"/>
                <a:gd name="T9" fmla="*/ 8 h 56"/>
                <a:gd name="T10" fmla="*/ 34 w 51"/>
                <a:gd name="T11" fmla="*/ 2 h 56"/>
                <a:gd name="T12" fmla="*/ 32 w 51"/>
                <a:gd name="T13" fmla="*/ 1 h 56"/>
                <a:gd name="T14" fmla="*/ 21 w 51"/>
                <a:gd name="T15" fmla="*/ 4 h 56"/>
                <a:gd name="T16" fmla="*/ 26 w 51"/>
                <a:gd name="T17" fmla="*/ 9 h 56"/>
                <a:gd name="T18" fmla="*/ 17 w 51"/>
                <a:gd name="T19" fmla="*/ 14 h 56"/>
                <a:gd name="T20" fmla="*/ 5 w 51"/>
                <a:gd name="T21" fmla="*/ 14 h 56"/>
                <a:gd name="T22" fmla="*/ 6 w 51"/>
                <a:gd name="T23" fmla="*/ 22 h 56"/>
                <a:gd name="T24" fmla="*/ 12 w 51"/>
                <a:gd name="T25" fmla="*/ 30 h 56"/>
                <a:gd name="T26" fmla="*/ 9 w 51"/>
                <a:gd name="T27" fmla="*/ 40 h 56"/>
                <a:gd name="T28" fmla="*/ 1 w 51"/>
                <a:gd name="T29" fmla="*/ 47 h 56"/>
                <a:gd name="T30" fmla="*/ 12 w 51"/>
                <a:gd name="T31" fmla="*/ 56 h 56"/>
                <a:gd name="T32" fmla="*/ 32 w 51"/>
                <a:gd name="T33" fmla="*/ 48 h 56"/>
                <a:gd name="T34" fmla="*/ 46 w 51"/>
                <a:gd name="T35" fmla="*/ 45 h 56"/>
                <a:gd name="T36" fmla="*/ 46 w 51"/>
                <a:gd name="T37" fmla="*/ 19 h 56"/>
                <a:gd name="T38" fmla="*/ 45 w 51"/>
                <a:gd name="T39" fmla="*/ 1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
                <a:gd name="T61" fmla="*/ 0 h 56"/>
                <a:gd name="T62" fmla="*/ 51 w 51"/>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 h="56">
                  <a:moveTo>
                    <a:pt x="45" y="17"/>
                  </a:moveTo>
                  <a:cubicBezTo>
                    <a:pt x="44" y="16"/>
                    <a:pt x="43" y="15"/>
                    <a:pt x="42" y="14"/>
                  </a:cubicBezTo>
                  <a:cubicBezTo>
                    <a:pt x="37" y="9"/>
                    <a:pt x="36" y="13"/>
                    <a:pt x="35" y="16"/>
                  </a:cubicBezTo>
                  <a:cubicBezTo>
                    <a:pt x="35" y="19"/>
                    <a:pt x="31" y="15"/>
                    <a:pt x="28" y="15"/>
                  </a:cubicBezTo>
                  <a:cubicBezTo>
                    <a:pt x="25" y="14"/>
                    <a:pt x="29" y="9"/>
                    <a:pt x="31" y="8"/>
                  </a:cubicBezTo>
                  <a:cubicBezTo>
                    <a:pt x="32" y="7"/>
                    <a:pt x="33" y="5"/>
                    <a:pt x="34" y="2"/>
                  </a:cubicBezTo>
                  <a:cubicBezTo>
                    <a:pt x="33" y="2"/>
                    <a:pt x="33" y="2"/>
                    <a:pt x="32" y="1"/>
                  </a:cubicBezTo>
                  <a:cubicBezTo>
                    <a:pt x="28" y="0"/>
                    <a:pt x="21" y="0"/>
                    <a:pt x="21" y="4"/>
                  </a:cubicBezTo>
                  <a:cubicBezTo>
                    <a:pt x="21" y="8"/>
                    <a:pt x="26" y="6"/>
                    <a:pt x="26" y="9"/>
                  </a:cubicBezTo>
                  <a:cubicBezTo>
                    <a:pt x="26" y="12"/>
                    <a:pt x="21" y="11"/>
                    <a:pt x="17" y="14"/>
                  </a:cubicBezTo>
                  <a:cubicBezTo>
                    <a:pt x="13" y="16"/>
                    <a:pt x="9" y="12"/>
                    <a:pt x="5" y="14"/>
                  </a:cubicBezTo>
                  <a:cubicBezTo>
                    <a:pt x="1" y="16"/>
                    <a:pt x="9" y="18"/>
                    <a:pt x="6" y="22"/>
                  </a:cubicBezTo>
                  <a:cubicBezTo>
                    <a:pt x="3" y="27"/>
                    <a:pt x="7" y="26"/>
                    <a:pt x="12" y="30"/>
                  </a:cubicBezTo>
                  <a:cubicBezTo>
                    <a:pt x="17" y="34"/>
                    <a:pt x="9" y="35"/>
                    <a:pt x="9" y="40"/>
                  </a:cubicBezTo>
                  <a:cubicBezTo>
                    <a:pt x="9" y="44"/>
                    <a:pt x="2" y="44"/>
                    <a:pt x="1" y="47"/>
                  </a:cubicBezTo>
                  <a:cubicBezTo>
                    <a:pt x="0" y="50"/>
                    <a:pt x="6" y="56"/>
                    <a:pt x="12" y="56"/>
                  </a:cubicBezTo>
                  <a:cubicBezTo>
                    <a:pt x="16" y="56"/>
                    <a:pt x="26" y="54"/>
                    <a:pt x="32" y="48"/>
                  </a:cubicBezTo>
                  <a:cubicBezTo>
                    <a:pt x="37" y="43"/>
                    <a:pt x="40" y="48"/>
                    <a:pt x="46" y="45"/>
                  </a:cubicBezTo>
                  <a:cubicBezTo>
                    <a:pt x="51" y="43"/>
                    <a:pt x="48" y="23"/>
                    <a:pt x="46" y="19"/>
                  </a:cubicBezTo>
                  <a:cubicBezTo>
                    <a:pt x="45" y="18"/>
                    <a:pt x="45" y="18"/>
                    <a:pt x="45"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5" name="Freeform 131"/>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6" name="Freeform 132"/>
            <p:cNvSpPr>
              <a:spLocks noEditPoints="1" noChangeArrowheads="1"/>
            </p:cNvSpPr>
            <p:nvPr/>
          </p:nvSpPr>
          <p:spPr bwMode="auto">
            <a:xfrm>
              <a:off x="3468700" y="954088"/>
              <a:ext cx="219076" cy="333376"/>
            </a:xfrm>
            <a:custGeom>
              <a:avLst/>
              <a:gdLst>
                <a:gd name="T0" fmla="*/ 9 w 114"/>
                <a:gd name="T1" fmla="*/ 95 h 174"/>
                <a:gd name="T2" fmla="*/ 3 w 114"/>
                <a:gd name="T3" fmla="*/ 108 h 174"/>
                <a:gd name="T4" fmla="*/ 17 w 114"/>
                <a:gd name="T5" fmla="*/ 107 h 174"/>
                <a:gd name="T6" fmla="*/ 29 w 114"/>
                <a:gd name="T7" fmla="*/ 105 h 174"/>
                <a:gd name="T8" fmla="*/ 114 w 114"/>
                <a:gd name="T9" fmla="*/ 134 h 174"/>
                <a:gd name="T10" fmla="*/ 97 w 114"/>
                <a:gd name="T11" fmla="*/ 127 h 174"/>
                <a:gd name="T12" fmla="*/ 93 w 114"/>
                <a:gd name="T13" fmla="*/ 115 h 174"/>
                <a:gd name="T14" fmla="*/ 77 w 114"/>
                <a:gd name="T15" fmla="*/ 88 h 174"/>
                <a:gd name="T16" fmla="*/ 59 w 114"/>
                <a:gd name="T17" fmla="*/ 80 h 174"/>
                <a:gd name="T18" fmla="*/ 72 w 114"/>
                <a:gd name="T19" fmla="*/ 53 h 174"/>
                <a:gd name="T20" fmla="*/ 47 w 114"/>
                <a:gd name="T21" fmla="*/ 49 h 174"/>
                <a:gd name="T22" fmla="*/ 57 w 114"/>
                <a:gd name="T23" fmla="*/ 33 h 174"/>
                <a:gd name="T24" fmla="*/ 40 w 114"/>
                <a:gd name="T25" fmla="*/ 37 h 174"/>
                <a:gd name="T26" fmla="*/ 28 w 114"/>
                <a:gd name="T27" fmla="*/ 54 h 174"/>
                <a:gd name="T28" fmla="*/ 18 w 114"/>
                <a:gd name="T29" fmla="*/ 55 h 174"/>
                <a:gd name="T30" fmla="*/ 22 w 114"/>
                <a:gd name="T31" fmla="*/ 70 h 174"/>
                <a:gd name="T32" fmla="*/ 19 w 114"/>
                <a:gd name="T33" fmla="*/ 83 h 174"/>
                <a:gd name="T34" fmla="*/ 32 w 114"/>
                <a:gd name="T35" fmla="*/ 87 h 174"/>
                <a:gd name="T36" fmla="*/ 39 w 114"/>
                <a:gd name="T37" fmla="*/ 86 h 174"/>
                <a:gd name="T38" fmla="*/ 51 w 114"/>
                <a:gd name="T39" fmla="*/ 96 h 174"/>
                <a:gd name="T40" fmla="*/ 56 w 114"/>
                <a:gd name="T41" fmla="*/ 106 h 174"/>
                <a:gd name="T42" fmla="*/ 58 w 114"/>
                <a:gd name="T43" fmla="*/ 121 h 174"/>
                <a:gd name="T44" fmla="*/ 43 w 114"/>
                <a:gd name="T45" fmla="*/ 123 h 174"/>
                <a:gd name="T46" fmla="*/ 46 w 114"/>
                <a:gd name="T47" fmla="*/ 134 h 174"/>
                <a:gd name="T48" fmla="*/ 40 w 114"/>
                <a:gd name="T49" fmla="*/ 147 h 174"/>
                <a:gd name="T50" fmla="*/ 58 w 114"/>
                <a:gd name="T51" fmla="*/ 150 h 174"/>
                <a:gd name="T52" fmla="*/ 47 w 114"/>
                <a:gd name="T53" fmla="*/ 154 h 174"/>
                <a:gd name="T54" fmla="*/ 41 w 114"/>
                <a:gd name="T55" fmla="*/ 167 h 174"/>
                <a:gd name="T56" fmla="*/ 54 w 114"/>
                <a:gd name="T57" fmla="*/ 164 h 174"/>
                <a:gd name="T58" fmla="*/ 71 w 114"/>
                <a:gd name="T59" fmla="*/ 160 h 174"/>
                <a:gd name="T60" fmla="*/ 93 w 114"/>
                <a:gd name="T61" fmla="*/ 160 h 174"/>
                <a:gd name="T62" fmla="*/ 104 w 114"/>
                <a:gd name="T63" fmla="*/ 151 h 174"/>
                <a:gd name="T64" fmla="*/ 114 w 114"/>
                <a:gd name="T65" fmla="*/ 134 h 174"/>
                <a:gd name="T66" fmla="*/ 21 w 114"/>
                <a:gd name="T67" fmla="*/ 40 h 174"/>
                <a:gd name="T68" fmla="*/ 78 w 114"/>
                <a:gd name="T69" fmla="*/ 14 h 174"/>
                <a:gd name="T70" fmla="*/ 78 w 114"/>
                <a:gd name="T71" fmla="*/ 14 h 17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74"/>
                <a:gd name="T110" fmla="*/ 114 w 114"/>
                <a:gd name="T111" fmla="*/ 174 h 17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74">
                  <a:moveTo>
                    <a:pt x="23" y="92"/>
                  </a:moveTo>
                  <a:cubicBezTo>
                    <a:pt x="18" y="88"/>
                    <a:pt x="13" y="95"/>
                    <a:pt x="9" y="95"/>
                  </a:cubicBezTo>
                  <a:cubicBezTo>
                    <a:pt x="8" y="98"/>
                    <a:pt x="7" y="100"/>
                    <a:pt x="6" y="101"/>
                  </a:cubicBezTo>
                  <a:cubicBezTo>
                    <a:pt x="4" y="102"/>
                    <a:pt x="0" y="107"/>
                    <a:pt x="3" y="108"/>
                  </a:cubicBezTo>
                  <a:cubicBezTo>
                    <a:pt x="6" y="108"/>
                    <a:pt x="10" y="112"/>
                    <a:pt x="10" y="109"/>
                  </a:cubicBezTo>
                  <a:cubicBezTo>
                    <a:pt x="11" y="106"/>
                    <a:pt x="12" y="102"/>
                    <a:pt x="17" y="107"/>
                  </a:cubicBezTo>
                  <a:cubicBezTo>
                    <a:pt x="18" y="108"/>
                    <a:pt x="19" y="109"/>
                    <a:pt x="20" y="110"/>
                  </a:cubicBezTo>
                  <a:cubicBezTo>
                    <a:pt x="21" y="108"/>
                    <a:pt x="26" y="108"/>
                    <a:pt x="29" y="105"/>
                  </a:cubicBezTo>
                  <a:cubicBezTo>
                    <a:pt x="32" y="102"/>
                    <a:pt x="27" y="97"/>
                    <a:pt x="23" y="92"/>
                  </a:cubicBezTo>
                  <a:close/>
                  <a:moveTo>
                    <a:pt x="114" y="134"/>
                  </a:moveTo>
                  <a:cubicBezTo>
                    <a:pt x="114" y="129"/>
                    <a:pt x="103" y="125"/>
                    <a:pt x="102" y="128"/>
                  </a:cubicBezTo>
                  <a:cubicBezTo>
                    <a:pt x="101" y="131"/>
                    <a:pt x="98" y="130"/>
                    <a:pt x="97" y="127"/>
                  </a:cubicBezTo>
                  <a:cubicBezTo>
                    <a:pt x="95" y="124"/>
                    <a:pt x="98" y="121"/>
                    <a:pt x="96" y="121"/>
                  </a:cubicBezTo>
                  <a:cubicBezTo>
                    <a:pt x="95" y="121"/>
                    <a:pt x="92" y="117"/>
                    <a:pt x="93" y="115"/>
                  </a:cubicBezTo>
                  <a:cubicBezTo>
                    <a:pt x="93" y="113"/>
                    <a:pt x="90" y="103"/>
                    <a:pt x="84" y="101"/>
                  </a:cubicBezTo>
                  <a:cubicBezTo>
                    <a:pt x="79" y="100"/>
                    <a:pt x="78" y="92"/>
                    <a:pt x="77" y="88"/>
                  </a:cubicBezTo>
                  <a:cubicBezTo>
                    <a:pt x="76" y="83"/>
                    <a:pt x="72" y="86"/>
                    <a:pt x="69" y="82"/>
                  </a:cubicBezTo>
                  <a:cubicBezTo>
                    <a:pt x="66" y="78"/>
                    <a:pt x="62" y="80"/>
                    <a:pt x="59" y="80"/>
                  </a:cubicBezTo>
                  <a:cubicBezTo>
                    <a:pt x="57" y="80"/>
                    <a:pt x="59" y="76"/>
                    <a:pt x="63" y="73"/>
                  </a:cubicBezTo>
                  <a:cubicBezTo>
                    <a:pt x="67" y="70"/>
                    <a:pt x="72" y="56"/>
                    <a:pt x="72" y="53"/>
                  </a:cubicBezTo>
                  <a:cubicBezTo>
                    <a:pt x="72" y="50"/>
                    <a:pt x="54" y="51"/>
                    <a:pt x="51" y="52"/>
                  </a:cubicBezTo>
                  <a:cubicBezTo>
                    <a:pt x="48" y="54"/>
                    <a:pt x="44" y="50"/>
                    <a:pt x="47" y="49"/>
                  </a:cubicBezTo>
                  <a:cubicBezTo>
                    <a:pt x="50" y="47"/>
                    <a:pt x="56" y="42"/>
                    <a:pt x="56" y="39"/>
                  </a:cubicBezTo>
                  <a:cubicBezTo>
                    <a:pt x="55" y="37"/>
                    <a:pt x="60" y="35"/>
                    <a:pt x="57" y="33"/>
                  </a:cubicBezTo>
                  <a:cubicBezTo>
                    <a:pt x="55" y="30"/>
                    <a:pt x="54" y="35"/>
                    <a:pt x="52" y="37"/>
                  </a:cubicBezTo>
                  <a:cubicBezTo>
                    <a:pt x="50" y="39"/>
                    <a:pt x="45" y="38"/>
                    <a:pt x="40" y="37"/>
                  </a:cubicBezTo>
                  <a:cubicBezTo>
                    <a:pt x="35" y="36"/>
                    <a:pt x="33" y="44"/>
                    <a:pt x="33" y="47"/>
                  </a:cubicBezTo>
                  <a:cubicBezTo>
                    <a:pt x="33" y="50"/>
                    <a:pt x="27" y="52"/>
                    <a:pt x="28" y="54"/>
                  </a:cubicBezTo>
                  <a:cubicBezTo>
                    <a:pt x="29" y="57"/>
                    <a:pt x="27" y="59"/>
                    <a:pt x="25" y="58"/>
                  </a:cubicBezTo>
                  <a:cubicBezTo>
                    <a:pt x="24" y="56"/>
                    <a:pt x="22" y="52"/>
                    <a:pt x="18" y="55"/>
                  </a:cubicBezTo>
                  <a:cubicBezTo>
                    <a:pt x="15" y="58"/>
                    <a:pt x="22" y="61"/>
                    <a:pt x="27" y="62"/>
                  </a:cubicBezTo>
                  <a:cubicBezTo>
                    <a:pt x="31" y="62"/>
                    <a:pt x="23" y="65"/>
                    <a:pt x="22" y="70"/>
                  </a:cubicBezTo>
                  <a:cubicBezTo>
                    <a:pt x="22" y="75"/>
                    <a:pt x="28" y="73"/>
                    <a:pt x="28" y="76"/>
                  </a:cubicBezTo>
                  <a:cubicBezTo>
                    <a:pt x="29" y="79"/>
                    <a:pt x="19" y="80"/>
                    <a:pt x="19" y="83"/>
                  </a:cubicBezTo>
                  <a:cubicBezTo>
                    <a:pt x="19" y="86"/>
                    <a:pt x="25" y="82"/>
                    <a:pt x="27" y="80"/>
                  </a:cubicBezTo>
                  <a:cubicBezTo>
                    <a:pt x="30" y="79"/>
                    <a:pt x="26" y="88"/>
                    <a:pt x="32" y="87"/>
                  </a:cubicBezTo>
                  <a:cubicBezTo>
                    <a:pt x="38" y="86"/>
                    <a:pt x="36" y="78"/>
                    <a:pt x="38" y="78"/>
                  </a:cubicBezTo>
                  <a:cubicBezTo>
                    <a:pt x="40" y="79"/>
                    <a:pt x="37" y="83"/>
                    <a:pt x="39" y="86"/>
                  </a:cubicBezTo>
                  <a:cubicBezTo>
                    <a:pt x="41" y="90"/>
                    <a:pt x="35" y="95"/>
                    <a:pt x="35" y="97"/>
                  </a:cubicBezTo>
                  <a:cubicBezTo>
                    <a:pt x="35" y="100"/>
                    <a:pt x="47" y="100"/>
                    <a:pt x="51" y="96"/>
                  </a:cubicBezTo>
                  <a:cubicBezTo>
                    <a:pt x="55" y="92"/>
                    <a:pt x="57" y="96"/>
                    <a:pt x="54" y="99"/>
                  </a:cubicBezTo>
                  <a:cubicBezTo>
                    <a:pt x="52" y="102"/>
                    <a:pt x="53" y="105"/>
                    <a:pt x="56" y="106"/>
                  </a:cubicBezTo>
                  <a:cubicBezTo>
                    <a:pt x="59" y="107"/>
                    <a:pt x="61" y="108"/>
                    <a:pt x="59" y="110"/>
                  </a:cubicBezTo>
                  <a:cubicBezTo>
                    <a:pt x="58" y="113"/>
                    <a:pt x="59" y="118"/>
                    <a:pt x="58" y="121"/>
                  </a:cubicBezTo>
                  <a:cubicBezTo>
                    <a:pt x="57" y="123"/>
                    <a:pt x="47" y="123"/>
                    <a:pt x="47" y="121"/>
                  </a:cubicBezTo>
                  <a:cubicBezTo>
                    <a:pt x="46" y="119"/>
                    <a:pt x="42" y="121"/>
                    <a:pt x="43" y="123"/>
                  </a:cubicBezTo>
                  <a:cubicBezTo>
                    <a:pt x="44" y="125"/>
                    <a:pt x="39" y="128"/>
                    <a:pt x="40" y="130"/>
                  </a:cubicBezTo>
                  <a:cubicBezTo>
                    <a:pt x="40" y="132"/>
                    <a:pt x="46" y="132"/>
                    <a:pt x="46" y="134"/>
                  </a:cubicBezTo>
                  <a:cubicBezTo>
                    <a:pt x="47" y="137"/>
                    <a:pt x="42" y="140"/>
                    <a:pt x="36" y="142"/>
                  </a:cubicBezTo>
                  <a:cubicBezTo>
                    <a:pt x="29" y="144"/>
                    <a:pt x="37" y="149"/>
                    <a:pt x="40" y="147"/>
                  </a:cubicBezTo>
                  <a:cubicBezTo>
                    <a:pt x="43" y="144"/>
                    <a:pt x="42" y="148"/>
                    <a:pt x="47" y="148"/>
                  </a:cubicBezTo>
                  <a:cubicBezTo>
                    <a:pt x="51" y="148"/>
                    <a:pt x="54" y="152"/>
                    <a:pt x="58" y="150"/>
                  </a:cubicBezTo>
                  <a:cubicBezTo>
                    <a:pt x="63" y="148"/>
                    <a:pt x="63" y="150"/>
                    <a:pt x="59" y="153"/>
                  </a:cubicBezTo>
                  <a:cubicBezTo>
                    <a:pt x="56" y="155"/>
                    <a:pt x="50" y="152"/>
                    <a:pt x="47" y="154"/>
                  </a:cubicBezTo>
                  <a:cubicBezTo>
                    <a:pt x="44" y="156"/>
                    <a:pt x="30" y="169"/>
                    <a:pt x="33" y="172"/>
                  </a:cubicBezTo>
                  <a:cubicBezTo>
                    <a:pt x="34" y="174"/>
                    <a:pt x="36" y="169"/>
                    <a:pt x="41" y="167"/>
                  </a:cubicBezTo>
                  <a:cubicBezTo>
                    <a:pt x="46" y="165"/>
                    <a:pt x="47" y="169"/>
                    <a:pt x="49" y="169"/>
                  </a:cubicBezTo>
                  <a:cubicBezTo>
                    <a:pt x="52" y="169"/>
                    <a:pt x="52" y="163"/>
                    <a:pt x="54" y="164"/>
                  </a:cubicBezTo>
                  <a:cubicBezTo>
                    <a:pt x="56" y="164"/>
                    <a:pt x="58" y="162"/>
                    <a:pt x="62" y="163"/>
                  </a:cubicBezTo>
                  <a:cubicBezTo>
                    <a:pt x="66" y="163"/>
                    <a:pt x="69" y="162"/>
                    <a:pt x="71" y="160"/>
                  </a:cubicBezTo>
                  <a:cubicBezTo>
                    <a:pt x="73" y="159"/>
                    <a:pt x="79" y="164"/>
                    <a:pt x="80" y="162"/>
                  </a:cubicBezTo>
                  <a:cubicBezTo>
                    <a:pt x="82" y="161"/>
                    <a:pt x="89" y="160"/>
                    <a:pt x="93" y="160"/>
                  </a:cubicBezTo>
                  <a:cubicBezTo>
                    <a:pt x="97" y="160"/>
                    <a:pt x="106" y="156"/>
                    <a:pt x="109" y="154"/>
                  </a:cubicBezTo>
                  <a:cubicBezTo>
                    <a:pt x="111" y="151"/>
                    <a:pt x="107" y="151"/>
                    <a:pt x="104" y="151"/>
                  </a:cubicBezTo>
                  <a:cubicBezTo>
                    <a:pt x="100" y="152"/>
                    <a:pt x="101" y="148"/>
                    <a:pt x="105" y="145"/>
                  </a:cubicBezTo>
                  <a:cubicBezTo>
                    <a:pt x="108" y="141"/>
                    <a:pt x="114" y="139"/>
                    <a:pt x="114" y="134"/>
                  </a:cubicBezTo>
                  <a:close/>
                  <a:moveTo>
                    <a:pt x="14" y="50"/>
                  </a:moveTo>
                  <a:cubicBezTo>
                    <a:pt x="18" y="50"/>
                    <a:pt x="23" y="42"/>
                    <a:pt x="21" y="40"/>
                  </a:cubicBezTo>
                  <a:cubicBezTo>
                    <a:pt x="19" y="38"/>
                    <a:pt x="10" y="50"/>
                    <a:pt x="14" y="50"/>
                  </a:cubicBezTo>
                  <a:close/>
                  <a:moveTo>
                    <a:pt x="78" y="14"/>
                  </a:moveTo>
                  <a:cubicBezTo>
                    <a:pt x="81" y="11"/>
                    <a:pt x="84" y="0"/>
                    <a:pt x="80" y="1"/>
                  </a:cubicBezTo>
                  <a:cubicBezTo>
                    <a:pt x="76" y="3"/>
                    <a:pt x="77" y="15"/>
                    <a:pt x="78" y="1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7" name="Freeform 133"/>
            <p:cNvSpPr>
              <a:spLocks noEditPoints="1" noChangeArrowheads="1"/>
            </p:cNvSpPr>
            <p:nvPr/>
          </p:nvSpPr>
          <p:spPr bwMode="auto">
            <a:xfrm>
              <a:off x="3821126" y="1050926"/>
              <a:ext cx="103188" cy="98425"/>
            </a:xfrm>
            <a:custGeom>
              <a:avLst/>
              <a:gdLst>
                <a:gd name="T0" fmla="*/ 27 w 54"/>
                <a:gd name="T1" fmla="*/ 20 h 52"/>
                <a:gd name="T2" fmla="*/ 27 w 54"/>
                <a:gd name="T3" fmla="*/ 12 h 52"/>
                <a:gd name="T4" fmla="*/ 28 w 54"/>
                <a:gd name="T5" fmla="*/ 2 h 52"/>
                <a:gd name="T6" fmla="*/ 20 w 54"/>
                <a:gd name="T7" fmla="*/ 7 h 52"/>
                <a:gd name="T8" fmla="*/ 13 w 54"/>
                <a:gd name="T9" fmla="*/ 10 h 52"/>
                <a:gd name="T10" fmla="*/ 14 w 54"/>
                <a:gd name="T11" fmla="*/ 15 h 52"/>
                <a:gd name="T12" fmla="*/ 7 w 54"/>
                <a:gd name="T13" fmla="*/ 12 h 52"/>
                <a:gd name="T14" fmla="*/ 2 w 54"/>
                <a:gd name="T15" fmla="*/ 20 h 52"/>
                <a:gd name="T16" fmla="*/ 2 w 54"/>
                <a:gd name="T17" fmla="*/ 33 h 52"/>
                <a:gd name="T18" fmla="*/ 6 w 54"/>
                <a:gd name="T19" fmla="*/ 43 h 52"/>
                <a:gd name="T20" fmla="*/ 8 w 54"/>
                <a:gd name="T21" fmla="*/ 48 h 52"/>
                <a:gd name="T22" fmla="*/ 18 w 54"/>
                <a:gd name="T23" fmla="*/ 49 h 52"/>
                <a:gd name="T24" fmla="*/ 22 w 54"/>
                <a:gd name="T25" fmla="*/ 48 h 52"/>
                <a:gd name="T26" fmla="*/ 18 w 54"/>
                <a:gd name="T27" fmla="*/ 42 h 52"/>
                <a:gd name="T28" fmla="*/ 24 w 54"/>
                <a:gd name="T29" fmla="*/ 44 h 52"/>
                <a:gd name="T30" fmla="*/ 32 w 54"/>
                <a:gd name="T31" fmla="*/ 43 h 52"/>
                <a:gd name="T32" fmla="*/ 28 w 54"/>
                <a:gd name="T33" fmla="*/ 36 h 52"/>
                <a:gd name="T34" fmla="*/ 22 w 54"/>
                <a:gd name="T35" fmla="*/ 36 h 52"/>
                <a:gd name="T36" fmla="*/ 26 w 54"/>
                <a:gd name="T37" fmla="*/ 29 h 52"/>
                <a:gd name="T38" fmla="*/ 33 w 54"/>
                <a:gd name="T39" fmla="*/ 25 h 52"/>
                <a:gd name="T40" fmla="*/ 27 w 54"/>
                <a:gd name="T41" fmla="*/ 20 h 52"/>
                <a:gd name="T42" fmla="*/ 53 w 54"/>
                <a:gd name="T43" fmla="*/ 30 h 52"/>
                <a:gd name="T44" fmla="*/ 49 w 54"/>
                <a:gd name="T45" fmla="*/ 32 h 52"/>
                <a:gd name="T46" fmla="*/ 45 w 54"/>
                <a:gd name="T47" fmla="*/ 30 h 52"/>
                <a:gd name="T48" fmla="*/ 38 w 54"/>
                <a:gd name="T49" fmla="*/ 33 h 52"/>
                <a:gd name="T50" fmla="*/ 42 w 54"/>
                <a:gd name="T51" fmla="*/ 43 h 52"/>
                <a:gd name="T52" fmla="*/ 39 w 54"/>
                <a:gd name="T53" fmla="*/ 46 h 52"/>
                <a:gd name="T54" fmla="*/ 42 w 54"/>
                <a:gd name="T55" fmla="*/ 51 h 52"/>
                <a:gd name="T56" fmla="*/ 50 w 54"/>
                <a:gd name="T57" fmla="*/ 42 h 52"/>
                <a:gd name="T58" fmla="*/ 53 w 54"/>
                <a:gd name="T59" fmla="*/ 30 h 52"/>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54"/>
                <a:gd name="T91" fmla="*/ 0 h 52"/>
                <a:gd name="T92" fmla="*/ 54 w 54"/>
                <a:gd name="T93" fmla="*/ 52 h 52"/>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54" h="52">
                  <a:moveTo>
                    <a:pt x="27" y="20"/>
                  </a:moveTo>
                  <a:cubicBezTo>
                    <a:pt x="26" y="19"/>
                    <a:pt x="25" y="13"/>
                    <a:pt x="27" y="12"/>
                  </a:cubicBezTo>
                  <a:cubicBezTo>
                    <a:pt x="29" y="10"/>
                    <a:pt x="30" y="4"/>
                    <a:pt x="28" y="2"/>
                  </a:cubicBezTo>
                  <a:cubicBezTo>
                    <a:pt x="27" y="0"/>
                    <a:pt x="21" y="2"/>
                    <a:pt x="20" y="7"/>
                  </a:cubicBezTo>
                  <a:cubicBezTo>
                    <a:pt x="20" y="11"/>
                    <a:pt x="15" y="9"/>
                    <a:pt x="13" y="10"/>
                  </a:cubicBezTo>
                  <a:cubicBezTo>
                    <a:pt x="12" y="11"/>
                    <a:pt x="16" y="13"/>
                    <a:pt x="14" y="15"/>
                  </a:cubicBezTo>
                  <a:cubicBezTo>
                    <a:pt x="12" y="17"/>
                    <a:pt x="11" y="12"/>
                    <a:pt x="7" y="12"/>
                  </a:cubicBezTo>
                  <a:cubicBezTo>
                    <a:pt x="4" y="11"/>
                    <a:pt x="4" y="17"/>
                    <a:pt x="2" y="20"/>
                  </a:cubicBezTo>
                  <a:cubicBezTo>
                    <a:pt x="0" y="23"/>
                    <a:pt x="1" y="29"/>
                    <a:pt x="2" y="33"/>
                  </a:cubicBezTo>
                  <a:cubicBezTo>
                    <a:pt x="2" y="37"/>
                    <a:pt x="7" y="39"/>
                    <a:pt x="6" y="43"/>
                  </a:cubicBezTo>
                  <a:cubicBezTo>
                    <a:pt x="5" y="44"/>
                    <a:pt x="7" y="46"/>
                    <a:pt x="8" y="48"/>
                  </a:cubicBezTo>
                  <a:cubicBezTo>
                    <a:pt x="12" y="48"/>
                    <a:pt x="16" y="48"/>
                    <a:pt x="18" y="49"/>
                  </a:cubicBezTo>
                  <a:cubicBezTo>
                    <a:pt x="19" y="49"/>
                    <a:pt x="20" y="49"/>
                    <a:pt x="22" y="48"/>
                  </a:cubicBezTo>
                  <a:cubicBezTo>
                    <a:pt x="21" y="46"/>
                    <a:pt x="17" y="44"/>
                    <a:pt x="18" y="42"/>
                  </a:cubicBezTo>
                  <a:cubicBezTo>
                    <a:pt x="18" y="40"/>
                    <a:pt x="21" y="42"/>
                    <a:pt x="24" y="44"/>
                  </a:cubicBezTo>
                  <a:cubicBezTo>
                    <a:pt x="26" y="46"/>
                    <a:pt x="31" y="46"/>
                    <a:pt x="32" y="43"/>
                  </a:cubicBezTo>
                  <a:cubicBezTo>
                    <a:pt x="32" y="42"/>
                    <a:pt x="31" y="35"/>
                    <a:pt x="28" y="36"/>
                  </a:cubicBezTo>
                  <a:cubicBezTo>
                    <a:pt x="24" y="38"/>
                    <a:pt x="24" y="37"/>
                    <a:pt x="22" y="36"/>
                  </a:cubicBezTo>
                  <a:cubicBezTo>
                    <a:pt x="21" y="34"/>
                    <a:pt x="25" y="31"/>
                    <a:pt x="26" y="29"/>
                  </a:cubicBezTo>
                  <a:cubicBezTo>
                    <a:pt x="26" y="26"/>
                    <a:pt x="32" y="27"/>
                    <a:pt x="33" y="25"/>
                  </a:cubicBezTo>
                  <a:cubicBezTo>
                    <a:pt x="34" y="23"/>
                    <a:pt x="29" y="20"/>
                    <a:pt x="27" y="20"/>
                  </a:cubicBezTo>
                  <a:close/>
                  <a:moveTo>
                    <a:pt x="53" y="30"/>
                  </a:moveTo>
                  <a:cubicBezTo>
                    <a:pt x="51" y="29"/>
                    <a:pt x="50" y="32"/>
                    <a:pt x="49" y="32"/>
                  </a:cubicBezTo>
                  <a:cubicBezTo>
                    <a:pt x="47" y="33"/>
                    <a:pt x="46" y="26"/>
                    <a:pt x="45" y="30"/>
                  </a:cubicBezTo>
                  <a:cubicBezTo>
                    <a:pt x="44" y="33"/>
                    <a:pt x="41" y="28"/>
                    <a:pt x="38" y="33"/>
                  </a:cubicBezTo>
                  <a:cubicBezTo>
                    <a:pt x="34" y="38"/>
                    <a:pt x="40" y="42"/>
                    <a:pt x="42" y="43"/>
                  </a:cubicBezTo>
                  <a:cubicBezTo>
                    <a:pt x="44" y="45"/>
                    <a:pt x="42" y="47"/>
                    <a:pt x="39" y="46"/>
                  </a:cubicBezTo>
                  <a:cubicBezTo>
                    <a:pt x="36" y="46"/>
                    <a:pt x="38" y="51"/>
                    <a:pt x="42" y="51"/>
                  </a:cubicBezTo>
                  <a:cubicBezTo>
                    <a:pt x="46" y="52"/>
                    <a:pt x="50" y="44"/>
                    <a:pt x="50" y="42"/>
                  </a:cubicBezTo>
                  <a:cubicBezTo>
                    <a:pt x="49" y="40"/>
                    <a:pt x="54" y="31"/>
                    <a:pt x="53" y="3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8" name="Freeform 134"/>
            <p:cNvSpPr>
              <a:spLocks noEditPoints="1" noChangeArrowheads="1"/>
            </p:cNvSpPr>
            <p:nvPr/>
          </p:nvSpPr>
          <p:spPr bwMode="auto">
            <a:xfrm>
              <a:off x="3892563" y="657225"/>
              <a:ext cx="266701" cy="471488"/>
            </a:xfrm>
            <a:custGeom>
              <a:avLst/>
              <a:gdLst>
                <a:gd name="T0" fmla="*/ 137 w 140"/>
                <a:gd name="T1" fmla="*/ 53 h 247"/>
                <a:gd name="T2" fmla="*/ 135 w 140"/>
                <a:gd name="T3" fmla="*/ 33 h 247"/>
                <a:gd name="T4" fmla="*/ 118 w 140"/>
                <a:gd name="T5" fmla="*/ 12 h 247"/>
                <a:gd name="T6" fmla="*/ 98 w 140"/>
                <a:gd name="T7" fmla="*/ 11 h 247"/>
                <a:gd name="T8" fmla="*/ 79 w 140"/>
                <a:gd name="T9" fmla="*/ 11 h 247"/>
                <a:gd name="T10" fmla="*/ 68 w 140"/>
                <a:gd name="T11" fmla="*/ 23 h 247"/>
                <a:gd name="T12" fmla="*/ 56 w 140"/>
                <a:gd name="T13" fmla="*/ 37 h 247"/>
                <a:gd name="T14" fmla="*/ 47 w 140"/>
                <a:gd name="T15" fmla="*/ 51 h 247"/>
                <a:gd name="T16" fmla="*/ 37 w 140"/>
                <a:gd name="T17" fmla="*/ 60 h 247"/>
                <a:gd name="T18" fmla="*/ 29 w 140"/>
                <a:gd name="T19" fmla="*/ 85 h 247"/>
                <a:gd name="T20" fmla="*/ 31 w 140"/>
                <a:gd name="T21" fmla="*/ 97 h 247"/>
                <a:gd name="T22" fmla="*/ 12 w 140"/>
                <a:gd name="T23" fmla="*/ 105 h 247"/>
                <a:gd name="T24" fmla="*/ 11 w 140"/>
                <a:gd name="T25" fmla="*/ 127 h 247"/>
                <a:gd name="T26" fmla="*/ 18 w 140"/>
                <a:gd name="T27" fmla="*/ 146 h 247"/>
                <a:gd name="T28" fmla="*/ 15 w 140"/>
                <a:gd name="T29" fmla="*/ 157 h 247"/>
                <a:gd name="T30" fmla="*/ 8 w 140"/>
                <a:gd name="T31" fmla="*/ 171 h 247"/>
                <a:gd name="T32" fmla="*/ 3 w 140"/>
                <a:gd name="T33" fmla="*/ 187 h 247"/>
                <a:gd name="T34" fmla="*/ 0 w 140"/>
                <a:gd name="T35" fmla="*/ 188 h 247"/>
                <a:gd name="T36" fmla="*/ 9 w 140"/>
                <a:gd name="T37" fmla="*/ 211 h 247"/>
                <a:gd name="T38" fmla="*/ 17 w 140"/>
                <a:gd name="T39" fmla="*/ 230 h 247"/>
                <a:gd name="T40" fmla="*/ 20 w 140"/>
                <a:gd name="T41" fmla="*/ 244 h 247"/>
                <a:gd name="T42" fmla="*/ 33 w 140"/>
                <a:gd name="T43" fmla="*/ 238 h 247"/>
                <a:gd name="T44" fmla="*/ 46 w 140"/>
                <a:gd name="T45" fmla="*/ 233 h 247"/>
                <a:gd name="T46" fmla="*/ 57 w 140"/>
                <a:gd name="T47" fmla="*/ 230 h 247"/>
                <a:gd name="T48" fmla="*/ 59 w 140"/>
                <a:gd name="T49" fmla="*/ 220 h 247"/>
                <a:gd name="T50" fmla="*/ 61 w 140"/>
                <a:gd name="T51" fmla="*/ 196 h 247"/>
                <a:gd name="T52" fmla="*/ 77 w 140"/>
                <a:gd name="T53" fmla="*/ 179 h 247"/>
                <a:gd name="T54" fmla="*/ 73 w 140"/>
                <a:gd name="T55" fmla="*/ 158 h 247"/>
                <a:gd name="T56" fmla="*/ 64 w 140"/>
                <a:gd name="T57" fmla="*/ 144 h 247"/>
                <a:gd name="T58" fmla="*/ 71 w 140"/>
                <a:gd name="T59" fmla="*/ 124 h 247"/>
                <a:gd name="T60" fmla="*/ 84 w 140"/>
                <a:gd name="T61" fmla="*/ 110 h 247"/>
                <a:gd name="T62" fmla="*/ 112 w 140"/>
                <a:gd name="T63" fmla="*/ 91 h 247"/>
                <a:gd name="T64" fmla="*/ 115 w 140"/>
                <a:gd name="T65" fmla="*/ 71 h 247"/>
                <a:gd name="T66" fmla="*/ 134 w 140"/>
                <a:gd name="T67" fmla="*/ 64 h 247"/>
                <a:gd name="T68" fmla="*/ 139 w 140"/>
                <a:gd name="T69" fmla="*/ 58 h 247"/>
                <a:gd name="T70" fmla="*/ 75 w 140"/>
                <a:gd name="T71" fmla="*/ 220 h 2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40"/>
                <a:gd name="T109" fmla="*/ 0 h 247"/>
                <a:gd name="T110" fmla="*/ 140 w 140"/>
                <a:gd name="T111" fmla="*/ 247 h 2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40" h="247">
                  <a:moveTo>
                    <a:pt x="139" y="58"/>
                  </a:moveTo>
                  <a:cubicBezTo>
                    <a:pt x="137" y="57"/>
                    <a:pt x="134" y="53"/>
                    <a:pt x="137" y="53"/>
                  </a:cubicBezTo>
                  <a:cubicBezTo>
                    <a:pt x="139" y="53"/>
                    <a:pt x="140" y="44"/>
                    <a:pt x="137" y="43"/>
                  </a:cubicBezTo>
                  <a:cubicBezTo>
                    <a:pt x="134" y="41"/>
                    <a:pt x="137" y="34"/>
                    <a:pt x="135" y="33"/>
                  </a:cubicBezTo>
                  <a:cubicBezTo>
                    <a:pt x="132" y="31"/>
                    <a:pt x="134" y="26"/>
                    <a:pt x="134" y="22"/>
                  </a:cubicBezTo>
                  <a:cubicBezTo>
                    <a:pt x="135" y="18"/>
                    <a:pt x="124" y="15"/>
                    <a:pt x="118" y="12"/>
                  </a:cubicBezTo>
                  <a:cubicBezTo>
                    <a:pt x="112" y="10"/>
                    <a:pt x="109" y="5"/>
                    <a:pt x="105" y="3"/>
                  </a:cubicBezTo>
                  <a:cubicBezTo>
                    <a:pt x="100" y="0"/>
                    <a:pt x="98" y="7"/>
                    <a:pt x="98" y="11"/>
                  </a:cubicBezTo>
                  <a:cubicBezTo>
                    <a:pt x="98" y="16"/>
                    <a:pt x="94" y="16"/>
                    <a:pt x="91" y="13"/>
                  </a:cubicBezTo>
                  <a:cubicBezTo>
                    <a:pt x="87" y="11"/>
                    <a:pt x="84" y="13"/>
                    <a:pt x="79" y="11"/>
                  </a:cubicBezTo>
                  <a:cubicBezTo>
                    <a:pt x="74" y="9"/>
                    <a:pt x="76" y="16"/>
                    <a:pt x="76" y="19"/>
                  </a:cubicBezTo>
                  <a:cubicBezTo>
                    <a:pt x="76" y="23"/>
                    <a:pt x="71" y="23"/>
                    <a:pt x="68" y="23"/>
                  </a:cubicBezTo>
                  <a:cubicBezTo>
                    <a:pt x="64" y="23"/>
                    <a:pt x="59" y="25"/>
                    <a:pt x="59" y="29"/>
                  </a:cubicBezTo>
                  <a:cubicBezTo>
                    <a:pt x="59" y="33"/>
                    <a:pt x="54" y="35"/>
                    <a:pt x="56" y="37"/>
                  </a:cubicBezTo>
                  <a:cubicBezTo>
                    <a:pt x="57" y="39"/>
                    <a:pt x="55" y="41"/>
                    <a:pt x="53" y="43"/>
                  </a:cubicBezTo>
                  <a:cubicBezTo>
                    <a:pt x="51" y="44"/>
                    <a:pt x="49" y="50"/>
                    <a:pt x="47" y="51"/>
                  </a:cubicBezTo>
                  <a:cubicBezTo>
                    <a:pt x="46" y="53"/>
                    <a:pt x="48" y="56"/>
                    <a:pt x="45" y="58"/>
                  </a:cubicBezTo>
                  <a:cubicBezTo>
                    <a:pt x="42" y="60"/>
                    <a:pt x="38" y="58"/>
                    <a:pt x="37" y="60"/>
                  </a:cubicBezTo>
                  <a:cubicBezTo>
                    <a:pt x="35" y="62"/>
                    <a:pt x="37" y="65"/>
                    <a:pt x="36" y="70"/>
                  </a:cubicBezTo>
                  <a:cubicBezTo>
                    <a:pt x="36" y="75"/>
                    <a:pt x="32" y="80"/>
                    <a:pt x="29" y="85"/>
                  </a:cubicBezTo>
                  <a:cubicBezTo>
                    <a:pt x="25" y="89"/>
                    <a:pt x="30" y="90"/>
                    <a:pt x="31" y="91"/>
                  </a:cubicBezTo>
                  <a:cubicBezTo>
                    <a:pt x="33" y="91"/>
                    <a:pt x="33" y="94"/>
                    <a:pt x="31" y="97"/>
                  </a:cubicBezTo>
                  <a:cubicBezTo>
                    <a:pt x="30" y="100"/>
                    <a:pt x="26" y="98"/>
                    <a:pt x="24" y="97"/>
                  </a:cubicBezTo>
                  <a:cubicBezTo>
                    <a:pt x="22" y="97"/>
                    <a:pt x="16" y="100"/>
                    <a:pt x="12" y="105"/>
                  </a:cubicBezTo>
                  <a:cubicBezTo>
                    <a:pt x="9" y="110"/>
                    <a:pt x="10" y="114"/>
                    <a:pt x="11" y="116"/>
                  </a:cubicBezTo>
                  <a:cubicBezTo>
                    <a:pt x="12" y="119"/>
                    <a:pt x="9" y="122"/>
                    <a:pt x="11" y="127"/>
                  </a:cubicBezTo>
                  <a:cubicBezTo>
                    <a:pt x="14" y="133"/>
                    <a:pt x="10" y="134"/>
                    <a:pt x="11" y="138"/>
                  </a:cubicBezTo>
                  <a:cubicBezTo>
                    <a:pt x="11" y="142"/>
                    <a:pt x="18" y="142"/>
                    <a:pt x="18" y="146"/>
                  </a:cubicBezTo>
                  <a:cubicBezTo>
                    <a:pt x="19" y="151"/>
                    <a:pt x="16" y="152"/>
                    <a:pt x="14" y="152"/>
                  </a:cubicBezTo>
                  <a:cubicBezTo>
                    <a:pt x="12" y="152"/>
                    <a:pt x="12" y="156"/>
                    <a:pt x="15" y="157"/>
                  </a:cubicBezTo>
                  <a:cubicBezTo>
                    <a:pt x="17" y="159"/>
                    <a:pt x="16" y="166"/>
                    <a:pt x="15" y="168"/>
                  </a:cubicBezTo>
                  <a:cubicBezTo>
                    <a:pt x="14" y="170"/>
                    <a:pt x="7" y="168"/>
                    <a:pt x="8" y="171"/>
                  </a:cubicBezTo>
                  <a:cubicBezTo>
                    <a:pt x="8" y="174"/>
                    <a:pt x="6" y="178"/>
                    <a:pt x="6" y="180"/>
                  </a:cubicBezTo>
                  <a:cubicBezTo>
                    <a:pt x="6" y="182"/>
                    <a:pt x="6" y="189"/>
                    <a:pt x="3" y="187"/>
                  </a:cubicBezTo>
                  <a:cubicBezTo>
                    <a:pt x="3" y="187"/>
                    <a:pt x="1" y="187"/>
                    <a:pt x="0" y="187"/>
                  </a:cubicBezTo>
                  <a:cubicBezTo>
                    <a:pt x="0" y="187"/>
                    <a:pt x="0" y="188"/>
                    <a:pt x="0" y="188"/>
                  </a:cubicBezTo>
                  <a:cubicBezTo>
                    <a:pt x="0" y="192"/>
                    <a:pt x="1" y="196"/>
                    <a:pt x="5" y="199"/>
                  </a:cubicBezTo>
                  <a:cubicBezTo>
                    <a:pt x="9" y="202"/>
                    <a:pt x="6" y="207"/>
                    <a:pt x="9" y="211"/>
                  </a:cubicBezTo>
                  <a:cubicBezTo>
                    <a:pt x="12" y="215"/>
                    <a:pt x="11" y="218"/>
                    <a:pt x="15" y="221"/>
                  </a:cubicBezTo>
                  <a:cubicBezTo>
                    <a:pt x="18" y="224"/>
                    <a:pt x="18" y="226"/>
                    <a:pt x="17" y="230"/>
                  </a:cubicBezTo>
                  <a:cubicBezTo>
                    <a:pt x="15" y="234"/>
                    <a:pt x="20" y="233"/>
                    <a:pt x="20" y="235"/>
                  </a:cubicBezTo>
                  <a:cubicBezTo>
                    <a:pt x="20" y="237"/>
                    <a:pt x="19" y="242"/>
                    <a:pt x="20" y="244"/>
                  </a:cubicBezTo>
                  <a:cubicBezTo>
                    <a:pt x="21" y="247"/>
                    <a:pt x="24" y="244"/>
                    <a:pt x="29" y="244"/>
                  </a:cubicBezTo>
                  <a:cubicBezTo>
                    <a:pt x="34" y="244"/>
                    <a:pt x="33" y="241"/>
                    <a:pt x="33" y="238"/>
                  </a:cubicBezTo>
                  <a:cubicBezTo>
                    <a:pt x="33" y="234"/>
                    <a:pt x="36" y="236"/>
                    <a:pt x="37" y="234"/>
                  </a:cubicBezTo>
                  <a:cubicBezTo>
                    <a:pt x="37" y="232"/>
                    <a:pt x="42" y="231"/>
                    <a:pt x="46" y="233"/>
                  </a:cubicBezTo>
                  <a:cubicBezTo>
                    <a:pt x="50" y="235"/>
                    <a:pt x="52" y="232"/>
                    <a:pt x="53" y="228"/>
                  </a:cubicBezTo>
                  <a:cubicBezTo>
                    <a:pt x="53" y="224"/>
                    <a:pt x="55" y="229"/>
                    <a:pt x="57" y="230"/>
                  </a:cubicBezTo>
                  <a:cubicBezTo>
                    <a:pt x="58" y="230"/>
                    <a:pt x="61" y="223"/>
                    <a:pt x="63" y="219"/>
                  </a:cubicBezTo>
                  <a:cubicBezTo>
                    <a:pt x="65" y="214"/>
                    <a:pt x="63" y="215"/>
                    <a:pt x="59" y="220"/>
                  </a:cubicBezTo>
                  <a:cubicBezTo>
                    <a:pt x="55" y="224"/>
                    <a:pt x="57" y="215"/>
                    <a:pt x="59" y="212"/>
                  </a:cubicBezTo>
                  <a:cubicBezTo>
                    <a:pt x="60" y="208"/>
                    <a:pt x="60" y="198"/>
                    <a:pt x="61" y="196"/>
                  </a:cubicBezTo>
                  <a:cubicBezTo>
                    <a:pt x="61" y="193"/>
                    <a:pt x="62" y="190"/>
                    <a:pt x="67" y="189"/>
                  </a:cubicBezTo>
                  <a:cubicBezTo>
                    <a:pt x="72" y="188"/>
                    <a:pt x="78" y="182"/>
                    <a:pt x="77" y="179"/>
                  </a:cubicBezTo>
                  <a:cubicBezTo>
                    <a:pt x="76" y="177"/>
                    <a:pt x="84" y="173"/>
                    <a:pt x="84" y="170"/>
                  </a:cubicBezTo>
                  <a:cubicBezTo>
                    <a:pt x="84" y="168"/>
                    <a:pt x="76" y="160"/>
                    <a:pt x="73" y="158"/>
                  </a:cubicBezTo>
                  <a:cubicBezTo>
                    <a:pt x="70" y="157"/>
                    <a:pt x="65" y="158"/>
                    <a:pt x="65" y="156"/>
                  </a:cubicBezTo>
                  <a:cubicBezTo>
                    <a:pt x="66" y="154"/>
                    <a:pt x="64" y="147"/>
                    <a:pt x="64" y="144"/>
                  </a:cubicBezTo>
                  <a:cubicBezTo>
                    <a:pt x="63" y="140"/>
                    <a:pt x="68" y="136"/>
                    <a:pt x="68" y="133"/>
                  </a:cubicBezTo>
                  <a:cubicBezTo>
                    <a:pt x="68" y="129"/>
                    <a:pt x="68" y="125"/>
                    <a:pt x="71" y="124"/>
                  </a:cubicBezTo>
                  <a:cubicBezTo>
                    <a:pt x="74" y="123"/>
                    <a:pt x="72" y="120"/>
                    <a:pt x="76" y="119"/>
                  </a:cubicBezTo>
                  <a:cubicBezTo>
                    <a:pt x="80" y="118"/>
                    <a:pt x="80" y="112"/>
                    <a:pt x="84" y="110"/>
                  </a:cubicBezTo>
                  <a:cubicBezTo>
                    <a:pt x="89" y="108"/>
                    <a:pt x="89" y="107"/>
                    <a:pt x="95" y="104"/>
                  </a:cubicBezTo>
                  <a:cubicBezTo>
                    <a:pt x="101" y="101"/>
                    <a:pt x="110" y="94"/>
                    <a:pt x="112" y="91"/>
                  </a:cubicBezTo>
                  <a:cubicBezTo>
                    <a:pt x="114" y="87"/>
                    <a:pt x="106" y="84"/>
                    <a:pt x="111" y="80"/>
                  </a:cubicBezTo>
                  <a:cubicBezTo>
                    <a:pt x="116" y="76"/>
                    <a:pt x="112" y="72"/>
                    <a:pt x="115" y="71"/>
                  </a:cubicBezTo>
                  <a:cubicBezTo>
                    <a:pt x="119" y="69"/>
                    <a:pt x="120" y="68"/>
                    <a:pt x="123" y="65"/>
                  </a:cubicBezTo>
                  <a:cubicBezTo>
                    <a:pt x="125" y="62"/>
                    <a:pt x="128" y="65"/>
                    <a:pt x="134" y="64"/>
                  </a:cubicBezTo>
                  <a:cubicBezTo>
                    <a:pt x="137" y="63"/>
                    <a:pt x="139" y="63"/>
                    <a:pt x="140" y="64"/>
                  </a:cubicBezTo>
                  <a:cubicBezTo>
                    <a:pt x="140" y="61"/>
                    <a:pt x="140" y="59"/>
                    <a:pt x="139" y="58"/>
                  </a:cubicBezTo>
                  <a:close/>
                  <a:moveTo>
                    <a:pt x="83" y="205"/>
                  </a:moveTo>
                  <a:cubicBezTo>
                    <a:pt x="76" y="205"/>
                    <a:pt x="73" y="218"/>
                    <a:pt x="75" y="220"/>
                  </a:cubicBezTo>
                  <a:cubicBezTo>
                    <a:pt x="76" y="221"/>
                    <a:pt x="89" y="205"/>
                    <a:pt x="83" y="20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29" name="Freeform 135"/>
            <p:cNvSpPr>
              <a:spLocks noEditPoints="1" noChangeArrowheads="1"/>
            </p:cNvSpPr>
            <p:nvPr/>
          </p:nvSpPr>
          <p:spPr bwMode="auto">
            <a:xfrm>
              <a:off x="4111639" y="989012"/>
              <a:ext cx="136526" cy="66675"/>
            </a:xfrm>
            <a:custGeom>
              <a:avLst/>
              <a:gdLst>
                <a:gd name="T0" fmla="*/ 66 w 71"/>
                <a:gd name="T1" fmla="*/ 10 h 35"/>
                <a:gd name="T2" fmla="*/ 69 w 71"/>
                <a:gd name="T3" fmla="*/ 2 h 35"/>
                <a:gd name="T4" fmla="*/ 66 w 71"/>
                <a:gd name="T5" fmla="*/ 4 h 35"/>
                <a:gd name="T6" fmla="*/ 45 w 71"/>
                <a:gd name="T7" fmla="*/ 1 h 35"/>
                <a:gd name="T8" fmla="*/ 24 w 71"/>
                <a:gd name="T9" fmla="*/ 6 h 35"/>
                <a:gd name="T10" fmla="*/ 17 w 71"/>
                <a:gd name="T11" fmla="*/ 12 h 35"/>
                <a:gd name="T12" fmla="*/ 19 w 71"/>
                <a:gd name="T13" fmla="*/ 19 h 35"/>
                <a:gd name="T14" fmla="*/ 26 w 71"/>
                <a:gd name="T15" fmla="*/ 23 h 35"/>
                <a:gd name="T16" fmla="*/ 28 w 71"/>
                <a:gd name="T17" fmla="*/ 28 h 35"/>
                <a:gd name="T18" fmla="*/ 28 w 71"/>
                <a:gd name="T19" fmla="*/ 28 h 35"/>
                <a:gd name="T20" fmla="*/ 40 w 71"/>
                <a:gd name="T21" fmla="*/ 28 h 35"/>
                <a:gd name="T22" fmla="*/ 52 w 71"/>
                <a:gd name="T23" fmla="*/ 34 h 35"/>
                <a:gd name="T24" fmla="*/ 62 w 71"/>
                <a:gd name="T25" fmla="*/ 35 h 35"/>
                <a:gd name="T26" fmla="*/ 63 w 71"/>
                <a:gd name="T27" fmla="*/ 32 h 35"/>
                <a:gd name="T28" fmla="*/ 66 w 71"/>
                <a:gd name="T29" fmla="*/ 28 h 35"/>
                <a:gd name="T30" fmla="*/ 63 w 71"/>
                <a:gd name="T31" fmla="*/ 22 h 35"/>
                <a:gd name="T32" fmla="*/ 63 w 71"/>
                <a:gd name="T33" fmla="*/ 16 h 35"/>
                <a:gd name="T34" fmla="*/ 66 w 71"/>
                <a:gd name="T35" fmla="*/ 10 h 35"/>
                <a:gd name="T36" fmla="*/ 7 w 71"/>
                <a:gd name="T37" fmla="*/ 18 h 35"/>
                <a:gd name="T38" fmla="*/ 3 w 71"/>
                <a:gd name="T39" fmla="*/ 28 h 35"/>
                <a:gd name="T40" fmla="*/ 15 w 71"/>
                <a:gd name="T41" fmla="*/ 20 h 35"/>
                <a:gd name="T42" fmla="*/ 7 w 71"/>
                <a:gd name="T43" fmla="*/ 18 h 35"/>
                <a:gd name="T44" fmla="*/ 12 w 71"/>
                <a:gd name="T45" fmla="*/ 13 h 35"/>
                <a:gd name="T46" fmla="*/ 5 w 71"/>
                <a:gd name="T47" fmla="*/ 14 h 35"/>
                <a:gd name="T48" fmla="*/ 12 w 71"/>
                <a:gd name="T49" fmla="*/ 13 h 3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1"/>
                <a:gd name="T76" fmla="*/ 0 h 35"/>
                <a:gd name="T77" fmla="*/ 71 w 71"/>
                <a:gd name="T78" fmla="*/ 35 h 3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1" h="35">
                  <a:moveTo>
                    <a:pt x="66" y="10"/>
                  </a:moveTo>
                  <a:cubicBezTo>
                    <a:pt x="68" y="7"/>
                    <a:pt x="71" y="6"/>
                    <a:pt x="69" y="2"/>
                  </a:cubicBezTo>
                  <a:cubicBezTo>
                    <a:pt x="68" y="3"/>
                    <a:pt x="67" y="3"/>
                    <a:pt x="66" y="4"/>
                  </a:cubicBezTo>
                  <a:cubicBezTo>
                    <a:pt x="61" y="5"/>
                    <a:pt x="51" y="0"/>
                    <a:pt x="45" y="1"/>
                  </a:cubicBezTo>
                  <a:cubicBezTo>
                    <a:pt x="39" y="3"/>
                    <a:pt x="27" y="3"/>
                    <a:pt x="24" y="6"/>
                  </a:cubicBezTo>
                  <a:cubicBezTo>
                    <a:pt x="21" y="9"/>
                    <a:pt x="14" y="9"/>
                    <a:pt x="17" y="12"/>
                  </a:cubicBezTo>
                  <a:cubicBezTo>
                    <a:pt x="20" y="15"/>
                    <a:pt x="17" y="16"/>
                    <a:pt x="19" y="19"/>
                  </a:cubicBezTo>
                  <a:cubicBezTo>
                    <a:pt x="22" y="22"/>
                    <a:pt x="23" y="24"/>
                    <a:pt x="26" y="23"/>
                  </a:cubicBezTo>
                  <a:cubicBezTo>
                    <a:pt x="29" y="22"/>
                    <a:pt x="32" y="24"/>
                    <a:pt x="28" y="28"/>
                  </a:cubicBezTo>
                  <a:cubicBezTo>
                    <a:pt x="28" y="28"/>
                    <a:pt x="28" y="28"/>
                    <a:pt x="28" y="28"/>
                  </a:cubicBezTo>
                  <a:cubicBezTo>
                    <a:pt x="34" y="27"/>
                    <a:pt x="39" y="27"/>
                    <a:pt x="40" y="28"/>
                  </a:cubicBezTo>
                  <a:cubicBezTo>
                    <a:pt x="42" y="29"/>
                    <a:pt x="50" y="35"/>
                    <a:pt x="52" y="34"/>
                  </a:cubicBezTo>
                  <a:cubicBezTo>
                    <a:pt x="53" y="34"/>
                    <a:pt x="58" y="34"/>
                    <a:pt x="62" y="35"/>
                  </a:cubicBezTo>
                  <a:cubicBezTo>
                    <a:pt x="62" y="34"/>
                    <a:pt x="62" y="32"/>
                    <a:pt x="63" y="32"/>
                  </a:cubicBezTo>
                  <a:cubicBezTo>
                    <a:pt x="64" y="31"/>
                    <a:pt x="68" y="31"/>
                    <a:pt x="66" y="28"/>
                  </a:cubicBezTo>
                  <a:cubicBezTo>
                    <a:pt x="64" y="26"/>
                    <a:pt x="64" y="25"/>
                    <a:pt x="63" y="22"/>
                  </a:cubicBezTo>
                  <a:cubicBezTo>
                    <a:pt x="63" y="19"/>
                    <a:pt x="62" y="18"/>
                    <a:pt x="63" y="16"/>
                  </a:cubicBezTo>
                  <a:cubicBezTo>
                    <a:pt x="63" y="14"/>
                    <a:pt x="65" y="13"/>
                    <a:pt x="66" y="10"/>
                  </a:cubicBezTo>
                  <a:close/>
                  <a:moveTo>
                    <a:pt x="7" y="18"/>
                  </a:moveTo>
                  <a:cubicBezTo>
                    <a:pt x="1" y="20"/>
                    <a:pt x="0" y="28"/>
                    <a:pt x="3" y="28"/>
                  </a:cubicBezTo>
                  <a:cubicBezTo>
                    <a:pt x="6" y="28"/>
                    <a:pt x="13" y="22"/>
                    <a:pt x="15" y="20"/>
                  </a:cubicBezTo>
                  <a:cubicBezTo>
                    <a:pt x="16" y="18"/>
                    <a:pt x="13" y="16"/>
                    <a:pt x="7" y="18"/>
                  </a:cubicBezTo>
                  <a:close/>
                  <a:moveTo>
                    <a:pt x="12" y="13"/>
                  </a:moveTo>
                  <a:cubicBezTo>
                    <a:pt x="14" y="11"/>
                    <a:pt x="3" y="12"/>
                    <a:pt x="5" y="14"/>
                  </a:cubicBezTo>
                  <a:cubicBezTo>
                    <a:pt x="7" y="16"/>
                    <a:pt x="11" y="16"/>
                    <a:pt x="12" y="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0" name="Freeform 136"/>
            <p:cNvSpPr>
              <a:spLocks noChangeArrowheads="1"/>
            </p:cNvSpPr>
            <p:nvPr/>
          </p:nvSpPr>
          <p:spPr bwMode="auto">
            <a:xfrm>
              <a:off x="4362464" y="2362203"/>
              <a:ext cx="173039" cy="211138"/>
            </a:xfrm>
            <a:custGeom>
              <a:avLst/>
              <a:gdLst>
                <a:gd name="T0" fmla="*/ 80 w 91"/>
                <a:gd name="T1" fmla="*/ 25 h 110"/>
                <a:gd name="T2" fmla="*/ 85 w 91"/>
                <a:gd name="T3" fmla="*/ 17 h 110"/>
                <a:gd name="T4" fmla="*/ 91 w 91"/>
                <a:gd name="T5" fmla="*/ 9 h 110"/>
                <a:gd name="T6" fmla="*/ 85 w 91"/>
                <a:gd name="T7" fmla="*/ 11 h 110"/>
                <a:gd name="T8" fmla="*/ 80 w 91"/>
                <a:gd name="T9" fmla="*/ 8 h 110"/>
                <a:gd name="T10" fmla="*/ 70 w 91"/>
                <a:gd name="T11" fmla="*/ 10 h 110"/>
                <a:gd name="T12" fmla="*/ 62 w 91"/>
                <a:gd name="T13" fmla="*/ 16 h 110"/>
                <a:gd name="T14" fmla="*/ 49 w 91"/>
                <a:gd name="T15" fmla="*/ 14 h 110"/>
                <a:gd name="T16" fmla="*/ 36 w 91"/>
                <a:gd name="T17" fmla="*/ 7 h 110"/>
                <a:gd name="T18" fmla="*/ 25 w 91"/>
                <a:gd name="T19" fmla="*/ 4 h 110"/>
                <a:gd name="T20" fmla="*/ 18 w 91"/>
                <a:gd name="T21" fmla="*/ 1 h 110"/>
                <a:gd name="T22" fmla="*/ 12 w 91"/>
                <a:gd name="T23" fmla="*/ 0 h 110"/>
                <a:gd name="T24" fmla="*/ 3 w 91"/>
                <a:gd name="T25" fmla="*/ 6 h 110"/>
                <a:gd name="T26" fmla="*/ 1 w 91"/>
                <a:gd name="T27" fmla="*/ 8 h 110"/>
                <a:gd name="T28" fmla="*/ 6 w 91"/>
                <a:gd name="T29" fmla="*/ 13 h 110"/>
                <a:gd name="T30" fmla="*/ 7 w 91"/>
                <a:gd name="T31" fmla="*/ 21 h 110"/>
                <a:gd name="T32" fmla="*/ 12 w 91"/>
                <a:gd name="T33" fmla="*/ 25 h 110"/>
                <a:gd name="T34" fmla="*/ 11 w 91"/>
                <a:gd name="T35" fmla="*/ 34 h 110"/>
                <a:gd name="T36" fmla="*/ 4 w 91"/>
                <a:gd name="T37" fmla="*/ 47 h 110"/>
                <a:gd name="T38" fmla="*/ 1 w 91"/>
                <a:gd name="T39" fmla="*/ 54 h 110"/>
                <a:gd name="T40" fmla="*/ 8 w 91"/>
                <a:gd name="T41" fmla="*/ 59 h 110"/>
                <a:gd name="T42" fmla="*/ 0 w 91"/>
                <a:gd name="T43" fmla="*/ 66 h 110"/>
                <a:gd name="T44" fmla="*/ 0 w 91"/>
                <a:gd name="T45" fmla="*/ 67 h 110"/>
                <a:gd name="T46" fmla="*/ 43 w 91"/>
                <a:gd name="T47" fmla="*/ 90 h 110"/>
                <a:gd name="T48" fmla="*/ 42 w 91"/>
                <a:gd name="T49" fmla="*/ 96 h 110"/>
                <a:gd name="T50" fmla="*/ 61 w 91"/>
                <a:gd name="T51" fmla="*/ 110 h 110"/>
                <a:gd name="T52" fmla="*/ 72 w 91"/>
                <a:gd name="T53" fmla="*/ 85 h 110"/>
                <a:gd name="T54" fmla="*/ 79 w 91"/>
                <a:gd name="T55" fmla="*/ 80 h 110"/>
                <a:gd name="T56" fmla="*/ 85 w 91"/>
                <a:gd name="T57" fmla="*/ 76 h 110"/>
                <a:gd name="T58" fmla="*/ 86 w 91"/>
                <a:gd name="T59" fmla="*/ 74 h 110"/>
                <a:gd name="T60" fmla="*/ 81 w 91"/>
                <a:gd name="T61" fmla="*/ 65 h 110"/>
                <a:gd name="T62" fmla="*/ 80 w 91"/>
                <a:gd name="T63" fmla="*/ 25 h 11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1"/>
                <a:gd name="T97" fmla="*/ 0 h 110"/>
                <a:gd name="T98" fmla="*/ 91 w 91"/>
                <a:gd name="T99" fmla="*/ 110 h 11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1" h="110">
                  <a:moveTo>
                    <a:pt x="80" y="25"/>
                  </a:moveTo>
                  <a:cubicBezTo>
                    <a:pt x="85" y="17"/>
                    <a:pt x="85" y="17"/>
                    <a:pt x="85" y="17"/>
                  </a:cubicBezTo>
                  <a:cubicBezTo>
                    <a:pt x="91" y="9"/>
                    <a:pt x="91" y="9"/>
                    <a:pt x="91" y="9"/>
                  </a:cubicBezTo>
                  <a:cubicBezTo>
                    <a:pt x="88" y="10"/>
                    <a:pt x="86" y="10"/>
                    <a:pt x="85" y="11"/>
                  </a:cubicBezTo>
                  <a:cubicBezTo>
                    <a:pt x="83" y="12"/>
                    <a:pt x="80" y="10"/>
                    <a:pt x="80" y="8"/>
                  </a:cubicBezTo>
                  <a:cubicBezTo>
                    <a:pt x="79" y="7"/>
                    <a:pt x="74" y="8"/>
                    <a:pt x="70" y="10"/>
                  </a:cubicBezTo>
                  <a:cubicBezTo>
                    <a:pt x="66" y="13"/>
                    <a:pt x="64" y="17"/>
                    <a:pt x="62" y="16"/>
                  </a:cubicBezTo>
                  <a:cubicBezTo>
                    <a:pt x="61" y="15"/>
                    <a:pt x="52" y="14"/>
                    <a:pt x="49" y="14"/>
                  </a:cubicBezTo>
                  <a:cubicBezTo>
                    <a:pt x="47" y="14"/>
                    <a:pt x="39" y="9"/>
                    <a:pt x="36" y="7"/>
                  </a:cubicBezTo>
                  <a:cubicBezTo>
                    <a:pt x="34" y="4"/>
                    <a:pt x="27" y="5"/>
                    <a:pt x="25" y="4"/>
                  </a:cubicBezTo>
                  <a:cubicBezTo>
                    <a:pt x="23" y="3"/>
                    <a:pt x="20" y="3"/>
                    <a:pt x="18" y="1"/>
                  </a:cubicBezTo>
                  <a:cubicBezTo>
                    <a:pt x="17" y="0"/>
                    <a:pt x="14" y="0"/>
                    <a:pt x="12" y="0"/>
                  </a:cubicBezTo>
                  <a:cubicBezTo>
                    <a:pt x="9" y="1"/>
                    <a:pt x="3" y="4"/>
                    <a:pt x="3" y="6"/>
                  </a:cubicBezTo>
                  <a:cubicBezTo>
                    <a:pt x="2" y="7"/>
                    <a:pt x="2" y="8"/>
                    <a:pt x="1" y="8"/>
                  </a:cubicBezTo>
                  <a:cubicBezTo>
                    <a:pt x="6" y="13"/>
                    <a:pt x="6" y="13"/>
                    <a:pt x="6" y="13"/>
                  </a:cubicBezTo>
                  <a:cubicBezTo>
                    <a:pt x="7" y="21"/>
                    <a:pt x="7" y="21"/>
                    <a:pt x="7" y="21"/>
                  </a:cubicBezTo>
                  <a:cubicBezTo>
                    <a:pt x="12" y="25"/>
                    <a:pt x="12" y="25"/>
                    <a:pt x="12" y="25"/>
                  </a:cubicBezTo>
                  <a:cubicBezTo>
                    <a:pt x="12" y="25"/>
                    <a:pt x="12" y="30"/>
                    <a:pt x="11" y="34"/>
                  </a:cubicBezTo>
                  <a:cubicBezTo>
                    <a:pt x="11" y="39"/>
                    <a:pt x="7" y="45"/>
                    <a:pt x="4" y="47"/>
                  </a:cubicBezTo>
                  <a:cubicBezTo>
                    <a:pt x="3" y="48"/>
                    <a:pt x="2" y="51"/>
                    <a:pt x="1" y="54"/>
                  </a:cubicBezTo>
                  <a:cubicBezTo>
                    <a:pt x="5" y="56"/>
                    <a:pt x="8" y="57"/>
                    <a:pt x="8" y="59"/>
                  </a:cubicBezTo>
                  <a:cubicBezTo>
                    <a:pt x="8" y="61"/>
                    <a:pt x="0" y="60"/>
                    <a:pt x="0" y="66"/>
                  </a:cubicBezTo>
                  <a:cubicBezTo>
                    <a:pt x="0" y="66"/>
                    <a:pt x="0" y="67"/>
                    <a:pt x="0" y="67"/>
                  </a:cubicBezTo>
                  <a:cubicBezTo>
                    <a:pt x="43" y="90"/>
                    <a:pt x="43" y="90"/>
                    <a:pt x="43" y="90"/>
                  </a:cubicBezTo>
                  <a:cubicBezTo>
                    <a:pt x="42" y="96"/>
                    <a:pt x="42" y="96"/>
                    <a:pt x="42" y="96"/>
                  </a:cubicBezTo>
                  <a:cubicBezTo>
                    <a:pt x="42" y="96"/>
                    <a:pt x="52" y="103"/>
                    <a:pt x="61" y="110"/>
                  </a:cubicBezTo>
                  <a:cubicBezTo>
                    <a:pt x="65" y="99"/>
                    <a:pt x="71" y="88"/>
                    <a:pt x="72" y="85"/>
                  </a:cubicBezTo>
                  <a:cubicBezTo>
                    <a:pt x="75" y="82"/>
                    <a:pt x="77" y="82"/>
                    <a:pt x="79" y="80"/>
                  </a:cubicBezTo>
                  <a:cubicBezTo>
                    <a:pt x="81" y="77"/>
                    <a:pt x="82" y="81"/>
                    <a:pt x="85" y="76"/>
                  </a:cubicBezTo>
                  <a:cubicBezTo>
                    <a:pt x="86" y="75"/>
                    <a:pt x="86" y="75"/>
                    <a:pt x="86" y="74"/>
                  </a:cubicBezTo>
                  <a:cubicBezTo>
                    <a:pt x="81" y="65"/>
                    <a:pt x="81" y="65"/>
                    <a:pt x="81" y="65"/>
                  </a:cubicBezTo>
                  <a:lnTo>
                    <a:pt x="80" y="25"/>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1" name="Freeform 137"/>
            <p:cNvSpPr>
              <a:spLocks noChangeArrowheads="1"/>
            </p:cNvSpPr>
            <p:nvPr/>
          </p:nvSpPr>
          <p:spPr bwMode="auto">
            <a:xfrm>
              <a:off x="4267214" y="2378078"/>
              <a:ext cx="117475" cy="122238"/>
            </a:xfrm>
            <a:custGeom>
              <a:avLst/>
              <a:gdLst>
                <a:gd name="T0" fmla="*/ 57 w 62"/>
                <a:gd name="T1" fmla="*/ 13 h 64"/>
                <a:gd name="T2" fmla="*/ 56 w 62"/>
                <a:gd name="T3" fmla="*/ 5 h 64"/>
                <a:gd name="T4" fmla="*/ 51 w 62"/>
                <a:gd name="T5" fmla="*/ 0 h 64"/>
                <a:gd name="T6" fmla="*/ 47 w 62"/>
                <a:gd name="T7" fmla="*/ 4 h 64"/>
                <a:gd name="T8" fmla="*/ 40 w 62"/>
                <a:gd name="T9" fmla="*/ 4 h 64"/>
                <a:gd name="T10" fmla="*/ 32 w 62"/>
                <a:gd name="T11" fmla="*/ 7 h 64"/>
                <a:gd name="T12" fmla="*/ 25 w 62"/>
                <a:gd name="T13" fmla="*/ 5 h 64"/>
                <a:gd name="T14" fmla="*/ 17 w 62"/>
                <a:gd name="T15" fmla="*/ 7 h 64"/>
                <a:gd name="T16" fmla="*/ 16 w 62"/>
                <a:gd name="T17" fmla="*/ 17 h 64"/>
                <a:gd name="T18" fmla="*/ 19 w 62"/>
                <a:gd name="T19" fmla="*/ 22 h 64"/>
                <a:gd name="T20" fmla="*/ 16 w 62"/>
                <a:gd name="T21" fmla="*/ 28 h 64"/>
                <a:gd name="T22" fmla="*/ 11 w 62"/>
                <a:gd name="T23" fmla="*/ 31 h 64"/>
                <a:gd name="T24" fmla="*/ 7 w 62"/>
                <a:gd name="T25" fmla="*/ 38 h 64"/>
                <a:gd name="T26" fmla="*/ 4 w 62"/>
                <a:gd name="T27" fmla="*/ 46 h 64"/>
                <a:gd name="T28" fmla="*/ 2 w 62"/>
                <a:gd name="T29" fmla="*/ 55 h 64"/>
                <a:gd name="T30" fmla="*/ 0 w 62"/>
                <a:gd name="T31" fmla="*/ 63 h 64"/>
                <a:gd name="T32" fmla="*/ 6 w 62"/>
                <a:gd name="T33" fmla="*/ 62 h 64"/>
                <a:gd name="T34" fmla="*/ 18 w 62"/>
                <a:gd name="T35" fmla="*/ 59 h 64"/>
                <a:gd name="T36" fmla="*/ 27 w 62"/>
                <a:gd name="T37" fmla="*/ 58 h 64"/>
                <a:gd name="T38" fmla="*/ 36 w 62"/>
                <a:gd name="T39" fmla="*/ 46 h 64"/>
                <a:gd name="T40" fmla="*/ 51 w 62"/>
                <a:gd name="T41" fmla="*/ 46 h 64"/>
                <a:gd name="T42" fmla="*/ 54 w 62"/>
                <a:gd name="T43" fmla="*/ 39 h 64"/>
                <a:gd name="T44" fmla="*/ 61 w 62"/>
                <a:gd name="T45" fmla="*/ 26 h 64"/>
                <a:gd name="T46" fmla="*/ 62 w 62"/>
                <a:gd name="T47" fmla="*/ 17 h 64"/>
                <a:gd name="T48" fmla="*/ 57 w 62"/>
                <a:gd name="T49" fmla="*/ 13 h 6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62"/>
                <a:gd name="T76" fmla="*/ 0 h 64"/>
                <a:gd name="T77" fmla="*/ 62 w 62"/>
                <a:gd name="T78" fmla="*/ 64 h 6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62" h="64">
                  <a:moveTo>
                    <a:pt x="57" y="13"/>
                  </a:moveTo>
                  <a:cubicBezTo>
                    <a:pt x="56" y="5"/>
                    <a:pt x="56" y="5"/>
                    <a:pt x="56" y="5"/>
                  </a:cubicBezTo>
                  <a:cubicBezTo>
                    <a:pt x="51" y="0"/>
                    <a:pt x="51" y="0"/>
                    <a:pt x="51" y="0"/>
                  </a:cubicBezTo>
                  <a:cubicBezTo>
                    <a:pt x="50" y="1"/>
                    <a:pt x="48" y="3"/>
                    <a:pt x="47" y="4"/>
                  </a:cubicBezTo>
                  <a:cubicBezTo>
                    <a:pt x="47" y="6"/>
                    <a:pt x="42" y="5"/>
                    <a:pt x="40" y="4"/>
                  </a:cubicBezTo>
                  <a:cubicBezTo>
                    <a:pt x="38" y="3"/>
                    <a:pt x="33" y="6"/>
                    <a:pt x="32" y="7"/>
                  </a:cubicBezTo>
                  <a:cubicBezTo>
                    <a:pt x="31" y="9"/>
                    <a:pt x="28" y="4"/>
                    <a:pt x="25" y="5"/>
                  </a:cubicBezTo>
                  <a:cubicBezTo>
                    <a:pt x="23" y="5"/>
                    <a:pt x="17" y="7"/>
                    <a:pt x="17" y="7"/>
                  </a:cubicBezTo>
                  <a:cubicBezTo>
                    <a:pt x="17" y="7"/>
                    <a:pt x="16" y="14"/>
                    <a:pt x="16" y="17"/>
                  </a:cubicBezTo>
                  <a:cubicBezTo>
                    <a:pt x="16" y="20"/>
                    <a:pt x="19" y="20"/>
                    <a:pt x="19" y="22"/>
                  </a:cubicBezTo>
                  <a:cubicBezTo>
                    <a:pt x="19" y="25"/>
                    <a:pt x="16" y="27"/>
                    <a:pt x="16" y="28"/>
                  </a:cubicBezTo>
                  <a:cubicBezTo>
                    <a:pt x="16" y="30"/>
                    <a:pt x="14" y="31"/>
                    <a:pt x="11" y="31"/>
                  </a:cubicBezTo>
                  <a:cubicBezTo>
                    <a:pt x="9" y="32"/>
                    <a:pt x="9" y="36"/>
                    <a:pt x="7" y="38"/>
                  </a:cubicBezTo>
                  <a:cubicBezTo>
                    <a:pt x="5" y="39"/>
                    <a:pt x="6" y="43"/>
                    <a:pt x="4" y="46"/>
                  </a:cubicBezTo>
                  <a:cubicBezTo>
                    <a:pt x="3" y="48"/>
                    <a:pt x="2" y="52"/>
                    <a:pt x="2" y="55"/>
                  </a:cubicBezTo>
                  <a:cubicBezTo>
                    <a:pt x="2" y="58"/>
                    <a:pt x="2" y="62"/>
                    <a:pt x="0" y="63"/>
                  </a:cubicBezTo>
                  <a:cubicBezTo>
                    <a:pt x="4" y="64"/>
                    <a:pt x="5" y="63"/>
                    <a:pt x="6" y="62"/>
                  </a:cubicBezTo>
                  <a:cubicBezTo>
                    <a:pt x="8" y="61"/>
                    <a:pt x="18" y="59"/>
                    <a:pt x="18" y="59"/>
                  </a:cubicBezTo>
                  <a:cubicBezTo>
                    <a:pt x="27" y="58"/>
                    <a:pt x="27" y="58"/>
                    <a:pt x="27" y="58"/>
                  </a:cubicBezTo>
                  <a:cubicBezTo>
                    <a:pt x="29" y="52"/>
                    <a:pt x="32" y="47"/>
                    <a:pt x="36" y="46"/>
                  </a:cubicBezTo>
                  <a:cubicBezTo>
                    <a:pt x="40" y="45"/>
                    <a:pt x="46" y="45"/>
                    <a:pt x="51" y="46"/>
                  </a:cubicBezTo>
                  <a:cubicBezTo>
                    <a:pt x="52" y="43"/>
                    <a:pt x="53" y="40"/>
                    <a:pt x="54" y="39"/>
                  </a:cubicBezTo>
                  <a:cubicBezTo>
                    <a:pt x="57" y="37"/>
                    <a:pt x="61" y="31"/>
                    <a:pt x="61" y="26"/>
                  </a:cubicBezTo>
                  <a:cubicBezTo>
                    <a:pt x="62" y="22"/>
                    <a:pt x="62" y="17"/>
                    <a:pt x="62" y="17"/>
                  </a:cubicBezTo>
                  <a:lnTo>
                    <a:pt x="57" y="13"/>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2" name="Freeform 138"/>
            <p:cNvSpPr>
              <a:spLocks noChangeArrowheads="1"/>
            </p:cNvSpPr>
            <p:nvPr/>
          </p:nvSpPr>
          <p:spPr bwMode="auto">
            <a:xfrm>
              <a:off x="4848241" y="1408113"/>
              <a:ext cx="382589" cy="220663"/>
            </a:xfrm>
            <a:custGeom>
              <a:avLst/>
              <a:gdLst>
                <a:gd name="T0" fmla="*/ 194 w 200"/>
                <a:gd name="T1" fmla="*/ 65 h 116"/>
                <a:gd name="T2" fmla="*/ 179 w 200"/>
                <a:gd name="T3" fmla="*/ 58 h 116"/>
                <a:gd name="T4" fmla="*/ 170 w 200"/>
                <a:gd name="T5" fmla="*/ 59 h 116"/>
                <a:gd name="T6" fmla="*/ 159 w 200"/>
                <a:gd name="T7" fmla="*/ 55 h 116"/>
                <a:gd name="T8" fmla="*/ 148 w 200"/>
                <a:gd name="T9" fmla="*/ 64 h 116"/>
                <a:gd name="T10" fmla="*/ 142 w 200"/>
                <a:gd name="T11" fmla="*/ 66 h 116"/>
                <a:gd name="T12" fmla="*/ 133 w 200"/>
                <a:gd name="T13" fmla="*/ 60 h 116"/>
                <a:gd name="T14" fmla="*/ 123 w 200"/>
                <a:gd name="T15" fmla="*/ 58 h 116"/>
                <a:gd name="T16" fmla="*/ 117 w 200"/>
                <a:gd name="T17" fmla="*/ 46 h 116"/>
                <a:gd name="T18" fmla="*/ 114 w 200"/>
                <a:gd name="T19" fmla="*/ 35 h 116"/>
                <a:gd name="T20" fmla="*/ 105 w 200"/>
                <a:gd name="T21" fmla="*/ 29 h 116"/>
                <a:gd name="T22" fmla="*/ 83 w 200"/>
                <a:gd name="T23" fmla="*/ 28 h 116"/>
                <a:gd name="T24" fmla="*/ 68 w 200"/>
                <a:gd name="T25" fmla="*/ 29 h 116"/>
                <a:gd name="T26" fmla="*/ 55 w 200"/>
                <a:gd name="T27" fmla="*/ 14 h 116"/>
                <a:gd name="T28" fmla="*/ 51 w 200"/>
                <a:gd name="T29" fmla="*/ 19 h 116"/>
                <a:gd name="T30" fmla="*/ 38 w 200"/>
                <a:gd name="T31" fmla="*/ 17 h 116"/>
                <a:gd name="T32" fmla="*/ 36 w 200"/>
                <a:gd name="T33" fmla="*/ 1 h 116"/>
                <a:gd name="T34" fmla="*/ 32 w 200"/>
                <a:gd name="T35" fmla="*/ 17 h 116"/>
                <a:gd name="T36" fmla="*/ 30 w 200"/>
                <a:gd name="T37" fmla="*/ 0 h 116"/>
                <a:gd name="T38" fmla="*/ 2 w 200"/>
                <a:gd name="T39" fmla="*/ 7 h 116"/>
                <a:gd name="T40" fmla="*/ 0 w 200"/>
                <a:gd name="T41" fmla="*/ 57 h 116"/>
                <a:gd name="T42" fmla="*/ 0 w 200"/>
                <a:gd name="T43" fmla="*/ 57 h 116"/>
                <a:gd name="T44" fmla="*/ 8 w 200"/>
                <a:gd name="T45" fmla="*/ 59 h 116"/>
                <a:gd name="T46" fmla="*/ 12 w 200"/>
                <a:gd name="T47" fmla="*/ 54 h 116"/>
                <a:gd name="T48" fmla="*/ 20 w 200"/>
                <a:gd name="T49" fmla="*/ 48 h 116"/>
                <a:gd name="T50" fmla="*/ 24 w 200"/>
                <a:gd name="T51" fmla="*/ 44 h 116"/>
                <a:gd name="T52" fmla="*/ 29 w 200"/>
                <a:gd name="T53" fmla="*/ 41 h 116"/>
                <a:gd name="T54" fmla="*/ 37 w 200"/>
                <a:gd name="T55" fmla="*/ 43 h 116"/>
                <a:gd name="T56" fmla="*/ 45 w 200"/>
                <a:gd name="T57" fmla="*/ 46 h 116"/>
                <a:gd name="T58" fmla="*/ 49 w 200"/>
                <a:gd name="T59" fmla="*/ 58 h 116"/>
                <a:gd name="T60" fmla="*/ 66 w 200"/>
                <a:gd name="T61" fmla="*/ 60 h 116"/>
                <a:gd name="T62" fmla="*/ 71 w 200"/>
                <a:gd name="T63" fmla="*/ 68 h 116"/>
                <a:gd name="T64" fmla="*/ 76 w 200"/>
                <a:gd name="T65" fmla="*/ 77 h 116"/>
                <a:gd name="T66" fmla="*/ 87 w 200"/>
                <a:gd name="T67" fmla="*/ 85 h 116"/>
                <a:gd name="T68" fmla="*/ 100 w 200"/>
                <a:gd name="T69" fmla="*/ 93 h 116"/>
                <a:gd name="T70" fmla="*/ 112 w 200"/>
                <a:gd name="T71" fmla="*/ 101 h 116"/>
                <a:gd name="T72" fmla="*/ 122 w 200"/>
                <a:gd name="T73" fmla="*/ 104 h 116"/>
                <a:gd name="T74" fmla="*/ 123 w 200"/>
                <a:gd name="T75" fmla="*/ 111 h 116"/>
                <a:gd name="T76" fmla="*/ 124 w 200"/>
                <a:gd name="T77" fmla="*/ 111 h 116"/>
                <a:gd name="T78" fmla="*/ 133 w 200"/>
                <a:gd name="T79" fmla="*/ 114 h 116"/>
                <a:gd name="T80" fmla="*/ 137 w 200"/>
                <a:gd name="T81" fmla="*/ 116 h 116"/>
                <a:gd name="T82" fmla="*/ 142 w 200"/>
                <a:gd name="T83" fmla="*/ 105 h 116"/>
                <a:gd name="T84" fmla="*/ 141 w 200"/>
                <a:gd name="T85" fmla="*/ 95 h 116"/>
                <a:gd name="T86" fmla="*/ 134 w 200"/>
                <a:gd name="T87" fmla="*/ 86 h 116"/>
                <a:gd name="T88" fmla="*/ 144 w 200"/>
                <a:gd name="T89" fmla="*/ 82 h 116"/>
                <a:gd name="T90" fmla="*/ 148 w 200"/>
                <a:gd name="T91" fmla="*/ 76 h 116"/>
                <a:gd name="T92" fmla="*/ 153 w 200"/>
                <a:gd name="T93" fmla="*/ 70 h 116"/>
                <a:gd name="T94" fmla="*/ 162 w 200"/>
                <a:gd name="T95" fmla="*/ 68 h 116"/>
                <a:gd name="T96" fmla="*/ 170 w 200"/>
                <a:gd name="T97" fmla="*/ 66 h 116"/>
                <a:gd name="T98" fmla="*/ 166 w 200"/>
                <a:gd name="T99" fmla="*/ 75 h 116"/>
                <a:gd name="T100" fmla="*/ 179 w 200"/>
                <a:gd name="T101" fmla="*/ 73 h 116"/>
                <a:gd name="T102" fmla="*/ 189 w 200"/>
                <a:gd name="T103" fmla="*/ 71 h 116"/>
                <a:gd name="T104" fmla="*/ 194 w 200"/>
                <a:gd name="T105" fmla="*/ 65 h 11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00"/>
                <a:gd name="T160" fmla="*/ 0 h 116"/>
                <a:gd name="T161" fmla="*/ 200 w 200"/>
                <a:gd name="T162" fmla="*/ 116 h 11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00" h="116">
                  <a:moveTo>
                    <a:pt x="194" y="65"/>
                  </a:moveTo>
                  <a:cubicBezTo>
                    <a:pt x="189" y="61"/>
                    <a:pt x="180" y="55"/>
                    <a:pt x="179" y="58"/>
                  </a:cubicBezTo>
                  <a:cubicBezTo>
                    <a:pt x="178" y="61"/>
                    <a:pt x="172" y="61"/>
                    <a:pt x="170" y="59"/>
                  </a:cubicBezTo>
                  <a:cubicBezTo>
                    <a:pt x="168" y="56"/>
                    <a:pt x="166" y="53"/>
                    <a:pt x="159" y="55"/>
                  </a:cubicBezTo>
                  <a:cubicBezTo>
                    <a:pt x="152" y="58"/>
                    <a:pt x="148" y="62"/>
                    <a:pt x="148" y="64"/>
                  </a:cubicBezTo>
                  <a:cubicBezTo>
                    <a:pt x="147" y="67"/>
                    <a:pt x="143" y="70"/>
                    <a:pt x="142" y="66"/>
                  </a:cubicBezTo>
                  <a:cubicBezTo>
                    <a:pt x="142" y="63"/>
                    <a:pt x="136" y="61"/>
                    <a:pt x="133" y="60"/>
                  </a:cubicBezTo>
                  <a:cubicBezTo>
                    <a:pt x="129" y="59"/>
                    <a:pt x="124" y="61"/>
                    <a:pt x="123" y="58"/>
                  </a:cubicBezTo>
                  <a:cubicBezTo>
                    <a:pt x="123" y="54"/>
                    <a:pt x="117" y="50"/>
                    <a:pt x="117" y="46"/>
                  </a:cubicBezTo>
                  <a:cubicBezTo>
                    <a:pt x="116" y="42"/>
                    <a:pt x="118" y="36"/>
                    <a:pt x="114" y="35"/>
                  </a:cubicBezTo>
                  <a:cubicBezTo>
                    <a:pt x="111" y="35"/>
                    <a:pt x="108" y="29"/>
                    <a:pt x="105" y="29"/>
                  </a:cubicBezTo>
                  <a:cubicBezTo>
                    <a:pt x="102" y="29"/>
                    <a:pt x="85" y="29"/>
                    <a:pt x="83" y="28"/>
                  </a:cubicBezTo>
                  <a:cubicBezTo>
                    <a:pt x="80" y="27"/>
                    <a:pt x="69" y="31"/>
                    <a:pt x="68" y="29"/>
                  </a:cubicBezTo>
                  <a:cubicBezTo>
                    <a:pt x="67" y="27"/>
                    <a:pt x="59" y="18"/>
                    <a:pt x="55" y="14"/>
                  </a:cubicBezTo>
                  <a:cubicBezTo>
                    <a:pt x="54" y="16"/>
                    <a:pt x="53" y="18"/>
                    <a:pt x="51" y="19"/>
                  </a:cubicBezTo>
                  <a:cubicBezTo>
                    <a:pt x="43" y="25"/>
                    <a:pt x="35" y="24"/>
                    <a:pt x="38" y="17"/>
                  </a:cubicBezTo>
                  <a:cubicBezTo>
                    <a:pt x="40" y="10"/>
                    <a:pt x="41" y="1"/>
                    <a:pt x="36" y="1"/>
                  </a:cubicBezTo>
                  <a:cubicBezTo>
                    <a:pt x="32" y="1"/>
                    <a:pt x="35" y="16"/>
                    <a:pt x="32" y="17"/>
                  </a:cubicBezTo>
                  <a:cubicBezTo>
                    <a:pt x="29" y="18"/>
                    <a:pt x="28" y="6"/>
                    <a:pt x="30" y="0"/>
                  </a:cubicBezTo>
                  <a:cubicBezTo>
                    <a:pt x="2" y="7"/>
                    <a:pt x="2" y="7"/>
                    <a:pt x="2" y="7"/>
                  </a:cubicBezTo>
                  <a:cubicBezTo>
                    <a:pt x="0" y="57"/>
                    <a:pt x="0" y="57"/>
                    <a:pt x="0" y="57"/>
                  </a:cubicBezTo>
                  <a:cubicBezTo>
                    <a:pt x="0" y="57"/>
                    <a:pt x="0" y="57"/>
                    <a:pt x="0" y="57"/>
                  </a:cubicBezTo>
                  <a:cubicBezTo>
                    <a:pt x="3" y="59"/>
                    <a:pt x="6" y="59"/>
                    <a:pt x="8" y="59"/>
                  </a:cubicBezTo>
                  <a:cubicBezTo>
                    <a:pt x="12" y="60"/>
                    <a:pt x="12" y="56"/>
                    <a:pt x="12" y="54"/>
                  </a:cubicBezTo>
                  <a:cubicBezTo>
                    <a:pt x="12" y="52"/>
                    <a:pt x="17" y="48"/>
                    <a:pt x="20" y="48"/>
                  </a:cubicBezTo>
                  <a:cubicBezTo>
                    <a:pt x="23" y="48"/>
                    <a:pt x="23" y="44"/>
                    <a:pt x="24" y="44"/>
                  </a:cubicBezTo>
                  <a:cubicBezTo>
                    <a:pt x="25" y="44"/>
                    <a:pt x="28" y="43"/>
                    <a:pt x="29" y="41"/>
                  </a:cubicBezTo>
                  <a:cubicBezTo>
                    <a:pt x="30" y="40"/>
                    <a:pt x="35" y="42"/>
                    <a:pt x="37" y="43"/>
                  </a:cubicBezTo>
                  <a:cubicBezTo>
                    <a:pt x="38" y="45"/>
                    <a:pt x="42" y="46"/>
                    <a:pt x="45" y="46"/>
                  </a:cubicBezTo>
                  <a:cubicBezTo>
                    <a:pt x="48" y="47"/>
                    <a:pt x="49" y="56"/>
                    <a:pt x="49" y="58"/>
                  </a:cubicBezTo>
                  <a:cubicBezTo>
                    <a:pt x="49" y="60"/>
                    <a:pt x="64" y="60"/>
                    <a:pt x="66" y="60"/>
                  </a:cubicBezTo>
                  <a:cubicBezTo>
                    <a:pt x="68" y="61"/>
                    <a:pt x="68" y="65"/>
                    <a:pt x="71" y="68"/>
                  </a:cubicBezTo>
                  <a:cubicBezTo>
                    <a:pt x="73" y="71"/>
                    <a:pt x="75" y="75"/>
                    <a:pt x="76" y="77"/>
                  </a:cubicBezTo>
                  <a:cubicBezTo>
                    <a:pt x="77" y="79"/>
                    <a:pt x="85" y="82"/>
                    <a:pt x="87" y="85"/>
                  </a:cubicBezTo>
                  <a:cubicBezTo>
                    <a:pt x="89" y="88"/>
                    <a:pt x="95" y="91"/>
                    <a:pt x="100" y="93"/>
                  </a:cubicBezTo>
                  <a:cubicBezTo>
                    <a:pt x="105" y="95"/>
                    <a:pt x="109" y="101"/>
                    <a:pt x="112" y="101"/>
                  </a:cubicBezTo>
                  <a:cubicBezTo>
                    <a:pt x="114" y="100"/>
                    <a:pt x="122" y="104"/>
                    <a:pt x="122" y="104"/>
                  </a:cubicBezTo>
                  <a:cubicBezTo>
                    <a:pt x="123" y="111"/>
                    <a:pt x="123" y="111"/>
                    <a:pt x="123" y="111"/>
                  </a:cubicBezTo>
                  <a:cubicBezTo>
                    <a:pt x="123" y="111"/>
                    <a:pt x="123" y="111"/>
                    <a:pt x="124" y="111"/>
                  </a:cubicBezTo>
                  <a:cubicBezTo>
                    <a:pt x="128" y="110"/>
                    <a:pt x="130" y="114"/>
                    <a:pt x="133" y="114"/>
                  </a:cubicBezTo>
                  <a:cubicBezTo>
                    <a:pt x="134" y="114"/>
                    <a:pt x="136" y="115"/>
                    <a:pt x="137" y="116"/>
                  </a:cubicBezTo>
                  <a:cubicBezTo>
                    <a:pt x="137" y="110"/>
                    <a:pt x="139" y="107"/>
                    <a:pt x="142" y="105"/>
                  </a:cubicBezTo>
                  <a:cubicBezTo>
                    <a:pt x="145" y="102"/>
                    <a:pt x="140" y="98"/>
                    <a:pt x="141" y="95"/>
                  </a:cubicBezTo>
                  <a:cubicBezTo>
                    <a:pt x="141" y="91"/>
                    <a:pt x="133" y="89"/>
                    <a:pt x="134" y="86"/>
                  </a:cubicBezTo>
                  <a:cubicBezTo>
                    <a:pt x="134" y="83"/>
                    <a:pt x="141" y="83"/>
                    <a:pt x="144" y="82"/>
                  </a:cubicBezTo>
                  <a:cubicBezTo>
                    <a:pt x="147" y="81"/>
                    <a:pt x="145" y="76"/>
                    <a:pt x="148" y="76"/>
                  </a:cubicBezTo>
                  <a:cubicBezTo>
                    <a:pt x="151" y="76"/>
                    <a:pt x="152" y="73"/>
                    <a:pt x="153" y="70"/>
                  </a:cubicBezTo>
                  <a:cubicBezTo>
                    <a:pt x="154" y="67"/>
                    <a:pt x="159" y="70"/>
                    <a:pt x="162" y="68"/>
                  </a:cubicBezTo>
                  <a:cubicBezTo>
                    <a:pt x="165" y="66"/>
                    <a:pt x="169" y="64"/>
                    <a:pt x="170" y="66"/>
                  </a:cubicBezTo>
                  <a:cubicBezTo>
                    <a:pt x="170" y="67"/>
                    <a:pt x="167" y="73"/>
                    <a:pt x="166" y="75"/>
                  </a:cubicBezTo>
                  <a:cubicBezTo>
                    <a:pt x="170" y="75"/>
                    <a:pt x="177" y="74"/>
                    <a:pt x="179" y="73"/>
                  </a:cubicBezTo>
                  <a:cubicBezTo>
                    <a:pt x="180" y="71"/>
                    <a:pt x="187" y="75"/>
                    <a:pt x="189" y="71"/>
                  </a:cubicBezTo>
                  <a:cubicBezTo>
                    <a:pt x="192" y="67"/>
                    <a:pt x="200" y="70"/>
                    <a:pt x="194" y="6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3" name="Freeform 139"/>
            <p:cNvSpPr>
              <a:spLocks noEditPoints="1" noChangeArrowheads="1"/>
            </p:cNvSpPr>
            <p:nvPr/>
          </p:nvSpPr>
          <p:spPr bwMode="auto">
            <a:xfrm>
              <a:off x="3754451" y="160336"/>
              <a:ext cx="558802" cy="882651"/>
            </a:xfrm>
            <a:custGeom>
              <a:avLst/>
              <a:gdLst>
                <a:gd name="T0" fmla="*/ 276 w 292"/>
                <a:gd name="T1" fmla="*/ 242 h 462"/>
                <a:gd name="T2" fmla="*/ 277 w 292"/>
                <a:gd name="T3" fmla="*/ 228 h 462"/>
                <a:gd name="T4" fmla="*/ 261 w 292"/>
                <a:gd name="T5" fmla="*/ 226 h 462"/>
                <a:gd name="T6" fmla="*/ 243 w 292"/>
                <a:gd name="T7" fmla="*/ 225 h 462"/>
                <a:gd name="T8" fmla="*/ 234 w 292"/>
                <a:gd name="T9" fmla="*/ 224 h 462"/>
                <a:gd name="T10" fmla="*/ 216 w 292"/>
                <a:gd name="T11" fmla="*/ 228 h 462"/>
                <a:gd name="T12" fmla="*/ 202 w 292"/>
                <a:gd name="T13" fmla="*/ 243 h 462"/>
                <a:gd name="T14" fmla="*/ 202 w 292"/>
                <a:gd name="T15" fmla="*/ 226 h 462"/>
                <a:gd name="T16" fmla="*/ 182 w 292"/>
                <a:gd name="T17" fmla="*/ 238 h 462"/>
                <a:gd name="T18" fmla="*/ 174 w 292"/>
                <a:gd name="T19" fmla="*/ 242 h 462"/>
                <a:gd name="T20" fmla="*/ 165 w 292"/>
                <a:gd name="T21" fmla="*/ 240 h 462"/>
                <a:gd name="T22" fmla="*/ 150 w 292"/>
                <a:gd name="T23" fmla="*/ 251 h 462"/>
                <a:gd name="T24" fmla="*/ 139 w 292"/>
                <a:gd name="T25" fmla="*/ 260 h 462"/>
                <a:gd name="T26" fmla="*/ 129 w 292"/>
                <a:gd name="T27" fmla="*/ 265 h 462"/>
                <a:gd name="T28" fmla="*/ 112 w 292"/>
                <a:gd name="T29" fmla="*/ 269 h 462"/>
                <a:gd name="T30" fmla="*/ 105 w 292"/>
                <a:gd name="T31" fmla="*/ 279 h 462"/>
                <a:gd name="T32" fmla="*/ 129 w 292"/>
                <a:gd name="T33" fmla="*/ 279 h 462"/>
                <a:gd name="T34" fmla="*/ 111 w 292"/>
                <a:gd name="T35" fmla="*/ 292 h 462"/>
                <a:gd name="T36" fmla="*/ 86 w 292"/>
                <a:gd name="T37" fmla="*/ 319 h 462"/>
                <a:gd name="T38" fmla="*/ 70 w 292"/>
                <a:gd name="T39" fmla="*/ 341 h 462"/>
                <a:gd name="T40" fmla="*/ 56 w 292"/>
                <a:gd name="T41" fmla="*/ 361 h 462"/>
                <a:gd name="T42" fmla="*/ 36 w 292"/>
                <a:gd name="T43" fmla="*/ 374 h 462"/>
                <a:gd name="T44" fmla="*/ 16 w 292"/>
                <a:gd name="T45" fmla="*/ 387 h 462"/>
                <a:gd name="T46" fmla="*/ 6 w 292"/>
                <a:gd name="T47" fmla="*/ 404 h 462"/>
                <a:gd name="T48" fmla="*/ 2 w 292"/>
                <a:gd name="T49" fmla="*/ 425 h 462"/>
                <a:gd name="T50" fmla="*/ 12 w 292"/>
                <a:gd name="T51" fmla="*/ 432 h 462"/>
                <a:gd name="T52" fmla="*/ 10 w 292"/>
                <a:gd name="T53" fmla="*/ 440 h 462"/>
                <a:gd name="T54" fmla="*/ 20 w 292"/>
                <a:gd name="T55" fmla="*/ 458 h 462"/>
                <a:gd name="T56" fmla="*/ 65 w 292"/>
                <a:gd name="T57" fmla="*/ 436 h 462"/>
                <a:gd name="T58" fmla="*/ 78 w 292"/>
                <a:gd name="T59" fmla="*/ 440 h 462"/>
                <a:gd name="T60" fmla="*/ 86 w 292"/>
                <a:gd name="T61" fmla="*/ 412 h 462"/>
                <a:gd name="T62" fmla="*/ 83 w 292"/>
                <a:gd name="T63" fmla="*/ 376 h 462"/>
                <a:gd name="T64" fmla="*/ 103 w 292"/>
                <a:gd name="T65" fmla="*/ 351 h 462"/>
                <a:gd name="T66" fmla="*/ 117 w 292"/>
                <a:gd name="T67" fmla="*/ 318 h 462"/>
                <a:gd name="T68" fmla="*/ 131 w 292"/>
                <a:gd name="T69" fmla="*/ 289 h 462"/>
                <a:gd name="T70" fmla="*/ 163 w 292"/>
                <a:gd name="T71" fmla="*/ 273 h 462"/>
                <a:gd name="T72" fmla="*/ 185 w 292"/>
                <a:gd name="T73" fmla="*/ 258 h 462"/>
                <a:gd name="T74" fmla="*/ 225 w 292"/>
                <a:gd name="T75" fmla="*/ 270 h 462"/>
                <a:gd name="T76" fmla="*/ 250 w 292"/>
                <a:gd name="T77" fmla="*/ 243 h 462"/>
                <a:gd name="T78" fmla="*/ 276 w 292"/>
                <a:gd name="T79" fmla="*/ 255 h 462"/>
                <a:gd name="T80" fmla="*/ 81 w 292"/>
                <a:gd name="T81" fmla="*/ 34 h 462"/>
                <a:gd name="T82" fmla="*/ 108 w 292"/>
                <a:gd name="T83" fmla="*/ 49 h 462"/>
                <a:gd name="T84" fmla="*/ 129 w 292"/>
                <a:gd name="T85" fmla="*/ 54 h 462"/>
                <a:gd name="T86" fmla="*/ 131 w 292"/>
                <a:gd name="T87" fmla="*/ 69 h 462"/>
                <a:gd name="T88" fmla="*/ 111 w 292"/>
                <a:gd name="T89" fmla="*/ 87 h 462"/>
                <a:gd name="T90" fmla="*/ 133 w 292"/>
                <a:gd name="T91" fmla="*/ 96 h 462"/>
                <a:gd name="T92" fmla="*/ 160 w 292"/>
                <a:gd name="T93" fmla="*/ 52 h 462"/>
                <a:gd name="T94" fmla="*/ 181 w 292"/>
                <a:gd name="T95" fmla="*/ 63 h 462"/>
                <a:gd name="T96" fmla="*/ 210 w 292"/>
                <a:gd name="T97" fmla="*/ 75 h 462"/>
                <a:gd name="T98" fmla="*/ 201 w 292"/>
                <a:gd name="T99" fmla="*/ 60 h 462"/>
                <a:gd name="T100" fmla="*/ 176 w 292"/>
                <a:gd name="T101" fmla="*/ 39 h 462"/>
                <a:gd name="T102" fmla="*/ 150 w 292"/>
                <a:gd name="T103" fmla="*/ 26 h 462"/>
                <a:gd name="T104" fmla="*/ 126 w 292"/>
                <a:gd name="T105" fmla="*/ 12 h 462"/>
                <a:gd name="T106" fmla="*/ 117 w 292"/>
                <a:gd name="T107" fmla="*/ 26 h 462"/>
                <a:gd name="T108" fmla="*/ 93 w 292"/>
                <a:gd name="T109" fmla="*/ 24 h 462"/>
                <a:gd name="T110" fmla="*/ 78 w 292"/>
                <a:gd name="T111" fmla="*/ 19 h 462"/>
                <a:gd name="T112" fmla="*/ 71 w 292"/>
                <a:gd name="T113" fmla="*/ 54 h 462"/>
                <a:gd name="T114" fmla="*/ 71 w 292"/>
                <a:gd name="T115" fmla="*/ 54 h 462"/>
                <a:gd name="T116" fmla="*/ 167 w 292"/>
                <a:gd name="T117" fmla="*/ 27 h 462"/>
                <a:gd name="T118" fmla="*/ 234 w 292"/>
                <a:gd name="T119" fmla="*/ 25 h 462"/>
                <a:gd name="T120" fmla="*/ 204 w 292"/>
                <a:gd name="T121" fmla="*/ 10 h 462"/>
                <a:gd name="T122" fmla="*/ 177 w 292"/>
                <a:gd name="T123" fmla="*/ 8 h 462"/>
                <a:gd name="T124" fmla="*/ 158 w 292"/>
                <a:gd name="T125" fmla="*/ 10 h 46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92"/>
                <a:gd name="T190" fmla="*/ 0 h 462"/>
                <a:gd name="T191" fmla="*/ 292 w 292"/>
                <a:gd name="T192" fmla="*/ 462 h 46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92" h="462">
                  <a:moveTo>
                    <a:pt x="283" y="247"/>
                  </a:moveTo>
                  <a:cubicBezTo>
                    <a:pt x="282" y="250"/>
                    <a:pt x="278" y="249"/>
                    <a:pt x="278" y="247"/>
                  </a:cubicBezTo>
                  <a:cubicBezTo>
                    <a:pt x="278" y="244"/>
                    <a:pt x="271" y="242"/>
                    <a:pt x="270" y="241"/>
                  </a:cubicBezTo>
                  <a:cubicBezTo>
                    <a:pt x="270" y="240"/>
                    <a:pt x="273" y="240"/>
                    <a:pt x="276" y="242"/>
                  </a:cubicBezTo>
                  <a:cubicBezTo>
                    <a:pt x="279" y="243"/>
                    <a:pt x="281" y="242"/>
                    <a:pt x="284" y="239"/>
                  </a:cubicBezTo>
                  <a:cubicBezTo>
                    <a:pt x="287" y="236"/>
                    <a:pt x="291" y="239"/>
                    <a:pt x="291" y="236"/>
                  </a:cubicBezTo>
                  <a:cubicBezTo>
                    <a:pt x="292" y="234"/>
                    <a:pt x="286" y="232"/>
                    <a:pt x="285" y="231"/>
                  </a:cubicBezTo>
                  <a:cubicBezTo>
                    <a:pt x="284" y="229"/>
                    <a:pt x="281" y="227"/>
                    <a:pt x="277" y="228"/>
                  </a:cubicBezTo>
                  <a:cubicBezTo>
                    <a:pt x="273" y="228"/>
                    <a:pt x="273" y="227"/>
                    <a:pt x="271" y="225"/>
                  </a:cubicBezTo>
                  <a:cubicBezTo>
                    <a:pt x="269" y="223"/>
                    <a:pt x="262" y="226"/>
                    <a:pt x="262" y="231"/>
                  </a:cubicBezTo>
                  <a:cubicBezTo>
                    <a:pt x="262" y="236"/>
                    <a:pt x="258" y="234"/>
                    <a:pt x="259" y="232"/>
                  </a:cubicBezTo>
                  <a:cubicBezTo>
                    <a:pt x="261" y="229"/>
                    <a:pt x="257" y="226"/>
                    <a:pt x="261" y="226"/>
                  </a:cubicBezTo>
                  <a:cubicBezTo>
                    <a:pt x="264" y="225"/>
                    <a:pt x="262" y="220"/>
                    <a:pt x="256" y="219"/>
                  </a:cubicBezTo>
                  <a:cubicBezTo>
                    <a:pt x="250" y="219"/>
                    <a:pt x="248" y="224"/>
                    <a:pt x="249" y="226"/>
                  </a:cubicBezTo>
                  <a:cubicBezTo>
                    <a:pt x="251" y="227"/>
                    <a:pt x="245" y="234"/>
                    <a:pt x="242" y="234"/>
                  </a:cubicBezTo>
                  <a:cubicBezTo>
                    <a:pt x="240" y="234"/>
                    <a:pt x="243" y="228"/>
                    <a:pt x="243" y="225"/>
                  </a:cubicBezTo>
                  <a:cubicBezTo>
                    <a:pt x="242" y="222"/>
                    <a:pt x="240" y="223"/>
                    <a:pt x="235" y="229"/>
                  </a:cubicBezTo>
                  <a:cubicBezTo>
                    <a:pt x="231" y="234"/>
                    <a:pt x="227" y="239"/>
                    <a:pt x="225" y="239"/>
                  </a:cubicBezTo>
                  <a:cubicBezTo>
                    <a:pt x="222" y="240"/>
                    <a:pt x="222" y="235"/>
                    <a:pt x="227" y="232"/>
                  </a:cubicBezTo>
                  <a:cubicBezTo>
                    <a:pt x="231" y="230"/>
                    <a:pt x="231" y="224"/>
                    <a:pt x="234" y="224"/>
                  </a:cubicBezTo>
                  <a:cubicBezTo>
                    <a:pt x="237" y="224"/>
                    <a:pt x="237" y="220"/>
                    <a:pt x="233" y="219"/>
                  </a:cubicBezTo>
                  <a:cubicBezTo>
                    <a:pt x="228" y="218"/>
                    <a:pt x="228" y="223"/>
                    <a:pt x="226" y="224"/>
                  </a:cubicBezTo>
                  <a:cubicBezTo>
                    <a:pt x="225" y="226"/>
                    <a:pt x="218" y="222"/>
                    <a:pt x="218" y="223"/>
                  </a:cubicBezTo>
                  <a:cubicBezTo>
                    <a:pt x="219" y="225"/>
                    <a:pt x="215" y="225"/>
                    <a:pt x="216" y="228"/>
                  </a:cubicBezTo>
                  <a:cubicBezTo>
                    <a:pt x="218" y="230"/>
                    <a:pt x="216" y="232"/>
                    <a:pt x="214" y="229"/>
                  </a:cubicBezTo>
                  <a:cubicBezTo>
                    <a:pt x="212" y="226"/>
                    <a:pt x="208" y="229"/>
                    <a:pt x="206" y="232"/>
                  </a:cubicBezTo>
                  <a:cubicBezTo>
                    <a:pt x="204" y="235"/>
                    <a:pt x="201" y="235"/>
                    <a:pt x="203" y="236"/>
                  </a:cubicBezTo>
                  <a:cubicBezTo>
                    <a:pt x="205" y="237"/>
                    <a:pt x="205" y="242"/>
                    <a:pt x="202" y="243"/>
                  </a:cubicBezTo>
                  <a:cubicBezTo>
                    <a:pt x="199" y="244"/>
                    <a:pt x="200" y="235"/>
                    <a:pt x="198" y="235"/>
                  </a:cubicBezTo>
                  <a:cubicBezTo>
                    <a:pt x="196" y="236"/>
                    <a:pt x="197" y="231"/>
                    <a:pt x="200" y="231"/>
                  </a:cubicBezTo>
                  <a:cubicBezTo>
                    <a:pt x="204" y="231"/>
                    <a:pt x="207" y="226"/>
                    <a:pt x="206" y="225"/>
                  </a:cubicBezTo>
                  <a:cubicBezTo>
                    <a:pt x="206" y="223"/>
                    <a:pt x="202" y="224"/>
                    <a:pt x="202" y="226"/>
                  </a:cubicBezTo>
                  <a:cubicBezTo>
                    <a:pt x="202" y="229"/>
                    <a:pt x="197" y="228"/>
                    <a:pt x="193" y="228"/>
                  </a:cubicBezTo>
                  <a:cubicBezTo>
                    <a:pt x="189" y="228"/>
                    <a:pt x="189" y="233"/>
                    <a:pt x="194" y="236"/>
                  </a:cubicBezTo>
                  <a:cubicBezTo>
                    <a:pt x="199" y="238"/>
                    <a:pt x="193" y="240"/>
                    <a:pt x="191" y="238"/>
                  </a:cubicBezTo>
                  <a:cubicBezTo>
                    <a:pt x="188" y="236"/>
                    <a:pt x="185" y="237"/>
                    <a:pt x="182" y="238"/>
                  </a:cubicBezTo>
                  <a:cubicBezTo>
                    <a:pt x="180" y="239"/>
                    <a:pt x="188" y="242"/>
                    <a:pt x="189" y="244"/>
                  </a:cubicBezTo>
                  <a:cubicBezTo>
                    <a:pt x="189" y="245"/>
                    <a:pt x="184" y="242"/>
                    <a:pt x="183" y="243"/>
                  </a:cubicBezTo>
                  <a:cubicBezTo>
                    <a:pt x="182" y="244"/>
                    <a:pt x="178" y="242"/>
                    <a:pt x="177" y="239"/>
                  </a:cubicBezTo>
                  <a:cubicBezTo>
                    <a:pt x="177" y="237"/>
                    <a:pt x="169" y="241"/>
                    <a:pt x="174" y="242"/>
                  </a:cubicBezTo>
                  <a:cubicBezTo>
                    <a:pt x="178" y="243"/>
                    <a:pt x="176" y="245"/>
                    <a:pt x="176" y="249"/>
                  </a:cubicBezTo>
                  <a:cubicBezTo>
                    <a:pt x="176" y="253"/>
                    <a:pt x="171" y="250"/>
                    <a:pt x="172" y="247"/>
                  </a:cubicBezTo>
                  <a:cubicBezTo>
                    <a:pt x="173" y="243"/>
                    <a:pt x="169" y="244"/>
                    <a:pt x="166" y="246"/>
                  </a:cubicBezTo>
                  <a:cubicBezTo>
                    <a:pt x="163" y="248"/>
                    <a:pt x="167" y="242"/>
                    <a:pt x="165" y="240"/>
                  </a:cubicBezTo>
                  <a:cubicBezTo>
                    <a:pt x="164" y="237"/>
                    <a:pt x="161" y="240"/>
                    <a:pt x="157" y="240"/>
                  </a:cubicBezTo>
                  <a:cubicBezTo>
                    <a:pt x="154" y="241"/>
                    <a:pt x="152" y="241"/>
                    <a:pt x="154" y="243"/>
                  </a:cubicBezTo>
                  <a:cubicBezTo>
                    <a:pt x="156" y="246"/>
                    <a:pt x="156" y="249"/>
                    <a:pt x="153" y="249"/>
                  </a:cubicBezTo>
                  <a:cubicBezTo>
                    <a:pt x="150" y="248"/>
                    <a:pt x="149" y="249"/>
                    <a:pt x="150" y="251"/>
                  </a:cubicBezTo>
                  <a:cubicBezTo>
                    <a:pt x="150" y="254"/>
                    <a:pt x="146" y="254"/>
                    <a:pt x="146" y="252"/>
                  </a:cubicBezTo>
                  <a:cubicBezTo>
                    <a:pt x="145" y="249"/>
                    <a:pt x="140" y="250"/>
                    <a:pt x="138" y="253"/>
                  </a:cubicBezTo>
                  <a:cubicBezTo>
                    <a:pt x="136" y="255"/>
                    <a:pt x="132" y="257"/>
                    <a:pt x="132" y="260"/>
                  </a:cubicBezTo>
                  <a:cubicBezTo>
                    <a:pt x="133" y="263"/>
                    <a:pt x="136" y="259"/>
                    <a:pt x="139" y="260"/>
                  </a:cubicBezTo>
                  <a:cubicBezTo>
                    <a:pt x="142" y="261"/>
                    <a:pt x="139" y="262"/>
                    <a:pt x="141" y="264"/>
                  </a:cubicBezTo>
                  <a:cubicBezTo>
                    <a:pt x="142" y="265"/>
                    <a:pt x="142" y="269"/>
                    <a:pt x="140" y="267"/>
                  </a:cubicBezTo>
                  <a:cubicBezTo>
                    <a:pt x="137" y="265"/>
                    <a:pt x="134" y="264"/>
                    <a:pt x="134" y="268"/>
                  </a:cubicBezTo>
                  <a:cubicBezTo>
                    <a:pt x="133" y="271"/>
                    <a:pt x="131" y="267"/>
                    <a:pt x="129" y="265"/>
                  </a:cubicBezTo>
                  <a:cubicBezTo>
                    <a:pt x="127" y="262"/>
                    <a:pt x="125" y="269"/>
                    <a:pt x="123" y="268"/>
                  </a:cubicBezTo>
                  <a:cubicBezTo>
                    <a:pt x="121" y="266"/>
                    <a:pt x="127" y="261"/>
                    <a:pt x="125" y="258"/>
                  </a:cubicBezTo>
                  <a:cubicBezTo>
                    <a:pt x="124" y="256"/>
                    <a:pt x="123" y="260"/>
                    <a:pt x="119" y="264"/>
                  </a:cubicBezTo>
                  <a:cubicBezTo>
                    <a:pt x="115" y="267"/>
                    <a:pt x="110" y="267"/>
                    <a:pt x="112" y="269"/>
                  </a:cubicBezTo>
                  <a:cubicBezTo>
                    <a:pt x="113" y="271"/>
                    <a:pt x="108" y="272"/>
                    <a:pt x="107" y="275"/>
                  </a:cubicBezTo>
                  <a:cubicBezTo>
                    <a:pt x="106" y="278"/>
                    <a:pt x="98" y="279"/>
                    <a:pt x="93" y="283"/>
                  </a:cubicBezTo>
                  <a:cubicBezTo>
                    <a:pt x="88" y="286"/>
                    <a:pt x="94" y="286"/>
                    <a:pt x="97" y="283"/>
                  </a:cubicBezTo>
                  <a:cubicBezTo>
                    <a:pt x="100" y="280"/>
                    <a:pt x="101" y="282"/>
                    <a:pt x="105" y="279"/>
                  </a:cubicBezTo>
                  <a:cubicBezTo>
                    <a:pt x="110" y="276"/>
                    <a:pt x="114" y="274"/>
                    <a:pt x="116" y="275"/>
                  </a:cubicBezTo>
                  <a:cubicBezTo>
                    <a:pt x="118" y="276"/>
                    <a:pt x="121" y="277"/>
                    <a:pt x="123" y="274"/>
                  </a:cubicBezTo>
                  <a:cubicBezTo>
                    <a:pt x="125" y="271"/>
                    <a:pt x="128" y="272"/>
                    <a:pt x="130" y="273"/>
                  </a:cubicBezTo>
                  <a:cubicBezTo>
                    <a:pt x="132" y="275"/>
                    <a:pt x="126" y="277"/>
                    <a:pt x="129" y="279"/>
                  </a:cubicBezTo>
                  <a:cubicBezTo>
                    <a:pt x="131" y="282"/>
                    <a:pt x="126" y="284"/>
                    <a:pt x="126" y="281"/>
                  </a:cubicBezTo>
                  <a:cubicBezTo>
                    <a:pt x="126" y="279"/>
                    <a:pt x="122" y="277"/>
                    <a:pt x="121" y="279"/>
                  </a:cubicBezTo>
                  <a:cubicBezTo>
                    <a:pt x="120" y="281"/>
                    <a:pt x="118" y="284"/>
                    <a:pt x="116" y="284"/>
                  </a:cubicBezTo>
                  <a:cubicBezTo>
                    <a:pt x="114" y="284"/>
                    <a:pt x="111" y="288"/>
                    <a:pt x="111" y="292"/>
                  </a:cubicBezTo>
                  <a:cubicBezTo>
                    <a:pt x="111" y="296"/>
                    <a:pt x="107" y="292"/>
                    <a:pt x="107" y="295"/>
                  </a:cubicBezTo>
                  <a:cubicBezTo>
                    <a:pt x="107" y="299"/>
                    <a:pt x="101" y="305"/>
                    <a:pt x="97" y="310"/>
                  </a:cubicBezTo>
                  <a:cubicBezTo>
                    <a:pt x="92" y="314"/>
                    <a:pt x="96" y="315"/>
                    <a:pt x="95" y="318"/>
                  </a:cubicBezTo>
                  <a:cubicBezTo>
                    <a:pt x="93" y="321"/>
                    <a:pt x="88" y="318"/>
                    <a:pt x="86" y="319"/>
                  </a:cubicBezTo>
                  <a:cubicBezTo>
                    <a:pt x="84" y="321"/>
                    <a:pt x="87" y="328"/>
                    <a:pt x="85" y="330"/>
                  </a:cubicBezTo>
                  <a:cubicBezTo>
                    <a:pt x="82" y="332"/>
                    <a:pt x="85" y="335"/>
                    <a:pt x="85" y="337"/>
                  </a:cubicBezTo>
                  <a:cubicBezTo>
                    <a:pt x="85" y="340"/>
                    <a:pt x="78" y="336"/>
                    <a:pt x="78" y="338"/>
                  </a:cubicBezTo>
                  <a:cubicBezTo>
                    <a:pt x="77" y="341"/>
                    <a:pt x="71" y="340"/>
                    <a:pt x="70" y="341"/>
                  </a:cubicBezTo>
                  <a:cubicBezTo>
                    <a:pt x="68" y="342"/>
                    <a:pt x="73" y="346"/>
                    <a:pt x="76" y="348"/>
                  </a:cubicBezTo>
                  <a:cubicBezTo>
                    <a:pt x="79" y="350"/>
                    <a:pt x="73" y="352"/>
                    <a:pt x="73" y="349"/>
                  </a:cubicBezTo>
                  <a:cubicBezTo>
                    <a:pt x="72" y="347"/>
                    <a:pt x="68" y="351"/>
                    <a:pt x="63" y="353"/>
                  </a:cubicBezTo>
                  <a:cubicBezTo>
                    <a:pt x="57" y="356"/>
                    <a:pt x="60" y="360"/>
                    <a:pt x="56" y="361"/>
                  </a:cubicBezTo>
                  <a:cubicBezTo>
                    <a:pt x="52" y="361"/>
                    <a:pt x="53" y="367"/>
                    <a:pt x="50" y="369"/>
                  </a:cubicBezTo>
                  <a:cubicBezTo>
                    <a:pt x="47" y="371"/>
                    <a:pt x="48" y="364"/>
                    <a:pt x="44" y="364"/>
                  </a:cubicBezTo>
                  <a:cubicBezTo>
                    <a:pt x="40" y="364"/>
                    <a:pt x="40" y="367"/>
                    <a:pt x="43" y="371"/>
                  </a:cubicBezTo>
                  <a:cubicBezTo>
                    <a:pt x="45" y="374"/>
                    <a:pt x="39" y="371"/>
                    <a:pt x="36" y="374"/>
                  </a:cubicBezTo>
                  <a:cubicBezTo>
                    <a:pt x="34" y="377"/>
                    <a:pt x="27" y="376"/>
                    <a:pt x="26" y="378"/>
                  </a:cubicBezTo>
                  <a:cubicBezTo>
                    <a:pt x="24" y="381"/>
                    <a:pt x="31" y="381"/>
                    <a:pt x="32" y="383"/>
                  </a:cubicBezTo>
                  <a:cubicBezTo>
                    <a:pt x="33" y="385"/>
                    <a:pt x="26" y="384"/>
                    <a:pt x="22" y="383"/>
                  </a:cubicBezTo>
                  <a:cubicBezTo>
                    <a:pt x="18" y="382"/>
                    <a:pt x="19" y="388"/>
                    <a:pt x="16" y="387"/>
                  </a:cubicBezTo>
                  <a:cubicBezTo>
                    <a:pt x="13" y="386"/>
                    <a:pt x="8" y="390"/>
                    <a:pt x="11" y="392"/>
                  </a:cubicBezTo>
                  <a:cubicBezTo>
                    <a:pt x="13" y="395"/>
                    <a:pt x="9" y="395"/>
                    <a:pt x="7" y="393"/>
                  </a:cubicBezTo>
                  <a:cubicBezTo>
                    <a:pt x="4" y="392"/>
                    <a:pt x="2" y="396"/>
                    <a:pt x="1" y="398"/>
                  </a:cubicBezTo>
                  <a:cubicBezTo>
                    <a:pt x="1" y="401"/>
                    <a:pt x="6" y="403"/>
                    <a:pt x="6" y="404"/>
                  </a:cubicBezTo>
                  <a:cubicBezTo>
                    <a:pt x="6" y="405"/>
                    <a:pt x="1" y="408"/>
                    <a:pt x="4" y="408"/>
                  </a:cubicBezTo>
                  <a:cubicBezTo>
                    <a:pt x="7" y="409"/>
                    <a:pt x="5" y="412"/>
                    <a:pt x="3" y="412"/>
                  </a:cubicBezTo>
                  <a:cubicBezTo>
                    <a:pt x="1" y="413"/>
                    <a:pt x="1" y="415"/>
                    <a:pt x="3" y="418"/>
                  </a:cubicBezTo>
                  <a:cubicBezTo>
                    <a:pt x="5" y="420"/>
                    <a:pt x="0" y="421"/>
                    <a:pt x="2" y="425"/>
                  </a:cubicBezTo>
                  <a:cubicBezTo>
                    <a:pt x="5" y="428"/>
                    <a:pt x="7" y="424"/>
                    <a:pt x="8" y="426"/>
                  </a:cubicBezTo>
                  <a:cubicBezTo>
                    <a:pt x="9" y="429"/>
                    <a:pt x="13" y="427"/>
                    <a:pt x="16" y="423"/>
                  </a:cubicBezTo>
                  <a:cubicBezTo>
                    <a:pt x="20" y="420"/>
                    <a:pt x="21" y="427"/>
                    <a:pt x="18" y="427"/>
                  </a:cubicBezTo>
                  <a:cubicBezTo>
                    <a:pt x="15" y="427"/>
                    <a:pt x="12" y="429"/>
                    <a:pt x="12" y="432"/>
                  </a:cubicBezTo>
                  <a:cubicBezTo>
                    <a:pt x="13" y="435"/>
                    <a:pt x="8" y="434"/>
                    <a:pt x="8" y="430"/>
                  </a:cubicBezTo>
                  <a:cubicBezTo>
                    <a:pt x="8" y="427"/>
                    <a:pt x="2" y="431"/>
                    <a:pt x="4" y="434"/>
                  </a:cubicBezTo>
                  <a:cubicBezTo>
                    <a:pt x="6" y="436"/>
                    <a:pt x="3" y="438"/>
                    <a:pt x="3" y="440"/>
                  </a:cubicBezTo>
                  <a:cubicBezTo>
                    <a:pt x="3" y="443"/>
                    <a:pt x="8" y="442"/>
                    <a:pt x="10" y="440"/>
                  </a:cubicBezTo>
                  <a:cubicBezTo>
                    <a:pt x="11" y="437"/>
                    <a:pt x="14" y="437"/>
                    <a:pt x="16" y="440"/>
                  </a:cubicBezTo>
                  <a:cubicBezTo>
                    <a:pt x="17" y="443"/>
                    <a:pt x="13" y="441"/>
                    <a:pt x="13" y="445"/>
                  </a:cubicBezTo>
                  <a:cubicBezTo>
                    <a:pt x="13" y="449"/>
                    <a:pt x="10" y="445"/>
                    <a:pt x="8" y="448"/>
                  </a:cubicBezTo>
                  <a:cubicBezTo>
                    <a:pt x="6" y="451"/>
                    <a:pt x="17" y="457"/>
                    <a:pt x="20" y="458"/>
                  </a:cubicBezTo>
                  <a:cubicBezTo>
                    <a:pt x="23" y="458"/>
                    <a:pt x="26" y="462"/>
                    <a:pt x="33" y="461"/>
                  </a:cubicBezTo>
                  <a:cubicBezTo>
                    <a:pt x="40" y="460"/>
                    <a:pt x="52" y="448"/>
                    <a:pt x="54" y="446"/>
                  </a:cubicBezTo>
                  <a:cubicBezTo>
                    <a:pt x="56" y="443"/>
                    <a:pt x="59" y="446"/>
                    <a:pt x="62" y="444"/>
                  </a:cubicBezTo>
                  <a:cubicBezTo>
                    <a:pt x="64" y="442"/>
                    <a:pt x="63" y="437"/>
                    <a:pt x="65" y="436"/>
                  </a:cubicBezTo>
                  <a:cubicBezTo>
                    <a:pt x="67" y="435"/>
                    <a:pt x="68" y="441"/>
                    <a:pt x="69" y="442"/>
                  </a:cubicBezTo>
                  <a:cubicBezTo>
                    <a:pt x="71" y="442"/>
                    <a:pt x="72" y="444"/>
                    <a:pt x="72" y="447"/>
                  </a:cubicBezTo>
                  <a:cubicBezTo>
                    <a:pt x="73" y="447"/>
                    <a:pt x="75" y="447"/>
                    <a:pt x="75" y="447"/>
                  </a:cubicBezTo>
                  <a:cubicBezTo>
                    <a:pt x="78" y="449"/>
                    <a:pt x="78" y="442"/>
                    <a:pt x="78" y="440"/>
                  </a:cubicBezTo>
                  <a:cubicBezTo>
                    <a:pt x="78" y="438"/>
                    <a:pt x="80" y="434"/>
                    <a:pt x="80" y="431"/>
                  </a:cubicBezTo>
                  <a:cubicBezTo>
                    <a:pt x="79" y="428"/>
                    <a:pt x="86" y="430"/>
                    <a:pt x="87" y="428"/>
                  </a:cubicBezTo>
                  <a:cubicBezTo>
                    <a:pt x="88" y="426"/>
                    <a:pt x="89" y="419"/>
                    <a:pt x="87" y="417"/>
                  </a:cubicBezTo>
                  <a:cubicBezTo>
                    <a:pt x="84" y="416"/>
                    <a:pt x="84" y="412"/>
                    <a:pt x="86" y="412"/>
                  </a:cubicBezTo>
                  <a:cubicBezTo>
                    <a:pt x="88" y="412"/>
                    <a:pt x="91" y="411"/>
                    <a:pt x="90" y="406"/>
                  </a:cubicBezTo>
                  <a:cubicBezTo>
                    <a:pt x="90" y="402"/>
                    <a:pt x="83" y="402"/>
                    <a:pt x="83" y="398"/>
                  </a:cubicBezTo>
                  <a:cubicBezTo>
                    <a:pt x="82" y="394"/>
                    <a:pt x="86" y="393"/>
                    <a:pt x="83" y="387"/>
                  </a:cubicBezTo>
                  <a:cubicBezTo>
                    <a:pt x="81" y="382"/>
                    <a:pt x="84" y="379"/>
                    <a:pt x="83" y="376"/>
                  </a:cubicBezTo>
                  <a:cubicBezTo>
                    <a:pt x="82" y="374"/>
                    <a:pt x="81" y="370"/>
                    <a:pt x="84" y="365"/>
                  </a:cubicBezTo>
                  <a:cubicBezTo>
                    <a:pt x="88" y="360"/>
                    <a:pt x="94" y="357"/>
                    <a:pt x="96" y="357"/>
                  </a:cubicBezTo>
                  <a:cubicBezTo>
                    <a:pt x="98" y="358"/>
                    <a:pt x="102" y="360"/>
                    <a:pt x="103" y="357"/>
                  </a:cubicBezTo>
                  <a:cubicBezTo>
                    <a:pt x="105" y="354"/>
                    <a:pt x="105" y="351"/>
                    <a:pt x="103" y="351"/>
                  </a:cubicBezTo>
                  <a:cubicBezTo>
                    <a:pt x="102" y="350"/>
                    <a:pt x="97" y="349"/>
                    <a:pt x="101" y="345"/>
                  </a:cubicBezTo>
                  <a:cubicBezTo>
                    <a:pt x="104" y="340"/>
                    <a:pt x="108" y="335"/>
                    <a:pt x="108" y="330"/>
                  </a:cubicBezTo>
                  <a:cubicBezTo>
                    <a:pt x="109" y="325"/>
                    <a:pt x="107" y="322"/>
                    <a:pt x="109" y="320"/>
                  </a:cubicBezTo>
                  <a:cubicBezTo>
                    <a:pt x="110" y="318"/>
                    <a:pt x="114" y="320"/>
                    <a:pt x="117" y="318"/>
                  </a:cubicBezTo>
                  <a:cubicBezTo>
                    <a:pt x="120" y="316"/>
                    <a:pt x="118" y="313"/>
                    <a:pt x="119" y="311"/>
                  </a:cubicBezTo>
                  <a:cubicBezTo>
                    <a:pt x="121" y="310"/>
                    <a:pt x="123" y="304"/>
                    <a:pt x="125" y="303"/>
                  </a:cubicBezTo>
                  <a:cubicBezTo>
                    <a:pt x="127" y="301"/>
                    <a:pt x="129" y="299"/>
                    <a:pt x="128" y="297"/>
                  </a:cubicBezTo>
                  <a:cubicBezTo>
                    <a:pt x="126" y="295"/>
                    <a:pt x="131" y="293"/>
                    <a:pt x="131" y="289"/>
                  </a:cubicBezTo>
                  <a:cubicBezTo>
                    <a:pt x="131" y="285"/>
                    <a:pt x="136" y="283"/>
                    <a:pt x="140" y="283"/>
                  </a:cubicBezTo>
                  <a:cubicBezTo>
                    <a:pt x="143" y="283"/>
                    <a:pt x="148" y="283"/>
                    <a:pt x="148" y="279"/>
                  </a:cubicBezTo>
                  <a:cubicBezTo>
                    <a:pt x="148" y="276"/>
                    <a:pt x="146" y="269"/>
                    <a:pt x="151" y="271"/>
                  </a:cubicBezTo>
                  <a:cubicBezTo>
                    <a:pt x="156" y="273"/>
                    <a:pt x="159" y="271"/>
                    <a:pt x="163" y="273"/>
                  </a:cubicBezTo>
                  <a:cubicBezTo>
                    <a:pt x="166" y="276"/>
                    <a:pt x="170" y="276"/>
                    <a:pt x="170" y="271"/>
                  </a:cubicBezTo>
                  <a:cubicBezTo>
                    <a:pt x="170" y="267"/>
                    <a:pt x="172" y="260"/>
                    <a:pt x="177" y="263"/>
                  </a:cubicBezTo>
                  <a:cubicBezTo>
                    <a:pt x="177" y="263"/>
                    <a:pt x="177" y="263"/>
                    <a:pt x="178" y="263"/>
                  </a:cubicBezTo>
                  <a:cubicBezTo>
                    <a:pt x="179" y="260"/>
                    <a:pt x="182" y="258"/>
                    <a:pt x="185" y="258"/>
                  </a:cubicBezTo>
                  <a:cubicBezTo>
                    <a:pt x="189" y="258"/>
                    <a:pt x="192" y="266"/>
                    <a:pt x="197" y="267"/>
                  </a:cubicBezTo>
                  <a:cubicBezTo>
                    <a:pt x="203" y="268"/>
                    <a:pt x="208" y="270"/>
                    <a:pt x="210" y="268"/>
                  </a:cubicBezTo>
                  <a:cubicBezTo>
                    <a:pt x="211" y="265"/>
                    <a:pt x="215" y="269"/>
                    <a:pt x="218" y="268"/>
                  </a:cubicBezTo>
                  <a:cubicBezTo>
                    <a:pt x="222" y="267"/>
                    <a:pt x="222" y="274"/>
                    <a:pt x="225" y="270"/>
                  </a:cubicBezTo>
                  <a:cubicBezTo>
                    <a:pt x="228" y="265"/>
                    <a:pt x="224" y="263"/>
                    <a:pt x="230" y="263"/>
                  </a:cubicBezTo>
                  <a:cubicBezTo>
                    <a:pt x="235" y="264"/>
                    <a:pt x="232" y="257"/>
                    <a:pt x="232" y="254"/>
                  </a:cubicBezTo>
                  <a:cubicBezTo>
                    <a:pt x="232" y="250"/>
                    <a:pt x="239" y="249"/>
                    <a:pt x="239" y="246"/>
                  </a:cubicBezTo>
                  <a:cubicBezTo>
                    <a:pt x="239" y="243"/>
                    <a:pt x="248" y="246"/>
                    <a:pt x="250" y="243"/>
                  </a:cubicBezTo>
                  <a:cubicBezTo>
                    <a:pt x="252" y="241"/>
                    <a:pt x="257" y="240"/>
                    <a:pt x="259" y="243"/>
                  </a:cubicBezTo>
                  <a:cubicBezTo>
                    <a:pt x="261" y="247"/>
                    <a:pt x="270" y="248"/>
                    <a:pt x="271" y="251"/>
                  </a:cubicBezTo>
                  <a:cubicBezTo>
                    <a:pt x="271" y="253"/>
                    <a:pt x="271" y="255"/>
                    <a:pt x="271" y="258"/>
                  </a:cubicBezTo>
                  <a:cubicBezTo>
                    <a:pt x="272" y="256"/>
                    <a:pt x="274" y="255"/>
                    <a:pt x="276" y="255"/>
                  </a:cubicBezTo>
                  <a:cubicBezTo>
                    <a:pt x="279" y="255"/>
                    <a:pt x="282" y="250"/>
                    <a:pt x="285" y="251"/>
                  </a:cubicBezTo>
                  <a:cubicBezTo>
                    <a:pt x="288" y="251"/>
                    <a:pt x="290" y="251"/>
                    <a:pt x="291" y="247"/>
                  </a:cubicBezTo>
                  <a:cubicBezTo>
                    <a:pt x="288" y="245"/>
                    <a:pt x="283" y="245"/>
                    <a:pt x="283" y="247"/>
                  </a:cubicBezTo>
                  <a:close/>
                  <a:moveTo>
                    <a:pt x="81" y="34"/>
                  </a:moveTo>
                  <a:cubicBezTo>
                    <a:pt x="86" y="35"/>
                    <a:pt x="76" y="40"/>
                    <a:pt x="75" y="45"/>
                  </a:cubicBezTo>
                  <a:cubicBezTo>
                    <a:pt x="73" y="49"/>
                    <a:pt x="82" y="54"/>
                    <a:pt x="86" y="57"/>
                  </a:cubicBezTo>
                  <a:cubicBezTo>
                    <a:pt x="90" y="61"/>
                    <a:pt x="99" y="60"/>
                    <a:pt x="102" y="58"/>
                  </a:cubicBezTo>
                  <a:cubicBezTo>
                    <a:pt x="105" y="56"/>
                    <a:pt x="104" y="49"/>
                    <a:pt x="108" y="49"/>
                  </a:cubicBezTo>
                  <a:cubicBezTo>
                    <a:pt x="113" y="50"/>
                    <a:pt x="110" y="46"/>
                    <a:pt x="114" y="44"/>
                  </a:cubicBezTo>
                  <a:cubicBezTo>
                    <a:pt x="117" y="43"/>
                    <a:pt x="118" y="48"/>
                    <a:pt x="115" y="51"/>
                  </a:cubicBezTo>
                  <a:cubicBezTo>
                    <a:pt x="112" y="55"/>
                    <a:pt x="120" y="54"/>
                    <a:pt x="125" y="50"/>
                  </a:cubicBezTo>
                  <a:cubicBezTo>
                    <a:pt x="129" y="46"/>
                    <a:pt x="130" y="50"/>
                    <a:pt x="129" y="54"/>
                  </a:cubicBezTo>
                  <a:cubicBezTo>
                    <a:pt x="128" y="58"/>
                    <a:pt x="119" y="56"/>
                    <a:pt x="116" y="60"/>
                  </a:cubicBezTo>
                  <a:cubicBezTo>
                    <a:pt x="112" y="65"/>
                    <a:pt x="102" y="61"/>
                    <a:pt x="98" y="66"/>
                  </a:cubicBezTo>
                  <a:cubicBezTo>
                    <a:pt x="93" y="71"/>
                    <a:pt x="102" y="71"/>
                    <a:pt x="108" y="70"/>
                  </a:cubicBezTo>
                  <a:cubicBezTo>
                    <a:pt x="114" y="69"/>
                    <a:pt x="126" y="68"/>
                    <a:pt x="131" y="69"/>
                  </a:cubicBezTo>
                  <a:cubicBezTo>
                    <a:pt x="135" y="70"/>
                    <a:pt x="128" y="72"/>
                    <a:pt x="120" y="72"/>
                  </a:cubicBezTo>
                  <a:cubicBezTo>
                    <a:pt x="113" y="72"/>
                    <a:pt x="110" y="74"/>
                    <a:pt x="111" y="76"/>
                  </a:cubicBezTo>
                  <a:cubicBezTo>
                    <a:pt x="111" y="78"/>
                    <a:pt x="100" y="74"/>
                    <a:pt x="100" y="78"/>
                  </a:cubicBezTo>
                  <a:cubicBezTo>
                    <a:pt x="99" y="83"/>
                    <a:pt x="110" y="84"/>
                    <a:pt x="111" y="87"/>
                  </a:cubicBezTo>
                  <a:cubicBezTo>
                    <a:pt x="112" y="90"/>
                    <a:pt x="119" y="87"/>
                    <a:pt x="122" y="88"/>
                  </a:cubicBezTo>
                  <a:cubicBezTo>
                    <a:pt x="125" y="89"/>
                    <a:pt x="117" y="91"/>
                    <a:pt x="116" y="93"/>
                  </a:cubicBezTo>
                  <a:cubicBezTo>
                    <a:pt x="115" y="94"/>
                    <a:pt x="124" y="96"/>
                    <a:pt x="126" y="98"/>
                  </a:cubicBezTo>
                  <a:cubicBezTo>
                    <a:pt x="127" y="101"/>
                    <a:pt x="133" y="99"/>
                    <a:pt x="133" y="96"/>
                  </a:cubicBezTo>
                  <a:cubicBezTo>
                    <a:pt x="133" y="91"/>
                    <a:pt x="139" y="78"/>
                    <a:pt x="146" y="76"/>
                  </a:cubicBezTo>
                  <a:cubicBezTo>
                    <a:pt x="154" y="73"/>
                    <a:pt x="149" y="70"/>
                    <a:pt x="150" y="66"/>
                  </a:cubicBezTo>
                  <a:cubicBezTo>
                    <a:pt x="151" y="62"/>
                    <a:pt x="157" y="65"/>
                    <a:pt x="156" y="62"/>
                  </a:cubicBezTo>
                  <a:cubicBezTo>
                    <a:pt x="154" y="58"/>
                    <a:pt x="155" y="57"/>
                    <a:pt x="160" y="52"/>
                  </a:cubicBezTo>
                  <a:cubicBezTo>
                    <a:pt x="164" y="48"/>
                    <a:pt x="167" y="51"/>
                    <a:pt x="173" y="48"/>
                  </a:cubicBezTo>
                  <a:cubicBezTo>
                    <a:pt x="179" y="46"/>
                    <a:pt x="182" y="50"/>
                    <a:pt x="175" y="51"/>
                  </a:cubicBezTo>
                  <a:cubicBezTo>
                    <a:pt x="170" y="51"/>
                    <a:pt x="173" y="58"/>
                    <a:pt x="177" y="59"/>
                  </a:cubicBezTo>
                  <a:cubicBezTo>
                    <a:pt x="182" y="61"/>
                    <a:pt x="178" y="63"/>
                    <a:pt x="181" y="63"/>
                  </a:cubicBezTo>
                  <a:cubicBezTo>
                    <a:pt x="185" y="64"/>
                    <a:pt x="184" y="69"/>
                    <a:pt x="179" y="74"/>
                  </a:cubicBezTo>
                  <a:cubicBezTo>
                    <a:pt x="175" y="79"/>
                    <a:pt x="180" y="80"/>
                    <a:pt x="190" y="76"/>
                  </a:cubicBezTo>
                  <a:cubicBezTo>
                    <a:pt x="199" y="73"/>
                    <a:pt x="193" y="79"/>
                    <a:pt x="196" y="82"/>
                  </a:cubicBezTo>
                  <a:cubicBezTo>
                    <a:pt x="199" y="85"/>
                    <a:pt x="206" y="80"/>
                    <a:pt x="210" y="75"/>
                  </a:cubicBezTo>
                  <a:cubicBezTo>
                    <a:pt x="214" y="71"/>
                    <a:pt x="220" y="71"/>
                    <a:pt x="220" y="69"/>
                  </a:cubicBezTo>
                  <a:cubicBezTo>
                    <a:pt x="220" y="66"/>
                    <a:pt x="216" y="65"/>
                    <a:pt x="212" y="67"/>
                  </a:cubicBezTo>
                  <a:cubicBezTo>
                    <a:pt x="209" y="68"/>
                    <a:pt x="200" y="67"/>
                    <a:pt x="203" y="65"/>
                  </a:cubicBezTo>
                  <a:cubicBezTo>
                    <a:pt x="206" y="62"/>
                    <a:pt x="205" y="60"/>
                    <a:pt x="201" y="60"/>
                  </a:cubicBezTo>
                  <a:cubicBezTo>
                    <a:pt x="196" y="61"/>
                    <a:pt x="188" y="58"/>
                    <a:pt x="192" y="57"/>
                  </a:cubicBezTo>
                  <a:cubicBezTo>
                    <a:pt x="196" y="55"/>
                    <a:pt x="189" y="50"/>
                    <a:pt x="186" y="51"/>
                  </a:cubicBezTo>
                  <a:cubicBezTo>
                    <a:pt x="182" y="51"/>
                    <a:pt x="183" y="47"/>
                    <a:pt x="184" y="44"/>
                  </a:cubicBezTo>
                  <a:cubicBezTo>
                    <a:pt x="184" y="41"/>
                    <a:pt x="174" y="40"/>
                    <a:pt x="176" y="39"/>
                  </a:cubicBezTo>
                  <a:cubicBezTo>
                    <a:pt x="178" y="38"/>
                    <a:pt x="171" y="36"/>
                    <a:pt x="170" y="38"/>
                  </a:cubicBezTo>
                  <a:cubicBezTo>
                    <a:pt x="168" y="40"/>
                    <a:pt x="165" y="39"/>
                    <a:pt x="165" y="36"/>
                  </a:cubicBezTo>
                  <a:cubicBezTo>
                    <a:pt x="165" y="33"/>
                    <a:pt x="158" y="34"/>
                    <a:pt x="155" y="34"/>
                  </a:cubicBezTo>
                  <a:cubicBezTo>
                    <a:pt x="152" y="35"/>
                    <a:pt x="153" y="28"/>
                    <a:pt x="150" y="26"/>
                  </a:cubicBezTo>
                  <a:cubicBezTo>
                    <a:pt x="147" y="23"/>
                    <a:pt x="143" y="30"/>
                    <a:pt x="141" y="30"/>
                  </a:cubicBezTo>
                  <a:cubicBezTo>
                    <a:pt x="139" y="29"/>
                    <a:pt x="143" y="25"/>
                    <a:pt x="144" y="22"/>
                  </a:cubicBezTo>
                  <a:cubicBezTo>
                    <a:pt x="145" y="19"/>
                    <a:pt x="134" y="15"/>
                    <a:pt x="132" y="18"/>
                  </a:cubicBezTo>
                  <a:cubicBezTo>
                    <a:pt x="131" y="21"/>
                    <a:pt x="129" y="13"/>
                    <a:pt x="126" y="12"/>
                  </a:cubicBezTo>
                  <a:cubicBezTo>
                    <a:pt x="124" y="12"/>
                    <a:pt x="126" y="17"/>
                    <a:pt x="124" y="18"/>
                  </a:cubicBezTo>
                  <a:cubicBezTo>
                    <a:pt x="121" y="18"/>
                    <a:pt x="118" y="21"/>
                    <a:pt x="122" y="23"/>
                  </a:cubicBezTo>
                  <a:cubicBezTo>
                    <a:pt x="126" y="26"/>
                    <a:pt x="130" y="38"/>
                    <a:pt x="129" y="40"/>
                  </a:cubicBezTo>
                  <a:cubicBezTo>
                    <a:pt x="129" y="42"/>
                    <a:pt x="117" y="31"/>
                    <a:pt x="117" y="26"/>
                  </a:cubicBezTo>
                  <a:cubicBezTo>
                    <a:pt x="116" y="21"/>
                    <a:pt x="110" y="16"/>
                    <a:pt x="109" y="20"/>
                  </a:cubicBezTo>
                  <a:cubicBezTo>
                    <a:pt x="107" y="24"/>
                    <a:pt x="103" y="25"/>
                    <a:pt x="104" y="29"/>
                  </a:cubicBezTo>
                  <a:cubicBezTo>
                    <a:pt x="106" y="33"/>
                    <a:pt x="101" y="34"/>
                    <a:pt x="101" y="31"/>
                  </a:cubicBezTo>
                  <a:cubicBezTo>
                    <a:pt x="101" y="28"/>
                    <a:pt x="95" y="25"/>
                    <a:pt x="93" y="24"/>
                  </a:cubicBezTo>
                  <a:cubicBezTo>
                    <a:pt x="91" y="24"/>
                    <a:pt x="99" y="23"/>
                    <a:pt x="102" y="21"/>
                  </a:cubicBezTo>
                  <a:cubicBezTo>
                    <a:pt x="106" y="19"/>
                    <a:pt x="99" y="17"/>
                    <a:pt x="96" y="19"/>
                  </a:cubicBezTo>
                  <a:cubicBezTo>
                    <a:pt x="93" y="21"/>
                    <a:pt x="88" y="17"/>
                    <a:pt x="86" y="20"/>
                  </a:cubicBezTo>
                  <a:cubicBezTo>
                    <a:pt x="84" y="23"/>
                    <a:pt x="82" y="20"/>
                    <a:pt x="78" y="19"/>
                  </a:cubicBezTo>
                  <a:cubicBezTo>
                    <a:pt x="75" y="19"/>
                    <a:pt x="72" y="24"/>
                    <a:pt x="69" y="23"/>
                  </a:cubicBezTo>
                  <a:cubicBezTo>
                    <a:pt x="67" y="22"/>
                    <a:pt x="65" y="28"/>
                    <a:pt x="69" y="35"/>
                  </a:cubicBezTo>
                  <a:cubicBezTo>
                    <a:pt x="73" y="41"/>
                    <a:pt x="76" y="33"/>
                    <a:pt x="81" y="34"/>
                  </a:cubicBezTo>
                  <a:close/>
                  <a:moveTo>
                    <a:pt x="71" y="54"/>
                  </a:moveTo>
                  <a:cubicBezTo>
                    <a:pt x="74" y="55"/>
                    <a:pt x="76" y="60"/>
                    <a:pt x="79" y="59"/>
                  </a:cubicBezTo>
                  <a:cubicBezTo>
                    <a:pt x="80" y="59"/>
                    <a:pt x="75" y="53"/>
                    <a:pt x="71" y="50"/>
                  </a:cubicBezTo>
                  <a:cubicBezTo>
                    <a:pt x="68" y="46"/>
                    <a:pt x="68" y="43"/>
                    <a:pt x="64" y="44"/>
                  </a:cubicBezTo>
                  <a:cubicBezTo>
                    <a:pt x="59" y="45"/>
                    <a:pt x="68" y="53"/>
                    <a:pt x="71" y="54"/>
                  </a:cubicBezTo>
                  <a:close/>
                  <a:moveTo>
                    <a:pt x="150" y="13"/>
                  </a:moveTo>
                  <a:cubicBezTo>
                    <a:pt x="153" y="15"/>
                    <a:pt x="147" y="15"/>
                    <a:pt x="149" y="18"/>
                  </a:cubicBezTo>
                  <a:cubicBezTo>
                    <a:pt x="157" y="25"/>
                    <a:pt x="186" y="17"/>
                    <a:pt x="190" y="19"/>
                  </a:cubicBezTo>
                  <a:cubicBezTo>
                    <a:pt x="194" y="21"/>
                    <a:pt x="165" y="24"/>
                    <a:pt x="167" y="27"/>
                  </a:cubicBezTo>
                  <a:cubicBezTo>
                    <a:pt x="168" y="30"/>
                    <a:pt x="191" y="32"/>
                    <a:pt x="193" y="30"/>
                  </a:cubicBezTo>
                  <a:cubicBezTo>
                    <a:pt x="195" y="28"/>
                    <a:pt x="199" y="34"/>
                    <a:pt x="207" y="35"/>
                  </a:cubicBezTo>
                  <a:cubicBezTo>
                    <a:pt x="214" y="35"/>
                    <a:pt x="214" y="32"/>
                    <a:pt x="219" y="32"/>
                  </a:cubicBezTo>
                  <a:cubicBezTo>
                    <a:pt x="225" y="31"/>
                    <a:pt x="234" y="29"/>
                    <a:pt x="234" y="25"/>
                  </a:cubicBezTo>
                  <a:cubicBezTo>
                    <a:pt x="234" y="22"/>
                    <a:pt x="251" y="18"/>
                    <a:pt x="249" y="13"/>
                  </a:cubicBezTo>
                  <a:cubicBezTo>
                    <a:pt x="248" y="7"/>
                    <a:pt x="232" y="11"/>
                    <a:pt x="227" y="9"/>
                  </a:cubicBezTo>
                  <a:cubicBezTo>
                    <a:pt x="223" y="6"/>
                    <a:pt x="212" y="3"/>
                    <a:pt x="210" y="7"/>
                  </a:cubicBezTo>
                  <a:cubicBezTo>
                    <a:pt x="209" y="10"/>
                    <a:pt x="206" y="11"/>
                    <a:pt x="204" y="10"/>
                  </a:cubicBezTo>
                  <a:cubicBezTo>
                    <a:pt x="203" y="8"/>
                    <a:pt x="205" y="0"/>
                    <a:pt x="198" y="3"/>
                  </a:cubicBezTo>
                  <a:cubicBezTo>
                    <a:pt x="190" y="5"/>
                    <a:pt x="197" y="13"/>
                    <a:pt x="196" y="14"/>
                  </a:cubicBezTo>
                  <a:cubicBezTo>
                    <a:pt x="194" y="15"/>
                    <a:pt x="187" y="12"/>
                    <a:pt x="187" y="9"/>
                  </a:cubicBezTo>
                  <a:cubicBezTo>
                    <a:pt x="186" y="5"/>
                    <a:pt x="178" y="12"/>
                    <a:pt x="177" y="8"/>
                  </a:cubicBezTo>
                  <a:cubicBezTo>
                    <a:pt x="176" y="4"/>
                    <a:pt x="167" y="1"/>
                    <a:pt x="165" y="1"/>
                  </a:cubicBezTo>
                  <a:cubicBezTo>
                    <a:pt x="163" y="1"/>
                    <a:pt x="167" y="4"/>
                    <a:pt x="166" y="6"/>
                  </a:cubicBezTo>
                  <a:cubicBezTo>
                    <a:pt x="165" y="8"/>
                    <a:pt x="160" y="4"/>
                    <a:pt x="158" y="4"/>
                  </a:cubicBezTo>
                  <a:cubicBezTo>
                    <a:pt x="156" y="4"/>
                    <a:pt x="159" y="8"/>
                    <a:pt x="158" y="10"/>
                  </a:cubicBezTo>
                  <a:cubicBezTo>
                    <a:pt x="157" y="12"/>
                    <a:pt x="153" y="4"/>
                    <a:pt x="149" y="4"/>
                  </a:cubicBezTo>
                  <a:cubicBezTo>
                    <a:pt x="146" y="4"/>
                    <a:pt x="147" y="8"/>
                    <a:pt x="145" y="8"/>
                  </a:cubicBezTo>
                  <a:cubicBezTo>
                    <a:pt x="142" y="9"/>
                    <a:pt x="148" y="12"/>
                    <a:pt x="150" y="1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4" name="Freeform 140"/>
            <p:cNvSpPr>
              <a:spLocks noChangeArrowheads="1"/>
            </p:cNvSpPr>
            <p:nvPr/>
          </p:nvSpPr>
          <p:spPr bwMode="auto">
            <a:xfrm>
              <a:off x="7694639" y="865187"/>
              <a:ext cx="73025" cy="26988"/>
            </a:xfrm>
            <a:custGeom>
              <a:avLst/>
              <a:gdLst>
                <a:gd name="T0" fmla="*/ 17 w 38"/>
                <a:gd name="T1" fmla="*/ 2 h 14"/>
                <a:gd name="T2" fmla="*/ 3 w 38"/>
                <a:gd name="T3" fmla="*/ 6 h 14"/>
                <a:gd name="T4" fmla="*/ 24 w 38"/>
                <a:gd name="T5" fmla="*/ 11 h 14"/>
                <a:gd name="T6" fmla="*/ 38 w 38"/>
                <a:gd name="T7" fmla="*/ 9 h 14"/>
                <a:gd name="T8" fmla="*/ 17 w 38"/>
                <a:gd name="T9" fmla="*/ 2 h 14"/>
                <a:gd name="T10" fmla="*/ 0 60000 65536"/>
                <a:gd name="T11" fmla="*/ 0 60000 65536"/>
                <a:gd name="T12" fmla="*/ 0 60000 65536"/>
                <a:gd name="T13" fmla="*/ 0 60000 65536"/>
                <a:gd name="T14" fmla="*/ 0 60000 65536"/>
                <a:gd name="T15" fmla="*/ 0 w 38"/>
                <a:gd name="T16" fmla="*/ 0 h 14"/>
                <a:gd name="T17" fmla="*/ 38 w 38"/>
                <a:gd name="T18" fmla="*/ 14 h 14"/>
              </a:gdLst>
              <a:ahLst/>
              <a:cxnLst>
                <a:cxn ang="T10">
                  <a:pos x="T0" y="T1"/>
                </a:cxn>
                <a:cxn ang="T11">
                  <a:pos x="T2" y="T3"/>
                </a:cxn>
                <a:cxn ang="T12">
                  <a:pos x="T4" y="T5"/>
                </a:cxn>
                <a:cxn ang="T13">
                  <a:pos x="T6" y="T7"/>
                </a:cxn>
                <a:cxn ang="T14">
                  <a:pos x="T8" y="T9"/>
                </a:cxn>
              </a:cxnLst>
              <a:rect l="T15" t="T16" r="T17" b="T18"/>
              <a:pathLst>
                <a:path w="38" h="14">
                  <a:moveTo>
                    <a:pt x="17" y="2"/>
                  </a:moveTo>
                  <a:cubicBezTo>
                    <a:pt x="15" y="3"/>
                    <a:pt x="0" y="2"/>
                    <a:pt x="3" y="6"/>
                  </a:cubicBezTo>
                  <a:cubicBezTo>
                    <a:pt x="6" y="9"/>
                    <a:pt x="18" y="7"/>
                    <a:pt x="24" y="11"/>
                  </a:cubicBezTo>
                  <a:cubicBezTo>
                    <a:pt x="30" y="14"/>
                    <a:pt x="38" y="11"/>
                    <a:pt x="38" y="9"/>
                  </a:cubicBezTo>
                  <a:cubicBezTo>
                    <a:pt x="38" y="6"/>
                    <a:pt x="19" y="0"/>
                    <a:pt x="17" y="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5" name="Freeform 141"/>
            <p:cNvSpPr>
              <a:spLocks noEditPoints="1" noChangeArrowheads="1"/>
            </p:cNvSpPr>
            <p:nvPr/>
          </p:nvSpPr>
          <p:spPr bwMode="auto">
            <a:xfrm>
              <a:off x="6416696" y="1409701"/>
              <a:ext cx="369889" cy="368300"/>
            </a:xfrm>
            <a:custGeom>
              <a:avLst/>
              <a:gdLst>
                <a:gd name="T0" fmla="*/ 171 w 193"/>
                <a:gd name="T1" fmla="*/ 24 h 193"/>
                <a:gd name="T2" fmla="*/ 139 w 193"/>
                <a:gd name="T3" fmla="*/ 9 h 193"/>
                <a:gd name="T4" fmla="*/ 135 w 193"/>
                <a:gd name="T5" fmla="*/ 31 h 193"/>
                <a:gd name="T6" fmla="*/ 121 w 193"/>
                <a:gd name="T7" fmla="*/ 41 h 193"/>
                <a:gd name="T8" fmla="*/ 119 w 193"/>
                <a:gd name="T9" fmla="*/ 57 h 193"/>
                <a:gd name="T10" fmla="*/ 131 w 193"/>
                <a:gd name="T11" fmla="*/ 53 h 193"/>
                <a:gd name="T12" fmla="*/ 134 w 193"/>
                <a:gd name="T13" fmla="*/ 44 h 193"/>
                <a:gd name="T14" fmla="*/ 158 w 193"/>
                <a:gd name="T15" fmla="*/ 45 h 193"/>
                <a:gd name="T16" fmla="*/ 180 w 193"/>
                <a:gd name="T17" fmla="*/ 32 h 193"/>
                <a:gd name="T18" fmla="*/ 182 w 193"/>
                <a:gd name="T19" fmla="*/ 21 h 193"/>
                <a:gd name="T20" fmla="*/ 119 w 193"/>
                <a:gd name="T21" fmla="*/ 82 h 193"/>
                <a:gd name="T22" fmla="*/ 106 w 193"/>
                <a:gd name="T23" fmla="*/ 108 h 193"/>
                <a:gd name="T24" fmla="*/ 89 w 193"/>
                <a:gd name="T25" fmla="*/ 112 h 193"/>
                <a:gd name="T26" fmla="*/ 73 w 193"/>
                <a:gd name="T27" fmla="*/ 132 h 193"/>
                <a:gd name="T28" fmla="*/ 53 w 193"/>
                <a:gd name="T29" fmla="*/ 136 h 193"/>
                <a:gd name="T30" fmla="*/ 19 w 193"/>
                <a:gd name="T31" fmla="*/ 150 h 193"/>
                <a:gd name="T32" fmla="*/ 31 w 193"/>
                <a:gd name="T33" fmla="*/ 154 h 193"/>
                <a:gd name="T34" fmla="*/ 64 w 193"/>
                <a:gd name="T35" fmla="*/ 157 h 193"/>
                <a:gd name="T36" fmla="*/ 81 w 193"/>
                <a:gd name="T37" fmla="*/ 149 h 193"/>
                <a:gd name="T38" fmla="*/ 99 w 193"/>
                <a:gd name="T39" fmla="*/ 146 h 193"/>
                <a:gd name="T40" fmla="*/ 114 w 193"/>
                <a:gd name="T41" fmla="*/ 140 h 193"/>
                <a:gd name="T42" fmla="*/ 128 w 193"/>
                <a:gd name="T43" fmla="*/ 122 h 193"/>
                <a:gd name="T44" fmla="*/ 141 w 193"/>
                <a:gd name="T45" fmla="*/ 93 h 193"/>
                <a:gd name="T46" fmla="*/ 121 w 193"/>
                <a:gd name="T47" fmla="*/ 67 h 193"/>
                <a:gd name="T48" fmla="*/ 37 w 193"/>
                <a:gd name="T49" fmla="*/ 156 h 193"/>
                <a:gd name="T50" fmla="*/ 42 w 193"/>
                <a:gd name="T51" fmla="*/ 168 h 193"/>
                <a:gd name="T52" fmla="*/ 59 w 193"/>
                <a:gd name="T53" fmla="*/ 155 h 193"/>
                <a:gd name="T54" fmla="*/ 25 w 193"/>
                <a:gd name="T55" fmla="*/ 166 h 193"/>
                <a:gd name="T56" fmla="*/ 7 w 193"/>
                <a:gd name="T57" fmla="*/ 163 h 193"/>
                <a:gd name="T58" fmla="*/ 8 w 193"/>
                <a:gd name="T59" fmla="*/ 168 h 193"/>
                <a:gd name="T60" fmla="*/ 14 w 193"/>
                <a:gd name="T61" fmla="*/ 193 h 193"/>
                <a:gd name="T62" fmla="*/ 25 w 193"/>
                <a:gd name="T63" fmla="*/ 166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3"/>
                <a:gd name="T97" fmla="*/ 0 h 193"/>
                <a:gd name="T98" fmla="*/ 193 w 193"/>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3" h="193">
                  <a:moveTo>
                    <a:pt x="182" y="21"/>
                  </a:moveTo>
                  <a:cubicBezTo>
                    <a:pt x="180" y="18"/>
                    <a:pt x="176" y="23"/>
                    <a:pt x="171" y="24"/>
                  </a:cubicBezTo>
                  <a:cubicBezTo>
                    <a:pt x="166" y="25"/>
                    <a:pt x="150" y="12"/>
                    <a:pt x="146" y="6"/>
                  </a:cubicBezTo>
                  <a:cubicBezTo>
                    <a:pt x="142" y="0"/>
                    <a:pt x="136" y="5"/>
                    <a:pt x="139" y="9"/>
                  </a:cubicBezTo>
                  <a:cubicBezTo>
                    <a:pt x="142" y="13"/>
                    <a:pt x="138" y="15"/>
                    <a:pt x="138" y="21"/>
                  </a:cubicBezTo>
                  <a:cubicBezTo>
                    <a:pt x="138" y="27"/>
                    <a:pt x="134" y="27"/>
                    <a:pt x="135" y="31"/>
                  </a:cubicBezTo>
                  <a:cubicBezTo>
                    <a:pt x="136" y="35"/>
                    <a:pt x="130" y="34"/>
                    <a:pt x="126" y="35"/>
                  </a:cubicBezTo>
                  <a:cubicBezTo>
                    <a:pt x="122" y="35"/>
                    <a:pt x="126" y="39"/>
                    <a:pt x="121" y="41"/>
                  </a:cubicBezTo>
                  <a:cubicBezTo>
                    <a:pt x="117" y="43"/>
                    <a:pt x="117" y="47"/>
                    <a:pt x="119" y="48"/>
                  </a:cubicBezTo>
                  <a:cubicBezTo>
                    <a:pt x="122" y="49"/>
                    <a:pt x="120" y="54"/>
                    <a:pt x="119" y="57"/>
                  </a:cubicBezTo>
                  <a:cubicBezTo>
                    <a:pt x="119" y="60"/>
                    <a:pt x="122" y="57"/>
                    <a:pt x="125" y="54"/>
                  </a:cubicBezTo>
                  <a:cubicBezTo>
                    <a:pt x="128" y="51"/>
                    <a:pt x="130" y="56"/>
                    <a:pt x="131" y="53"/>
                  </a:cubicBezTo>
                  <a:cubicBezTo>
                    <a:pt x="132" y="50"/>
                    <a:pt x="124" y="48"/>
                    <a:pt x="124" y="45"/>
                  </a:cubicBezTo>
                  <a:cubicBezTo>
                    <a:pt x="125" y="41"/>
                    <a:pt x="130" y="46"/>
                    <a:pt x="134" y="44"/>
                  </a:cubicBezTo>
                  <a:cubicBezTo>
                    <a:pt x="138" y="42"/>
                    <a:pt x="146" y="43"/>
                    <a:pt x="151" y="48"/>
                  </a:cubicBezTo>
                  <a:cubicBezTo>
                    <a:pt x="156" y="52"/>
                    <a:pt x="157" y="50"/>
                    <a:pt x="158" y="45"/>
                  </a:cubicBezTo>
                  <a:cubicBezTo>
                    <a:pt x="159" y="40"/>
                    <a:pt x="167" y="37"/>
                    <a:pt x="174" y="37"/>
                  </a:cubicBezTo>
                  <a:cubicBezTo>
                    <a:pt x="182" y="37"/>
                    <a:pt x="183" y="34"/>
                    <a:pt x="180" y="32"/>
                  </a:cubicBezTo>
                  <a:cubicBezTo>
                    <a:pt x="178" y="30"/>
                    <a:pt x="193" y="21"/>
                    <a:pt x="193" y="18"/>
                  </a:cubicBezTo>
                  <a:cubicBezTo>
                    <a:pt x="192" y="15"/>
                    <a:pt x="185" y="24"/>
                    <a:pt x="182" y="21"/>
                  </a:cubicBezTo>
                  <a:close/>
                  <a:moveTo>
                    <a:pt x="121" y="67"/>
                  </a:moveTo>
                  <a:cubicBezTo>
                    <a:pt x="118" y="68"/>
                    <a:pt x="115" y="79"/>
                    <a:pt x="119" y="82"/>
                  </a:cubicBezTo>
                  <a:cubicBezTo>
                    <a:pt x="123" y="85"/>
                    <a:pt x="113" y="90"/>
                    <a:pt x="113" y="97"/>
                  </a:cubicBezTo>
                  <a:cubicBezTo>
                    <a:pt x="114" y="103"/>
                    <a:pt x="107" y="103"/>
                    <a:pt x="106" y="108"/>
                  </a:cubicBezTo>
                  <a:cubicBezTo>
                    <a:pt x="105" y="112"/>
                    <a:pt x="102" y="111"/>
                    <a:pt x="96" y="116"/>
                  </a:cubicBezTo>
                  <a:cubicBezTo>
                    <a:pt x="90" y="120"/>
                    <a:pt x="87" y="115"/>
                    <a:pt x="89" y="112"/>
                  </a:cubicBezTo>
                  <a:cubicBezTo>
                    <a:pt x="90" y="109"/>
                    <a:pt x="80" y="114"/>
                    <a:pt x="80" y="121"/>
                  </a:cubicBezTo>
                  <a:cubicBezTo>
                    <a:pt x="81" y="128"/>
                    <a:pt x="71" y="129"/>
                    <a:pt x="73" y="132"/>
                  </a:cubicBezTo>
                  <a:cubicBezTo>
                    <a:pt x="76" y="136"/>
                    <a:pt x="66" y="138"/>
                    <a:pt x="66" y="135"/>
                  </a:cubicBezTo>
                  <a:cubicBezTo>
                    <a:pt x="67" y="132"/>
                    <a:pt x="60" y="133"/>
                    <a:pt x="53" y="136"/>
                  </a:cubicBezTo>
                  <a:cubicBezTo>
                    <a:pt x="45" y="139"/>
                    <a:pt x="40" y="133"/>
                    <a:pt x="36" y="137"/>
                  </a:cubicBezTo>
                  <a:cubicBezTo>
                    <a:pt x="32" y="142"/>
                    <a:pt x="24" y="149"/>
                    <a:pt x="19" y="150"/>
                  </a:cubicBezTo>
                  <a:cubicBezTo>
                    <a:pt x="13" y="151"/>
                    <a:pt x="16" y="158"/>
                    <a:pt x="19" y="157"/>
                  </a:cubicBezTo>
                  <a:cubicBezTo>
                    <a:pt x="23" y="155"/>
                    <a:pt x="29" y="157"/>
                    <a:pt x="31" y="154"/>
                  </a:cubicBezTo>
                  <a:cubicBezTo>
                    <a:pt x="33" y="151"/>
                    <a:pt x="49" y="147"/>
                    <a:pt x="59" y="147"/>
                  </a:cubicBezTo>
                  <a:cubicBezTo>
                    <a:pt x="69" y="147"/>
                    <a:pt x="63" y="152"/>
                    <a:pt x="64" y="157"/>
                  </a:cubicBezTo>
                  <a:cubicBezTo>
                    <a:pt x="65" y="162"/>
                    <a:pt x="73" y="161"/>
                    <a:pt x="77" y="156"/>
                  </a:cubicBezTo>
                  <a:cubicBezTo>
                    <a:pt x="82" y="151"/>
                    <a:pt x="85" y="152"/>
                    <a:pt x="81" y="149"/>
                  </a:cubicBezTo>
                  <a:cubicBezTo>
                    <a:pt x="78" y="146"/>
                    <a:pt x="82" y="143"/>
                    <a:pt x="85" y="147"/>
                  </a:cubicBezTo>
                  <a:cubicBezTo>
                    <a:pt x="87" y="151"/>
                    <a:pt x="96" y="151"/>
                    <a:pt x="99" y="146"/>
                  </a:cubicBezTo>
                  <a:cubicBezTo>
                    <a:pt x="102" y="141"/>
                    <a:pt x="103" y="147"/>
                    <a:pt x="107" y="147"/>
                  </a:cubicBezTo>
                  <a:cubicBezTo>
                    <a:pt x="111" y="146"/>
                    <a:pt x="114" y="136"/>
                    <a:pt x="114" y="140"/>
                  </a:cubicBezTo>
                  <a:cubicBezTo>
                    <a:pt x="114" y="144"/>
                    <a:pt x="121" y="143"/>
                    <a:pt x="125" y="138"/>
                  </a:cubicBezTo>
                  <a:cubicBezTo>
                    <a:pt x="129" y="134"/>
                    <a:pt x="125" y="126"/>
                    <a:pt x="128" y="122"/>
                  </a:cubicBezTo>
                  <a:cubicBezTo>
                    <a:pt x="130" y="118"/>
                    <a:pt x="133" y="110"/>
                    <a:pt x="130" y="105"/>
                  </a:cubicBezTo>
                  <a:cubicBezTo>
                    <a:pt x="128" y="100"/>
                    <a:pt x="136" y="97"/>
                    <a:pt x="141" y="93"/>
                  </a:cubicBezTo>
                  <a:cubicBezTo>
                    <a:pt x="145" y="89"/>
                    <a:pt x="136" y="69"/>
                    <a:pt x="135" y="63"/>
                  </a:cubicBezTo>
                  <a:cubicBezTo>
                    <a:pt x="135" y="57"/>
                    <a:pt x="124" y="65"/>
                    <a:pt x="121" y="67"/>
                  </a:cubicBezTo>
                  <a:close/>
                  <a:moveTo>
                    <a:pt x="48" y="153"/>
                  </a:moveTo>
                  <a:cubicBezTo>
                    <a:pt x="46" y="157"/>
                    <a:pt x="42" y="155"/>
                    <a:pt x="37" y="156"/>
                  </a:cubicBezTo>
                  <a:cubicBezTo>
                    <a:pt x="32" y="157"/>
                    <a:pt x="32" y="170"/>
                    <a:pt x="35" y="171"/>
                  </a:cubicBezTo>
                  <a:cubicBezTo>
                    <a:pt x="38" y="172"/>
                    <a:pt x="41" y="172"/>
                    <a:pt x="42" y="168"/>
                  </a:cubicBezTo>
                  <a:cubicBezTo>
                    <a:pt x="43" y="164"/>
                    <a:pt x="48" y="163"/>
                    <a:pt x="51" y="165"/>
                  </a:cubicBezTo>
                  <a:cubicBezTo>
                    <a:pt x="55" y="166"/>
                    <a:pt x="59" y="160"/>
                    <a:pt x="59" y="155"/>
                  </a:cubicBezTo>
                  <a:cubicBezTo>
                    <a:pt x="59" y="150"/>
                    <a:pt x="49" y="150"/>
                    <a:pt x="48" y="153"/>
                  </a:cubicBezTo>
                  <a:close/>
                  <a:moveTo>
                    <a:pt x="25" y="166"/>
                  </a:moveTo>
                  <a:cubicBezTo>
                    <a:pt x="25" y="163"/>
                    <a:pt x="17" y="164"/>
                    <a:pt x="17" y="161"/>
                  </a:cubicBezTo>
                  <a:cubicBezTo>
                    <a:pt x="17" y="158"/>
                    <a:pt x="12" y="159"/>
                    <a:pt x="7" y="163"/>
                  </a:cubicBezTo>
                  <a:cubicBezTo>
                    <a:pt x="2" y="167"/>
                    <a:pt x="0" y="167"/>
                    <a:pt x="2" y="171"/>
                  </a:cubicBezTo>
                  <a:cubicBezTo>
                    <a:pt x="4" y="175"/>
                    <a:pt x="7" y="171"/>
                    <a:pt x="8" y="168"/>
                  </a:cubicBezTo>
                  <a:cubicBezTo>
                    <a:pt x="10" y="164"/>
                    <a:pt x="13" y="173"/>
                    <a:pt x="10" y="179"/>
                  </a:cubicBezTo>
                  <a:cubicBezTo>
                    <a:pt x="7" y="185"/>
                    <a:pt x="10" y="193"/>
                    <a:pt x="14" y="193"/>
                  </a:cubicBezTo>
                  <a:cubicBezTo>
                    <a:pt x="18" y="192"/>
                    <a:pt x="22" y="180"/>
                    <a:pt x="27" y="174"/>
                  </a:cubicBezTo>
                  <a:cubicBezTo>
                    <a:pt x="32" y="167"/>
                    <a:pt x="25" y="170"/>
                    <a:pt x="25" y="16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6" name="Freeform 142"/>
            <p:cNvSpPr>
              <a:spLocks noEditPoints="1" noChangeArrowheads="1"/>
            </p:cNvSpPr>
            <p:nvPr/>
          </p:nvSpPr>
          <p:spPr bwMode="auto">
            <a:xfrm>
              <a:off x="5240356" y="1185863"/>
              <a:ext cx="1293818" cy="896939"/>
            </a:xfrm>
            <a:custGeom>
              <a:avLst/>
              <a:gdLst>
                <a:gd name="T0" fmla="*/ 643 w 677"/>
                <a:gd name="T1" fmla="*/ 87 h 469"/>
                <a:gd name="T2" fmla="*/ 610 w 677"/>
                <a:gd name="T3" fmla="*/ 63 h 469"/>
                <a:gd name="T4" fmla="*/ 583 w 677"/>
                <a:gd name="T5" fmla="*/ 26 h 469"/>
                <a:gd name="T6" fmla="*/ 544 w 677"/>
                <a:gd name="T7" fmla="*/ 1 h 469"/>
                <a:gd name="T8" fmla="*/ 517 w 677"/>
                <a:gd name="T9" fmla="*/ 21 h 469"/>
                <a:gd name="T10" fmla="*/ 495 w 677"/>
                <a:gd name="T11" fmla="*/ 54 h 469"/>
                <a:gd name="T12" fmla="*/ 461 w 677"/>
                <a:gd name="T13" fmla="*/ 73 h 469"/>
                <a:gd name="T14" fmla="*/ 482 w 677"/>
                <a:gd name="T15" fmla="*/ 86 h 469"/>
                <a:gd name="T16" fmla="*/ 481 w 677"/>
                <a:gd name="T17" fmla="*/ 105 h 469"/>
                <a:gd name="T18" fmla="*/ 422 w 677"/>
                <a:gd name="T19" fmla="*/ 126 h 469"/>
                <a:gd name="T20" fmla="*/ 380 w 677"/>
                <a:gd name="T21" fmla="*/ 162 h 469"/>
                <a:gd name="T22" fmla="*/ 315 w 677"/>
                <a:gd name="T23" fmla="*/ 166 h 469"/>
                <a:gd name="T24" fmla="*/ 241 w 677"/>
                <a:gd name="T25" fmla="*/ 156 h 469"/>
                <a:gd name="T26" fmla="*/ 210 w 677"/>
                <a:gd name="T27" fmla="*/ 125 h 469"/>
                <a:gd name="T28" fmla="*/ 182 w 677"/>
                <a:gd name="T29" fmla="*/ 90 h 469"/>
                <a:gd name="T30" fmla="*/ 153 w 677"/>
                <a:gd name="T31" fmla="*/ 65 h 469"/>
                <a:gd name="T32" fmla="*/ 137 w 677"/>
                <a:gd name="T33" fmla="*/ 76 h 469"/>
                <a:gd name="T34" fmla="*/ 111 w 677"/>
                <a:gd name="T35" fmla="*/ 96 h 469"/>
                <a:gd name="T36" fmla="*/ 88 w 677"/>
                <a:gd name="T37" fmla="*/ 121 h 469"/>
                <a:gd name="T38" fmla="*/ 78 w 677"/>
                <a:gd name="T39" fmla="*/ 150 h 469"/>
                <a:gd name="T40" fmla="*/ 52 w 677"/>
                <a:gd name="T41" fmla="*/ 175 h 469"/>
                <a:gd name="T42" fmla="*/ 19 w 677"/>
                <a:gd name="T43" fmla="*/ 186 h 469"/>
                <a:gd name="T44" fmla="*/ 0 w 677"/>
                <a:gd name="T45" fmla="*/ 200 h 469"/>
                <a:gd name="T46" fmla="*/ 15 w 677"/>
                <a:gd name="T47" fmla="*/ 232 h 469"/>
                <a:gd name="T48" fmla="*/ 39 w 677"/>
                <a:gd name="T49" fmla="*/ 254 h 469"/>
                <a:gd name="T50" fmla="*/ 59 w 677"/>
                <a:gd name="T51" fmla="*/ 247 h 469"/>
                <a:gd name="T52" fmla="*/ 56 w 677"/>
                <a:gd name="T53" fmla="*/ 276 h 469"/>
                <a:gd name="T54" fmla="*/ 56 w 677"/>
                <a:gd name="T55" fmla="*/ 304 h 469"/>
                <a:gd name="T56" fmla="*/ 77 w 677"/>
                <a:gd name="T57" fmla="*/ 322 h 469"/>
                <a:gd name="T58" fmla="*/ 138 w 677"/>
                <a:gd name="T59" fmla="*/ 347 h 469"/>
                <a:gd name="T60" fmla="*/ 162 w 677"/>
                <a:gd name="T61" fmla="*/ 353 h 469"/>
                <a:gd name="T62" fmla="*/ 183 w 677"/>
                <a:gd name="T63" fmla="*/ 347 h 469"/>
                <a:gd name="T64" fmla="*/ 210 w 677"/>
                <a:gd name="T65" fmla="*/ 340 h 469"/>
                <a:gd name="T66" fmla="*/ 243 w 677"/>
                <a:gd name="T67" fmla="*/ 340 h 469"/>
                <a:gd name="T68" fmla="*/ 261 w 677"/>
                <a:gd name="T69" fmla="*/ 352 h 469"/>
                <a:gd name="T70" fmla="*/ 256 w 677"/>
                <a:gd name="T71" fmla="*/ 395 h 469"/>
                <a:gd name="T72" fmla="*/ 274 w 677"/>
                <a:gd name="T73" fmla="*/ 419 h 469"/>
                <a:gd name="T74" fmla="*/ 298 w 677"/>
                <a:gd name="T75" fmla="*/ 430 h 469"/>
                <a:gd name="T76" fmla="*/ 316 w 677"/>
                <a:gd name="T77" fmla="*/ 412 h 469"/>
                <a:gd name="T78" fmla="*/ 352 w 677"/>
                <a:gd name="T79" fmla="*/ 410 h 469"/>
                <a:gd name="T80" fmla="*/ 375 w 677"/>
                <a:gd name="T81" fmla="*/ 425 h 469"/>
                <a:gd name="T82" fmla="*/ 393 w 677"/>
                <a:gd name="T83" fmla="*/ 440 h 469"/>
                <a:gd name="T84" fmla="*/ 445 w 677"/>
                <a:gd name="T85" fmla="*/ 413 h 469"/>
                <a:gd name="T86" fmla="*/ 484 w 677"/>
                <a:gd name="T87" fmla="*/ 392 h 469"/>
                <a:gd name="T88" fmla="*/ 504 w 677"/>
                <a:gd name="T89" fmla="*/ 368 h 469"/>
                <a:gd name="T90" fmla="*/ 523 w 677"/>
                <a:gd name="T91" fmla="*/ 345 h 469"/>
                <a:gd name="T92" fmla="*/ 527 w 677"/>
                <a:gd name="T93" fmla="*/ 323 h 469"/>
                <a:gd name="T94" fmla="*/ 522 w 677"/>
                <a:gd name="T95" fmla="*/ 306 h 469"/>
                <a:gd name="T96" fmla="*/ 519 w 677"/>
                <a:gd name="T97" fmla="*/ 290 h 469"/>
                <a:gd name="T98" fmla="*/ 505 w 677"/>
                <a:gd name="T99" fmla="*/ 252 h 469"/>
                <a:gd name="T100" fmla="*/ 536 w 677"/>
                <a:gd name="T101" fmla="*/ 234 h 469"/>
                <a:gd name="T102" fmla="*/ 496 w 677"/>
                <a:gd name="T103" fmla="*/ 223 h 469"/>
                <a:gd name="T104" fmla="*/ 512 w 677"/>
                <a:gd name="T105" fmla="*/ 192 h 469"/>
                <a:gd name="T106" fmla="*/ 529 w 677"/>
                <a:gd name="T107" fmla="*/ 208 h 469"/>
                <a:gd name="T108" fmla="*/ 580 w 677"/>
                <a:gd name="T109" fmla="*/ 179 h 469"/>
                <a:gd name="T110" fmla="*/ 606 w 677"/>
                <a:gd name="T111" fmla="*/ 168 h 469"/>
                <a:gd name="T112" fmla="*/ 633 w 677"/>
                <a:gd name="T113" fmla="*/ 157 h 469"/>
                <a:gd name="T114" fmla="*/ 636 w 677"/>
                <a:gd name="T115" fmla="*/ 127 h 469"/>
                <a:gd name="T116" fmla="*/ 667 w 677"/>
                <a:gd name="T117" fmla="*/ 107 h 469"/>
                <a:gd name="T118" fmla="*/ 516 w 677"/>
                <a:gd name="T119" fmla="*/ 418 h 469"/>
                <a:gd name="T120" fmla="*/ 380 w 677"/>
                <a:gd name="T121" fmla="*/ 460 h 46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77"/>
                <a:gd name="T184" fmla="*/ 0 h 469"/>
                <a:gd name="T185" fmla="*/ 677 w 677"/>
                <a:gd name="T186" fmla="*/ 469 h 469"/>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77" h="469">
                  <a:moveTo>
                    <a:pt x="673" y="83"/>
                  </a:moveTo>
                  <a:cubicBezTo>
                    <a:pt x="673" y="77"/>
                    <a:pt x="666" y="79"/>
                    <a:pt x="664" y="81"/>
                  </a:cubicBezTo>
                  <a:cubicBezTo>
                    <a:pt x="662" y="83"/>
                    <a:pt x="655" y="81"/>
                    <a:pt x="653" y="85"/>
                  </a:cubicBezTo>
                  <a:cubicBezTo>
                    <a:pt x="651" y="89"/>
                    <a:pt x="648" y="87"/>
                    <a:pt x="643" y="87"/>
                  </a:cubicBezTo>
                  <a:cubicBezTo>
                    <a:pt x="638" y="88"/>
                    <a:pt x="632" y="86"/>
                    <a:pt x="632" y="83"/>
                  </a:cubicBezTo>
                  <a:cubicBezTo>
                    <a:pt x="632" y="80"/>
                    <a:pt x="629" y="77"/>
                    <a:pt x="630" y="73"/>
                  </a:cubicBezTo>
                  <a:cubicBezTo>
                    <a:pt x="630" y="70"/>
                    <a:pt x="625" y="71"/>
                    <a:pt x="622" y="68"/>
                  </a:cubicBezTo>
                  <a:cubicBezTo>
                    <a:pt x="618" y="65"/>
                    <a:pt x="612" y="62"/>
                    <a:pt x="610" y="63"/>
                  </a:cubicBezTo>
                  <a:cubicBezTo>
                    <a:pt x="609" y="64"/>
                    <a:pt x="605" y="59"/>
                    <a:pt x="599" y="59"/>
                  </a:cubicBezTo>
                  <a:cubicBezTo>
                    <a:pt x="594" y="59"/>
                    <a:pt x="594" y="55"/>
                    <a:pt x="595" y="53"/>
                  </a:cubicBezTo>
                  <a:cubicBezTo>
                    <a:pt x="596" y="50"/>
                    <a:pt x="590" y="43"/>
                    <a:pt x="589" y="39"/>
                  </a:cubicBezTo>
                  <a:cubicBezTo>
                    <a:pt x="588" y="35"/>
                    <a:pt x="584" y="34"/>
                    <a:pt x="583" y="26"/>
                  </a:cubicBezTo>
                  <a:cubicBezTo>
                    <a:pt x="581" y="17"/>
                    <a:pt x="576" y="19"/>
                    <a:pt x="577" y="15"/>
                  </a:cubicBezTo>
                  <a:cubicBezTo>
                    <a:pt x="578" y="11"/>
                    <a:pt x="572" y="9"/>
                    <a:pt x="570" y="7"/>
                  </a:cubicBezTo>
                  <a:cubicBezTo>
                    <a:pt x="568" y="5"/>
                    <a:pt x="561" y="6"/>
                    <a:pt x="556" y="3"/>
                  </a:cubicBezTo>
                  <a:cubicBezTo>
                    <a:pt x="551" y="0"/>
                    <a:pt x="548" y="2"/>
                    <a:pt x="544" y="1"/>
                  </a:cubicBezTo>
                  <a:cubicBezTo>
                    <a:pt x="539" y="0"/>
                    <a:pt x="528" y="2"/>
                    <a:pt x="527" y="2"/>
                  </a:cubicBezTo>
                  <a:cubicBezTo>
                    <a:pt x="526" y="2"/>
                    <a:pt x="517" y="1"/>
                    <a:pt x="513" y="7"/>
                  </a:cubicBezTo>
                  <a:cubicBezTo>
                    <a:pt x="508" y="13"/>
                    <a:pt x="512" y="13"/>
                    <a:pt x="514" y="13"/>
                  </a:cubicBezTo>
                  <a:cubicBezTo>
                    <a:pt x="516" y="13"/>
                    <a:pt x="517" y="19"/>
                    <a:pt x="517" y="21"/>
                  </a:cubicBezTo>
                  <a:cubicBezTo>
                    <a:pt x="517" y="23"/>
                    <a:pt x="514" y="26"/>
                    <a:pt x="512" y="27"/>
                  </a:cubicBezTo>
                  <a:cubicBezTo>
                    <a:pt x="510" y="27"/>
                    <a:pt x="506" y="35"/>
                    <a:pt x="505" y="37"/>
                  </a:cubicBezTo>
                  <a:cubicBezTo>
                    <a:pt x="504" y="40"/>
                    <a:pt x="499" y="47"/>
                    <a:pt x="500" y="49"/>
                  </a:cubicBezTo>
                  <a:cubicBezTo>
                    <a:pt x="500" y="51"/>
                    <a:pt x="497" y="54"/>
                    <a:pt x="495" y="54"/>
                  </a:cubicBezTo>
                  <a:cubicBezTo>
                    <a:pt x="492" y="54"/>
                    <a:pt x="486" y="59"/>
                    <a:pt x="484" y="60"/>
                  </a:cubicBezTo>
                  <a:cubicBezTo>
                    <a:pt x="482" y="60"/>
                    <a:pt x="474" y="59"/>
                    <a:pt x="473" y="57"/>
                  </a:cubicBezTo>
                  <a:cubicBezTo>
                    <a:pt x="473" y="56"/>
                    <a:pt x="472" y="55"/>
                    <a:pt x="471" y="55"/>
                  </a:cubicBezTo>
                  <a:cubicBezTo>
                    <a:pt x="461" y="73"/>
                    <a:pt x="461" y="73"/>
                    <a:pt x="461" y="73"/>
                  </a:cubicBezTo>
                  <a:cubicBezTo>
                    <a:pt x="461" y="78"/>
                    <a:pt x="461" y="78"/>
                    <a:pt x="461" y="78"/>
                  </a:cubicBezTo>
                  <a:cubicBezTo>
                    <a:pt x="461" y="78"/>
                    <a:pt x="455" y="80"/>
                    <a:pt x="459" y="84"/>
                  </a:cubicBezTo>
                  <a:cubicBezTo>
                    <a:pt x="464" y="89"/>
                    <a:pt x="464" y="85"/>
                    <a:pt x="471" y="85"/>
                  </a:cubicBezTo>
                  <a:cubicBezTo>
                    <a:pt x="477" y="85"/>
                    <a:pt x="480" y="90"/>
                    <a:pt x="482" y="86"/>
                  </a:cubicBezTo>
                  <a:cubicBezTo>
                    <a:pt x="483" y="83"/>
                    <a:pt x="489" y="81"/>
                    <a:pt x="493" y="85"/>
                  </a:cubicBezTo>
                  <a:cubicBezTo>
                    <a:pt x="496" y="89"/>
                    <a:pt x="508" y="97"/>
                    <a:pt x="507" y="100"/>
                  </a:cubicBezTo>
                  <a:cubicBezTo>
                    <a:pt x="507" y="104"/>
                    <a:pt x="500" y="103"/>
                    <a:pt x="496" y="102"/>
                  </a:cubicBezTo>
                  <a:cubicBezTo>
                    <a:pt x="491" y="100"/>
                    <a:pt x="485" y="105"/>
                    <a:pt x="481" y="105"/>
                  </a:cubicBezTo>
                  <a:cubicBezTo>
                    <a:pt x="477" y="105"/>
                    <a:pt x="472" y="106"/>
                    <a:pt x="467" y="110"/>
                  </a:cubicBezTo>
                  <a:cubicBezTo>
                    <a:pt x="463" y="115"/>
                    <a:pt x="464" y="119"/>
                    <a:pt x="457" y="120"/>
                  </a:cubicBezTo>
                  <a:cubicBezTo>
                    <a:pt x="451" y="121"/>
                    <a:pt x="448" y="120"/>
                    <a:pt x="440" y="125"/>
                  </a:cubicBezTo>
                  <a:cubicBezTo>
                    <a:pt x="433" y="130"/>
                    <a:pt x="425" y="128"/>
                    <a:pt x="422" y="126"/>
                  </a:cubicBezTo>
                  <a:cubicBezTo>
                    <a:pt x="419" y="125"/>
                    <a:pt x="414" y="124"/>
                    <a:pt x="411" y="129"/>
                  </a:cubicBezTo>
                  <a:cubicBezTo>
                    <a:pt x="408" y="134"/>
                    <a:pt x="415" y="137"/>
                    <a:pt x="414" y="142"/>
                  </a:cubicBezTo>
                  <a:cubicBezTo>
                    <a:pt x="414" y="148"/>
                    <a:pt x="406" y="147"/>
                    <a:pt x="400" y="153"/>
                  </a:cubicBezTo>
                  <a:cubicBezTo>
                    <a:pt x="395" y="160"/>
                    <a:pt x="385" y="163"/>
                    <a:pt x="380" y="162"/>
                  </a:cubicBezTo>
                  <a:cubicBezTo>
                    <a:pt x="375" y="161"/>
                    <a:pt x="364" y="158"/>
                    <a:pt x="355" y="163"/>
                  </a:cubicBezTo>
                  <a:cubicBezTo>
                    <a:pt x="345" y="167"/>
                    <a:pt x="339" y="174"/>
                    <a:pt x="335" y="173"/>
                  </a:cubicBezTo>
                  <a:cubicBezTo>
                    <a:pt x="332" y="172"/>
                    <a:pt x="332" y="168"/>
                    <a:pt x="326" y="169"/>
                  </a:cubicBezTo>
                  <a:cubicBezTo>
                    <a:pt x="321" y="169"/>
                    <a:pt x="318" y="168"/>
                    <a:pt x="315" y="166"/>
                  </a:cubicBezTo>
                  <a:cubicBezTo>
                    <a:pt x="311" y="163"/>
                    <a:pt x="308" y="167"/>
                    <a:pt x="302" y="163"/>
                  </a:cubicBezTo>
                  <a:cubicBezTo>
                    <a:pt x="297" y="158"/>
                    <a:pt x="286" y="159"/>
                    <a:pt x="282" y="158"/>
                  </a:cubicBezTo>
                  <a:cubicBezTo>
                    <a:pt x="278" y="158"/>
                    <a:pt x="261" y="158"/>
                    <a:pt x="255" y="158"/>
                  </a:cubicBezTo>
                  <a:cubicBezTo>
                    <a:pt x="249" y="157"/>
                    <a:pt x="241" y="159"/>
                    <a:pt x="241" y="156"/>
                  </a:cubicBezTo>
                  <a:cubicBezTo>
                    <a:pt x="240" y="153"/>
                    <a:pt x="236" y="151"/>
                    <a:pt x="234" y="145"/>
                  </a:cubicBezTo>
                  <a:cubicBezTo>
                    <a:pt x="233" y="138"/>
                    <a:pt x="229" y="136"/>
                    <a:pt x="225" y="135"/>
                  </a:cubicBezTo>
                  <a:cubicBezTo>
                    <a:pt x="222" y="134"/>
                    <a:pt x="221" y="131"/>
                    <a:pt x="218" y="130"/>
                  </a:cubicBezTo>
                  <a:cubicBezTo>
                    <a:pt x="217" y="130"/>
                    <a:pt x="215" y="125"/>
                    <a:pt x="210" y="125"/>
                  </a:cubicBezTo>
                  <a:cubicBezTo>
                    <a:pt x="205" y="125"/>
                    <a:pt x="187" y="123"/>
                    <a:pt x="184" y="119"/>
                  </a:cubicBezTo>
                  <a:cubicBezTo>
                    <a:pt x="182" y="115"/>
                    <a:pt x="187" y="114"/>
                    <a:pt x="187" y="109"/>
                  </a:cubicBezTo>
                  <a:cubicBezTo>
                    <a:pt x="187" y="105"/>
                    <a:pt x="190" y="100"/>
                    <a:pt x="188" y="98"/>
                  </a:cubicBezTo>
                  <a:cubicBezTo>
                    <a:pt x="186" y="97"/>
                    <a:pt x="182" y="93"/>
                    <a:pt x="182" y="90"/>
                  </a:cubicBezTo>
                  <a:cubicBezTo>
                    <a:pt x="181" y="86"/>
                    <a:pt x="176" y="82"/>
                    <a:pt x="172" y="82"/>
                  </a:cubicBezTo>
                  <a:cubicBezTo>
                    <a:pt x="168" y="82"/>
                    <a:pt x="165" y="79"/>
                    <a:pt x="162" y="76"/>
                  </a:cubicBezTo>
                  <a:cubicBezTo>
                    <a:pt x="158" y="73"/>
                    <a:pt x="155" y="73"/>
                    <a:pt x="154" y="66"/>
                  </a:cubicBezTo>
                  <a:cubicBezTo>
                    <a:pt x="154" y="65"/>
                    <a:pt x="153" y="65"/>
                    <a:pt x="153" y="65"/>
                  </a:cubicBezTo>
                  <a:cubicBezTo>
                    <a:pt x="152" y="64"/>
                    <a:pt x="150" y="64"/>
                    <a:pt x="149" y="64"/>
                  </a:cubicBezTo>
                  <a:cubicBezTo>
                    <a:pt x="148" y="64"/>
                    <a:pt x="147" y="63"/>
                    <a:pt x="146" y="62"/>
                  </a:cubicBezTo>
                  <a:cubicBezTo>
                    <a:pt x="145" y="65"/>
                    <a:pt x="142" y="67"/>
                    <a:pt x="142" y="69"/>
                  </a:cubicBezTo>
                  <a:cubicBezTo>
                    <a:pt x="142" y="72"/>
                    <a:pt x="141" y="76"/>
                    <a:pt x="137" y="76"/>
                  </a:cubicBezTo>
                  <a:cubicBezTo>
                    <a:pt x="134" y="76"/>
                    <a:pt x="130" y="78"/>
                    <a:pt x="130" y="84"/>
                  </a:cubicBezTo>
                  <a:cubicBezTo>
                    <a:pt x="130" y="90"/>
                    <a:pt x="133" y="91"/>
                    <a:pt x="132" y="93"/>
                  </a:cubicBezTo>
                  <a:cubicBezTo>
                    <a:pt x="130" y="96"/>
                    <a:pt x="123" y="98"/>
                    <a:pt x="121" y="97"/>
                  </a:cubicBezTo>
                  <a:cubicBezTo>
                    <a:pt x="119" y="96"/>
                    <a:pt x="114" y="97"/>
                    <a:pt x="111" y="96"/>
                  </a:cubicBezTo>
                  <a:cubicBezTo>
                    <a:pt x="107" y="96"/>
                    <a:pt x="104" y="91"/>
                    <a:pt x="103" y="96"/>
                  </a:cubicBezTo>
                  <a:cubicBezTo>
                    <a:pt x="102" y="101"/>
                    <a:pt x="94" y="116"/>
                    <a:pt x="96" y="118"/>
                  </a:cubicBezTo>
                  <a:cubicBezTo>
                    <a:pt x="98" y="119"/>
                    <a:pt x="99" y="123"/>
                    <a:pt x="96" y="123"/>
                  </a:cubicBezTo>
                  <a:cubicBezTo>
                    <a:pt x="93" y="123"/>
                    <a:pt x="90" y="123"/>
                    <a:pt x="88" y="121"/>
                  </a:cubicBezTo>
                  <a:cubicBezTo>
                    <a:pt x="86" y="119"/>
                    <a:pt x="81" y="123"/>
                    <a:pt x="77" y="123"/>
                  </a:cubicBezTo>
                  <a:cubicBezTo>
                    <a:pt x="76" y="123"/>
                    <a:pt x="68" y="126"/>
                    <a:pt x="71" y="128"/>
                  </a:cubicBezTo>
                  <a:cubicBezTo>
                    <a:pt x="73" y="129"/>
                    <a:pt x="73" y="135"/>
                    <a:pt x="73" y="137"/>
                  </a:cubicBezTo>
                  <a:cubicBezTo>
                    <a:pt x="73" y="140"/>
                    <a:pt x="79" y="147"/>
                    <a:pt x="78" y="150"/>
                  </a:cubicBezTo>
                  <a:cubicBezTo>
                    <a:pt x="77" y="152"/>
                    <a:pt x="72" y="155"/>
                    <a:pt x="72" y="158"/>
                  </a:cubicBezTo>
                  <a:cubicBezTo>
                    <a:pt x="72" y="162"/>
                    <a:pt x="73" y="165"/>
                    <a:pt x="71" y="165"/>
                  </a:cubicBezTo>
                  <a:cubicBezTo>
                    <a:pt x="69" y="166"/>
                    <a:pt x="64" y="168"/>
                    <a:pt x="61" y="170"/>
                  </a:cubicBezTo>
                  <a:cubicBezTo>
                    <a:pt x="58" y="172"/>
                    <a:pt x="54" y="172"/>
                    <a:pt x="52" y="175"/>
                  </a:cubicBezTo>
                  <a:cubicBezTo>
                    <a:pt x="51" y="178"/>
                    <a:pt x="49" y="181"/>
                    <a:pt x="43" y="180"/>
                  </a:cubicBezTo>
                  <a:cubicBezTo>
                    <a:pt x="39" y="180"/>
                    <a:pt x="37" y="179"/>
                    <a:pt x="33" y="183"/>
                  </a:cubicBezTo>
                  <a:cubicBezTo>
                    <a:pt x="30" y="188"/>
                    <a:pt x="29" y="186"/>
                    <a:pt x="26" y="188"/>
                  </a:cubicBezTo>
                  <a:cubicBezTo>
                    <a:pt x="24" y="190"/>
                    <a:pt x="21" y="186"/>
                    <a:pt x="19" y="186"/>
                  </a:cubicBezTo>
                  <a:cubicBezTo>
                    <a:pt x="17" y="185"/>
                    <a:pt x="15" y="188"/>
                    <a:pt x="13" y="188"/>
                  </a:cubicBezTo>
                  <a:cubicBezTo>
                    <a:pt x="11" y="188"/>
                    <a:pt x="9" y="191"/>
                    <a:pt x="6" y="192"/>
                  </a:cubicBezTo>
                  <a:cubicBezTo>
                    <a:pt x="4" y="193"/>
                    <a:pt x="1" y="192"/>
                    <a:pt x="1" y="195"/>
                  </a:cubicBezTo>
                  <a:cubicBezTo>
                    <a:pt x="1" y="197"/>
                    <a:pt x="1" y="199"/>
                    <a:pt x="0" y="200"/>
                  </a:cubicBezTo>
                  <a:cubicBezTo>
                    <a:pt x="0" y="200"/>
                    <a:pt x="0" y="200"/>
                    <a:pt x="0" y="200"/>
                  </a:cubicBezTo>
                  <a:cubicBezTo>
                    <a:pt x="1" y="210"/>
                    <a:pt x="1" y="210"/>
                    <a:pt x="1" y="210"/>
                  </a:cubicBezTo>
                  <a:cubicBezTo>
                    <a:pt x="1" y="210"/>
                    <a:pt x="12" y="214"/>
                    <a:pt x="12" y="217"/>
                  </a:cubicBezTo>
                  <a:cubicBezTo>
                    <a:pt x="13" y="221"/>
                    <a:pt x="15" y="232"/>
                    <a:pt x="15" y="232"/>
                  </a:cubicBezTo>
                  <a:cubicBezTo>
                    <a:pt x="15" y="232"/>
                    <a:pt x="15" y="232"/>
                    <a:pt x="14" y="232"/>
                  </a:cubicBezTo>
                  <a:cubicBezTo>
                    <a:pt x="19" y="236"/>
                    <a:pt x="25" y="239"/>
                    <a:pt x="25" y="241"/>
                  </a:cubicBezTo>
                  <a:cubicBezTo>
                    <a:pt x="25" y="242"/>
                    <a:pt x="25" y="247"/>
                    <a:pt x="30" y="249"/>
                  </a:cubicBezTo>
                  <a:cubicBezTo>
                    <a:pt x="34" y="251"/>
                    <a:pt x="37" y="253"/>
                    <a:pt x="39" y="254"/>
                  </a:cubicBezTo>
                  <a:cubicBezTo>
                    <a:pt x="39" y="253"/>
                    <a:pt x="40" y="253"/>
                    <a:pt x="40" y="253"/>
                  </a:cubicBezTo>
                  <a:cubicBezTo>
                    <a:pt x="44" y="252"/>
                    <a:pt x="44" y="252"/>
                    <a:pt x="44" y="252"/>
                  </a:cubicBezTo>
                  <a:cubicBezTo>
                    <a:pt x="44" y="252"/>
                    <a:pt x="45" y="253"/>
                    <a:pt x="47" y="255"/>
                  </a:cubicBezTo>
                  <a:cubicBezTo>
                    <a:pt x="48" y="251"/>
                    <a:pt x="55" y="247"/>
                    <a:pt x="59" y="247"/>
                  </a:cubicBezTo>
                  <a:cubicBezTo>
                    <a:pt x="64" y="248"/>
                    <a:pt x="73" y="255"/>
                    <a:pt x="72" y="258"/>
                  </a:cubicBezTo>
                  <a:cubicBezTo>
                    <a:pt x="71" y="261"/>
                    <a:pt x="64" y="271"/>
                    <a:pt x="61" y="272"/>
                  </a:cubicBezTo>
                  <a:cubicBezTo>
                    <a:pt x="60" y="272"/>
                    <a:pt x="58" y="272"/>
                    <a:pt x="56" y="272"/>
                  </a:cubicBezTo>
                  <a:cubicBezTo>
                    <a:pt x="56" y="274"/>
                    <a:pt x="56" y="275"/>
                    <a:pt x="56" y="276"/>
                  </a:cubicBezTo>
                  <a:cubicBezTo>
                    <a:pt x="56" y="278"/>
                    <a:pt x="60" y="282"/>
                    <a:pt x="62" y="286"/>
                  </a:cubicBezTo>
                  <a:cubicBezTo>
                    <a:pt x="64" y="290"/>
                    <a:pt x="58" y="292"/>
                    <a:pt x="55" y="290"/>
                  </a:cubicBezTo>
                  <a:cubicBezTo>
                    <a:pt x="52" y="287"/>
                    <a:pt x="51" y="292"/>
                    <a:pt x="52" y="295"/>
                  </a:cubicBezTo>
                  <a:cubicBezTo>
                    <a:pt x="54" y="297"/>
                    <a:pt x="53" y="303"/>
                    <a:pt x="56" y="304"/>
                  </a:cubicBezTo>
                  <a:cubicBezTo>
                    <a:pt x="60" y="304"/>
                    <a:pt x="62" y="310"/>
                    <a:pt x="66" y="310"/>
                  </a:cubicBezTo>
                  <a:cubicBezTo>
                    <a:pt x="69" y="310"/>
                    <a:pt x="73" y="316"/>
                    <a:pt x="73" y="316"/>
                  </a:cubicBezTo>
                  <a:cubicBezTo>
                    <a:pt x="73" y="316"/>
                    <a:pt x="77" y="319"/>
                    <a:pt x="77" y="321"/>
                  </a:cubicBezTo>
                  <a:cubicBezTo>
                    <a:pt x="77" y="321"/>
                    <a:pt x="77" y="321"/>
                    <a:pt x="77" y="322"/>
                  </a:cubicBezTo>
                  <a:cubicBezTo>
                    <a:pt x="81" y="321"/>
                    <a:pt x="84" y="321"/>
                    <a:pt x="84" y="320"/>
                  </a:cubicBezTo>
                  <a:cubicBezTo>
                    <a:pt x="85" y="318"/>
                    <a:pt x="90" y="318"/>
                    <a:pt x="93" y="321"/>
                  </a:cubicBezTo>
                  <a:cubicBezTo>
                    <a:pt x="97" y="325"/>
                    <a:pt x="111" y="334"/>
                    <a:pt x="116" y="338"/>
                  </a:cubicBezTo>
                  <a:cubicBezTo>
                    <a:pt x="121" y="342"/>
                    <a:pt x="134" y="347"/>
                    <a:pt x="138" y="347"/>
                  </a:cubicBezTo>
                  <a:cubicBezTo>
                    <a:pt x="142" y="347"/>
                    <a:pt x="146" y="350"/>
                    <a:pt x="153" y="350"/>
                  </a:cubicBezTo>
                  <a:cubicBezTo>
                    <a:pt x="154" y="349"/>
                    <a:pt x="154" y="350"/>
                    <a:pt x="155" y="350"/>
                  </a:cubicBezTo>
                  <a:cubicBezTo>
                    <a:pt x="156" y="349"/>
                    <a:pt x="158" y="349"/>
                    <a:pt x="159" y="347"/>
                  </a:cubicBezTo>
                  <a:cubicBezTo>
                    <a:pt x="161" y="344"/>
                    <a:pt x="163" y="349"/>
                    <a:pt x="162" y="353"/>
                  </a:cubicBezTo>
                  <a:cubicBezTo>
                    <a:pt x="162" y="354"/>
                    <a:pt x="162" y="356"/>
                    <a:pt x="163" y="358"/>
                  </a:cubicBezTo>
                  <a:cubicBezTo>
                    <a:pt x="164" y="356"/>
                    <a:pt x="165" y="355"/>
                    <a:pt x="166" y="353"/>
                  </a:cubicBezTo>
                  <a:cubicBezTo>
                    <a:pt x="168" y="347"/>
                    <a:pt x="171" y="348"/>
                    <a:pt x="174" y="346"/>
                  </a:cubicBezTo>
                  <a:cubicBezTo>
                    <a:pt x="176" y="344"/>
                    <a:pt x="178" y="345"/>
                    <a:pt x="183" y="347"/>
                  </a:cubicBezTo>
                  <a:cubicBezTo>
                    <a:pt x="187" y="350"/>
                    <a:pt x="189" y="345"/>
                    <a:pt x="196" y="351"/>
                  </a:cubicBezTo>
                  <a:cubicBezTo>
                    <a:pt x="197" y="350"/>
                    <a:pt x="199" y="349"/>
                    <a:pt x="200" y="349"/>
                  </a:cubicBezTo>
                  <a:cubicBezTo>
                    <a:pt x="201" y="349"/>
                    <a:pt x="203" y="347"/>
                    <a:pt x="205" y="345"/>
                  </a:cubicBezTo>
                  <a:cubicBezTo>
                    <a:pt x="207" y="342"/>
                    <a:pt x="207" y="340"/>
                    <a:pt x="210" y="340"/>
                  </a:cubicBezTo>
                  <a:cubicBezTo>
                    <a:pt x="212" y="341"/>
                    <a:pt x="214" y="337"/>
                    <a:pt x="219" y="334"/>
                  </a:cubicBezTo>
                  <a:cubicBezTo>
                    <a:pt x="225" y="331"/>
                    <a:pt x="230" y="336"/>
                    <a:pt x="233" y="333"/>
                  </a:cubicBezTo>
                  <a:cubicBezTo>
                    <a:pt x="235" y="331"/>
                    <a:pt x="239" y="330"/>
                    <a:pt x="239" y="333"/>
                  </a:cubicBezTo>
                  <a:cubicBezTo>
                    <a:pt x="239" y="335"/>
                    <a:pt x="242" y="337"/>
                    <a:pt x="243" y="340"/>
                  </a:cubicBezTo>
                  <a:cubicBezTo>
                    <a:pt x="244" y="342"/>
                    <a:pt x="248" y="343"/>
                    <a:pt x="249" y="344"/>
                  </a:cubicBezTo>
                  <a:cubicBezTo>
                    <a:pt x="250" y="343"/>
                    <a:pt x="251" y="343"/>
                    <a:pt x="251" y="343"/>
                  </a:cubicBezTo>
                  <a:cubicBezTo>
                    <a:pt x="254" y="341"/>
                    <a:pt x="259" y="343"/>
                    <a:pt x="259" y="346"/>
                  </a:cubicBezTo>
                  <a:cubicBezTo>
                    <a:pt x="259" y="349"/>
                    <a:pt x="259" y="352"/>
                    <a:pt x="261" y="352"/>
                  </a:cubicBezTo>
                  <a:cubicBezTo>
                    <a:pt x="264" y="352"/>
                    <a:pt x="266" y="352"/>
                    <a:pt x="266" y="358"/>
                  </a:cubicBezTo>
                  <a:cubicBezTo>
                    <a:pt x="266" y="363"/>
                    <a:pt x="268" y="369"/>
                    <a:pt x="263" y="374"/>
                  </a:cubicBezTo>
                  <a:cubicBezTo>
                    <a:pt x="258" y="379"/>
                    <a:pt x="253" y="387"/>
                    <a:pt x="254" y="390"/>
                  </a:cubicBezTo>
                  <a:cubicBezTo>
                    <a:pt x="255" y="392"/>
                    <a:pt x="252" y="397"/>
                    <a:pt x="256" y="395"/>
                  </a:cubicBezTo>
                  <a:cubicBezTo>
                    <a:pt x="259" y="394"/>
                    <a:pt x="267" y="395"/>
                    <a:pt x="266" y="397"/>
                  </a:cubicBezTo>
                  <a:cubicBezTo>
                    <a:pt x="265" y="399"/>
                    <a:pt x="266" y="406"/>
                    <a:pt x="270" y="407"/>
                  </a:cubicBezTo>
                  <a:cubicBezTo>
                    <a:pt x="273" y="407"/>
                    <a:pt x="275" y="409"/>
                    <a:pt x="274" y="412"/>
                  </a:cubicBezTo>
                  <a:cubicBezTo>
                    <a:pt x="273" y="415"/>
                    <a:pt x="271" y="419"/>
                    <a:pt x="274" y="419"/>
                  </a:cubicBezTo>
                  <a:cubicBezTo>
                    <a:pt x="277" y="419"/>
                    <a:pt x="281" y="419"/>
                    <a:pt x="280" y="422"/>
                  </a:cubicBezTo>
                  <a:cubicBezTo>
                    <a:pt x="280" y="425"/>
                    <a:pt x="282" y="428"/>
                    <a:pt x="287" y="426"/>
                  </a:cubicBezTo>
                  <a:cubicBezTo>
                    <a:pt x="290" y="425"/>
                    <a:pt x="292" y="424"/>
                    <a:pt x="292" y="425"/>
                  </a:cubicBezTo>
                  <a:cubicBezTo>
                    <a:pt x="294" y="425"/>
                    <a:pt x="294" y="429"/>
                    <a:pt x="298" y="430"/>
                  </a:cubicBezTo>
                  <a:cubicBezTo>
                    <a:pt x="301" y="431"/>
                    <a:pt x="300" y="422"/>
                    <a:pt x="298" y="421"/>
                  </a:cubicBezTo>
                  <a:cubicBezTo>
                    <a:pt x="297" y="420"/>
                    <a:pt x="299" y="414"/>
                    <a:pt x="300" y="415"/>
                  </a:cubicBezTo>
                  <a:cubicBezTo>
                    <a:pt x="301" y="417"/>
                    <a:pt x="305" y="415"/>
                    <a:pt x="308" y="413"/>
                  </a:cubicBezTo>
                  <a:cubicBezTo>
                    <a:pt x="310" y="410"/>
                    <a:pt x="314" y="415"/>
                    <a:pt x="316" y="412"/>
                  </a:cubicBezTo>
                  <a:cubicBezTo>
                    <a:pt x="318" y="409"/>
                    <a:pt x="322" y="414"/>
                    <a:pt x="326" y="412"/>
                  </a:cubicBezTo>
                  <a:cubicBezTo>
                    <a:pt x="330" y="410"/>
                    <a:pt x="332" y="414"/>
                    <a:pt x="333" y="410"/>
                  </a:cubicBezTo>
                  <a:cubicBezTo>
                    <a:pt x="335" y="407"/>
                    <a:pt x="341" y="403"/>
                    <a:pt x="342" y="405"/>
                  </a:cubicBezTo>
                  <a:cubicBezTo>
                    <a:pt x="344" y="406"/>
                    <a:pt x="344" y="409"/>
                    <a:pt x="352" y="410"/>
                  </a:cubicBezTo>
                  <a:cubicBezTo>
                    <a:pt x="359" y="410"/>
                    <a:pt x="355" y="414"/>
                    <a:pt x="355" y="416"/>
                  </a:cubicBezTo>
                  <a:cubicBezTo>
                    <a:pt x="355" y="418"/>
                    <a:pt x="363" y="424"/>
                    <a:pt x="366" y="425"/>
                  </a:cubicBezTo>
                  <a:cubicBezTo>
                    <a:pt x="366" y="425"/>
                    <a:pt x="367" y="425"/>
                    <a:pt x="368" y="427"/>
                  </a:cubicBezTo>
                  <a:cubicBezTo>
                    <a:pt x="370" y="425"/>
                    <a:pt x="374" y="427"/>
                    <a:pt x="375" y="425"/>
                  </a:cubicBezTo>
                  <a:cubicBezTo>
                    <a:pt x="376" y="422"/>
                    <a:pt x="380" y="423"/>
                    <a:pt x="381" y="425"/>
                  </a:cubicBezTo>
                  <a:cubicBezTo>
                    <a:pt x="383" y="428"/>
                    <a:pt x="384" y="428"/>
                    <a:pt x="388" y="425"/>
                  </a:cubicBezTo>
                  <a:cubicBezTo>
                    <a:pt x="391" y="422"/>
                    <a:pt x="393" y="428"/>
                    <a:pt x="391" y="430"/>
                  </a:cubicBezTo>
                  <a:cubicBezTo>
                    <a:pt x="389" y="431"/>
                    <a:pt x="390" y="437"/>
                    <a:pt x="393" y="440"/>
                  </a:cubicBezTo>
                  <a:cubicBezTo>
                    <a:pt x="396" y="443"/>
                    <a:pt x="397" y="438"/>
                    <a:pt x="396" y="435"/>
                  </a:cubicBezTo>
                  <a:cubicBezTo>
                    <a:pt x="396" y="432"/>
                    <a:pt x="402" y="429"/>
                    <a:pt x="412" y="425"/>
                  </a:cubicBezTo>
                  <a:cubicBezTo>
                    <a:pt x="423" y="422"/>
                    <a:pt x="434" y="414"/>
                    <a:pt x="434" y="412"/>
                  </a:cubicBezTo>
                  <a:cubicBezTo>
                    <a:pt x="434" y="411"/>
                    <a:pt x="442" y="415"/>
                    <a:pt x="445" y="413"/>
                  </a:cubicBezTo>
                  <a:cubicBezTo>
                    <a:pt x="449" y="410"/>
                    <a:pt x="461" y="410"/>
                    <a:pt x="465" y="410"/>
                  </a:cubicBezTo>
                  <a:cubicBezTo>
                    <a:pt x="468" y="409"/>
                    <a:pt x="468" y="407"/>
                    <a:pt x="471" y="404"/>
                  </a:cubicBezTo>
                  <a:cubicBezTo>
                    <a:pt x="475" y="401"/>
                    <a:pt x="474" y="400"/>
                    <a:pt x="478" y="398"/>
                  </a:cubicBezTo>
                  <a:cubicBezTo>
                    <a:pt x="482" y="397"/>
                    <a:pt x="484" y="394"/>
                    <a:pt x="484" y="392"/>
                  </a:cubicBezTo>
                  <a:cubicBezTo>
                    <a:pt x="484" y="390"/>
                    <a:pt x="492" y="389"/>
                    <a:pt x="492" y="387"/>
                  </a:cubicBezTo>
                  <a:cubicBezTo>
                    <a:pt x="492" y="385"/>
                    <a:pt x="498" y="384"/>
                    <a:pt x="498" y="381"/>
                  </a:cubicBezTo>
                  <a:cubicBezTo>
                    <a:pt x="498" y="379"/>
                    <a:pt x="501" y="379"/>
                    <a:pt x="503" y="377"/>
                  </a:cubicBezTo>
                  <a:cubicBezTo>
                    <a:pt x="504" y="375"/>
                    <a:pt x="501" y="369"/>
                    <a:pt x="504" y="368"/>
                  </a:cubicBezTo>
                  <a:cubicBezTo>
                    <a:pt x="507" y="368"/>
                    <a:pt x="503" y="364"/>
                    <a:pt x="503" y="363"/>
                  </a:cubicBezTo>
                  <a:cubicBezTo>
                    <a:pt x="502" y="361"/>
                    <a:pt x="508" y="361"/>
                    <a:pt x="510" y="359"/>
                  </a:cubicBezTo>
                  <a:cubicBezTo>
                    <a:pt x="513" y="357"/>
                    <a:pt x="515" y="355"/>
                    <a:pt x="516" y="351"/>
                  </a:cubicBezTo>
                  <a:cubicBezTo>
                    <a:pt x="516" y="348"/>
                    <a:pt x="521" y="345"/>
                    <a:pt x="523" y="345"/>
                  </a:cubicBezTo>
                  <a:cubicBezTo>
                    <a:pt x="525" y="344"/>
                    <a:pt x="526" y="339"/>
                    <a:pt x="525" y="335"/>
                  </a:cubicBezTo>
                  <a:cubicBezTo>
                    <a:pt x="525" y="332"/>
                    <a:pt x="529" y="333"/>
                    <a:pt x="527" y="331"/>
                  </a:cubicBezTo>
                  <a:cubicBezTo>
                    <a:pt x="525" y="330"/>
                    <a:pt x="528" y="325"/>
                    <a:pt x="532" y="324"/>
                  </a:cubicBezTo>
                  <a:cubicBezTo>
                    <a:pt x="536" y="323"/>
                    <a:pt x="529" y="321"/>
                    <a:pt x="527" y="323"/>
                  </a:cubicBezTo>
                  <a:cubicBezTo>
                    <a:pt x="525" y="325"/>
                    <a:pt x="523" y="318"/>
                    <a:pt x="521" y="321"/>
                  </a:cubicBezTo>
                  <a:cubicBezTo>
                    <a:pt x="519" y="323"/>
                    <a:pt x="513" y="319"/>
                    <a:pt x="517" y="318"/>
                  </a:cubicBezTo>
                  <a:cubicBezTo>
                    <a:pt x="520" y="317"/>
                    <a:pt x="526" y="313"/>
                    <a:pt x="529" y="312"/>
                  </a:cubicBezTo>
                  <a:cubicBezTo>
                    <a:pt x="531" y="312"/>
                    <a:pt x="525" y="306"/>
                    <a:pt x="522" y="306"/>
                  </a:cubicBezTo>
                  <a:cubicBezTo>
                    <a:pt x="519" y="306"/>
                    <a:pt x="515" y="299"/>
                    <a:pt x="512" y="299"/>
                  </a:cubicBezTo>
                  <a:cubicBezTo>
                    <a:pt x="508" y="299"/>
                    <a:pt x="514" y="297"/>
                    <a:pt x="518" y="299"/>
                  </a:cubicBezTo>
                  <a:cubicBezTo>
                    <a:pt x="522" y="301"/>
                    <a:pt x="526" y="302"/>
                    <a:pt x="528" y="301"/>
                  </a:cubicBezTo>
                  <a:cubicBezTo>
                    <a:pt x="530" y="299"/>
                    <a:pt x="522" y="292"/>
                    <a:pt x="519" y="290"/>
                  </a:cubicBezTo>
                  <a:cubicBezTo>
                    <a:pt x="516" y="288"/>
                    <a:pt x="518" y="284"/>
                    <a:pt x="517" y="283"/>
                  </a:cubicBezTo>
                  <a:cubicBezTo>
                    <a:pt x="515" y="282"/>
                    <a:pt x="511" y="273"/>
                    <a:pt x="509" y="269"/>
                  </a:cubicBezTo>
                  <a:cubicBezTo>
                    <a:pt x="508" y="266"/>
                    <a:pt x="501" y="265"/>
                    <a:pt x="499" y="262"/>
                  </a:cubicBezTo>
                  <a:cubicBezTo>
                    <a:pt x="498" y="260"/>
                    <a:pt x="500" y="254"/>
                    <a:pt x="505" y="252"/>
                  </a:cubicBezTo>
                  <a:cubicBezTo>
                    <a:pt x="510" y="250"/>
                    <a:pt x="508" y="245"/>
                    <a:pt x="510" y="246"/>
                  </a:cubicBezTo>
                  <a:cubicBezTo>
                    <a:pt x="512" y="246"/>
                    <a:pt x="514" y="245"/>
                    <a:pt x="516" y="242"/>
                  </a:cubicBezTo>
                  <a:cubicBezTo>
                    <a:pt x="518" y="238"/>
                    <a:pt x="521" y="240"/>
                    <a:pt x="523" y="238"/>
                  </a:cubicBezTo>
                  <a:cubicBezTo>
                    <a:pt x="525" y="236"/>
                    <a:pt x="533" y="236"/>
                    <a:pt x="536" y="234"/>
                  </a:cubicBezTo>
                  <a:cubicBezTo>
                    <a:pt x="539" y="232"/>
                    <a:pt x="533" y="226"/>
                    <a:pt x="529" y="227"/>
                  </a:cubicBezTo>
                  <a:cubicBezTo>
                    <a:pt x="526" y="228"/>
                    <a:pt x="521" y="227"/>
                    <a:pt x="518" y="223"/>
                  </a:cubicBezTo>
                  <a:cubicBezTo>
                    <a:pt x="516" y="219"/>
                    <a:pt x="509" y="230"/>
                    <a:pt x="503" y="232"/>
                  </a:cubicBezTo>
                  <a:cubicBezTo>
                    <a:pt x="498" y="235"/>
                    <a:pt x="495" y="228"/>
                    <a:pt x="496" y="223"/>
                  </a:cubicBezTo>
                  <a:cubicBezTo>
                    <a:pt x="498" y="219"/>
                    <a:pt x="492" y="219"/>
                    <a:pt x="485" y="219"/>
                  </a:cubicBezTo>
                  <a:cubicBezTo>
                    <a:pt x="477" y="220"/>
                    <a:pt x="480" y="206"/>
                    <a:pt x="485" y="205"/>
                  </a:cubicBezTo>
                  <a:cubicBezTo>
                    <a:pt x="489" y="205"/>
                    <a:pt x="496" y="210"/>
                    <a:pt x="499" y="201"/>
                  </a:cubicBezTo>
                  <a:cubicBezTo>
                    <a:pt x="501" y="193"/>
                    <a:pt x="505" y="199"/>
                    <a:pt x="512" y="192"/>
                  </a:cubicBezTo>
                  <a:cubicBezTo>
                    <a:pt x="518" y="185"/>
                    <a:pt x="525" y="180"/>
                    <a:pt x="531" y="185"/>
                  </a:cubicBezTo>
                  <a:cubicBezTo>
                    <a:pt x="536" y="189"/>
                    <a:pt x="525" y="196"/>
                    <a:pt x="523" y="200"/>
                  </a:cubicBezTo>
                  <a:cubicBezTo>
                    <a:pt x="521" y="204"/>
                    <a:pt x="525" y="205"/>
                    <a:pt x="522" y="209"/>
                  </a:cubicBezTo>
                  <a:cubicBezTo>
                    <a:pt x="518" y="212"/>
                    <a:pt x="523" y="213"/>
                    <a:pt x="529" y="208"/>
                  </a:cubicBezTo>
                  <a:cubicBezTo>
                    <a:pt x="536" y="204"/>
                    <a:pt x="544" y="199"/>
                    <a:pt x="550" y="197"/>
                  </a:cubicBezTo>
                  <a:cubicBezTo>
                    <a:pt x="552" y="196"/>
                    <a:pt x="554" y="196"/>
                    <a:pt x="556" y="196"/>
                  </a:cubicBezTo>
                  <a:cubicBezTo>
                    <a:pt x="557" y="194"/>
                    <a:pt x="558" y="192"/>
                    <a:pt x="559" y="191"/>
                  </a:cubicBezTo>
                  <a:cubicBezTo>
                    <a:pt x="563" y="189"/>
                    <a:pt x="578" y="182"/>
                    <a:pt x="580" y="179"/>
                  </a:cubicBezTo>
                  <a:cubicBezTo>
                    <a:pt x="582" y="177"/>
                    <a:pt x="584" y="171"/>
                    <a:pt x="587" y="171"/>
                  </a:cubicBezTo>
                  <a:cubicBezTo>
                    <a:pt x="590" y="171"/>
                    <a:pt x="590" y="174"/>
                    <a:pt x="594" y="174"/>
                  </a:cubicBezTo>
                  <a:cubicBezTo>
                    <a:pt x="599" y="174"/>
                    <a:pt x="604" y="176"/>
                    <a:pt x="602" y="172"/>
                  </a:cubicBezTo>
                  <a:cubicBezTo>
                    <a:pt x="599" y="169"/>
                    <a:pt x="601" y="169"/>
                    <a:pt x="606" y="168"/>
                  </a:cubicBezTo>
                  <a:cubicBezTo>
                    <a:pt x="611" y="167"/>
                    <a:pt x="610" y="162"/>
                    <a:pt x="614" y="162"/>
                  </a:cubicBezTo>
                  <a:cubicBezTo>
                    <a:pt x="618" y="162"/>
                    <a:pt x="617" y="153"/>
                    <a:pt x="621" y="153"/>
                  </a:cubicBezTo>
                  <a:cubicBezTo>
                    <a:pt x="624" y="153"/>
                    <a:pt x="626" y="158"/>
                    <a:pt x="630" y="157"/>
                  </a:cubicBezTo>
                  <a:cubicBezTo>
                    <a:pt x="631" y="157"/>
                    <a:pt x="632" y="157"/>
                    <a:pt x="633" y="157"/>
                  </a:cubicBezTo>
                  <a:cubicBezTo>
                    <a:pt x="634" y="157"/>
                    <a:pt x="635" y="156"/>
                    <a:pt x="636" y="155"/>
                  </a:cubicBezTo>
                  <a:cubicBezTo>
                    <a:pt x="635" y="151"/>
                    <a:pt x="636" y="147"/>
                    <a:pt x="635" y="145"/>
                  </a:cubicBezTo>
                  <a:cubicBezTo>
                    <a:pt x="633" y="141"/>
                    <a:pt x="635" y="138"/>
                    <a:pt x="634" y="135"/>
                  </a:cubicBezTo>
                  <a:cubicBezTo>
                    <a:pt x="634" y="133"/>
                    <a:pt x="633" y="127"/>
                    <a:pt x="636" y="127"/>
                  </a:cubicBezTo>
                  <a:cubicBezTo>
                    <a:pt x="639" y="127"/>
                    <a:pt x="642" y="121"/>
                    <a:pt x="645" y="123"/>
                  </a:cubicBezTo>
                  <a:cubicBezTo>
                    <a:pt x="649" y="125"/>
                    <a:pt x="655" y="126"/>
                    <a:pt x="655" y="123"/>
                  </a:cubicBezTo>
                  <a:cubicBezTo>
                    <a:pt x="655" y="120"/>
                    <a:pt x="660" y="120"/>
                    <a:pt x="661" y="116"/>
                  </a:cubicBezTo>
                  <a:cubicBezTo>
                    <a:pt x="661" y="112"/>
                    <a:pt x="666" y="111"/>
                    <a:pt x="667" y="107"/>
                  </a:cubicBezTo>
                  <a:cubicBezTo>
                    <a:pt x="668" y="103"/>
                    <a:pt x="670" y="95"/>
                    <a:pt x="673" y="93"/>
                  </a:cubicBezTo>
                  <a:cubicBezTo>
                    <a:pt x="677" y="91"/>
                    <a:pt x="673" y="89"/>
                    <a:pt x="673" y="83"/>
                  </a:cubicBezTo>
                  <a:close/>
                  <a:moveTo>
                    <a:pt x="510" y="399"/>
                  </a:moveTo>
                  <a:cubicBezTo>
                    <a:pt x="506" y="412"/>
                    <a:pt x="515" y="419"/>
                    <a:pt x="516" y="418"/>
                  </a:cubicBezTo>
                  <a:cubicBezTo>
                    <a:pt x="519" y="416"/>
                    <a:pt x="533" y="387"/>
                    <a:pt x="530" y="383"/>
                  </a:cubicBezTo>
                  <a:cubicBezTo>
                    <a:pt x="527" y="379"/>
                    <a:pt x="513" y="386"/>
                    <a:pt x="510" y="399"/>
                  </a:cubicBezTo>
                  <a:close/>
                  <a:moveTo>
                    <a:pt x="391" y="444"/>
                  </a:moveTo>
                  <a:cubicBezTo>
                    <a:pt x="386" y="444"/>
                    <a:pt x="375" y="451"/>
                    <a:pt x="380" y="460"/>
                  </a:cubicBezTo>
                  <a:cubicBezTo>
                    <a:pt x="384" y="469"/>
                    <a:pt x="398" y="463"/>
                    <a:pt x="399" y="459"/>
                  </a:cubicBezTo>
                  <a:cubicBezTo>
                    <a:pt x="399" y="455"/>
                    <a:pt x="406" y="448"/>
                    <a:pt x="405" y="445"/>
                  </a:cubicBezTo>
                  <a:cubicBezTo>
                    <a:pt x="404" y="443"/>
                    <a:pt x="395" y="444"/>
                    <a:pt x="391" y="4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7" name="Freeform 143"/>
            <p:cNvSpPr>
              <a:spLocks noEditPoints="1" noChangeArrowheads="1"/>
            </p:cNvSpPr>
            <p:nvPr/>
          </p:nvSpPr>
          <p:spPr bwMode="auto">
            <a:xfrm>
              <a:off x="6148409" y="2065339"/>
              <a:ext cx="207964" cy="292101"/>
            </a:xfrm>
            <a:custGeom>
              <a:avLst/>
              <a:gdLst>
                <a:gd name="T0" fmla="*/ 58 w 109"/>
                <a:gd name="T1" fmla="*/ 59 h 153"/>
                <a:gd name="T2" fmla="*/ 72 w 109"/>
                <a:gd name="T3" fmla="*/ 69 h 153"/>
                <a:gd name="T4" fmla="*/ 75 w 109"/>
                <a:gd name="T5" fmla="*/ 79 h 153"/>
                <a:gd name="T6" fmla="*/ 80 w 109"/>
                <a:gd name="T7" fmla="*/ 84 h 153"/>
                <a:gd name="T8" fmla="*/ 85 w 109"/>
                <a:gd name="T9" fmla="*/ 98 h 153"/>
                <a:gd name="T10" fmla="*/ 89 w 109"/>
                <a:gd name="T11" fmla="*/ 95 h 153"/>
                <a:gd name="T12" fmla="*/ 94 w 109"/>
                <a:gd name="T13" fmla="*/ 88 h 153"/>
                <a:gd name="T14" fmla="*/ 91 w 109"/>
                <a:gd name="T15" fmla="*/ 75 h 153"/>
                <a:gd name="T16" fmla="*/ 78 w 109"/>
                <a:gd name="T17" fmla="*/ 66 h 153"/>
                <a:gd name="T18" fmla="*/ 71 w 109"/>
                <a:gd name="T19" fmla="*/ 56 h 153"/>
                <a:gd name="T20" fmla="*/ 55 w 109"/>
                <a:gd name="T21" fmla="*/ 53 h 153"/>
                <a:gd name="T22" fmla="*/ 49 w 109"/>
                <a:gd name="T23" fmla="*/ 43 h 153"/>
                <a:gd name="T24" fmla="*/ 57 w 109"/>
                <a:gd name="T25" fmla="*/ 27 h 153"/>
                <a:gd name="T26" fmla="*/ 56 w 109"/>
                <a:gd name="T27" fmla="*/ 8 h 153"/>
                <a:gd name="T28" fmla="*/ 54 w 109"/>
                <a:gd name="T29" fmla="*/ 4 h 153"/>
                <a:gd name="T30" fmla="*/ 38 w 109"/>
                <a:gd name="T31" fmla="*/ 3 h 153"/>
                <a:gd name="T32" fmla="*/ 36 w 109"/>
                <a:gd name="T33" fmla="*/ 29 h 153"/>
                <a:gd name="T34" fmla="*/ 30 w 109"/>
                <a:gd name="T35" fmla="*/ 28 h 153"/>
                <a:gd name="T36" fmla="*/ 33 w 109"/>
                <a:gd name="T37" fmla="*/ 43 h 153"/>
                <a:gd name="T38" fmla="*/ 36 w 109"/>
                <a:gd name="T39" fmla="*/ 52 h 153"/>
                <a:gd name="T40" fmla="*/ 48 w 109"/>
                <a:gd name="T41" fmla="*/ 56 h 153"/>
                <a:gd name="T42" fmla="*/ 58 w 109"/>
                <a:gd name="T43" fmla="*/ 59 h 153"/>
                <a:gd name="T44" fmla="*/ 37 w 109"/>
                <a:gd name="T45" fmla="*/ 62 h 153"/>
                <a:gd name="T46" fmla="*/ 47 w 109"/>
                <a:gd name="T47" fmla="*/ 74 h 153"/>
                <a:gd name="T48" fmla="*/ 37 w 109"/>
                <a:gd name="T49" fmla="*/ 62 h 153"/>
                <a:gd name="T50" fmla="*/ 55 w 109"/>
                <a:gd name="T51" fmla="*/ 94 h 153"/>
                <a:gd name="T52" fmla="*/ 61 w 109"/>
                <a:gd name="T53" fmla="*/ 91 h 153"/>
                <a:gd name="T54" fmla="*/ 62 w 109"/>
                <a:gd name="T55" fmla="*/ 100 h 153"/>
                <a:gd name="T56" fmla="*/ 64 w 109"/>
                <a:gd name="T57" fmla="*/ 112 h 153"/>
                <a:gd name="T58" fmla="*/ 76 w 109"/>
                <a:gd name="T59" fmla="*/ 94 h 153"/>
                <a:gd name="T60" fmla="*/ 72 w 109"/>
                <a:gd name="T61" fmla="*/ 92 h 153"/>
                <a:gd name="T62" fmla="*/ 55 w 109"/>
                <a:gd name="T63" fmla="*/ 79 h 153"/>
                <a:gd name="T64" fmla="*/ 55 w 109"/>
                <a:gd name="T65" fmla="*/ 94 h 153"/>
                <a:gd name="T66" fmla="*/ 16 w 109"/>
                <a:gd name="T67" fmla="*/ 101 h 153"/>
                <a:gd name="T68" fmla="*/ 2 w 109"/>
                <a:gd name="T69" fmla="*/ 119 h 153"/>
                <a:gd name="T70" fmla="*/ 22 w 109"/>
                <a:gd name="T71" fmla="*/ 100 h 153"/>
                <a:gd name="T72" fmla="*/ 25 w 109"/>
                <a:gd name="T73" fmla="*/ 88 h 153"/>
                <a:gd name="T74" fmla="*/ 16 w 109"/>
                <a:gd name="T75" fmla="*/ 101 h 153"/>
                <a:gd name="T76" fmla="*/ 75 w 109"/>
                <a:gd name="T77" fmla="*/ 107 h 153"/>
                <a:gd name="T78" fmla="*/ 84 w 109"/>
                <a:gd name="T79" fmla="*/ 102 h 153"/>
                <a:gd name="T80" fmla="*/ 75 w 109"/>
                <a:gd name="T81" fmla="*/ 107 h 153"/>
                <a:gd name="T82" fmla="*/ 105 w 109"/>
                <a:gd name="T83" fmla="*/ 133 h 153"/>
                <a:gd name="T84" fmla="*/ 103 w 109"/>
                <a:gd name="T85" fmla="*/ 108 h 153"/>
                <a:gd name="T86" fmla="*/ 95 w 109"/>
                <a:gd name="T87" fmla="*/ 108 h 153"/>
                <a:gd name="T88" fmla="*/ 88 w 109"/>
                <a:gd name="T89" fmla="*/ 114 h 153"/>
                <a:gd name="T90" fmla="*/ 82 w 109"/>
                <a:gd name="T91" fmla="*/ 119 h 153"/>
                <a:gd name="T92" fmla="*/ 72 w 109"/>
                <a:gd name="T93" fmla="*/ 116 h 153"/>
                <a:gd name="T94" fmla="*/ 59 w 109"/>
                <a:gd name="T95" fmla="*/ 124 h 153"/>
                <a:gd name="T96" fmla="*/ 54 w 109"/>
                <a:gd name="T97" fmla="*/ 136 h 153"/>
                <a:gd name="T98" fmla="*/ 64 w 109"/>
                <a:gd name="T99" fmla="*/ 130 h 153"/>
                <a:gd name="T100" fmla="*/ 73 w 109"/>
                <a:gd name="T101" fmla="*/ 127 h 153"/>
                <a:gd name="T102" fmla="*/ 82 w 109"/>
                <a:gd name="T103" fmla="*/ 147 h 153"/>
                <a:gd name="T104" fmla="*/ 94 w 109"/>
                <a:gd name="T105" fmla="*/ 153 h 153"/>
                <a:gd name="T106" fmla="*/ 93 w 109"/>
                <a:gd name="T107" fmla="*/ 138 h 153"/>
                <a:gd name="T108" fmla="*/ 105 w 109"/>
                <a:gd name="T109" fmla="*/ 133 h 15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9"/>
                <a:gd name="T166" fmla="*/ 0 h 153"/>
                <a:gd name="T167" fmla="*/ 109 w 109"/>
                <a:gd name="T168" fmla="*/ 153 h 15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9" h="153">
                  <a:moveTo>
                    <a:pt x="58" y="59"/>
                  </a:moveTo>
                  <a:cubicBezTo>
                    <a:pt x="64" y="58"/>
                    <a:pt x="73" y="66"/>
                    <a:pt x="72" y="69"/>
                  </a:cubicBezTo>
                  <a:cubicBezTo>
                    <a:pt x="70" y="72"/>
                    <a:pt x="72" y="82"/>
                    <a:pt x="75" y="79"/>
                  </a:cubicBezTo>
                  <a:cubicBezTo>
                    <a:pt x="78" y="76"/>
                    <a:pt x="83" y="80"/>
                    <a:pt x="80" y="84"/>
                  </a:cubicBezTo>
                  <a:cubicBezTo>
                    <a:pt x="77" y="88"/>
                    <a:pt x="84" y="93"/>
                    <a:pt x="85" y="98"/>
                  </a:cubicBezTo>
                  <a:cubicBezTo>
                    <a:pt x="86" y="103"/>
                    <a:pt x="90" y="99"/>
                    <a:pt x="89" y="95"/>
                  </a:cubicBezTo>
                  <a:cubicBezTo>
                    <a:pt x="88" y="91"/>
                    <a:pt x="90" y="91"/>
                    <a:pt x="94" y="88"/>
                  </a:cubicBezTo>
                  <a:cubicBezTo>
                    <a:pt x="98" y="85"/>
                    <a:pt x="94" y="80"/>
                    <a:pt x="91" y="75"/>
                  </a:cubicBezTo>
                  <a:cubicBezTo>
                    <a:pt x="88" y="69"/>
                    <a:pt x="78" y="71"/>
                    <a:pt x="78" y="66"/>
                  </a:cubicBezTo>
                  <a:cubicBezTo>
                    <a:pt x="78" y="60"/>
                    <a:pt x="71" y="59"/>
                    <a:pt x="71" y="56"/>
                  </a:cubicBezTo>
                  <a:cubicBezTo>
                    <a:pt x="70" y="53"/>
                    <a:pt x="61" y="50"/>
                    <a:pt x="55" y="53"/>
                  </a:cubicBezTo>
                  <a:cubicBezTo>
                    <a:pt x="49" y="56"/>
                    <a:pt x="53" y="47"/>
                    <a:pt x="49" y="43"/>
                  </a:cubicBezTo>
                  <a:cubicBezTo>
                    <a:pt x="45" y="38"/>
                    <a:pt x="52" y="32"/>
                    <a:pt x="57" y="27"/>
                  </a:cubicBezTo>
                  <a:cubicBezTo>
                    <a:pt x="62" y="21"/>
                    <a:pt x="56" y="12"/>
                    <a:pt x="56" y="8"/>
                  </a:cubicBezTo>
                  <a:cubicBezTo>
                    <a:pt x="57" y="4"/>
                    <a:pt x="57" y="3"/>
                    <a:pt x="54" y="4"/>
                  </a:cubicBezTo>
                  <a:cubicBezTo>
                    <a:pt x="52" y="6"/>
                    <a:pt x="42" y="0"/>
                    <a:pt x="38" y="3"/>
                  </a:cubicBezTo>
                  <a:cubicBezTo>
                    <a:pt x="34" y="6"/>
                    <a:pt x="38" y="28"/>
                    <a:pt x="36" y="29"/>
                  </a:cubicBezTo>
                  <a:cubicBezTo>
                    <a:pt x="34" y="31"/>
                    <a:pt x="31" y="26"/>
                    <a:pt x="30" y="28"/>
                  </a:cubicBezTo>
                  <a:cubicBezTo>
                    <a:pt x="29" y="31"/>
                    <a:pt x="31" y="43"/>
                    <a:pt x="33" y="43"/>
                  </a:cubicBezTo>
                  <a:cubicBezTo>
                    <a:pt x="36" y="43"/>
                    <a:pt x="38" y="47"/>
                    <a:pt x="36" y="52"/>
                  </a:cubicBezTo>
                  <a:cubicBezTo>
                    <a:pt x="35" y="57"/>
                    <a:pt x="41" y="58"/>
                    <a:pt x="48" y="56"/>
                  </a:cubicBezTo>
                  <a:cubicBezTo>
                    <a:pt x="54" y="53"/>
                    <a:pt x="52" y="60"/>
                    <a:pt x="58" y="59"/>
                  </a:cubicBezTo>
                  <a:close/>
                  <a:moveTo>
                    <a:pt x="37" y="62"/>
                  </a:moveTo>
                  <a:cubicBezTo>
                    <a:pt x="38" y="67"/>
                    <a:pt x="40" y="76"/>
                    <a:pt x="47" y="74"/>
                  </a:cubicBezTo>
                  <a:cubicBezTo>
                    <a:pt x="55" y="72"/>
                    <a:pt x="36" y="58"/>
                    <a:pt x="37" y="62"/>
                  </a:cubicBezTo>
                  <a:close/>
                  <a:moveTo>
                    <a:pt x="55" y="94"/>
                  </a:moveTo>
                  <a:cubicBezTo>
                    <a:pt x="57" y="94"/>
                    <a:pt x="61" y="94"/>
                    <a:pt x="61" y="91"/>
                  </a:cubicBezTo>
                  <a:cubicBezTo>
                    <a:pt x="62" y="88"/>
                    <a:pt x="65" y="97"/>
                    <a:pt x="62" y="100"/>
                  </a:cubicBezTo>
                  <a:cubicBezTo>
                    <a:pt x="59" y="103"/>
                    <a:pt x="59" y="111"/>
                    <a:pt x="64" y="112"/>
                  </a:cubicBezTo>
                  <a:cubicBezTo>
                    <a:pt x="69" y="113"/>
                    <a:pt x="77" y="97"/>
                    <a:pt x="76" y="94"/>
                  </a:cubicBezTo>
                  <a:cubicBezTo>
                    <a:pt x="75" y="91"/>
                    <a:pt x="71" y="96"/>
                    <a:pt x="72" y="92"/>
                  </a:cubicBezTo>
                  <a:cubicBezTo>
                    <a:pt x="73" y="88"/>
                    <a:pt x="60" y="78"/>
                    <a:pt x="55" y="79"/>
                  </a:cubicBezTo>
                  <a:cubicBezTo>
                    <a:pt x="50" y="80"/>
                    <a:pt x="51" y="95"/>
                    <a:pt x="55" y="94"/>
                  </a:cubicBezTo>
                  <a:close/>
                  <a:moveTo>
                    <a:pt x="16" y="101"/>
                  </a:moveTo>
                  <a:cubicBezTo>
                    <a:pt x="11" y="107"/>
                    <a:pt x="0" y="116"/>
                    <a:pt x="2" y="119"/>
                  </a:cubicBezTo>
                  <a:cubicBezTo>
                    <a:pt x="4" y="123"/>
                    <a:pt x="16" y="105"/>
                    <a:pt x="22" y="100"/>
                  </a:cubicBezTo>
                  <a:cubicBezTo>
                    <a:pt x="28" y="96"/>
                    <a:pt x="27" y="92"/>
                    <a:pt x="25" y="88"/>
                  </a:cubicBezTo>
                  <a:cubicBezTo>
                    <a:pt x="23" y="84"/>
                    <a:pt x="21" y="95"/>
                    <a:pt x="16" y="101"/>
                  </a:cubicBezTo>
                  <a:close/>
                  <a:moveTo>
                    <a:pt x="75" y="107"/>
                  </a:moveTo>
                  <a:cubicBezTo>
                    <a:pt x="77" y="111"/>
                    <a:pt x="86" y="105"/>
                    <a:pt x="84" y="102"/>
                  </a:cubicBezTo>
                  <a:cubicBezTo>
                    <a:pt x="81" y="99"/>
                    <a:pt x="74" y="105"/>
                    <a:pt x="75" y="107"/>
                  </a:cubicBezTo>
                  <a:close/>
                  <a:moveTo>
                    <a:pt x="105" y="133"/>
                  </a:moveTo>
                  <a:cubicBezTo>
                    <a:pt x="109" y="129"/>
                    <a:pt x="103" y="116"/>
                    <a:pt x="103" y="108"/>
                  </a:cubicBezTo>
                  <a:cubicBezTo>
                    <a:pt x="103" y="100"/>
                    <a:pt x="92" y="103"/>
                    <a:pt x="95" y="108"/>
                  </a:cubicBezTo>
                  <a:cubicBezTo>
                    <a:pt x="98" y="113"/>
                    <a:pt x="89" y="109"/>
                    <a:pt x="88" y="114"/>
                  </a:cubicBezTo>
                  <a:cubicBezTo>
                    <a:pt x="88" y="119"/>
                    <a:pt x="81" y="115"/>
                    <a:pt x="82" y="119"/>
                  </a:cubicBezTo>
                  <a:cubicBezTo>
                    <a:pt x="82" y="123"/>
                    <a:pt x="75" y="119"/>
                    <a:pt x="72" y="116"/>
                  </a:cubicBezTo>
                  <a:cubicBezTo>
                    <a:pt x="68" y="114"/>
                    <a:pt x="64" y="123"/>
                    <a:pt x="59" y="124"/>
                  </a:cubicBezTo>
                  <a:cubicBezTo>
                    <a:pt x="54" y="125"/>
                    <a:pt x="51" y="136"/>
                    <a:pt x="54" y="136"/>
                  </a:cubicBezTo>
                  <a:cubicBezTo>
                    <a:pt x="58" y="135"/>
                    <a:pt x="60" y="130"/>
                    <a:pt x="64" y="130"/>
                  </a:cubicBezTo>
                  <a:cubicBezTo>
                    <a:pt x="68" y="131"/>
                    <a:pt x="67" y="126"/>
                    <a:pt x="73" y="127"/>
                  </a:cubicBezTo>
                  <a:cubicBezTo>
                    <a:pt x="78" y="128"/>
                    <a:pt x="74" y="145"/>
                    <a:pt x="82" y="147"/>
                  </a:cubicBezTo>
                  <a:cubicBezTo>
                    <a:pt x="90" y="148"/>
                    <a:pt x="90" y="153"/>
                    <a:pt x="94" y="153"/>
                  </a:cubicBezTo>
                  <a:cubicBezTo>
                    <a:pt x="97" y="153"/>
                    <a:pt x="93" y="142"/>
                    <a:pt x="93" y="138"/>
                  </a:cubicBezTo>
                  <a:cubicBezTo>
                    <a:pt x="94" y="135"/>
                    <a:pt x="101" y="138"/>
                    <a:pt x="105" y="13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8" name="Freeform 144"/>
            <p:cNvSpPr>
              <a:spLocks noEditPoints="1" noChangeArrowheads="1"/>
            </p:cNvSpPr>
            <p:nvPr/>
          </p:nvSpPr>
          <p:spPr bwMode="auto">
            <a:xfrm>
              <a:off x="6664347" y="2535240"/>
              <a:ext cx="273051" cy="173039"/>
            </a:xfrm>
            <a:custGeom>
              <a:avLst/>
              <a:gdLst>
                <a:gd name="T0" fmla="*/ 102 w 143"/>
                <a:gd name="T1" fmla="*/ 84 h 91"/>
                <a:gd name="T2" fmla="*/ 94 w 143"/>
                <a:gd name="T3" fmla="*/ 76 h 91"/>
                <a:gd name="T4" fmla="*/ 83 w 143"/>
                <a:gd name="T5" fmla="*/ 71 h 91"/>
                <a:gd name="T6" fmla="*/ 75 w 143"/>
                <a:gd name="T7" fmla="*/ 56 h 91"/>
                <a:gd name="T8" fmla="*/ 72 w 143"/>
                <a:gd name="T9" fmla="*/ 47 h 91"/>
                <a:gd name="T10" fmla="*/ 75 w 143"/>
                <a:gd name="T11" fmla="*/ 39 h 91"/>
                <a:gd name="T12" fmla="*/ 52 w 143"/>
                <a:gd name="T13" fmla="*/ 27 h 91"/>
                <a:gd name="T14" fmla="*/ 8 w 143"/>
                <a:gd name="T15" fmla="*/ 3 h 91"/>
                <a:gd name="T16" fmla="*/ 0 w 143"/>
                <a:gd name="T17" fmla="*/ 0 h 91"/>
                <a:gd name="T18" fmla="*/ 0 w 143"/>
                <a:gd name="T19" fmla="*/ 71 h 91"/>
                <a:gd name="T20" fmla="*/ 12 w 143"/>
                <a:gd name="T21" fmla="*/ 75 h 91"/>
                <a:gd name="T22" fmla="*/ 25 w 143"/>
                <a:gd name="T23" fmla="*/ 68 h 91"/>
                <a:gd name="T24" fmla="*/ 32 w 143"/>
                <a:gd name="T25" fmla="*/ 59 h 91"/>
                <a:gd name="T26" fmla="*/ 56 w 143"/>
                <a:gd name="T27" fmla="*/ 65 h 91"/>
                <a:gd name="T28" fmla="*/ 80 w 143"/>
                <a:gd name="T29" fmla="*/ 87 h 91"/>
                <a:gd name="T30" fmla="*/ 104 w 143"/>
                <a:gd name="T31" fmla="*/ 91 h 91"/>
                <a:gd name="T32" fmla="*/ 102 w 143"/>
                <a:gd name="T33" fmla="*/ 84 h 91"/>
                <a:gd name="T34" fmla="*/ 121 w 143"/>
                <a:gd name="T35" fmla="*/ 25 h 91"/>
                <a:gd name="T36" fmla="*/ 108 w 143"/>
                <a:gd name="T37" fmla="*/ 33 h 91"/>
                <a:gd name="T38" fmla="*/ 84 w 143"/>
                <a:gd name="T39" fmla="*/ 34 h 91"/>
                <a:gd name="T40" fmla="*/ 102 w 143"/>
                <a:gd name="T41" fmla="*/ 42 h 91"/>
                <a:gd name="T42" fmla="*/ 125 w 143"/>
                <a:gd name="T43" fmla="*/ 30 h 91"/>
                <a:gd name="T44" fmla="*/ 129 w 143"/>
                <a:gd name="T45" fmla="*/ 20 h 91"/>
                <a:gd name="T46" fmla="*/ 121 w 143"/>
                <a:gd name="T47" fmla="*/ 25 h 91"/>
                <a:gd name="T48" fmla="*/ 133 w 143"/>
                <a:gd name="T49" fmla="*/ 12 h 91"/>
                <a:gd name="T50" fmla="*/ 129 w 143"/>
                <a:gd name="T51" fmla="*/ 13 h 91"/>
                <a:gd name="T52" fmla="*/ 136 w 143"/>
                <a:gd name="T53" fmla="*/ 23 h 91"/>
                <a:gd name="T54" fmla="*/ 133 w 143"/>
                <a:gd name="T55" fmla="*/ 12 h 9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43"/>
                <a:gd name="T85" fmla="*/ 0 h 91"/>
                <a:gd name="T86" fmla="*/ 143 w 143"/>
                <a:gd name="T87" fmla="*/ 91 h 9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43" h="91">
                  <a:moveTo>
                    <a:pt x="102" y="84"/>
                  </a:moveTo>
                  <a:cubicBezTo>
                    <a:pt x="100" y="83"/>
                    <a:pt x="94" y="79"/>
                    <a:pt x="94" y="76"/>
                  </a:cubicBezTo>
                  <a:cubicBezTo>
                    <a:pt x="95" y="74"/>
                    <a:pt x="88" y="74"/>
                    <a:pt x="83" y="71"/>
                  </a:cubicBezTo>
                  <a:cubicBezTo>
                    <a:pt x="78" y="68"/>
                    <a:pt x="80" y="58"/>
                    <a:pt x="75" y="56"/>
                  </a:cubicBezTo>
                  <a:cubicBezTo>
                    <a:pt x="70" y="54"/>
                    <a:pt x="66" y="46"/>
                    <a:pt x="72" y="47"/>
                  </a:cubicBezTo>
                  <a:cubicBezTo>
                    <a:pt x="78" y="47"/>
                    <a:pt x="79" y="44"/>
                    <a:pt x="75" y="39"/>
                  </a:cubicBezTo>
                  <a:cubicBezTo>
                    <a:pt x="70" y="35"/>
                    <a:pt x="53" y="33"/>
                    <a:pt x="52" y="27"/>
                  </a:cubicBezTo>
                  <a:cubicBezTo>
                    <a:pt x="52" y="21"/>
                    <a:pt x="21" y="6"/>
                    <a:pt x="8" y="3"/>
                  </a:cubicBezTo>
                  <a:cubicBezTo>
                    <a:pt x="6" y="2"/>
                    <a:pt x="3" y="1"/>
                    <a:pt x="0" y="0"/>
                  </a:cubicBezTo>
                  <a:cubicBezTo>
                    <a:pt x="0" y="71"/>
                    <a:pt x="0" y="71"/>
                    <a:pt x="0" y="71"/>
                  </a:cubicBezTo>
                  <a:cubicBezTo>
                    <a:pt x="3" y="73"/>
                    <a:pt x="7" y="75"/>
                    <a:pt x="12" y="75"/>
                  </a:cubicBezTo>
                  <a:cubicBezTo>
                    <a:pt x="26" y="76"/>
                    <a:pt x="23" y="68"/>
                    <a:pt x="25" y="68"/>
                  </a:cubicBezTo>
                  <a:cubicBezTo>
                    <a:pt x="28" y="68"/>
                    <a:pt x="29" y="63"/>
                    <a:pt x="32" y="59"/>
                  </a:cubicBezTo>
                  <a:cubicBezTo>
                    <a:pt x="35" y="56"/>
                    <a:pt x="48" y="59"/>
                    <a:pt x="56" y="65"/>
                  </a:cubicBezTo>
                  <a:cubicBezTo>
                    <a:pt x="63" y="71"/>
                    <a:pt x="72" y="88"/>
                    <a:pt x="80" y="87"/>
                  </a:cubicBezTo>
                  <a:cubicBezTo>
                    <a:pt x="88" y="85"/>
                    <a:pt x="97" y="91"/>
                    <a:pt x="104" y="91"/>
                  </a:cubicBezTo>
                  <a:cubicBezTo>
                    <a:pt x="111" y="91"/>
                    <a:pt x="105" y="85"/>
                    <a:pt x="102" y="84"/>
                  </a:cubicBezTo>
                  <a:close/>
                  <a:moveTo>
                    <a:pt x="121" y="25"/>
                  </a:moveTo>
                  <a:cubicBezTo>
                    <a:pt x="121" y="28"/>
                    <a:pt x="116" y="29"/>
                    <a:pt x="108" y="33"/>
                  </a:cubicBezTo>
                  <a:cubicBezTo>
                    <a:pt x="99" y="36"/>
                    <a:pt x="84" y="29"/>
                    <a:pt x="84" y="34"/>
                  </a:cubicBezTo>
                  <a:cubicBezTo>
                    <a:pt x="83" y="37"/>
                    <a:pt x="93" y="42"/>
                    <a:pt x="102" y="42"/>
                  </a:cubicBezTo>
                  <a:cubicBezTo>
                    <a:pt x="111" y="42"/>
                    <a:pt x="125" y="33"/>
                    <a:pt x="125" y="30"/>
                  </a:cubicBezTo>
                  <a:cubicBezTo>
                    <a:pt x="125" y="28"/>
                    <a:pt x="131" y="23"/>
                    <a:pt x="129" y="20"/>
                  </a:cubicBezTo>
                  <a:cubicBezTo>
                    <a:pt x="126" y="18"/>
                    <a:pt x="121" y="22"/>
                    <a:pt x="121" y="25"/>
                  </a:cubicBezTo>
                  <a:close/>
                  <a:moveTo>
                    <a:pt x="133" y="12"/>
                  </a:moveTo>
                  <a:cubicBezTo>
                    <a:pt x="127" y="9"/>
                    <a:pt x="123" y="6"/>
                    <a:pt x="129" y="13"/>
                  </a:cubicBezTo>
                  <a:cubicBezTo>
                    <a:pt x="136" y="19"/>
                    <a:pt x="132" y="24"/>
                    <a:pt x="136" y="23"/>
                  </a:cubicBezTo>
                  <a:cubicBezTo>
                    <a:pt x="143" y="22"/>
                    <a:pt x="138" y="15"/>
                    <a:pt x="133" y="1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39" name="Freeform 145"/>
            <p:cNvSpPr>
              <a:spLocks noChangeArrowheads="1"/>
            </p:cNvSpPr>
            <p:nvPr/>
          </p:nvSpPr>
          <p:spPr bwMode="auto">
            <a:xfrm>
              <a:off x="5362593" y="2263778"/>
              <a:ext cx="46038" cy="88900"/>
            </a:xfrm>
            <a:custGeom>
              <a:avLst/>
              <a:gdLst>
                <a:gd name="T0" fmla="*/ 5 w 24"/>
                <a:gd name="T1" fmla="*/ 0 h 47"/>
                <a:gd name="T2" fmla="*/ 1 w 24"/>
                <a:gd name="T3" fmla="*/ 11 h 47"/>
                <a:gd name="T4" fmla="*/ 1 w 24"/>
                <a:gd name="T5" fmla="*/ 26 h 47"/>
                <a:gd name="T6" fmla="*/ 6 w 24"/>
                <a:gd name="T7" fmla="*/ 43 h 47"/>
                <a:gd name="T8" fmla="*/ 24 w 24"/>
                <a:gd name="T9" fmla="*/ 27 h 47"/>
                <a:gd name="T10" fmla="*/ 5 w 24"/>
                <a:gd name="T11" fmla="*/ 0 h 47"/>
                <a:gd name="T12" fmla="*/ 0 60000 65536"/>
                <a:gd name="T13" fmla="*/ 0 60000 65536"/>
                <a:gd name="T14" fmla="*/ 0 60000 65536"/>
                <a:gd name="T15" fmla="*/ 0 60000 65536"/>
                <a:gd name="T16" fmla="*/ 0 60000 65536"/>
                <a:gd name="T17" fmla="*/ 0 60000 65536"/>
                <a:gd name="T18" fmla="*/ 0 w 24"/>
                <a:gd name="T19" fmla="*/ 0 h 47"/>
                <a:gd name="T20" fmla="*/ 24 w 24"/>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24" h="47">
                  <a:moveTo>
                    <a:pt x="5" y="0"/>
                  </a:moveTo>
                  <a:cubicBezTo>
                    <a:pt x="2" y="1"/>
                    <a:pt x="3" y="7"/>
                    <a:pt x="1" y="11"/>
                  </a:cubicBezTo>
                  <a:cubicBezTo>
                    <a:pt x="0" y="15"/>
                    <a:pt x="0" y="20"/>
                    <a:pt x="1" y="26"/>
                  </a:cubicBezTo>
                  <a:cubicBezTo>
                    <a:pt x="1" y="32"/>
                    <a:pt x="1" y="39"/>
                    <a:pt x="6" y="43"/>
                  </a:cubicBezTo>
                  <a:cubicBezTo>
                    <a:pt x="13" y="47"/>
                    <a:pt x="23" y="36"/>
                    <a:pt x="24" y="27"/>
                  </a:cubicBezTo>
                  <a:cubicBezTo>
                    <a:pt x="24" y="17"/>
                    <a:pt x="8" y="0"/>
                    <a:pt x="5"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0" name="Freeform 146"/>
            <p:cNvSpPr>
              <a:spLocks noChangeArrowheads="1"/>
            </p:cNvSpPr>
            <p:nvPr/>
          </p:nvSpPr>
          <p:spPr bwMode="auto">
            <a:xfrm>
              <a:off x="4559315" y="2724154"/>
              <a:ext cx="160339" cy="317501"/>
            </a:xfrm>
            <a:custGeom>
              <a:avLst/>
              <a:gdLst>
                <a:gd name="T0" fmla="*/ 71 w 84"/>
                <a:gd name="T1" fmla="*/ 5 h 166"/>
                <a:gd name="T2" fmla="*/ 67 w 84"/>
                <a:gd name="T3" fmla="*/ 9 h 166"/>
                <a:gd name="T4" fmla="*/ 65 w 84"/>
                <a:gd name="T5" fmla="*/ 17 h 166"/>
                <a:gd name="T6" fmla="*/ 59 w 84"/>
                <a:gd name="T7" fmla="*/ 22 h 166"/>
                <a:gd name="T8" fmla="*/ 53 w 84"/>
                <a:gd name="T9" fmla="*/ 27 h 166"/>
                <a:gd name="T10" fmla="*/ 53 w 84"/>
                <a:gd name="T11" fmla="*/ 33 h 166"/>
                <a:gd name="T12" fmla="*/ 44 w 84"/>
                <a:gd name="T13" fmla="*/ 40 h 166"/>
                <a:gd name="T14" fmla="*/ 29 w 84"/>
                <a:gd name="T15" fmla="*/ 48 h 166"/>
                <a:gd name="T16" fmla="*/ 14 w 84"/>
                <a:gd name="T17" fmla="*/ 50 h 166"/>
                <a:gd name="T18" fmla="*/ 10 w 84"/>
                <a:gd name="T19" fmla="*/ 65 h 166"/>
                <a:gd name="T20" fmla="*/ 11 w 84"/>
                <a:gd name="T21" fmla="*/ 86 h 166"/>
                <a:gd name="T22" fmla="*/ 8 w 84"/>
                <a:gd name="T23" fmla="*/ 109 h 166"/>
                <a:gd name="T24" fmla="*/ 4 w 84"/>
                <a:gd name="T25" fmla="*/ 136 h 166"/>
                <a:gd name="T26" fmla="*/ 11 w 84"/>
                <a:gd name="T27" fmla="*/ 157 h 166"/>
                <a:gd name="T28" fmla="*/ 31 w 84"/>
                <a:gd name="T29" fmla="*/ 162 h 166"/>
                <a:gd name="T30" fmla="*/ 43 w 84"/>
                <a:gd name="T31" fmla="*/ 158 h 166"/>
                <a:gd name="T32" fmla="*/ 59 w 84"/>
                <a:gd name="T33" fmla="*/ 110 h 166"/>
                <a:gd name="T34" fmla="*/ 72 w 84"/>
                <a:gd name="T35" fmla="*/ 66 h 166"/>
                <a:gd name="T36" fmla="*/ 74 w 84"/>
                <a:gd name="T37" fmla="*/ 54 h 166"/>
                <a:gd name="T38" fmla="*/ 77 w 84"/>
                <a:gd name="T39" fmla="*/ 47 h 166"/>
                <a:gd name="T40" fmla="*/ 83 w 84"/>
                <a:gd name="T41" fmla="*/ 45 h 166"/>
                <a:gd name="T42" fmla="*/ 79 w 84"/>
                <a:gd name="T43" fmla="*/ 24 h 166"/>
                <a:gd name="T44" fmla="*/ 71 w 84"/>
                <a:gd name="T45" fmla="*/ 5 h 1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66"/>
                <a:gd name="T71" fmla="*/ 84 w 84"/>
                <a:gd name="T72" fmla="*/ 166 h 1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66">
                  <a:moveTo>
                    <a:pt x="71" y="5"/>
                  </a:moveTo>
                  <a:cubicBezTo>
                    <a:pt x="70" y="0"/>
                    <a:pt x="68" y="7"/>
                    <a:pt x="67" y="9"/>
                  </a:cubicBezTo>
                  <a:cubicBezTo>
                    <a:pt x="66" y="10"/>
                    <a:pt x="65" y="14"/>
                    <a:pt x="65" y="17"/>
                  </a:cubicBezTo>
                  <a:cubicBezTo>
                    <a:pt x="66" y="19"/>
                    <a:pt x="61" y="22"/>
                    <a:pt x="59" y="22"/>
                  </a:cubicBezTo>
                  <a:cubicBezTo>
                    <a:pt x="56" y="21"/>
                    <a:pt x="52" y="23"/>
                    <a:pt x="53" y="27"/>
                  </a:cubicBezTo>
                  <a:cubicBezTo>
                    <a:pt x="54" y="30"/>
                    <a:pt x="51" y="30"/>
                    <a:pt x="53" y="33"/>
                  </a:cubicBezTo>
                  <a:cubicBezTo>
                    <a:pt x="54" y="36"/>
                    <a:pt x="49" y="39"/>
                    <a:pt x="44" y="40"/>
                  </a:cubicBezTo>
                  <a:cubicBezTo>
                    <a:pt x="40" y="40"/>
                    <a:pt x="34" y="48"/>
                    <a:pt x="29" y="48"/>
                  </a:cubicBezTo>
                  <a:cubicBezTo>
                    <a:pt x="24" y="47"/>
                    <a:pt x="19" y="51"/>
                    <a:pt x="14" y="50"/>
                  </a:cubicBezTo>
                  <a:cubicBezTo>
                    <a:pt x="10" y="50"/>
                    <a:pt x="13" y="59"/>
                    <a:pt x="10" y="65"/>
                  </a:cubicBezTo>
                  <a:cubicBezTo>
                    <a:pt x="6" y="71"/>
                    <a:pt x="8" y="78"/>
                    <a:pt x="11" y="86"/>
                  </a:cubicBezTo>
                  <a:cubicBezTo>
                    <a:pt x="14" y="93"/>
                    <a:pt x="16" y="99"/>
                    <a:pt x="8" y="109"/>
                  </a:cubicBezTo>
                  <a:cubicBezTo>
                    <a:pt x="0" y="118"/>
                    <a:pt x="1" y="129"/>
                    <a:pt x="4" y="136"/>
                  </a:cubicBezTo>
                  <a:cubicBezTo>
                    <a:pt x="7" y="142"/>
                    <a:pt x="7" y="152"/>
                    <a:pt x="11" y="157"/>
                  </a:cubicBezTo>
                  <a:cubicBezTo>
                    <a:pt x="16" y="162"/>
                    <a:pt x="28" y="166"/>
                    <a:pt x="31" y="162"/>
                  </a:cubicBezTo>
                  <a:cubicBezTo>
                    <a:pt x="35" y="158"/>
                    <a:pt x="39" y="162"/>
                    <a:pt x="43" y="158"/>
                  </a:cubicBezTo>
                  <a:cubicBezTo>
                    <a:pt x="47" y="153"/>
                    <a:pt x="54" y="127"/>
                    <a:pt x="59" y="110"/>
                  </a:cubicBezTo>
                  <a:cubicBezTo>
                    <a:pt x="65" y="93"/>
                    <a:pt x="72" y="71"/>
                    <a:pt x="72" y="66"/>
                  </a:cubicBezTo>
                  <a:cubicBezTo>
                    <a:pt x="71" y="62"/>
                    <a:pt x="76" y="59"/>
                    <a:pt x="74" y="54"/>
                  </a:cubicBezTo>
                  <a:cubicBezTo>
                    <a:pt x="72" y="49"/>
                    <a:pt x="74" y="43"/>
                    <a:pt x="77" y="47"/>
                  </a:cubicBezTo>
                  <a:cubicBezTo>
                    <a:pt x="79" y="51"/>
                    <a:pt x="82" y="51"/>
                    <a:pt x="83" y="45"/>
                  </a:cubicBezTo>
                  <a:cubicBezTo>
                    <a:pt x="84" y="40"/>
                    <a:pt x="79" y="32"/>
                    <a:pt x="79" y="24"/>
                  </a:cubicBezTo>
                  <a:cubicBezTo>
                    <a:pt x="79" y="16"/>
                    <a:pt x="72" y="9"/>
                    <a:pt x="71"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1" name="Freeform 147"/>
            <p:cNvSpPr>
              <a:spLocks noEditPoints="1" noChangeArrowheads="1"/>
            </p:cNvSpPr>
            <p:nvPr/>
          </p:nvSpPr>
          <p:spPr bwMode="auto">
            <a:xfrm>
              <a:off x="4552965" y="2052640"/>
              <a:ext cx="258764" cy="157163"/>
            </a:xfrm>
            <a:custGeom>
              <a:avLst/>
              <a:gdLst>
                <a:gd name="T0" fmla="*/ 95 w 135"/>
                <a:gd name="T1" fmla="*/ 3 h 82"/>
                <a:gd name="T2" fmla="*/ 73 w 135"/>
                <a:gd name="T3" fmla="*/ 4 h 82"/>
                <a:gd name="T4" fmla="*/ 56 w 135"/>
                <a:gd name="T5" fmla="*/ 19 h 82"/>
                <a:gd name="T6" fmla="*/ 48 w 135"/>
                <a:gd name="T7" fmla="*/ 22 h 82"/>
                <a:gd name="T8" fmla="*/ 32 w 135"/>
                <a:gd name="T9" fmla="*/ 20 h 82"/>
                <a:gd name="T10" fmla="*/ 18 w 135"/>
                <a:gd name="T11" fmla="*/ 19 h 82"/>
                <a:gd name="T12" fmla="*/ 10 w 135"/>
                <a:gd name="T13" fmla="*/ 17 h 82"/>
                <a:gd name="T14" fmla="*/ 5 w 135"/>
                <a:gd name="T15" fmla="*/ 21 h 82"/>
                <a:gd name="T16" fmla="*/ 6 w 135"/>
                <a:gd name="T17" fmla="*/ 28 h 82"/>
                <a:gd name="T18" fmla="*/ 0 w 135"/>
                <a:gd name="T19" fmla="*/ 30 h 82"/>
                <a:gd name="T20" fmla="*/ 1 w 135"/>
                <a:gd name="T21" fmla="*/ 37 h 82"/>
                <a:gd name="T22" fmla="*/ 5 w 135"/>
                <a:gd name="T23" fmla="*/ 55 h 82"/>
                <a:gd name="T24" fmla="*/ 9 w 135"/>
                <a:gd name="T25" fmla="*/ 72 h 82"/>
                <a:gd name="T26" fmla="*/ 29 w 135"/>
                <a:gd name="T27" fmla="*/ 70 h 82"/>
                <a:gd name="T28" fmla="*/ 44 w 135"/>
                <a:gd name="T29" fmla="*/ 65 h 82"/>
                <a:gd name="T30" fmla="*/ 56 w 135"/>
                <a:gd name="T31" fmla="*/ 59 h 82"/>
                <a:gd name="T32" fmla="*/ 67 w 135"/>
                <a:gd name="T33" fmla="*/ 57 h 82"/>
                <a:gd name="T34" fmla="*/ 76 w 135"/>
                <a:gd name="T35" fmla="*/ 51 h 82"/>
                <a:gd name="T36" fmla="*/ 100 w 135"/>
                <a:gd name="T37" fmla="*/ 43 h 82"/>
                <a:gd name="T38" fmla="*/ 111 w 135"/>
                <a:gd name="T39" fmla="*/ 32 h 82"/>
                <a:gd name="T40" fmla="*/ 120 w 135"/>
                <a:gd name="T41" fmla="*/ 28 h 82"/>
                <a:gd name="T42" fmla="*/ 106 w 135"/>
                <a:gd name="T43" fmla="*/ 0 h 82"/>
                <a:gd name="T44" fmla="*/ 95 w 135"/>
                <a:gd name="T45" fmla="*/ 3 h 82"/>
                <a:gd name="T46" fmla="*/ 123 w 135"/>
                <a:gd name="T47" fmla="*/ 78 h 82"/>
                <a:gd name="T48" fmla="*/ 134 w 135"/>
                <a:gd name="T49" fmla="*/ 76 h 82"/>
                <a:gd name="T50" fmla="*/ 123 w 135"/>
                <a:gd name="T51" fmla="*/ 78 h 8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5"/>
                <a:gd name="T79" fmla="*/ 0 h 82"/>
                <a:gd name="T80" fmla="*/ 135 w 135"/>
                <a:gd name="T81" fmla="*/ 82 h 8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5" h="82">
                  <a:moveTo>
                    <a:pt x="95" y="3"/>
                  </a:moveTo>
                  <a:cubicBezTo>
                    <a:pt x="90" y="4"/>
                    <a:pt x="75" y="3"/>
                    <a:pt x="73" y="4"/>
                  </a:cubicBezTo>
                  <a:cubicBezTo>
                    <a:pt x="71" y="5"/>
                    <a:pt x="58" y="15"/>
                    <a:pt x="56" y="19"/>
                  </a:cubicBezTo>
                  <a:cubicBezTo>
                    <a:pt x="54" y="24"/>
                    <a:pt x="51" y="25"/>
                    <a:pt x="48" y="22"/>
                  </a:cubicBezTo>
                  <a:cubicBezTo>
                    <a:pt x="45" y="20"/>
                    <a:pt x="33" y="21"/>
                    <a:pt x="32" y="20"/>
                  </a:cubicBezTo>
                  <a:cubicBezTo>
                    <a:pt x="31" y="19"/>
                    <a:pt x="23" y="18"/>
                    <a:pt x="18" y="19"/>
                  </a:cubicBezTo>
                  <a:cubicBezTo>
                    <a:pt x="14" y="19"/>
                    <a:pt x="12" y="17"/>
                    <a:pt x="10" y="17"/>
                  </a:cubicBezTo>
                  <a:cubicBezTo>
                    <a:pt x="8" y="18"/>
                    <a:pt x="6" y="20"/>
                    <a:pt x="5" y="21"/>
                  </a:cubicBezTo>
                  <a:cubicBezTo>
                    <a:pt x="4" y="23"/>
                    <a:pt x="6" y="26"/>
                    <a:pt x="6" y="28"/>
                  </a:cubicBezTo>
                  <a:cubicBezTo>
                    <a:pt x="5" y="28"/>
                    <a:pt x="3" y="29"/>
                    <a:pt x="0" y="30"/>
                  </a:cubicBezTo>
                  <a:cubicBezTo>
                    <a:pt x="1" y="33"/>
                    <a:pt x="2" y="35"/>
                    <a:pt x="1" y="37"/>
                  </a:cubicBezTo>
                  <a:cubicBezTo>
                    <a:pt x="0" y="41"/>
                    <a:pt x="1" y="50"/>
                    <a:pt x="5" y="55"/>
                  </a:cubicBezTo>
                  <a:cubicBezTo>
                    <a:pt x="8" y="61"/>
                    <a:pt x="7" y="70"/>
                    <a:pt x="9" y="72"/>
                  </a:cubicBezTo>
                  <a:cubicBezTo>
                    <a:pt x="10" y="74"/>
                    <a:pt x="23" y="73"/>
                    <a:pt x="29" y="70"/>
                  </a:cubicBezTo>
                  <a:cubicBezTo>
                    <a:pt x="35" y="66"/>
                    <a:pt x="39" y="65"/>
                    <a:pt x="44" y="65"/>
                  </a:cubicBezTo>
                  <a:cubicBezTo>
                    <a:pt x="48" y="65"/>
                    <a:pt x="54" y="61"/>
                    <a:pt x="56" y="59"/>
                  </a:cubicBezTo>
                  <a:cubicBezTo>
                    <a:pt x="57" y="57"/>
                    <a:pt x="64" y="57"/>
                    <a:pt x="67" y="57"/>
                  </a:cubicBezTo>
                  <a:cubicBezTo>
                    <a:pt x="70" y="58"/>
                    <a:pt x="73" y="54"/>
                    <a:pt x="76" y="51"/>
                  </a:cubicBezTo>
                  <a:cubicBezTo>
                    <a:pt x="79" y="48"/>
                    <a:pt x="89" y="47"/>
                    <a:pt x="100" y="43"/>
                  </a:cubicBezTo>
                  <a:cubicBezTo>
                    <a:pt x="110" y="40"/>
                    <a:pt x="108" y="35"/>
                    <a:pt x="111" y="32"/>
                  </a:cubicBezTo>
                  <a:cubicBezTo>
                    <a:pt x="113" y="30"/>
                    <a:pt x="116" y="30"/>
                    <a:pt x="120" y="28"/>
                  </a:cubicBezTo>
                  <a:cubicBezTo>
                    <a:pt x="115" y="18"/>
                    <a:pt x="109" y="6"/>
                    <a:pt x="106" y="0"/>
                  </a:cubicBezTo>
                  <a:cubicBezTo>
                    <a:pt x="101" y="1"/>
                    <a:pt x="97" y="3"/>
                    <a:pt x="95" y="3"/>
                  </a:cubicBezTo>
                  <a:close/>
                  <a:moveTo>
                    <a:pt x="123" y="78"/>
                  </a:moveTo>
                  <a:cubicBezTo>
                    <a:pt x="127" y="82"/>
                    <a:pt x="134" y="77"/>
                    <a:pt x="134" y="76"/>
                  </a:cubicBezTo>
                  <a:cubicBezTo>
                    <a:pt x="135" y="74"/>
                    <a:pt x="119" y="73"/>
                    <a:pt x="123" y="78"/>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2" name="Freeform 148"/>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3" name="Freeform 149"/>
            <p:cNvSpPr>
              <a:spLocks noEditPoints="1" noChangeArrowheads="1"/>
            </p:cNvSpPr>
            <p:nvPr/>
          </p:nvSpPr>
          <p:spPr bwMode="auto">
            <a:xfrm>
              <a:off x="6961211" y="2592391"/>
              <a:ext cx="174626" cy="125413"/>
            </a:xfrm>
            <a:custGeom>
              <a:avLst/>
              <a:gdLst>
                <a:gd name="T0" fmla="*/ 1 w 92"/>
                <a:gd name="T1" fmla="*/ 3 h 66"/>
                <a:gd name="T2" fmla="*/ 15 w 92"/>
                <a:gd name="T3" fmla="*/ 19 h 66"/>
                <a:gd name="T4" fmla="*/ 1 w 92"/>
                <a:gd name="T5" fmla="*/ 3 h 66"/>
                <a:gd name="T6" fmla="*/ 22 w 92"/>
                <a:gd name="T7" fmla="*/ 17 h 66"/>
                <a:gd name="T8" fmla="*/ 32 w 92"/>
                <a:gd name="T9" fmla="*/ 24 h 66"/>
                <a:gd name="T10" fmla="*/ 22 w 92"/>
                <a:gd name="T11" fmla="*/ 17 h 66"/>
                <a:gd name="T12" fmla="*/ 60 w 92"/>
                <a:gd name="T13" fmla="*/ 37 h 66"/>
                <a:gd name="T14" fmla="*/ 44 w 92"/>
                <a:gd name="T15" fmla="*/ 28 h 66"/>
                <a:gd name="T16" fmla="*/ 60 w 92"/>
                <a:gd name="T17" fmla="*/ 37 h 66"/>
                <a:gd name="T18" fmla="*/ 58 w 92"/>
                <a:gd name="T19" fmla="*/ 47 h 66"/>
                <a:gd name="T20" fmla="*/ 69 w 92"/>
                <a:gd name="T21" fmla="*/ 54 h 66"/>
                <a:gd name="T22" fmla="*/ 58 w 92"/>
                <a:gd name="T23" fmla="*/ 47 h 66"/>
                <a:gd name="T24" fmla="*/ 78 w 92"/>
                <a:gd name="T25" fmla="*/ 58 h 66"/>
                <a:gd name="T26" fmla="*/ 89 w 92"/>
                <a:gd name="T27" fmla="*/ 63 h 66"/>
                <a:gd name="T28" fmla="*/ 78 w 92"/>
                <a:gd name="T29" fmla="*/ 58 h 66"/>
                <a:gd name="T30" fmla="*/ 70 w 92"/>
                <a:gd name="T31" fmla="*/ 36 h 66"/>
                <a:gd name="T32" fmla="*/ 79 w 92"/>
                <a:gd name="T33" fmla="*/ 51 h 66"/>
                <a:gd name="T34" fmla="*/ 70 w 92"/>
                <a:gd name="T35" fmla="*/ 3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2"/>
                <a:gd name="T55" fmla="*/ 0 h 66"/>
                <a:gd name="T56" fmla="*/ 92 w 92"/>
                <a:gd name="T57" fmla="*/ 66 h 6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2" h="66">
                  <a:moveTo>
                    <a:pt x="1" y="3"/>
                  </a:moveTo>
                  <a:cubicBezTo>
                    <a:pt x="0" y="6"/>
                    <a:pt x="11" y="21"/>
                    <a:pt x="15" y="19"/>
                  </a:cubicBezTo>
                  <a:cubicBezTo>
                    <a:pt x="22" y="14"/>
                    <a:pt x="2" y="0"/>
                    <a:pt x="1" y="3"/>
                  </a:cubicBezTo>
                  <a:close/>
                  <a:moveTo>
                    <a:pt x="22" y="17"/>
                  </a:moveTo>
                  <a:cubicBezTo>
                    <a:pt x="22" y="18"/>
                    <a:pt x="30" y="26"/>
                    <a:pt x="32" y="24"/>
                  </a:cubicBezTo>
                  <a:cubicBezTo>
                    <a:pt x="34" y="23"/>
                    <a:pt x="23" y="14"/>
                    <a:pt x="22" y="17"/>
                  </a:cubicBezTo>
                  <a:close/>
                  <a:moveTo>
                    <a:pt x="60" y="37"/>
                  </a:moveTo>
                  <a:cubicBezTo>
                    <a:pt x="63" y="35"/>
                    <a:pt x="44" y="25"/>
                    <a:pt x="44" y="28"/>
                  </a:cubicBezTo>
                  <a:cubicBezTo>
                    <a:pt x="44" y="31"/>
                    <a:pt x="57" y="38"/>
                    <a:pt x="60" y="37"/>
                  </a:cubicBezTo>
                  <a:close/>
                  <a:moveTo>
                    <a:pt x="58" y="47"/>
                  </a:moveTo>
                  <a:cubicBezTo>
                    <a:pt x="59" y="52"/>
                    <a:pt x="66" y="55"/>
                    <a:pt x="69" y="54"/>
                  </a:cubicBezTo>
                  <a:cubicBezTo>
                    <a:pt x="72" y="52"/>
                    <a:pt x="57" y="42"/>
                    <a:pt x="58" y="47"/>
                  </a:cubicBezTo>
                  <a:close/>
                  <a:moveTo>
                    <a:pt x="78" y="58"/>
                  </a:moveTo>
                  <a:cubicBezTo>
                    <a:pt x="79" y="60"/>
                    <a:pt x="85" y="66"/>
                    <a:pt x="89" y="63"/>
                  </a:cubicBezTo>
                  <a:cubicBezTo>
                    <a:pt x="92" y="61"/>
                    <a:pt x="78" y="56"/>
                    <a:pt x="78" y="58"/>
                  </a:cubicBezTo>
                  <a:close/>
                  <a:moveTo>
                    <a:pt x="70" y="36"/>
                  </a:moveTo>
                  <a:cubicBezTo>
                    <a:pt x="67" y="42"/>
                    <a:pt x="77" y="51"/>
                    <a:pt x="79" y="51"/>
                  </a:cubicBezTo>
                  <a:cubicBezTo>
                    <a:pt x="80" y="52"/>
                    <a:pt x="72" y="32"/>
                    <a:pt x="70" y="3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4" name="Freeform 150"/>
            <p:cNvSpPr>
              <a:spLocks noEditPoints="1" noChangeArrowheads="1"/>
            </p:cNvSpPr>
            <p:nvPr/>
          </p:nvSpPr>
          <p:spPr bwMode="auto">
            <a:xfrm>
              <a:off x="6054746" y="2706691"/>
              <a:ext cx="884241" cy="787401"/>
            </a:xfrm>
            <a:custGeom>
              <a:avLst/>
              <a:gdLst>
                <a:gd name="T0" fmla="*/ 457 w 463"/>
                <a:gd name="T1" fmla="*/ 180 h 412"/>
                <a:gd name="T2" fmla="*/ 438 w 463"/>
                <a:gd name="T3" fmla="*/ 160 h 412"/>
                <a:gd name="T4" fmla="*/ 424 w 463"/>
                <a:gd name="T5" fmla="*/ 139 h 412"/>
                <a:gd name="T6" fmla="*/ 410 w 463"/>
                <a:gd name="T7" fmla="*/ 124 h 412"/>
                <a:gd name="T8" fmla="*/ 378 w 463"/>
                <a:gd name="T9" fmla="*/ 93 h 412"/>
                <a:gd name="T10" fmla="*/ 367 w 463"/>
                <a:gd name="T11" fmla="*/ 53 h 412"/>
                <a:gd name="T12" fmla="*/ 347 w 463"/>
                <a:gd name="T13" fmla="*/ 33 h 412"/>
                <a:gd name="T14" fmla="*/ 329 w 463"/>
                <a:gd name="T15" fmla="*/ 10 h 412"/>
                <a:gd name="T16" fmla="*/ 324 w 463"/>
                <a:gd name="T17" fmla="*/ 51 h 412"/>
                <a:gd name="T18" fmla="*/ 297 w 463"/>
                <a:gd name="T19" fmla="*/ 76 h 412"/>
                <a:gd name="T20" fmla="*/ 265 w 463"/>
                <a:gd name="T21" fmla="*/ 59 h 412"/>
                <a:gd name="T22" fmla="*/ 259 w 463"/>
                <a:gd name="T23" fmla="*/ 35 h 412"/>
                <a:gd name="T24" fmla="*/ 268 w 463"/>
                <a:gd name="T25" fmla="*/ 17 h 412"/>
                <a:gd name="T26" fmla="*/ 251 w 463"/>
                <a:gd name="T27" fmla="*/ 19 h 412"/>
                <a:gd name="T28" fmla="*/ 222 w 463"/>
                <a:gd name="T29" fmla="*/ 13 h 412"/>
                <a:gd name="T30" fmla="*/ 194 w 463"/>
                <a:gd name="T31" fmla="*/ 32 h 412"/>
                <a:gd name="T32" fmla="*/ 184 w 463"/>
                <a:gd name="T33" fmla="*/ 51 h 412"/>
                <a:gd name="T34" fmla="*/ 167 w 463"/>
                <a:gd name="T35" fmla="*/ 44 h 412"/>
                <a:gd name="T36" fmla="*/ 147 w 463"/>
                <a:gd name="T37" fmla="*/ 46 h 412"/>
                <a:gd name="T38" fmla="*/ 131 w 463"/>
                <a:gd name="T39" fmla="*/ 55 h 412"/>
                <a:gd name="T40" fmla="*/ 123 w 463"/>
                <a:gd name="T41" fmla="*/ 73 h 412"/>
                <a:gd name="T42" fmla="*/ 106 w 463"/>
                <a:gd name="T43" fmla="*/ 75 h 412"/>
                <a:gd name="T44" fmla="*/ 69 w 463"/>
                <a:gd name="T45" fmla="*/ 110 h 412"/>
                <a:gd name="T46" fmla="*/ 34 w 463"/>
                <a:gd name="T47" fmla="*/ 121 h 412"/>
                <a:gd name="T48" fmla="*/ 13 w 463"/>
                <a:gd name="T49" fmla="*/ 130 h 412"/>
                <a:gd name="T50" fmla="*/ 6 w 463"/>
                <a:gd name="T51" fmla="*/ 169 h 412"/>
                <a:gd name="T52" fmla="*/ 9 w 463"/>
                <a:gd name="T53" fmla="*/ 187 h 412"/>
                <a:gd name="T54" fmla="*/ 22 w 463"/>
                <a:gd name="T55" fmla="*/ 227 h 412"/>
                <a:gd name="T56" fmla="*/ 23 w 463"/>
                <a:gd name="T57" fmla="*/ 277 h 412"/>
                <a:gd name="T58" fmla="*/ 56 w 463"/>
                <a:gd name="T59" fmla="*/ 294 h 412"/>
                <a:gd name="T60" fmla="*/ 104 w 463"/>
                <a:gd name="T61" fmla="*/ 280 h 412"/>
                <a:gd name="T62" fmla="*/ 157 w 463"/>
                <a:gd name="T63" fmla="*/ 260 h 412"/>
                <a:gd name="T64" fmla="*/ 219 w 463"/>
                <a:gd name="T65" fmla="*/ 256 h 412"/>
                <a:gd name="T66" fmla="*/ 240 w 463"/>
                <a:gd name="T67" fmla="*/ 268 h 412"/>
                <a:gd name="T68" fmla="*/ 262 w 463"/>
                <a:gd name="T69" fmla="*/ 287 h 412"/>
                <a:gd name="T70" fmla="*/ 278 w 463"/>
                <a:gd name="T71" fmla="*/ 285 h 412"/>
                <a:gd name="T72" fmla="*/ 288 w 463"/>
                <a:gd name="T73" fmla="*/ 289 h 412"/>
                <a:gd name="T74" fmla="*/ 304 w 463"/>
                <a:gd name="T75" fmla="*/ 317 h 412"/>
                <a:gd name="T76" fmla="*/ 344 w 463"/>
                <a:gd name="T77" fmla="*/ 344 h 412"/>
                <a:gd name="T78" fmla="*/ 365 w 463"/>
                <a:gd name="T79" fmla="*/ 341 h 412"/>
                <a:gd name="T80" fmla="*/ 379 w 463"/>
                <a:gd name="T81" fmla="*/ 348 h 412"/>
                <a:gd name="T82" fmla="*/ 419 w 463"/>
                <a:gd name="T83" fmla="*/ 330 h 412"/>
                <a:gd name="T84" fmla="*/ 443 w 463"/>
                <a:gd name="T85" fmla="*/ 266 h 412"/>
                <a:gd name="T86" fmla="*/ 458 w 463"/>
                <a:gd name="T87" fmla="*/ 228 h 412"/>
                <a:gd name="T88" fmla="*/ 210 w 463"/>
                <a:gd name="T89" fmla="*/ 11 h 412"/>
                <a:gd name="T90" fmla="*/ 266 w 463"/>
                <a:gd name="T91" fmla="*/ 307 h 412"/>
                <a:gd name="T92" fmla="*/ 379 w 463"/>
                <a:gd name="T93" fmla="*/ 376 h 412"/>
                <a:gd name="T94" fmla="*/ 380 w 463"/>
                <a:gd name="T95" fmla="*/ 411 h 412"/>
                <a:gd name="T96" fmla="*/ 395 w 463"/>
                <a:gd name="T97" fmla="*/ 402 h 412"/>
                <a:gd name="T98" fmla="*/ 379 w 463"/>
                <a:gd name="T99" fmla="*/ 376 h 41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3"/>
                <a:gd name="T151" fmla="*/ 0 h 412"/>
                <a:gd name="T152" fmla="*/ 463 w 463"/>
                <a:gd name="T153" fmla="*/ 412 h 41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3" h="412">
                  <a:moveTo>
                    <a:pt x="460" y="207"/>
                  </a:moveTo>
                  <a:cubicBezTo>
                    <a:pt x="462" y="205"/>
                    <a:pt x="459" y="197"/>
                    <a:pt x="457" y="198"/>
                  </a:cubicBezTo>
                  <a:cubicBezTo>
                    <a:pt x="456" y="200"/>
                    <a:pt x="456" y="186"/>
                    <a:pt x="457" y="180"/>
                  </a:cubicBezTo>
                  <a:cubicBezTo>
                    <a:pt x="458" y="173"/>
                    <a:pt x="457" y="174"/>
                    <a:pt x="454" y="177"/>
                  </a:cubicBezTo>
                  <a:cubicBezTo>
                    <a:pt x="451" y="181"/>
                    <a:pt x="447" y="171"/>
                    <a:pt x="447" y="169"/>
                  </a:cubicBezTo>
                  <a:cubicBezTo>
                    <a:pt x="446" y="166"/>
                    <a:pt x="442" y="159"/>
                    <a:pt x="438" y="160"/>
                  </a:cubicBezTo>
                  <a:cubicBezTo>
                    <a:pt x="434" y="161"/>
                    <a:pt x="436" y="154"/>
                    <a:pt x="432" y="155"/>
                  </a:cubicBezTo>
                  <a:cubicBezTo>
                    <a:pt x="428" y="156"/>
                    <a:pt x="428" y="149"/>
                    <a:pt x="428" y="143"/>
                  </a:cubicBezTo>
                  <a:cubicBezTo>
                    <a:pt x="429" y="137"/>
                    <a:pt x="426" y="142"/>
                    <a:pt x="424" y="139"/>
                  </a:cubicBezTo>
                  <a:cubicBezTo>
                    <a:pt x="422" y="137"/>
                    <a:pt x="420" y="139"/>
                    <a:pt x="417" y="140"/>
                  </a:cubicBezTo>
                  <a:cubicBezTo>
                    <a:pt x="415" y="141"/>
                    <a:pt x="414" y="135"/>
                    <a:pt x="415" y="132"/>
                  </a:cubicBezTo>
                  <a:cubicBezTo>
                    <a:pt x="415" y="130"/>
                    <a:pt x="414" y="127"/>
                    <a:pt x="410" y="124"/>
                  </a:cubicBezTo>
                  <a:cubicBezTo>
                    <a:pt x="407" y="121"/>
                    <a:pt x="406" y="119"/>
                    <a:pt x="407" y="116"/>
                  </a:cubicBezTo>
                  <a:cubicBezTo>
                    <a:pt x="407" y="112"/>
                    <a:pt x="385" y="101"/>
                    <a:pt x="381" y="100"/>
                  </a:cubicBezTo>
                  <a:cubicBezTo>
                    <a:pt x="376" y="99"/>
                    <a:pt x="380" y="94"/>
                    <a:pt x="378" y="93"/>
                  </a:cubicBezTo>
                  <a:cubicBezTo>
                    <a:pt x="376" y="91"/>
                    <a:pt x="375" y="84"/>
                    <a:pt x="375" y="79"/>
                  </a:cubicBezTo>
                  <a:cubicBezTo>
                    <a:pt x="375" y="73"/>
                    <a:pt x="368" y="72"/>
                    <a:pt x="368" y="67"/>
                  </a:cubicBezTo>
                  <a:cubicBezTo>
                    <a:pt x="369" y="63"/>
                    <a:pt x="366" y="58"/>
                    <a:pt x="367" y="53"/>
                  </a:cubicBezTo>
                  <a:cubicBezTo>
                    <a:pt x="367" y="48"/>
                    <a:pt x="360" y="47"/>
                    <a:pt x="359" y="44"/>
                  </a:cubicBezTo>
                  <a:cubicBezTo>
                    <a:pt x="359" y="42"/>
                    <a:pt x="355" y="44"/>
                    <a:pt x="351" y="45"/>
                  </a:cubicBezTo>
                  <a:cubicBezTo>
                    <a:pt x="346" y="45"/>
                    <a:pt x="347" y="39"/>
                    <a:pt x="347" y="33"/>
                  </a:cubicBezTo>
                  <a:cubicBezTo>
                    <a:pt x="348" y="28"/>
                    <a:pt x="345" y="18"/>
                    <a:pt x="342" y="15"/>
                  </a:cubicBezTo>
                  <a:cubicBezTo>
                    <a:pt x="338" y="13"/>
                    <a:pt x="338" y="3"/>
                    <a:pt x="336" y="2"/>
                  </a:cubicBezTo>
                  <a:cubicBezTo>
                    <a:pt x="335" y="0"/>
                    <a:pt x="329" y="7"/>
                    <a:pt x="329" y="10"/>
                  </a:cubicBezTo>
                  <a:cubicBezTo>
                    <a:pt x="329" y="13"/>
                    <a:pt x="329" y="17"/>
                    <a:pt x="326" y="19"/>
                  </a:cubicBezTo>
                  <a:cubicBezTo>
                    <a:pt x="324" y="21"/>
                    <a:pt x="328" y="29"/>
                    <a:pt x="325" y="31"/>
                  </a:cubicBezTo>
                  <a:cubicBezTo>
                    <a:pt x="322" y="34"/>
                    <a:pt x="325" y="45"/>
                    <a:pt x="324" y="51"/>
                  </a:cubicBezTo>
                  <a:cubicBezTo>
                    <a:pt x="323" y="58"/>
                    <a:pt x="323" y="64"/>
                    <a:pt x="320" y="69"/>
                  </a:cubicBezTo>
                  <a:cubicBezTo>
                    <a:pt x="317" y="73"/>
                    <a:pt x="317" y="80"/>
                    <a:pt x="311" y="82"/>
                  </a:cubicBezTo>
                  <a:cubicBezTo>
                    <a:pt x="305" y="84"/>
                    <a:pt x="297" y="79"/>
                    <a:pt x="297" y="76"/>
                  </a:cubicBezTo>
                  <a:cubicBezTo>
                    <a:pt x="297" y="73"/>
                    <a:pt x="291" y="71"/>
                    <a:pt x="287" y="71"/>
                  </a:cubicBezTo>
                  <a:cubicBezTo>
                    <a:pt x="284" y="72"/>
                    <a:pt x="282" y="67"/>
                    <a:pt x="276" y="63"/>
                  </a:cubicBezTo>
                  <a:cubicBezTo>
                    <a:pt x="271" y="58"/>
                    <a:pt x="266" y="64"/>
                    <a:pt x="265" y="59"/>
                  </a:cubicBezTo>
                  <a:cubicBezTo>
                    <a:pt x="263" y="54"/>
                    <a:pt x="261" y="53"/>
                    <a:pt x="257" y="50"/>
                  </a:cubicBezTo>
                  <a:cubicBezTo>
                    <a:pt x="253" y="47"/>
                    <a:pt x="254" y="47"/>
                    <a:pt x="258" y="45"/>
                  </a:cubicBezTo>
                  <a:cubicBezTo>
                    <a:pt x="262" y="42"/>
                    <a:pt x="261" y="38"/>
                    <a:pt x="259" y="35"/>
                  </a:cubicBezTo>
                  <a:cubicBezTo>
                    <a:pt x="257" y="32"/>
                    <a:pt x="261" y="33"/>
                    <a:pt x="266" y="30"/>
                  </a:cubicBezTo>
                  <a:cubicBezTo>
                    <a:pt x="271" y="27"/>
                    <a:pt x="266" y="24"/>
                    <a:pt x="270" y="22"/>
                  </a:cubicBezTo>
                  <a:cubicBezTo>
                    <a:pt x="274" y="21"/>
                    <a:pt x="272" y="18"/>
                    <a:pt x="268" y="17"/>
                  </a:cubicBezTo>
                  <a:cubicBezTo>
                    <a:pt x="264" y="16"/>
                    <a:pt x="265" y="21"/>
                    <a:pt x="263" y="21"/>
                  </a:cubicBezTo>
                  <a:cubicBezTo>
                    <a:pt x="262" y="22"/>
                    <a:pt x="260" y="15"/>
                    <a:pt x="259" y="15"/>
                  </a:cubicBezTo>
                  <a:cubicBezTo>
                    <a:pt x="258" y="16"/>
                    <a:pt x="253" y="22"/>
                    <a:pt x="251" y="19"/>
                  </a:cubicBezTo>
                  <a:cubicBezTo>
                    <a:pt x="248" y="16"/>
                    <a:pt x="234" y="13"/>
                    <a:pt x="229" y="12"/>
                  </a:cubicBezTo>
                  <a:cubicBezTo>
                    <a:pt x="223" y="11"/>
                    <a:pt x="221" y="4"/>
                    <a:pt x="218" y="6"/>
                  </a:cubicBezTo>
                  <a:cubicBezTo>
                    <a:pt x="215" y="7"/>
                    <a:pt x="219" y="9"/>
                    <a:pt x="222" y="13"/>
                  </a:cubicBezTo>
                  <a:cubicBezTo>
                    <a:pt x="226" y="17"/>
                    <a:pt x="210" y="20"/>
                    <a:pt x="205" y="18"/>
                  </a:cubicBezTo>
                  <a:cubicBezTo>
                    <a:pt x="200" y="17"/>
                    <a:pt x="206" y="22"/>
                    <a:pt x="202" y="22"/>
                  </a:cubicBezTo>
                  <a:cubicBezTo>
                    <a:pt x="198" y="21"/>
                    <a:pt x="197" y="28"/>
                    <a:pt x="194" y="32"/>
                  </a:cubicBezTo>
                  <a:cubicBezTo>
                    <a:pt x="191" y="35"/>
                    <a:pt x="193" y="38"/>
                    <a:pt x="189" y="40"/>
                  </a:cubicBezTo>
                  <a:cubicBezTo>
                    <a:pt x="186" y="42"/>
                    <a:pt x="186" y="45"/>
                    <a:pt x="190" y="50"/>
                  </a:cubicBezTo>
                  <a:cubicBezTo>
                    <a:pt x="194" y="54"/>
                    <a:pt x="188" y="55"/>
                    <a:pt x="184" y="51"/>
                  </a:cubicBezTo>
                  <a:cubicBezTo>
                    <a:pt x="180" y="47"/>
                    <a:pt x="177" y="47"/>
                    <a:pt x="177" y="51"/>
                  </a:cubicBezTo>
                  <a:cubicBezTo>
                    <a:pt x="177" y="56"/>
                    <a:pt x="172" y="54"/>
                    <a:pt x="173" y="49"/>
                  </a:cubicBezTo>
                  <a:cubicBezTo>
                    <a:pt x="174" y="44"/>
                    <a:pt x="168" y="46"/>
                    <a:pt x="167" y="44"/>
                  </a:cubicBezTo>
                  <a:cubicBezTo>
                    <a:pt x="166" y="41"/>
                    <a:pt x="161" y="36"/>
                    <a:pt x="157" y="37"/>
                  </a:cubicBezTo>
                  <a:cubicBezTo>
                    <a:pt x="154" y="37"/>
                    <a:pt x="154" y="40"/>
                    <a:pt x="151" y="40"/>
                  </a:cubicBezTo>
                  <a:cubicBezTo>
                    <a:pt x="148" y="40"/>
                    <a:pt x="147" y="42"/>
                    <a:pt x="147" y="46"/>
                  </a:cubicBezTo>
                  <a:cubicBezTo>
                    <a:pt x="148" y="49"/>
                    <a:pt x="142" y="45"/>
                    <a:pt x="139" y="46"/>
                  </a:cubicBezTo>
                  <a:cubicBezTo>
                    <a:pt x="135" y="46"/>
                    <a:pt x="139" y="51"/>
                    <a:pt x="137" y="51"/>
                  </a:cubicBezTo>
                  <a:cubicBezTo>
                    <a:pt x="135" y="51"/>
                    <a:pt x="135" y="55"/>
                    <a:pt x="131" y="55"/>
                  </a:cubicBezTo>
                  <a:cubicBezTo>
                    <a:pt x="128" y="55"/>
                    <a:pt x="129" y="62"/>
                    <a:pt x="129" y="66"/>
                  </a:cubicBezTo>
                  <a:cubicBezTo>
                    <a:pt x="130" y="69"/>
                    <a:pt x="124" y="64"/>
                    <a:pt x="121" y="65"/>
                  </a:cubicBezTo>
                  <a:cubicBezTo>
                    <a:pt x="118" y="66"/>
                    <a:pt x="122" y="69"/>
                    <a:pt x="123" y="73"/>
                  </a:cubicBezTo>
                  <a:cubicBezTo>
                    <a:pt x="124" y="78"/>
                    <a:pt x="121" y="77"/>
                    <a:pt x="119" y="79"/>
                  </a:cubicBezTo>
                  <a:cubicBezTo>
                    <a:pt x="117" y="81"/>
                    <a:pt x="115" y="74"/>
                    <a:pt x="115" y="71"/>
                  </a:cubicBezTo>
                  <a:cubicBezTo>
                    <a:pt x="115" y="67"/>
                    <a:pt x="110" y="70"/>
                    <a:pt x="106" y="75"/>
                  </a:cubicBezTo>
                  <a:cubicBezTo>
                    <a:pt x="101" y="80"/>
                    <a:pt x="107" y="87"/>
                    <a:pt x="105" y="88"/>
                  </a:cubicBezTo>
                  <a:cubicBezTo>
                    <a:pt x="103" y="90"/>
                    <a:pt x="94" y="98"/>
                    <a:pt x="89" y="104"/>
                  </a:cubicBezTo>
                  <a:cubicBezTo>
                    <a:pt x="84" y="111"/>
                    <a:pt x="73" y="107"/>
                    <a:pt x="69" y="110"/>
                  </a:cubicBezTo>
                  <a:cubicBezTo>
                    <a:pt x="66" y="113"/>
                    <a:pt x="62" y="111"/>
                    <a:pt x="58" y="113"/>
                  </a:cubicBezTo>
                  <a:cubicBezTo>
                    <a:pt x="55" y="116"/>
                    <a:pt x="48" y="121"/>
                    <a:pt x="48" y="118"/>
                  </a:cubicBezTo>
                  <a:cubicBezTo>
                    <a:pt x="47" y="115"/>
                    <a:pt x="38" y="117"/>
                    <a:pt x="34" y="121"/>
                  </a:cubicBezTo>
                  <a:cubicBezTo>
                    <a:pt x="30" y="125"/>
                    <a:pt x="24" y="129"/>
                    <a:pt x="20" y="129"/>
                  </a:cubicBezTo>
                  <a:cubicBezTo>
                    <a:pt x="16" y="129"/>
                    <a:pt x="16" y="136"/>
                    <a:pt x="14" y="137"/>
                  </a:cubicBezTo>
                  <a:cubicBezTo>
                    <a:pt x="12" y="139"/>
                    <a:pt x="13" y="132"/>
                    <a:pt x="13" y="130"/>
                  </a:cubicBezTo>
                  <a:cubicBezTo>
                    <a:pt x="13" y="129"/>
                    <a:pt x="9" y="133"/>
                    <a:pt x="7" y="139"/>
                  </a:cubicBezTo>
                  <a:cubicBezTo>
                    <a:pt x="5" y="144"/>
                    <a:pt x="11" y="146"/>
                    <a:pt x="8" y="151"/>
                  </a:cubicBezTo>
                  <a:cubicBezTo>
                    <a:pt x="4" y="157"/>
                    <a:pt x="0" y="162"/>
                    <a:pt x="6" y="169"/>
                  </a:cubicBezTo>
                  <a:cubicBezTo>
                    <a:pt x="11" y="176"/>
                    <a:pt x="14" y="181"/>
                    <a:pt x="12" y="184"/>
                  </a:cubicBezTo>
                  <a:cubicBezTo>
                    <a:pt x="10" y="188"/>
                    <a:pt x="7" y="177"/>
                    <a:pt x="5" y="179"/>
                  </a:cubicBezTo>
                  <a:cubicBezTo>
                    <a:pt x="4" y="180"/>
                    <a:pt x="10" y="184"/>
                    <a:pt x="9" y="187"/>
                  </a:cubicBezTo>
                  <a:cubicBezTo>
                    <a:pt x="7" y="189"/>
                    <a:pt x="2" y="178"/>
                    <a:pt x="1" y="181"/>
                  </a:cubicBezTo>
                  <a:cubicBezTo>
                    <a:pt x="0" y="183"/>
                    <a:pt x="12" y="200"/>
                    <a:pt x="12" y="206"/>
                  </a:cubicBezTo>
                  <a:cubicBezTo>
                    <a:pt x="12" y="212"/>
                    <a:pt x="22" y="218"/>
                    <a:pt x="22" y="227"/>
                  </a:cubicBezTo>
                  <a:cubicBezTo>
                    <a:pt x="21" y="236"/>
                    <a:pt x="30" y="251"/>
                    <a:pt x="32" y="253"/>
                  </a:cubicBezTo>
                  <a:cubicBezTo>
                    <a:pt x="33" y="255"/>
                    <a:pt x="28" y="261"/>
                    <a:pt x="29" y="268"/>
                  </a:cubicBezTo>
                  <a:cubicBezTo>
                    <a:pt x="30" y="275"/>
                    <a:pt x="27" y="277"/>
                    <a:pt x="23" y="277"/>
                  </a:cubicBezTo>
                  <a:cubicBezTo>
                    <a:pt x="18" y="277"/>
                    <a:pt x="21" y="284"/>
                    <a:pt x="26" y="285"/>
                  </a:cubicBezTo>
                  <a:cubicBezTo>
                    <a:pt x="30" y="285"/>
                    <a:pt x="29" y="289"/>
                    <a:pt x="34" y="292"/>
                  </a:cubicBezTo>
                  <a:cubicBezTo>
                    <a:pt x="39" y="296"/>
                    <a:pt x="52" y="294"/>
                    <a:pt x="56" y="294"/>
                  </a:cubicBezTo>
                  <a:cubicBezTo>
                    <a:pt x="60" y="294"/>
                    <a:pt x="61" y="288"/>
                    <a:pt x="67" y="288"/>
                  </a:cubicBezTo>
                  <a:cubicBezTo>
                    <a:pt x="73" y="287"/>
                    <a:pt x="72" y="286"/>
                    <a:pt x="75" y="282"/>
                  </a:cubicBezTo>
                  <a:cubicBezTo>
                    <a:pt x="78" y="279"/>
                    <a:pt x="91" y="280"/>
                    <a:pt x="104" y="280"/>
                  </a:cubicBezTo>
                  <a:cubicBezTo>
                    <a:pt x="117" y="281"/>
                    <a:pt x="123" y="277"/>
                    <a:pt x="125" y="272"/>
                  </a:cubicBezTo>
                  <a:cubicBezTo>
                    <a:pt x="127" y="267"/>
                    <a:pt x="136" y="267"/>
                    <a:pt x="140" y="263"/>
                  </a:cubicBezTo>
                  <a:cubicBezTo>
                    <a:pt x="144" y="260"/>
                    <a:pt x="147" y="259"/>
                    <a:pt x="157" y="260"/>
                  </a:cubicBezTo>
                  <a:cubicBezTo>
                    <a:pt x="167" y="260"/>
                    <a:pt x="176" y="255"/>
                    <a:pt x="182" y="253"/>
                  </a:cubicBezTo>
                  <a:cubicBezTo>
                    <a:pt x="188" y="250"/>
                    <a:pt x="200" y="251"/>
                    <a:pt x="206" y="250"/>
                  </a:cubicBezTo>
                  <a:cubicBezTo>
                    <a:pt x="212" y="248"/>
                    <a:pt x="213" y="257"/>
                    <a:pt x="219" y="256"/>
                  </a:cubicBezTo>
                  <a:cubicBezTo>
                    <a:pt x="226" y="256"/>
                    <a:pt x="229" y="258"/>
                    <a:pt x="233" y="258"/>
                  </a:cubicBezTo>
                  <a:cubicBezTo>
                    <a:pt x="236" y="258"/>
                    <a:pt x="236" y="261"/>
                    <a:pt x="239" y="261"/>
                  </a:cubicBezTo>
                  <a:cubicBezTo>
                    <a:pt x="243" y="262"/>
                    <a:pt x="242" y="265"/>
                    <a:pt x="240" y="268"/>
                  </a:cubicBezTo>
                  <a:cubicBezTo>
                    <a:pt x="238" y="272"/>
                    <a:pt x="245" y="271"/>
                    <a:pt x="250" y="278"/>
                  </a:cubicBezTo>
                  <a:cubicBezTo>
                    <a:pt x="255" y="284"/>
                    <a:pt x="250" y="285"/>
                    <a:pt x="253" y="290"/>
                  </a:cubicBezTo>
                  <a:cubicBezTo>
                    <a:pt x="255" y="295"/>
                    <a:pt x="257" y="294"/>
                    <a:pt x="262" y="287"/>
                  </a:cubicBezTo>
                  <a:cubicBezTo>
                    <a:pt x="267" y="280"/>
                    <a:pt x="272" y="285"/>
                    <a:pt x="273" y="279"/>
                  </a:cubicBezTo>
                  <a:cubicBezTo>
                    <a:pt x="274" y="273"/>
                    <a:pt x="279" y="266"/>
                    <a:pt x="283" y="269"/>
                  </a:cubicBezTo>
                  <a:cubicBezTo>
                    <a:pt x="286" y="272"/>
                    <a:pt x="280" y="273"/>
                    <a:pt x="278" y="285"/>
                  </a:cubicBezTo>
                  <a:cubicBezTo>
                    <a:pt x="276" y="296"/>
                    <a:pt x="272" y="290"/>
                    <a:pt x="271" y="293"/>
                  </a:cubicBezTo>
                  <a:cubicBezTo>
                    <a:pt x="270" y="297"/>
                    <a:pt x="281" y="298"/>
                    <a:pt x="281" y="292"/>
                  </a:cubicBezTo>
                  <a:cubicBezTo>
                    <a:pt x="281" y="286"/>
                    <a:pt x="283" y="284"/>
                    <a:pt x="288" y="289"/>
                  </a:cubicBezTo>
                  <a:cubicBezTo>
                    <a:pt x="292" y="295"/>
                    <a:pt x="285" y="299"/>
                    <a:pt x="286" y="302"/>
                  </a:cubicBezTo>
                  <a:cubicBezTo>
                    <a:pt x="287" y="304"/>
                    <a:pt x="292" y="301"/>
                    <a:pt x="294" y="301"/>
                  </a:cubicBezTo>
                  <a:cubicBezTo>
                    <a:pt x="299" y="301"/>
                    <a:pt x="305" y="311"/>
                    <a:pt x="304" y="317"/>
                  </a:cubicBezTo>
                  <a:cubicBezTo>
                    <a:pt x="303" y="322"/>
                    <a:pt x="301" y="327"/>
                    <a:pt x="310" y="331"/>
                  </a:cubicBezTo>
                  <a:cubicBezTo>
                    <a:pt x="318" y="335"/>
                    <a:pt x="315" y="336"/>
                    <a:pt x="321" y="336"/>
                  </a:cubicBezTo>
                  <a:cubicBezTo>
                    <a:pt x="328" y="336"/>
                    <a:pt x="341" y="341"/>
                    <a:pt x="344" y="344"/>
                  </a:cubicBezTo>
                  <a:cubicBezTo>
                    <a:pt x="348" y="347"/>
                    <a:pt x="357" y="342"/>
                    <a:pt x="358" y="336"/>
                  </a:cubicBezTo>
                  <a:cubicBezTo>
                    <a:pt x="360" y="330"/>
                    <a:pt x="367" y="336"/>
                    <a:pt x="363" y="338"/>
                  </a:cubicBezTo>
                  <a:cubicBezTo>
                    <a:pt x="360" y="340"/>
                    <a:pt x="365" y="344"/>
                    <a:pt x="365" y="341"/>
                  </a:cubicBezTo>
                  <a:cubicBezTo>
                    <a:pt x="365" y="338"/>
                    <a:pt x="367" y="335"/>
                    <a:pt x="368" y="339"/>
                  </a:cubicBezTo>
                  <a:cubicBezTo>
                    <a:pt x="369" y="343"/>
                    <a:pt x="374" y="343"/>
                    <a:pt x="376" y="346"/>
                  </a:cubicBezTo>
                  <a:cubicBezTo>
                    <a:pt x="377" y="349"/>
                    <a:pt x="379" y="351"/>
                    <a:pt x="379" y="348"/>
                  </a:cubicBezTo>
                  <a:cubicBezTo>
                    <a:pt x="379" y="346"/>
                    <a:pt x="380" y="344"/>
                    <a:pt x="384" y="342"/>
                  </a:cubicBezTo>
                  <a:cubicBezTo>
                    <a:pt x="388" y="341"/>
                    <a:pt x="391" y="338"/>
                    <a:pt x="395" y="334"/>
                  </a:cubicBezTo>
                  <a:cubicBezTo>
                    <a:pt x="399" y="331"/>
                    <a:pt x="417" y="330"/>
                    <a:pt x="419" y="330"/>
                  </a:cubicBezTo>
                  <a:cubicBezTo>
                    <a:pt x="420" y="330"/>
                    <a:pt x="421" y="315"/>
                    <a:pt x="422" y="307"/>
                  </a:cubicBezTo>
                  <a:cubicBezTo>
                    <a:pt x="423" y="300"/>
                    <a:pt x="430" y="298"/>
                    <a:pt x="431" y="290"/>
                  </a:cubicBezTo>
                  <a:cubicBezTo>
                    <a:pt x="432" y="282"/>
                    <a:pt x="441" y="267"/>
                    <a:pt x="443" y="266"/>
                  </a:cubicBezTo>
                  <a:cubicBezTo>
                    <a:pt x="445" y="265"/>
                    <a:pt x="449" y="263"/>
                    <a:pt x="450" y="258"/>
                  </a:cubicBezTo>
                  <a:cubicBezTo>
                    <a:pt x="450" y="253"/>
                    <a:pt x="456" y="248"/>
                    <a:pt x="456" y="242"/>
                  </a:cubicBezTo>
                  <a:cubicBezTo>
                    <a:pt x="456" y="237"/>
                    <a:pt x="459" y="230"/>
                    <a:pt x="458" y="228"/>
                  </a:cubicBezTo>
                  <a:cubicBezTo>
                    <a:pt x="458" y="226"/>
                    <a:pt x="456" y="221"/>
                    <a:pt x="460" y="217"/>
                  </a:cubicBezTo>
                  <a:cubicBezTo>
                    <a:pt x="463" y="213"/>
                    <a:pt x="458" y="208"/>
                    <a:pt x="460" y="207"/>
                  </a:cubicBezTo>
                  <a:close/>
                  <a:moveTo>
                    <a:pt x="210" y="11"/>
                  </a:moveTo>
                  <a:cubicBezTo>
                    <a:pt x="209" y="8"/>
                    <a:pt x="191" y="11"/>
                    <a:pt x="195" y="14"/>
                  </a:cubicBezTo>
                  <a:cubicBezTo>
                    <a:pt x="198" y="16"/>
                    <a:pt x="210" y="14"/>
                    <a:pt x="210" y="11"/>
                  </a:cubicBezTo>
                  <a:close/>
                  <a:moveTo>
                    <a:pt x="266" y="307"/>
                  </a:moveTo>
                  <a:cubicBezTo>
                    <a:pt x="269" y="309"/>
                    <a:pt x="278" y="309"/>
                    <a:pt x="279" y="305"/>
                  </a:cubicBezTo>
                  <a:cubicBezTo>
                    <a:pt x="281" y="302"/>
                    <a:pt x="263" y="305"/>
                    <a:pt x="266" y="307"/>
                  </a:cubicBezTo>
                  <a:close/>
                  <a:moveTo>
                    <a:pt x="379" y="376"/>
                  </a:moveTo>
                  <a:cubicBezTo>
                    <a:pt x="372" y="377"/>
                    <a:pt x="362" y="370"/>
                    <a:pt x="360" y="371"/>
                  </a:cubicBezTo>
                  <a:cubicBezTo>
                    <a:pt x="357" y="372"/>
                    <a:pt x="368" y="389"/>
                    <a:pt x="365" y="393"/>
                  </a:cubicBezTo>
                  <a:cubicBezTo>
                    <a:pt x="361" y="398"/>
                    <a:pt x="375" y="410"/>
                    <a:pt x="380" y="411"/>
                  </a:cubicBezTo>
                  <a:cubicBezTo>
                    <a:pt x="385" y="412"/>
                    <a:pt x="383" y="406"/>
                    <a:pt x="386" y="406"/>
                  </a:cubicBezTo>
                  <a:cubicBezTo>
                    <a:pt x="389" y="407"/>
                    <a:pt x="388" y="403"/>
                    <a:pt x="389" y="401"/>
                  </a:cubicBezTo>
                  <a:cubicBezTo>
                    <a:pt x="389" y="398"/>
                    <a:pt x="392" y="403"/>
                    <a:pt x="395" y="402"/>
                  </a:cubicBezTo>
                  <a:cubicBezTo>
                    <a:pt x="398" y="400"/>
                    <a:pt x="394" y="390"/>
                    <a:pt x="398" y="390"/>
                  </a:cubicBezTo>
                  <a:cubicBezTo>
                    <a:pt x="402" y="390"/>
                    <a:pt x="399" y="377"/>
                    <a:pt x="398" y="372"/>
                  </a:cubicBezTo>
                  <a:cubicBezTo>
                    <a:pt x="397" y="368"/>
                    <a:pt x="386" y="376"/>
                    <a:pt x="379" y="37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5" name="Freeform 151"/>
            <p:cNvSpPr>
              <a:spLocks noEditPoints="1" noChangeArrowheads="1"/>
            </p:cNvSpPr>
            <p:nvPr/>
          </p:nvSpPr>
          <p:spPr bwMode="auto">
            <a:xfrm>
              <a:off x="7212037" y="3267080"/>
              <a:ext cx="269876" cy="320676"/>
            </a:xfrm>
            <a:custGeom>
              <a:avLst/>
              <a:gdLst>
                <a:gd name="T0" fmla="*/ 87 w 141"/>
                <a:gd name="T1" fmla="*/ 81 h 168"/>
                <a:gd name="T2" fmla="*/ 78 w 141"/>
                <a:gd name="T3" fmla="*/ 84 h 168"/>
                <a:gd name="T4" fmla="*/ 67 w 141"/>
                <a:gd name="T5" fmla="*/ 79 h 168"/>
                <a:gd name="T6" fmla="*/ 61 w 141"/>
                <a:gd name="T7" fmla="*/ 89 h 168"/>
                <a:gd name="T8" fmla="*/ 52 w 141"/>
                <a:gd name="T9" fmla="*/ 105 h 168"/>
                <a:gd name="T10" fmla="*/ 21 w 141"/>
                <a:gd name="T11" fmla="*/ 125 h 168"/>
                <a:gd name="T12" fmla="*/ 7 w 141"/>
                <a:gd name="T13" fmla="*/ 139 h 168"/>
                <a:gd name="T14" fmla="*/ 4 w 141"/>
                <a:gd name="T15" fmla="*/ 151 h 168"/>
                <a:gd name="T16" fmla="*/ 14 w 141"/>
                <a:gd name="T17" fmla="*/ 156 h 168"/>
                <a:gd name="T18" fmla="*/ 22 w 141"/>
                <a:gd name="T19" fmla="*/ 159 h 168"/>
                <a:gd name="T20" fmla="*/ 43 w 141"/>
                <a:gd name="T21" fmla="*/ 154 h 168"/>
                <a:gd name="T22" fmla="*/ 50 w 141"/>
                <a:gd name="T23" fmla="*/ 141 h 168"/>
                <a:gd name="T24" fmla="*/ 56 w 141"/>
                <a:gd name="T25" fmla="*/ 129 h 168"/>
                <a:gd name="T26" fmla="*/ 69 w 141"/>
                <a:gd name="T27" fmla="*/ 122 h 168"/>
                <a:gd name="T28" fmla="*/ 72 w 141"/>
                <a:gd name="T29" fmla="*/ 116 h 168"/>
                <a:gd name="T30" fmla="*/ 80 w 141"/>
                <a:gd name="T31" fmla="*/ 105 h 168"/>
                <a:gd name="T32" fmla="*/ 89 w 141"/>
                <a:gd name="T33" fmla="*/ 90 h 168"/>
                <a:gd name="T34" fmla="*/ 87 w 141"/>
                <a:gd name="T35" fmla="*/ 81 h 168"/>
                <a:gd name="T36" fmla="*/ 15 w 141"/>
                <a:gd name="T37" fmla="*/ 167 h 168"/>
                <a:gd name="T38" fmla="*/ 19 w 141"/>
                <a:gd name="T39" fmla="*/ 162 h 168"/>
                <a:gd name="T40" fmla="*/ 15 w 141"/>
                <a:gd name="T41" fmla="*/ 167 h 168"/>
                <a:gd name="T42" fmla="*/ 128 w 141"/>
                <a:gd name="T43" fmla="*/ 41 h 168"/>
                <a:gd name="T44" fmla="*/ 117 w 141"/>
                <a:gd name="T45" fmla="*/ 40 h 168"/>
                <a:gd name="T46" fmla="*/ 110 w 141"/>
                <a:gd name="T47" fmla="*/ 33 h 168"/>
                <a:gd name="T48" fmla="*/ 105 w 141"/>
                <a:gd name="T49" fmla="*/ 24 h 168"/>
                <a:gd name="T50" fmla="*/ 105 w 141"/>
                <a:gd name="T51" fmla="*/ 30 h 168"/>
                <a:gd name="T52" fmla="*/ 100 w 141"/>
                <a:gd name="T53" fmla="*/ 28 h 168"/>
                <a:gd name="T54" fmla="*/ 96 w 141"/>
                <a:gd name="T55" fmla="*/ 20 h 168"/>
                <a:gd name="T56" fmla="*/ 92 w 141"/>
                <a:gd name="T57" fmla="*/ 10 h 168"/>
                <a:gd name="T58" fmla="*/ 78 w 141"/>
                <a:gd name="T59" fmla="*/ 0 h 168"/>
                <a:gd name="T60" fmla="*/ 81 w 141"/>
                <a:gd name="T61" fmla="*/ 12 h 168"/>
                <a:gd name="T62" fmla="*/ 89 w 141"/>
                <a:gd name="T63" fmla="*/ 20 h 168"/>
                <a:gd name="T64" fmla="*/ 96 w 141"/>
                <a:gd name="T65" fmla="*/ 29 h 168"/>
                <a:gd name="T66" fmla="*/ 94 w 141"/>
                <a:gd name="T67" fmla="*/ 46 h 168"/>
                <a:gd name="T68" fmla="*/ 85 w 141"/>
                <a:gd name="T69" fmla="*/ 56 h 168"/>
                <a:gd name="T70" fmla="*/ 100 w 141"/>
                <a:gd name="T71" fmla="*/ 69 h 168"/>
                <a:gd name="T72" fmla="*/ 97 w 141"/>
                <a:gd name="T73" fmla="*/ 87 h 168"/>
                <a:gd name="T74" fmla="*/ 107 w 141"/>
                <a:gd name="T75" fmla="*/ 89 h 168"/>
                <a:gd name="T76" fmla="*/ 119 w 141"/>
                <a:gd name="T77" fmla="*/ 71 h 168"/>
                <a:gd name="T78" fmla="*/ 123 w 141"/>
                <a:gd name="T79" fmla="*/ 60 h 168"/>
                <a:gd name="T80" fmla="*/ 130 w 141"/>
                <a:gd name="T81" fmla="*/ 57 h 168"/>
                <a:gd name="T82" fmla="*/ 135 w 141"/>
                <a:gd name="T83" fmla="*/ 50 h 168"/>
                <a:gd name="T84" fmla="*/ 139 w 141"/>
                <a:gd name="T85" fmla="*/ 40 h 168"/>
                <a:gd name="T86" fmla="*/ 128 w 141"/>
                <a:gd name="T87" fmla="*/ 41 h 16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1"/>
                <a:gd name="T133" fmla="*/ 0 h 168"/>
                <a:gd name="T134" fmla="*/ 141 w 141"/>
                <a:gd name="T135" fmla="*/ 168 h 16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1" h="168">
                  <a:moveTo>
                    <a:pt x="87" y="81"/>
                  </a:moveTo>
                  <a:cubicBezTo>
                    <a:pt x="84" y="79"/>
                    <a:pt x="82" y="82"/>
                    <a:pt x="78" y="84"/>
                  </a:cubicBezTo>
                  <a:cubicBezTo>
                    <a:pt x="74" y="86"/>
                    <a:pt x="72" y="76"/>
                    <a:pt x="67" y="79"/>
                  </a:cubicBezTo>
                  <a:cubicBezTo>
                    <a:pt x="62" y="83"/>
                    <a:pt x="67" y="85"/>
                    <a:pt x="61" y="89"/>
                  </a:cubicBezTo>
                  <a:cubicBezTo>
                    <a:pt x="56" y="94"/>
                    <a:pt x="58" y="95"/>
                    <a:pt x="52" y="105"/>
                  </a:cubicBezTo>
                  <a:cubicBezTo>
                    <a:pt x="46" y="115"/>
                    <a:pt x="24" y="120"/>
                    <a:pt x="21" y="125"/>
                  </a:cubicBezTo>
                  <a:cubicBezTo>
                    <a:pt x="18" y="131"/>
                    <a:pt x="7" y="135"/>
                    <a:pt x="7" y="139"/>
                  </a:cubicBezTo>
                  <a:cubicBezTo>
                    <a:pt x="7" y="143"/>
                    <a:pt x="0" y="146"/>
                    <a:pt x="4" y="151"/>
                  </a:cubicBezTo>
                  <a:cubicBezTo>
                    <a:pt x="7" y="155"/>
                    <a:pt x="11" y="152"/>
                    <a:pt x="14" y="156"/>
                  </a:cubicBezTo>
                  <a:cubicBezTo>
                    <a:pt x="17" y="159"/>
                    <a:pt x="21" y="156"/>
                    <a:pt x="22" y="159"/>
                  </a:cubicBezTo>
                  <a:cubicBezTo>
                    <a:pt x="24" y="162"/>
                    <a:pt x="35" y="162"/>
                    <a:pt x="43" y="154"/>
                  </a:cubicBezTo>
                  <a:cubicBezTo>
                    <a:pt x="51" y="147"/>
                    <a:pt x="47" y="143"/>
                    <a:pt x="50" y="141"/>
                  </a:cubicBezTo>
                  <a:cubicBezTo>
                    <a:pt x="54" y="139"/>
                    <a:pt x="54" y="133"/>
                    <a:pt x="56" y="129"/>
                  </a:cubicBezTo>
                  <a:cubicBezTo>
                    <a:pt x="58" y="126"/>
                    <a:pt x="60" y="122"/>
                    <a:pt x="69" y="122"/>
                  </a:cubicBezTo>
                  <a:cubicBezTo>
                    <a:pt x="78" y="122"/>
                    <a:pt x="73" y="120"/>
                    <a:pt x="72" y="116"/>
                  </a:cubicBezTo>
                  <a:cubicBezTo>
                    <a:pt x="72" y="111"/>
                    <a:pt x="80" y="111"/>
                    <a:pt x="80" y="105"/>
                  </a:cubicBezTo>
                  <a:cubicBezTo>
                    <a:pt x="80" y="100"/>
                    <a:pt x="91" y="95"/>
                    <a:pt x="89" y="90"/>
                  </a:cubicBezTo>
                  <a:cubicBezTo>
                    <a:pt x="86" y="86"/>
                    <a:pt x="91" y="84"/>
                    <a:pt x="87" y="81"/>
                  </a:cubicBezTo>
                  <a:close/>
                  <a:moveTo>
                    <a:pt x="15" y="167"/>
                  </a:moveTo>
                  <a:cubicBezTo>
                    <a:pt x="17" y="168"/>
                    <a:pt x="22" y="166"/>
                    <a:pt x="19" y="162"/>
                  </a:cubicBezTo>
                  <a:cubicBezTo>
                    <a:pt x="16" y="158"/>
                    <a:pt x="11" y="166"/>
                    <a:pt x="15" y="167"/>
                  </a:cubicBezTo>
                  <a:close/>
                  <a:moveTo>
                    <a:pt x="128" y="41"/>
                  </a:moveTo>
                  <a:cubicBezTo>
                    <a:pt x="126" y="45"/>
                    <a:pt x="121" y="40"/>
                    <a:pt x="117" y="40"/>
                  </a:cubicBezTo>
                  <a:cubicBezTo>
                    <a:pt x="113" y="40"/>
                    <a:pt x="110" y="37"/>
                    <a:pt x="110" y="33"/>
                  </a:cubicBezTo>
                  <a:cubicBezTo>
                    <a:pt x="110" y="29"/>
                    <a:pt x="109" y="24"/>
                    <a:pt x="105" y="24"/>
                  </a:cubicBezTo>
                  <a:cubicBezTo>
                    <a:pt x="101" y="24"/>
                    <a:pt x="106" y="28"/>
                    <a:pt x="105" y="30"/>
                  </a:cubicBezTo>
                  <a:cubicBezTo>
                    <a:pt x="103" y="32"/>
                    <a:pt x="102" y="28"/>
                    <a:pt x="100" y="28"/>
                  </a:cubicBezTo>
                  <a:cubicBezTo>
                    <a:pt x="98" y="28"/>
                    <a:pt x="96" y="25"/>
                    <a:pt x="96" y="20"/>
                  </a:cubicBezTo>
                  <a:cubicBezTo>
                    <a:pt x="96" y="15"/>
                    <a:pt x="92" y="16"/>
                    <a:pt x="92" y="10"/>
                  </a:cubicBezTo>
                  <a:cubicBezTo>
                    <a:pt x="92" y="4"/>
                    <a:pt x="83" y="0"/>
                    <a:pt x="78" y="0"/>
                  </a:cubicBezTo>
                  <a:cubicBezTo>
                    <a:pt x="73" y="0"/>
                    <a:pt x="79" y="9"/>
                    <a:pt x="81" y="12"/>
                  </a:cubicBezTo>
                  <a:cubicBezTo>
                    <a:pt x="84" y="15"/>
                    <a:pt x="89" y="18"/>
                    <a:pt x="89" y="20"/>
                  </a:cubicBezTo>
                  <a:cubicBezTo>
                    <a:pt x="89" y="22"/>
                    <a:pt x="93" y="28"/>
                    <a:pt x="96" y="29"/>
                  </a:cubicBezTo>
                  <a:cubicBezTo>
                    <a:pt x="99" y="30"/>
                    <a:pt x="94" y="39"/>
                    <a:pt x="94" y="46"/>
                  </a:cubicBezTo>
                  <a:cubicBezTo>
                    <a:pt x="94" y="53"/>
                    <a:pt x="89" y="51"/>
                    <a:pt x="85" y="56"/>
                  </a:cubicBezTo>
                  <a:cubicBezTo>
                    <a:pt x="81" y="60"/>
                    <a:pt x="94" y="65"/>
                    <a:pt x="100" y="69"/>
                  </a:cubicBezTo>
                  <a:cubicBezTo>
                    <a:pt x="105" y="74"/>
                    <a:pt x="95" y="85"/>
                    <a:pt x="97" y="87"/>
                  </a:cubicBezTo>
                  <a:cubicBezTo>
                    <a:pt x="97" y="89"/>
                    <a:pt x="101" y="90"/>
                    <a:pt x="107" y="89"/>
                  </a:cubicBezTo>
                  <a:cubicBezTo>
                    <a:pt x="113" y="87"/>
                    <a:pt x="115" y="75"/>
                    <a:pt x="119" y="71"/>
                  </a:cubicBezTo>
                  <a:cubicBezTo>
                    <a:pt x="123" y="68"/>
                    <a:pt x="121" y="62"/>
                    <a:pt x="123" y="60"/>
                  </a:cubicBezTo>
                  <a:cubicBezTo>
                    <a:pt x="125" y="57"/>
                    <a:pt x="128" y="57"/>
                    <a:pt x="130" y="57"/>
                  </a:cubicBezTo>
                  <a:cubicBezTo>
                    <a:pt x="133" y="57"/>
                    <a:pt x="132" y="50"/>
                    <a:pt x="135" y="50"/>
                  </a:cubicBezTo>
                  <a:cubicBezTo>
                    <a:pt x="139" y="50"/>
                    <a:pt x="137" y="46"/>
                    <a:pt x="139" y="40"/>
                  </a:cubicBezTo>
                  <a:cubicBezTo>
                    <a:pt x="141" y="35"/>
                    <a:pt x="130" y="37"/>
                    <a:pt x="128" y="4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6" name="Freeform 152"/>
            <p:cNvSpPr>
              <a:spLocks noEditPoints="1" noChangeArrowheads="1"/>
            </p:cNvSpPr>
            <p:nvPr/>
          </p:nvSpPr>
          <p:spPr bwMode="auto">
            <a:xfrm>
              <a:off x="7448575" y="2830516"/>
              <a:ext cx="58738" cy="53975"/>
            </a:xfrm>
            <a:custGeom>
              <a:avLst/>
              <a:gdLst>
                <a:gd name="T0" fmla="*/ 4 w 31"/>
                <a:gd name="T1" fmla="*/ 24 h 28"/>
                <a:gd name="T2" fmla="*/ 17 w 31"/>
                <a:gd name="T3" fmla="*/ 20 h 28"/>
                <a:gd name="T4" fmla="*/ 4 w 31"/>
                <a:gd name="T5" fmla="*/ 24 h 28"/>
                <a:gd name="T6" fmla="*/ 20 w 31"/>
                <a:gd name="T7" fmla="*/ 10 h 28"/>
                <a:gd name="T8" fmla="*/ 31 w 31"/>
                <a:gd name="T9" fmla="*/ 4 h 28"/>
                <a:gd name="T10" fmla="*/ 20 w 31"/>
                <a:gd name="T11" fmla="*/ 10 h 28"/>
                <a:gd name="T12" fmla="*/ 0 60000 65536"/>
                <a:gd name="T13" fmla="*/ 0 60000 65536"/>
                <a:gd name="T14" fmla="*/ 0 60000 65536"/>
                <a:gd name="T15" fmla="*/ 0 60000 65536"/>
                <a:gd name="T16" fmla="*/ 0 60000 65536"/>
                <a:gd name="T17" fmla="*/ 0 60000 65536"/>
                <a:gd name="T18" fmla="*/ 0 w 31"/>
                <a:gd name="T19" fmla="*/ 0 h 28"/>
                <a:gd name="T20" fmla="*/ 31 w 31"/>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31" h="28">
                  <a:moveTo>
                    <a:pt x="4" y="24"/>
                  </a:moveTo>
                  <a:cubicBezTo>
                    <a:pt x="8" y="28"/>
                    <a:pt x="17" y="27"/>
                    <a:pt x="17" y="20"/>
                  </a:cubicBezTo>
                  <a:cubicBezTo>
                    <a:pt x="17" y="13"/>
                    <a:pt x="0" y="20"/>
                    <a:pt x="4" y="24"/>
                  </a:cubicBezTo>
                  <a:close/>
                  <a:moveTo>
                    <a:pt x="20" y="10"/>
                  </a:moveTo>
                  <a:cubicBezTo>
                    <a:pt x="22" y="11"/>
                    <a:pt x="31" y="8"/>
                    <a:pt x="31" y="4"/>
                  </a:cubicBezTo>
                  <a:cubicBezTo>
                    <a:pt x="31" y="0"/>
                    <a:pt x="15" y="9"/>
                    <a:pt x="20"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7" name="Freeform 153"/>
            <p:cNvSpPr>
              <a:spLocks noChangeArrowheads="1"/>
            </p:cNvSpPr>
            <p:nvPr/>
          </p:nvSpPr>
          <p:spPr bwMode="auto">
            <a:xfrm>
              <a:off x="4773629" y="1484314"/>
              <a:ext cx="309564" cy="195264"/>
            </a:xfrm>
            <a:custGeom>
              <a:avLst/>
              <a:gdLst>
                <a:gd name="T0" fmla="*/ 161 w 162"/>
                <a:gd name="T1" fmla="*/ 64 h 102"/>
                <a:gd name="T2" fmla="*/ 151 w 162"/>
                <a:gd name="T3" fmla="*/ 61 h 102"/>
                <a:gd name="T4" fmla="*/ 139 w 162"/>
                <a:gd name="T5" fmla="*/ 53 h 102"/>
                <a:gd name="T6" fmla="*/ 126 w 162"/>
                <a:gd name="T7" fmla="*/ 45 h 102"/>
                <a:gd name="T8" fmla="*/ 115 w 162"/>
                <a:gd name="T9" fmla="*/ 37 h 102"/>
                <a:gd name="T10" fmla="*/ 110 w 162"/>
                <a:gd name="T11" fmla="*/ 28 h 102"/>
                <a:gd name="T12" fmla="*/ 105 w 162"/>
                <a:gd name="T13" fmla="*/ 20 h 102"/>
                <a:gd name="T14" fmla="*/ 88 w 162"/>
                <a:gd name="T15" fmla="*/ 18 h 102"/>
                <a:gd name="T16" fmla="*/ 84 w 162"/>
                <a:gd name="T17" fmla="*/ 6 h 102"/>
                <a:gd name="T18" fmla="*/ 76 w 162"/>
                <a:gd name="T19" fmla="*/ 3 h 102"/>
                <a:gd name="T20" fmla="*/ 68 w 162"/>
                <a:gd name="T21" fmla="*/ 1 h 102"/>
                <a:gd name="T22" fmla="*/ 63 w 162"/>
                <a:gd name="T23" fmla="*/ 4 h 102"/>
                <a:gd name="T24" fmla="*/ 59 w 162"/>
                <a:gd name="T25" fmla="*/ 8 h 102"/>
                <a:gd name="T26" fmla="*/ 51 w 162"/>
                <a:gd name="T27" fmla="*/ 14 h 102"/>
                <a:gd name="T28" fmla="*/ 47 w 162"/>
                <a:gd name="T29" fmla="*/ 19 h 102"/>
                <a:gd name="T30" fmla="*/ 39 w 162"/>
                <a:gd name="T31" fmla="*/ 17 h 102"/>
                <a:gd name="T32" fmla="*/ 31 w 162"/>
                <a:gd name="T33" fmla="*/ 15 h 102"/>
                <a:gd name="T34" fmla="*/ 17 w 162"/>
                <a:gd name="T35" fmla="*/ 5 h 102"/>
                <a:gd name="T36" fmla="*/ 6 w 162"/>
                <a:gd name="T37" fmla="*/ 11 h 102"/>
                <a:gd name="T38" fmla="*/ 11 w 162"/>
                <a:gd name="T39" fmla="*/ 9 h 102"/>
                <a:gd name="T40" fmla="*/ 20 w 162"/>
                <a:gd name="T41" fmla="*/ 19 h 102"/>
                <a:gd name="T42" fmla="*/ 25 w 162"/>
                <a:gd name="T43" fmla="*/ 26 h 102"/>
                <a:gd name="T44" fmla="*/ 14 w 162"/>
                <a:gd name="T45" fmla="*/ 28 h 102"/>
                <a:gd name="T46" fmla="*/ 3 w 162"/>
                <a:gd name="T47" fmla="*/ 28 h 102"/>
                <a:gd name="T48" fmla="*/ 6 w 162"/>
                <a:gd name="T49" fmla="*/ 38 h 102"/>
                <a:gd name="T50" fmla="*/ 6 w 162"/>
                <a:gd name="T51" fmla="*/ 45 h 102"/>
                <a:gd name="T52" fmla="*/ 13 w 162"/>
                <a:gd name="T53" fmla="*/ 47 h 102"/>
                <a:gd name="T54" fmla="*/ 15 w 162"/>
                <a:gd name="T55" fmla="*/ 56 h 102"/>
                <a:gd name="T56" fmla="*/ 15 w 162"/>
                <a:gd name="T57" fmla="*/ 71 h 102"/>
                <a:gd name="T58" fmla="*/ 24 w 162"/>
                <a:gd name="T59" fmla="*/ 70 h 102"/>
                <a:gd name="T60" fmla="*/ 34 w 162"/>
                <a:gd name="T61" fmla="*/ 63 h 102"/>
                <a:gd name="T62" fmla="*/ 42 w 162"/>
                <a:gd name="T63" fmla="*/ 62 h 102"/>
                <a:gd name="T64" fmla="*/ 55 w 162"/>
                <a:gd name="T65" fmla="*/ 62 h 102"/>
                <a:gd name="T66" fmla="*/ 64 w 162"/>
                <a:gd name="T67" fmla="*/ 66 h 102"/>
                <a:gd name="T68" fmla="*/ 69 w 162"/>
                <a:gd name="T69" fmla="*/ 68 h 102"/>
                <a:gd name="T70" fmla="*/ 79 w 162"/>
                <a:gd name="T71" fmla="*/ 71 h 102"/>
                <a:gd name="T72" fmla="*/ 84 w 162"/>
                <a:gd name="T73" fmla="*/ 75 h 102"/>
                <a:gd name="T74" fmla="*/ 91 w 162"/>
                <a:gd name="T75" fmla="*/ 82 h 102"/>
                <a:gd name="T76" fmla="*/ 99 w 162"/>
                <a:gd name="T77" fmla="*/ 83 h 102"/>
                <a:gd name="T78" fmla="*/ 101 w 162"/>
                <a:gd name="T79" fmla="*/ 97 h 102"/>
                <a:gd name="T80" fmla="*/ 104 w 162"/>
                <a:gd name="T81" fmla="*/ 96 h 102"/>
                <a:gd name="T82" fmla="*/ 112 w 162"/>
                <a:gd name="T83" fmla="*/ 99 h 102"/>
                <a:gd name="T84" fmla="*/ 122 w 162"/>
                <a:gd name="T85" fmla="*/ 95 h 102"/>
                <a:gd name="T86" fmla="*/ 138 w 162"/>
                <a:gd name="T87" fmla="*/ 86 h 102"/>
                <a:gd name="T88" fmla="*/ 144 w 162"/>
                <a:gd name="T89" fmla="*/ 75 h 102"/>
                <a:gd name="T90" fmla="*/ 153 w 162"/>
                <a:gd name="T91" fmla="*/ 69 h 102"/>
                <a:gd name="T92" fmla="*/ 162 w 162"/>
                <a:gd name="T93" fmla="*/ 71 h 102"/>
                <a:gd name="T94" fmla="*/ 161 w 162"/>
                <a:gd name="T95" fmla="*/ 64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162"/>
                <a:gd name="T145" fmla="*/ 0 h 102"/>
                <a:gd name="T146" fmla="*/ 162 w 162"/>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162" h="102">
                  <a:moveTo>
                    <a:pt x="161" y="64"/>
                  </a:moveTo>
                  <a:cubicBezTo>
                    <a:pt x="161" y="64"/>
                    <a:pt x="153" y="60"/>
                    <a:pt x="151" y="61"/>
                  </a:cubicBezTo>
                  <a:cubicBezTo>
                    <a:pt x="148" y="61"/>
                    <a:pt x="144" y="55"/>
                    <a:pt x="139" y="53"/>
                  </a:cubicBezTo>
                  <a:cubicBezTo>
                    <a:pt x="134" y="51"/>
                    <a:pt x="128" y="48"/>
                    <a:pt x="126" y="45"/>
                  </a:cubicBezTo>
                  <a:cubicBezTo>
                    <a:pt x="124" y="42"/>
                    <a:pt x="116" y="39"/>
                    <a:pt x="115" y="37"/>
                  </a:cubicBezTo>
                  <a:cubicBezTo>
                    <a:pt x="114" y="35"/>
                    <a:pt x="112" y="31"/>
                    <a:pt x="110" y="28"/>
                  </a:cubicBezTo>
                  <a:cubicBezTo>
                    <a:pt x="107" y="25"/>
                    <a:pt x="107" y="21"/>
                    <a:pt x="105" y="20"/>
                  </a:cubicBezTo>
                  <a:cubicBezTo>
                    <a:pt x="103" y="20"/>
                    <a:pt x="88" y="20"/>
                    <a:pt x="88" y="18"/>
                  </a:cubicBezTo>
                  <a:cubicBezTo>
                    <a:pt x="88" y="16"/>
                    <a:pt x="87" y="7"/>
                    <a:pt x="84" y="6"/>
                  </a:cubicBezTo>
                  <a:cubicBezTo>
                    <a:pt x="81" y="6"/>
                    <a:pt x="77" y="5"/>
                    <a:pt x="76" y="3"/>
                  </a:cubicBezTo>
                  <a:cubicBezTo>
                    <a:pt x="74" y="2"/>
                    <a:pt x="69" y="0"/>
                    <a:pt x="68" y="1"/>
                  </a:cubicBezTo>
                  <a:cubicBezTo>
                    <a:pt x="67" y="3"/>
                    <a:pt x="64" y="4"/>
                    <a:pt x="63" y="4"/>
                  </a:cubicBezTo>
                  <a:cubicBezTo>
                    <a:pt x="62" y="4"/>
                    <a:pt x="62" y="8"/>
                    <a:pt x="59" y="8"/>
                  </a:cubicBezTo>
                  <a:cubicBezTo>
                    <a:pt x="56" y="8"/>
                    <a:pt x="51" y="12"/>
                    <a:pt x="51" y="14"/>
                  </a:cubicBezTo>
                  <a:cubicBezTo>
                    <a:pt x="51" y="16"/>
                    <a:pt x="51" y="20"/>
                    <a:pt x="47" y="19"/>
                  </a:cubicBezTo>
                  <a:cubicBezTo>
                    <a:pt x="45" y="19"/>
                    <a:pt x="42" y="19"/>
                    <a:pt x="39" y="17"/>
                  </a:cubicBezTo>
                  <a:cubicBezTo>
                    <a:pt x="38" y="18"/>
                    <a:pt x="35" y="20"/>
                    <a:pt x="31" y="15"/>
                  </a:cubicBezTo>
                  <a:cubicBezTo>
                    <a:pt x="27" y="10"/>
                    <a:pt x="21" y="5"/>
                    <a:pt x="17" y="5"/>
                  </a:cubicBezTo>
                  <a:cubicBezTo>
                    <a:pt x="14" y="5"/>
                    <a:pt x="3" y="5"/>
                    <a:pt x="6" y="11"/>
                  </a:cubicBezTo>
                  <a:cubicBezTo>
                    <a:pt x="7" y="10"/>
                    <a:pt x="8" y="9"/>
                    <a:pt x="11" y="9"/>
                  </a:cubicBezTo>
                  <a:cubicBezTo>
                    <a:pt x="19" y="10"/>
                    <a:pt x="15" y="19"/>
                    <a:pt x="20" y="19"/>
                  </a:cubicBezTo>
                  <a:cubicBezTo>
                    <a:pt x="24" y="20"/>
                    <a:pt x="29" y="26"/>
                    <a:pt x="25" y="26"/>
                  </a:cubicBezTo>
                  <a:cubicBezTo>
                    <a:pt x="21" y="26"/>
                    <a:pt x="18" y="30"/>
                    <a:pt x="14" y="28"/>
                  </a:cubicBezTo>
                  <a:cubicBezTo>
                    <a:pt x="10" y="27"/>
                    <a:pt x="5" y="24"/>
                    <a:pt x="3" y="28"/>
                  </a:cubicBezTo>
                  <a:cubicBezTo>
                    <a:pt x="2" y="33"/>
                    <a:pt x="0" y="38"/>
                    <a:pt x="6" y="38"/>
                  </a:cubicBezTo>
                  <a:cubicBezTo>
                    <a:pt x="11" y="37"/>
                    <a:pt x="10" y="41"/>
                    <a:pt x="6" y="45"/>
                  </a:cubicBezTo>
                  <a:cubicBezTo>
                    <a:pt x="3" y="48"/>
                    <a:pt x="12" y="44"/>
                    <a:pt x="13" y="47"/>
                  </a:cubicBezTo>
                  <a:cubicBezTo>
                    <a:pt x="13" y="51"/>
                    <a:pt x="16" y="51"/>
                    <a:pt x="15" y="56"/>
                  </a:cubicBezTo>
                  <a:cubicBezTo>
                    <a:pt x="14" y="60"/>
                    <a:pt x="15" y="66"/>
                    <a:pt x="15" y="71"/>
                  </a:cubicBezTo>
                  <a:cubicBezTo>
                    <a:pt x="19" y="71"/>
                    <a:pt x="23" y="71"/>
                    <a:pt x="24" y="70"/>
                  </a:cubicBezTo>
                  <a:cubicBezTo>
                    <a:pt x="26" y="67"/>
                    <a:pt x="31" y="63"/>
                    <a:pt x="34" y="63"/>
                  </a:cubicBezTo>
                  <a:cubicBezTo>
                    <a:pt x="37" y="63"/>
                    <a:pt x="41" y="64"/>
                    <a:pt x="42" y="62"/>
                  </a:cubicBezTo>
                  <a:cubicBezTo>
                    <a:pt x="44" y="59"/>
                    <a:pt x="54" y="60"/>
                    <a:pt x="55" y="62"/>
                  </a:cubicBezTo>
                  <a:cubicBezTo>
                    <a:pt x="57" y="64"/>
                    <a:pt x="62" y="66"/>
                    <a:pt x="64" y="66"/>
                  </a:cubicBezTo>
                  <a:cubicBezTo>
                    <a:pt x="65" y="66"/>
                    <a:pt x="66" y="69"/>
                    <a:pt x="69" y="68"/>
                  </a:cubicBezTo>
                  <a:cubicBezTo>
                    <a:pt x="72" y="68"/>
                    <a:pt x="79" y="69"/>
                    <a:pt x="79" y="71"/>
                  </a:cubicBezTo>
                  <a:cubicBezTo>
                    <a:pt x="79" y="73"/>
                    <a:pt x="81" y="75"/>
                    <a:pt x="84" y="75"/>
                  </a:cubicBezTo>
                  <a:cubicBezTo>
                    <a:pt x="86" y="75"/>
                    <a:pt x="89" y="82"/>
                    <a:pt x="91" y="82"/>
                  </a:cubicBezTo>
                  <a:cubicBezTo>
                    <a:pt x="94" y="81"/>
                    <a:pt x="99" y="81"/>
                    <a:pt x="99" y="83"/>
                  </a:cubicBezTo>
                  <a:cubicBezTo>
                    <a:pt x="99" y="84"/>
                    <a:pt x="100" y="92"/>
                    <a:pt x="101" y="97"/>
                  </a:cubicBezTo>
                  <a:cubicBezTo>
                    <a:pt x="102" y="96"/>
                    <a:pt x="103" y="96"/>
                    <a:pt x="104" y="96"/>
                  </a:cubicBezTo>
                  <a:cubicBezTo>
                    <a:pt x="105" y="97"/>
                    <a:pt x="111" y="96"/>
                    <a:pt x="112" y="99"/>
                  </a:cubicBezTo>
                  <a:cubicBezTo>
                    <a:pt x="113" y="102"/>
                    <a:pt x="122" y="100"/>
                    <a:pt x="122" y="95"/>
                  </a:cubicBezTo>
                  <a:cubicBezTo>
                    <a:pt x="121" y="90"/>
                    <a:pt x="136" y="90"/>
                    <a:pt x="138" y="86"/>
                  </a:cubicBezTo>
                  <a:cubicBezTo>
                    <a:pt x="139" y="81"/>
                    <a:pt x="141" y="73"/>
                    <a:pt x="144" y="75"/>
                  </a:cubicBezTo>
                  <a:cubicBezTo>
                    <a:pt x="148" y="76"/>
                    <a:pt x="150" y="69"/>
                    <a:pt x="153" y="69"/>
                  </a:cubicBezTo>
                  <a:cubicBezTo>
                    <a:pt x="156" y="70"/>
                    <a:pt x="158" y="72"/>
                    <a:pt x="162" y="71"/>
                  </a:cubicBezTo>
                  <a:lnTo>
                    <a:pt x="161" y="64"/>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8" name="Freeform 154"/>
            <p:cNvSpPr>
              <a:spLocks noChangeArrowheads="1"/>
            </p:cNvSpPr>
            <p:nvPr/>
          </p:nvSpPr>
          <p:spPr bwMode="auto">
            <a:xfrm>
              <a:off x="4586303" y="1554163"/>
              <a:ext cx="425451" cy="360363"/>
            </a:xfrm>
            <a:custGeom>
              <a:avLst/>
              <a:gdLst>
                <a:gd name="T0" fmla="*/ 217 w 223"/>
                <a:gd name="T1" fmla="*/ 162 h 188"/>
                <a:gd name="T2" fmla="*/ 212 w 223"/>
                <a:gd name="T3" fmla="*/ 150 h 188"/>
                <a:gd name="T4" fmla="*/ 200 w 223"/>
                <a:gd name="T5" fmla="*/ 140 h 188"/>
                <a:gd name="T6" fmla="*/ 192 w 223"/>
                <a:gd name="T7" fmla="*/ 130 h 188"/>
                <a:gd name="T8" fmla="*/ 204 w 223"/>
                <a:gd name="T9" fmla="*/ 114 h 188"/>
                <a:gd name="T10" fmla="*/ 193 w 223"/>
                <a:gd name="T11" fmla="*/ 108 h 188"/>
                <a:gd name="T12" fmla="*/ 191 w 223"/>
                <a:gd name="T13" fmla="*/ 95 h 188"/>
                <a:gd name="T14" fmla="*/ 191 w 223"/>
                <a:gd name="T15" fmla="*/ 83 h 188"/>
                <a:gd name="T16" fmla="*/ 192 w 223"/>
                <a:gd name="T17" fmla="*/ 74 h 188"/>
                <a:gd name="T18" fmla="*/ 197 w 223"/>
                <a:gd name="T19" fmla="*/ 65 h 188"/>
                <a:gd name="T20" fmla="*/ 199 w 223"/>
                <a:gd name="T21" fmla="*/ 60 h 188"/>
                <a:gd name="T22" fmla="*/ 197 w 223"/>
                <a:gd name="T23" fmla="*/ 46 h 188"/>
                <a:gd name="T24" fmla="*/ 189 w 223"/>
                <a:gd name="T25" fmla="*/ 45 h 188"/>
                <a:gd name="T26" fmla="*/ 182 w 223"/>
                <a:gd name="T27" fmla="*/ 38 h 188"/>
                <a:gd name="T28" fmla="*/ 177 w 223"/>
                <a:gd name="T29" fmla="*/ 34 h 188"/>
                <a:gd name="T30" fmla="*/ 167 w 223"/>
                <a:gd name="T31" fmla="*/ 31 h 188"/>
                <a:gd name="T32" fmla="*/ 162 w 223"/>
                <a:gd name="T33" fmla="*/ 29 h 188"/>
                <a:gd name="T34" fmla="*/ 153 w 223"/>
                <a:gd name="T35" fmla="*/ 25 h 188"/>
                <a:gd name="T36" fmla="*/ 140 w 223"/>
                <a:gd name="T37" fmla="*/ 25 h 188"/>
                <a:gd name="T38" fmla="*/ 132 w 223"/>
                <a:gd name="T39" fmla="*/ 26 h 188"/>
                <a:gd name="T40" fmla="*/ 122 w 223"/>
                <a:gd name="T41" fmla="*/ 33 h 188"/>
                <a:gd name="T42" fmla="*/ 113 w 223"/>
                <a:gd name="T43" fmla="*/ 34 h 188"/>
                <a:gd name="T44" fmla="*/ 113 w 223"/>
                <a:gd name="T45" fmla="*/ 40 h 188"/>
                <a:gd name="T46" fmla="*/ 88 w 223"/>
                <a:gd name="T47" fmla="*/ 46 h 188"/>
                <a:gd name="T48" fmla="*/ 68 w 223"/>
                <a:gd name="T49" fmla="*/ 33 h 188"/>
                <a:gd name="T50" fmla="*/ 54 w 223"/>
                <a:gd name="T51" fmla="*/ 20 h 188"/>
                <a:gd name="T52" fmla="*/ 46 w 223"/>
                <a:gd name="T53" fmla="*/ 14 h 188"/>
                <a:gd name="T54" fmla="*/ 44 w 223"/>
                <a:gd name="T55" fmla="*/ 4 h 188"/>
                <a:gd name="T56" fmla="*/ 21 w 223"/>
                <a:gd name="T57" fmla="*/ 14 h 188"/>
                <a:gd name="T58" fmla="*/ 13 w 223"/>
                <a:gd name="T59" fmla="*/ 9 h 188"/>
                <a:gd name="T60" fmla="*/ 7 w 223"/>
                <a:gd name="T61" fmla="*/ 1 h 188"/>
                <a:gd name="T62" fmla="*/ 3 w 223"/>
                <a:gd name="T63" fmla="*/ 6 h 188"/>
                <a:gd name="T64" fmla="*/ 3 w 223"/>
                <a:gd name="T65" fmla="*/ 16 h 188"/>
                <a:gd name="T66" fmla="*/ 3 w 223"/>
                <a:gd name="T67" fmla="*/ 28 h 188"/>
                <a:gd name="T68" fmla="*/ 9 w 223"/>
                <a:gd name="T69" fmla="*/ 37 h 188"/>
                <a:gd name="T70" fmla="*/ 13 w 223"/>
                <a:gd name="T71" fmla="*/ 46 h 188"/>
                <a:gd name="T72" fmla="*/ 19 w 223"/>
                <a:gd name="T73" fmla="*/ 52 h 188"/>
                <a:gd name="T74" fmla="*/ 23 w 223"/>
                <a:gd name="T75" fmla="*/ 56 h 188"/>
                <a:gd name="T76" fmla="*/ 22 w 223"/>
                <a:gd name="T77" fmla="*/ 63 h 188"/>
                <a:gd name="T78" fmla="*/ 17 w 223"/>
                <a:gd name="T79" fmla="*/ 72 h 188"/>
                <a:gd name="T80" fmla="*/ 19 w 223"/>
                <a:gd name="T81" fmla="*/ 82 h 188"/>
                <a:gd name="T82" fmla="*/ 24 w 223"/>
                <a:gd name="T83" fmla="*/ 88 h 188"/>
                <a:gd name="T84" fmla="*/ 37 w 223"/>
                <a:gd name="T85" fmla="*/ 97 h 188"/>
                <a:gd name="T86" fmla="*/ 42 w 223"/>
                <a:gd name="T87" fmla="*/ 103 h 188"/>
                <a:gd name="T88" fmla="*/ 41 w 223"/>
                <a:gd name="T89" fmla="*/ 111 h 188"/>
                <a:gd name="T90" fmla="*/ 45 w 223"/>
                <a:gd name="T91" fmla="*/ 119 h 188"/>
                <a:gd name="T92" fmla="*/ 51 w 223"/>
                <a:gd name="T93" fmla="*/ 127 h 188"/>
                <a:gd name="T94" fmla="*/ 54 w 223"/>
                <a:gd name="T95" fmla="*/ 127 h 188"/>
                <a:gd name="T96" fmla="*/ 59 w 223"/>
                <a:gd name="T97" fmla="*/ 126 h 188"/>
                <a:gd name="T98" fmla="*/ 67 w 223"/>
                <a:gd name="T99" fmla="*/ 125 h 188"/>
                <a:gd name="T100" fmla="*/ 79 w 223"/>
                <a:gd name="T101" fmla="*/ 143 h 188"/>
                <a:gd name="T102" fmla="*/ 85 w 223"/>
                <a:gd name="T103" fmla="*/ 153 h 188"/>
                <a:gd name="T104" fmla="*/ 99 w 223"/>
                <a:gd name="T105" fmla="*/ 160 h 188"/>
                <a:gd name="T106" fmla="*/ 125 w 223"/>
                <a:gd name="T107" fmla="*/ 170 h 188"/>
                <a:gd name="T108" fmla="*/ 143 w 223"/>
                <a:gd name="T109" fmla="*/ 165 h 188"/>
                <a:gd name="T110" fmla="*/ 151 w 223"/>
                <a:gd name="T111" fmla="*/ 180 h 188"/>
                <a:gd name="T112" fmla="*/ 191 w 223"/>
                <a:gd name="T113" fmla="*/ 187 h 188"/>
                <a:gd name="T114" fmla="*/ 202 w 223"/>
                <a:gd name="T115" fmla="*/ 188 h 188"/>
                <a:gd name="T116" fmla="*/ 202 w 223"/>
                <a:gd name="T117" fmla="*/ 185 h 188"/>
                <a:gd name="T118" fmla="*/ 209 w 223"/>
                <a:gd name="T119" fmla="*/ 174 h 188"/>
                <a:gd name="T120" fmla="*/ 220 w 223"/>
                <a:gd name="T121" fmla="*/ 171 h 188"/>
                <a:gd name="T122" fmla="*/ 217 w 223"/>
                <a:gd name="T123" fmla="*/ 162 h 1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23"/>
                <a:gd name="T187" fmla="*/ 0 h 188"/>
                <a:gd name="T188" fmla="*/ 223 w 223"/>
                <a:gd name="T189" fmla="*/ 188 h 18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23" h="188">
                  <a:moveTo>
                    <a:pt x="217" y="162"/>
                  </a:moveTo>
                  <a:cubicBezTo>
                    <a:pt x="214" y="161"/>
                    <a:pt x="217" y="152"/>
                    <a:pt x="212" y="150"/>
                  </a:cubicBezTo>
                  <a:cubicBezTo>
                    <a:pt x="206" y="148"/>
                    <a:pt x="201" y="144"/>
                    <a:pt x="200" y="140"/>
                  </a:cubicBezTo>
                  <a:cubicBezTo>
                    <a:pt x="199" y="136"/>
                    <a:pt x="192" y="133"/>
                    <a:pt x="192" y="130"/>
                  </a:cubicBezTo>
                  <a:cubicBezTo>
                    <a:pt x="193" y="128"/>
                    <a:pt x="206" y="119"/>
                    <a:pt x="204" y="114"/>
                  </a:cubicBezTo>
                  <a:cubicBezTo>
                    <a:pt x="202" y="109"/>
                    <a:pt x="194" y="110"/>
                    <a:pt x="193" y="108"/>
                  </a:cubicBezTo>
                  <a:cubicBezTo>
                    <a:pt x="192" y="107"/>
                    <a:pt x="193" y="100"/>
                    <a:pt x="191" y="95"/>
                  </a:cubicBezTo>
                  <a:cubicBezTo>
                    <a:pt x="189" y="91"/>
                    <a:pt x="193" y="86"/>
                    <a:pt x="191" y="83"/>
                  </a:cubicBezTo>
                  <a:cubicBezTo>
                    <a:pt x="189" y="81"/>
                    <a:pt x="192" y="75"/>
                    <a:pt x="192" y="74"/>
                  </a:cubicBezTo>
                  <a:cubicBezTo>
                    <a:pt x="193" y="72"/>
                    <a:pt x="197" y="69"/>
                    <a:pt x="197" y="65"/>
                  </a:cubicBezTo>
                  <a:cubicBezTo>
                    <a:pt x="197" y="62"/>
                    <a:pt x="198" y="60"/>
                    <a:pt x="199" y="60"/>
                  </a:cubicBezTo>
                  <a:cubicBezTo>
                    <a:pt x="198" y="55"/>
                    <a:pt x="197" y="47"/>
                    <a:pt x="197" y="46"/>
                  </a:cubicBezTo>
                  <a:cubicBezTo>
                    <a:pt x="197" y="44"/>
                    <a:pt x="192" y="44"/>
                    <a:pt x="189" y="45"/>
                  </a:cubicBezTo>
                  <a:cubicBezTo>
                    <a:pt x="187" y="45"/>
                    <a:pt x="184" y="38"/>
                    <a:pt x="182" y="38"/>
                  </a:cubicBezTo>
                  <a:cubicBezTo>
                    <a:pt x="179" y="38"/>
                    <a:pt x="177" y="36"/>
                    <a:pt x="177" y="34"/>
                  </a:cubicBezTo>
                  <a:cubicBezTo>
                    <a:pt x="177" y="32"/>
                    <a:pt x="170" y="31"/>
                    <a:pt x="167" y="31"/>
                  </a:cubicBezTo>
                  <a:cubicBezTo>
                    <a:pt x="164" y="32"/>
                    <a:pt x="163" y="29"/>
                    <a:pt x="162" y="29"/>
                  </a:cubicBezTo>
                  <a:cubicBezTo>
                    <a:pt x="160" y="29"/>
                    <a:pt x="155" y="27"/>
                    <a:pt x="153" y="25"/>
                  </a:cubicBezTo>
                  <a:cubicBezTo>
                    <a:pt x="152" y="23"/>
                    <a:pt x="142" y="22"/>
                    <a:pt x="140" y="25"/>
                  </a:cubicBezTo>
                  <a:cubicBezTo>
                    <a:pt x="139" y="27"/>
                    <a:pt x="135" y="26"/>
                    <a:pt x="132" y="26"/>
                  </a:cubicBezTo>
                  <a:cubicBezTo>
                    <a:pt x="129" y="26"/>
                    <a:pt x="124" y="30"/>
                    <a:pt x="122" y="33"/>
                  </a:cubicBezTo>
                  <a:cubicBezTo>
                    <a:pt x="121" y="34"/>
                    <a:pt x="117" y="34"/>
                    <a:pt x="113" y="34"/>
                  </a:cubicBezTo>
                  <a:cubicBezTo>
                    <a:pt x="113" y="37"/>
                    <a:pt x="113" y="39"/>
                    <a:pt x="113" y="40"/>
                  </a:cubicBezTo>
                  <a:cubicBezTo>
                    <a:pt x="111" y="43"/>
                    <a:pt x="98" y="45"/>
                    <a:pt x="88" y="46"/>
                  </a:cubicBezTo>
                  <a:cubicBezTo>
                    <a:pt x="79" y="46"/>
                    <a:pt x="78" y="33"/>
                    <a:pt x="68" y="33"/>
                  </a:cubicBezTo>
                  <a:cubicBezTo>
                    <a:pt x="60" y="33"/>
                    <a:pt x="54" y="26"/>
                    <a:pt x="54" y="20"/>
                  </a:cubicBezTo>
                  <a:cubicBezTo>
                    <a:pt x="50" y="18"/>
                    <a:pt x="45" y="15"/>
                    <a:pt x="46" y="14"/>
                  </a:cubicBezTo>
                  <a:cubicBezTo>
                    <a:pt x="47" y="12"/>
                    <a:pt x="49" y="1"/>
                    <a:pt x="44" y="4"/>
                  </a:cubicBezTo>
                  <a:cubicBezTo>
                    <a:pt x="38" y="6"/>
                    <a:pt x="31" y="15"/>
                    <a:pt x="21" y="14"/>
                  </a:cubicBezTo>
                  <a:cubicBezTo>
                    <a:pt x="11" y="12"/>
                    <a:pt x="18" y="11"/>
                    <a:pt x="13" y="9"/>
                  </a:cubicBezTo>
                  <a:cubicBezTo>
                    <a:pt x="9" y="7"/>
                    <a:pt x="12" y="2"/>
                    <a:pt x="7" y="1"/>
                  </a:cubicBezTo>
                  <a:cubicBezTo>
                    <a:pt x="2" y="0"/>
                    <a:pt x="5" y="6"/>
                    <a:pt x="3" y="6"/>
                  </a:cubicBezTo>
                  <a:cubicBezTo>
                    <a:pt x="0" y="6"/>
                    <a:pt x="2" y="14"/>
                    <a:pt x="3" y="16"/>
                  </a:cubicBezTo>
                  <a:cubicBezTo>
                    <a:pt x="4" y="18"/>
                    <a:pt x="1" y="27"/>
                    <a:pt x="3" y="28"/>
                  </a:cubicBezTo>
                  <a:cubicBezTo>
                    <a:pt x="5" y="28"/>
                    <a:pt x="9" y="35"/>
                    <a:pt x="9" y="37"/>
                  </a:cubicBezTo>
                  <a:cubicBezTo>
                    <a:pt x="8" y="38"/>
                    <a:pt x="13" y="43"/>
                    <a:pt x="13" y="46"/>
                  </a:cubicBezTo>
                  <a:cubicBezTo>
                    <a:pt x="13" y="49"/>
                    <a:pt x="17" y="52"/>
                    <a:pt x="19" y="52"/>
                  </a:cubicBezTo>
                  <a:cubicBezTo>
                    <a:pt x="21" y="52"/>
                    <a:pt x="24" y="54"/>
                    <a:pt x="23" y="56"/>
                  </a:cubicBezTo>
                  <a:cubicBezTo>
                    <a:pt x="22" y="59"/>
                    <a:pt x="25" y="63"/>
                    <a:pt x="22" y="63"/>
                  </a:cubicBezTo>
                  <a:cubicBezTo>
                    <a:pt x="19" y="63"/>
                    <a:pt x="20" y="71"/>
                    <a:pt x="17" y="72"/>
                  </a:cubicBezTo>
                  <a:cubicBezTo>
                    <a:pt x="15" y="73"/>
                    <a:pt x="17" y="81"/>
                    <a:pt x="19" y="82"/>
                  </a:cubicBezTo>
                  <a:cubicBezTo>
                    <a:pt x="21" y="83"/>
                    <a:pt x="25" y="85"/>
                    <a:pt x="24" y="88"/>
                  </a:cubicBezTo>
                  <a:cubicBezTo>
                    <a:pt x="24" y="91"/>
                    <a:pt x="34" y="96"/>
                    <a:pt x="37" y="97"/>
                  </a:cubicBezTo>
                  <a:cubicBezTo>
                    <a:pt x="40" y="97"/>
                    <a:pt x="40" y="102"/>
                    <a:pt x="42" y="103"/>
                  </a:cubicBezTo>
                  <a:cubicBezTo>
                    <a:pt x="44" y="105"/>
                    <a:pt x="41" y="109"/>
                    <a:pt x="41" y="111"/>
                  </a:cubicBezTo>
                  <a:cubicBezTo>
                    <a:pt x="42" y="113"/>
                    <a:pt x="46" y="115"/>
                    <a:pt x="45" y="119"/>
                  </a:cubicBezTo>
                  <a:cubicBezTo>
                    <a:pt x="45" y="121"/>
                    <a:pt x="48" y="124"/>
                    <a:pt x="51" y="127"/>
                  </a:cubicBezTo>
                  <a:cubicBezTo>
                    <a:pt x="52" y="127"/>
                    <a:pt x="53" y="127"/>
                    <a:pt x="54" y="127"/>
                  </a:cubicBezTo>
                  <a:cubicBezTo>
                    <a:pt x="57" y="127"/>
                    <a:pt x="57" y="124"/>
                    <a:pt x="59" y="126"/>
                  </a:cubicBezTo>
                  <a:cubicBezTo>
                    <a:pt x="62" y="128"/>
                    <a:pt x="65" y="126"/>
                    <a:pt x="67" y="125"/>
                  </a:cubicBezTo>
                  <a:cubicBezTo>
                    <a:pt x="70" y="125"/>
                    <a:pt x="76" y="137"/>
                    <a:pt x="79" y="143"/>
                  </a:cubicBezTo>
                  <a:cubicBezTo>
                    <a:pt x="82" y="149"/>
                    <a:pt x="81" y="151"/>
                    <a:pt x="85" y="153"/>
                  </a:cubicBezTo>
                  <a:cubicBezTo>
                    <a:pt x="89" y="156"/>
                    <a:pt x="93" y="155"/>
                    <a:pt x="99" y="160"/>
                  </a:cubicBezTo>
                  <a:cubicBezTo>
                    <a:pt x="104" y="166"/>
                    <a:pt x="119" y="170"/>
                    <a:pt x="125" y="170"/>
                  </a:cubicBezTo>
                  <a:cubicBezTo>
                    <a:pt x="131" y="170"/>
                    <a:pt x="135" y="164"/>
                    <a:pt x="143" y="165"/>
                  </a:cubicBezTo>
                  <a:cubicBezTo>
                    <a:pt x="150" y="167"/>
                    <a:pt x="149" y="176"/>
                    <a:pt x="151" y="180"/>
                  </a:cubicBezTo>
                  <a:cubicBezTo>
                    <a:pt x="154" y="183"/>
                    <a:pt x="185" y="186"/>
                    <a:pt x="191" y="187"/>
                  </a:cubicBezTo>
                  <a:cubicBezTo>
                    <a:pt x="193" y="188"/>
                    <a:pt x="197" y="188"/>
                    <a:pt x="202" y="188"/>
                  </a:cubicBezTo>
                  <a:cubicBezTo>
                    <a:pt x="202" y="187"/>
                    <a:pt x="202" y="186"/>
                    <a:pt x="202" y="185"/>
                  </a:cubicBezTo>
                  <a:cubicBezTo>
                    <a:pt x="202" y="180"/>
                    <a:pt x="206" y="176"/>
                    <a:pt x="209" y="174"/>
                  </a:cubicBezTo>
                  <a:cubicBezTo>
                    <a:pt x="213" y="172"/>
                    <a:pt x="216" y="171"/>
                    <a:pt x="220" y="171"/>
                  </a:cubicBezTo>
                  <a:cubicBezTo>
                    <a:pt x="223" y="170"/>
                    <a:pt x="220" y="163"/>
                    <a:pt x="217" y="16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49" name="Freeform 155"/>
            <p:cNvSpPr>
              <a:spLocks noEditPoints="1" noChangeArrowheads="1"/>
            </p:cNvSpPr>
            <p:nvPr/>
          </p:nvSpPr>
          <p:spPr bwMode="auto">
            <a:xfrm>
              <a:off x="4641866" y="1128712"/>
              <a:ext cx="876303" cy="412751"/>
            </a:xfrm>
            <a:custGeom>
              <a:avLst/>
              <a:gdLst>
                <a:gd name="T0" fmla="*/ 444 w 459"/>
                <a:gd name="T1" fmla="*/ 89 h 216"/>
                <a:gd name="T2" fmla="*/ 429 w 459"/>
                <a:gd name="T3" fmla="*/ 75 h 216"/>
                <a:gd name="T4" fmla="*/ 399 w 459"/>
                <a:gd name="T5" fmla="*/ 70 h 216"/>
                <a:gd name="T6" fmla="*/ 372 w 459"/>
                <a:gd name="T7" fmla="*/ 51 h 216"/>
                <a:gd name="T8" fmla="*/ 341 w 459"/>
                <a:gd name="T9" fmla="*/ 17 h 216"/>
                <a:gd name="T10" fmla="*/ 310 w 459"/>
                <a:gd name="T11" fmla="*/ 30 h 216"/>
                <a:gd name="T12" fmla="*/ 302 w 459"/>
                <a:gd name="T13" fmla="*/ 21 h 216"/>
                <a:gd name="T14" fmla="*/ 285 w 459"/>
                <a:gd name="T15" fmla="*/ 19 h 216"/>
                <a:gd name="T16" fmla="*/ 277 w 459"/>
                <a:gd name="T17" fmla="*/ 2 h 216"/>
                <a:gd name="T18" fmla="*/ 237 w 459"/>
                <a:gd name="T19" fmla="*/ 10 h 216"/>
                <a:gd name="T20" fmla="*/ 193 w 459"/>
                <a:gd name="T21" fmla="*/ 20 h 216"/>
                <a:gd name="T22" fmla="*/ 170 w 459"/>
                <a:gd name="T23" fmla="*/ 31 h 216"/>
                <a:gd name="T24" fmla="*/ 166 w 459"/>
                <a:gd name="T25" fmla="*/ 46 h 216"/>
                <a:gd name="T26" fmla="*/ 170 w 459"/>
                <a:gd name="T27" fmla="*/ 61 h 216"/>
                <a:gd name="T28" fmla="*/ 158 w 459"/>
                <a:gd name="T29" fmla="*/ 69 h 216"/>
                <a:gd name="T30" fmla="*/ 141 w 459"/>
                <a:gd name="T31" fmla="*/ 68 h 216"/>
                <a:gd name="T32" fmla="*/ 112 w 459"/>
                <a:gd name="T33" fmla="*/ 70 h 216"/>
                <a:gd name="T34" fmla="*/ 92 w 459"/>
                <a:gd name="T35" fmla="*/ 70 h 216"/>
                <a:gd name="T36" fmla="*/ 62 w 459"/>
                <a:gd name="T37" fmla="*/ 58 h 216"/>
                <a:gd name="T38" fmla="*/ 35 w 459"/>
                <a:gd name="T39" fmla="*/ 66 h 216"/>
                <a:gd name="T40" fmla="*/ 25 w 459"/>
                <a:gd name="T41" fmla="*/ 84 h 216"/>
                <a:gd name="T42" fmla="*/ 4 w 459"/>
                <a:gd name="T43" fmla="*/ 88 h 216"/>
                <a:gd name="T44" fmla="*/ 1 w 459"/>
                <a:gd name="T45" fmla="*/ 104 h 216"/>
                <a:gd name="T46" fmla="*/ 17 w 459"/>
                <a:gd name="T47" fmla="*/ 114 h 216"/>
                <a:gd name="T48" fmla="*/ 28 w 459"/>
                <a:gd name="T49" fmla="*/ 134 h 216"/>
                <a:gd name="T50" fmla="*/ 58 w 459"/>
                <a:gd name="T51" fmla="*/ 127 h 216"/>
                <a:gd name="T52" fmla="*/ 65 w 459"/>
                <a:gd name="T53" fmla="*/ 150 h 216"/>
                <a:gd name="T54" fmla="*/ 44 w 459"/>
                <a:gd name="T55" fmla="*/ 165 h 216"/>
                <a:gd name="T56" fmla="*/ 64 w 459"/>
                <a:gd name="T57" fmla="*/ 185 h 216"/>
                <a:gd name="T58" fmla="*/ 75 w 459"/>
                <a:gd name="T59" fmla="*/ 197 h 216"/>
                <a:gd name="T60" fmla="*/ 108 w 459"/>
                <a:gd name="T61" fmla="*/ 203 h 216"/>
                <a:gd name="T62" fmla="*/ 139 w 459"/>
                <a:gd name="T63" fmla="*/ 144 h 216"/>
                <a:gd name="T64" fmla="*/ 157 w 459"/>
                <a:gd name="T65" fmla="*/ 146 h 216"/>
                <a:gd name="T66" fmla="*/ 191 w 459"/>
                <a:gd name="T67" fmla="*/ 174 h 216"/>
                <a:gd name="T68" fmla="*/ 225 w 459"/>
                <a:gd name="T69" fmla="*/ 192 h 216"/>
                <a:gd name="T70" fmla="*/ 250 w 459"/>
                <a:gd name="T71" fmla="*/ 212 h 216"/>
                <a:gd name="T72" fmla="*/ 274 w 459"/>
                <a:gd name="T73" fmla="*/ 201 h 216"/>
                <a:gd name="T74" fmla="*/ 299 w 459"/>
                <a:gd name="T75" fmla="*/ 187 h 216"/>
                <a:gd name="T76" fmla="*/ 336 w 459"/>
                <a:gd name="T77" fmla="*/ 185 h 216"/>
                <a:gd name="T78" fmla="*/ 385 w 459"/>
                <a:gd name="T79" fmla="*/ 193 h 216"/>
                <a:gd name="T80" fmla="*/ 386 w 459"/>
                <a:gd name="T81" fmla="*/ 167 h 216"/>
                <a:gd name="T82" fmla="*/ 401 w 459"/>
                <a:gd name="T83" fmla="*/ 151 h 216"/>
                <a:gd name="T84" fmla="*/ 416 w 459"/>
                <a:gd name="T85" fmla="*/ 126 h 216"/>
                <a:gd name="T86" fmla="*/ 445 w 459"/>
                <a:gd name="T87" fmla="*/ 123 h 216"/>
                <a:gd name="T88" fmla="*/ 455 w 459"/>
                <a:gd name="T89" fmla="*/ 99 h 216"/>
                <a:gd name="T90" fmla="*/ 171 w 459"/>
                <a:gd name="T91" fmla="*/ 137 h 216"/>
                <a:gd name="T92" fmla="*/ 361 w 459"/>
                <a:gd name="T93" fmla="*/ 136 h 216"/>
                <a:gd name="T94" fmla="*/ 315 w 459"/>
                <a:gd name="T95" fmla="*/ 136 h 216"/>
                <a:gd name="T96" fmla="*/ 361 w 459"/>
                <a:gd name="T97" fmla="*/ 136 h 2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9"/>
                <a:gd name="T148" fmla="*/ 0 h 216"/>
                <a:gd name="T149" fmla="*/ 459 w 459"/>
                <a:gd name="T150" fmla="*/ 216 h 21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9" h="216">
                  <a:moveTo>
                    <a:pt x="457" y="88"/>
                  </a:moveTo>
                  <a:cubicBezTo>
                    <a:pt x="456" y="86"/>
                    <a:pt x="454" y="87"/>
                    <a:pt x="453" y="88"/>
                  </a:cubicBezTo>
                  <a:cubicBezTo>
                    <a:pt x="451" y="89"/>
                    <a:pt x="446" y="89"/>
                    <a:pt x="444" y="89"/>
                  </a:cubicBezTo>
                  <a:cubicBezTo>
                    <a:pt x="442" y="89"/>
                    <a:pt x="438" y="87"/>
                    <a:pt x="438" y="85"/>
                  </a:cubicBezTo>
                  <a:cubicBezTo>
                    <a:pt x="438" y="83"/>
                    <a:pt x="438" y="80"/>
                    <a:pt x="436" y="80"/>
                  </a:cubicBezTo>
                  <a:cubicBezTo>
                    <a:pt x="434" y="80"/>
                    <a:pt x="431" y="79"/>
                    <a:pt x="429" y="75"/>
                  </a:cubicBezTo>
                  <a:cubicBezTo>
                    <a:pt x="427" y="70"/>
                    <a:pt x="424" y="70"/>
                    <a:pt x="421" y="69"/>
                  </a:cubicBezTo>
                  <a:cubicBezTo>
                    <a:pt x="419" y="67"/>
                    <a:pt x="413" y="71"/>
                    <a:pt x="410" y="72"/>
                  </a:cubicBezTo>
                  <a:cubicBezTo>
                    <a:pt x="407" y="73"/>
                    <a:pt x="403" y="71"/>
                    <a:pt x="399" y="70"/>
                  </a:cubicBezTo>
                  <a:cubicBezTo>
                    <a:pt x="396" y="69"/>
                    <a:pt x="394" y="63"/>
                    <a:pt x="390" y="64"/>
                  </a:cubicBezTo>
                  <a:cubicBezTo>
                    <a:pt x="387" y="65"/>
                    <a:pt x="386" y="71"/>
                    <a:pt x="384" y="71"/>
                  </a:cubicBezTo>
                  <a:cubicBezTo>
                    <a:pt x="381" y="71"/>
                    <a:pt x="377" y="58"/>
                    <a:pt x="372" y="51"/>
                  </a:cubicBezTo>
                  <a:cubicBezTo>
                    <a:pt x="367" y="44"/>
                    <a:pt x="359" y="29"/>
                    <a:pt x="351" y="26"/>
                  </a:cubicBezTo>
                  <a:cubicBezTo>
                    <a:pt x="344" y="24"/>
                    <a:pt x="346" y="20"/>
                    <a:pt x="348" y="18"/>
                  </a:cubicBezTo>
                  <a:cubicBezTo>
                    <a:pt x="350" y="16"/>
                    <a:pt x="344" y="15"/>
                    <a:pt x="341" y="17"/>
                  </a:cubicBezTo>
                  <a:cubicBezTo>
                    <a:pt x="338" y="19"/>
                    <a:pt x="334" y="22"/>
                    <a:pt x="330" y="23"/>
                  </a:cubicBezTo>
                  <a:cubicBezTo>
                    <a:pt x="327" y="24"/>
                    <a:pt x="322" y="29"/>
                    <a:pt x="318" y="28"/>
                  </a:cubicBezTo>
                  <a:cubicBezTo>
                    <a:pt x="314" y="27"/>
                    <a:pt x="313" y="33"/>
                    <a:pt x="310" y="30"/>
                  </a:cubicBezTo>
                  <a:cubicBezTo>
                    <a:pt x="307" y="27"/>
                    <a:pt x="314" y="25"/>
                    <a:pt x="314" y="23"/>
                  </a:cubicBezTo>
                  <a:cubicBezTo>
                    <a:pt x="314" y="20"/>
                    <a:pt x="309" y="23"/>
                    <a:pt x="308" y="22"/>
                  </a:cubicBezTo>
                  <a:cubicBezTo>
                    <a:pt x="306" y="20"/>
                    <a:pt x="302" y="19"/>
                    <a:pt x="302" y="21"/>
                  </a:cubicBezTo>
                  <a:cubicBezTo>
                    <a:pt x="302" y="23"/>
                    <a:pt x="299" y="22"/>
                    <a:pt x="299" y="20"/>
                  </a:cubicBezTo>
                  <a:cubicBezTo>
                    <a:pt x="299" y="19"/>
                    <a:pt x="297" y="15"/>
                    <a:pt x="295" y="18"/>
                  </a:cubicBezTo>
                  <a:cubicBezTo>
                    <a:pt x="293" y="20"/>
                    <a:pt x="286" y="21"/>
                    <a:pt x="285" y="19"/>
                  </a:cubicBezTo>
                  <a:cubicBezTo>
                    <a:pt x="283" y="18"/>
                    <a:pt x="286" y="17"/>
                    <a:pt x="286" y="15"/>
                  </a:cubicBezTo>
                  <a:cubicBezTo>
                    <a:pt x="286" y="12"/>
                    <a:pt x="283" y="9"/>
                    <a:pt x="284" y="7"/>
                  </a:cubicBezTo>
                  <a:cubicBezTo>
                    <a:pt x="284" y="4"/>
                    <a:pt x="279" y="1"/>
                    <a:pt x="277" y="2"/>
                  </a:cubicBezTo>
                  <a:cubicBezTo>
                    <a:pt x="274" y="3"/>
                    <a:pt x="271" y="2"/>
                    <a:pt x="268" y="1"/>
                  </a:cubicBezTo>
                  <a:cubicBezTo>
                    <a:pt x="265" y="0"/>
                    <a:pt x="254" y="2"/>
                    <a:pt x="254" y="4"/>
                  </a:cubicBezTo>
                  <a:cubicBezTo>
                    <a:pt x="253" y="7"/>
                    <a:pt x="240" y="9"/>
                    <a:pt x="237" y="10"/>
                  </a:cubicBezTo>
                  <a:cubicBezTo>
                    <a:pt x="235" y="11"/>
                    <a:pt x="225" y="12"/>
                    <a:pt x="221" y="13"/>
                  </a:cubicBezTo>
                  <a:cubicBezTo>
                    <a:pt x="218" y="13"/>
                    <a:pt x="214" y="16"/>
                    <a:pt x="210" y="16"/>
                  </a:cubicBezTo>
                  <a:cubicBezTo>
                    <a:pt x="205" y="16"/>
                    <a:pt x="197" y="17"/>
                    <a:pt x="193" y="20"/>
                  </a:cubicBezTo>
                  <a:cubicBezTo>
                    <a:pt x="189" y="23"/>
                    <a:pt x="182" y="20"/>
                    <a:pt x="179" y="21"/>
                  </a:cubicBezTo>
                  <a:cubicBezTo>
                    <a:pt x="176" y="22"/>
                    <a:pt x="171" y="21"/>
                    <a:pt x="170" y="22"/>
                  </a:cubicBezTo>
                  <a:cubicBezTo>
                    <a:pt x="168" y="23"/>
                    <a:pt x="169" y="29"/>
                    <a:pt x="170" y="31"/>
                  </a:cubicBezTo>
                  <a:cubicBezTo>
                    <a:pt x="172" y="34"/>
                    <a:pt x="180" y="35"/>
                    <a:pt x="180" y="36"/>
                  </a:cubicBezTo>
                  <a:cubicBezTo>
                    <a:pt x="181" y="38"/>
                    <a:pt x="172" y="38"/>
                    <a:pt x="168" y="38"/>
                  </a:cubicBezTo>
                  <a:cubicBezTo>
                    <a:pt x="164" y="39"/>
                    <a:pt x="165" y="44"/>
                    <a:pt x="166" y="46"/>
                  </a:cubicBezTo>
                  <a:cubicBezTo>
                    <a:pt x="167" y="49"/>
                    <a:pt x="162" y="51"/>
                    <a:pt x="159" y="52"/>
                  </a:cubicBezTo>
                  <a:cubicBezTo>
                    <a:pt x="156" y="53"/>
                    <a:pt x="159" y="58"/>
                    <a:pt x="162" y="58"/>
                  </a:cubicBezTo>
                  <a:cubicBezTo>
                    <a:pt x="165" y="58"/>
                    <a:pt x="168" y="61"/>
                    <a:pt x="170" y="61"/>
                  </a:cubicBezTo>
                  <a:cubicBezTo>
                    <a:pt x="173" y="61"/>
                    <a:pt x="173" y="66"/>
                    <a:pt x="173" y="69"/>
                  </a:cubicBezTo>
                  <a:cubicBezTo>
                    <a:pt x="173" y="72"/>
                    <a:pt x="170" y="73"/>
                    <a:pt x="166" y="73"/>
                  </a:cubicBezTo>
                  <a:cubicBezTo>
                    <a:pt x="162" y="73"/>
                    <a:pt x="160" y="70"/>
                    <a:pt x="158" y="69"/>
                  </a:cubicBezTo>
                  <a:cubicBezTo>
                    <a:pt x="155" y="69"/>
                    <a:pt x="156" y="74"/>
                    <a:pt x="154" y="75"/>
                  </a:cubicBezTo>
                  <a:cubicBezTo>
                    <a:pt x="152" y="76"/>
                    <a:pt x="151" y="71"/>
                    <a:pt x="148" y="71"/>
                  </a:cubicBezTo>
                  <a:cubicBezTo>
                    <a:pt x="145" y="71"/>
                    <a:pt x="142" y="71"/>
                    <a:pt x="141" y="68"/>
                  </a:cubicBezTo>
                  <a:cubicBezTo>
                    <a:pt x="140" y="65"/>
                    <a:pt x="133" y="64"/>
                    <a:pt x="130" y="67"/>
                  </a:cubicBezTo>
                  <a:cubicBezTo>
                    <a:pt x="127" y="70"/>
                    <a:pt x="126" y="69"/>
                    <a:pt x="123" y="67"/>
                  </a:cubicBezTo>
                  <a:cubicBezTo>
                    <a:pt x="121" y="65"/>
                    <a:pt x="113" y="68"/>
                    <a:pt x="112" y="70"/>
                  </a:cubicBezTo>
                  <a:cubicBezTo>
                    <a:pt x="111" y="73"/>
                    <a:pt x="106" y="74"/>
                    <a:pt x="102" y="71"/>
                  </a:cubicBezTo>
                  <a:cubicBezTo>
                    <a:pt x="98" y="69"/>
                    <a:pt x="95" y="68"/>
                    <a:pt x="95" y="71"/>
                  </a:cubicBezTo>
                  <a:cubicBezTo>
                    <a:pt x="95" y="75"/>
                    <a:pt x="92" y="72"/>
                    <a:pt x="92" y="70"/>
                  </a:cubicBezTo>
                  <a:cubicBezTo>
                    <a:pt x="92" y="68"/>
                    <a:pt x="86" y="64"/>
                    <a:pt x="83" y="62"/>
                  </a:cubicBezTo>
                  <a:cubicBezTo>
                    <a:pt x="80" y="60"/>
                    <a:pt x="70" y="60"/>
                    <a:pt x="70" y="58"/>
                  </a:cubicBezTo>
                  <a:cubicBezTo>
                    <a:pt x="69" y="56"/>
                    <a:pt x="63" y="54"/>
                    <a:pt x="62" y="58"/>
                  </a:cubicBezTo>
                  <a:cubicBezTo>
                    <a:pt x="60" y="61"/>
                    <a:pt x="58" y="59"/>
                    <a:pt x="56" y="58"/>
                  </a:cubicBezTo>
                  <a:cubicBezTo>
                    <a:pt x="54" y="57"/>
                    <a:pt x="49" y="59"/>
                    <a:pt x="47" y="60"/>
                  </a:cubicBezTo>
                  <a:cubicBezTo>
                    <a:pt x="45" y="61"/>
                    <a:pt x="39" y="66"/>
                    <a:pt x="35" y="66"/>
                  </a:cubicBezTo>
                  <a:cubicBezTo>
                    <a:pt x="32" y="66"/>
                    <a:pt x="34" y="70"/>
                    <a:pt x="29" y="71"/>
                  </a:cubicBezTo>
                  <a:cubicBezTo>
                    <a:pt x="25" y="72"/>
                    <a:pt x="26" y="75"/>
                    <a:pt x="26" y="77"/>
                  </a:cubicBezTo>
                  <a:cubicBezTo>
                    <a:pt x="27" y="79"/>
                    <a:pt x="29" y="83"/>
                    <a:pt x="25" y="84"/>
                  </a:cubicBezTo>
                  <a:cubicBezTo>
                    <a:pt x="21" y="86"/>
                    <a:pt x="20" y="79"/>
                    <a:pt x="16" y="77"/>
                  </a:cubicBezTo>
                  <a:cubicBezTo>
                    <a:pt x="13" y="74"/>
                    <a:pt x="10" y="77"/>
                    <a:pt x="10" y="81"/>
                  </a:cubicBezTo>
                  <a:cubicBezTo>
                    <a:pt x="10" y="84"/>
                    <a:pt x="6" y="84"/>
                    <a:pt x="4" y="88"/>
                  </a:cubicBezTo>
                  <a:cubicBezTo>
                    <a:pt x="2" y="91"/>
                    <a:pt x="7" y="92"/>
                    <a:pt x="7" y="93"/>
                  </a:cubicBezTo>
                  <a:cubicBezTo>
                    <a:pt x="7" y="95"/>
                    <a:pt x="4" y="96"/>
                    <a:pt x="3" y="97"/>
                  </a:cubicBezTo>
                  <a:cubicBezTo>
                    <a:pt x="2" y="97"/>
                    <a:pt x="0" y="102"/>
                    <a:pt x="1" y="104"/>
                  </a:cubicBezTo>
                  <a:cubicBezTo>
                    <a:pt x="2" y="105"/>
                    <a:pt x="8" y="105"/>
                    <a:pt x="7" y="108"/>
                  </a:cubicBezTo>
                  <a:cubicBezTo>
                    <a:pt x="7" y="112"/>
                    <a:pt x="6" y="115"/>
                    <a:pt x="9" y="114"/>
                  </a:cubicBezTo>
                  <a:cubicBezTo>
                    <a:pt x="12" y="113"/>
                    <a:pt x="15" y="114"/>
                    <a:pt x="17" y="114"/>
                  </a:cubicBezTo>
                  <a:cubicBezTo>
                    <a:pt x="19" y="114"/>
                    <a:pt x="21" y="118"/>
                    <a:pt x="24" y="122"/>
                  </a:cubicBezTo>
                  <a:cubicBezTo>
                    <a:pt x="28" y="126"/>
                    <a:pt x="29" y="128"/>
                    <a:pt x="26" y="129"/>
                  </a:cubicBezTo>
                  <a:cubicBezTo>
                    <a:pt x="22" y="130"/>
                    <a:pt x="24" y="132"/>
                    <a:pt x="28" y="134"/>
                  </a:cubicBezTo>
                  <a:cubicBezTo>
                    <a:pt x="30" y="134"/>
                    <a:pt x="31" y="135"/>
                    <a:pt x="32" y="136"/>
                  </a:cubicBezTo>
                  <a:cubicBezTo>
                    <a:pt x="33" y="135"/>
                    <a:pt x="33" y="135"/>
                    <a:pt x="34" y="134"/>
                  </a:cubicBezTo>
                  <a:cubicBezTo>
                    <a:pt x="40" y="129"/>
                    <a:pt x="50" y="125"/>
                    <a:pt x="58" y="127"/>
                  </a:cubicBezTo>
                  <a:cubicBezTo>
                    <a:pt x="65" y="129"/>
                    <a:pt x="72" y="125"/>
                    <a:pt x="75" y="130"/>
                  </a:cubicBezTo>
                  <a:cubicBezTo>
                    <a:pt x="78" y="135"/>
                    <a:pt x="75" y="143"/>
                    <a:pt x="76" y="147"/>
                  </a:cubicBezTo>
                  <a:cubicBezTo>
                    <a:pt x="78" y="150"/>
                    <a:pt x="70" y="150"/>
                    <a:pt x="65" y="150"/>
                  </a:cubicBezTo>
                  <a:cubicBezTo>
                    <a:pt x="60" y="149"/>
                    <a:pt x="50" y="152"/>
                    <a:pt x="51" y="155"/>
                  </a:cubicBezTo>
                  <a:cubicBezTo>
                    <a:pt x="53" y="158"/>
                    <a:pt x="56" y="165"/>
                    <a:pt x="50" y="161"/>
                  </a:cubicBezTo>
                  <a:cubicBezTo>
                    <a:pt x="43" y="157"/>
                    <a:pt x="40" y="165"/>
                    <a:pt x="44" y="165"/>
                  </a:cubicBezTo>
                  <a:cubicBezTo>
                    <a:pt x="48" y="165"/>
                    <a:pt x="53" y="169"/>
                    <a:pt x="53" y="172"/>
                  </a:cubicBezTo>
                  <a:cubicBezTo>
                    <a:pt x="53" y="175"/>
                    <a:pt x="53" y="182"/>
                    <a:pt x="56" y="181"/>
                  </a:cubicBezTo>
                  <a:cubicBezTo>
                    <a:pt x="60" y="180"/>
                    <a:pt x="60" y="186"/>
                    <a:pt x="64" y="185"/>
                  </a:cubicBezTo>
                  <a:cubicBezTo>
                    <a:pt x="69" y="185"/>
                    <a:pt x="73" y="187"/>
                    <a:pt x="70" y="191"/>
                  </a:cubicBezTo>
                  <a:cubicBezTo>
                    <a:pt x="66" y="195"/>
                    <a:pt x="72" y="207"/>
                    <a:pt x="73" y="205"/>
                  </a:cubicBezTo>
                  <a:cubicBezTo>
                    <a:pt x="74" y="203"/>
                    <a:pt x="73" y="199"/>
                    <a:pt x="75" y="197"/>
                  </a:cubicBezTo>
                  <a:cubicBezTo>
                    <a:pt x="72" y="191"/>
                    <a:pt x="83" y="191"/>
                    <a:pt x="86" y="191"/>
                  </a:cubicBezTo>
                  <a:cubicBezTo>
                    <a:pt x="90" y="191"/>
                    <a:pt x="96" y="196"/>
                    <a:pt x="100" y="201"/>
                  </a:cubicBezTo>
                  <a:cubicBezTo>
                    <a:pt x="104" y="207"/>
                    <a:pt x="108" y="203"/>
                    <a:pt x="108" y="203"/>
                  </a:cubicBezTo>
                  <a:cubicBezTo>
                    <a:pt x="110" y="153"/>
                    <a:pt x="110" y="153"/>
                    <a:pt x="110" y="153"/>
                  </a:cubicBezTo>
                  <a:cubicBezTo>
                    <a:pt x="138" y="146"/>
                    <a:pt x="138" y="146"/>
                    <a:pt x="138" y="146"/>
                  </a:cubicBezTo>
                  <a:cubicBezTo>
                    <a:pt x="138" y="145"/>
                    <a:pt x="139" y="144"/>
                    <a:pt x="139" y="144"/>
                  </a:cubicBezTo>
                  <a:cubicBezTo>
                    <a:pt x="143" y="139"/>
                    <a:pt x="148" y="143"/>
                    <a:pt x="149" y="144"/>
                  </a:cubicBezTo>
                  <a:cubicBezTo>
                    <a:pt x="151" y="145"/>
                    <a:pt x="150" y="139"/>
                    <a:pt x="154" y="139"/>
                  </a:cubicBezTo>
                  <a:cubicBezTo>
                    <a:pt x="158" y="139"/>
                    <a:pt x="154" y="146"/>
                    <a:pt x="157" y="146"/>
                  </a:cubicBezTo>
                  <a:cubicBezTo>
                    <a:pt x="159" y="146"/>
                    <a:pt x="164" y="154"/>
                    <a:pt x="163" y="160"/>
                  </a:cubicBezTo>
                  <a:cubicBezTo>
                    <a:pt x="167" y="164"/>
                    <a:pt x="175" y="173"/>
                    <a:pt x="176" y="175"/>
                  </a:cubicBezTo>
                  <a:cubicBezTo>
                    <a:pt x="177" y="177"/>
                    <a:pt x="188" y="173"/>
                    <a:pt x="191" y="174"/>
                  </a:cubicBezTo>
                  <a:cubicBezTo>
                    <a:pt x="193" y="175"/>
                    <a:pt x="210" y="175"/>
                    <a:pt x="213" y="175"/>
                  </a:cubicBezTo>
                  <a:cubicBezTo>
                    <a:pt x="216" y="175"/>
                    <a:pt x="219" y="181"/>
                    <a:pt x="222" y="181"/>
                  </a:cubicBezTo>
                  <a:cubicBezTo>
                    <a:pt x="226" y="182"/>
                    <a:pt x="224" y="188"/>
                    <a:pt x="225" y="192"/>
                  </a:cubicBezTo>
                  <a:cubicBezTo>
                    <a:pt x="225" y="196"/>
                    <a:pt x="231" y="200"/>
                    <a:pt x="231" y="204"/>
                  </a:cubicBezTo>
                  <a:cubicBezTo>
                    <a:pt x="232" y="207"/>
                    <a:pt x="237" y="205"/>
                    <a:pt x="241" y="206"/>
                  </a:cubicBezTo>
                  <a:cubicBezTo>
                    <a:pt x="244" y="207"/>
                    <a:pt x="250" y="209"/>
                    <a:pt x="250" y="212"/>
                  </a:cubicBezTo>
                  <a:cubicBezTo>
                    <a:pt x="251" y="216"/>
                    <a:pt x="255" y="213"/>
                    <a:pt x="256" y="210"/>
                  </a:cubicBezTo>
                  <a:cubicBezTo>
                    <a:pt x="256" y="208"/>
                    <a:pt x="260" y="204"/>
                    <a:pt x="267" y="201"/>
                  </a:cubicBezTo>
                  <a:cubicBezTo>
                    <a:pt x="270" y="200"/>
                    <a:pt x="272" y="200"/>
                    <a:pt x="274" y="201"/>
                  </a:cubicBezTo>
                  <a:cubicBezTo>
                    <a:pt x="275" y="198"/>
                    <a:pt x="276" y="195"/>
                    <a:pt x="277" y="195"/>
                  </a:cubicBezTo>
                  <a:cubicBezTo>
                    <a:pt x="279" y="194"/>
                    <a:pt x="284" y="190"/>
                    <a:pt x="284" y="187"/>
                  </a:cubicBezTo>
                  <a:cubicBezTo>
                    <a:pt x="284" y="184"/>
                    <a:pt x="293" y="184"/>
                    <a:pt x="299" y="187"/>
                  </a:cubicBezTo>
                  <a:cubicBezTo>
                    <a:pt x="305" y="190"/>
                    <a:pt x="309" y="190"/>
                    <a:pt x="309" y="185"/>
                  </a:cubicBezTo>
                  <a:cubicBezTo>
                    <a:pt x="310" y="180"/>
                    <a:pt x="318" y="179"/>
                    <a:pt x="321" y="180"/>
                  </a:cubicBezTo>
                  <a:cubicBezTo>
                    <a:pt x="324" y="182"/>
                    <a:pt x="332" y="186"/>
                    <a:pt x="336" y="185"/>
                  </a:cubicBezTo>
                  <a:cubicBezTo>
                    <a:pt x="340" y="183"/>
                    <a:pt x="360" y="185"/>
                    <a:pt x="365" y="186"/>
                  </a:cubicBezTo>
                  <a:cubicBezTo>
                    <a:pt x="370" y="188"/>
                    <a:pt x="371" y="184"/>
                    <a:pt x="376" y="189"/>
                  </a:cubicBezTo>
                  <a:cubicBezTo>
                    <a:pt x="379" y="193"/>
                    <a:pt x="381" y="190"/>
                    <a:pt x="385" y="193"/>
                  </a:cubicBezTo>
                  <a:cubicBezTo>
                    <a:pt x="385" y="192"/>
                    <a:pt x="385" y="190"/>
                    <a:pt x="385" y="188"/>
                  </a:cubicBezTo>
                  <a:cubicBezTo>
                    <a:pt x="385" y="185"/>
                    <a:pt x="390" y="182"/>
                    <a:pt x="391" y="180"/>
                  </a:cubicBezTo>
                  <a:cubicBezTo>
                    <a:pt x="392" y="177"/>
                    <a:pt x="386" y="170"/>
                    <a:pt x="386" y="167"/>
                  </a:cubicBezTo>
                  <a:cubicBezTo>
                    <a:pt x="386" y="165"/>
                    <a:pt x="386" y="159"/>
                    <a:pt x="384" y="158"/>
                  </a:cubicBezTo>
                  <a:cubicBezTo>
                    <a:pt x="381" y="156"/>
                    <a:pt x="389" y="153"/>
                    <a:pt x="390" y="153"/>
                  </a:cubicBezTo>
                  <a:cubicBezTo>
                    <a:pt x="394" y="153"/>
                    <a:pt x="399" y="149"/>
                    <a:pt x="401" y="151"/>
                  </a:cubicBezTo>
                  <a:cubicBezTo>
                    <a:pt x="403" y="153"/>
                    <a:pt x="406" y="153"/>
                    <a:pt x="409" y="153"/>
                  </a:cubicBezTo>
                  <a:cubicBezTo>
                    <a:pt x="412" y="153"/>
                    <a:pt x="411" y="149"/>
                    <a:pt x="409" y="148"/>
                  </a:cubicBezTo>
                  <a:cubicBezTo>
                    <a:pt x="407" y="146"/>
                    <a:pt x="415" y="131"/>
                    <a:pt x="416" y="126"/>
                  </a:cubicBezTo>
                  <a:cubicBezTo>
                    <a:pt x="417" y="121"/>
                    <a:pt x="420" y="126"/>
                    <a:pt x="424" y="126"/>
                  </a:cubicBezTo>
                  <a:cubicBezTo>
                    <a:pt x="427" y="127"/>
                    <a:pt x="432" y="126"/>
                    <a:pt x="434" y="127"/>
                  </a:cubicBezTo>
                  <a:cubicBezTo>
                    <a:pt x="436" y="128"/>
                    <a:pt x="443" y="126"/>
                    <a:pt x="445" y="123"/>
                  </a:cubicBezTo>
                  <a:cubicBezTo>
                    <a:pt x="446" y="121"/>
                    <a:pt x="443" y="120"/>
                    <a:pt x="443" y="114"/>
                  </a:cubicBezTo>
                  <a:cubicBezTo>
                    <a:pt x="443" y="108"/>
                    <a:pt x="447" y="106"/>
                    <a:pt x="450" y="106"/>
                  </a:cubicBezTo>
                  <a:cubicBezTo>
                    <a:pt x="454" y="106"/>
                    <a:pt x="455" y="102"/>
                    <a:pt x="455" y="99"/>
                  </a:cubicBezTo>
                  <a:cubicBezTo>
                    <a:pt x="455" y="97"/>
                    <a:pt x="458" y="95"/>
                    <a:pt x="459" y="92"/>
                  </a:cubicBezTo>
                  <a:cubicBezTo>
                    <a:pt x="458" y="91"/>
                    <a:pt x="457" y="89"/>
                    <a:pt x="457" y="88"/>
                  </a:cubicBezTo>
                  <a:close/>
                  <a:moveTo>
                    <a:pt x="171" y="137"/>
                  </a:moveTo>
                  <a:cubicBezTo>
                    <a:pt x="170" y="139"/>
                    <a:pt x="157" y="135"/>
                    <a:pt x="156" y="132"/>
                  </a:cubicBezTo>
                  <a:cubicBezTo>
                    <a:pt x="155" y="130"/>
                    <a:pt x="174" y="133"/>
                    <a:pt x="171" y="137"/>
                  </a:cubicBezTo>
                  <a:close/>
                  <a:moveTo>
                    <a:pt x="361" y="136"/>
                  </a:moveTo>
                  <a:cubicBezTo>
                    <a:pt x="351" y="136"/>
                    <a:pt x="331" y="131"/>
                    <a:pt x="322" y="140"/>
                  </a:cubicBezTo>
                  <a:cubicBezTo>
                    <a:pt x="314" y="149"/>
                    <a:pt x="320" y="154"/>
                    <a:pt x="316" y="154"/>
                  </a:cubicBezTo>
                  <a:cubicBezTo>
                    <a:pt x="312" y="155"/>
                    <a:pt x="310" y="141"/>
                    <a:pt x="315" y="136"/>
                  </a:cubicBezTo>
                  <a:cubicBezTo>
                    <a:pt x="320" y="131"/>
                    <a:pt x="335" y="129"/>
                    <a:pt x="344" y="132"/>
                  </a:cubicBezTo>
                  <a:cubicBezTo>
                    <a:pt x="353" y="134"/>
                    <a:pt x="370" y="130"/>
                    <a:pt x="372" y="130"/>
                  </a:cubicBezTo>
                  <a:cubicBezTo>
                    <a:pt x="375" y="131"/>
                    <a:pt x="370" y="136"/>
                    <a:pt x="361" y="13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0" name="Freeform 156"/>
            <p:cNvSpPr>
              <a:spLocks noEditPoints="1" noChangeArrowheads="1"/>
            </p:cNvSpPr>
            <p:nvPr/>
          </p:nvSpPr>
          <p:spPr bwMode="auto">
            <a:xfrm>
              <a:off x="4064013" y="112711"/>
              <a:ext cx="3681425" cy="1411290"/>
            </a:xfrm>
            <a:custGeom>
              <a:avLst/>
              <a:gdLst>
                <a:gd name="T0" fmla="*/ 814 w 1926"/>
                <a:gd name="T1" fmla="*/ 12 h 739"/>
                <a:gd name="T2" fmla="*/ 840 w 1926"/>
                <a:gd name="T3" fmla="*/ 45 h 739"/>
                <a:gd name="T4" fmla="*/ 912 w 1926"/>
                <a:gd name="T5" fmla="*/ 61 h 739"/>
                <a:gd name="T6" fmla="*/ 822 w 1926"/>
                <a:gd name="T7" fmla="*/ 28 h 739"/>
                <a:gd name="T8" fmla="*/ 1331 w 1926"/>
                <a:gd name="T9" fmla="*/ 168 h 739"/>
                <a:gd name="T10" fmla="*/ 1358 w 1926"/>
                <a:gd name="T11" fmla="*/ 198 h 739"/>
                <a:gd name="T12" fmla="*/ 1388 w 1926"/>
                <a:gd name="T13" fmla="*/ 664 h 739"/>
                <a:gd name="T14" fmla="*/ 355 w 1926"/>
                <a:gd name="T15" fmla="*/ 25 h 739"/>
                <a:gd name="T16" fmla="*/ 1886 w 1926"/>
                <a:gd name="T17" fmla="*/ 330 h 739"/>
                <a:gd name="T18" fmla="*/ 1698 w 1926"/>
                <a:gd name="T19" fmla="*/ 277 h 739"/>
                <a:gd name="T20" fmla="*/ 1580 w 1926"/>
                <a:gd name="T21" fmla="*/ 268 h 739"/>
                <a:gd name="T22" fmla="*/ 1412 w 1926"/>
                <a:gd name="T23" fmla="*/ 221 h 739"/>
                <a:gd name="T24" fmla="*/ 1319 w 1926"/>
                <a:gd name="T25" fmla="*/ 241 h 739"/>
                <a:gd name="T26" fmla="*/ 1224 w 1926"/>
                <a:gd name="T27" fmla="*/ 204 h 739"/>
                <a:gd name="T28" fmla="*/ 1101 w 1926"/>
                <a:gd name="T29" fmla="*/ 196 h 739"/>
                <a:gd name="T30" fmla="*/ 989 w 1926"/>
                <a:gd name="T31" fmla="*/ 193 h 739"/>
                <a:gd name="T32" fmla="*/ 1007 w 1926"/>
                <a:gd name="T33" fmla="*/ 122 h 739"/>
                <a:gd name="T34" fmla="*/ 909 w 1926"/>
                <a:gd name="T35" fmla="*/ 126 h 739"/>
                <a:gd name="T36" fmla="*/ 800 w 1926"/>
                <a:gd name="T37" fmla="*/ 148 h 739"/>
                <a:gd name="T38" fmla="*/ 764 w 1926"/>
                <a:gd name="T39" fmla="*/ 190 h 739"/>
                <a:gd name="T40" fmla="*/ 667 w 1926"/>
                <a:gd name="T41" fmla="*/ 228 h 739"/>
                <a:gd name="T42" fmla="*/ 623 w 1926"/>
                <a:gd name="T43" fmla="*/ 257 h 739"/>
                <a:gd name="T44" fmla="*/ 630 w 1926"/>
                <a:gd name="T45" fmla="*/ 312 h 739"/>
                <a:gd name="T46" fmla="*/ 603 w 1926"/>
                <a:gd name="T47" fmla="*/ 320 h 739"/>
                <a:gd name="T48" fmla="*/ 557 w 1926"/>
                <a:gd name="T49" fmla="*/ 231 h 739"/>
                <a:gd name="T50" fmla="*/ 468 w 1926"/>
                <a:gd name="T51" fmla="*/ 273 h 739"/>
                <a:gd name="T52" fmla="*/ 384 w 1926"/>
                <a:gd name="T53" fmla="*/ 305 h 739"/>
                <a:gd name="T54" fmla="*/ 307 w 1926"/>
                <a:gd name="T55" fmla="*/ 312 h 739"/>
                <a:gd name="T56" fmla="*/ 230 w 1926"/>
                <a:gd name="T57" fmla="*/ 353 h 739"/>
                <a:gd name="T58" fmla="*/ 170 w 1926"/>
                <a:gd name="T59" fmla="*/ 355 h 739"/>
                <a:gd name="T60" fmla="*/ 201 w 1926"/>
                <a:gd name="T61" fmla="*/ 292 h 739"/>
                <a:gd name="T62" fmla="*/ 100 w 1926"/>
                <a:gd name="T63" fmla="*/ 296 h 739"/>
                <a:gd name="T64" fmla="*/ 133 w 1926"/>
                <a:gd name="T65" fmla="*/ 407 h 739"/>
                <a:gd name="T66" fmla="*/ 89 w 1926"/>
                <a:gd name="T67" fmla="*/ 497 h 739"/>
                <a:gd name="T68" fmla="*/ 134 w 1926"/>
                <a:gd name="T69" fmla="*/ 574 h 739"/>
                <a:gd name="T70" fmla="*/ 223 w 1926"/>
                <a:gd name="T71" fmla="*/ 617 h 739"/>
                <a:gd name="T72" fmla="*/ 193 w 1926"/>
                <a:gd name="T73" fmla="*/ 682 h 739"/>
                <a:gd name="T74" fmla="*/ 326 w 1926"/>
                <a:gd name="T75" fmla="*/ 731 h 739"/>
                <a:gd name="T76" fmla="*/ 312 w 1926"/>
                <a:gd name="T77" fmla="*/ 613 h 739"/>
                <a:gd name="T78" fmla="*/ 425 w 1926"/>
                <a:gd name="T79" fmla="*/ 599 h 739"/>
                <a:gd name="T80" fmla="*/ 472 w 1926"/>
                <a:gd name="T81" fmla="*/ 554 h 739"/>
                <a:gd name="T82" fmla="*/ 610 w 1926"/>
                <a:gd name="T83" fmla="*/ 554 h 739"/>
                <a:gd name="T84" fmla="*/ 738 w 1926"/>
                <a:gd name="T85" fmla="*/ 612 h 739"/>
                <a:gd name="T86" fmla="*/ 849 w 1926"/>
                <a:gd name="T87" fmla="*/ 616 h 739"/>
                <a:gd name="T88" fmla="*/ 939 w 1926"/>
                <a:gd name="T89" fmla="*/ 614 h 739"/>
                <a:gd name="T90" fmla="*/ 1099 w 1926"/>
                <a:gd name="T91" fmla="*/ 622 h 739"/>
                <a:gd name="T92" fmla="*/ 1210 w 1926"/>
                <a:gd name="T93" fmla="*/ 615 h 739"/>
                <a:gd name="T94" fmla="*/ 1251 w 1926"/>
                <a:gd name="T95" fmla="*/ 689 h 739"/>
                <a:gd name="T96" fmla="*/ 1365 w 1926"/>
                <a:gd name="T97" fmla="*/ 573 h 739"/>
                <a:gd name="T98" fmla="*/ 1310 w 1926"/>
                <a:gd name="T99" fmla="*/ 530 h 739"/>
                <a:gd name="T100" fmla="*/ 1484 w 1926"/>
                <a:gd name="T101" fmla="*/ 473 h 739"/>
                <a:gd name="T102" fmla="*/ 1584 w 1926"/>
                <a:gd name="T103" fmla="*/ 440 h 739"/>
                <a:gd name="T104" fmla="*/ 1544 w 1926"/>
                <a:gd name="T105" fmla="*/ 494 h 739"/>
                <a:gd name="T106" fmla="*/ 1607 w 1926"/>
                <a:gd name="T107" fmla="*/ 521 h 739"/>
                <a:gd name="T108" fmla="*/ 1697 w 1926"/>
                <a:gd name="T109" fmla="*/ 458 h 739"/>
                <a:gd name="T110" fmla="*/ 1766 w 1926"/>
                <a:gd name="T111" fmla="*/ 373 h 739"/>
                <a:gd name="T112" fmla="*/ 1875 w 1926"/>
                <a:gd name="T113" fmla="*/ 379 h 739"/>
                <a:gd name="T114" fmla="*/ 993 w 1926"/>
                <a:gd name="T115" fmla="*/ 567 h 739"/>
                <a:gd name="T116" fmla="*/ 386 w 1926"/>
                <a:gd name="T117" fmla="*/ 247 h 739"/>
                <a:gd name="T118" fmla="*/ 485 w 1926"/>
                <a:gd name="T119" fmla="*/ 133 h 739"/>
                <a:gd name="T120" fmla="*/ 415 w 1926"/>
                <a:gd name="T121" fmla="*/ 39 h 739"/>
                <a:gd name="T122" fmla="*/ 464 w 1926"/>
                <a:gd name="T123" fmla="*/ 16 h 7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926"/>
                <a:gd name="T187" fmla="*/ 0 h 739"/>
                <a:gd name="T188" fmla="*/ 1926 w 1926"/>
                <a:gd name="T189" fmla="*/ 739 h 7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926" h="739">
                  <a:moveTo>
                    <a:pt x="29" y="534"/>
                  </a:moveTo>
                  <a:cubicBezTo>
                    <a:pt x="28" y="535"/>
                    <a:pt x="24" y="534"/>
                    <a:pt x="23" y="532"/>
                  </a:cubicBezTo>
                  <a:cubicBezTo>
                    <a:pt x="22" y="530"/>
                    <a:pt x="18" y="531"/>
                    <a:pt x="16" y="531"/>
                  </a:cubicBezTo>
                  <a:cubicBezTo>
                    <a:pt x="16" y="532"/>
                    <a:pt x="17" y="532"/>
                    <a:pt x="18" y="533"/>
                  </a:cubicBezTo>
                  <a:cubicBezTo>
                    <a:pt x="19" y="536"/>
                    <a:pt x="12" y="536"/>
                    <a:pt x="14" y="539"/>
                  </a:cubicBezTo>
                  <a:cubicBezTo>
                    <a:pt x="16" y="542"/>
                    <a:pt x="9" y="542"/>
                    <a:pt x="9" y="539"/>
                  </a:cubicBezTo>
                  <a:cubicBezTo>
                    <a:pt x="9" y="536"/>
                    <a:pt x="1" y="537"/>
                    <a:pt x="1" y="540"/>
                  </a:cubicBezTo>
                  <a:cubicBezTo>
                    <a:pt x="1" y="540"/>
                    <a:pt x="1" y="541"/>
                    <a:pt x="0" y="542"/>
                  </a:cubicBezTo>
                  <a:cubicBezTo>
                    <a:pt x="2" y="543"/>
                    <a:pt x="5" y="544"/>
                    <a:pt x="6" y="544"/>
                  </a:cubicBezTo>
                  <a:cubicBezTo>
                    <a:pt x="7" y="545"/>
                    <a:pt x="27" y="547"/>
                    <a:pt x="35" y="545"/>
                  </a:cubicBezTo>
                  <a:cubicBezTo>
                    <a:pt x="35" y="544"/>
                    <a:pt x="36" y="540"/>
                    <a:pt x="36" y="538"/>
                  </a:cubicBezTo>
                  <a:cubicBezTo>
                    <a:pt x="36" y="536"/>
                    <a:pt x="31" y="534"/>
                    <a:pt x="29" y="534"/>
                  </a:cubicBezTo>
                  <a:close/>
                  <a:moveTo>
                    <a:pt x="814" y="12"/>
                  </a:moveTo>
                  <a:cubicBezTo>
                    <a:pt x="815" y="7"/>
                    <a:pt x="793" y="9"/>
                    <a:pt x="799" y="14"/>
                  </a:cubicBezTo>
                  <a:cubicBezTo>
                    <a:pt x="801" y="16"/>
                    <a:pt x="812" y="17"/>
                    <a:pt x="814" y="12"/>
                  </a:cubicBezTo>
                  <a:close/>
                  <a:moveTo>
                    <a:pt x="512" y="21"/>
                  </a:moveTo>
                  <a:cubicBezTo>
                    <a:pt x="524" y="20"/>
                    <a:pt x="524" y="13"/>
                    <a:pt x="517" y="11"/>
                  </a:cubicBezTo>
                  <a:cubicBezTo>
                    <a:pt x="511" y="10"/>
                    <a:pt x="510" y="15"/>
                    <a:pt x="506" y="15"/>
                  </a:cubicBezTo>
                  <a:cubicBezTo>
                    <a:pt x="503" y="15"/>
                    <a:pt x="490" y="17"/>
                    <a:pt x="493" y="20"/>
                  </a:cubicBezTo>
                  <a:cubicBezTo>
                    <a:pt x="496" y="23"/>
                    <a:pt x="505" y="22"/>
                    <a:pt x="512" y="21"/>
                  </a:cubicBezTo>
                  <a:close/>
                  <a:moveTo>
                    <a:pt x="840" y="45"/>
                  </a:moveTo>
                  <a:cubicBezTo>
                    <a:pt x="840" y="49"/>
                    <a:pt x="829" y="53"/>
                    <a:pt x="832" y="55"/>
                  </a:cubicBezTo>
                  <a:cubicBezTo>
                    <a:pt x="835" y="58"/>
                    <a:pt x="837" y="57"/>
                    <a:pt x="841" y="58"/>
                  </a:cubicBezTo>
                  <a:cubicBezTo>
                    <a:pt x="844" y="58"/>
                    <a:pt x="846" y="67"/>
                    <a:pt x="852" y="65"/>
                  </a:cubicBezTo>
                  <a:cubicBezTo>
                    <a:pt x="858" y="64"/>
                    <a:pt x="874" y="72"/>
                    <a:pt x="884" y="72"/>
                  </a:cubicBezTo>
                  <a:cubicBezTo>
                    <a:pt x="893" y="72"/>
                    <a:pt x="894" y="64"/>
                    <a:pt x="891" y="64"/>
                  </a:cubicBezTo>
                  <a:cubicBezTo>
                    <a:pt x="888" y="63"/>
                    <a:pt x="891" y="59"/>
                    <a:pt x="896" y="51"/>
                  </a:cubicBezTo>
                  <a:cubicBezTo>
                    <a:pt x="902" y="43"/>
                    <a:pt x="880" y="38"/>
                    <a:pt x="880" y="44"/>
                  </a:cubicBezTo>
                  <a:cubicBezTo>
                    <a:pt x="880" y="50"/>
                    <a:pt x="873" y="42"/>
                    <a:pt x="871" y="39"/>
                  </a:cubicBezTo>
                  <a:cubicBezTo>
                    <a:pt x="869" y="35"/>
                    <a:pt x="840" y="42"/>
                    <a:pt x="840" y="45"/>
                  </a:cubicBezTo>
                  <a:close/>
                  <a:moveTo>
                    <a:pt x="576" y="206"/>
                  </a:moveTo>
                  <a:cubicBezTo>
                    <a:pt x="580" y="207"/>
                    <a:pt x="592" y="205"/>
                    <a:pt x="593" y="202"/>
                  </a:cubicBezTo>
                  <a:cubicBezTo>
                    <a:pt x="595" y="200"/>
                    <a:pt x="589" y="197"/>
                    <a:pt x="581" y="197"/>
                  </a:cubicBezTo>
                  <a:cubicBezTo>
                    <a:pt x="573" y="197"/>
                    <a:pt x="572" y="206"/>
                    <a:pt x="576" y="206"/>
                  </a:cubicBezTo>
                  <a:close/>
                  <a:moveTo>
                    <a:pt x="673" y="211"/>
                  </a:moveTo>
                  <a:cubicBezTo>
                    <a:pt x="679" y="214"/>
                    <a:pt x="683" y="213"/>
                    <a:pt x="682" y="208"/>
                  </a:cubicBezTo>
                  <a:cubicBezTo>
                    <a:pt x="681" y="202"/>
                    <a:pt x="669" y="209"/>
                    <a:pt x="673" y="211"/>
                  </a:cubicBezTo>
                  <a:close/>
                  <a:moveTo>
                    <a:pt x="892" y="92"/>
                  </a:moveTo>
                  <a:cubicBezTo>
                    <a:pt x="896" y="95"/>
                    <a:pt x="911" y="89"/>
                    <a:pt x="921" y="89"/>
                  </a:cubicBezTo>
                  <a:cubicBezTo>
                    <a:pt x="931" y="90"/>
                    <a:pt x="959" y="82"/>
                    <a:pt x="960" y="76"/>
                  </a:cubicBezTo>
                  <a:cubicBezTo>
                    <a:pt x="961" y="71"/>
                    <a:pt x="950" y="71"/>
                    <a:pt x="946" y="67"/>
                  </a:cubicBezTo>
                  <a:cubicBezTo>
                    <a:pt x="941" y="62"/>
                    <a:pt x="932" y="66"/>
                    <a:pt x="929" y="70"/>
                  </a:cubicBezTo>
                  <a:cubicBezTo>
                    <a:pt x="927" y="74"/>
                    <a:pt x="924" y="70"/>
                    <a:pt x="931" y="64"/>
                  </a:cubicBezTo>
                  <a:cubicBezTo>
                    <a:pt x="937" y="58"/>
                    <a:pt x="924" y="53"/>
                    <a:pt x="924" y="57"/>
                  </a:cubicBezTo>
                  <a:cubicBezTo>
                    <a:pt x="924" y="61"/>
                    <a:pt x="912" y="57"/>
                    <a:pt x="912" y="61"/>
                  </a:cubicBezTo>
                  <a:cubicBezTo>
                    <a:pt x="912" y="65"/>
                    <a:pt x="908" y="66"/>
                    <a:pt x="908" y="70"/>
                  </a:cubicBezTo>
                  <a:cubicBezTo>
                    <a:pt x="908" y="74"/>
                    <a:pt x="900" y="68"/>
                    <a:pt x="900" y="76"/>
                  </a:cubicBezTo>
                  <a:cubicBezTo>
                    <a:pt x="899" y="85"/>
                    <a:pt x="887" y="89"/>
                    <a:pt x="892" y="92"/>
                  </a:cubicBezTo>
                  <a:close/>
                  <a:moveTo>
                    <a:pt x="822" y="36"/>
                  </a:moveTo>
                  <a:cubicBezTo>
                    <a:pt x="829" y="39"/>
                    <a:pt x="826" y="40"/>
                    <a:pt x="820" y="40"/>
                  </a:cubicBezTo>
                  <a:cubicBezTo>
                    <a:pt x="813" y="40"/>
                    <a:pt x="807" y="42"/>
                    <a:pt x="812" y="44"/>
                  </a:cubicBezTo>
                  <a:cubicBezTo>
                    <a:pt x="815" y="46"/>
                    <a:pt x="815" y="49"/>
                    <a:pt x="822" y="51"/>
                  </a:cubicBezTo>
                  <a:cubicBezTo>
                    <a:pt x="829" y="53"/>
                    <a:pt x="836" y="47"/>
                    <a:pt x="835" y="43"/>
                  </a:cubicBezTo>
                  <a:cubicBezTo>
                    <a:pt x="834" y="39"/>
                    <a:pt x="859" y="35"/>
                    <a:pt x="866" y="34"/>
                  </a:cubicBezTo>
                  <a:cubicBezTo>
                    <a:pt x="873" y="32"/>
                    <a:pt x="862" y="25"/>
                    <a:pt x="869" y="24"/>
                  </a:cubicBezTo>
                  <a:cubicBezTo>
                    <a:pt x="876" y="24"/>
                    <a:pt x="873" y="20"/>
                    <a:pt x="864" y="19"/>
                  </a:cubicBezTo>
                  <a:cubicBezTo>
                    <a:pt x="855" y="18"/>
                    <a:pt x="859" y="10"/>
                    <a:pt x="856" y="7"/>
                  </a:cubicBezTo>
                  <a:cubicBezTo>
                    <a:pt x="853" y="5"/>
                    <a:pt x="851" y="11"/>
                    <a:pt x="840" y="13"/>
                  </a:cubicBezTo>
                  <a:cubicBezTo>
                    <a:pt x="828" y="15"/>
                    <a:pt x="822" y="18"/>
                    <a:pt x="827" y="21"/>
                  </a:cubicBezTo>
                  <a:cubicBezTo>
                    <a:pt x="832" y="23"/>
                    <a:pt x="827" y="29"/>
                    <a:pt x="822" y="28"/>
                  </a:cubicBezTo>
                  <a:cubicBezTo>
                    <a:pt x="817" y="28"/>
                    <a:pt x="816" y="33"/>
                    <a:pt x="822" y="36"/>
                  </a:cubicBezTo>
                  <a:close/>
                  <a:moveTo>
                    <a:pt x="1423" y="161"/>
                  </a:moveTo>
                  <a:cubicBezTo>
                    <a:pt x="1431" y="161"/>
                    <a:pt x="1435" y="169"/>
                    <a:pt x="1450" y="170"/>
                  </a:cubicBezTo>
                  <a:cubicBezTo>
                    <a:pt x="1465" y="171"/>
                    <a:pt x="1477" y="168"/>
                    <a:pt x="1477" y="165"/>
                  </a:cubicBezTo>
                  <a:cubicBezTo>
                    <a:pt x="1477" y="161"/>
                    <a:pt x="1463" y="156"/>
                    <a:pt x="1459" y="159"/>
                  </a:cubicBezTo>
                  <a:cubicBezTo>
                    <a:pt x="1454" y="162"/>
                    <a:pt x="1451" y="155"/>
                    <a:pt x="1446" y="156"/>
                  </a:cubicBezTo>
                  <a:cubicBezTo>
                    <a:pt x="1440" y="158"/>
                    <a:pt x="1433" y="158"/>
                    <a:pt x="1430" y="153"/>
                  </a:cubicBezTo>
                  <a:cubicBezTo>
                    <a:pt x="1428" y="148"/>
                    <a:pt x="1419" y="160"/>
                    <a:pt x="1423" y="161"/>
                  </a:cubicBezTo>
                  <a:close/>
                  <a:moveTo>
                    <a:pt x="1795" y="254"/>
                  </a:moveTo>
                  <a:cubicBezTo>
                    <a:pt x="1801" y="257"/>
                    <a:pt x="1805" y="250"/>
                    <a:pt x="1811" y="254"/>
                  </a:cubicBezTo>
                  <a:cubicBezTo>
                    <a:pt x="1816" y="257"/>
                    <a:pt x="1829" y="252"/>
                    <a:pt x="1834" y="251"/>
                  </a:cubicBezTo>
                  <a:cubicBezTo>
                    <a:pt x="1840" y="250"/>
                    <a:pt x="1837" y="243"/>
                    <a:pt x="1822" y="241"/>
                  </a:cubicBezTo>
                  <a:cubicBezTo>
                    <a:pt x="1807" y="239"/>
                    <a:pt x="1788" y="250"/>
                    <a:pt x="1795" y="254"/>
                  </a:cubicBezTo>
                  <a:close/>
                  <a:moveTo>
                    <a:pt x="1322" y="161"/>
                  </a:moveTo>
                  <a:cubicBezTo>
                    <a:pt x="1326" y="163"/>
                    <a:pt x="1328" y="166"/>
                    <a:pt x="1331" y="168"/>
                  </a:cubicBezTo>
                  <a:cubicBezTo>
                    <a:pt x="1333" y="171"/>
                    <a:pt x="1343" y="167"/>
                    <a:pt x="1347" y="166"/>
                  </a:cubicBezTo>
                  <a:cubicBezTo>
                    <a:pt x="1351" y="164"/>
                    <a:pt x="1352" y="172"/>
                    <a:pt x="1358" y="168"/>
                  </a:cubicBezTo>
                  <a:cubicBezTo>
                    <a:pt x="1364" y="164"/>
                    <a:pt x="1371" y="166"/>
                    <a:pt x="1378" y="166"/>
                  </a:cubicBezTo>
                  <a:cubicBezTo>
                    <a:pt x="1385" y="166"/>
                    <a:pt x="1377" y="157"/>
                    <a:pt x="1377" y="153"/>
                  </a:cubicBezTo>
                  <a:cubicBezTo>
                    <a:pt x="1377" y="149"/>
                    <a:pt x="1386" y="151"/>
                    <a:pt x="1383" y="155"/>
                  </a:cubicBezTo>
                  <a:cubicBezTo>
                    <a:pt x="1380" y="158"/>
                    <a:pt x="1387" y="166"/>
                    <a:pt x="1398" y="165"/>
                  </a:cubicBezTo>
                  <a:cubicBezTo>
                    <a:pt x="1408" y="164"/>
                    <a:pt x="1400" y="158"/>
                    <a:pt x="1406" y="155"/>
                  </a:cubicBezTo>
                  <a:cubicBezTo>
                    <a:pt x="1411" y="153"/>
                    <a:pt x="1410" y="150"/>
                    <a:pt x="1403" y="146"/>
                  </a:cubicBezTo>
                  <a:cubicBezTo>
                    <a:pt x="1395" y="141"/>
                    <a:pt x="1385" y="144"/>
                    <a:pt x="1378" y="141"/>
                  </a:cubicBezTo>
                  <a:cubicBezTo>
                    <a:pt x="1371" y="138"/>
                    <a:pt x="1363" y="138"/>
                    <a:pt x="1362" y="145"/>
                  </a:cubicBezTo>
                  <a:cubicBezTo>
                    <a:pt x="1362" y="152"/>
                    <a:pt x="1348" y="137"/>
                    <a:pt x="1341" y="135"/>
                  </a:cubicBezTo>
                  <a:cubicBezTo>
                    <a:pt x="1333" y="132"/>
                    <a:pt x="1311" y="155"/>
                    <a:pt x="1322" y="161"/>
                  </a:cubicBezTo>
                  <a:close/>
                  <a:moveTo>
                    <a:pt x="1391" y="204"/>
                  </a:moveTo>
                  <a:cubicBezTo>
                    <a:pt x="1397" y="202"/>
                    <a:pt x="1387" y="191"/>
                    <a:pt x="1377" y="190"/>
                  </a:cubicBezTo>
                  <a:cubicBezTo>
                    <a:pt x="1366" y="188"/>
                    <a:pt x="1357" y="196"/>
                    <a:pt x="1358" y="198"/>
                  </a:cubicBezTo>
                  <a:cubicBezTo>
                    <a:pt x="1361" y="203"/>
                    <a:pt x="1385" y="205"/>
                    <a:pt x="1391" y="204"/>
                  </a:cubicBezTo>
                  <a:close/>
                  <a:moveTo>
                    <a:pt x="1365" y="182"/>
                  </a:moveTo>
                  <a:cubicBezTo>
                    <a:pt x="1365" y="177"/>
                    <a:pt x="1347" y="183"/>
                    <a:pt x="1354" y="186"/>
                  </a:cubicBezTo>
                  <a:cubicBezTo>
                    <a:pt x="1358" y="187"/>
                    <a:pt x="1365" y="187"/>
                    <a:pt x="1365" y="182"/>
                  </a:cubicBezTo>
                  <a:close/>
                  <a:moveTo>
                    <a:pt x="1389" y="589"/>
                  </a:moveTo>
                  <a:cubicBezTo>
                    <a:pt x="1385" y="579"/>
                    <a:pt x="1394" y="570"/>
                    <a:pt x="1387" y="565"/>
                  </a:cubicBezTo>
                  <a:cubicBezTo>
                    <a:pt x="1381" y="560"/>
                    <a:pt x="1383" y="549"/>
                    <a:pt x="1380" y="551"/>
                  </a:cubicBezTo>
                  <a:cubicBezTo>
                    <a:pt x="1377" y="553"/>
                    <a:pt x="1380" y="562"/>
                    <a:pt x="1375" y="563"/>
                  </a:cubicBezTo>
                  <a:cubicBezTo>
                    <a:pt x="1369" y="564"/>
                    <a:pt x="1374" y="569"/>
                    <a:pt x="1372" y="575"/>
                  </a:cubicBezTo>
                  <a:cubicBezTo>
                    <a:pt x="1370" y="582"/>
                    <a:pt x="1373" y="592"/>
                    <a:pt x="1376" y="598"/>
                  </a:cubicBezTo>
                  <a:cubicBezTo>
                    <a:pt x="1379" y="604"/>
                    <a:pt x="1372" y="636"/>
                    <a:pt x="1375" y="641"/>
                  </a:cubicBezTo>
                  <a:cubicBezTo>
                    <a:pt x="1378" y="646"/>
                    <a:pt x="1371" y="670"/>
                    <a:pt x="1373" y="673"/>
                  </a:cubicBezTo>
                  <a:cubicBezTo>
                    <a:pt x="1377" y="677"/>
                    <a:pt x="1374" y="666"/>
                    <a:pt x="1380" y="665"/>
                  </a:cubicBezTo>
                  <a:cubicBezTo>
                    <a:pt x="1386" y="664"/>
                    <a:pt x="1386" y="672"/>
                    <a:pt x="1390" y="674"/>
                  </a:cubicBezTo>
                  <a:cubicBezTo>
                    <a:pt x="1394" y="675"/>
                    <a:pt x="1391" y="663"/>
                    <a:pt x="1388" y="664"/>
                  </a:cubicBezTo>
                  <a:cubicBezTo>
                    <a:pt x="1385" y="664"/>
                    <a:pt x="1382" y="656"/>
                    <a:pt x="1380" y="650"/>
                  </a:cubicBezTo>
                  <a:cubicBezTo>
                    <a:pt x="1379" y="645"/>
                    <a:pt x="1384" y="639"/>
                    <a:pt x="1384" y="632"/>
                  </a:cubicBezTo>
                  <a:cubicBezTo>
                    <a:pt x="1384" y="625"/>
                    <a:pt x="1392" y="626"/>
                    <a:pt x="1397" y="631"/>
                  </a:cubicBezTo>
                  <a:cubicBezTo>
                    <a:pt x="1402" y="636"/>
                    <a:pt x="1403" y="632"/>
                    <a:pt x="1401" y="629"/>
                  </a:cubicBezTo>
                  <a:cubicBezTo>
                    <a:pt x="1399" y="625"/>
                    <a:pt x="1392" y="598"/>
                    <a:pt x="1389" y="589"/>
                  </a:cubicBezTo>
                  <a:close/>
                  <a:moveTo>
                    <a:pt x="326" y="292"/>
                  </a:moveTo>
                  <a:cubicBezTo>
                    <a:pt x="335" y="300"/>
                    <a:pt x="343" y="288"/>
                    <a:pt x="347" y="287"/>
                  </a:cubicBezTo>
                  <a:cubicBezTo>
                    <a:pt x="351" y="287"/>
                    <a:pt x="344" y="282"/>
                    <a:pt x="337" y="280"/>
                  </a:cubicBezTo>
                  <a:cubicBezTo>
                    <a:pt x="330" y="278"/>
                    <a:pt x="319" y="285"/>
                    <a:pt x="326" y="292"/>
                  </a:cubicBezTo>
                  <a:close/>
                  <a:moveTo>
                    <a:pt x="340" y="22"/>
                  </a:moveTo>
                  <a:cubicBezTo>
                    <a:pt x="345" y="26"/>
                    <a:pt x="327" y="25"/>
                    <a:pt x="325" y="28"/>
                  </a:cubicBezTo>
                  <a:cubicBezTo>
                    <a:pt x="323" y="31"/>
                    <a:pt x="312" y="30"/>
                    <a:pt x="314" y="34"/>
                  </a:cubicBezTo>
                  <a:cubicBezTo>
                    <a:pt x="316" y="38"/>
                    <a:pt x="333" y="38"/>
                    <a:pt x="333" y="35"/>
                  </a:cubicBezTo>
                  <a:cubicBezTo>
                    <a:pt x="333" y="32"/>
                    <a:pt x="342" y="35"/>
                    <a:pt x="342" y="32"/>
                  </a:cubicBezTo>
                  <a:cubicBezTo>
                    <a:pt x="342" y="29"/>
                    <a:pt x="346" y="25"/>
                    <a:pt x="355" y="25"/>
                  </a:cubicBezTo>
                  <a:cubicBezTo>
                    <a:pt x="365" y="24"/>
                    <a:pt x="365" y="21"/>
                    <a:pt x="356" y="17"/>
                  </a:cubicBezTo>
                  <a:cubicBezTo>
                    <a:pt x="347" y="13"/>
                    <a:pt x="336" y="19"/>
                    <a:pt x="340" y="22"/>
                  </a:cubicBezTo>
                  <a:close/>
                  <a:moveTo>
                    <a:pt x="309" y="25"/>
                  </a:moveTo>
                  <a:cubicBezTo>
                    <a:pt x="317" y="18"/>
                    <a:pt x="327" y="25"/>
                    <a:pt x="328" y="22"/>
                  </a:cubicBezTo>
                  <a:cubicBezTo>
                    <a:pt x="329" y="18"/>
                    <a:pt x="314" y="17"/>
                    <a:pt x="308" y="20"/>
                  </a:cubicBezTo>
                  <a:cubicBezTo>
                    <a:pt x="302" y="23"/>
                    <a:pt x="289" y="21"/>
                    <a:pt x="291" y="25"/>
                  </a:cubicBezTo>
                  <a:cubicBezTo>
                    <a:pt x="292" y="27"/>
                    <a:pt x="301" y="32"/>
                    <a:pt x="309" y="25"/>
                  </a:cubicBezTo>
                  <a:close/>
                  <a:moveTo>
                    <a:pt x="1036" y="176"/>
                  </a:moveTo>
                  <a:cubicBezTo>
                    <a:pt x="1034" y="178"/>
                    <a:pt x="1027" y="178"/>
                    <a:pt x="1029" y="181"/>
                  </a:cubicBezTo>
                  <a:cubicBezTo>
                    <a:pt x="1032" y="185"/>
                    <a:pt x="1049" y="183"/>
                    <a:pt x="1049" y="178"/>
                  </a:cubicBezTo>
                  <a:cubicBezTo>
                    <a:pt x="1050" y="172"/>
                    <a:pt x="1037" y="173"/>
                    <a:pt x="1036" y="176"/>
                  </a:cubicBezTo>
                  <a:close/>
                  <a:moveTo>
                    <a:pt x="1923" y="348"/>
                  </a:moveTo>
                  <a:cubicBezTo>
                    <a:pt x="1920" y="347"/>
                    <a:pt x="1909" y="340"/>
                    <a:pt x="1906" y="337"/>
                  </a:cubicBezTo>
                  <a:cubicBezTo>
                    <a:pt x="1904" y="333"/>
                    <a:pt x="1891" y="331"/>
                    <a:pt x="1891" y="333"/>
                  </a:cubicBezTo>
                  <a:cubicBezTo>
                    <a:pt x="1891" y="335"/>
                    <a:pt x="1887" y="332"/>
                    <a:pt x="1886" y="330"/>
                  </a:cubicBezTo>
                  <a:cubicBezTo>
                    <a:pt x="1885" y="328"/>
                    <a:pt x="1871" y="328"/>
                    <a:pt x="1871" y="330"/>
                  </a:cubicBezTo>
                  <a:cubicBezTo>
                    <a:pt x="1871" y="332"/>
                    <a:pt x="1874" y="333"/>
                    <a:pt x="1876" y="335"/>
                  </a:cubicBezTo>
                  <a:cubicBezTo>
                    <a:pt x="1878" y="338"/>
                    <a:pt x="1873" y="339"/>
                    <a:pt x="1874" y="342"/>
                  </a:cubicBezTo>
                  <a:cubicBezTo>
                    <a:pt x="1875" y="345"/>
                    <a:pt x="1869" y="341"/>
                    <a:pt x="1867" y="339"/>
                  </a:cubicBezTo>
                  <a:cubicBezTo>
                    <a:pt x="1865" y="338"/>
                    <a:pt x="1866" y="331"/>
                    <a:pt x="1867" y="328"/>
                  </a:cubicBezTo>
                  <a:cubicBezTo>
                    <a:pt x="1867" y="324"/>
                    <a:pt x="1863" y="325"/>
                    <a:pt x="1862" y="322"/>
                  </a:cubicBezTo>
                  <a:cubicBezTo>
                    <a:pt x="1862" y="318"/>
                    <a:pt x="1847" y="312"/>
                    <a:pt x="1841" y="309"/>
                  </a:cubicBezTo>
                  <a:cubicBezTo>
                    <a:pt x="1834" y="306"/>
                    <a:pt x="1826" y="304"/>
                    <a:pt x="1824" y="301"/>
                  </a:cubicBezTo>
                  <a:cubicBezTo>
                    <a:pt x="1822" y="297"/>
                    <a:pt x="1810" y="297"/>
                    <a:pt x="1806" y="292"/>
                  </a:cubicBezTo>
                  <a:cubicBezTo>
                    <a:pt x="1802" y="288"/>
                    <a:pt x="1783" y="280"/>
                    <a:pt x="1775" y="279"/>
                  </a:cubicBezTo>
                  <a:cubicBezTo>
                    <a:pt x="1766" y="279"/>
                    <a:pt x="1768" y="274"/>
                    <a:pt x="1764" y="275"/>
                  </a:cubicBezTo>
                  <a:cubicBezTo>
                    <a:pt x="1760" y="276"/>
                    <a:pt x="1743" y="275"/>
                    <a:pt x="1738" y="274"/>
                  </a:cubicBezTo>
                  <a:cubicBezTo>
                    <a:pt x="1732" y="273"/>
                    <a:pt x="1731" y="277"/>
                    <a:pt x="1727" y="276"/>
                  </a:cubicBezTo>
                  <a:cubicBezTo>
                    <a:pt x="1724" y="274"/>
                    <a:pt x="1704" y="267"/>
                    <a:pt x="1701" y="270"/>
                  </a:cubicBezTo>
                  <a:cubicBezTo>
                    <a:pt x="1699" y="272"/>
                    <a:pt x="1700" y="276"/>
                    <a:pt x="1698" y="277"/>
                  </a:cubicBezTo>
                  <a:cubicBezTo>
                    <a:pt x="1695" y="278"/>
                    <a:pt x="1698" y="281"/>
                    <a:pt x="1703" y="286"/>
                  </a:cubicBezTo>
                  <a:cubicBezTo>
                    <a:pt x="1709" y="291"/>
                    <a:pt x="1705" y="295"/>
                    <a:pt x="1700" y="297"/>
                  </a:cubicBezTo>
                  <a:cubicBezTo>
                    <a:pt x="1695" y="299"/>
                    <a:pt x="1687" y="295"/>
                    <a:pt x="1685" y="291"/>
                  </a:cubicBezTo>
                  <a:cubicBezTo>
                    <a:pt x="1682" y="287"/>
                    <a:pt x="1676" y="289"/>
                    <a:pt x="1674" y="284"/>
                  </a:cubicBezTo>
                  <a:cubicBezTo>
                    <a:pt x="1672" y="279"/>
                    <a:pt x="1676" y="278"/>
                    <a:pt x="1679" y="281"/>
                  </a:cubicBezTo>
                  <a:cubicBezTo>
                    <a:pt x="1683" y="284"/>
                    <a:pt x="1687" y="281"/>
                    <a:pt x="1688" y="278"/>
                  </a:cubicBezTo>
                  <a:cubicBezTo>
                    <a:pt x="1688" y="274"/>
                    <a:pt x="1679" y="272"/>
                    <a:pt x="1673" y="272"/>
                  </a:cubicBezTo>
                  <a:cubicBezTo>
                    <a:pt x="1668" y="272"/>
                    <a:pt x="1665" y="279"/>
                    <a:pt x="1660" y="282"/>
                  </a:cubicBezTo>
                  <a:cubicBezTo>
                    <a:pt x="1655" y="285"/>
                    <a:pt x="1634" y="281"/>
                    <a:pt x="1632" y="279"/>
                  </a:cubicBezTo>
                  <a:cubicBezTo>
                    <a:pt x="1630" y="277"/>
                    <a:pt x="1601" y="279"/>
                    <a:pt x="1598" y="281"/>
                  </a:cubicBezTo>
                  <a:cubicBezTo>
                    <a:pt x="1595" y="283"/>
                    <a:pt x="1597" y="291"/>
                    <a:pt x="1596" y="292"/>
                  </a:cubicBezTo>
                  <a:cubicBezTo>
                    <a:pt x="1594" y="292"/>
                    <a:pt x="1593" y="283"/>
                    <a:pt x="1593" y="281"/>
                  </a:cubicBezTo>
                  <a:cubicBezTo>
                    <a:pt x="1593" y="279"/>
                    <a:pt x="1589" y="278"/>
                    <a:pt x="1584" y="278"/>
                  </a:cubicBezTo>
                  <a:cubicBezTo>
                    <a:pt x="1579" y="278"/>
                    <a:pt x="1576" y="278"/>
                    <a:pt x="1578" y="275"/>
                  </a:cubicBezTo>
                  <a:cubicBezTo>
                    <a:pt x="1580" y="273"/>
                    <a:pt x="1576" y="271"/>
                    <a:pt x="1580" y="268"/>
                  </a:cubicBezTo>
                  <a:cubicBezTo>
                    <a:pt x="1584" y="265"/>
                    <a:pt x="1573" y="257"/>
                    <a:pt x="1562" y="252"/>
                  </a:cubicBezTo>
                  <a:cubicBezTo>
                    <a:pt x="1551" y="248"/>
                    <a:pt x="1526" y="250"/>
                    <a:pt x="1519" y="252"/>
                  </a:cubicBezTo>
                  <a:cubicBezTo>
                    <a:pt x="1512" y="254"/>
                    <a:pt x="1499" y="254"/>
                    <a:pt x="1493" y="254"/>
                  </a:cubicBezTo>
                  <a:cubicBezTo>
                    <a:pt x="1486" y="254"/>
                    <a:pt x="1491" y="251"/>
                    <a:pt x="1490" y="248"/>
                  </a:cubicBezTo>
                  <a:cubicBezTo>
                    <a:pt x="1488" y="245"/>
                    <a:pt x="1477" y="242"/>
                    <a:pt x="1475" y="244"/>
                  </a:cubicBezTo>
                  <a:cubicBezTo>
                    <a:pt x="1474" y="247"/>
                    <a:pt x="1471" y="244"/>
                    <a:pt x="1471" y="242"/>
                  </a:cubicBezTo>
                  <a:cubicBezTo>
                    <a:pt x="1471" y="241"/>
                    <a:pt x="1461" y="237"/>
                    <a:pt x="1457" y="238"/>
                  </a:cubicBezTo>
                  <a:cubicBezTo>
                    <a:pt x="1453" y="239"/>
                    <a:pt x="1451" y="234"/>
                    <a:pt x="1456" y="234"/>
                  </a:cubicBezTo>
                  <a:cubicBezTo>
                    <a:pt x="1460" y="234"/>
                    <a:pt x="1468" y="235"/>
                    <a:pt x="1465" y="230"/>
                  </a:cubicBezTo>
                  <a:cubicBezTo>
                    <a:pt x="1461" y="224"/>
                    <a:pt x="1431" y="223"/>
                    <a:pt x="1429" y="224"/>
                  </a:cubicBezTo>
                  <a:cubicBezTo>
                    <a:pt x="1426" y="225"/>
                    <a:pt x="1428" y="229"/>
                    <a:pt x="1422" y="235"/>
                  </a:cubicBezTo>
                  <a:cubicBezTo>
                    <a:pt x="1415" y="241"/>
                    <a:pt x="1409" y="237"/>
                    <a:pt x="1410" y="234"/>
                  </a:cubicBezTo>
                  <a:cubicBezTo>
                    <a:pt x="1411" y="231"/>
                    <a:pt x="1419" y="231"/>
                    <a:pt x="1419" y="228"/>
                  </a:cubicBezTo>
                  <a:cubicBezTo>
                    <a:pt x="1419" y="225"/>
                    <a:pt x="1408" y="227"/>
                    <a:pt x="1406" y="224"/>
                  </a:cubicBezTo>
                  <a:cubicBezTo>
                    <a:pt x="1404" y="222"/>
                    <a:pt x="1408" y="220"/>
                    <a:pt x="1412" y="221"/>
                  </a:cubicBezTo>
                  <a:cubicBezTo>
                    <a:pt x="1416" y="223"/>
                    <a:pt x="1423" y="223"/>
                    <a:pt x="1424" y="221"/>
                  </a:cubicBezTo>
                  <a:cubicBezTo>
                    <a:pt x="1424" y="220"/>
                    <a:pt x="1420" y="219"/>
                    <a:pt x="1413" y="218"/>
                  </a:cubicBezTo>
                  <a:cubicBezTo>
                    <a:pt x="1406" y="217"/>
                    <a:pt x="1390" y="213"/>
                    <a:pt x="1382" y="214"/>
                  </a:cubicBezTo>
                  <a:cubicBezTo>
                    <a:pt x="1373" y="215"/>
                    <a:pt x="1369" y="211"/>
                    <a:pt x="1365" y="210"/>
                  </a:cubicBezTo>
                  <a:cubicBezTo>
                    <a:pt x="1360" y="210"/>
                    <a:pt x="1360" y="213"/>
                    <a:pt x="1362" y="216"/>
                  </a:cubicBezTo>
                  <a:cubicBezTo>
                    <a:pt x="1364" y="218"/>
                    <a:pt x="1358" y="220"/>
                    <a:pt x="1352" y="219"/>
                  </a:cubicBezTo>
                  <a:cubicBezTo>
                    <a:pt x="1347" y="218"/>
                    <a:pt x="1339" y="222"/>
                    <a:pt x="1342" y="226"/>
                  </a:cubicBezTo>
                  <a:cubicBezTo>
                    <a:pt x="1345" y="230"/>
                    <a:pt x="1348" y="225"/>
                    <a:pt x="1351" y="226"/>
                  </a:cubicBezTo>
                  <a:cubicBezTo>
                    <a:pt x="1353" y="228"/>
                    <a:pt x="1344" y="230"/>
                    <a:pt x="1348" y="232"/>
                  </a:cubicBezTo>
                  <a:cubicBezTo>
                    <a:pt x="1352" y="234"/>
                    <a:pt x="1351" y="238"/>
                    <a:pt x="1351" y="240"/>
                  </a:cubicBezTo>
                  <a:cubicBezTo>
                    <a:pt x="1351" y="242"/>
                    <a:pt x="1345" y="243"/>
                    <a:pt x="1342" y="240"/>
                  </a:cubicBezTo>
                  <a:cubicBezTo>
                    <a:pt x="1340" y="237"/>
                    <a:pt x="1336" y="240"/>
                    <a:pt x="1331" y="239"/>
                  </a:cubicBezTo>
                  <a:cubicBezTo>
                    <a:pt x="1327" y="239"/>
                    <a:pt x="1323" y="241"/>
                    <a:pt x="1328" y="242"/>
                  </a:cubicBezTo>
                  <a:cubicBezTo>
                    <a:pt x="1333" y="242"/>
                    <a:pt x="1335" y="246"/>
                    <a:pt x="1328" y="246"/>
                  </a:cubicBezTo>
                  <a:cubicBezTo>
                    <a:pt x="1322" y="247"/>
                    <a:pt x="1323" y="240"/>
                    <a:pt x="1319" y="241"/>
                  </a:cubicBezTo>
                  <a:cubicBezTo>
                    <a:pt x="1315" y="242"/>
                    <a:pt x="1307" y="238"/>
                    <a:pt x="1302" y="238"/>
                  </a:cubicBezTo>
                  <a:cubicBezTo>
                    <a:pt x="1297" y="238"/>
                    <a:pt x="1295" y="242"/>
                    <a:pt x="1289" y="242"/>
                  </a:cubicBezTo>
                  <a:cubicBezTo>
                    <a:pt x="1283" y="243"/>
                    <a:pt x="1274" y="239"/>
                    <a:pt x="1272" y="236"/>
                  </a:cubicBezTo>
                  <a:cubicBezTo>
                    <a:pt x="1269" y="232"/>
                    <a:pt x="1269" y="231"/>
                    <a:pt x="1266" y="235"/>
                  </a:cubicBezTo>
                  <a:cubicBezTo>
                    <a:pt x="1263" y="239"/>
                    <a:pt x="1262" y="246"/>
                    <a:pt x="1259" y="247"/>
                  </a:cubicBezTo>
                  <a:cubicBezTo>
                    <a:pt x="1256" y="247"/>
                    <a:pt x="1255" y="254"/>
                    <a:pt x="1252" y="256"/>
                  </a:cubicBezTo>
                  <a:cubicBezTo>
                    <a:pt x="1249" y="257"/>
                    <a:pt x="1249" y="253"/>
                    <a:pt x="1245" y="253"/>
                  </a:cubicBezTo>
                  <a:cubicBezTo>
                    <a:pt x="1241" y="254"/>
                    <a:pt x="1229" y="242"/>
                    <a:pt x="1228" y="238"/>
                  </a:cubicBezTo>
                  <a:cubicBezTo>
                    <a:pt x="1228" y="235"/>
                    <a:pt x="1220" y="228"/>
                    <a:pt x="1218" y="227"/>
                  </a:cubicBezTo>
                  <a:cubicBezTo>
                    <a:pt x="1216" y="225"/>
                    <a:pt x="1220" y="225"/>
                    <a:pt x="1223" y="227"/>
                  </a:cubicBezTo>
                  <a:cubicBezTo>
                    <a:pt x="1225" y="229"/>
                    <a:pt x="1228" y="229"/>
                    <a:pt x="1231" y="228"/>
                  </a:cubicBezTo>
                  <a:cubicBezTo>
                    <a:pt x="1233" y="226"/>
                    <a:pt x="1233" y="220"/>
                    <a:pt x="1229" y="220"/>
                  </a:cubicBezTo>
                  <a:cubicBezTo>
                    <a:pt x="1224" y="220"/>
                    <a:pt x="1226" y="216"/>
                    <a:pt x="1228" y="216"/>
                  </a:cubicBezTo>
                  <a:cubicBezTo>
                    <a:pt x="1230" y="215"/>
                    <a:pt x="1223" y="208"/>
                    <a:pt x="1226" y="208"/>
                  </a:cubicBezTo>
                  <a:cubicBezTo>
                    <a:pt x="1228" y="207"/>
                    <a:pt x="1227" y="204"/>
                    <a:pt x="1224" y="204"/>
                  </a:cubicBezTo>
                  <a:cubicBezTo>
                    <a:pt x="1220" y="203"/>
                    <a:pt x="1216" y="200"/>
                    <a:pt x="1216" y="198"/>
                  </a:cubicBezTo>
                  <a:cubicBezTo>
                    <a:pt x="1216" y="197"/>
                    <a:pt x="1200" y="196"/>
                    <a:pt x="1201" y="199"/>
                  </a:cubicBezTo>
                  <a:cubicBezTo>
                    <a:pt x="1202" y="201"/>
                    <a:pt x="1196" y="200"/>
                    <a:pt x="1197" y="198"/>
                  </a:cubicBezTo>
                  <a:cubicBezTo>
                    <a:pt x="1198" y="196"/>
                    <a:pt x="1191" y="197"/>
                    <a:pt x="1184" y="195"/>
                  </a:cubicBezTo>
                  <a:cubicBezTo>
                    <a:pt x="1177" y="193"/>
                    <a:pt x="1176" y="188"/>
                    <a:pt x="1174" y="187"/>
                  </a:cubicBezTo>
                  <a:cubicBezTo>
                    <a:pt x="1171" y="187"/>
                    <a:pt x="1172" y="194"/>
                    <a:pt x="1169" y="193"/>
                  </a:cubicBezTo>
                  <a:cubicBezTo>
                    <a:pt x="1165" y="191"/>
                    <a:pt x="1161" y="194"/>
                    <a:pt x="1163" y="199"/>
                  </a:cubicBezTo>
                  <a:cubicBezTo>
                    <a:pt x="1165" y="203"/>
                    <a:pt x="1163" y="204"/>
                    <a:pt x="1163" y="207"/>
                  </a:cubicBezTo>
                  <a:cubicBezTo>
                    <a:pt x="1162" y="211"/>
                    <a:pt x="1160" y="209"/>
                    <a:pt x="1156" y="208"/>
                  </a:cubicBezTo>
                  <a:cubicBezTo>
                    <a:pt x="1152" y="206"/>
                    <a:pt x="1152" y="211"/>
                    <a:pt x="1142" y="209"/>
                  </a:cubicBezTo>
                  <a:cubicBezTo>
                    <a:pt x="1133" y="207"/>
                    <a:pt x="1129" y="209"/>
                    <a:pt x="1127" y="206"/>
                  </a:cubicBezTo>
                  <a:cubicBezTo>
                    <a:pt x="1126" y="203"/>
                    <a:pt x="1123" y="203"/>
                    <a:pt x="1122" y="205"/>
                  </a:cubicBezTo>
                  <a:cubicBezTo>
                    <a:pt x="1122" y="208"/>
                    <a:pt x="1108" y="207"/>
                    <a:pt x="1107" y="203"/>
                  </a:cubicBezTo>
                  <a:cubicBezTo>
                    <a:pt x="1105" y="199"/>
                    <a:pt x="1109" y="199"/>
                    <a:pt x="1111" y="198"/>
                  </a:cubicBezTo>
                  <a:cubicBezTo>
                    <a:pt x="1113" y="197"/>
                    <a:pt x="1109" y="195"/>
                    <a:pt x="1101" y="196"/>
                  </a:cubicBezTo>
                  <a:cubicBezTo>
                    <a:pt x="1093" y="196"/>
                    <a:pt x="1088" y="192"/>
                    <a:pt x="1080" y="193"/>
                  </a:cubicBezTo>
                  <a:cubicBezTo>
                    <a:pt x="1072" y="193"/>
                    <a:pt x="1054" y="195"/>
                    <a:pt x="1052" y="196"/>
                  </a:cubicBezTo>
                  <a:cubicBezTo>
                    <a:pt x="1049" y="197"/>
                    <a:pt x="1054" y="202"/>
                    <a:pt x="1050" y="202"/>
                  </a:cubicBezTo>
                  <a:cubicBezTo>
                    <a:pt x="1047" y="203"/>
                    <a:pt x="1049" y="195"/>
                    <a:pt x="1049" y="191"/>
                  </a:cubicBezTo>
                  <a:cubicBezTo>
                    <a:pt x="1048" y="188"/>
                    <a:pt x="1042" y="187"/>
                    <a:pt x="1043" y="190"/>
                  </a:cubicBezTo>
                  <a:cubicBezTo>
                    <a:pt x="1044" y="193"/>
                    <a:pt x="1034" y="194"/>
                    <a:pt x="1031" y="192"/>
                  </a:cubicBezTo>
                  <a:cubicBezTo>
                    <a:pt x="1029" y="189"/>
                    <a:pt x="1025" y="187"/>
                    <a:pt x="1018" y="185"/>
                  </a:cubicBezTo>
                  <a:cubicBezTo>
                    <a:pt x="1012" y="183"/>
                    <a:pt x="1004" y="190"/>
                    <a:pt x="1006" y="192"/>
                  </a:cubicBezTo>
                  <a:cubicBezTo>
                    <a:pt x="1007" y="194"/>
                    <a:pt x="1012" y="193"/>
                    <a:pt x="1012" y="194"/>
                  </a:cubicBezTo>
                  <a:cubicBezTo>
                    <a:pt x="1013" y="197"/>
                    <a:pt x="999" y="196"/>
                    <a:pt x="999" y="198"/>
                  </a:cubicBezTo>
                  <a:cubicBezTo>
                    <a:pt x="999" y="200"/>
                    <a:pt x="985" y="204"/>
                    <a:pt x="981" y="204"/>
                  </a:cubicBezTo>
                  <a:cubicBezTo>
                    <a:pt x="970" y="205"/>
                    <a:pt x="968" y="205"/>
                    <a:pt x="963" y="210"/>
                  </a:cubicBezTo>
                  <a:cubicBezTo>
                    <a:pt x="958" y="214"/>
                    <a:pt x="962" y="206"/>
                    <a:pt x="966" y="202"/>
                  </a:cubicBezTo>
                  <a:cubicBezTo>
                    <a:pt x="970" y="198"/>
                    <a:pt x="974" y="200"/>
                    <a:pt x="976" y="196"/>
                  </a:cubicBezTo>
                  <a:cubicBezTo>
                    <a:pt x="979" y="193"/>
                    <a:pt x="982" y="194"/>
                    <a:pt x="989" y="193"/>
                  </a:cubicBezTo>
                  <a:cubicBezTo>
                    <a:pt x="995" y="192"/>
                    <a:pt x="995" y="188"/>
                    <a:pt x="998" y="187"/>
                  </a:cubicBezTo>
                  <a:cubicBezTo>
                    <a:pt x="1001" y="185"/>
                    <a:pt x="1008" y="182"/>
                    <a:pt x="1009" y="179"/>
                  </a:cubicBezTo>
                  <a:cubicBezTo>
                    <a:pt x="1011" y="176"/>
                    <a:pt x="1026" y="171"/>
                    <a:pt x="1029" y="172"/>
                  </a:cubicBezTo>
                  <a:cubicBezTo>
                    <a:pt x="1032" y="172"/>
                    <a:pt x="1032" y="166"/>
                    <a:pt x="1034" y="166"/>
                  </a:cubicBezTo>
                  <a:cubicBezTo>
                    <a:pt x="1036" y="166"/>
                    <a:pt x="1044" y="162"/>
                    <a:pt x="1048" y="160"/>
                  </a:cubicBezTo>
                  <a:cubicBezTo>
                    <a:pt x="1051" y="159"/>
                    <a:pt x="1053" y="156"/>
                    <a:pt x="1053" y="153"/>
                  </a:cubicBezTo>
                  <a:cubicBezTo>
                    <a:pt x="1053" y="151"/>
                    <a:pt x="1048" y="152"/>
                    <a:pt x="1048" y="150"/>
                  </a:cubicBezTo>
                  <a:cubicBezTo>
                    <a:pt x="1047" y="148"/>
                    <a:pt x="1050" y="149"/>
                    <a:pt x="1053" y="148"/>
                  </a:cubicBezTo>
                  <a:cubicBezTo>
                    <a:pt x="1057" y="146"/>
                    <a:pt x="1053" y="142"/>
                    <a:pt x="1051" y="142"/>
                  </a:cubicBezTo>
                  <a:cubicBezTo>
                    <a:pt x="1048" y="143"/>
                    <a:pt x="1052" y="140"/>
                    <a:pt x="1050" y="137"/>
                  </a:cubicBezTo>
                  <a:cubicBezTo>
                    <a:pt x="1047" y="134"/>
                    <a:pt x="1042" y="139"/>
                    <a:pt x="1042" y="136"/>
                  </a:cubicBezTo>
                  <a:cubicBezTo>
                    <a:pt x="1042" y="132"/>
                    <a:pt x="1042" y="128"/>
                    <a:pt x="1040" y="126"/>
                  </a:cubicBezTo>
                  <a:cubicBezTo>
                    <a:pt x="1038" y="124"/>
                    <a:pt x="1034" y="130"/>
                    <a:pt x="1030" y="127"/>
                  </a:cubicBezTo>
                  <a:cubicBezTo>
                    <a:pt x="1026" y="124"/>
                    <a:pt x="1014" y="122"/>
                    <a:pt x="1014" y="123"/>
                  </a:cubicBezTo>
                  <a:cubicBezTo>
                    <a:pt x="1014" y="124"/>
                    <a:pt x="1008" y="121"/>
                    <a:pt x="1007" y="122"/>
                  </a:cubicBezTo>
                  <a:cubicBezTo>
                    <a:pt x="1006" y="124"/>
                    <a:pt x="996" y="123"/>
                    <a:pt x="993" y="123"/>
                  </a:cubicBezTo>
                  <a:cubicBezTo>
                    <a:pt x="990" y="122"/>
                    <a:pt x="986" y="124"/>
                    <a:pt x="986" y="127"/>
                  </a:cubicBezTo>
                  <a:cubicBezTo>
                    <a:pt x="985" y="130"/>
                    <a:pt x="974" y="129"/>
                    <a:pt x="971" y="128"/>
                  </a:cubicBezTo>
                  <a:cubicBezTo>
                    <a:pt x="969" y="128"/>
                    <a:pt x="980" y="119"/>
                    <a:pt x="980" y="118"/>
                  </a:cubicBezTo>
                  <a:cubicBezTo>
                    <a:pt x="980" y="116"/>
                    <a:pt x="962" y="118"/>
                    <a:pt x="961" y="116"/>
                  </a:cubicBezTo>
                  <a:cubicBezTo>
                    <a:pt x="960" y="115"/>
                    <a:pt x="952" y="114"/>
                    <a:pt x="948" y="114"/>
                  </a:cubicBezTo>
                  <a:cubicBezTo>
                    <a:pt x="944" y="114"/>
                    <a:pt x="948" y="113"/>
                    <a:pt x="951" y="113"/>
                  </a:cubicBezTo>
                  <a:cubicBezTo>
                    <a:pt x="955" y="113"/>
                    <a:pt x="958" y="110"/>
                    <a:pt x="962" y="109"/>
                  </a:cubicBezTo>
                  <a:cubicBezTo>
                    <a:pt x="965" y="108"/>
                    <a:pt x="965" y="107"/>
                    <a:pt x="963" y="105"/>
                  </a:cubicBezTo>
                  <a:cubicBezTo>
                    <a:pt x="961" y="102"/>
                    <a:pt x="957" y="103"/>
                    <a:pt x="953" y="102"/>
                  </a:cubicBezTo>
                  <a:cubicBezTo>
                    <a:pt x="950" y="101"/>
                    <a:pt x="945" y="99"/>
                    <a:pt x="942" y="99"/>
                  </a:cubicBezTo>
                  <a:cubicBezTo>
                    <a:pt x="938" y="99"/>
                    <a:pt x="935" y="101"/>
                    <a:pt x="927" y="102"/>
                  </a:cubicBezTo>
                  <a:cubicBezTo>
                    <a:pt x="919" y="104"/>
                    <a:pt x="918" y="110"/>
                    <a:pt x="914" y="112"/>
                  </a:cubicBezTo>
                  <a:cubicBezTo>
                    <a:pt x="910" y="114"/>
                    <a:pt x="903" y="121"/>
                    <a:pt x="907" y="122"/>
                  </a:cubicBezTo>
                  <a:cubicBezTo>
                    <a:pt x="910" y="122"/>
                    <a:pt x="908" y="124"/>
                    <a:pt x="909" y="126"/>
                  </a:cubicBezTo>
                  <a:cubicBezTo>
                    <a:pt x="909" y="129"/>
                    <a:pt x="906" y="129"/>
                    <a:pt x="902" y="128"/>
                  </a:cubicBezTo>
                  <a:cubicBezTo>
                    <a:pt x="899" y="128"/>
                    <a:pt x="885" y="128"/>
                    <a:pt x="885" y="131"/>
                  </a:cubicBezTo>
                  <a:cubicBezTo>
                    <a:pt x="885" y="134"/>
                    <a:pt x="893" y="135"/>
                    <a:pt x="893" y="136"/>
                  </a:cubicBezTo>
                  <a:cubicBezTo>
                    <a:pt x="892" y="138"/>
                    <a:pt x="887" y="136"/>
                    <a:pt x="884" y="135"/>
                  </a:cubicBezTo>
                  <a:cubicBezTo>
                    <a:pt x="881" y="133"/>
                    <a:pt x="875" y="134"/>
                    <a:pt x="874" y="137"/>
                  </a:cubicBezTo>
                  <a:cubicBezTo>
                    <a:pt x="873" y="140"/>
                    <a:pt x="868" y="139"/>
                    <a:pt x="867" y="138"/>
                  </a:cubicBezTo>
                  <a:cubicBezTo>
                    <a:pt x="865" y="138"/>
                    <a:pt x="862" y="140"/>
                    <a:pt x="860" y="139"/>
                  </a:cubicBezTo>
                  <a:cubicBezTo>
                    <a:pt x="857" y="138"/>
                    <a:pt x="865" y="134"/>
                    <a:pt x="863" y="133"/>
                  </a:cubicBezTo>
                  <a:cubicBezTo>
                    <a:pt x="861" y="131"/>
                    <a:pt x="853" y="132"/>
                    <a:pt x="852" y="135"/>
                  </a:cubicBezTo>
                  <a:cubicBezTo>
                    <a:pt x="851" y="138"/>
                    <a:pt x="846" y="133"/>
                    <a:pt x="845" y="134"/>
                  </a:cubicBezTo>
                  <a:cubicBezTo>
                    <a:pt x="843" y="135"/>
                    <a:pt x="841" y="136"/>
                    <a:pt x="837" y="138"/>
                  </a:cubicBezTo>
                  <a:cubicBezTo>
                    <a:pt x="834" y="139"/>
                    <a:pt x="828" y="136"/>
                    <a:pt x="826" y="139"/>
                  </a:cubicBezTo>
                  <a:cubicBezTo>
                    <a:pt x="825" y="142"/>
                    <a:pt x="833" y="142"/>
                    <a:pt x="833" y="144"/>
                  </a:cubicBezTo>
                  <a:cubicBezTo>
                    <a:pt x="833" y="145"/>
                    <a:pt x="815" y="145"/>
                    <a:pt x="815" y="146"/>
                  </a:cubicBezTo>
                  <a:cubicBezTo>
                    <a:pt x="814" y="148"/>
                    <a:pt x="808" y="148"/>
                    <a:pt x="800" y="148"/>
                  </a:cubicBezTo>
                  <a:cubicBezTo>
                    <a:pt x="793" y="149"/>
                    <a:pt x="796" y="152"/>
                    <a:pt x="790" y="153"/>
                  </a:cubicBezTo>
                  <a:cubicBezTo>
                    <a:pt x="784" y="155"/>
                    <a:pt x="781" y="155"/>
                    <a:pt x="779" y="158"/>
                  </a:cubicBezTo>
                  <a:cubicBezTo>
                    <a:pt x="777" y="161"/>
                    <a:pt x="773" y="161"/>
                    <a:pt x="771" y="159"/>
                  </a:cubicBezTo>
                  <a:cubicBezTo>
                    <a:pt x="769" y="157"/>
                    <a:pt x="763" y="160"/>
                    <a:pt x="766" y="160"/>
                  </a:cubicBezTo>
                  <a:cubicBezTo>
                    <a:pt x="769" y="161"/>
                    <a:pt x="766" y="164"/>
                    <a:pt x="764" y="163"/>
                  </a:cubicBezTo>
                  <a:cubicBezTo>
                    <a:pt x="763" y="162"/>
                    <a:pt x="757" y="166"/>
                    <a:pt x="760" y="166"/>
                  </a:cubicBezTo>
                  <a:cubicBezTo>
                    <a:pt x="763" y="166"/>
                    <a:pt x="765" y="168"/>
                    <a:pt x="763" y="170"/>
                  </a:cubicBezTo>
                  <a:cubicBezTo>
                    <a:pt x="762" y="172"/>
                    <a:pt x="755" y="168"/>
                    <a:pt x="754" y="169"/>
                  </a:cubicBezTo>
                  <a:cubicBezTo>
                    <a:pt x="752" y="171"/>
                    <a:pt x="757" y="173"/>
                    <a:pt x="760" y="173"/>
                  </a:cubicBezTo>
                  <a:cubicBezTo>
                    <a:pt x="763" y="173"/>
                    <a:pt x="764" y="175"/>
                    <a:pt x="765" y="177"/>
                  </a:cubicBezTo>
                  <a:cubicBezTo>
                    <a:pt x="765" y="179"/>
                    <a:pt x="758" y="175"/>
                    <a:pt x="756" y="177"/>
                  </a:cubicBezTo>
                  <a:cubicBezTo>
                    <a:pt x="755" y="179"/>
                    <a:pt x="757" y="180"/>
                    <a:pt x="761" y="180"/>
                  </a:cubicBezTo>
                  <a:cubicBezTo>
                    <a:pt x="764" y="181"/>
                    <a:pt x="761" y="182"/>
                    <a:pt x="764" y="184"/>
                  </a:cubicBezTo>
                  <a:cubicBezTo>
                    <a:pt x="764" y="184"/>
                    <a:pt x="765" y="185"/>
                    <a:pt x="765" y="185"/>
                  </a:cubicBezTo>
                  <a:cubicBezTo>
                    <a:pt x="766" y="187"/>
                    <a:pt x="763" y="188"/>
                    <a:pt x="764" y="190"/>
                  </a:cubicBezTo>
                  <a:cubicBezTo>
                    <a:pt x="764" y="192"/>
                    <a:pt x="760" y="193"/>
                    <a:pt x="760" y="191"/>
                  </a:cubicBezTo>
                  <a:cubicBezTo>
                    <a:pt x="760" y="189"/>
                    <a:pt x="752" y="188"/>
                    <a:pt x="750" y="190"/>
                  </a:cubicBezTo>
                  <a:cubicBezTo>
                    <a:pt x="748" y="192"/>
                    <a:pt x="747" y="194"/>
                    <a:pt x="744" y="192"/>
                  </a:cubicBezTo>
                  <a:cubicBezTo>
                    <a:pt x="742" y="190"/>
                    <a:pt x="736" y="192"/>
                    <a:pt x="728" y="193"/>
                  </a:cubicBezTo>
                  <a:cubicBezTo>
                    <a:pt x="720" y="193"/>
                    <a:pt x="703" y="194"/>
                    <a:pt x="699" y="195"/>
                  </a:cubicBezTo>
                  <a:cubicBezTo>
                    <a:pt x="694" y="197"/>
                    <a:pt x="691" y="203"/>
                    <a:pt x="695" y="206"/>
                  </a:cubicBezTo>
                  <a:cubicBezTo>
                    <a:pt x="699" y="210"/>
                    <a:pt x="695" y="212"/>
                    <a:pt x="695" y="214"/>
                  </a:cubicBezTo>
                  <a:cubicBezTo>
                    <a:pt x="695" y="217"/>
                    <a:pt x="705" y="222"/>
                    <a:pt x="710" y="223"/>
                  </a:cubicBezTo>
                  <a:cubicBezTo>
                    <a:pt x="716" y="223"/>
                    <a:pt x="720" y="230"/>
                    <a:pt x="717" y="234"/>
                  </a:cubicBezTo>
                  <a:cubicBezTo>
                    <a:pt x="714" y="238"/>
                    <a:pt x="704" y="232"/>
                    <a:pt x="698" y="227"/>
                  </a:cubicBezTo>
                  <a:cubicBezTo>
                    <a:pt x="691" y="222"/>
                    <a:pt x="677" y="220"/>
                    <a:pt x="672" y="221"/>
                  </a:cubicBezTo>
                  <a:cubicBezTo>
                    <a:pt x="667" y="221"/>
                    <a:pt x="670" y="216"/>
                    <a:pt x="664" y="217"/>
                  </a:cubicBezTo>
                  <a:cubicBezTo>
                    <a:pt x="657" y="217"/>
                    <a:pt x="652" y="222"/>
                    <a:pt x="656" y="222"/>
                  </a:cubicBezTo>
                  <a:cubicBezTo>
                    <a:pt x="661" y="222"/>
                    <a:pt x="663" y="222"/>
                    <a:pt x="661" y="224"/>
                  </a:cubicBezTo>
                  <a:cubicBezTo>
                    <a:pt x="659" y="226"/>
                    <a:pt x="662" y="225"/>
                    <a:pt x="667" y="228"/>
                  </a:cubicBezTo>
                  <a:cubicBezTo>
                    <a:pt x="672" y="230"/>
                    <a:pt x="663" y="233"/>
                    <a:pt x="658" y="229"/>
                  </a:cubicBezTo>
                  <a:cubicBezTo>
                    <a:pt x="653" y="226"/>
                    <a:pt x="647" y="229"/>
                    <a:pt x="646" y="232"/>
                  </a:cubicBezTo>
                  <a:cubicBezTo>
                    <a:pt x="644" y="234"/>
                    <a:pt x="652" y="242"/>
                    <a:pt x="661" y="243"/>
                  </a:cubicBezTo>
                  <a:cubicBezTo>
                    <a:pt x="670" y="245"/>
                    <a:pt x="667" y="248"/>
                    <a:pt x="671" y="249"/>
                  </a:cubicBezTo>
                  <a:cubicBezTo>
                    <a:pt x="675" y="251"/>
                    <a:pt x="672" y="252"/>
                    <a:pt x="669" y="252"/>
                  </a:cubicBezTo>
                  <a:cubicBezTo>
                    <a:pt x="666" y="253"/>
                    <a:pt x="661" y="248"/>
                    <a:pt x="656" y="246"/>
                  </a:cubicBezTo>
                  <a:cubicBezTo>
                    <a:pt x="652" y="243"/>
                    <a:pt x="640" y="247"/>
                    <a:pt x="637" y="244"/>
                  </a:cubicBezTo>
                  <a:cubicBezTo>
                    <a:pt x="635" y="241"/>
                    <a:pt x="639" y="239"/>
                    <a:pt x="636" y="237"/>
                  </a:cubicBezTo>
                  <a:cubicBezTo>
                    <a:pt x="634" y="235"/>
                    <a:pt x="636" y="230"/>
                    <a:pt x="639" y="226"/>
                  </a:cubicBezTo>
                  <a:cubicBezTo>
                    <a:pt x="642" y="221"/>
                    <a:pt x="639" y="213"/>
                    <a:pt x="634" y="212"/>
                  </a:cubicBezTo>
                  <a:cubicBezTo>
                    <a:pt x="630" y="210"/>
                    <a:pt x="630" y="215"/>
                    <a:pt x="631" y="216"/>
                  </a:cubicBezTo>
                  <a:cubicBezTo>
                    <a:pt x="632" y="217"/>
                    <a:pt x="632" y="224"/>
                    <a:pt x="628" y="228"/>
                  </a:cubicBezTo>
                  <a:cubicBezTo>
                    <a:pt x="625" y="232"/>
                    <a:pt x="615" y="232"/>
                    <a:pt x="615" y="235"/>
                  </a:cubicBezTo>
                  <a:cubicBezTo>
                    <a:pt x="615" y="238"/>
                    <a:pt x="608" y="240"/>
                    <a:pt x="610" y="242"/>
                  </a:cubicBezTo>
                  <a:cubicBezTo>
                    <a:pt x="613" y="244"/>
                    <a:pt x="622" y="254"/>
                    <a:pt x="623" y="257"/>
                  </a:cubicBezTo>
                  <a:cubicBezTo>
                    <a:pt x="625" y="261"/>
                    <a:pt x="615" y="271"/>
                    <a:pt x="617" y="276"/>
                  </a:cubicBezTo>
                  <a:cubicBezTo>
                    <a:pt x="618" y="282"/>
                    <a:pt x="615" y="285"/>
                    <a:pt x="617" y="288"/>
                  </a:cubicBezTo>
                  <a:cubicBezTo>
                    <a:pt x="619" y="291"/>
                    <a:pt x="623" y="288"/>
                    <a:pt x="626" y="289"/>
                  </a:cubicBezTo>
                  <a:cubicBezTo>
                    <a:pt x="628" y="290"/>
                    <a:pt x="633" y="288"/>
                    <a:pt x="639" y="286"/>
                  </a:cubicBezTo>
                  <a:cubicBezTo>
                    <a:pt x="645" y="285"/>
                    <a:pt x="656" y="292"/>
                    <a:pt x="661" y="294"/>
                  </a:cubicBezTo>
                  <a:cubicBezTo>
                    <a:pt x="665" y="296"/>
                    <a:pt x="663" y="299"/>
                    <a:pt x="665" y="302"/>
                  </a:cubicBezTo>
                  <a:cubicBezTo>
                    <a:pt x="667" y="306"/>
                    <a:pt x="660" y="306"/>
                    <a:pt x="660" y="311"/>
                  </a:cubicBezTo>
                  <a:cubicBezTo>
                    <a:pt x="659" y="316"/>
                    <a:pt x="672" y="318"/>
                    <a:pt x="673" y="319"/>
                  </a:cubicBezTo>
                  <a:cubicBezTo>
                    <a:pt x="673" y="321"/>
                    <a:pt x="664" y="320"/>
                    <a:pt x="660" y="318"/>
                  </a:cubicBezTo>
                  <a:cubicBezTo>
                    <a:pt x="656" y="317"/>
                    <a:pt x="656" y="312"/>
                    <a:pt x="655" y="311"/>
                  </a:cubicBezTo>
                  <a:cubicBezTo>
                    <a:pt x="654" y="310"/>
                    <a:pt x="657" y="306"/>
                    <a:pt x="658" y="303"/>
                  </a:cubicBezTo>
                  <a:cubicBezTo>
                    <a:pt x="658" y="300"/>
                    <a:pt x="653" y="298"/>
                    <a:pt x="652" y="296"/>
                  </a:cubicBezTo>
                  <a:cubicBezTo>
                    <a:pt x="650" y="294"/>
                    <a:pt x="648" y="291"/>
                    <a:pt x="645" y="291"/>
                  </a:cubicBezTo>
                  <a:cubicBezTo>
                    <a:pt x="642" y="292"/>
                    <a:pt x="631" y="293"/>
                    <a:pt x="627" y="296"/>
                  </a:cubicBezTo>
                  <a:cubicBezTo>
                    <a:pt x="624" y="299"/>
                    <a:pt x="628" y="307"/>
                    <a:pt x="630" y="312"/>
                  </a:cubicBezTo>
                  <a:cubicBezTo>
                    <a:pt x="632" y="316"/>
                    <a:pt x="620" y="322"/>
                    <a:pt x="620" y="325"/>
                  </a:cubicBezTo>
                  <a:cubicBezTo>
                    <a:pt x="621" y="328"/>
                    <a:pt x="617" y="330"/>
                    <a:pt x="612" y="332"/>
                  </a:cubicBezTo>
                  <a:cubicBezTo>
                    <a:pt x="607" y="335"/>
                    <a:pt x="601" y="337"/>
                    <a:pt x="602" y="341"/>
                  </a:cubicBezTo>
                  <a:cubicBezTo>
                    <a:pt x="602" y="346"/>
                    <a:pt x="595" y="343"/>
                    <a:pt x="591" y="341"/>
                  </a:cubicBezTo>
                  <a:cubicBezTo>
                    <a:pt x="588" y="339"/>
                    <a:pt x="583" y="343"/>
                    <a:pt x="578" y="342"/>
                  </a:cubicBezTo>
                  <a:cubicBezTo>
                    <a:pt x="573" y="342"/>
                    <a:pt x="573" y="338"/>
                    <a:pt x="569" y="340"/>
                  </a:cubicBezTo>
                  <a:cubicBezTo>
                    <a:pt x="565" y="341"/>
                    <a:pt x="563" y="338"/>
                    <a:pt x="564" y="335"/>
                  </a:cubicBezTo>
                  <a:cubicBezTo>
                    <a:pt x="565" y="332"/>
                    <a:pt x="570" y="334"/>
                    <a:pt x="570" y="336"/>
                  </a:cubicBezTo>
                  <a:cubicBezTo>
                    <a:pt x="570" y="338"/>
                    <a:pt x="573" y="337"/>
                    <a:pt x="576" y="336"/>
                  </a:cubicBezTo>
                  <a:cubicBezTo>
                    <a:pt x="580" y="334"/>
                    <a:pt x="578" y="338"/>
                    <a:pt x="583" y="338"/>
                  </a:cubicBezTo>
                  <a:cubicBezTo>
                    <a:pt x="588" y="339"/>
                    <a:pt x="585" y="336"/>
                    <a:pt x="589" y="336"/>
                  </a:cubicBezTo>
                  <a:cubicBezTo>
                    <a:pt x="592" y="336"/>
                    <a:pt x="593" y="335"/>
                    <a:pt x="591" y="333"/>
                  </a:cubicBezTo>
                  <a:cubicBezTo>
                    <a:pt x="590" y="332"/>
                    <a:pt x="594" y="330"/>
                    <a:pt x="596" y="329"/>
                  </a:cubicBezTo>
                  <a:cubicBezTo>
                    <a:pt x="599" y="328"/>
                    <a:pt x="598" y="324"/>
                    <a:pt x="600" y="323"/>
                  </a:cubicBezTo>
                  <a:cubicBezTo>
                    <a:pt x="602" y="322"/>
                    <a:pt x="601" y="320"/>
                    <a:pt x="603" y="320"/>
                  </a:cubicBezTo>
                  <a:cubicBezTo>
                    <a:pt x="605" y="319"/>
                    <a:pt x="606" y="316"/>
                    <a:pt x="608" y="316"/>
                  </a:cubicBezTo>
                  <a:cubicBezTo>
                    <a:pt x="611" y="316"/>
                    <a:pt x="612" y="312"/>
                    <a:pt x="610" y="311"/>
                  </a:cubicBezTo>
                  <a:cubicBezTo>
                    <a:pt x="609" y="309"/>
                    <a:pt x="611" y="304"/>
                    <a:pt x="613" y="303"/>
                  </a:cubicBezTo>
                  <a:cubicBezTo>
                    <a:pt x="616" y="302"/>
                    <a:pt x="616" y="300"/>
                    <a:pt x="614" y="299"/>
                  </a:cubicBezTo>
                  <a:cubicBezTo>
                    <a:pt x="612" y="297"/>
                    <a:pt x="604" y="292"/>
                    <a:pt x="605" y="289"/>
                  </a:cubicBezTo>
                  <a:cubicBezTo>
                    <a:pt x="605" y="286"/>
                    <a:pt x="604" y="280"/>
                    <a:pt x="605" y="278"/>
                  </a:cubicBezTo>
                  <a:cubicBezTo>
                    <a:pt x="606" y="275"/>
                    <a:pt x="605" y="270"/>
                    <a:pt x="604" y="267"/>
                  </a:cubicBezTo>
                  <a:cubicBezTo>
                    <a:pt x="604" y="264"/>
                    <a:pt x="606" y="261"/>
                    <a:pt x="607" y="255"/>
                  </a:cubicBezTo>
                  <a:cubicBezTo>
                    <a:pt x="608" y="250"/>
                    <a:pt x="601" y="244"/>
                    <a:pt x="598" y="242"/>
                  </a:cubicBezTo>
                  <a:cubicBezTo>
                    <a:pt x="595" y="241"/>
                    <a:pt x="597" y="238"/>
                    <a:pt x="602" y="234"/>
                  </a:cubicBezTo>
                  <a:cubicBezTo>
                    <a:pt x="607" y="230"/>
                    <a:pt x="607" y="217"/>
                    <a:pt x="607" y="215"/>
                  </a:cubicBezTo>
                  <a:cubicBezTo>
                    <a:pt x="606" y="212"/>
                    <a:pt x="596" y="210"/>
                    <a:pt x="593" y="210"/>
                  </a:cubicBezTo>
                  <a:cubicBezTo>
                    <a:pt x="589" y="210"/>
                    <a:pt x="575" y="210"/>
                    <a:pt x="571" y="209"/>
                  </a:cubicBezTo>
                  <a:cubicBezTo>
                    <a:pt x="568" y="208"/>
                    <a:pt x="566" y="212"/>
                    <a:pt x="565" y="215"/>
                  </a:cubicBezTo>
                  <a:cubicBezTo>
                    <a:pt x="563" y="219"/>
                    <a:pt x="559" y="224"/>
                    <a:pt x="557" y="231"/>
                  </a:cubicBezTo>
                  <a:cubicBezTo>
                    <a:pt x="555" y="239"/>
                    <a:pt x="546" y="241"/>
                    <a:pt x="542" y="243"/>
                  </a:cubicBezTo>
                  <a:cubicBezTo>
                    <a:pt x="538" y="245"/>
                    <a:pt x="536" y="250"/>
                    <a:pt x="538" y="253"/>
                  </a:cubicBezTo>
                  <a:cubicBezTo>
                    <a:pt x="539" y="255"/>
                    <a:pt x="542" y="253"/>
                    <a:pt x="544" y="254"/>
                  </a:cubicBezTo>
                  <a:cubicBezTo>
                    <a:pt x="546" y="255"/>
                    <a:pt x="544" y="262"/>
                    <a:pt x="543" y="263"/>
                  </a:cubicBezTo>
                  <a:cubicBezTo>
                    <a:pt x="541" y="264"/>
                    <a:pt x="545" y="267"/>
                    <a:pt x="542" y="269"/>
                  </a:cubicBezTo>
                  <a:cubicBezTo>
                    <a:pt x="539" y="270"/>
                    <a:pt x="536" y="274"/>
                    <a:pt x="538" y="276"/>
                  </a:cubicBezTo>
                  <a:cubicBezTo>
                    <a:pt x="540" y="278"/>
                    <a:pt x="548" y="279"/>
                    <a:pt x="551" y="281"/>
                  </a:cubicBezTo>
                  <a:cubicBezTo>
                    <a:pt x="555" y="283"/>
                    <a:pt x="554" y="287"/>
                    <a:pt x="556" y="290"/>
                  </a:cubicBezTo>
                  <a:cubicBezTo>
                    <a:pt x="559" y="294"/>
                    <a:pt x="562" y="292"/>
                    <a:pt x="563" y="294"/>
                  </a:cubicBezTo>
                  <a:cubicBezTo>
                    <a:pt x="564" y="296"/>
                    <a:pt x="558" y="305"/>
                    <a:pt x="556" y="305"/>
                  </a:cubicBezTo>
                  <a:cubicBezTo>
                    <a:pt x="554" y="305"/>
                    <a:pt x="545" y="296"/>
                    <a:pt x="542" y="294"/>
                  </a:cubicBezTo>
                  <a:cubicBezTo>
                    <a:pt x="540" y="292"/>
                    <a:pt x="529" y="289"/>
                    <a:pt x="524" y="286"/>
                  </a:cubicBezTo>
                  <a:cubicBezTo>
                    <a:pt x="519" y="284"/>
                    <a:pt x="515" y="284"/>
                    <a:pt x="509" y="280"/>
                  </a:cubicBezTo>
                  <a:cubicBezTo>
                    <a:pt x="504" y="276"/>
                    <a:pt x="499" y="275"/>
                    <a:pt x="488" y="275"/>
                  </a:cubicBezTo>
                  <a:cubicBezTo>
                    <a:pt x="478" y="275"/>
                    <a:pt x="471" y="272"/>
                    <a:pt x="468" y="273"/>
                  </a:cubicBezTo>
                  <a:cubicBezTo>
                    <a:pt x="464" y="273"/>
                    <a:pt x="466" y="269"/>
                    <a:pt x="460" y="267"/>
                  </a:cubicBezTo>
                  <a:cubicBezTo>
                    <a:pt x="453" y="264"/>
                    <a:pt x="449" y="260"/>
                    <a:pt x="446" y="262"/>
                  </a:cubicBezTo>
                  <a:cubicBezTo>
                    <a:pt x="442" y="264"/>
                    <a:pt x="444" y="271"/>
                    <a:pt x="449" y="272"/>
                  </a:cubicBezTo>
                  <a:cubicBezTo>
                    <a:pt x="454" y="272"/>
                    <a:pt x="452" y="275"/>
                    <a:pt x="457" y="275"/>
                  </a:cubicBezTo>
                  <a:cubicBezTo>
                    <a:pt x="463" y="275"/>
                    <a:pt x="465" y="277"/>
                    <a:pt x="465" y="280"/>
                  </a:cubicBezTo>
                  <a:cubicBezTo>
                    <a:pt x="464" y="284"/>
                    <a:pt x="467" y="287"/>
                    <a:pt x="470" y="289"/>
                  </a:cubicBezTo>
                  <a:cubicBezTo>
                    <a:pt x="472" y="292"/>
                    <a:pt x="471" y="296"/>
                    <a:pt x="466" y="296"/>
                  </a:cubicBezTo>
                  <a:cubicBezTo>
                    <a:pt x="462" y="296"/>
                    <a:pt x="457" y="296"/>
                    <a:pt x="459" y="299"/>
                  </a:cubicBezTo>
                  <a:cubicBezTo>
                    <a:pt x="461" y="303"/>
                    <a:pt x="457" y="303"/>
                    <a:pt x="453" y="302"/>
                  </a:cubicBezTo>
                  <a:cubicBezTo>
                    <a:pt x="448" y="300"/>
                    <a:pt x="451" y="297"/>
                    <a:pt x="453" y="295"/>
                  </a:cubicBezTo>
                  <a:cubicBezTo>
                    <a:pt x="455" y="293"/>
                    <a:pt x="449" y="291"/>
                    <a:pt x="446" y="290"/>
                  </a:cubicBezTo>
                  <a:cubicBezTo>
                    <a:pt x="443" y="289"/>
                    <a:pt x="432" y="297"/>
                    <a:pt x="429" y="299"/>
                  </a:cubicBezTo>
                  <a:cubicBezTo>
                    <a:pt x="425" y="300"/>
                    <a:pt x="418" y="297"/>
                    <a:pt x="410" y="299"/>
                  </a:cubicBezTo>
                  <a:cubicBezTo>
                    <a:pt x="402" y="301"/>
                    <a:pt x="402" y="307"/>
                    <a:pt x="399" y="306"/>
                  </a:cubicBezTo>
                  <a:cubicBezTo>
                    <a:pt x="396" y="306"/>
                    <a:pt x="387" y="307"/>
                    <a:pt x="384" y="305"/>
                  </a:cubicBezTo>
                  <a:cubicBezTo>
                    <a:pt x="381" y="303"/>
                    <a:pt x="383" y="302"/>
                    <a:pt x="387" y="302"/>
                  </a:cubicBezTo>
                  <a:cubicBezTo>
                    <a:pt x="390" y="302"/>
                    <a:pt x="391" y="301"/>
                    <a:pt x="389" y="299"/>
                  </a:cubicBezTo>
                  <a:cubicBezTo>
                    <a:pt x="387" y="296"/>
                    <a:pt x="392" y="293"/>
                    <a:pt x="392" y="291"/>
                  </a:cubicBezTo>
                  <a:cubicBezTo>
                    <a:pt x="392" y="289"/>
                    <a:pt x="379" y="294"/>
                    <a:pt x="377" y="296"/>
                  </a:cubicBezTo>
                  <a:cubicBezTo>
                    <a:pt x="374" y="297"/>
                    <a:pt x="377" y="301"/>
                    <a:pt x="374" y="302"/>
                  </a:cubicBezTo>
                  <a:cubicBezTo>
                    <a:pt x="372" y="303"/>
                    <a:pt x="372" y="300"/>
                    <a:pt x="369" y="299"/>
                  </a:cubicBezTo>
                  <a:cubicBezTo>
                    <a:pt x="367" y="298"/>
                    <a:pt x="347" y="302"/>
                    <a:pt x="344" y="307"/>
                  </a:cubicBezTo>
                  <a:cubicBezTo>
                    <a:pt x="340" y="311"/>
                    <a:pt x="333" y="311"/>
                    <a:pt x="333" y="313"/>
                  </a:cubicBezTo>
                  <a:cubicBezTo>
                    <a:pt x="333" y="316"/>
                    <a:pt x="324" y="315"/>
                    <a:pt x="320" y="317"/>
                  </a:cubicBezTo>
                  <a:cubicBezTo>
                    <a:pt x="317" y="319"/>
                    <a:pt x="319" y="326"/>
                    <a:pt x="318" y="329"/>
                  </a:cubicBezTo>
                  <a:cubicBezTo>
                    <a:pt x="317" y="332"/>
                    <a:pt x="303" y="331"/>
                    <a:pt x="299" y="331"/>
                  </a:cubicBezTo>
                  <a:cubicBezTo>
                    <a:pt x="295" y="332"/>
                    <a:pt x="293" y="323"/>
                    <a:pt x="290" y="323"/>
                  </a:cubicBezTo>
                  <a:cubicBezTo>
                    <a:pt x="286" y="322"/>
                    <a:pt x="288" y="318"/>
                    <a:pt x="289" y="316"/>
                  </a:cubicBezTo>
                  <a:cubicBezTo>
                    <a:pt x="290" y="314"/>
                    <a:pt x="293" y="315"/>
                    <a:pt x="297" y="313"/>
                  </a:cubicBezTo>
                  <a:cubicBezTo>
                    <a:pt x="301" y="310"/>
                    <a:pt x="306" y="314"/>
                    <a:pt x="307" y="312"/>
                  </a:cubicBezTo>
                  <a:cubicBezTo>
                    <a:pt x="309" y="310"/>
                    <a:pt x="301" y="306"/>
                    <a:pt x="300" y="301"/>
                  </a:cubicBezTo>
                  <a:cubicBezTo>
                    <a:pt x="300" y="297"/>
                    <a:pt x="291" y="296"/>
                    <a:pt x="286" y="297"/>
                  </a:cubicBezTo>
                  <a:cubicBezTo>
                    <a:pt x="281" y="299"/>
                    <a:pt x="276" y="298"/>
                    <a:pt x="272" y="296"/>
                  </a:cubicBezTo>
                  <a:cubicBezTo>
                    <a:pt x="269" y="294"/>
                    <a:pt x="269" y="299"/>
                    <a:pt x="274" y="300"/>
                  </a:cubicBezTo>
                  <a:cubicBezTo>
                    <a:pt x="279" y="302"/>
                    <a:pt x="277" y="306"/>
                    <a:pt x="277" y="308"/>
                  </a:cubicBezTo>
                  <a:cubicBezTo>
                    <a:pt x="278" y="311"/>
                    <a:pt x="276" y="316"/>
                    <a:pt x="273" y="321"/>
                  </a:cubicBezTo>
                  <a:cubicBezTo>
                    <a:pt x="270" y="325"/>
                    <a:pt x="272" y="325"/>
                    <a:pt x="277" y="325"/>
                  </a:cubicBezTo>
                  <a:cubicBezTo>
                    <a:pt x="281" y="324"/>
                    <a:pt x="281" y="330"/>
                    <a:pt x="281" y="335"/>
                  </a:cubicBezTo>
                  <a:cubicBezTo>
                    <a:pt x="281" y="339"/>
                    <a:pt x="277" y="340"/>
                    <a:pt x="277" y="343"/>
                  </a:cubicBezTo>
                  <a:cubicBezTo>
                    <a:pt x="277" y="346"/>
                    <a:pt x="274" y="342"/>
                    <a:pt x="273" y="343"/>
                  </a:cubicBezTo>
                  <a:cubicBezTo>
                    <a:pt x="271" y="344"/>
                    <a:pt x="270" y="342"/>
                    <a:pt x="269" y="340"/>
                  </a:cubicBezTo>
                  <a:cubicBezTo>
                    <a:pt x="269" y="337"/>
                    <a:pt x="262" y="339"/>
                    <a:pt x="258" y="338"/>
                  </a:cubicBezTo>
                  <a:cubicBezTo>
                    <a:pt x="254" y="337"/>
                    <a:pt x="253" y="338"/>
                    <a:pt x="251" y="341"/>
                  </a:cubicBezTo>
                  <a:cubicBezTo>
                    <a:pt x="249" y="344"/>
                    <a:pt x="244" y="345"/>
                    <a:pt x="241" y="345"/>
                  </a:cubicBezTo>
                  <a:cubicBezTo>
                    <a:pt x="238" y="346"/>
                    <a:pt x="233" y="351"/>
                    <a:pt x="230" y="353"/>
                  </a:cubicBezTo>
                  <a:cubicBezTo>
                    <a:pt x="227" y="355"/>
                    <a:pt x="226" y="359"/>
                    <a:pt x="231" y="363"/>
                  </a:cubicBezTo>
                  <a:cubicBezTo>
                    <a:pt x="235" y="367"/>
                    <a:pt x="236" y="370"/>
                    <a:pt x="235" y="372"/>
                  </a:cubicBezTo>
                  <a:cubicBezTo>
                    <a:pt x="235" y="374"/>
                    <a:pt x="224" y="373"/>
                    <a:pt x="222" y="371"/>
                  </a:cubicBezTo>
                  <a:cubicBezTo>
                    <a:pt x="220" y="369"/>
                    <a:pt x="213" y="368"/>
                    <a:pt x="210" y="368"/>
                  </a:cubicBezTo>
                  <a:cubicBezTo>
                    <a:pt x="208" y="369"/>
                    <a:pt x="201" y="361"/>
                    <a:pt x="197" y="361"/>
                  </a:cubicBezTo>
                  <a:cubicBezTo>
                    <a:pt x="194" y="361"/>
                    <a:pt x="192" y="365"/>
                    <a:pt x="190" y="367"/>
                  </a:cubicBezTo>
                  <a:cubicBezTo>
                    <a:pt x="189" y="369"/>
                    <a:pt x="192" y="370"/>
                    <a:pt x="194" y="374"/>
                  </a:cubicBezTo>
                  <a:cubicBezTo>
                    <a:pt x="195" y="377"/>
                    <a:pt x="202" y="377"/>
                    <a:pt x="205" y="377"/>
                  </a:cubicBezTo>
                  <a:cubicBezTo>
                    <a:pt x="208" y="377"/>
                    <a:pt x="207" y="382"/>
                    <a:pt x="206" y="384"/>
                  </a:cubicBezTo>
                  <a:cubicBezTo>
                    <a:pt x="205" y="386"/>
                    <a:pt x="199" y="388"/>
                    <a:pt x="197" y="386"/>
                  </a:cubicBezTo>
                  <a:cubicBezTo>
                    <a:pt x="196" y="383"/>
                    <a:pt x="189" y="386"/>
                    <a:pt x="188" y="383"/>
                  </a:cubicBezTo>
                  <a:cubicBezTo>
                    <a:pt x="188" y="380"/>
                    <a:pt x="183" y="376"/>
                    <a:pt x="178" y="377"/>
                  </a:cubicBezTo>
                  <a:cubicBezTo>
                    <a:pt x="173" y="378"/>
                    <a:pt x="172" y="375"/>
                    <a:pt x="172" y="371"/>
                  </a:cubicBezTo>
                  <a:cubicBezTo>
                    <a:pt x="173" y="367"/>
                    <a:pt x="169" y="364"/>
                    <a:pt x="170" y="362"/>
                  </a:cubicBezTo>
                  <a:cubicBezTo>
                    <a:pt x="170" y="361"/>
                    <a:pt x="167" y="357"/>
                    <a:pt x="170" y="355"/>
                  </a:cubicBezTo>
                  <a:cubicBezTo>
                    <a:pt x="173" y="353"/>
                    <a:pt x="171" y="350"/>
                    <a:pt x="171" y="348"/>
                  </a:cubicBezTo>
                  <a:cubicBezTo>
                    <a:pt x="171" y="345"/>
                    <a:pt x="166" y="342"/>
                    <a:pt x="162" y="342"/>
                  </a:cubicBezTo>
                  <a:cubicBezTo>
                    <a:pt x="158" y="342"/>
                    <a:pt x="159" y="337"/>
                    <a:pt x="155" y="337"/>
                  </a:cubicBezTo>
                  <a:cubicBezTo>
                    <a:pt x="152" y="336"/>
                    <a:pt x="145" y="330"/>
                    <a:pt x="144" y="327"/>
                  </a:cubicBezTo>
                  <a:cubicBezTo>
                    <a:pt x="144" y="325"/>
                    <a:pt x="138" y="325"/>
                    <a:pt x="140" y="324"/>
                  </a:cubicBezTo>
                  <a:cubicBezTo>
                    <a:pt x="142" y="323"/>
                    <a:pt x="146" y="324"/>
                    <a:pt x="149" y="327"/>
                  </a:cubicBezTo>
                  <a:cubicBezTo>
                    <a:pt x="152" y="330"/>
                    <a:pt x="157" y="333"/>
                    <a:pt x="165" y="334"/>
                  </a:cubicBezTo>
                  <a:cubicBezTo>
                    <a:pt x="173" y="335"/>
                    <a:pt x="176" y="338"/>
                    <a:pt x="185" y="340"/>
                  </a:cubicBezTo>
                  <a:cubicBezTo>
                    <a:pt x="193" y="341"/>
                    <a:pt x="198" y="342"/>
                    <a:pt x="211" y="344"/>
                  </a:cubicBezTo>
                  <a:cubicBezTo>
                    <a:pt x="223" y="346"/>
                    <a:pt x="240" y="333"/>
                    <a:pt x="244" y="330"/>
                  </a:cubicBezTo>
                  <a:cubicBezTo>
                    <a:pt x="247" y="326"/>
                    <a:pt x="243" y="319"/>
                    <a:pt x="243" y="317"/>
                  </a:cubicBezTo>
                  <a:cubicBezTo>
                    <a:pt x="243" y="314"/>
                    <a:pt x="237" y="314"/>
                    <a:pt x="236" y="312"/>
                  </a:cubicBezTo>
                  <a:cubicBezTo>
                    <a:pt x="235" y="310"/>
                    <a:pt x="232" y="306"/>
                    <a:pt x="227" y="306"/>
                  </a:cubicBezTo>
                  <a:cubicBezTo>
                    <a:pt x="222" y="306"/>
                    <a:pt x="221" y="300"/>
                    <a:pt x="217" y="301"/>
                  </a:cubicBezTo>
                  <a:cubicBezTo>
                    <a:pt x="214" y="301"/>
                    <a:pt x="211" y="299"/>
                    <a:pt x="201" y="292"/>
                  </a:cubicBezTo>
                  <a:cubicBezTo>
                    <a:pt x="191" y="286"/>
                    <a:pt x="177" y="281"/>
                    <a:pt x="175" y="282"/>
                  </a:cubicBezTo>
                  <a:cubicBezTo>
                    <a:pt x="172" y="283"/>
                    <a:pt x="170" y="284"/>
                    <a:pt x="169" y="281"/>
                  </a:cubicBezTo>
                  <a:cubicBezTo>
                    <a:pt x="167" y="279"/>
                    <a:pt x="163" y="279"/>
                    <a:pt x="161" y="281"/>
                  </a:cubicBezTo>
                  <a:cubicBezTo>
                    <a:pt x="158" y="283"/>
                    <a:pt x="155" y="279"/>
                    <a:pt x="150" y="281"/>
                  </a:cubicBezTo>
                  <a:cubicBezTo>
                    <a:pt x="145" y="282"/>
                    <a:pt x="143" y="278"/>
                    <a:pt x="144" y="277"/>
                  </a:cubicBezTo>
                  <a:cubicBezTo>
                    <a:pt x="145" y="275"/>
                    <a:pt x="153" y="277"/>
                    <a:pt x="152" y="274"/>
                  </a:cubicBezTo>
                  <a:cubicBezTo>
                    <a:pt x="152" y="272"/>
                    <a:pt x="149" y="274"/>
                    <a:pt x="145" y="271"/>
                  </a:cubicBezTo>
                  <a:cubicBezTo>
                    <a:pt x="140" y="268"/>
                    <a:pt x="138" y="270"/>
                    <a:pt x="137" y="273"/>
                  </a:cubicBezTo>
                  <a:cubicBezTo>
                    <a:pt x="136" y="275"/>
                    <a:pt x="132" y="275"/>
                    <a:pt x="130" y="272"/>
                  </a:cubicBezTo>
                  <a:cubicBezTo>
                    <a:pt x="130" y="272"/>
                    <a:pt x="129" y="272"/>
                    <a:pt x="129" y="272"/>
                  </a:cubicBezTo>
                  <a:cubicBezTo>
                    <a:pt x="128" y="276"/>
                    <a:pt x="126" y="276"/>
                    <a:pt x="123" y="276"/>
                  </a:cubicBezTo>
                  <a:cubicBezTo>
                    <a:pt x="120" y="275"/>
                    <a:pt x="117" y="280"/>
                    <a:pt x="114" y="280"/>
                  </a:cubicBezTo>
                  <a:cubicBezTo>
                    <a:pt x="111" y="280"/>
                    <a:pt x="107" y="284"/>
                    <a:pt x="106" y="287"/>
                  </a:cubicBezTo>
                  <a:cubicBezTo>
                    <a:pt x="106" y="290"/>
                    <a:pt x="102" y="288"/>
                    <a:pt x="102" y="290"/>
                  </a:cubicBezTo>
                  <a:cubicBezTo>
                    <a:pt x="102" y="292"/>
                    <a:pt x="102" y="294"/>
                    <a:pt x="100" y="296"/>
                  </a:cubicBezTo>
                  <a:cubicBezTo>
                    <a:pt x="99" y="298"/>
                    <a:pt x="100" y="299"/>
                    <a:pt x="102" y="303"/>
                  </a:cubicBezTo>
                  <a:cubicBezTo>
                    <a:pt x="104" y="306"/>
                    <a:pt x="107" y="306"/>
                    <a:pt x="109" y="307"/>
                  </a:cubicBezTo>
                  <a:cubicBezTo>
                    <a:pt x="111" y="308"/>
                    <a:pt x="117" y="313"/>
                    <a:pt x="117" y="315"/>
                  </a:cubicBezTo>
                  <a:cubicBezTo>
                    <a:pt x="117" y="317"/>
                    <a:pt x="112" y="322"/>
                    <a:pt x="110" y="323"/>
                  </a:cubicBezTo>
                  <a:cubicBezTo>
                    <a:pt x="108" y="325"/>
                    <a:pt x="105" y="328"/>
                    <a:pt x="107" y="330"/>
                  </a:cubicBezTo>
                  <a:cubicBezTo>
                    <a:pt x="108" y="332"/>
                    <a:pt x="114" y="340"/>
                    <a:pt x="117" y="347"/>
                  </a:cubicBezTo>
                  <a:cubicBezTo>
                    <a:pt x="121" y="354"/>
                    <a:pt x="116" y="351"/>
                    <a:pt x="114" y="354"/>
                  </a:cubicBezTo>
                  <a:cubicBezTo>
                    <a:pt x="111" y="357"/>
                    <a:pt x="115" y="360"/>
                    <a:pt x="115" y="362"/>
                  </a:cubicBezTo>
                  <a:cubicBezTo>
                    <a:pt x="116" y="364"/>
                    <a:pt x="112" y="364"/>
                    <a:pt x="113" y="366"/>
                  </a:cubicBezTo>
                  <a:cubicBezTo>
                    <a:pt x="113" y="367"/>
                    <a:pt x="118" y="368"/>
                    <a:pt x="118" y="369"/>
                  </a:cubicBezTo>
                  <a:cubicBezTo>
                    <a:pt x="119" y="371"/>
                    <a:pt x="115" y="372"/>
                    <a:pt x="117" y="375"/>
                  </a:cubicBezTo>
                  <a:cubicBezTo>
                    <a:pt x="118" y="378"/>
                    <a:pt x="122" y="378"/>
                    <a:pt x="123" y="381"/>
                  </a:cubicBezTo>
                  <a:cubicBezTo>
                    <a:pt x="123" y="384"/>
                    <a:pt x="115" y="385"/>
                    <a:pt x="116" y="387"/>
                  </a:cubicBezTo>
                  <a:cubicBezTo>
                    <a:pt x="116" y="390"/>
                    <a:pt x="126" y="393"/>
                    <a:pt x="130" y="398"/>
                  </a:cubicBezTo>
                  <a:cubicBezTo>
                    <a:pt x="134" y="403"/>
                    <a:pt x="134" y="405"/>
                    <a:pt x="133" y="407"/>
                  </a:cubicBezTo>
                  <a:cubicBezTo>
                    <a:pt x="131" y="413"/>
                    <a:pt x="119" y="417"/>
                    <a:pt x="116" y="423"/>
                  </a:cubicBezTo>
                  <a:cubicBezTo>
                    <a:pt x="114" y="429"/>
                    <a:pt x="104" y="433"/>
                    <a:pt x="99" y="437"/>
                  </a:cubicBezTo>
                  <a:cubicBezTo>
                    <a:pt x="97" y="439"/>
                    <a:pt x="95" y="442"/>
                    <a:pt x="94" y="444"/>
                  </a:cubicBezTo>
                  <a:cubicBezTo>
                    <a:pt x="96" y="444"/>
                    <a:pt x="97" y="443"/>
                    <a:pt x="98" y="442"/>
                  </a:cubicBezTo>
                  <a:cubicBezTo>
                    <a:pt x="101" y="441"/>
                    <a:pt x="103" y="448"/>
                    <a:pt x="106" y="450"/>
                  </a:cubicBezTo>
                  <a:cubicBezTo>
                    <a:pt x="108" y="452"/>
                    <a:pt x="114" y="450"/>
                    <a:pt x="115" y="452"/>
                  </a:cubicBezTo>
                  <a:cubicBezTo>
                    <a:pt x="117" y="454"/>
                    <a:pt x="114" y="454"/>
                    <a:pt x="110" y="453"/>
                  </a:cubicBezTo>
                  <a:cubicBezTo>
                    <a:pt x="106" y="453"/>
                    <a:pt x="105" y="455"/>
                    <a:pt x="99" y="457"/>
                  </a:cubicBezTo>
                  <a:cubicBezTo>
                    <a:pt x="95" y="459"/>
                    <a:pt x="95" y="460"/>
                    <a:pt x="94" y="461"/>
                  </a:cubicBezTo>
                  <a:cubicBezTo>
                    <a:pt x="96" y="465"/>
                    <a:pt x="93" y="466"/>
                    <a:pt x="91" y="469"/>
                  </a:cubicBezTo>
                  <a:cubicBezTo>
                    <a:pt x="90" y="472"/>
                    <a:pt x="88" y="473"/>
                    <a:pt x="88" y="475"/>
                  </a:cubicBezTo>
                  <a:cubicBezTo>
                    <a:pt x="87" y="477"/>
                    <a:pt x="88" y="478"/>
                    <a:pt x="88" y="481"/>
                  </a:cubicBezTo>
                  <a:cubicBezTo>
                    <a:pt x="89" y="484"/>
                    <a:pt x="89" y="485"/>
                    <a:pt x="91" y="487"/>
                  </a:cubicBezTo>
                  <a:cubicBezTo>
                    <a:pt x="93" y="490"/>
                    <a:pt x="89" y="490"/>
                    <a:pt x="88" y="491"/>
                  </a:cubicBezTo>
                  <a:cubicBezTo>
                    <a:pt x="86" y="492"/>
                    <a:pt x="87" y="495"/>
                    <a:pt x="89" y="497"/>
                  </a:cubicBezTo>
                  <a:cubicBezTo>
                    <a:pt x="91" y="499"/>
                    <a:pt x="91" y="501"/>
                    <a:pt x="91" y="503"/>
                  </a:cubicBezTo>
                  <a:cubicBezTo>
                    <a:pt x="90" y="505"/>
                    <a:pt x="92" y="508"/>
                    <a:pt x="94" y="510"/>
                  </a:cubicBezTo>
                  <a:cubicBezTo>
                    <a:pt x="96" y="511"/>
                    <a:pt x="96" y="516"/>
                    <a:pt x="97" y="517"/>
                  </a:cubicBezTo>
                  <a:cubicBezTo>
                    <a:pt x="99" y="519"/>
                    <a:pt x="100" y="520"/>
                    <a:pt x="103" y="519"/>
                  </a:cubicBezTo>
                  <a:cubicBezTo>
                    <a:pt x="106" y="518"/>
                    <a:pt x="108" y="520"/>
                    <a:pt x="109" y="522"/>
                  </a:cubicBezTo>
                  <a:cubicBezTo>
                    <a:pt x="110" y="524"/>
                    <a:pt x="112" y="523"/>
                    <a:pt x="115" y="522"/>
                  </a:cubicBezTo>
                  <a:cubicBezTo>
                    <a:pt x="118" y="521"/>
                    <a:pt x="124" y="524"/>
                    <a:pt x="125" y="525"/>
                  </a:cubicBezTo>
                  <a:cubicBezTo>
                    <a:pt x="127" y="526"/>
                    <a:pt x="126" y="530"/>
                    <a:pt x="126" y="533"/>
                  </a:cubicBezTo>
                  <a:cubicBezTo>
                    <a:pt x="127" y="535"/>
                    <a:pt x="125" y="539"/>
                    <a:pt x="128" y="541"/>
                  </a:cubicBezTo>
                  <a:cubicBezTo>
                    <a:pt x="130" y="542"/>
                    <a:pt x="130" y="546"/>
                    <a:pt x="133" y="548"/>
                  </a:cubicBezTo>
                  <a:cubicBezTo>
                    <a:pt x="136" y="549"/>
                    <a:pt x="137" y="553"/>
                    <a:pt x="139" y="554"/>
                  </a:cubicBezTo>
                  <a:cubicBezTo>
                    <a:pt x="141" y="554"/>
                    <a:pt x="145" y="557"/>
                    <a:pt x="146" y="560"/>
                  </a:cubicBezTo>
                  <a:cubicBezTo>
                    <a:pt x="146" y="562"/>
                    <a:pt x="142" y="564"/>
                    <a:pt x="140" y="565"/>
                  </a:cubicBezTo>
                  <a:cubicBezTo>
                    <a:pt x="138" y="566"/>
                    <a:pt x="133" y="562"/>
                    <a:pt x="132" y="564"/>
                  </a:cubicBezTo>
                  <a:cubicBezTo>
                    <a:pt x="130" y="565"/>
                    <a:pt x="132" y="569"/>
                    <a:pt x="134" y="574"/>
                  </a:cubicBezTo>
                  <a:cubicBezTo>
                    <a:pt x="135" y="580"/>
                    <a:pt x="136" y="580"/>
                    <a:pt x="138" y="580"/>
                  </a:cubicBezTo>
                  <a:cubicBezTo>
                    <a:pt x="141" y="580"/>
                    <a:pt x="142" y="578"/>
                    <a:pt x="144" y="577"/>
                  </a:cubicBezTo>
                  <a:cubicBezTo>
                    <a:pt x="145" y="576"/>
                    <a:pt x="149" y="578"/>
                    <a:pt x="151" y="577"/>
                  </a:cubicBezTo>
                  <a:cubicBezTo>
                    <a:pt x="153" y="576"/>
                    <a:pt x="159" y="576"/>
                    <a:pt x="160" y="578"/>
                  </a:cubicBezTo>
                  <a:cubicBezTo>
                    <a:pt x="162" y="580"/>
                    <a:pt x="163" y="585"/>
                    <a:pt x="162" y="587"/>
                  </a:cubicBezTo>
                  <a:cubicBezTo>
                    <a:pt x="161" y="588"/>
                    <a:pt x="163" y="590"/>
                    <a:pt x="164" y="593"/>
                  </a:cubicBezTo>
                  <a:cubicBezTo>
                    <a:pt x="166" y="595"/>
                    <a:pt x="171" y="594"/>
                    <a:pt x="173" y="595"/>
                  </a:cubicBezTo>
                  <a:cubicBezTo>
                    <a:pt x="174" y="596"/>
                    <a:pt x="178" y="601"/>
                    <a:pt x="178" y="604"/>
                  </a:cubicBezTo>
                  <a:cubicBezTo>
                    <a:pt x="177" y="606"/>
                    <a:pt x="180" y="607"/>
                    <a:pt x="182" y="606"/>
                  </a:cubicBezTo>
                  <a:cubicBezTo>
                    <a:pt x="184" y="605"/>
                    <a:pt x="185" y="607"/>
                    <a:pt x="187" y="608"/>
                  </a:cubicBezTo>
                  <a:cubicBezTo>
                    <a:pt x="189" y="610"/>
                    <a:pt x="191" y="609"/>
                    <a:pt x="193" y="608"/>
                  </a:cubicBezTo>
                  <a:cubicBezTo>
                    <a:pt x="195" y="607"/>
                    <a:pt x="198" y="606"/>
                    <a:pt x="199" y="607"/>
                  </a:cubicBezTo>
                  <a:cubicBezTo>
                    <a:pt x="200" y="609"/>
                    <a:pt x="204" y="612"/>
                    <a:pt x="204" y="613"/>
                  </a:cubicBezTo>
                  <a:cubicBezTo>
                    <a:pt x="204" y="614"/>
                    <a:pt x="211" y="613"/>
                    <a:pt x="214" y="615"/>
                  </a:cubicBezTo>
                  <a:cubicBezTo>
                    <a:pt x="217" y="616"/>
                    <a:pt x="220" y="616"/>
                    <a:pt x="223" y="617"/>
                  </a:cubicBezTo>
                  <a:cubicBezTo>
                    <a:pt x="226" y="619"/>
                    <a:pt x="229" y="619"/>
                    <a:pt x="230" y="621"/>
                  </a:cubicBezTo>
                  <a:cubicBezTo>
                    <a:pt x="230" y="623"/>
                    <a:pt x="226" y="625"/>
                    <a:pt x="226" y="626"/>
                  </a:cubicBezTo>
                  <a:cubicBezTo>
                    <a:pt x="226" y="627"/>
                    <a:pt x="229" y="628"/>
                    <a:pt x="229" y="629"/>
                  </a:cubicBezTo>
                  <a:cubicBezTo>
                    <a:pt x="229" y="631"/>
                    <a:pt x="226" y="631"/>
                    <a:pt x="225" y="632"/>
                  </a:cubicBezTo>
                  <a:cubicBezTo>
                    <a:pt x="225" y="633"/>
                    <a:pt x="227" y="635"/>
                    <a:pt x="228" y="636"/>
                  </a:cubicBezTo>
                  <a:cubicBezTo>
                    <a:pt x="228" y="638"/>
                    <a:pt x="226" y="642"/>
                    <a:pt x="226" y="643"/>
                  </a:cubicBezTo>
                  <a:cubicBezTo>
                    <a:pt x="226" y="644"/>
                    <a:pt x="218" y="643"/>
                    <a:pt x="216" y="643"/>
                  </a:cubicBezTo>
                  <a:cubicBezTo>
                    <a:pt x="215" y="643"/>
                    <a:pt x="209" y="649"/>
                    <a:pt x="208" y="649"/>
                  </a:cubicBezTo>
                  <a:cubicBezTo>
                    <a:pt x="206" y="649"/>
                    <a:pt x="207" y="652"/>
                    <a:pt x="207" y="654"/>
                  </a:cubicBezTo>
                  <a:cubicBezTo>
                    <a:pt x="213" y="653"/>
                    <a:pt x="218" y="653"/>
                    <a:pt x="219" y="654"/>
                  </a:cubicBezTo>
                  <a:cubicBezTo>
                    <a:pt x="220" y="656"/>
                    <a:pt x="207" y="661"/>
                    <a:pt x="205" y="662"/>
                  </a:cubicBezTo>
                  <a:cubicBezTo>
                    <a:pt x="203" y="663"/>
                    <a:pt x="209" y="666"/>
                    <a:pt x="209" y="668"/>
                  </a:cubicBezTo>
                  <a:cubicBezTo>
                    <a:pt x="209" y="670"/>
                    <a:pt x="202" y="671"/>
                    <a:pt x="203" y="675"/>
                  </a:cubicBezTo>
                  <a:cubicBezTo>
                    <a:pt x="203" y="679"/>
                    <a:pt x="200" y="680"/>
                    <a:pt x="196" y="680"/>
                  </a:cubicBezTo>
                  <a:cubicBezTo>
                    <a:pt x="193" y="680"/>
                    <a:pt x="192" y="682"/>
                    <a:pt x="193" y="682"/>
                  </a:cubicBezTo>
                  <a:cubicBezTo>
                    <a:pt x="195" y="683"/>
                    <a:pt x="195" y="688"/>
                    <a:pt x="202" y="690"/>
                  </a:cubicBezTo>
                  <a:cubicBezTo>
                    <a:pt x="209" y="691"/>
                    <a:pt x="217" y="698"/>
                    <a:pt x="223" y="705"/>
                  </a:cubicBezTo>
                  <a:cubicBezTo>
                    <a:pt x="224" y="706"/>
                    <a:pt x="225" y="706"/>
                    <a:pt x="226" y="707"/>
                  </a:cubicBezTo>
                  <a:cubicBezTo>
                    <a:pt x="228" y="706"/>
                    <a:pt x="229" y="705"/>
                    <a:pt x="230" y="705"/>
                  </a:cubicBezTo>
                  <a:cubicBezTo>
                    <a:pt x="234" y="705"/>
                    <a:pt x="240" y="707"/>
                    <a:pt x="244" y="709"/>
                  </a:cubicBezTo>
                  <a:cubicBezTo>
                    <a:pt x="247" y="712"/>
                    <a:pt x="260" y="709"/>
                    <a:pt x="261" y="711"/>
                  </a:cubicBezTo>
                  <a:cubicBezTo>
                    <a:pt x="263" y="713"/>
                    <a:pt x="266" y="715"/>
                    <a:pt x="268" y="715"/>
                  </a:cubicBezTo>
                  <a:cubicBezTo>
                    <a:pt x="271" y="715"/>
                    <a:pt x="273" y="720"/>
                    <a:pt x="275" y="719"/>
                  </a:cubicBezTo>
                  <a:cubicBezTo>
                    <a:pt x="277" y="717"/>
                    <a:pt x="285" y="717"/>
                    <a:pt x="287" y="717"/>
                  </a:cubicBezTo>
                  <a:cubicBezTo>
                    <a:pt x="289" y="717"/>
                    <a:pt x="289" y="719"/>
                    <a:pt x="291" y="719"/>
                  </a:cubicBezTo>
                  <a:cubicBezTo>
                    <a:pt x="293" y="719"/>
                    <a:pt x="293" y="726"/>
                    <a:pt x="294" y="726"/>
                  </a:cubicBezTo>
                  <a:cubicBezTo>
                    <a:pt x="296" y="725"/>
                    <a:pt x="301" y="730"/>
                    <a:pt x="305" y="731"/>
                  </a:cubicBezTo>
                  <a:cubicBezTo>
                    <a:pt x="308" y="731"/>
                    <a:pt x="312" y="737"/>
                    <a:pt x="313" y="737"/>
                  </a:cubicBezTo>
                  <a:cubicBezTo>
                    <a:pt x="315" y="736"/>
                    <a:pt x="317" y="739"/>
                    <a:pt x="318" y="737"/>
                  </a:cubicBezTo>
                  <a:cubicBezTo>
                    <a:pt x="319" y="734"/>
                    <a:pt x="324" y="735"/>
                    <a:pt x="326" y="731"/>
                  </a:cubicBezTo>
                  <a:cubicBezTo>
                    <a:pt x="319" y="723"/>
                    <a:pt x="312" y="715"/>
                    <a:pt x="313" y="712"/>
                  </a:cubicBezTo>
                  <a:cubicBezTo>
                    <a:pt x="313" y="706"/>
                    <a:pt x="315" y="702"/>
                    <a:pt x="308" y="696"/>
                  </a:cubicBezTo>
                  <a:cubicBezTo>
                    <a:pt x="301" y="690"/>
                    <a:pt x="309" y="686"/>
                    <a:pt x="314" y="680"/>
                  </a:cubicBezTo>
                  <a:cubicBezTo>
                    <a:pt x="318" y="674"/>
                    <a:pt x="328" y="672"/>
                    <a:pt x="334" y="668"/>
                  </a:cubicBezTo>
                  <a:cubicBezTo>
                    <a:pt x="333" y="667"/>
                    <a:pt x="332" y="666"/>
                    <a:pt x="330" y="666"/>
                  </a:cubicBezTo>
                  <a:cubicBezTo>
                    <a:pt x="326" y="664"/>
                    <a:pt x="324" y="662"/>
                    <a:pt x="328" y="661"/>
                  </a:cubicBezTo>
                  <a:cubicBezTo>
                    <a:pt x="331" y="660"/>
                    <a:pt x="330" y="658"/>
                    <a:pt x="326" y="654"/>
                  </a:cubicBezTo>
                  <a:cubicBezTo>
                    <a:pt x="323" y="650"/>
                    <a:pt x="321" y="646"/>
                    <a:pt x="319" y="646"/>
                  </a:cubicBezTo>
                  <a:cubicBezTo>
                    <a:pt x="317" y="646"/>
                    <a:pt x="314" y="645"/>
                    <a:pt x="311" y="646"/>
                  </a:cubicBezTo>
                  <a:cubicBezTo>
                    <a:pt x="308" y="647"/>
                    <a:pt x="309" y="644"/>
                    <a:pt x="309" y="640"/>
                  </a:cubicBezTo>
                  <a:cubicBezTo>
                    <a:pt x="310" y="637"/>
                    <a:pt x="304" y="637"/>
                    <a:pt x="303" y="636"/>
                  </a:cubicBezTo>
                  <a:cubicBezTo>
                    <a:pt x="302" y="634"/>
                    <a:pt x="304" y="629"/>
                    <a:pt x="305" y="629"/>
                  </a:cubicBezTo>
                  <a:cubicBezTo>
                    <a:pt x="306" y="628"/>
                    <a:pt x="309" y="627"/>
                    <a:pt x="309" y="625"/>
                  </a:cubicBezTo>
                  <a:cubicBezTo>
                    <a:pt x="309" y="624"/>
                    <a:pt x="304" y="623"/>
                    <a:pt x="306" y="620"/>
                  </a:cubicBezTo>
                  <a:cubicBezTo>
                    <a:pt x="308" y="616"/>
                    <a:pt x="312" y="616"/>
                    <a:pt x="312" y="613"/>
                  </a:cubicBezTo>
                  <a:cubicBezTo>
                    <a:pt x="312" y="609"/>
                    <a:pt x="315" y="606"/>
                    <a:pt x="318" y="609"/>
                  </a:cubicBezTo>
                  <a:cubicBezTo>
                    <a:pt x="322" y="611"/>
                    <a:pt x="323" y="618"/>
                    <a:pt x="327" y="616"/>
                  </a:cubicBezTo>
                  <a:cubicBezTo>
                    <a:pt x="331" y="615"/>
                    <a:pt x="329" y="611"/>
                    <a:pt x="328" y="609"/>
                  </a:cubicBezTo>
                  <a:cubicBezTo>
                    <a:pt x="328" y="607"/>
                    <a:pt x="327" y="604"/>
                    <a:pt x="331" y="603"/>
                  </a:cubicBezTo>
                  <a:cubicBezTo>
                    <a:pt x="336" y="602"/>
                    <a:pt x="334" y="598"/>
                    <a:pt x="337" y="598"/>
                  </a:cubicBezTo>
                  <a:cubicBezTo>
                    <a:pt x="341" y="598"/>
                    <a:pt x="347" y="593"/>
                    <a:pt x="349" y="592"/>
                  </a:cubicBezTo>
                  <a:cubicBezTo>
                    <a:pt x="351" y="591"/>
                    <a:pt x="356" y="589"/>
                    <a:pt x="358" y="590"/>
                  </a:cubicBezTo>
                  <a:cubicBezTo>
                    <a:pt x="360" y="591"/>
                    <a:pt x="362" y="593"/>
                    <a:pt x="364" y="590"/>
                  </a:cubicBezTo>
                  <a:cubicBezTo>
                    <a:pt x="365" y="586"/>
                    <a:pt x="371" y="588"/>
                    <a:pt x="372" y="590"/>
                  </a:cubicBezTo>
                  <a:cubicBezTo>
                    <a:pt x="372" y="592"/>
                    <a:pt x="382" y="592"/>
                    <a:pt x="385" y="594"/>
                  </a:cubicBezTo>
                  <a:cubicBezTo>
                    <a:pt x="388" y="596"/>
                    <a:pt x="394" y="600"/>
                    <a:pt x="394" y="602"/>
                  </a:cubicBezTo>
                  <a:cubicBezTo>
                    <a:pt x="394" y="604"/>
                    <a:pt x="397" y="607"/>
                    <a:pt x="397" y="603"/>
                  </a:cubicBezTo>
                  <a:cubicBezTo>
                    <a:pt x="397" y="600"/>
                    <a:pt x="400" y="601"/>
                    <a:pt x="404" y="603"/>
                  </a:cubicBezTo>
                  <a:cubicBezTo>
                    <a:pt x="408" y="606"/>
                    <a:pt x="413" y="605"/>
                    <a:pt x="414" y="602"/>
                  </a:cubicBezTo>
                  <a:cubicBezTo>
                    <a:pt x="415" y="600"/>
                    <a:pt x="423" y="597"/>
                    <a:pt x="425" y="599"/>
                  </a:cubicBezTo>
                  <a:cubicBezTo>
                    <a:pt x="428" y="601"/>
                    <a:pt x="429" y="602"/>
                    <a:pt x="432" y="599"/>
                  </a:cubicBezTo>
                  <a:cubicBezTo>
                    <a:pt x="435" y="596"/>
                    <a:pt x="442" y="597"/>
                    <a:pt x="443" y="600"/>
                  </a:cubicBezTo>
                  <a:cubicBezTo>
                    <a:pt x="444" y="603"/>
                    <a:pt x="447" y="603"/>
                    <a:pt x="450" y="603"/>
                  </a:cubicBezTo>
                  <a:cubicBezTo>
                    <a:pt x="453" y="603"/>
                    <a:pt x="454" y="608"/>
                    <a:pt x="456" y="607"/>
                  </a:cubicBezTo>
                  <a:cubicBezTo>
                    <a:pt x="458" y="606"/>
                    <a:pt x="457" y="601"/>
                    <a:pt x="460" y="601"/>
                  </a:cubicBezTo>
                  <a:cubicBezTo>
                    <a:pt x="462" y="602"/>
                    <a:pt x="464" y="605"/>
                    <a:pt x="468" y="605"/>
                  </a:cubicBezTo>
                  <a:cubicBezTo>
                    <a:pt x="472" y="605"/>
                    <a:pt x="475" y="604"/>
                    <a:pt x="475" y="601"/>
                  </a:cubicBezTo>
                  <a:cubicBezTo>
                    <a:pt x="475" y="598"/>
                    <a:pt x="475" y="593"/>
                    <a:pt x="472" y="593"/>
                  </a:cubicBezTo>
                  <a:cubicBezTo>
                    <a:pt x="470" y="593"/>
                    <a:pt x="467" y="590"/>
                    <a:pt x="464" y="590"/>
                  </a:cubicBezTo>
                  <a:cubicBezTo>
                    <a:pt x="461" y="590"/>
                    <a:pt x="458" y="585"/>
                    <a:pt x="461" y="584"/>
                  </a:cubicBezTo>
                  <a:cubicBezTo>
                    <a:pt x="464" y="583"/>
                    <a:pt x="469" y="581"/>
                    <a:pt x="468" y="578"/>
                  </a:cubicBezTo>
                  <a:cubicBezTo>
                    <a:pt x="467" y="576"/>
                    <a:pt x="466" y="571"/>
                    <a:pt x="470" y="570"/>
                  </a:cubicBezTo>
                  <a:cubicBezTo>
                    <a:pt x="474" y="570"/>
                    <a:pt x="483" y="570"/>
                    <a:pt x="482" y="568"/>
                  </a:cubicBezTo>
                  <a:cubicBezTo>
                    <a:pt x="482" y="567"/>
                    <a:pt x="474" y="566"/>
                    <a:pt x="472" y="563"/>
                  </a:cubicBezTo>
                  <a:cubicBezTo>
                    <a:pt x="471" y="561"/>
                    <a:pt x="470" y="555"/>
                    <a:pt x="472" y="554"/>
                  </a:cubicBezTo>
                  <a:cubicBezTo>
                    <a:pt x="473" y="553"/>
                    <a:pt x="478" y="554"/>
                    <a:pt x="481" y="553"/>
                  </a:cubicBezTo>
                  <a:cubicBezTo>
                    <a:pt x="484" y="552"/>
                    <a:pt x="491" y="555"/>
                    <a:pt x="495" y="552"/>
                  </a:cubicBezTo>
                  <a:cubicBezTo>
                    <a:pt x="499" y="549"/>
                    <a:pt x="507" y="548"/>
                    <a:pt x="512" y="548"/>
                  </a:cubicBezTo>
                  <a:cubicBezTo>
                    <a:pt x="516" y="548"/>
                    <a:pt x="520" y="545"/>
                    <a:pt x="523" y="545"/>
                  </a:cubicBezTo>
                  <a:cubicBezTo>
                    <a:pt x="527" y="544"/>
                    <a:pt x="537" y="543"/>
                    <a:pt x="539" y="542"/>
                  </a:cubicBezTo>
                  <a:cubicBezTo>
                    <a:pt x="542" y="541"/>
                    <a:pt x="555" y="539"/>
                    <a:pt x="556" y="536"/>
                  </a:cubicBezTo>
                  <a:cubicBezTo>
                    <a:pt x="556" y="534"/>
                    <a:pt x="567" y="532"/>
                    <a:pt x="570" y="533"/>
                  </a:cubicBezTo>
                  <a:cubicBezTo>
                    <a:pt x="573" y="534"/>
                    <a:pt x="576" y="535"/>
                    <a:pt x="579" y="534"/>
                  </a:cubicBezTo>
                  <a:cubicBezTo>
                    <a:pt x="581" y="533"/>
                    <a:pt x="586" y="536"/>
                    <a:pt x="586" y="539"/>
                  </a:cubicBezTo>
                  <a:cubicBezTo>
                    <a:pt x="585" y="541"/>
                    <a:pt x="588" y="544"/>
                    <a:pt x="588" y="547"/>
                  </a:cubicBezTo>
                  <a:cubicBezTo>
                    <a:pt x="588" y="549"/>
                    <a:pt x="585" y="550"/>
                    <a:pt x="587" y="551"/>
                  </a:cubicBezTo>
                  <a:cubicBezTo>
                    <a:pt x="588" y="553"/>
                    <a:pt x="595" y="552"/>
                    <a:pt x="597" y="550"/>
                  </a:cubicBezTo>
                  <a:cubicBezTo>
                    <a:pt x="599" y="547"/>
                    <a:pt x="601" y="551"/>
                    <a:pt x="601" y="552"/>
                  </a:cubicBezTo>
                  <a:cubicBezTo>
                    <a:pt x="601" y="554"/>
                    <a:pt x="604" y="555"/>
                    <a:pt x="604" y="553"/>
                  </a:cubicBezTo>
                  <a:cubicBezTo>
                    <a:pt x="604" y="551"/>
                    <a:pt x="608" y="552"/>
                    <a:pt x="610" y="554"/>
                  </a:cubicBezTo>
                  <a:cubicBezTo>
                    <a:pt x="611" y="555"/>
                    <a:pt x="616" y="552"/>
                    <a:pt x="616" y="555"/>
                  </a:cubicBezTo>
                  <a:cubicBezTo>
                    <a:pt x="616" y="557"/>
                    <a:pt x="609" y="559"/>
                    <a:pt x="612" y="562"/>
                  </a:cubicBezTo>
                  <a:cubicBezTo>
                    <a:pt x="615" y="565"/>
                    <a:pt x="616" y="559"/>
                    <a:pt x="620" y="560"/>
                  </a:cubicBezTo>
                  <a:cubicBezTo>
                    <a:pt x="624" y="561"/>
                    <a:pt x="629" y="556"/>
                    <a:pt x="632" y="555"/>
                  </a:cubicBezTo>
                  <a:cubicBezTo>
                    <a:pt x="636" y="554"/>
                    <a:pt x="640" y="551"/>
                    <a:pt x="643" y="549"/>
                  </a:cubicBezTo>
                  <a:cubicBezTo>
                    <a:pt x="646" y="547"/>
                    <a:pt x="652" y="548"/>
                    <a:pt x="650" y="550"/>
                  </a:cubicBezTo>
                  <a:cubicBezTo>
                    <a:pt x="648" y="552"/>
                    <a:pt x="646" y="556"/>
                    <a:pt x="653" y="558"/>
                  </a:cubicBezTo>
                  <a:cubicBezTo>
                    <a:pt x="661" y="561"/>
                    <a:pt x="669" y="576"/>
                    <a:pt x="674" y="583"/>
                  </a:cubicBezTo>
                  <a:cubicBezTo>
                    <a:pt x="679" y="590"/>
                    <a:pt x="683" y="603"/>
                    <a:pt x="686" y="603"/>
                  </a:cubicBezTo>
                  <a:cubicBezTo>
                    <a:pt x="688" y="603"/>
                    <a:pt x="689" y="597"/>
                    <a:pt x="692" y="596"/>
                  </a:cubicBezTo>
                  <a:cubicBezTo>
                    <a:pt x="696" y="595"/>
                    <a:pt x="698" y="601"/>
                    <a:pt x="701" y="602"/>
                  </a:cubicBezTo>
                  <a:cubicBezTo>
                    <a:pt x="705" y="603"/>
                    <a:pt x="709" y="605"/>
                    <a:pt x="712" y="604"/>
                  </a:cubicBezTo>
                  <a:cubicBezTo>
                    <a:pt x="715" y="603"/>
                    <a:pt x="721" y="599"/>
                    <a:pt x="723" y="601"/>
                  </a:cubicBezTo>
                  <a:cubicBezTo>
                    <a:pt x="726" y="602"/>
                    <a:pt x="729" y="602"/>
                    <a:pt x="731" y="607"/>
                  </a:cubicBezTo>
                  <a:cubicBezTo>
                    <a:pt x="733" y="611"/>
                    <a:pt x="736" y="612"/>
                    <a:pt x="738" y="612"/>
                  </a:cubicBezTo>
                  <a:cubicBezTo>
                    <a:pt x="740" y="612"/>
                    <a:pt x="740" y="615"/>
                    <a:pt x="740" y="617"/>
                  </a:cubicBezTo>
                  <a:cubicBezTo>
                    <a:pt x="740" y="619"/>
                    <a:pt x="744" y="621"/>
                    <a:pt x="746" y="621"/>
                  </a:cubicBezTo>
                  <a:cubicBezTo>
                    <a:pt x="748" y="621"/>
                    <a:pt x="753" y="621"/>
                    <a:pt x="755" y="620"/>
                  </a:cubicBezTo>
                  <a:cubicBezTo>
                    <a:pt x="756" y="619"/>
                    <a:pt x="758" y="618"/>
                    <a:pt x="759" y="620"/>
                  </a:cubicBezTo>
                  <a:cubicBezTo>
                    <a:pt x="759" y="622"/>
                    <a:pt x="762" y="626"/>
                    <a:pt x="764" y="626"/>
                  </a:cubicBezTo>
                  <a:cubicBezTo>
                    <a:pt x="766" y="626"/>
                    <a:pt x="770" y="628"/>
                    <a:pt x="770" y="626"/>
                  </a:cubicBezTo>
                  <a:cubicBezTo>
                    <a:pt x="771" y="624"/>
                    <a:pt x="776" y="623"/>
                    <a:pt x="778" y="623"/>
                  </a:cubicBezTo>
                  <a:cubicBezTo>
                    <a:pt x="780" y="623"/>
                    <a:pt x="787" y="621"/>
                    <a:pt x="788" y="618"/>
                  </a:cubicBezTo>
                  <a:cubicBezTo>
                    <a:pt x="790" y="615"/>
                    <a:pt x="795" y="615"/>
                    <a:pt x="797" y="613"/>
                  </a:cubicBezTo>
                  <a:cubicBezTo>
                    <a:pt x="799" y="611"/>
                    <a:pt x="803" y="610"/>
                    <a:pt x="804" y="608"/>
                  </a:cubicBezTo>
                  <a:cubicBezTo>
                    <a:pt x="805" y="606"/>
                    <a:pt x="811" y="607"/>
                    <a:pt x="812" y="605"/>
                  </a:cubicBezTo>
                  <a:cubicBezTo>
                    <a:pt x="813" y="603"/>
                    <a:pt x="818" y="603"/>
                    <a:pt x="820" y="604"/>
                  </a:cubicBezTo>
                  <a:cubicBezTo>
                    <a:pt x="822" y="604"/>
                    <a:pt x="834" y="607"/>
                    <a:pt x="836" y="606"/>
                  </a:cubicBezTo>
                  <a:cubicBezTo>
                    <a:pt x="837" y="606"/>
                    <a:pt x="838" y="612"/>
                    <a:pt x="839" y="613"/>
                  </a:cubicBezTo>
                  <a:cubicBezTo>
                    <a:pt x="841" y="613"/>
                    <a:pt x="847" y="618"/>
                    <a:pt x="849" y="616"/>
                  </a:cubicBezTo>
                  <a:cubicBezTo>
                    <a:pt x="850" y="615"/>
                    <a:pt x="854" y="614"/>
                    <a:pt x="858" y="616"/>
                  </a:cubicBezTo>
                  <a:cubicBezTo>
                    <a:pt x="861" y="618"/>
                    <a:pt x="864" y="620"/>
                    <a:pt x="866" y="618"/>
                  </a:cubicBezTo>
                  <a:cubicBezTo>
                    <a:pt x="867" y="616"/>
                    <a:pt x="874" y="615"/>
                    <a:pt x="875" y="613"/>
                  </a:cubicBezTo>
                  <a:cubicBezTo>
                    <a:pt x="876" y="612"/>
                    <a:pt x="877" y="608"/>
                    <a:pt x="875" y="607"/>
                  </a:cubicBezTo>
                  <a:cubicBezTo>
                    <a:pt x="874" y="605"/>
                    <a:pt x="872" y="600"/>
                    <a:pt x="871" y="597"/>
                  </a:cubicBezTo>
                  <a:cubicBezTo>
                    <a:pt x="871" y="595"/>
                    <a:pt x="875" y="594"/>
                    <a:pt x="876" y="592"/>
                  </a:cubicBezTo>
                  <a:cubicBezTo>
                    <a:pt x="877" y="589"/>
                    <a:pt x="881" y="589"/>
                    <a:pt x="882" y="588"/>
                  </a:cubicBezTo>
                  <a:cubicBezTo>
                    <a:pt x="883" y="586"/>
                    <a:pt x="884" y="583"/>
                    <a:pt x="886" y="584"/>
                  </a:cubicBezTo>
                  <a:cubicBezTo>
                    <a:pt x="888" y="585"/>
                    <a:pt x="893" y="586"/>
                    <a:pt x="894" y="587"/>
                  </a:cubicBezTo>
                  <a:cubicBezTo>
                    <a:pt x="895" y="588"/>
                    <a:pt x="899" y="589"/>
                    <a:pt x="901" y="589"/>
                  </a:cubicBezTo>
                  <a:cubicBezTo>
                    <a:pt x="904" y="589"/>
                    <a:pt x="907" y="591"/>
                    <a:pt x="910" y="592"/>
                  </a:cubicBezTo>
                  <a:cubicBezTo>
                    <a:pt x="912" y="594"/>
                    <a:pt x="919" y="594"/>
                    <a:pt x="921" y="596"/>
                  </a:cubicBezTo>
                  <a:cubicBezTo>
                    <a:pt x="922" y="598"/>
                    <a:pt x="920" y="603"/>
                    <a:pt x="922" y="605"/>
                  </a:cubicBezTo>
                  <a:cubicBezTo>
                    <a:pt x="924" y="607"/>
                    <a:pt x="928" y="612"/>
                    <a:pt x="929" y="611"/>
                  </a:cubicBezTo>
                  <a:cubicBezTo>
                    <a:pt x="930" y="610"/>
                    <a:pt x="937" y="614"/>
                    <a:pt x="939" y="614"/>
                  </a:cubicBezTo>
                  <a:cubicBezTo>
                    <a:pt x="941" y="613"/>
                    <a:pt x="945" y="610"/>
                    <a:pt x="947" y="610"/>
                  </a:cubicBezTo>
                  <a:cubicBezTo>
                    <a:pt x="949" y="610"/>
                    <a:pt x="955" y="608"/>
                    <a:pt x="957" y="608"/>
                  </a:cubicBezTo>
                  <a:cubicBezTo>
                    <a:pt x="959" y="609"/>
                    <a:pt x="967" y="611"/>
                    <a:pt x="968" y="611"/>
                  </a:cubicBezTo>
                  <a:cubicBezTo>
                    <a:pt x="969" y="610"/>
                    <a:pt x="975" y="611"/>
                    <a:pt x="976" y="613"/>
                  </a:cubicBezTo>
                  <a:cubicBezTo>
                    <a:pt x="977" y="615"/>
                    <a:pt x="986" y="615"/>
                    <a:pt x="986" y="617"/>
                  </a:cubicBezTo>
                  <a:cubicBezTo>
                    <a:pt x="986" y="620"/>
                    <a:pt x="990" y="621"/>
                    <a:pt x="992" y="624"/>
                  </a:cubicBezTo>
                  <a:cubicBezTo>
                    <a:pt x="993" y="626"/>
                    <a:pt x="1004" y="625"/>
                    <a:pt x="1006" y="626"/>
                  </a:cubicBezTo>
                  <a:cubicBezTo>
                    <a:pt x="1008" y="628"/>
                    <a:pt x="1021" y="628"/>
                    <a:pt x="1021" y="626"/>
                  </a:cubicBezTo>
                  <a:cubicBezTo>
                    <a:pt x="1021" y="625"/>
                    <a:pt x="1033" y="624"/>
                    <a:pt x="1036" y="623"/>
                  </a:cubicBezTo>
                  <a:cubicBezTo>
                    <a:pt x="1038" y="621"/>
                    <a:pt x="1044" y="622"/>
                    <a:pt x="1045" y="619"/>
                  </a:cubicBezTo>
                  <a:cubicBezTo>
                    <a:pt x="1045" y="617"/>
                    <a:pt x="1051" y="615"/>
                    <a:pt x="1054" y="613"/>
                  </a:cubicBezTo>
                  <a:cubicBezTo>
                    <a:pt x="1056" y="611"/>
                    <a:pt x="1067" y="612"/>
                    <a:pt x="1068" y="614"/>
                  </a:cubicBezTo>
                  <a:cubicBezTo>
                    <a:pt x="1068" y="616"/>
                    <a:pt x="1075" y="617"/>
                    <a:pt x="1077" y="616"/>
                  </a:cubicBezTo>
                  <a:cubicBezTo>
                    <a:pt x="1080" y="615"/>
                    <a:pt x="1087" y="616"/>
                    <a:pt x="1088" y="619"/>
                  </a:cubicBezTo>
                  <a:cubicBezTo>
                    <a:pt x="1089" y="621"/>
                    <a:pt x="1097" y="622"/>
                    <a:pt x="1099" y="622"/>
                  </a:cubicBezTo>
                  <a:cubicBezTo>
                    <a:pt x="1101" y="621"/>
                    <a:pt x="1107" y="616"/>
                    <a:pt x="1110" y="616"/>
                  </a:cubicBezTo>
                  <a:cubicBezTo>
                    <a:pt x="1112" y="616"/>
                    <a:pt x="1115" y="613"/>
                    <a:pt x="1115" y="611"/>
                  </a:cubicBezTo>
                  <a:cubicBezTo>
                    <a:pt x="1114" y="609"/>
                    <a:pt x="1119" y="602"/>
                    <a:pt x="1120" y="599"/>
                  </a:cubicBezTo>
                  <a:cubicBezTo>
                    <a:pt x="1121" y="597"/>
                    <a:pt x="1125" y="589"/>
                    <a:pt x="1127" y="589"/>
                  </a:cubicBezTo>
                  <a:cubicBezTo>
                    <a:pt x="1129" y="588"/>
                    <a:pt x="1132" y="585"/>
                    <a:pt x="1132" y="583"/>
                  </a:cubicBezTo>
                  <a:cubicBezTo>
                    <a:pt x="1132" y="581"/>
                    <a:pt x="1131" y="575"/>
                    <a:pt x="1129" y="575"/>
                  </a:cubicBezTo>
                  <a:cubicBezTo>
                    <a:pt x="1127" y="575"/>
                    <a:pt x="1123" y="575"/>
                    <a:pt x="1128" y="569"/>
                  </a:cubicBezTo>
                  <a:cubicBezTo>
                    <a:pt x="1132" y="563"/>
                    <a:pt x="1141" y="564"/>
                    <a:pt x="1142" y="564"/>
                  </a:cubicBezTo>
                  <a:cubicBezTo>
                    <a:pt x="1143" y="564"/>
                    <a:pt x="1154" y="562"/>
                    <a:pt x="1159" y="563"/>
                  </a:cubicBezTo>
                  <a:cubicBezTo>
                    <a:pt x="1163" y="564"/>
                    <a:pt x="1166" y="562"/>
                    <a:pt x="1171" y="565"/>
                  </a:cubicBezTo>
                  <a:cubicBezTo>
                    <a:pt x="1176" y="568"/>
                    <a:pt x="1183" y="567"/>
                    <a:pt x="1185" y="569"/>
                  </a:cubicBezTo>
                  <a:cubicBezTo>
                    <a:pt x="1187" y="571"/>
                    <a:pt x="1193" y="573"/>
                    <a:pt x="1192" y="577"/>
                  </a:cubicBezTo>
                  <a:cubicBezTo>
                    <a:pt x="1191" y="581"/>
                    <a:pt x="1196" y="579"/>
                    <a:pt x="1198" y="588"/>
                  </a:cubicBezTo>
                  <a:cubicBezTo>
                    <a:pt x="1199" y="596"/>
                    <a:pt x="1203" y="597"/>
                    <a:pt x="1204" y="601"/>
                  </a:cubicBezTo>
                  <a:cubicBezTo>
                    <a:pt x="1205" y="605"/>
                    <a:pt x="1211" y="612"/>
                    <a:pt x="1210" y="615"/>
                  </a:cubicBezTo>
                  <a:cubicBezTo>
                    <a:pt x="1209" y="617"/>
                    <a:pt x="1209" y="621"/>
                    <a:pt x="1214" y="621"/>
                  </a:cubicBezTo>
                  <a:cubicBezTo>
                    <a:pt x="1220" y="621"/>
                    <a:pt x="1224" y="626"/>
                    <a:pt x="1225" y="625"/>
                  </a:cubicBezTo>
                  <a:cubicBezTo>
                    <a:pt x="1227" y="624"/>
                    <a:pt x="1233" y="627"/>
                    <a:pt x="1237" y="630"/>
                  </a:cubicBezTo>
                  <a:cubicBezTo>
                    <a:pt x="1240" y="633"/>
                    <a:pt x="1245" y="632"/>
                    <a:pt x="1245" y="635"/>
                  </a:cubicBezTo>
                  <a:cubicBezTo>
                    <a:pt x="1244" y="639"/>
                    <a:pt x="1247" y="642"/>
                    <a:pt x="1247" y="645"/>
                  </a:cubicBezTo>
                  <a:cubicBezTo>
                    <a:pt x="1247" y="648"/>
                    <a:pt x="1253" y="650"/>
                    <a:pt x="1258" y="649"/>
                  </a:cubicBezTo>
                  <a:cubicBezTo>
                    <a:pt x="1263" y="649"/>
                    <a:pt x="1266" y="651"/>
                    <a:pt x="1268" y="647"/>
                  </a:cubicBezTo>
                  <a:cubicBezTo>
                    <a:pt x="1270" y="643"/>
                    <a:pt x="1277" y="645"/>
                    <a:pt x="1279" y="643"/>
                  </a:cubicBezTo>
                  <a:cubicBezTo>
                    <a:pt x="1281" y="641"/>
                    <a:pt x="1288" y="639"/>
                    <a:pt x="1288" y="645"/>
                  </a:cubicBezTo>
                  <a:cubicBezTo>
                    <a:pt x="1288" y="651"/>
                    <a:pt x="1292" y="653"/>
                    <a:pt x="1288" y="655"/>
                  </a:cubicBezTo>
                  <a:cubicBezTo>
                    <a:pt x="1285" y="657"/>
                    <a:pt x="1283" y="665"/>
                    <a:pt x="1282" y="669"/>
                  </a:cubicBezTo>
                  <a:cubicBezTo>
                    <a:pt x="1281" y="673"/>
                    <a:pt x="1276" y="674"/>
                    <a:pt x="1276" y="678"/>
                  </a:cubicBezTo>
                  <a:cubicBezTo>
                    <a:pt x="1275" y="682"/>
                    <a:pt x="1270" y="682"/>
                    <a:pt x="1270" y="685"/>
                  </a:cubicBezTo>
                  <a:cubicBezTo>
                    <a:pt x="1270" y="688"/>
                    <a:pt x="1264" y="687"/>
                    <a:pt x="1260" y="685"/>
                  </a:cubicBezTo>
                  <a:cubicBezTo>
                    <a:pt x="1257" y="683"/>
                    <a:pt x="1254" y="689"/>
                    <a:pt x="1251" y="689"/>
                  </a:cubicBezTo>
                  <a:cubicBezTo>
                    <a:pt x="1248" y="689"/>
                    <a:pt x="1249" y="695"/>
                    <a:pt x="1249" y="697"/>
                  </a:cubicBezTo>
                  <a:cubicBezTo>
                    <a:pt x="1250" y="700"/>
                    <a:pt x="1248" y="703"/>
                    <a:pt x="1250" y="707"/>
                  </a:cubicBezTo>
                  <a:cubicBezTo>
                    <a:pt x="1251" y="709"/>
                    <a:pt x="1250" y="713"/>
                    <a:pt x="1251" y="717"/>
                  </a:cubicBezTo>
                  <a:cubicBezTo>
                    <a:pt x="1255" y="714"/>
                    <a:pt x="1259" y="712"/>
                    <a:pt x="1260" y="712"/>
                  </a:cubicBezTo>
                  <a:cubicBezTo>
                    <a:pt x="1264" y="712"/>
                    <a:pt x="1269" y="719"/>
                    <a:pt x="1273" y="720"/>
                  </a:cubicBezTo>
                  <a:cubicBezTo>
                    <a:pt x="1278" y="720"/>
                    <a:pt x="1299" y="706"/>
                    <a:pt x="1299" y="703"/>
                  </a:cubicBezTo>
                  <a:cubicBezTo>
                    <a:pt x="1299" y="701"/>
                    <a:pt x="1312" y="689"/>
                    <a:pt x="1318" y="683"/>
                  </a:cubicBezTo>
                  <a:cubicBezTo>
                    <a:pt x="1323" y="677"/>
                    <a:pt x="1331" y="668"/>
                    <a:pt x="1334" y="661"/>
                  </a:cubicBezTo>
                  <a:cubicBezTo>
                    <a:pt x="1336" y="656"/>
                    <a:pt x="1344" y="648"/>
                    <a:pt x="1346" y="645"/>
                  </a:cubicBezTo>
                  <a:cubicBezTo>
                    <a:pt x="1348" y="641"/>
                    <a:pt x="1349" y="641"/>
                    <a:pt x="1353" y="633"/>
                  </a:cubicBezTo>
                  <a:cubicBezTo>
                    <a:pt x="1357" y="625"/>
                    <a:pt x="1357" y="605"/>
                    <a:pt x="1358" y="604"/>
                  </a:cubicBezTo>
                  <a:cubicBezTo>
                    <a:pt x="1359" y="602"/>
                    <a:pt x="1358" y="599"/>
                    <a:pt x="1360" y="597"/>
                  </a:cubicBezTo>
                  <a:cubicBezTo>
                    <a:pt x="1362" y="594"/>
                    <a:pt x="1361" y="591"/>
                    <a:pt x="1364" y="589"/>
                  </a:cubicBezTo>
                  <a:cubicBezTo>
                    <a:pt x="1368" y="586"/>
                    <a:pt x="1367" y="583"/>
                    <a:pt x="1366" y="581"/>
                  </a:cubicBezTo>
                  <a:cubicBezTo>
                    <a:pt x="1365" y="579"/>
                    <a:pt x="1366" y="574"/>
                    <a:pt x="1365" y="573"/>
                  </a:cubicBezTo>
                  <a:cubicBezTo>
                    <a:pt x="1365" y="571"/>
                    <a:pt x="1365" y="570"/>
                    <a:pt x="1367" y="569"/>
                  </a:cubicBezTo>
                  <a:cubicBezTo>
                    <a:pt x="1369" y="568"/>
                    <a:pt x="1365" y="565"/>
                    <a:pt x="1363" y="564"/>
                  </a:cubicBezTo>
                  <a:cubicBezTo>
                    <a:pt x="1360" y="562"/>
                    <a:pt x="1356" y="561"/>
                    <a:pt x="1356" y="558"/>
                  </a:cubicBezTo>
                  <a:cubicBezTo>
                    <a:pt x="1355" y="555"/>
                    <a:pt x="1351" y="551"/>
                    <a:pt x="1347" y="551"/>
                  </a:cubicBezTo>
                  <a:cubicBezTo>
                    <a:pt x="1343" y="552"/>
                    <a:pt x="1336" y="549"/>
                    <a:pt x="1337" y="552"/>
                  </a:cubicBezTo>
                  <a:cubicBezTo>
                    <a:pt x="1338" y="554"/>
                    <a:pt x="1337" y="556"/>
                    <a:pt x="1335" y="556"/>
                  </a:cubicBezTo>
                  <a:cubicBezTo>
                    <a:pt x="1333" y="555"/>
                    <a:pt x="1332" y="557"/>
                    <a:pt x="1330" y="560"/>
                  </a:cubicBezTo>
                  <a:cubicBezTo>
                    <a:pt x="1328" y="563"/>
                    <a:pt x="1320" y="564"/>
                    <a:pt x="1324" y="560"/>
                  </a:cubicBezTo>
                  <a:cubicBezTo>
                    <a:pt x="1327" y="557"/>
                    <a:pt x="1323" y="557"/>
                    <a:pt x="1323" y="554"/>
                  </a:cubicBezTo>
                  <a:cubicBezTo>
                    <a:pt x="1324" y="550"/>
                    <a:pt x="1327" y="547"/>
                    <a:pt x="1323" y="549"/>
                  </a:cubicBezTo>
                  <a:cubicBezTo>
                    <a:pt x="1319" y="551"/>
                    <a:pt x="1319" y="557"/>
                    <a:pt x="1316" y="557"/>
                  </a:cubicBezTo>
                  <a:cubicBezTo>
                    <a:pt x="1313" y="558"/>
                    <a:pt x="1314" y="548"/>
                    <a:pt x="1315" y="546"/>
                  </a:cubicBezTo>
                  <a:cubicBezTo>
                    <a:pt x="1316" y="543"/>
                    <a:pt x="1309" y="546"/>
                    <a:pt x="1302" y="545"/>
                  </a:cubicBezTo>
                  <a:cubicBezTo>
                    <a:pt x="1295" y="545"/>
                    <a:pt x="1297" y="540"/>
                    <a:pt x="1302" y="537"/>
                  </a:cubicBezTo>
                  <a:cubicBezTo>
                    <a:pt x="1308" y="534"/>
                    <a:pt x="1307" y="531"/>
                    <a:pt x="1310" y="530"/>
                  </a:cubicBezTo>
                  <a:cubicBezTo>
                    <a:pt x="1313" y="529"/>
                    <a:pt x="1320" y="524"/>
                    <a:pt x="1324" y="522"/>
                  </a:cubicBezTo>
                  <a:cubicBezTo>
                    <a:pt x="1329" y="519"/>
                    <a:pt x="1330" y="516"/>
                    <a:pt x="1331" y="513"/>
                  </a:cubicBezTo>
                  <a:cubicBezTo>
                    <a:pt x="1332" y="511"/>
                    <a:pt x="1340" y="507"/>
                    <a:pt x="1347" y="501"/>
                  </a:cubicBezTo>
                  <a:cubicBezTo>
                    <a:pt x="1354" y="495"/>
                    <a:pt x="1357" y="492"/>
                    <a:pt x="1359" y="489"/>
                  </a:cubicBezTo>
                  <a:cubicBezTo>
                    <a:pt x="1361" y="485"/>
                    <a:pt x="1371" y="481"/>
                    <a:pt x="1372" y="478"/>
                  </a:cubicBezTo>
                  <a:cubicBezTo>
                    <a:pt x="1372" y="475"/>
                    <a:pt x="1384" y="469"/>
                    <a:pt x="1393" y="467"/>
                  </a:cubicBezTo>
                  <a:cubicBezTo>
                    <a:pt x="1401" y="465"/>
                    <a:pt x="1415" y="468"/>
                    <a:pt x="1417" y="470"/>
                  </a:cubicBezTo>
                  <a:cubicBezTo>
                    <a:pt x="1420" y="473"/>
                    <a:pt x="1422" y="472"/>
                    <a:pt x="1423" y="470"/>
                  </a:cubicBezTo>
                  <a:cubicBezTo>
                    <a:pt x="1425" y="468"/>
                    <a:pt x="1428" y="469"/>
                    <a:pt x="1434" y="470"/>
                  </a:cubicBezTo>
                  <a:cubicBezTo>
                    <a:pt x="1439" y="470"/>
                    <a:pt x="1441" y="467"/>
                    <a:pt x="1444" y="468"/>
                  </a:cubicBezTo>
                  <a:cubicBezTo>
                    <a:pt x="1448" y="469"/>
                    <a:pt x="1451" y="470"/>
                    <a:pt x="1454" y="466"/>
                  </a:cubicBezTo>
                  <a:cubicBezTo>
                    <a:pt x="1456" y="461"/>
                    <a:pt x="1467" y="462"/>
                    <a:pt x="1470" y="464"/>
                  </a:cubicBezTo>
                  <a:cubicBezTo>
                    <a:pt x="1472" y="466"/>
                    <a:pt x="1474" y="468"/>
                    <a:pt x="1478" y="465"/>
                  </a:cubicBezTo>
                  <a:cubicBezTo>
                    <a:pt x="1482" y="463"/>
                    <a:pt x="1482" y="469"/>
                    <a:pt x="1486" y="469"/>
                  </a:cubicBezTo>
                  <a:cubicBezTo>
                    <a:pt x="1490" y="470"/>
                    <a:pt x="1487" y="473"/>
                    <a:pt x="1484" y="473"/>
                  </a:cubicBezTo>
                  <a:cubicBezTo>
                    <a:pt x="1481" y="473"/>
                    <a:pt x="1476" y="475"/>
                    <a:pt x="1480" y="477"/>
                  </a:cubicBezTo>
                  <a:cubicBezTo>
                    <a:pt x="1484" y="479"/>
                    <a:pt x="1489" y="475"/>
                    <a:pt x="1492" y="475"/>
                  </a:cubicBezTo>
                  <a:cubicBezTo>
                    <a:pt x="1495" y="475"/>
                    <a:pt x="1499" y="476"/>
                    <a:pt x="1503" y="473"/>
                  </a:cubicBezTo>
                  <a:cubicBezTo>
                    <a:pt x="1508" y="470"/>
                    <a:pt x="1509" y="475"/>
                    <a:pt x="1511" y="473"/>
                  </a:cubicBezTo>
                  <a:cubicBezTo>
                    <a:pt x="1514" y="471"/>
                    <a:pt x="1520" y="470"/>
                    <a:pt x="1523" y="470"/>
                  </a:cubicBezTo>
                  <a:cubicBezTo>
                    <a:pt x="1526" y="470"/>
                    <a:pt x="1524" y="467"/>
                    <a:pt x="1519" y="467"/>
                  </a:cubicBezTo>
                  <a:cubicBezTo>
                    <a:pt x="1514" y="467"/>
                    <a:pt x="1514" y="464"/>
                    <a:pt x="1518" y="457"/>
                  </a:cubicBezTo>
                  <a:cubicBezTo>
                    <a:pt x="1522" y="450"/>
                    <a:pt x="1529" y="447"/>
                    <a:pt x="1534" y="442"/>
                  </a:cubicBezTo>
                  <a:cubicBezTo>
                    <a:pt x="1539" y="438"/>
                    <a:pt x="1543" y="440"/>
                    <a:pt x="1543" y="438"/>
                  </a:cubicBezTo>
                  <a:cubicBezTo>
                    <a:pt x="1543" y="435"/>
                    <a:pt x="1545" y="427"/>
                    <a:pt x="1549" y="427"/>
                  </a:cubicBezTo>
                  <a:cubicBezTo>
                    <a:pt x="1552" y="427"/>
                    <a:pt x="1561" y="429"/>
                    <a:pt x="1567" y="426"/>
                  </a:cubicBezTo>
                  <a:cubicBezTo>
                    <a:pt x="1573" y="422"/>
                    <a:pt x="1572" y="428"/>
                    <a:pt x="1575" y="429"/>
                  </a:cubicBezTo>
                  <a:cubicBezTo>
                    <a:pt x="1577" y="430"/>
                    <a:pt x="1580" y="424"/>
                    <a:pt x="1583" y="426"/>
                  </a:cubicBezTo>
                  <a:cubicBezTo>
                    <a:pt x="1585" y="427"/>
                    <a:pt x="1579" y="431"/>
                    <a:pt x="1577" y="436"/>
                  </a:cubicBezTo>
                  <a:cubicBezTo>
                    <a:pt x="1576" y="441"/>
                    <a:pt x="1581" y="439"/>
                    <a:pt x="1584" y="440"/>
                  </a:cubicBezTo>
                  <a:cubicBezTo>
                    <a:pt x="1586" y="442"/>
                    <a:pt x="1580" y="444"/>
                    <a:pt x="1581" y="445"/>
                  </a:cubicBezTo>
                  <a:cubicBezTo>
                    <a:pt x="1581" y="446"/>
                    <a:pt x="1587" y="446"/>
                    <a:pt x="1594" y="439"/>
                  </a:cubicBezTo>
                  <a:cubicBezTo>
                    <a:pt x="1602" y="432"/>
                    <a:pt x="1608" y="430"/>
                    <a:pt x="1613" y="430"/>
                  </a:cubicBezTo>
                  <a:cubicBezTo>
                    <a:pt x="1618" y="431"/>
                    <a:pt x="1615" y="426"/>
                    <a:pt x="1615" y="419"/>
                  </a:cubicBezTo>
                  <a:cubicBezTo>
                    <a:pt x="1616" y="412"/>
                    <a:pt x="1630" y="410"/>
                    <a:pt x="1635" y="412"/>
                  </a:cubicBezTo>
                  <a:cubicBezTo>
                    <a:pt x="1639" y="414"/>
                    <a:pt x="1639" y="416"/>
                    <a:pt x="1634" y="415"/>
                  </a:cubicBezTo>
                  <a:cubicBezTo>
                    <a:pt x="1630" y="414"/>
                    <a:pt x="1626" y="418"/>
                    <a:pt x="1626" y="424"/>
                  </a:cubicBezTo>
                  <a:cubicBezTo>
                    <a:pt x="1626" y="429"/>
                    <a:pt x="1622" y="431"/>
                    <a:pt x="1624" y="433"/>
                  </a:cubicBezTo>
                  <a:cubicBezTo>
                    <a:pt x="1626" y="435"/>
                    <a:pt x="1621" y="436"/>
                    <a:pt x="1621" y="438"/>
                  </a:cubicBezTo>
                  <a:cubicBezTo>
                    <a:pt x="1621" y="441"/>
                    <a:pt x="1621" y="442"/>
                    <a:pt x="1617" y="443"/>
                  </a:cubicBezTo>
                  <a:cubicBezTo>
                    <a:pt x="1614" y="444"/>
                    <a:pt x="1603" y="446"/>
                    <a:pt x="1603" y="450"/>
                  </a:cubicBezTo>
                  <a:cubicBezTo>
                    <a:pt x="1602" y="454"/>
                    <a:pt x="1596" y="455"/>
                    <a:pt x="1593" y="460"/>
                  </a:cubicBezTo>
                  <a:cubicBezTo>
                    <a:pt x="1591" y="465"/>
                    <a:pt x="1580" y="469"/>
                    <a:pt x="1573" y="479"/>
                  </a:cubicBezTo>
                  <a:cubicBezTo>
                    <a:pt x="1565" y="490"/>
                    <a:pt x="1554" y="490"/>
                    <a:pt x="1554" y="492"/>
                  </a:cubicBezTo>
                  <a:cubicBezTo>
                    <a:pt x="1554" y="494"/>
                    <a:pt x="1546" y="494"/>
                    <a:pt x="1544" y="494"/>
                  </a:cubicBezTo>
                  <a:cubicBezTo>
                    <a:pt x="1541" y="494"/>
                    <a:pt x="1546" y="501"/>
                    <a:pt x="1540" y="508"/>
                  </a:cubicBezTo>
                  <a:cubicBezTo>
                    <a:pt x="1533" y="515"/>
                    <a:pt x="1529" y="524"/>
                    <a:pt x="1529" y="534"/>
                  </a:cubicBezTo>
                  <a:cubicBezTo>
                    <a:pt x="1530" y="543"/>
                    <a:pt x="1533" y="570"/>
                    <a:pt x="1536" y="575"/>
                  </a:cubicBezTo>
                  <a:cubicBezTo>
                    <a:pt x="1538" y="580"/>
                    <a:pt x="1537" y="592"/>
                    <a:pt x="1539" y="594"/>
                  </a:cubicBezTo>
                  <a:cubicBezTo>
                    <a:pt x="1541" y="597"/>
                    <a:pt x="1541" y="601"/>
                    <a:pt x="1542" y="603"/>
                  </a:cubicBezTo>
                  <a:cubicBezTo>
                    <a:pt x="1544" y="604"/>
                    <a:pt x="1550" y="596"/>
                    <a:pt x="1554" y="592"/>
                  </a:cubicBezTo>
                  <a:cubicBezTo>
                    <a:pt x="1558" y="589"/>
                    <a:pt x="1557" y="588"/>
                    <a:pt x="1560" y="586"/>
                  </a:cubicBezTo>
                  <a:cubicBezTo>
                    <a:pt x="1562" y="584"/>
                    <a:pt x="1561" y="576"/>
                    <a:pt x="1562" y="574"/>
                  </a:cubicBezTo>
                  <a:cubicBezTo>
                    <a:pt x="1563" y="572"/>
                    <a:pt x="1568" y="571"/>
                    <a:pt x="1570" y="569"/>
                  </a:cubicBezTo>
                  <a:cubicBezTo>
                    <a:pt x="1571" y="567"/>
                    <a:pt x="1576" y="568"/>
                    <a:pt x="1578" y="568"/>
                  </a:cubicBezTo>
                  <a:cubicBezTo>
                    <a:pt x="1580" y="567"/>
                    <a:pt x="1578" y="561"/>
                    <a:pt x="1577" y="558"/>
                  </a:cubicBezTo>
                  <a:cubicBezTo>
                    <a:pt x="1576" y="555"/>
                    <a:pt x="1584" y="551"/>
                    <a:pt x="1588" y="548"/>
                  </a:cubicBezTo>
                  <a:cubicBezTo>
                    <a:pt x="1592" y="545"/>
                    <a:pt x="1597" y="550"/>
                    <a:pt x="1601" y="545"/>
                  </a:cubicBezTo>
                  <a:cubicBezTo>
                    <a:pt x="1606" y="541"/>
                    <a:pt x="1601" y="536"/>
                    <a:pt x="1599" y="534"/>
                  </a:cubicBezTo>
                  <a:cubicBezTo>
                    <a:pt x="1598" y="532"/>
                    <a:pt x="1604" y="522"/>
                    <a:pt x="1607" y="521"/>
                  </a:cubicBezTo>
                  <a:cubicBezTo>
                    <a:pt x="1611" y="520"/>
                    <a:pt x="1613" y="523"/>
                    <a:pt x="1616" y="520"/>
                  </a:cubicBezTo>
                  <a:cubicBezTo>
                    <a:pt x="1619" y="517"/>
                    <a:pt x="1613" y="512"/>
                    <a:pt x="1611" y="513"/>
                  </a:cubicBezTo>
                  <a:cubicBezTo>
                    <a:pt x="1608" y="513"/>
                    <a:pt x="1608" y="504"/>
                    <a:pt x="1613" y="500"/>
                  </a:cubicBezTo>
                  <a:cubicBezTo>
                    <a:pt x="1619" y="496"/>
                    <a:pt x="1616" y="495"/>
                    <a:pt x="1613" y="494"/>
                  </a:cubicBezTo>
                  <a:cubicBezTo>
                    <a:pt x="1609" y="493"/>
                    <a:pt x="1608" y="494"/>
                    <a:pt x="1606" y="494"/>
                  </a:cubicBezTo>
                  <a:cubicBezTo>
                    <a:pt x="1603" y="495"/>
                    <a:pt x="1600" y="489"/>
                    <a:pt x="1604" y="483"/>
                  </a:cubicBezTo>
                  <a:cubicBezTo>
                    <a:pt x="1609" y="477"/>
                    <a:pt x="1613" y="478"/>
                    <a:pt x="1614" y="473"/>
                  </a:cubicBezTo>
                  <a:cubicBezTo>
                    <a:pt x="1615" y="468"/>
                    <a:pt x="1621" y="461"/>
                    <a:pt x="1622" y="459"/>
                  </a:cubicBezTo>
                  <a:cubicBezTo>
                    <a:pt x="1624" y="456"/>
                    <a:pt x="1630" y="459"/>
                    <a:pt x="1632" y="458"/>
                  </a:cubicBezTo>
                  <a:cubicBezTo>
                    <a:pt x="1634" y="458"/>
                    <a:pt x="1634" y="463"/>
                    <a:pt x="1636" y="460"/>
                  </a:cubicBezTo>
                  <a:cubicBezTo>
                    <a:pt x="1639" y="458"/>
                    <a:pt x="1644" y="449"/>
                    <a:pt x="1648" y="449"/>
                  </a:cubicBezTo>
                  <a:cubicBezTo>
                    <a:pt x="1652" y="449"/>
                    <a:pt x="1649" y="455"/>
                    <a:pt x="1650" y="459"/>
                  </a:cubicBezTo>
                  <a:cubicBezTo>
                    <a:pt x="1651" y="463"/>
                    <a:pt x="1653" y="458"/>
                    <a:pt x="1661" y="453"/>
                  </a:cubicBezTo>
                  <a:cubicBezTo>
                    <a:pt x="1668" y="448"/>
                    <a:pt x="1684" y="449"/>
                    <a:pt x="1689" y="451"/>
                  </a:cubicBezTo>
                  <a:cubicBezTo>
                    <a:pt x="1694" y="453"/>
                    <a:pt x="1694" y="459"/>
                    <a:pt x="1697" y="458"/>
                  </a:cubicBezTo>
                  <a:cubicBezTo>
                    <a:pt x="1701" y="457"/>
                    <a:pt x="1698" y="453"/>
                    <a:pt x="1702" y="451"/>
                  </a:cubicBezTo>
                  <a:cubicBezTo>
                    <a:pt x="1706" y="450"/>
                    <a:pt x="1713" y="446"/>
                    <a:pt x="1718" y="442"/>
                  </a:cubicBezTo>
                  <a:cubicBezTo>
                    <a:pt x="1723" y="438"/>
                    <a:pt x="1722" y="441"/>
                    <a:pt x="1725" y="438"/>
                  </a:cubicBezTo>
                  <a:cubicBezTo>
                    <a:pt x="1728" y="434"/>
                    <a:pt x="1730" y="436"/>
                    <a:pt x="1731" y="433"/>
                  </a:cubicBezTo>
                  <a:cubicBezTo>
                    <a:pt x="1732" y="431"/>
                    <a:pt x="1740" y="427"/>
                    <a:pt x="1750" y="425"/>
                  </a:cubicBezTo>
                  <a:cubicBezTo>
                    <a:pt x="1761" y="423"/>
                    <a:pt x="1774" y="416"/>
                    <a:pt x="1774" y="413"/>
                  </a:cubicBezTo>
                  <a:cubicBezTo>
                    <a:pt x="1773" y="411"/>
                    <a:pt x="1778" y="410"/>
                    <a:pt x="1778" y="412"/>
                  </a:cubicBezTo>
                  <a:cubicBezTo>
                    <a:pt x="1779" y="415"/>
                    <a:pt x="1783" y="414"/>
                    <a:pt x="1788" y="415"/>
                  </a:cubicBezTo>
                  <a:cubicBezTo>
                    <a:pt x="1794" y="416"/>
                    <a:pt x="1796" y="418"/>
                    <a:pt x="1801" y="414"/>
                  </a:cubicBezTo>
                  <a:cubicBezTo>
                    <a:pt x="1805" y="410"/>
                    <a:pt x="1800" y="408"/>
                    <a:pt x="1800" y="405"/>
                  </a:cubicBezTo>
                  <a:cubicBezTo>
                    <a:pt x="1800" y="401"/>
                    <a:pt x="1793" y="398"/>
                    <a:pt x="1794" y="394"/>
                  </a:cubicBezTo>
                  <a:cubicBezTo>
                    <a:pt x="1795" y="391"/>
                    <a:pt x="1788" y="382"/>
                    <a:pt x="1786" y="383"/>
                  </a:cubicBezTo>
                  <a:cubicBezTo>
                    <a:pt x="1784" y="385"/>
                    <a:pt x="1779" y="382"/>
                    <a:pt x="1779" y="379"/>
                  </a:cubicBezTo>
                  <a:cubicBezTo>
                    <a:pt x="1779" y="377"/>
                    <a:pt x="1779" y="373"/>
                    <a:pt x="1776" y="375"/>
                  </a:cubicBezTo>
                  <a:cubicBezTo>
                    <a:pt x="1773" y="377"/>
                    <a:pt x="1767" y="376"/>
                    <a:pt x="1766" y="373"/>
                  </a:cubicBezTo>
                  <a:cubicBezTo>
                    <a:pt x="1765" y="370"/>
                    <a:pt x="1773" y="368"/>
                    <a:pt x="1778" y="370"/>
                  </a:cubicBezTo>
                  <a:cubicBezTo>
                    <a:pt x="1783" y="372"/>
                    <a:pt x="1781" y="374"/>
                    <a:pt x="1784" y="376"/>
                  </a:cubicBezTo>
                  <a:cubicBezTo>
                    <a:pt x="1786" y="377"/>
                    <a:pt x="1793" y="377"/>
                    <a:pt x="1796" y="375"/>
                  </a:cubicBezTo>
                  <a:cubicBezTo>
                    <a:pt x="1800" y="373"/>
                    <a:pt x="1810" y="370"/>
                    <a:pt x="1811" y="367"/>
                  </a:cubicBezTo>
                  <a:cubicBezTo>
                    <a:pt x="1813" y="364"/>
                    <a:pt x="1811" y="363"/>
                    <a:pt x="1815" y="361"/>
                  </a:cubicBezTo>
                  <a:cubicBezTo>
                    <a:pt x="1818" y="360"/>
                    <a:pt x="1815" y="356"/>
                    <a:pt x="1813" y="355"/>
                  </a:cubicBezTo>
                  <a:cubicBezTo>
                    <a:pt x="1810" y="353"/>
                    <a:pt x="1810" y="349"/>
                    <a:pt x="1813" y="349"/>
                  </a:cubicBezTo>
                  <a:cubicBezTo>
                    <a:pt x="1816" y="349"/>
                    <a:pt x="1816" y="346"/>
                    <a:pt x="1818" y="346"/>
                  </a:cubicBezTo>
                  <a:cubicBezTo>
                    <a:pt x="1820" y="345"/>
                    <a:pt x="1820" y="347"/>
                    <a:pt x="1824" y="345"/>
                  </a:cubicBezTo>
                  <a:cubicBezTo>
                    <a:pt x="1827" y="343"/>
                    <a:pt x="1824" y="348"/>
                    <a:pt x="1822" y="351"/>
                  </a:cubicBezTo>
                  <a:cubicBezTo>
                    <a:pt x="1820" y="354"/>
                    <a:pt x="1826" y="357"/>
                    <a:pt x="1826" y="359"/>
                  </a:cubicBezTo>
                  <a:cubicBezTo>
                    <a:pt x="1827" y="361"/>
                    <a:pt x="1834" y="361"/>
                    <a:pt x="1838" y="359"/>
                  </a:cubicBezTo>
                  <a:cubicBezTo>
                    <a:pt x="1842" y="357"/>
                    <a:pt x="1855" y="362"/>
                    <a:pt x="1855" y="365"/>
                  </a:cubicBezTo>
                  <a:cubicBezTo>
                    <a:pt x="1856" y="368"/>
                    <a:pt x="1858" y="372"/>
                    <a:pt x="1863" y="375"/>
                  </a:cubicBezTo>
                  <a:cubicBezTo>
                    <a:pt x="1869" y="377"/>
                    <a:pt x="1874" y="376"/>
                    <a:pt x="1875" y="379"/>
                  </a:cubicBezTo>
                  <a:cubicBezTo>
                    <a:pt x="1876" y="381"/>
                    <a:pt x="1878" y="383"/>
                    <a:pt x="1881" y="382"/>
                  </a:cubicBezTo>
                  <a:cubicBezTo>
                    <a:pt x="1884" y="381"/>
                    <a:pt x="1885" y="385"/>
                    <a:pt x="1887" y="383"/>
                  </a:cubicBezTo>
                  <a:cubicBezTo>
                    <a:pt x="1890" y="381"/>
                    <a:pt x="1891" y="384"/>
                    <a:pt x="1894" y="381"/>
                  </a:cubicBezTo>
                  <a:cubicBezTo>
                    <a:pt x="1896" y="379"/>
                    <a:pt x="1887" y="377"/>
                    <a:pt x="1889" y="375"/>
                  </a:cubicBezTo>
                  <a:cubicBezTo>
                    <a:pt x="1890" y="373"/>
                    <a:pt x="1892" y="377"/>
                    <a:pt x="1894" y="376"/>
                  </a:cubicBezTo>
                  <a:cubicBezTo>
                    <a:pt x="1897" y="376"/>
                    <a:pt x="1893" y="371"/>
                    <a:pt x="1895" y="371"/>
                  </a:cubicBezTo>
                  <a:cubicBezTo>
                    <a:pt x="1897" y="370"/>
                    <a:pt x="1896" y="360"/>
                    <a:pt x="1894" y="360"/>
                  </a:cubicBezTo>
                  <a:cubicBezTo>
                    <a:pt x="1892" y="359"/>
                    <a:pt x="1893" y="356"/>
                    <a:pt x="1897" y="358"/>
                  </a:cubicBezTo>
                  <a:cubicBezTo>
                    <a:pt x="1901" y="361"/>
                    <a:pt x="1907" y="361"/>
                    <a:pt x="1910" y="361"/>
                  </a:cubicBezTo>
                  <a:cubicBezTo>
                    <a:pt x="1913" y="361"/>
                    <a:pt x="1910" y="358"/>
                    <a:pt x="1907" y="358"/>
                  </a:cubicBezTo>
                  <a:cubicBezTo>
                    <a:pt x="1904" y="357"/>
                    <a:pt x="1908" y="355"/>
                    <a:pt x="1910" y="357"/>
                  </a:cubicBezTo>
                  <a:cubicBezTo>
                    <a:pt x="1912" y="359"/>
                    <a:pt x="1915" y="360"/>
                    <a:pt x="1916" y="358"/>
                  </a:cubicBezTo>
                  <a:cubicBezTo>
                    <a:pt x="1916" y="356"/>
                    <a:pt x="1918" y="351"/>
                    <a:pt x="1922" y="351"/>
                  </a:cubicBezTo>
                  <a:cubicBezTo>
                    <a:pt x="1925" y="352"/>
                    <a:pt x="1926" y="350"/>
                    <a:pt x="1923" y="348"/>
                  </a:cubicBezTo>
                  <a:close/>
                  <a:moveTo>
                    <a:pt x="993" y="567"/>
                  </a:moveTo>
                  <a:cubicBezTo>
                    <a:pt x="984" y="576"/>
                    <a:pt x="965" y="578"/>
                    <a:pt x="965" y="585"/>
                  </a:cubicBezTo>
                  <a:cubicBezTo>
                    <a:pt x="965" y="592"/>
                    <a:pt x="942" y="595"/>
                    <a:pt x="940" y="592"/>
                  </a:cubicBezTo>
                  <a:cubicBezTo>
                    <a:pt x="938" y="589"/>
                    <a:pt x="957" y="589"/>
                    <a:pt x="961" y="579"/>
                  </a:cubicBezTo>
                  <a:cubicBezTo>
                    <a:pt x="966" y="569"/>
                    <a:pt x="983" y="563"/>
                    <a:pt x="991" y="550"/>
                  </a:cubicBezTo>
                  <a:cubicBezTo>
                    <a:pt x="997" y="541"/>
                    <a:pt x="1002" y="526"/>
                    <a:pt x="1006" y="527"/>
                  </a:cubicBezTo>
                  <a:cubicBezTo>
                    <a:pt x="1009" y="528"/>
                    <a:pt x="1003" y="559"/>
                    <a:pt x="993" y="567"/>
                  </a:cubicBezTo>
                  <a:close/>
                  <a:moveTo>
                    <a:pt x="385" y="202"/>
                  </a:moveTo>
                  <a:cubicBezTo>
                    <a:pt x="385" y="206"/>
                    <a:pt x="383" y="208"/>
                    <a:pt x="377" y="208"/>
                  </a:cubicBezTo>
                  <a:cubicBezTo>
                    <a:pt x="370" y="208"/>
                    <a:pt x="380" y="212"/>
                    <a:pt x="380" y="216"/>
                  </a:cubicBezTo>
                  <a:cubicBezTo>
                    <a:pt x="381" y="219"/>
                    <a:pt x="374" y="217"/>
                    <a:pt x="374" y="222"/>
                  </a:cubicBezTo>
                  <a:cubicBezTo>
                    <a:pt x="373" y="228"/>
                    <a:pt x="361" y="222"/>
                    <a:pt x="360" y="230"/>
                  </a:cubicBezTo>
                  <a:cubicBezTo>
                    <a:pt x="358" y="237"/>
                    <a:pt x="366" y="236"/>
                    <a:pt x="371" y="236"/>
                  </a:cubicBezTo>
                  <a:cubicBezTo>
                    <a:pt x="376" y="237"/>
                    <a:pt x="369" y="242"/>
                    <a:pt x="373" y="245"/>
                  </a:cubicBezTo>
                  <a:cubicBezTo>
                    <a:pt x="377" y="248"/>
                    <a:pt x="380" y="247"/>
                    <a:pt x="377" y="241"/>
                  </a:cubicBezTo>
                  <a:cubicBezTo>
                    <a:pt x="375" y="235"/>
                    <a:pt x="391" y="243"/>
                    <a:pt x="386" y="247"/>
                  </a:cubicBezTo>
                  <a:cubicBezTo>
                    <a:pt x="381" y="252"/>
                    <a:pt x="394" y="255"/>
                    <a:pt x="401" y="255"/>
                  </a:cubicBezTo>
                  <a:cubicBezTo>
                    <a:pt x="407" y="256"/>
                    <a:pt x="429" y="260"/>
                    <a:pt x="430" y="255"/>
                  </a:cubicBezTo>
                  <a:cubicBezTo>
                    <a:pt x="430" y="252"/>
                    <a:pt x="422" y="249"/>
                    <a:pt x="415" y="242"/>
                  </a:cubicBezTo>
                  <a:cubicBezTo>
                    <a:pt x="408" y="234"/>
                    <a:pt x="403" y="222"/>
                    <a:pt x="411" y="217"/>
                  </a:cubicBezTo>
                  <a:cubicBezTo>
                    <a:pt x="419" y="212"/>
                    <a:pt x="412" y="210"/>
                    <a:pt x="420" y="204"/>
                  </a:cubicBezTo>
                  <a:cubicBezTo>
                    <a:pt x="428" y="199"/>
                    <a:pt x="423" y="193"/>
                    <a:pt x="430" y="193"/>
                  </a:cubicBezTo>
                  <a:cubicBezTo>
                    <a:pt x="436" y="192"/>
                    <a:pt x="429" y="186"/>
                    <a:pt x="436" y="185"/>
                  </a:cubicBezTo>
                  <a:cubicBezTo>
                    <a:pt x="442" y="184"/>
                    <a:pt x="444" y="177"/>
                    <a:pt x="443" y="174"/>
                  </a:cubicBezTo>
                  <a:cubicBezTo>
                    <a:pt x="442" y="171"/>
                    <a:pt x="450" y="174"/>
                    <a:pt x="453" y="170"/>
                  </a:cubicBezTo>
                  <a:cubicBezTo>
                    <a:pt x="457" y="166"/>
                    <a:pt x="466" y="169"/>
                    <a:pt x="468" y="163"/>
                  </a:cubicBezTo>
                  <a:cubicBezTo>
                    <a:pt x="471" y="158"/>
                    <a:pt x="509" y="145"/>
                    <a:pt x="531" y="140"/>
                  </a:cubicBezTo>
                  <a:cubicBezTo>
                    <a:pt x="553" y="135"/>
                    <a:pt x="568" y="126"/>
                    <a:pt x="560" y="120"/>
                  </a:cubicBezTo>
                  <a:cubicBezTo>
                    <a:pt x="552" y="114"/>
                    <a:pt x="531" y="122"/>
                    <a:pt x="525" y="126"/>
                  </a:cubicBezTo>
                  <a:cubicBezTo>
                    <a:pt x="520" y="131"/>
                    <a:pt x="512" y="128"/>
                    <a:pt x="507" y="131"/>
                  </a:cubicBezTo>
                  <a:cubicBezTo>
                    <a:pt x="502" y="134"/>
                    <a:pt x="490" y="136"/>
                    <a:pt x="485" y="133"/>
                  </a:cubicBezTo>
                  <a:cubicBezTo>
                    <a:pt x="479" y="129"/>
                    <a:pt x="472" y="137"/>
                    <a:pt x="468" y="137"/>
                  </a:cubicBezTo>
                  <a:cubicBezTo>
                    <a:pt x="464" y="136"/>
                    <a:pt x="459" y="141"/>
                    <a:pt x="454" y="141"/>
                  </a:cubicBezTo>
                  <a:cubicBezTo>
                    <a:pt x="449" y="140"/>
                    <a:pt x="440" y="144"/>
                    <a:pt x="439" y="147"/>
                  </a:cubicBezTo>
                  <a:cubicBezTo>
                    <a:pt x="439" y="150"/>
                    <a:pt x="431" y="149"/>
                    <a:pt x="431" y="152"/>
                  </a:cubicBezTo>
                  <a:cubicBezTo>
                    <a:pt x="431" y="156"/>
                    <a:pt x="424" y="159"/>
                    <a:pt x="421" y="156"/>
                  </a:cubicBezTo>
                  <a:cubicBezTo>
                    <a:pt x="418" y="153"/>
                    <a:pt x="414" y="159"/>
                    <a:pt x="418" y="163"/>
                  </a:cubicBezTo>
                  <a:cubicBezTo>
                    <a:pt x="423" y="168"/>
                    <a:pt x="410" y="168"/>
                    <a:pt x="412" y="171"/>
                  </a:cubicBezTo>
                  <a:cubicBezTo>
                    <a:pt x="414" y="173"/>
                    <a:pt x="407" y="175"/>
                    <a:pt x="409" y="178"/>
                  </a:cubicBezTo>
                  <a:cubicBezTo>
                    <a:pt x="410" y="181"/>
                    <a:pt x="404" y="182"/>
                    <a:pt x="399" y="183"/>
                  </a:cubicBezTo>
                  <a:cubicBezTo>
                    <a:pt x="394" y="184"/>
                    <a:pt x="391" y="191"/>
                    <a:pt x="398" y="191"/>
                  </a:cubicBezTo>
                  <a:cubicBezTo>
                    <a:pt x="404" y="191"/>
                    <a:pt x="394" y="192"/>
                    <a:pt x="395" y="197"/>
                  </a:cubicBezTo>
                  <a:cubicBezTo>
                    <a:pt x="395" y="202"/>
                    <a:pt x="384" y="199"/>
                    <a:pt x="385" y="202"/>
                  </a:cubicBezTo>
                  <a:close/>
                  <a:moveTo>
                    <a:pt x="430" y="29"/>
                  </a:moveTo>
                  <a:cubicBezTo>
                    <a:pt x="431" y="32"/>
                    <a:pt x="429" y="32"/>
                    <a:pt x="422" y="32"/>
                  </a:cubicBezTo>
                  <a:cubicBezTo>
                    <a:pt x="415" y="32"/>
                    <a:pt x="412" y="36"/>
                    <a:pt x="415" y="39"/>
                  </a:cubicBezTo>
                  <a:cubicBezTo>
                    <a:pt x="419" y="42"/>
                    <a:pt x="437" y="41"/>
                    <a:pt x="440" y="37"/>
                  </a:cubicBezTo>
                  <a:cubicBezTo>
                    <a:pt x="443" y="33"/>
                    <a:pt x="451" y="36"/>
                    <a:pt x="452" y="32"/>
                  </a:cubicBezTo>
                  <a:cubicBezTo>
                    <a:pt x="453" y="28"/>
                    <a:pt x="429" y="26"/>
                    <a:pt x="430" y="29"/>
                  </a:cubicBezTo>
                  <a:close/>
                  <a:moveTo>
                    <a:pt x="387" y="33"/>
                  </a:moveTo>
                  <a:cubicBezTo>
                    <a:pt x="387" y="28"/>
                    <a:pt x="370" y="34"/>
                    <a:pt x="373" y="35"/>
                  </a:cubicBezTo>
                  <a:cubicBezTo>
                    <a:pt x="376" y="36"/>
                    <a:pt x="387" y="39"/>
                    <a:pt x="387" y="33"/>
                  </a:cubicBezTo>
                  <a:close/>
                  <a:moveTo>
                    <a:pt x="429" y="11"/>
                  </a:moveTo>
                  <a:cubicBezTo>
                    <a:pt x="437" y="11"/>
                    <a:pt x="434" y="6"/>
                    <a:pt x="440" y="7"/>
                  </a:cubicBezTo>
                  <a:cubicBezTo>
                    <a:pt x="445" y="7"/>
                    <a:pt x="452" y="7"/>
                    <a:pt x="449" y="4"/>
                  </a:cubicBezTo>
                  <a:cubicBezTo>
                    <a:pt x="447" y="0"/>
                    <a:pt x="427" y="2"/>
                    <a:pt x="429" y="4"/>
                  </a:cubicBezTo>
                  <a:cubicBezTo>
                    <a:pt x="431" y="7"/>
                    <a:pt x="414" y="6"/>
                    <a:pt x="414" y="7"/>
                  </a:cubicBezTo>
                  <a:cubicBezTo>
                    <a:pt x="415" y="9"/>
                    <a:pt x="421" y="11"/>
                    <a:pt x="429" y="11"/>
                  </a:cubicBezTo>
                  <a:close/>
                  <a:moveTo>
                    <a:pt x="487" y="23"/>
                  </a:moveTo>
                  <a:cubicBezTo>
                    <a:pt x="490" y="20"/>
                    <a:pt x="483" y="20"/>
                    <a:pt x="482" y="17"/>
                  </a:cubicBezTo>
                  <a:cubicBezTo>
                    <a:pt x="482" y="14"/>
                    <a:pt x="463" y="13"/>
                    <a:pt x="464" y="16"/>
                  </a:cubicBezTo>
                  <a:cubicBezTo>
                    <a:pt x="465" y="20"/>
                    <a:pt x="451" y="23"/>
                    <a:pt x="455" y="27"/>
                  </a:cubicBezTo>
                  <a:cubicBezTo>
                    <a:pt x="463" y="33"/>
                    <a:pt x="485" y="26"/>
                    <a:pt x="487" y="23"/>
                  </a:cubicBezTo>
                  <a:close/>
                  <a:moveTo>
                    <a:pt x="434" y="17"/>
                  </a:moveTo>
                  <a:cubicBezTo>
                    <a:pt x="435" y="10"/>
                    <a:pt x="424" y="16"/>
                    <a:pt x="415" y="12"/>
                  </a:cubicBezTo>
                  <a:cubicBezTo>
                    <a:pt x="406" y="9"/>
                    <a:pt x="401" y="9"/>
                    <a:pt x="407" y="14"/>
                  </a:cubicBezTo>
                  <a:cubicBezTo>
                    <a:pt x="410" y="16"/>
                    <a:pt x="392" y="18"/>
                    <a:pt x="395" y="21"/>
                  </a:cubicBezTo>
                  <a:cubicBezTo>
                    <a:pt x="401" y="27"/>
                    <a:pt x="433" y="24"/>
                    <a:pt x="434" y="17"/>
                  </a:cubicBezTo>
                  <a:close/>
                </a:path>
              </a:pathLst>
            </a:custGeom>
            <a:grpFill/>
            <a:ln w="9525">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1" name="Freeform 158"/>
            <p:cNvSpPr>
              <a:spLocks noChangeArrowheads="1"/>
            </p:cNvSpPr>
            <p:nvPr/>
          </p:nvSpPr>
          <p:spPr bwMode="auto">
            <a:xfrm>
              <a:off x="3908438" y="2347914"/>
              <a:ext cx="395289" cy="415926"/>
            </a:xfrm>
            <a:custGeom>
              <a:avLst/>
              <a:gdLst>
                <a:gd name="T0" fmla="*/ 184 w 206"/>
                <a:gd name="T1" fmla="*/ 102 h 218"/>
                <a:gd name="T2" fmla="*/ 184 w 206"/>
                <a:gd name="T3" fmla="*/ 95 h 218"/>
                <a:gd name="T4" fmla="*/ 181 w 206"/>
                <a:gd name="T5" fmla="*/ 91 h 218"/>
                <a:gd name="T6" fmla="*/ 186 w 206"/>
                <a:gd name="T7" fmla="*/ 81 h 218"/>
                <a:gd name="T8" fmla="*/ 189 w 206"/>
                <a:gd name="T9" fmla="*/ 71 h 218"/>
                <a:gd name="T10" fmla="*/ 194 w 206"/>
                <a:gd name="T11" fmla="*/ 54 h 218"/>
                <a:gd name="T12" fmla="*/ 203 w 206"/>
                <a:gd name="T13" fmla="*/ 44 h 218"/>
                <a:gd name="T14" fmla="*/ 203 w 206"/>
                <a:gd name="T15" fmla="*/ 33 h 218"/>
                <a:gd name="T16" fmla="*/ 204 w 206"/>
                <a:gd name="T17" fmla="*/ 23 h 218"/>
                <a:gd name="T18" fmla="*/ 185 w 206"/>
                <a:gd name="T19" fmla="*/ 13 h 218"/>
                <a:gd name="T20" fmla="*/ 172 w 206"/>
                <a:gd name="T21" fmla="*/ 13 h 218"/>
                <a:gd name="T22" fmla="*/ 164 w 206"/>
                <a:gd name="T23" fmla="*/ 4 h 218"/>
                <a:gd name="T24" fmla="*/ 156 w 206"/>
                <a:gd name="T25" fmla="*/ 6 h 218"/>
                <a:gd name="T26" fmla="*/ 134 w 206"/>
                <a:gd name="T27" fmla="*/ 6 h 218"/>
                <a:gd name="T28" fmla="*/ 114 w 206"/>
                <a:gd name="T29" fmla="*/ 9 h 218"/>
                <a:gd name="T30" fmla="*/ 89 w 206"/>
                <a:gd name="T31" fmla="*/ 13 h 218"/>
                <a:gd name="T32" fmla="*/ 68 w 206"/>
                <a:gd name="T33" fmla="*/ 16 h 218"/>
                <a:gd name="T34" fmla="*/ 66 w 206"/>
                <a:gd name="T35" fmla="*/ 35 h 218"/>
                <a:gd name="T36" fmla="*/ 53 w 206"/>
                <a:gd name="T37" fmla="*/ 71 h 218"/>
                <a:gd name="T38" fmla="*/ 43 w 206"/>
                <a:gd name="T39" fmla="*/ 102 h 218"/>
                <a:gd name="T40" fmla="*/ 32 w 206"/>
                <a:gd name="T41" fmla="*/ 117 h 218"/>
                <a:gd name="T42" fmla="*/ 18 w 206"/>
                <a:gd name="T43" fmla="*/ 117 h 218"/>
                <a:gd name="T44" fmla="*/ 0 w 206"/>
                <a:gd name="T45" fmla="*/ 121 h 218"/>
                <a:gd name="T46" fmla="*/ 4 w 206"/>
                <a:gd name="T47" fmla="*/ 135 h 218"/>
                <a:gd name="T48" fmla="*/ 47 w 206"/>
                <a:gd name="T49" fmla="*/ 132 h 218"/>
                <a:gd name="T50" fmla="*/ 53 w 206"/>
                <a:gd name="T51" fmla="*/ 150 h 218"/>
                <a:gd name="T52" fmla="*/ 76 w 206"/>
                <a:gd name="T53" fmla="*/ 155 h 218"/>
                <a:gd name="T54" fmla="*/ 89 w 206"/>
                <a:gd name="T55" fmla="*/ 145 h 218"/>
                <a:gd name="T56" fmla="*/ 102 w 206"/>
                <a:gd name="T57" fmla="*/ 149 h 218"/>
                <a:gd name="T58" fmla="*/ 103 w 206"/>
                <a:gd name="T59" fmla="*/ 174 h 218"/>
                <a:gd name="T60" fmla="*/ 108 w 206"/>
                <a:gd name="T61" fmla="*/ 192 h 218"/>
                <a:gd name="T62" fmla="*/ 124 w 206"/>
                <a:gd name="T63" fmla="*/ 188 h 218"/>
                <a:gd name="T64" fmla="*/ 130 w 206"/>
                <a:gd name="T65" fmla="*/ 191 h 218"/>
                <a:gd name="T66" fmla="*/ 140 w 206"/>
                <a:gd name="T67" fmla="*/ 193 h 218"/>
                <a:gd name="T68" fmla="*/ 153 w 206"/>
                <a:gd name="T69" fmla="*/ 201 h 218"/>
                <a:gd name="T70" fmla="*/ 162 w 206"/>
                <a:gd name="T71" fmla="*/ 198 h 218"/>
                <a:gd name="T72" fmla="*/ 177 w 206"/>
                <a:gd name="T73" fmla="*/ 206 h 218"/>
                <a:gd name="T74" fmla="*/ 189 w 206"/>
                <a:gd name="T75" fmla="*/ 216 h 218"/>
                <a:gd name="T76" fmla="*/ 190 w 206"/>
                <a:gd name="T77" fmla="*/ 203 h 218"/>
                <a:gd name="T78" fmla="*/ 175 w 206"/>
                <a:gd name="T79" fmla="*/ 196 h 218"/>
                <a:gd name="T80" fmla="*/ 178 w 206"/>
                <a:gd name="T81" fmla="*/ 173 h 218"/>
                <a:gd name="T82" fmla="*/ 182 w 206"/>
                <a:gd name="T83" fmla="*/ 160 h 218"/>
                <a:gd name="T84" fmla="*/ 196 w 206"/>
                <a:gd name="T85" fmla="*/ 157 h 218"/>
                <a:gd name="T86" fmla="*/ 189 w 206"/>
                <a:gd name="T87" fmla="*/ 144 h 21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6"/>
                <a:gd name="T133" fmla="*/ 0 h 218"/>
                <a:gd name="T134" fmla="*/ 206 w 206"/>
                <a:gd name="T135" fmla="*/ 218 h 21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6" h="218">
                  <a:moveTo>
                    <a:pt x="189" y="144"/>
                  </a:moveTo>
                  <a:cubicBezTo>
                    <a:pt x="183" y="141"/>
                    <a:pt x="181" y="103"/>
                    <a:pt x="184" y="102"/>
                  </a:cubicBezTo>
                  <a:cubicBezTo>
                    <a:pt x="184" y="102"/>
                    <a:pt x="185" y="102"/>
                    <a:pt x="185" y="103"/>
                  </a:cubicBezTo>
                  <a:cubicBezTo>
                    <a:pt x="184" y="95"/>
                    <a:pt x="184" y="95"/>
                    <a:pt x="184" y="95"/>
                  </a:cubicBezTo>
                  <a:cubicBezTo>
                    <a:pt x="184" y="95"/>
                    <a:pt x="184" y="94"/>
                    <a:pt x="184" y="94"/>
                  </a:cubicBezTo>
                  <a:cubicBezTo>
                    <a:pt x="183" y="94"/>
                    <a:pt x="181" y="93"/>
                    <a:pt x="181" y="91"/>
                  </a:cubicBezTo>
                  <a:cubicBezTo>
                    <a:pt x="181" y="88"/>
                    <a:pt x="184" y="88"/>
                    <a:pt x="184" y="88"/>
                  </a:cubicBezTo>
                  <a:cubicBezTo>
                    <a:pt x="184" y="88"/>
                    <a:pt x="183" y="82"/>
                    <a:pt x="186" y="81"/>
                  </a:cubicBezTo>
                  <a:cubicBezTo>
                    <a:pt x="187" y="80"/>
                    <a:pt x="187" y="80"/>
                    <a:pt x="187" y="79"/>
                  </a:cubicBezTo>
                  <a:cubicBezTo>
                    <a:pt x="189" y="78"/>
                    <a:pt x="189" y="74"/>
                    <a:pt x="189" y="71"/>
                  </a:cubicBezTo>
                  <a:cubicBezTo>
                    <a:pt x="189" y="68"/>
                    <a:pt x="190" y="64"/>
                    <a:pt x="191" y="62"/>
                  </a:cubicBezTo>
                  <a:cubicBezTo>
                    <a:pt x="193" y="59"/>
                    <a:pt x="192" y="55"/>
                    <a:pt x="194" y="54"/>
                  </a:cubicBezTo>
                  <a:cubicBezTo>
                    <a:pt x="196" y="52"/>
                    <a:pt x="196" y="48"/>
                    <a:pt x="198" y="47"/>
                  </a:cubicBezTo>
                  <a:cubicBezTo>
                    <a:pt x="201" y="47"/>
                    <a:pt x="203" y="46"/>
                    <a:pt x="203" y="44"/>
                  </a:cubicBezTo>
                  <a:cubicBezTo>
                    <a:pt x="203" y="43"/>
                    <a:pt x="206" y="41"/>
                    <a:pt x="206" y="38"/>
                  </a:cubicBezTo>
                  <a:cubicBezTo>
                    <a:pt x="206" y="36"/>
                    <a:pt x="203" y="36"/>
                    <a:pt x="203" y="33"/>
                  </a:cubicBezTo>
                  <a:cubicBezTo>
                    <a:pt x="203" y="30"/>
                    <a:pt x="204" y="23"/>
                    <a:pt x="204" y="23"/>
                  </a:cubicBezTo>
                  <a:cubicBezTo>
                    <a:pt x="204" y="23"/>
                    <a:pt x="204" y="23"/>
                    <a:pt x="204" y="23"/>
                  </a:cubicBezTo>
                  <a:cubicBezTo>
                    <a:pt x="198" y="18"/>
                    <a:pt x="192" y="13"/>
                    <a:pt x="191" y="12"/>
                  </a:cubicBezTo>
                  <a:cubicBezTo>
                    <a:pt x="189" y="11"/>
                    <a:pt x="185" y="13"/>
                    <a:pt x="185" y="13"/>
                  </a:cubicBezTo>
                  <a:cubicBezTo>
                    <a:pt x="185" y="13"/>
                    <a:pt x="182" y="10"/>
                    <a:pt x="179" y="13"/>
                  </a:cubicBezTo>
                  <a:cubicBezTo>
                    <a:pt x="176" y="15"/>
                    <a:pt x="172" y="13"/>
                    <a:pt x="172" y="13"/>
                  </a:cubicBezTo>
                  <a:cubicBezTo>
                    <a:pt x="172" y="13"/>
                    <a:pt x="168" y="11"/>
                    <a:pt x="167" y="7"/>
                  </a:cubicBezTo>
                  <a:cubicBezTo>
                    <a:pt x="166" y="6"/>
                    <a:pt x="165" y="5"/>
                    <a:pt x="164" y="4"/>
                  </a:cubicBezTo>
                  <a:cubicBezTo>
                    <a:pt x="164" y="5"/>
                    <a:pt x="164" y="5"/>
                    <a:pt x="164" y="5"/>
                  </a:cubicBezTo>
                  <a:cubicBezTo>
                    <a:pt x="156" y="6"/>
                    <a:pt x="156" y="6"/>
                    <a:pt x="156" y="6"/>
                  </a:cubicBezTo>
                  <a:cubicBezTo>
                    <a:pt x="156" y="6"/>
                    <a:pt x="146" y="0"/>
                    <a:pt x="143" y="5"/>
                  </a:cubicBezTo>
                  <a:cubicBezTo>
                    <a:pt x="141" y="9"/>
                    <a:pt x="139" y="6"/>
                    <a:pt x="134" y="6"/>
                  </a:cubicBezTo>
                  <a:cubicBezTo>
                    <a:pt x="130" y="6"/>
                    <a:pt x="125" y="8"/>
                    <a:pt x="123" y="9"/>
                  </a:cubicBezTo>
                  <a:cubicBezTo>
                    <a:pt x="120" y="11"/>
                    <a:pt x="116" y="8"/>
                    <a:pt x="114" y="9"/>
                  </a:cubicBezTo>
                  <a:cubicBezTo>
                    <a:pt x="111" y="11"/>
                    <a:pt x="110" y="17"/>
                    <a:pt x="110" y="17"/>
                  </a:cubicBezTo>
                  <a:cubicBezTo>
                    <a:pt x="89" y="13"/>
                    <a:pt x="89" y="13"/>
                    <a:pt x="89" y="13"/>
                  </a:cubicBezTo>
                  <a:cubicBezTo>
                    <a:pt x="89" y="13"/>
                    <a:pt x="84" y="7"/>
                    <a:pt x="79" y="7"/>
                  </a:cubicBezTo>
                  <a:cubicBezTo>
                    <a:pt x="75" y="7"/>
                    <a:pt x="68" y="16"/>
                    <a:pt x="68" y="16"/>
                  </a:cubicBezTo>
                  <a:cubicBezTo>
                    <a:pt x="68" y="23"/>
                    <a:pt x="68" y="23"/>
                    <a:pt x="68" y="23"/>
                  </a:cubicBezTo>
                  <a:cubicBezTo>
                    <a:pt x="69" y="28"/>
                    <a:pt x="67" y="33"/>
                    <a:pt x="66" y="35"/>
                  </a:cubicBezTo>
                  <a:cubicBezTo>
                    <a:pt x="64" y="38"/>
                    <a:pt x="62" y="40"/>
                    <a:pt x="62" y="47"/>
                  </a:cubicBezTo>
                  <a:cubicBezTo>
                    <a:pt x="62" y="54"/>
                    <a:pt x="53" y="65"/>
                    <a:pt x="53" y="71"/>
                  </a:cubicBezTo>
                  <a:cubicBezTo>
                    <a:pt x="53" y="76"/>
                    <a:pt x="44" y="80"/>
                    <a:pt x="44" y="83"/>
                  </a:cubicBezTo>
                  <a:cubicBezTo>
                    <a:pt x="44" y="87"/>
                    <a:pt x="43" y="94"/>
                    <a:pt x="43" y="102"/>
                  </a:cubicBezTo>
                  <a:cubicBezTo>
                    <a:pt x="43" y="110"/>
                    <a:pt x="39" y="103"/>
                    <a:pt x="39" y="110"/>
                  </a:cubicBezTo>
                  <a:cubicBezTo>
                    <a:pt x="39" y="117"/>
                    <a:pt x="35" y="113"/>
                    <a:pt x="32" y="117"/>
                  </a:cubicBezTo>
                  <a:cubicBezTo>
                    <a:pt x="28" y="120"/>
                    <a:pt x="27" y="121"/>
                    <a:pt x="27" y="117"/>
                  </a:cubicBezTo>
                  <a:cubicBezTo>
                    <a:pt x="27" y="114"/>
                    <a:pt x="22" y="113"/>
                    <a:pt x="18" y="117"/>
                  </a:cubicBezTo>
                  <a:cubicBezTo>
                    <a:pt x="14" y="120"/>
                    <a:pt x="12" y="117"/>
                    <a:pt x="10" y="116"/>
                  </a:cubicBezTo>
                  <a:cubicBezTo>
                    <a:pt x="9" y="115"/>
                    <a:pt x="4" y="118"/>
                    <a:pt x="0" y="121"/>
                  </a:cubicBezTo>
                  <a:cubicBezTo>
                    <a:pt x="2" y="126"/>
                    <a:pt x="3" y="130"/>
                    <a:pt x="4" y="134"/>
                  </a:cubicBezTo>
                  <a:cubicBezTo>
                    <a:pt x="4" y="134"/>
                    <a:pt x="4" y="135"/>
                    <a:pt x="4" y="135"/>
                  </a:cubicBezTo>
                  <a:cubicBezTo>
                    <a:pt x="6" y="133"/>
                    <a:pt x="9" y="132"/>
                    <a:pt x="10" y="132"/>
                  </a:cubicBezTo>
                  <a:cubicBezTo>
                    <a:pt x="14" y="131"/>
                    <a:pt x="47" y="132"/>
                    <a:pt x="47" y="132"/>
                  </a:cubicBezTo>
                  <a:cubicBezTo>
                    <a:pt x="47" y="132"/>
                    <a:pt x="50" y="137"/>
                    <a:pt x="49" y="141"/>
                  </a:cubicBezTo>
                  <a:cubicBezTo>
                    <a:pt x="48" y="146"/>
                    <a:pt x="51" y="144"/>
                    <a:pt x="53" y="150"/>
                  </a:cubicBezTo>
                  <a:cubicBezTo>
                    <a:pt x="56" y="156"/>
                    <a:pt x="58" y="158"/>
                    <a:pt x="63" y="157"/>
                  </a:cubicBezTo>
                  <a:cubicBezTo>
                    <a:pt x="68" y="155"/>
                    <a:pt x="74" y="154"/>
                    <a:pt x="76" y="155"/>
                  </a:cubicBezTo>
                  <a:cubicBezTo>
                    <a:pt x="78" y="155"/>
                    <a:pt x="77" y="146"/>
                    <a:pt x="80" y="145"/>
                  </a:cubicBezTo>
                  <a:cubicBezTo>
                    <a:pt x="83" y="143"/>
                    <a:pt x="89" y="145"/>
                    <a:pt x="89" y="145"/>
                  </a:cubicBezTo>
                  <a:cubicBezTo>
                    <a:pt x="89" y="145"/>
                    <a:pt x="90" y="147"/>
                    <a:pt x="95" y="147"/>
                  </a:cubicBezTo>
                  <a:cubicBezTo>
                    <a:pt x="100" y="147"/>
                    <a:pt x="102" y="145"/>
                    <a:pt x="102" y="149"/>
                  </a:cubicBezTo>
                  <a:cubicBezTo>
                    <a:pt x="102" y="152"/>
                    <a:pt x="103" y="156"/>
                    <a:pt x="104" y="158"/>
                  </a:cubicBezTo>
                  <a:cubicBezTo>
                    <a:pt x="106" y="159"/>
                    <a:pt x="100" y="172"/>
                    <a:pt x="103" y="174"/>
                  </a:cubicBezTo>
                  <a:cubicBezTo>
                    <a:pt x="105" y="176"/>
                    <a:pt x="109" y="180"/>
                    <a:pt x="108" y="183"/>
                  </a:cubicBezTo>
                  <a:cubicBezTo>
                    <a:pt x="108" y="185"/>
                    <a:pt x="106" y="191"/>
                    <a:pt x="108" y="192"/>
                  </a:cubicBezTo>
                  <a:cubicBezTo>
                    <a:pt x="110" y="192"/>
                    <a:pt x="111" y="189"/>
                    <a:pt x="114" y="189"/>
                  </a:cubicBezTo>
                  <a:cubicBezTo>
                    <a:pt x="118" y="189"/>
                    <a:pt x="121" y="189"/>
                    <a:pt x="124" y="188"/>
                  </a:cubicBezTo>
                  <a:cubicBezTo>
                    <a:pt x="126" y="187"/>
                    <a:pt x="127" y="187"/>
                    <a:pt x="127" y="188"/>
                  </a:cubicBezTo>
                  <a:cubicBezTo>
                    <a:pt x="129" y="189"/>
                    <a:pt x="130" y="191"/>
                    <a:pt x="130" y="191"/>
                  </a:cubicBezTo>
                  <a:cubicBezTo>
                    <a:pt x="130" y="191"/>
                    <a:pt x="131" y="194"/>
                    <a:pt x="133" y="193"/>
                  </a:cubicBezTo>
                  <a:cubicBezTo>
                    <a:pt x="135" y="192"/>
                    <a:pt x="141" y="191"/>
                    <a:pt x="140" y="193"/>
                  </a:cubicBezTo>
                  <a:cubicBezTo>
                    <a:pt x="140" y="195"/>
                    <a:pt x="142" y="199"/>
                    <a:pt x="144" y="198"/>
                  </a:cubicBezTo>
                  <a:cubicBezTo>
                    <a:pt x="146" y="197"/>
                    <a:pt x="151" y="201"/>
                    <a:pt x="153" y="201"/>
                  </a:cubicBezTo>
                  <a:cubicBezTo>
                    <a:pt x="156" y="201"/>
                    <a:pt x="158" y="201"/>
                    <a:pt x="158" y="200"/>
                  </a:cubicBezTo>
                  <a:cubicBezTo>
                    <a:pt x="158" y="198"/>
                    <a:pt x="161" y="196"/>
                    <a:pt x="162" y="198"/>
                  </a:cubicBezTo>
                  <a:cubicBezTo>
                    <a:pt x="163" y="200"/>
                    <a:pt x="166" y="204"/>
                    <a:pt x="168" y="204"/>
                  </a:cubicBezTo>
                  <a:cubicBezTo>
                    <a:pt x="171" y="204"/>
                    <a:pt x="177" y="204"/>
                    <a:pt x="177" y="206"/>
                  </a:cubicBezTo>
                  <a:cubicBezTo>
                    <a:pt x="177" y="208"/>
                    <a:pt x="179" y="214"/>
                    <a:pt x="181" y="216"/>
                  </a:cubicBezTo>
                  <a:cubicBezTo>
                    <a:pt x="184" y="218"/>
                    <a:pt x="189" y="216"/>
                    <a:pt x="189" y="216"/>
                  </a:cubicBezTo>
                  <a:cubicBezTo>
                    <a:pt x="189" y="216"/>
                    <a:pt x="191" y="214"/>
                    <a:pt x="191" y="211"/>
                  </a:cubicBezTo>
                  <a:cubicBezTo>
                    <a:pt x="191" y="207"/>
                    <a:pt x="191" y="203"/>
                    <a:pt x="190" y="203"/>
                  </a:cubicBezTo>
                  <a:cubicBezTo>
                    <a:pt x="188" y="203"/>
                    <a:pt x="186" y="206"/>
                    <a:pt x="182" y="205"/>
                  </a:cubicBezTo>
                  <a:cubicBezTo>
                    <a:pt x="179" y="204"/>
                    <a:pt x="176" y="197"/>
                    <a:pt x="175" y="196"/>
                  </a:cubicBezTo>
                  <a:cubicBezTo>
                    <a:pt x="173" y="195"/>
                    <a:pt x="177" y="189"/>
                    <a:pt x="177" y="186"/>
                  </a:cubicBezTo>
                  <a:cubicBezTo>
                    <a:pt x="177" y="183"/>
                    <a:pt x="180" y="174"/>
                    <a:pt x="178" y="173"/>
                  </a:cubicBezTo>
                  <a:cubicBezTo>
                    <a:pt x="176" y="172"/>
                    <a:pt x="177" y="169"/>
                    <a:pt x="179" y="167"/>
                  </a:cubicBezTo>
                  <a:cubicBezTo>
                    <a:pt x="182" y="165"/>
                    <a:pt x="178" y="160"/>
                    <a:pt x="182" y="160"/>
                  </a:cubicBezTo>
                  <a:cubicBezTo>
                    <a:pt x="186" y="160"/>
                    <a:pt x="194" y="160"/>
                    <a:pt x="196" y="157"/>
                  </a:cubicBezTo>
                  <a:cubicBezTo>
                    <a:pt x="196" y="157"/>
                    <a:pt x="196" y="157"/>
                    <a:pt x="196" y="157"/>
                  </a:cubicBezTo>
                  <a:cubicBezTo>
                    <a:pt x="197" y="156"/>
                    <a:pt x="197" y="156"/>
                    <a:pt x="197" y="155"/>
                  </a:cubicBezTo>
                  <a:cubicBezTo>
                    <a:pt x="195" y="151"/>
                    <a:pt x="192" y="145"/>
                    <a:pt x="189" y="144"/>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2" name="Freeform 159"/>
            <p:cNvSpPr>
              <a:spLocks noChangeArrowheads="1"/>
            </p:cNvSpPr>
            <p:nvPr/>
          </p:nvSpPr>
          <p:spPr bwMode="auto">
            <a:xfrm>
              <a:off x="4260864" y="2520953"/>
              <a:ext cx="34925" cy="46038"/>
            </a:xfrm>
            <a:custGeom>
              <a:avLst/>
              <a:gdLst>
                <a:gd name="T0" fmla="*/ 1 w 18"/>
                <a:gd name="T1" fmla="*/ 12 h 24"/>
                <a:gd name="T2" fmla="*/ 4 w 18"/>
                <a:gd name="T3" fmla="*/ 24 h 24"/>
                <a:gd name="T4" fmla="*/ 9 w 18"/>
                <a:gd name="T5" fmla="*/ 21 h 24"/>
                <a:gd name="T6" fmla="*/ 18 w 18"/>
                <a:gd name="T7" fmla="*/ 8 h 24"/>
                <a:gd name="T8" fmla="*/ 15 w 18"/>
                <a:gd name="T9" fmla="*/ 6 h 24"/>
                <a:gd name="T10" fmla="*/ 14 w 18"/>
                <a:gd name="T11" fmla="*/ 0 h 24"/>
                <a:gd name="T12" fmla="*/ 9 w 18"/>
                <a:gd name="T13" fmla="*/ 0 h 24"/>
                <a:gd name="T14" fmla="*/ 3 w 18"/>
                <a:gd name="T15" fmla="*/ 4 h 24"/>
                <a:gd name="T16" fmla="*/ 0 w 18"/>
                <a:gd name="T17" fmla="*/ 3 h 24"/>
                <a:gd name="T18" fmla="*/ 0 w 18"/>
                <a:gd name="T19" fmla="*/ 4 h 24"/>
                <a:gd name="T20" fmla="*/ 1 w 18"/>
                <a:gd name="T21" fmla="*/ 12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24"/>
                <a:gd name="T35" fmla="*/ 18 w 1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24">
                  <a:moveTo>
                    <a:pt x="1" y="12"/>
                  </a:moveTo>
                  <a:cubicBezTo>
                    <a:pt x="2" y="14"/>
                    <a:pt x="3" y="19"/>
                    <a:pt x="4" y="24"/>
                  </a:cubicBezTo>
                  <a:cubicBezTo>
                    <a:pt x="6" y="22"/>
                    <a:pt x="8" y="21"/>
                    <a:pt x="9" y="21"/>
                  </a:cubicBezTo>
                  <a:cubicBezTo>
                    <a:pt x="11" y="20"/>
                    <a:pt x="18" y="8"/>
                    <a:pt x="18" y="8"/>
                  </a:cubicBezTo>
                  <a:cubicBezTo>
                    <a:pt x="15" y="6"/>
                    <a:pt x="15" y="6"/>
                    <a:pt x="15" y="6"/>
                  </a:cubicBezTo>
                  <a:cubicBezTo>
                    <a:pt x="15" y="6"/>
                    <a:pt x="15" y="3"/>
                    <a:pt x="14" y="0"/>
                  </a:cubicBezTo>
                  <a:cubicBezTo>
                    <a:pt x="12" y="0"/>
                    <a:pt x="9" y="0"/>
                    <a:pt x="9" y="0"/>
                  </a:cubicBezTo>
                  <a:cubicBezTo>
                    <a:pt x="9" y="0"/>
                    <a:pt x="10" y="5"/>
                    <a:pt x="3" y="4"/>
                  </a:cubicBezTo>
                  <a:cubicBezTo>
                    <a:pt x="2" y="3"/>
                    <a:pt x="1" y="3"/>
                    <a:pt x="0" y="3"/>
                  </a:cubicBezTo>
                  <a:cubicBezTo>
                    <a:pt x="0" y="3"/>
                    <a:pt x="0" y="4"/>
                    <a:pt x="0" y="4"/>
                  </a:cubicBezTo>
                  <a:lnTo>
                    <a:pt x="1" y="12"/>
                  </a:ln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3" name="Freeform 160"/>
            <p:cNvSpPr>
              <a:spLocks noChangeArrowheads="1"/>
            </p:cNvSpPr>
            <p:nvPr/>
          </p:nvSpPr>
          <p:spPr bwMode="auto">
            <a:xfrm>
              <a:off x="4281502" y="2698754"/>
              <a:ext cx="230189" cy="368300"/>
            </a:xfrm>
            <a:custGeom>
              <a:avLst/>
              <a:gdLst>
                <a:gd name="T0" fmla="*/ 119 w 120"/>
                <a:gd name="T1" fmla="*/ 50 h 193"/>
                <a:gd name="T2" fmla="*/ 116 w 120"/>
                <a:gd name="T3" fmla="*/ 28 h 193"/>
                <a:gd name="T4" fmla="*/ 115 w 120"/>
                <a:gd name="T5" fmla="*/ 1 h 193"/>
                <a:gd name="T6" fmla="*/ 115 w 120"/>
                <a:gd name="T7" fmla="*/ 0 h 193"/>
                <a:gd name="T8" fmla="*/ 103 w 120"/>
                <a:gd name="T9" fmla="*/ 7 h 193"/>
                <a:gd name="T10" fmla="*/ 95 w 120"/>
                <a:gd name="T11" fmla="*/ 9 h 193"/>
                <a:gd name="T12" fmla="*/ 89 w 120"/>
                <a:gd name="T13" fmla="*/ 8 h 193"/>
                <a:gd name="T14" fmla="*/ 85 w 120"/>
                <a:gd name="T15" fmla="*/ 13 h 193"/>
                <a:gd name="T16" fmla="*/ 78 w 120"/>
                <a:gd name="T17" fmla="*/ 13 h 193"/>
                <a:gd name="T18" fmla="*/ 69 w 120"/>
                <a:gd name="T19" fmla="*/ 15 h 193"/>
                <a:gd name="T20" fmla="*/ 65 w 120"/>
                <a:gd name="T21" fmla="*/ 11 h 193"/>
                <a:gd name="T22" fmla="*/ 58 w 120"/>
                <a:gd name="T23" fmla="*/ 13 h 193"/>
                <a:gd name="T24" fmla="*/ 52 w 120"/>
                <a:gd name="T25" fmla="*/ 12 h 193"/>
                <a:gd name="T26" fmla="*/ 51 w 120"/>
                <a:gd name="T27" fmla="*/ 16 h 193"/>
                <a:gd name="T28" fmla="*/ 56 w 120"/>
                <a:gd name="T29" fmla="*/ 40 h 193"/>
                <a:gd name="T30" fmla="*/ 63 w 120"/>
                <a:gd name="T31" fmla="*/ 46 h 193"/>
                <a:gd name="T32" fmla="*/ 63 w 120"/>
                <a:gd name="T33" fmla="*/ 58 h 193"/>
                <a:gd name="T34" fmla="*/ 57 w 120"/>
                <a:gd name="T35" fmla="*/ 65 h 193"/>
                <a:gd name="T36" fmla="*/ 56 w 120"/>
                <a:gd name="T37" fmla="*/ 75 h 193"/>
                <a:gd name="T38" fmla="*/ 46 w 120"/>
                <a:gd name="T39" fmla="*/ 62 h 193"/>
                <a:gd name="T40" fmla="*/ 48 w 120"/>
                <a:gd name="T41" fmla="*/ 47 h 193"/>
                <a:gd name="T42" fmla="*/ 39 w 120"/>
                <a:gd name="T43" fmla="*/ 46 h 193"/>
                <a:gd name="T44" fmla="*/ 31 w 120"/>
                <a:gd name="T45" fmla="*/ 40 h 193"/>
                <a:gd name="T46" fmla="*/ 0 w 120"/>
                <a:gd name="T47" fmla="*/ 52 h 193"/>
                <a:gd name="T48" fmla="*/ 2 w 120"/>
                <a:gd name="T49" fmla="*/ 60 h 193"/>
                <a:gd name="T50" fmla="*/ 2 w 120"/>
                <a:gd name="T51" fmla="*/ 60 h 193"/>
                <a:gd name="T52" fmla="*/ 3 w 120"/>
                <a:gd name="T53" fmla="*/ 64 h 193"/>
                <a:gd name="T54" fmla="*/ 18 w 120"/>
                <a:gd name="T55" fmla="*/ 67 h 193"/>
                <a:gd name="T56" fmla="*/ 31 w 120"/>
                <a:gd name="T57" fmla="*/ 72 h 193"/>
                <a:gd name="T58" fmla="*/ 31 w 120"/>
                <a:gd name="T59" fmla="*/ 89 h 193"/>
                <a:gd name="T60" fmla="*/ 28 w 120"/>
                <a:gd name="T61" fmla="*/ 99 h 193"/>
                <a:gd name="T62" fmla="*/ 32 w 120"/>
                <a:gd name="T63" fmla="*/ 108 h 193"/>
                <a:gd name="T64" fmla="*/ 26 w 120"/>
                <a:gd name="T65" fmla="*/ 116 h 193"/>
                <a:gd name="T66" fmla="*/ 23 w 120"/>
                <a:gd name="T67" fmla="*/ 127 h 193"/>
                <a:gd name="T68" fmla="*/ 11 w 120"/>
                <a:gd name="T69" fmla="*/ 138 h 193"/>
                <a:gd name="T70" fmla="*/ 12 w 120"/>
                <a:gd name="T71" fmla="*/ 139 h 193"/>
                <a:gd name="T72" fmla="*/ 19 w 120"/>
                <a:gd name="T73" fmla="*/ 160 h 193"/>
                <a:gd name="T74" fmla="*/ 20 w 120"/>
                <a:gd name="T75" fmla="*/ 180 h 193"/>
                <a:gd name="T76" fmla="*/ 21 w 120"/>
                <a:gd name="T77" fmla="*/ 193 h 193"/>
                <a:gd name="T78" fmla="*/ 30 w 120"/>
                <a:gd name="T79" fmla="*/ 193 h 193"/>
                <a:gd name="T80" fmla="*/ 30 w 120"/>
                <a:gd name="T81" fmla="*/ 187 h 193"/>
                <a:gd name="T82" fmla="*/ 26 w 120"/>
                <a:gd name="T83" fmla="*/ 183 h 193"/>
                <a:gd name="T84" fmla="*/ 43 w 120"/>
                <a:gd name="T85" fmla="*/ 170 h 193"/>
                <a:gd name="T86" fmla="*/ 57 w 120"/>
                <a:gd name="T87" fmla="*/ 161 h 193"/>
                <a:gd name="T88" fmla="*/ 59 w 120"/>
                <a:gd name="T89" fmla="*/ 145 h 193"/>
                <a:gd name="T90" fmla="*/ 57 w 120"/>
                <a:gd name="T91" fmla="*/ 130 h 193"/>
                <a:gd name="T92" fmla="*/ 51 w 120"/>
                <a:gd name="T93" fmla="*/ 116 h 193"/>
                <a:gd name="T94" fmla="*/ 53 w 120"/>
                <a:gd name="T95" fmla="*/ 108 h 193"/>
                <a:gd name="T96" fmla="*/ 58 w 120"/>
                <a:gd name="T97" fmla="*/ 102 h 193"/>
                <a:gd name="T98" fmla="*/ 68 w 120"/>
                <a:gd name="T99" fmla="*/ 96 h 193"/>
                <a:gd name="T100" fmla="*/ 79 w 120"/>
                <a:gd name="T101" fmla="*/ 83 h 193"/>
                <a:gd name="T102" fmla="*/ 101 w 120"/>
                <a:gd name="T103" fmla="*/ 73 h 193"/>
                <a:gd name="T104" fmla="*/ 119 w 120"/>
                <a:gd name="T105" fmla="*/ 50 h 19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20"/>
                <a:gd name="T160" fmla="*/ 0 h 193"/>
                <a:gd name="T161" fmla="*/ 120 w 120"/>
                <a:gd name="T162" fmla="*/ 193 h 19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20" h="193">
                  <a:moveTo>
                    <a:pt x="119" y="50"/>
                  </a:moveTo>
                  <a:cubicBezTo>
                    <a:pt x="118" y="47"/>
                    <a:pt x="116" y="33"/>
                    <a:pt x="116" y="28"/>
                  </a:cubicBezTo>
                  <a:cubicBezTo>
                    <a:pt x="117" y="22"/>
                    <a:pt x="115" y="8"/>
                    <a:pt x="115" y="1"/>
                  </a:cubicBezTo>
                  <a:cubicBezTo>
                    <a:pt x="115" y="0"/>
                    <a:pt x="115" y="0"/>
                    <a:pt x="115" y="0"/>
                  </a:cubicBezTo>
                  <a:cubicBezTo>
                    <a:pt x="110" y="3"/>
                    <a:pt x="104" y="5"/>
                    <a:pt x="103" y="7"/>
                  </a:cubicBezTo>
                  <a:cubicBezTo>
                    <a:pt x="102" y="9"/>
                    <a:pt x="98" y="6"/>
                    <a:pt x="95" y="9"/>
                  </a:cubicBezTo>
                  <a:cubicBezTo>
                    <a:pt x="93" y="11"/>
                    <a:pt x="91" y="9"/>
                    <a:pt x="89" y="8"/>
                  </a:cubicBezTo>
                  <a:cubicBezTo>
                    <a:pt x="86" y="8"/>
                    <a:pt x="85" y="11"/>
                    <a:pt x="85" y="13"/>
                  </a:cubicBezTo>
                  <a:cubicBezTo>
                    <a:pt x="85" y="15"/>
                    <a:pt x="80" y="14"/>
                    <a:pt x="78" y="13"/>
                  </a:cubicBezTo>
                  <a:cubicBezTo>
                    <a:pt x="77" y="13"/>
                    <a:pt x="71" y="15"/>
                    <a:pt x="69" y="15"/>
                  </a:cubicBezTo>
                  <a:cubicBezTo>
                    <a:pt x="66" y="15"/>
                    <a:pt x="68" y="12"/>
                    <a:pt x="65" y="11"/>
                  </a:cubicBezTo>
                  <a:cubicBezTo>
                    <a:pt x="62" y="10"/>
                    <a:pt x="60" y="13"/>
                    <a:pt x="58" y="13"/>
                  </a:cubicBezTo>
                  <a:cubicBezTo>
                    <a:pt x="57" y="13"/>
                    <a:pt x="54" y="12"/>
                    <a:pt x="52" y="12"/>
                  </a:cubicBezTo>
                  <a:cubicBezTo>
                    <a:pt x="52" y="13"/>
                    <a:pt x="52" y="15"/>
                    <a:pt x="51" y="16"/>
                  </a:cubicBezTo>
                  <a:cubicBezTo>
                    <a:pt x="49" y="21"/>
                    <a:pt x="56" y="34"/>
                    <a:pt x="56" y="40"/>
                  </a:cubicBezTo>
                  <a:cubicBezTo>
                    <a:pt x="59" y="42"/>
                    <a:pt x="62" y="44"/>
                    <a:pt x="63" y="46"/>
                  </a:cubicBezTo>
                  <a:cubicBezTo>
                    <a:pt x="66" y="50"/>
                    <a:pt x="63" y="50"/>
                    <a:pt x="63" y="58"/>
                  </a:cubicBezTo>
                  <a:cubicBezTo>
                    <a:pt x="64" y="66"/>
                    <a:pt x="60" y="62"/>
                    <a:pt x="57" y="65"/>
                  </a:cubicBezTo>
                  <a:cubicBezTo>
                    <a:pt x="54" y="68"/>
                    <a:pt x="57" y="74"/>
                    <a:pt x="56" y="75"/>
                  </a:cubicBezTo>
                  <a:cubicBezTo>
                    <a:pt x="55" y="77"/>
                    <a:pt x="46" y="64"/>
                    <a:pt x="46" y="62"/>
                  </a:cubicBezTo>
                  <a:cubicBezTo>
                    <a:pt x="45" y="60"/>
                    <a:pt x="49" y="52"/>
                    <a:pt x="48" y="47"/>
                  </a:cubicBezTo>
                  <a:cubicBezTo>
                    <a:pt x="47" y="42"/>
                    <a:pt x="41" y="45"/>
                    <a:pt x="39" y="46"/>
                  </a:cubicBezTo>
                  <a:cubicBezTo>
                    <a:pt x="37" y="46"/>
                    <a:pt x="32" y="40"/>
                    <a:pt x="31" y="40"/>
                  </a:cubicBezTo>
                  <a:cubicBezTo>
                    <a:pt x="30" y="40"/>
                    <a:pt x="0" y="52"/>
                    <a:pt x="0" y="52"/>
                  </a:cubicBezTo>
                  <a:cubicBezTo>
                    <a:pt x="2" y="60"/>
                    <a:pt x="2" y="60"/>
                    <a:pt x="2" y="60"/>
                  </a:cubicBezTo>
                  <a:cubicBezTo>
                    <a:pt x="2" y="60"/>
                    <a:pt x="2" y="60"/>
                    <a:pt x="2" y="60"/>
                  </a:cubicBezTo>
                  <a:cubicBezTo>
                    <a:pt x="3" y="64"/>
                    <a:pt x="3" y="64"/>
                    <a:pt x="3" y="64"/>
                  </a:cubicBezTo>
                  <a:cubicBezTo>
                    <a:pt x="3" y="64"/>
                    <a:pt x="13" y="64"/>
                    <a:pt x="18" y="67"/>
                  </a:cubicBezTo>
                  <a:cubicBezTo>
                    <a:pt x="22" y="70"/>
                    <a:pt x="29" y="71"/>
                    <a:pt x="31" y="72"/>
                  </a:cubicBezTo>
                  <a:cubicBezTo>
                    <a:pt x="32" y="73"/>
                    <a:pt x="31" y="84"/>
                    <a:pt x="31" y="89"/>
                  </a:cubicBezTo>
                  <a:cubicBezTo>
                    <a:pt x="32" y="95"/>
                    <a:pt x="25" y="96"/>
                    <a:pt x="28" y="99"/>
                  </a:cubicBezTo>
                  <a:cubicBezTo>
                    <a:pt x="31" y="102"/>
                    <a:pt x="30" y="107"/>
                    <a:pt x="32" y="108"/>
                  </a:cubicBezTo>
                  <a:cubicBezTo>
                    <a:pt x="34" y="108"/>
                    <a:pt x="28" y="115"/>
                    <a:pt x="26" y="116"/>
                  </a:cubicBezTo>
                  <a:cubicBezTo>
                    <a:pt x="23" y="118"/>
                    <a:pt x="26" y="123"/>
                    <a:pt x="23" y="127"/>
                  </a:cubicBezTo>
                  <a:cubicBezTo>
                    <a:pt x="21" y="130"/>
                    <a:pt x="15" y="135"/>
                    <a:pt x="11" y="138"/>
                  </a:cubicBezTo>
                  <a:cubicBezTo>
                    <a:pt x="12" y="139"/>
                    <a:pt x="12" y="139"/>
                    <a:pt x="12" y="139"/>
                  </a:cubicBezTo>
                  <a:cubicBezTo>
                    <a:pt x="13" y="141"/>
                    <a:pt x="16" y="158"/>
                    <a:pt x="19" y="160"/>
                  </a:cubicBezTo>
                  <a:cubicBezTo>
                    <a:pt x="22" y="162"/>
                    <a:pt x="20" y="179"/>
                    <a:pt x="20" y="180"/>
                  </a:cubicBezTo>
                  <a:cubicBezTo>
                    <a:pt x="20" y="182"/>
                    <a:pt x="21" y="193"/>
                    <a:pt x="21" y="193"/>
                  </a:cubicBezTo>
                  <a:cubicBezTo>
                    <a:pt x="21" y="193"/>
                    <a:pt x="26" y="193"/>
                    <a:pt x="30" y="193"/>
                  </a:cubicBezTo>
                  <a:cubicBezTo>
                    <a:pt x="30" y="190"/>
                    <a:pt x="30" y="188"/>
                    <a:pt x="30" y="187"/>
                  </a:cubicBezTo>
                  <a:cubicBezTo>
                    <a:pt x="30" y="182"/>
                    <a:pt x="27" y="186"/>
                    <a:pt x="26" y="183"/>
                  </a:cubicBezTo>
                  <a:cubicBezTo>
                    <a:pt x="24" y="179"/>
                    <a:pt x="34" y="173"/>
                    <a:pt x="43" y="170"/>
                  </a:cubicBezTo>
                  <a:cubicBezTo>
                    <a:pt x="53" y="166"/>
                    <a:pt x="56" y="164"/>
                    <a:pt x="57" y="161"/>
                  </a:cubicBezTo>
                  <a:cubicBezTo>
                    <a:pt x="58" y="158"/>
                    <a:pt x="57" y="148"/>
                    <a:pt x="59" y="145"/>
                  </a:cubicBezTo>
                  <a:cubicBezTo>
                    <a:pt x="60" y="141"/>
                    <a:pt x="58" y="139"/>
                    <a:pt x="57" y="130"/>
                  </a:cubicBezTo>
                  <a:cubicBezTo>
                    <a:pt x="55" y="122"/>
                    <a:pt x="52" y="121"/>
                    <a:pt x="51" y="116"/>
                  </a:cubicBezTo>
                  <a:cubicBezTo>
                    <a:pt x="50" y="111"/>
                    <a:pt x="50" y="108"/>
                    <a:pt x="53" y="108"/>
                  </a:cubicBezTo>
                  <a:cubicBezTo>
                    <a:pt x="56" y="107"/>
                    <a:pt x="56" y="106"/>
                    <a:pt x="58" y="102"/>
                  </a:cubicBezTo>
                  <a:cubicBezTo>
                    <a:pt x="60" y="97"/>
                    <a:pt x="63" y="99"/>
                    <a:pt x="68" y="96"/>
                  </a:cubicBezTo>
                  <a:cubicBezTo>
                    <a:pt x="72" y="92"/>
                    <a:pt x="72" y="88"/>
                    <a:pt x="79" y="83"/>
                  </a:cubicBezTo>
                  <a:cubicBezTo>
                    <a:pt x="87" y="77"/>
                    <a:pt x="94" y="77"/>
                    <a:pt x="101" y="73"/>
                  </a:cubicBezTo>
                  <a:cubicBezTo>
                    <a:pt x="108" y="69"/>
                    <a:pt x="120" y="53"/>
                    <a:pt x="119" y="5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4" name="Freeform 161"/>
            <p:cNvSpPr>
              <a:spLocks noChangeArrowheads="1"/>
            </p:cNvSpPr>
            <p:nvPr/>
          </p:nvSpPr>
          <p:spPr bwMode="auto">
            <a:xfrm>
              <a:off x="4268802" y="2489204"/>
              <a:ext cx="233364" cy="238125"/>
            </a:xfrm>
            <a:custGeom>
              <a:avLst/>
              <a:gdLst>
                <a:gd name="T0" fmla="*/ 114 w 122"/>
                <a:gd name="T1" fmla="*/ 100 h 125"/>
                <a:gd name="T2" fmla="*/ 110 w 122"/>
                <a:gd name="T3" fmla="*/ 88 h 125"/>
                <a:gd name="T4" fmla="*/ 109 w 122"/>
                <a:gd name="T5" fmla="*/ 79 h 125"/>
                <a:gd name="T6" fmla="*/ 111 w 122"/>
                <a:gd name="T7" fmla="*/ 71 h 125"/>
                <a:gd name="T8" fmla="*/ 105 w 122"/>
                <a:gd name="T9" fmla="*/ 61 h 125"/>
                <a:gd name="T10" fmla="*/ 110 w 122"/>
                <a:gd name="T11" fmla="*/ 44 h 125"/>
                <a:gd name="T12" fmla="*/ 91 w 122"/>
                <a:gd name="T13" fmla="*/ 30 h 125"/>
                <a:gd name="T14" fmla="*/ 92 w 122"/>
                <a:gd name="T15" fmla="*/ 24 h 125"/>
                <a:gd name="T16" fmla="*/ 49 w 122"/>
                <a:gd name="T17" fmla="*/ 1 h 125"/>
                <a:gd name="T18" fmla="*/ 44 w 122"/>
                <a:gd name="T19" fmla="*/ 12 h 125"/>
                <a:gd name="T20" fmla="*/ 44 w 122"/>
                <a:gd name="T21" fmla="*/ 19 h 125"/>
                <a:gd name="T22" fmla="*/ 26 w 122"/>
                <a:gd name="T23" fmla="*/ 18 h 125"/>
                <a:gd name="T24" fmla="*/ 26 w 122"/>
                <a:gd name="T25" fmla="*/ 0 h 125"/>
                <a:gd name="T26" fmla="*/ 17 w 122"/>
                <a:gd name="T27" fmla="*/ 1 h 125"/>
                <a:gd name="T28" fmla="*/ 11 w 122"/>
                <a:gd name="T29" fmla="*/ 2 h 125"/>
                <a:gd name="T30" fmla="*/ 13 w 122"/>
                <a:gd name="T31" fmla="*/ 7 h 125"/>
                <a:gd name="T32" fmla="*/ 15 w 122"/>
                <a:gd name="T33" fmla="*/ 15 h 125"/>
                <a:gd name="T34" fmla="*/ 10 w 122"/>
                <a:gd name="T35" fmla="*/ 17 h 125"/>
                <a:gd name="T36" fmla="*/ 11 w 122"/>
                <a:gd name="T37" fmla="*/ 23 h 125"/>
                <a:gd name="T38" fmla="*/ 14 w 122"/>
                <a:gd name="T39" fmla="*/ 25 h 125"/>
                <a:gd name="T40" fmla="*/ 5 w 122"/>
                <a:gd name="T41" fmla="*/ 38 h 125"/>
                <a:gd name="T42" fmla="*/ 0 w 122"/>
                <a:gd name="T43" fmla="*/ 41 h 125"/>
                <a:gd name="T44" fmla="*/ 7 w 122"/>
                <a:gd name="T45" fmla="*/ 62 h 125"/>
                <a:gd name="T46" fmla="*/ 13 w 122"/>
                <a:gd name="T47" fmla="*/ 77 h 125"/>
                <a:gd name="T48" fmla="*/ 15 w 122"/>
                <a:gd name="T49" fmla="*/ 86 h 125"/>
                <a:gd name="T50" fmla="*/ 9 w 122"/>
                <a:gd name="T51" fmla="*/ 81 h 125"/>
                <a:gd name="T52" fmla="*/ 8 w 122"/>
                <a:gd name="T53" fmla="*/ 83 h 125"/>
                <a:gd name="T54" fmla="*/ 8 w 122"/>
                <a:gd name="T55" fmla="*/ 83 h 125"/>
                <a:gd name="T56" fmla="*/ 16 w 122"/>
                <a:gd name="T57" fmla="*/ 88 h 125"/>
                <a:gd name="T58" fmla="*/ 26 w 122"/>
                <a:gd name="T59" fmla="*/ 92 h 125"/>
                <a:gd name="T60" fmla="*/ 41 w 122"/>
                <a:gd name="T61" fmla="*/ 99 h 125"/>
                <a:gd name="T62" fmla="*/ 42 w 122"/>
                <a:gd name="T63" fmla="*/ 100 h 125"/>
                <a:gd name="T64" fmla="*/ 49 w 122"/>
                <a:gd name="T65" fmla="*/ 100 h 125"/>
                <a:gd name="T66" fmla="*/ 51 w 122"/>
                <a:gd name="T67" fmla="*/ 99 h 125"/>
                <a:gd name="T68" fmla="*/ 59 w 122"/>
                <a:gd name="T69" fmla="*/ 122 h 125"/>
                <a:gd name="T70" fmla="*/ 65 w 122"/>
                <a:gd name="T71" fmla="*/ 123 h 125"/>
                <a:gd name="T72" fmla="*/ 72 w 122"/>
                <a:gd name="T73" fmla="*/ 121 h 125"/>
                <a:gd name="T74" fmla="*/ 76 w 122"/>
                <a:gd name="T75" fmla="*/ 125 h 125"/>
                <a:gd name="T76" fmla="*/ 85 w 122"/>
                <a:gd name="T77" fmla="*/ 123 h 125"/>
                <a:gd name="T78" fmla="*/ 92 w 122"/>
                <a:gd name="T79" fmla="*/ 123 h 125"/>
                <a:gd name="T80" fmla="*/ 96 w 122"/>
                <a:gd name="T81" fmla="*/ 118 h 125"/>
                <a:gd name="T82" fmla="*/ 102 w 122"/>
                <a:gd name="T83" fmla="*/ 119 h 125"/>
                <a:gd name="T84" fmla="*/ 110 w 122"/>
                <a:gd name="T85" fmla="*/ 117 h 125"/>
                <a:gd name="T86" fmla="*/ 122 w 122"/>
                <a:gd name="T87" fmla="*/ 110 h 125"/>
                <a:gd name="T88" fmla="*/ 114 w 122"/>
                <a:gd name="T89" fmla="*/ 100 h 12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22"/>
                <a:gd name="T136" fmla="*/ 0 h 125"/>
                <a:gd name="T137" fmla="*/ 122 w 122"/>
                <a:gd name="T138" fmla="*/ 125 h 12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22" h="125">
                  <a:moveTo>
                    <a:pt x="114" y="100"/>
                  </a:moveTo>
                  <a:cubicBezTo>
                    <a:pt x="114" y="93"/>
                    <a:pt x="110" y="93"/>
                    <a:pt x="110" y="88"/>
                  </a:cubicBezTo>
                  <a:cubicBezTo>
                    <a:pt x="110" y="84"/>
                    <a:pt x="111" y="80"/>
                    <a:pt x="109" y="79"/>
                  </a:cubicBezTo>
                  <a:cubicBezTo>
                    <a:pt x="107" y="79"/>
                    <a:pt x="108" y="75"/>
                    <a:pt x="111" y="71"/>
                  </a:cubicBezTo>
                  <a:cubicBezTo>
                    <a:pt x="114" y="67"/>
                    <a:pt x="106" y="66"/>
                    <a:pt x="105" y="61"/>
                  </a:cubicBezTo>
                  <a:cubicBezTo>
                    <a:pt x="105" y="59"/>
                    <a:pt x="107" y="52"/>
                    <a:pt x="110" y="44"/>
                  </a:cubicBezTo>
                  <a:cubicBezTo>
                    <a:pt x="101" y="37"/>
                    <a:pt x="91" y="30"/>
                    <a:pt x="91" y="30"/>
                  </a:cubicBezTo>
                  <a:cubicBezTo>
                    <a:pt x="92" y="24"/>
                    <a:pt x="92" y="24"/>
                    <a:pt x="92" y="24"/>
                  </a:cubicBezTo>
                  <a:cubicBezTo>
                    <a:pt x="49" y="1"/>
                    <a:pt x="49" y="1"/>
                    <a:pt x="49" y="1"/>
                  </a:cubicBezTo>
                  <a:cubicBezTo>
                    <a:pt x="49" y="6"/>
                    <a:pt x="47" y="10"/>
                    <a:pt x="44" y="12"/>
                  </a:cubicBezTo>
                  <a:cubicBezTo>
                    <a:pt x="40" y="13"/>
                    <a:pt x="48" y="18"/>
                    <a:pt x="44" y="19"/>
                  </a:cubicBezTo>
                  <a:cubicBezTo>
                    <a:pt x="41" y="19"/>
                    <a:pt x="32" y="15"/>
                    <a:pt x="26" y="18"/>
                  </a:cubicBezTo>
                  <a:cubicBezTo>
                    <a:pt x="22" y="19"/>
                    <a:pt x="23" y="9"/>
                    <a:pt x="26" y="0"/>
                  </a:cubicBezTo>
                  <a:cubicBezTo>
                    <a:pt x="17" y="1"/>
                    <a:pt x="17" y="1"/>
                    <a:pt x="17" y="1"/>
                  </a:cubicBezTo>
                  <a:cubicBezTo>
                    <a:pt x="17" y="1"/>
                    <a:pt x="14" y="2"/>
                    <a:pt x="11" y="2"/>
                  </a:cubicBezTo>
                  <a:cubicBezTo>
                    <a:pt x="13" y="7"/>
                    <a:pt x="13" y="7"/>
                    <a:pt x="13" y="7"/>
                  </a:cubicBezTo>
                  <a:cubicBezTo>
                    <a:pt x="13" y="7"/>
                    <a:pt x="15" y="12"/>
                    <a:pt x="15" y="15"/>
                  </a:cubicBezTo>
                  <a:cubicBezTo>
                    <a:pt x="15" y="16"/>
                    <a:pt x="13" y="17"/>
                    <a:pt x="10" y="17"/>
                  </a:cubicBezTo>
                  <a:cubicBezTo>
                    <a:pt x="11" y="20"/>
                    <a:pt x="11" y="23"/>
                    <a:pt x="11" y="23"/>
                  </a:cubicBezTo>
                  <a:cubicBezTo>
                    <a:pt x="14" y="25"/>
                    <a:pt x="14" y="25"/>
                    <a:pt x="14" y="25"/>
                  </a:cubicBezTo>
                  <a:cubicBezTo>
                    <a:pt x="14" y="25"/>
                    <a:pt x="7" y="37"/>
                    <a:pt x="5" y="38"/>
                  </a:cubicBezTo>
                  <a:cubicBezTo>
                    <a:pt x="4" y="38"/>
                    <a:pt x="2" y="39"/>
                    <a:pt x="0" y="41"/>
                  </a:cubicBezTo>
                  <a:cubicBezTo>
                    <a:pt x="1" y="49"/>
                    <a:pt x="3" y="59"/>
                    <a:pt x="7" y="62"/>
                  </a:cubicBezTo>
                  <a:cubicBezTo>
                    <a:pt x="12" y="68"/>
                    <a:pt x="11" y="74"/>
                    <a:pt x="13" y="77"/>
                  </a:cubicBezTo>
                  <a:cubicBezTo>
                    <a:pt x="14" y="81"/>
                    <a:pt x="19" y="85"/>
                    <a:pt x="15" y="86"/>
                  </a:cubicBezTo>
                  <a:cubicBezTo>
                    <a:pt x="13" y="87"/>
                    <a:pt x="11" y="85"/>
                    <a:pt x="9" y="81"/>
                  </a:cubicBezTo>
                  <a:cubicBezTo>
                    <a:pt x="9" y="82"/>
                    <a:pt x="9" y="82"/>
                    <a:pt x="8" y="83"/>
                  </a:cubicBezTo>
                  <a:cubicBezTo>
                    <a:pt x="8" y="83"/>
                    <a:pt x="8" y="83"/>
                    <a:pt x="8" y="83"/>
                  </a:cubicBezTo>
                  <a:cubicBezTo>
                    <a:pt x="11" y="86"/>
                    <a:pt x="15" y="88"/>
                    <a:pt x="16" y="88"/>
                  </a:cubicBezTo>
                  <a:cubicBezTo>
                    <a:pt x="19" y="88"/>
                    <a:pt x="24" y="92"/>
                    <a:pt x="26" y="92"/>
                  </a:cubicBezTo>
                  <a:cubicBezTo>
                    <a:pt x="29" y="93"/>
                    <a:pt x="40" y="97"/>
                    <a:pt x="41" y="99"/>
                  </a:cubicBezTo>
                  <a:cubicBezTo>
                    <a:pt x="41" y="99"/>
                    <a:pt x="41" y="99"/>
                    <a:pt x="42" y="100"/>
                  </a:cubicBezTo>
                  <a:cubicBezTo>
                    <a:pt x="44" y="100"/>
                    <a:pt x="47" y="99"/>
                    <a:pt x="49" y="100"/>
                  </a:cubicBezTo>
                  <a:cubicBezTo>
                    <a:pt x="50" y="99"/>
                    <a:pt x="50" y="99"/>
                    <a:pt x="51" y="99"/>
                  </a:cubicBezTo>
                  <a:cubicBezTo>
                    <a:pt x="55" y="99"/>
                    <a:pt x="59" y="113"/>
                    <a:pt x="59" y="122"/>
                  </a:cubicBezTo>
                  <a:cubicBezTo>
                    <a:pt x="61" y="122"/>
                    <a:pt x="64" y="123"/>
                    <a:pt x="65" y="123"/>
                  </a:cubicBezTo>
                  <a:cubicBezTo>
                    <a:pt x="67" y="123"/>
                    <a:pt x="69" y="120"/>
                    <a:pt x="72" y="121"/>
                  </a:cubicBezTo>
                  <a:cubicBezTo>
                    <a:pt x="75" y="122"/>
                    <a:pt x="73" y="125"/>
                    <a:pt x="76" y="125"/>
                  </a:cubicBezTo>
                  <a:cubicBezTo>
                    <a:pt x="78" y="125"/>
                    <a:pt x="84" y="123"/>
                    <a:pt x="85" y="123"/>
                  </a:cubicBezTo>
                  <a:cubicBezTo>
                    <a:pt x="87" y="124"/>
                    <a:pt x="92" y="125"/>
                    <a:pt x="92" y="123"/>
                  </a:cubicBezTo>
                  <a:cubicBezTo>
                    <a:pt x="92" y="121"/>
                    <a:pt x="93" y="118"/>
                    <a:pt x="96" y="118"/>
                  </a:cubicBezTo>
                  <a:cubicBezTo>
                    <a:pt x="98" y="119"/>
                    <a:pt x="100" y="121"/>
                    <a:pt x="102" y="119"/>
                  </a:cubicBezTo>
                  <a:cubicBezTo>
                    <a:pt x="105" y="116"/>
                    <a:pt x="109" y="119"/>
                    <a:pt x="110" y="117"/>
                  </a:cubicBezTo>
                  <a:cubicBezTo>
                    <a:pt x="111" y="115"/>
                    <a:pt x="117" y="113"/>
                    <a:pt x="122" y="110"/>
                  </a:cubicBezTo>
                  <a:cubicBezTo>
                    <a:pt x="122" y="104"/>
                    <a:pt x="115" y="107"/>
                    <a:pt x="114" y="10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5" name="Freeform 162"/>
            <p:cNvSpPr>
              <a:spLocks noChangeArrowheads="1"/>
            </p:cNvSpPr>
            <p:nvPr/>
          </p:nvSpPr>
          <p:spPr bwMode="auto">
            <a:xfrm>
              <a:off x="4337065" y="2678115"/>
              <a:ext cx="71438" cy="168276"/>
            </a:xfrm>
            <a:custGeom>
              <a:avLst/>
              <a:gdLst>
                <a:gd name="T0" fmla="*/ 34 w 37"/>
                <a:gd name="T1" fmla="*/ 57 h 88"/>
                <a:gd name="T2" fmla="*/ 27 w 37"/>
                <a:gd name="T3" fmla="*/ 51 h 88"/>
                <a:gd name="T4" fmla="*/ 27 w 37"/>
                <a:gd name="T5" fmla="*/ 53 h 88"/>
                <a:gd name="T6" fmla="*/ 15 w 37"/>
                <a:gd name="T7" fmla="*/ 35 h 88"/>
                <a:gd name="T8" fmla="*/ 16 w 37"/>
                <a:gd name="T9" fmla="*/ 15 h 88"/>
                <a:gd name="T10" fmla="*/ 13 w 37"/>
                <a:gd name="T11" fmla="*/ 1 h 88"/>
                <a:gd name="T12" fmla="*/ 6 w 37"/>
                <a:gd name="T13" fmla="*/ 1 h 88"/>
                <a:gd name="T14" fmla="*/ 10 w 37"/>
                <a:gd name="T15" fmla="*/ 12 h 88"/>
                <a:gd name="T16" fmla="*/ 6 w 37"/>
                <a:gd name="T17" fmla="*/ 14 h 88"/>
                <a:gd name="T18" fmla="*/ 7 w 37"/>
                <a:gd name="T19" fmla="*/ 32 h 88"/>
                <a:gd name="T20" fmla="*/ 2 w 37"/>
                <a:gd name="T21" fmla="*/ 35 h 88"/>
                <a:gd name="T22" fmla="*/ 0 w 37"/>
                <a:gd name="T23" fmla="*/ 46 h 88"/>
                <a:gd name="T24" fmla="*/ 2 w 37"/>
                <a:gd name="T25" fmla="*/ 51 h 88"/>
                <a:gd name="T26" fmla="*/ 2 w 37"/>
                <a:gd name="T27" fmla="*/ 51 h 88"/>
                <a:gd name="T28" fmla="*/ 10 w 37"/>
                <a:gd name="T29" fmla="*/ 57 h 88"/>
                <a:gd name="T30" fmla="*/ 19 w 37"/>
                <a:gd name="T31" fmla="*/ 58 h 88"/>
                <a:gd name="T32" fmla="*/ 17 w 37"/>
                <a:gd name="T33" fmla="*/ 73 h 88"/>
                <a:gd name="T34" fmla="*/ 27 w 37"/>
                <a:gd name="T35" fmla="*/ 86 h 88"/>
                <a:gd name="T36" fmla="*/ 28 w 37"/>
                <a:gd name="T37" fmla="*/ 76 h 88"/>
                <a:gd name="T38" fmla="*/ 34 w 37"/>
                <a:gd name="T39" fmla="*/ 69 h 88"/>
                <a:gd name="T40" fmla="*/ 34 w 37"/>
                <a:gd name="T41" fmla="*/ 5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7"/>
                <a:gd name="T64" fmla="*/ 0 h 88"/>
                <a:gd name="T65" fmla="*/ 37 w 37"/>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7" h="88">
                  <a:moveTo>
                    <a:pt x="34" y="57"/>
                  </a:moveTo>
                  <a:cubicBezTo>
                    <a:pt x="33" y="55"/>
                    <a:pt x="30" y="53"/>
                    <a:pt x="27" y="51"/>
                  </a:cubicBezTo>
                  <a:cubicBezTo>
                    <a:pt x="27" y="51"/>
                    <a:pt x="27" y="52"/>
                    <a:pt x="27" y="53"/>
                  </a:cubicBezTo>
                  <a:cubicBezTo>
                    <a:pt x="24" y="57"/>
                    <a:pt x="16" y="44"/>
                    <a:pt x="15" y="35"/>
                  </a:cubicBezTo>
                  <a:cubicBezTo>
                    <a:pt x="14" y="27"/>
                    <a:pt x="19" y="23"/>
                    <a:pt x="16" y="15"/>
                  </a:cubicBezTo>
                  <a:cubicBezTo>
                    <a:pt x="13" y="9"/>
                    <a:pt x="11" y="3"/>
                    <a:pt x="13" y="1"/>
                  </a:cubicBezTo>
                  <a:cubicBezTo>
                    <a:pt x="11" y="0"/>
                    <a:pt x="8" y="1"/>
                    <a:pt x="6" y="1"/>
                  </a:cubicBezTo>
                  <a:cubicBezTo>
                    <a:pt x="7" y="4"/>
                    <a:pt x="10" y="10"/>
                    <a:pt x="10" y="12"/>
                  </a:cubicBezTo>
                  <a:cubicBezTo>
                    <a:pt x="10" y="14"/>
                    <a:pt x="7" y="11"/>
                    <a:pt x="6" y="14"/>
                  </a:cubicBezTo>
                  <a:cubicBezTo>
                    <a:pt x="5" y="17"/>
                    <a:pt x="4" y="30"/>
                    <a:pt x="7" y="32"/>
                  </a:cubicBezTo>
                  <a:cubicBezTo>
                    <a:pt x="9" y="35"/>
                    <a:pt x="2" y="33"/>
                    <a:pt x="2" y="35"/>
                  </a:cubicBezTo>
                  <a:cubicBezTo>
                    <a:pt x="2" y="38"/>
                    <a:pt x="1" y="46"/>
                    <a:pt x="0" y="46"/>
                  </a:cubicBezTo>
                  <a:cubicBezTo>
                    <a:pt x="0" y="47"/>
                    <a:pt x="1" y="49"/>
                    <a:pt x="2" y="51"/>
                  </a:cubicBezTo>
                  <a:cubicBezTo>
                    <a:pt x="2" y="51"/>
                    <a:pt x="2" y="51"/>
                    <a:pt x="2" y="51"/>
                  </a:cubicBezTo>
                  <a:cubicBezTo>
                    <a:pt x="3" y="51"/>
                    <a:pt x="8" y="57"/>
                    <a:pt x="10" y="57"/>
                  </a:cubicBezTo>
                  <a:cubicBezTo>
                    <a:pt x="12" y="56"/>
                    <a:pt x="18" y="53"/>
                    <a:pt x="19" y="58"/>
                  </a:cubicBezTo>
                  <a:cubicBezTo>
                    <a:pt x="20" y="63"/>
                    <a:pt x="16" y="71"/>
                    <a:pt x="17" y="73"/>
                  </a:cubicBezTo>
                  <a:cubicBezTo>
                    <a:pt x="17" y="75"/>
                    <a:pt x="26" y="88"/>
                    <a:pt x="27" y="86"/>
                  </a:cubicBezTo>
                  <a:cubicBezTo>
                    <a:pt x="28" y="85"/>
                    <a:pt x="25" y="79"/>
                    <a:pt x="28" y="76"/>
                  </a:cubicBezTo>
                  <a:cubicBezTo>
                    <a:pt x="31" y="73"/>
                    <a:pt x="35" y="77"/>
                    <a:pt x="34" y="69"/>
                  </a:cubicBezTo>
                  <a:cubicBezTo>
                    <a:pt x="34" y="61"/>
                    <a:pt x="37" y="61"/>
                    <a:pt x="34" y="5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6" name="Freeform 163"/>
            <p:cNvSpPr>
              <a:spLocks noChangeArrowheads="1"/>
            </p:cNvSpPr>
            <p:nvPr/>
          </p:nvSpPr>
          <p:spPr bwMode="auto">
            <a:xfrm>
              <a:off x="7164412" y="2919416"/>
              <a:ext cx="73025" cy="57151"/>
            </a:xfrm>
            <a:custGeom>
              <a:avLst/>
              <a:gdLst>
                <a:gd name="T0" fmla="*/ 1 w 38"/>
                <a:gd name="T1" fmla="*/ 5 h 30"/>
                <a:gd name="T2" fmla="*/ 34 w 38"/>
                <a:gd name="T3" fmla="*/ 27 h 30"/>
                <a:gd name="T4" fmla="*/ 1 w 38"/>
                <a:gd name="T5" fmla="*/ 5 h 30"/>
                <a:gd name="T6" fmla="*/ 0 60000 65536"/>
                <a:gd name="T7" fmla="*/ 0 60000 65536"/>
                <a:gd name="T8" fmla="*/ 0 60000 65536"/>
                <a:gd name="T9" fmla="*/ 0 w 38"/>
                <a:gd name="T10" fmla="*/ 0 h 30"/>
                <a:gd name="T11" fmla="*/ 38 w 38"/>
                <a:gd name="T12" fmla="*/ 30 h 30"/>
              </a:gdLst>
              <a:ahLst/>
              <a:cxnLst>
                <a:cxn ang="T6">
                  <a:pos x="T0" y="T1"/>
                </a:cxn>
                <a:cxn ang="T7">
                  <a:pos x="T2" y="T3"/>
                </a:cxn>
                <a:cxn ang="T8">
                  <a:pos x="T4" y="T5"/>
                </a:cxn>
              </a:cxnLst>
              <a:rect l="T9" t="T10" r="T11" b="T12"/>
              <a:pathLst>
                <a:path w="38" h="30">
                  <a:moveTo>
                    <a:pt x="1" y="5"/>
                  </a:moveTo>
                  <a:cubicBezTo>
                    <a:pt x="0" y="0"/>
                    <a:pt x="38" y="25"/>
                    <a:pt x="34" y="27"/>
                  </a:cubicBezTo>
                  <a:cubicBezTo>
                    <a:pt x="30" y="30"/>
                    <a:pt x="2" y="9"/>
                    <a:pt x="1" y="5"/>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7" name="Freeform 164"/>
            <p:cNvSpPr>
              <a:spLocks noChangeArrowheads="1"/>
            </p:cNvSpPr>
            <p:nvPr/>
          </p:nvSpPr>
          <p:spPr bwMode="auto">
            <a:xfrm>
              <a:off x="5102242" y="1530352"/>
              <a:ext cx="166689" cy="111125"/>
            </a:xfrm>
            <a:custGeom>
              <a:avLst/>
              <a:gdLst>
                <a:gd name="T0" fmla="*/ 71 w 87"/>
                <a:gd name="T1" fmla="*/ 47 h 58"/>
                <a:gd name="T2" fmla="*/ 75 w 87"/>
                <a:gd name="T3" fmla="*/ 51 h 58"/>
                <a:gd name="T4" fmla="*/ 83 w 87"/>
                <a:gd name="T5" fmla="*/ 53 h 58"/>
                <a:gd name="T6" fmla="*/ 87 w 87"/>
                <a:gd name="T7" fmla="*/ 52 h 58"/>
                <a:gd name="T8" fmla="*/ 84 w 87"/>
                <a:gd name="T9" fmla="*/ 37 h 58"/>
                <a:gd name="T10" fmla="*/ 73 w 87"/>
                <a:gd name="T11" fmla="*/ 30 h 58"/>
                <a:gd name="T12" fmla="*/ 72 w 87"/>
                <a:gd name="T13" fmla="*/ 20 h 58"/>
                <a:gd name="T14" fmla="*/ 57 w 87"/>
                <a:gd name="T15" fmla="*/ 21 h 58"/>
                <a:gd name="T16" fmla="*/ 47 w 87"/>
                <a:gd name="T17" fmla="*/ 19 h 58"/>
                <a:gd name="T18" fmla="*/ 37 w 87"/>
                <a:gd name="T19" fmla="*/ 19 h 58"/>
                <a:gd name="T20" fmla="*/ 21 w 87"/>
                <a:gd name="T21" fmla="*/ 18 h 58"/>
                <a:gd name="T22" fmla="*/ 29 w 87"/>
                <a:gd name="T23" fmla="*/ 11 h 58"/>
                <a:gd name="T24" fmla="*/ 33 w 87"/>
                <a:gd name="T25" fmla="*/ 11 h 58"/>
                <a:gd name="T26" fmla="*/ 37 w 87"/>
                <a:gd name="T27" fmla="*/ 2 h 58"/>
                <a:gd name="T28" fmla="*/ 29 w 87"/>
                <a:gd name="T29" fmla="*/ 4 h 58"/>
                <a:gd name="T30" fmla="*/ 20 w 87"/>
                <a:gd name="T31" fmla="*/ 6 h 58"/>
                <a:gd name="T32" fmla="*/ 15 w 87"/>
                <a:gd name="T33" fmla="*/ 12 h 58"/>
                <a:gd name="T34" fmla="*/ 11 w 87"/>
                <a:gd name="T35" fmla="*/ 18 h 58"/>
                <a:gd name="T36" fmla="*/ 1 w 87"/>
                <a:gd name="T37" fmla="*/ 22 h 58"/>
                <a:gd name="T38" fmla="*/ 8 w 87"/>
                <a:gd name="T39" fmla="*/ 31 h 58"/>
                <a:gd name="T40" fmla="*/ 9 w 87"/>
                <a:gd name="T41" fmla="*/ 41 h 58"/>
                <a:gd name="T42" fmla="*/ 4 w 87"/>
                <a:gd name="T43" fmla="*/ 52 h 58"/>
                <a:gd name="T44" fmla="*/ 10 w 87"/>
                <a:gd name="T45" fmla="*/ 53 h 58"/>
                <a:gd name="T46" fmla="*/ 21 w 87"/>
                <a:gd name="T47" fmla="*/ 50 h 58"/>
                <a:gd name="T48" fmla="*/ 32 w 87"/>
                <a:gd name="T49" fmla="*/ 44 h 58"/>
                <a:gd name="T50" fmla="*/ 42 w 87"/>
                <a:gd name="T51" fmla="*/ 35 h 58"/>
                <a:gd name="T52" fmla="*/ 47 w 87"/>
                <a:gd name="T53" fmla="*/ 44 h 58"/>
                <a:gd name="T54" fmla="*/ 47 w 87"/>
                <a:gd name="T55" fmla="*/ 57 h 58"/>
                <a:gd name="T56" fmla="*/ 52 w 87"/>
                <a:gd name="T57" fmla="*/ 58 h 58"/>
                <a:gd name="T58" fmla="*/ 58 w 87"/>
                <a:gd name="T59" fmla="*/ 56 h 58"/>
                <a:gd name="T60" fmla="*/ 71 w 87"/>
                <a:gd name="T61" fmla="*/ 47 h 5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87"/>
                <a:gd name="T94" fmla="*/ 0 h 58"/>
                <a:gd name="T95" fmla="*/ 87 w 87"/>
                <a:gd name="T96" fmla="*/ 58 h 5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87" h="58">
                  <a:moveTo>
                    <a:pt x="71" y="47"/>
                  </a:moveTo>
                  <a:cubicBezTo>
                    <a:pt x="73" y="49"/>
                    <a:pt x="73" y="51"/>
                    <a:pt x="75" y="51"/>
                  </a:cubicBezTo>
                  <a:cubicBezTo>
                    <a:pt x="77" y="50"/>
                    <a:pt x="81" y="51"/>
                    <a:pt x="83" y="53"/>
                  </a:cubicBezTo>
                  <a:cubicBezTo>
                    <a:pt x="85" y="53"/>
                    <a:pt x="87" y="52"/>
                    <a:pt x="87" y="52"/>
                  </a:cubicBezTo>
                  <a:cubicBezTo>
                    <a:pt x="87" y="52"/>
                    <a:pt x="85" y="41"/>
                    <a:pt x="84" y="37"/>
                  </a:cubicBezTo>
                  <a:cubicBezTo>
                    <a:pt x="84" y="34"/>
                    <a:pt x="73" y="30"/>
                    <a:pt x="73" y="30"/>
                  </a:cubicBezTo>
                  <a:cubicBezTo>
                    <a:pt x="72" y="20"/>
                    <a:pt x="72" y="20"/>
                    <a:pt x="72" y="20"/>
                  </a:cubicBezTo>
                  <a:cubicBezTo>
                    <a:pt x="72" y="20"/>
                    <a:pt x="59" y="22"/>
                    <a:pt x="57" y="21"/>
                  </a:cubicBezTo>
                  <a:cubicBezTo>
                    <a:pt x="55" y="20"/>
                    <a:pt x="50" y="23"/>
                    <a:pt x="47" y="19"/>
                  </a:cubicBezTo>
                  <a:cubicBezTo>
                    <a:pt x="45" y="16"/>
                    <a:pt x="41" y="22"/>
                    <a:pt x="37" y="19"/>
                  </a:cubicBezTo>
                  <a:cubicBezTo>
                    <a:pt x="33" y="16"/>
                    <a:pt x="22" y="20"/>
                    <a:pt x="21" y="18"/>
                  </a:cubicBezTo>
                  <a:cubicBezTo>
                    <a:pt x="21" y="15"/>
                    <a:pt x="26" y="11"/>
                    <a:pt x="29" y="11"/>
                  </a:cubicBezTo>
                  <a:cubicBezTo>
                    <a:pt x="30" y="11"/>
                    <a:pt x="31" y="11"/>
                    <a:pt x="33" y="11"/>
                  </a:cubicBezTo>
                  <a:cubicBezTo>
                    <a:pt x="34" y="9"/>
                    <a:pt x="37" y="3"/>
                    <a:pt x="37" y="2"/>
                  </a:cubicBezTo>
                  <a:cubicBezTo>
                    <a:pt x="36" y="0"/>
                    <a:pt x="32" y="2"/>
                    <a:pt x="29" y="4"/>
                  </a:cubicBezTo>
                  <a:cubicBezTo>
                    <a:pt x="26" y="6"/>
                    <a:pt x="21" y="3"/>
                    <a:pt x="20" y="6"/>
                  </a:cubicBezTo>
                  <a:cubicBezTo>
                    <a:pt x="19" y="9"/>
                    <a:pt x="18" y="12"/>
                    <a:pt x="15" y="12"/>
                  </a:cubicBezTo>
                  <a:cubicBezTo>
                    <a:pt x="12" y="12"/>
                    <a:pt x="14" y="17"/>
                    <a:pt x="11" y="18"/>
                  </a:cubicBezTo>
                  <a:cubicBezTo>
                    <a:pt x="8" y="19"/>
                    <a:pt x="1" y="19"/>
                    <a:pt x="1" y="22"/>
                  </a:cubicBezTo>
                  <a:cubicBezTo>
                    <a:pt x="0" y="25"/>
                    <a:pt x="8" y="27"/>
                    <a:pt x="8" y="31"/>
                  </a:cubicBezTo>
                  <a:cubicBezTo>
                    <a:pt x="7" y="34"/>
                    <a:pt x="12" y="38"/>
                    <a:pt x="9" y="41"/>
                  </a:cubicBezTo>
                  <a:cubicBezTo>
                    <a:pt x="6" y="43"/>
                    <a:pt x="4" y="46"/>
                    <a:pt x="4" y="52"/>
                  </a:cubicBezTo>
                  <a:cubicBezTo>
                    <a:pt x="7" y="54"/>
                    <a:pt x="9" y="55"/>
                    <a:pt x="10" y="53"/>
                  </a:cubicBezTo>
                  <a:cubicBezTo>
                    <a:pt x="11" y="49"/>
                    <a:pt x="21" y="53"/>
                    <a:pt x="21" y="50"/>
                  </a:cubicBezTo>
                  <a:cubicBezTo>
                    <a:pt x="21" y="47"/>
                    <a:pt x="32" y="48"/>
                    <a:pt x="32" y="44"/>
                  </a:cubicBezTo>
                  <a:cubicBezTo>
                    <a:pt x="32" y="41"/>
                    <a:pt x="38" y="34"/>
                    <a:pt x="42" y="35"/>
                  </a:cubicBezTo>
                  <a:cubicBezTo>
                    <a:pt x="46" y="35"/>
                    <a:pt x="42" y="42"/>
                    <a:pt x="47" y="44"/>
                  </a:cubicBezTo>
                  <a:cubicBezTo>
                    <a:pt x="51" y="46"/>
                    <a:pt x="44" y="54"/>
                    <a:pt x="47" y="57"/>
                  </a:cubicBezTo>
                  <a:cubicBezTo>
                    <a:pt x="48" y="58"/>
                    <a:pt x="50" y="58"/>
                    <a:pt x="52" y="58"/>
                  </a:cubicBezTo>
                  <a:cubicBezTo>
                    <a:pt x="54" y="57"/>
                    <a:pt x="56" y="56"/>
                    <a:pt x="58" y="56"/>
                  </a:cubicBezTo>
                  <a:cubicBezTo>
                    <a:pt x="63" y="52"/>
                    <a:pt x="69" y="46"/>
                    <a:pt x="71" y="4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8" name="Freeform 165"/>
            <p:cNvSpPr>
              <a:spLocks noChangeArrowheads="1"/>
            </p:cNvSpPr>
            <p:nvPr/>
          </p:nvSpPr>
          <p:spPr bwMode="auto">
            <a:xfrm>
              <a:off x="1943107" y="1908177"/>
              <a:ext cx="19050" cy="39688"/>
            </a:xfrm>
            <a:custGeom>
              <a:avLst/>
              <a:gdLst>
                <a:gd name="T0" fmla="*/ 8 w 10"/>
                <a:gd name="T1" fmla="*/ 19 h 21"/>
                <a:gd name="T2" fmla="*/ 4 w 10"/>
                <a:gd name="T3" fmla="*/ 15 h 21"/>
                <a:gd name="T4" fmla="*/ 0 w 10"/>
                <a:gd name="T5" fmla="*/ 7 h 21"/>
                <a:gd name="T6" fmla="*/ 4 w 10"/>
                <a:gd name="T7" fmla="*/ 4 h 21"/>
                <a:gd name="T8" fmla="*/ 5 w 10"/>
                <a:gd name="T9" fmla="*/ 12 h 21"/>
                <a:gd name="T10" fmla="*/ 8 w 10"/>
                <a:gd name="T11" fmla="*/ 19 h 21"/>
                <a:gd name="T12" fmla="*/ 0 60000 65536"/>
                <a:gd name="T13" fmla="*/ 0 60000 65536"/>
                <a:gd name="T14" fmla="*/ 0 60000 65536"/>
                <a:gd name="T15" fmla="*/ 0 60000 65536"/>
                <a:gd name="T16" fmla="*/ 0 60000 65536"/>
                <a:gd name="T17" fmla="*/ 0 60000 65536"/>
                <a:gd name="T18" fmla="*/ 0 w 10"/>
                <a:gd name="T19" fmla="*/ 0 h 21"/>
                <a:gd name="T20" fmla="*/ 10 w 10"/>
                <a:gd name="T21" fmla="*/ 21 h 21"/>
              </a:gdLst>
              <a:ahLst/>
              <a:cxnLst>
                <a:cxn ang="T12">
                  <a:pos x="T0" y="T1"/>
                </a:cxn>
                <a:cxn ang="T13">
                  <a:pos x="T2" y="T3"/>
                </a:cxn>
                <a:cxn ang="T14">
                  <a:pos x="T4" y="T5"/>
                </a:cxn>
                <a:cxn ang="T15">
                  <a:pos x="T6" y="T7"/>
                </a:cxn>
                <a:cxn ang="T16">
                  <a:pos x="T8" y="T9"/>
                </a:cxn>
                <a:cxn ang="T17">
                  <a:pos x="T10" y="T11"/>
                </a:cxn>
              </a:cxnLst>
              <a:rect l="T18" t="T19" r="T20" b="T21"/>
              <a:pathLst>
                <a:path w="10" h="21">
                  <a:moveTo>
                    <a:pt x="8" y="19"/>
                  </a:moveTo>
                  <a:cubicBezTo>
                    <a:pt x="8" y="21"/>
                    <a:pt x="4" y="17"/>
                    <a:pt x="4" y="15"/>
                  </a:cubicBezTo>
                  <a:cubicBezTo>
                    <a:pt x="4" y="12"/>
                    <a:pt x="0" y="12"/>
                    <a:pt x="0" y="7"/>
                  </a:cubicBezTo>
                  <a:cubicBezTo>
                    <a:pt x="0" y="3"/>
                    <a:pt x="2" y="0"/>
                    <a:pt x="4" y="4"/>
                  </a:cubicBezTo>
                  <a:cubicBezTo>
                    <a:pt x="7" y="8"/>
                    <a:pt x="5" y="10"/>
                    <a:pt x="5" y="12"/>
                  </a:cubicBezTo>
                  <a:cubicBezTo>
                    <a:pt x="6" y="14"/>
                    <a:pt x="10" y="17"/>
                    <a:pt x="8"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 name="Freeform 166"/>
            <p:cNvSpPr>
              <a:spLocks noChangeArrowheads="1"/>
            </p:cNvSpPr>
            <p:nvPr/>
          </p:nvSpPr>
          <p:spPr bwMode="auto">
            <a:xfrm>
              <a:off x="2298707" y="2235202"/>
              <a:ext cx="25400" cy="20638"/>
            </a:xfrm>
            <a:custGeom>
              <a:avLst/>
              <a:gdLst>
                <a:gd name="T0" fmla="*/ 3 w 13"/>
                <a:gd name="T1" fmla="*/ 10 h 11"/>
                <a:gd name="T2" fmla="*/ 2 w 13"/>
                <a:gd name="T3" fmla="*/ 4 h 11"/>
                <a:gd name="T4" fmla="*/ 11 w 13"/>
                <a:gd name="T5" fmla="*/ 2 h 11"/>
                <a:gd name="T6" fmla="*/ 11 w 13"/>
                <a:gd name="T7" fmla="*/ 8 h 11"/>
                <a:gd name="T8" fmla="*/ 3 w 13"/>
                <a:gd name="T9" fmla="*/ 10 h 11"/>
                <a:gd name="T10" fmla="*/ 0 60000 65536"/>
                <a:gd name="T11" fmla="*/ 0 60000 65536"/>
                <a:gd name="T12" fmla="*/ 0 60000 65536"/>
                <a:gd name="T13" fmla="*/ 0 60000 65536"/>
                <a:gd name="T14" fmla="*/ 0 60000 65536"/>
                <a:gd name="T15" fmla="*/ 0 w 13"/>
                <a:gd name="T16" fmla="*/ 0 h 11"/>
                <a:gd name="T17" fmla="*/ 13 w 13"/>
                <a:gd name="T18" fmla="*/ 11 h 11"/>
              </a:gdLst>
              <a:ahLst/>
              <a:cxnLst>
                <a:cxn ang="T10">
                  <a:pos x="T0" y="T1"/>
                </a:cxn>
                <a:cxn ang="T11">
                  <a:pos x="T2" y="T3"/>
                </a:cxn>
                <a:cxn ang="T12">
                  <a:pos x="T4" y="T5"/>
                </a:cxn>
                <a:cxn ang="T13">
                  <a:pos x="T6" y="T7"/>
                </a:cxn>
                <a:cxn ang="T14">
                  <a:pos x="T8" y="T9"/>
                </a:cxn>
              </a:cxnLst>
              <a:rect l="T15" t="T16" r="T17" b="T18"/>
              <a:pathLst>
                <a:path w="13" h="11">
                  <a:moveTo>
                    <a:pt x="3" y="10"/>
                  </a:moveTo>
                  <a:cubicBezTo>
                    <a:pt x="1" y="8"/>
                    <a:pt x="5" y="5"/>
                    <a:pt x="2" y="4"/>
                  </a:cubicBezTo>
                  <a:cubicBezTo>
                    <a:pt x="0" y="3"/>
                    <a:pt x="8" y="0"/>
                    <a:pt x="11" y="2"/>
                  </a:cubicBezTo>
                  <a:cubicBezTo>
                    <a:pt x="13" y="4"/>
                    <a:pt x="13" y="7"/>
                    <a:pt x="11" y="8"/>
                  </a:cubicBezTo>
                  <a:cubicBezTo>
                    <a:pt x="9" y="9"/>
                    <a:pt x="4" y="11"/>
                    <a:pt x="3" y="1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0" name="Freeform 167"/>
            <p:cNvSpPr>
              <a:spLocks noChangeArrowheads="1"/>
            </p:cNvSpPr>
            <p:nvPr/>
          </p:nvSpPr>
          <p:spPr bwMode="auto">
            <a:xfrm>
              <a:off x="4572014" y="1519239"/>
              <a:ext cx="71438" cy="61913"/>
            </a:xfrm>
            <a:custGeom>
              <a:avLst/>
              <a:gdLst>
                <a:gd name="T0" fmla="*/ 35 w 37"/>
                <a:gd name="T1" fmla="*/ 26 h 33"/>
                <a:gd name="T2" fmla="*/ 28 w 37"/>
                <a:gd name="T3" fmla="*/ 17 h 33"/>
                <a:gd name="T4" fmla="*/ 24 w 37"/>
                <a:gd name="T5" fmla="*/ 8 h 33"/>
                <a:gd name="T6" fmla="*/ 21 w 37"/>
                <a:gd name="T7" fmla="*/ 2 h 33"/>
                <a:gd name="T8" fmla="*/ 11 w 37"/>
                <a:gd name="T9" fmla="*/ 1 h 33"/>
                <a:gd name="T10" fmla="*/ 0 w 37"/>
                <a:gd name="T11" fmla="*/ 3 h 33"/>
                <a:gd name="T12" fmla="*/ 2 w 37"/>
                <a:gd name="T13" fmla="*/ 12 h 33"/>
                <a:gd name="T14" fmla="*/ 11 w 37"/>
                <a:gd name="T15" fmla="*/ 16 h 33"/>
                <a:gd name="T16" fmla="*/ 13 w 37"/>
                <a:gd name="T17" fmla="*/ 20 h 33"/>
                <a:gd name="T18" fmla="*/ 14 w 37"/>
                <a:gd name="T19" fmla="*/ 20 h 33"/>
                <a:gd name="T20" fmla="*/ 17 w 37"/>
                <a:gd name="T21" fmla="*/ 22 h 33"/>
                <a:gd name="T22" fmla="*/ 22 w 37"/>
                <a:gd name="T23" fmla="*/ 25 h 33"/>
                <a:gd name="T24" fmla="*/ 28 w 37"/>
                <a:gd name="T25" fmla="*/ 27 h 33"/>
                <a:gd name="T26" fmla="*/ 30 w 37"/>
                <a:gd name="T27" fmla="*/ 33 h 33"/>
                <a:gd name="T28" fmla="*/ 37 w 37"/>
                <a:gd name="T29" fmla="*/ 31 h 33"/>
                <a:gd name="T30" fmla="*/ 35 w 37"/>
                <a:gd name="T31" fmla="*/ 26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33"/>
                <a:gd name="T50" fmla="*/ 37 w 37"/>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33">
                  <a:moveTo>
                    <a:pt x="35" y="26"/>
                  </a:moveTo>
                  <a:cubicBezTo>
                    <a:pt x="35" y="23"/>
                    <a:pt x="28" y="21"/>
                    <a:pt x="28" y="17"/>
                  </a:cubicBezTo>
                  <a:cubicBezTo>
                    <a:pt x="28" y="14"/>
                    <a:pt x="23" y="11"/>
                    <a:pt x="24" y="8"/>
                  </a:cubicBezTo>
                  <a:cubicBezTo>
                    <a:pt x="24" y="6"/>
                    <a:pt x="22" y="4"/>
                    <a:pt x="21" y="2"/>
                  </a:cubicBezTo>
                  <a:cubicBezTo>
                    <a:pt x="18" y="1"/>
                    <a:pt x="14" y="0"/>
                    <a:pt x="11" y="1"/>
                  </a:cubicBezTo>
                  <a:cubicBezTo>
                    <a:pt x="7" y="1"/>
                    <a:pt x="4" y="2"/>
                    <a:pt x="0" y="3"/>
                  </a:cubicBezTo>
                  <a:cubicBezTo>
                    <a:pt x="2" y="6"/>
                    <a:pt x="0" y="7"/>
                    <a:pt x="2" y="12"/>
                  </a:cubicBezTo>
                  <a:cubicBezTo>
                    <a:pt x="4" y="17"/>
                    <a:pt x="9" y="14"/>
                    <a:pt x="11" y="16"/>
                  </a:cubicBezTo>
                  <a:cubicBezTo>
                    <a:pt x="11" y="16"/>
                    <a:pt x="12" y="18"/>
                    <a:pt x="13" y="20"/>
                  </a:cubicBezTo>
                  <a:cubicBezTo>
                    <a:pt x="13" y="20"/>
                    <a:pt x="13" y="20"/>
                    <a:pt x="14" y="20"/>
                  </a:cubicBezTo>
                  <a:cubicBezTo>
                    <a:pt x="16" y="20"/>
                    <a:pt x="16" y="21"/>
                    <a:pt x="17" y="22"/>
                  </a:cubicBezTo>
                  <a:cubicBezTo>
                    <a:pt x="19" y="23"/>
                    <a:pt x="21" y="24"/>
                    <a:pt x="22" y="25"/>
                  </a:cubicBezTo>
                  <a:cubicBezTo>
                    <a:pt x="24" y="25"/>
                    <a:pt x="25" y="23"/>
                    <a:pt x="28" y="27"/>
                  </a:cubicBezTo>
                  <a:cubicBezTo>
                    <a:pt x="30" y="29"/>
                    <a:pt x="30" y="30"/>
                    <a:pt x="30" y="33"/>
                  </a:cubicBezTo>
                  <a:cubicBezTo>
                    <a:pt x="33" y="33"/>
                    <a:pt x="35" y="32"/>
                    <a:pt x="37" y="31"/>
                  </a:cubicBezTo>
                  <a:cubicBezTo>
                    <a:pt x="36" y="29"/>
                    <a:pt x="35" y="27"/>
                    <a:pt x="35" y="26"/>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1" name="Freeform 168"/>
            <p:cNvSpPr>
              <a:spLocks noEditPoints="1" noChangeArrowheads="1"/>
            </p:cNvSpPr>
            <p:nvPr/>
          </p:nvSpPr>
          <p:spPr bwMode="auto">
            <a:xfrm>
              <a:off x="4605353" y="1504952"/>
              <a:ext cx="106364" cy="87313"/>
            </a:xfrm>
            <a:custGeom>
              <a:avLst/>
              <a:gdLst>
                <a:gd name="T0" fmla="*/ 53 w 56"/>
                <a:gd name="T1" fmla="*/ 15 h 46"/>
                <a:gd name="T2" fmla="*/ 43 w 56"/>
                <a:gd name="T3" fmla="*/ 2 h 46"/>
                <a:gd name="T4" fmla="*/ 35 w 56"/>
                <a:gd name="T5" fmla="*/ 8 h 46"/>
                <a:gd name="T6" fmla="*/ 30 w 56"/>
                <a:gd name="T7" fmla="*/ 8 h 46"/>
                <a:gd name="T8" fmla="*/ 22 w 56"/>
                <a:gd name="T9" fmla="*/ 2 h 46"/>
                <a:gd name="T10" fmla="*/ 18 w 56"/>
                <a:gd name="T11" fmla="*/ 0 h 46"/>
                <a:gd name="T12" fmla="*/ 16 w 56"/>
                <a:gd name="T13" fmla="*/ 4 h 46"/>
                <a:gd name="T14" fmla="*/ 20 w 56"/>
                <a:gd name="T15" fmla="*/ 9 h 46"/>
                <a:gd name="T16" fmla="*/ 11 w 56"/>
                <a:gd name="T17" fmla="*/ 9 h 46"/>
                <a:gd name="T18" fmla="*/ 3 w 56"/>
                <a:gd name="T19" fmla="*/ 6 h 46"/>
                <a:gd name="T20" fmla="*/ 7 w 56"/>
                <a:gd name="T21" fmla="*/ 15 h 46"/>
                <a:gd name="T22" fmla="*/ 11 w 56"/>
                <a:gd name="T23" fmla="*/ 24 h 46"/>
                <a:gd name="T24" fmla="*/ 18 w 56"/>
                <a:gd name="T25" fmla="*/ 33 h 46"/>
                <a:gd name="T26" fmla="*/ 20 w 56"/>
                <a:gd name="T27" fmla="*/ 38 h 46"/>
                <a:gd name="T28" fmla="*/ 34 w 56"/>
                <a:gd name="T29" fmla="*/ 30 h 46"/>
                <a:gd name="T30" fmla="*/ 36 w 56"/>
                <a:gd name="T31" fmla="*/ 40 h 46"/>
                <a:gd name="T32" fmla="*/ 44 w 56"/>
                <a:gd name="T33" fmla="*/ 46 h 46"/>
                <a:gd name="T34" fmla="*/ 46 w 56"/>
                <a:gd name="T35" fmla="*/ 39 h 46"/>
                <a:gd name="T36" fmla="*/ 53 w 56"/>
                <a:gd name="T37" fmla="*/ 15 h 46"/>
                <a:gd name="T38" fmla="*/ 5 w 56"/>
                <a:gd name="T39" fmla="*/ 32 h 46"/>
                <a:gd name="T40" fmla="*/ 0 w 56"/>
                <a:gd name="T41" fmla="*/ 29 h 46"/>
                <a:gd name="T42" fmla="*/ 3 w 56"/>
                <a:gd name="T43" fmla="*/ 35 h 46"/>
                <a:gd name="T44" fmla="*/ 11 w 56"/>
                <a:gd name="T45" fmla="*/ 40 h 46"/>
                <a:gd name="T46" fmla="*/ 13 w 56"/>
                <a:gd name="T47" fmla="*/ 40 h 46"/>
                <a:gd name="T48" fmla="*/ 11 w 56"/>
                <a:gd name="T49" fmla="*/ 34 h 46"/>
                <a:gd name="T50" fmla="*/ 5 w 56"/>
                <a:gd name="T51" fmla="*/ 32 h 4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56"/>
                <a:gd name="T79" fmla="*/ 0 h 46"/>
                <a:gd name="T80" fmla="*/ 56 w 56"/>
                <a:gd name="T81" fmla="*/ 46 h 4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56" h="46">
                  <a:moveTo>
                    <a:pt x="53" y="15"/>
                  </a:moveTo>
                  <a:cubicBezTo>
                    <a:pt x="51" y="13"/>
                    <a:pt x="47" y="8"/>
                    <a:pt x="43" y="2"/>
                  </a:cubicBezTo>
                  <a:cubicBezTo>
                    <a:pt x="41" y="6"/>
                    <a:pt x="36" y="5"/>
                    <a:pt x="35" y="8"/>
                  </a:cubicBezTo>
                  <a:cubicBezTo>
                    <a:pt x="34" y="10"/>
                    <a:pt x="32" y="7"/>
                    <a:pt x="30" y="8"/>
                  </a:cubicBezTo>
                  <a:cubicBezTo>
                    <a:pt x="29" y="8"/>
                    <a:pt x="25" y="2"/>
                    <a:pt x="22" y="2"/>
                  </a:cubicBezTo>
                  <a:cubicBezTo>
                    <a:pt x="21" y="1"/>
                    <a:pt x="20" y="1"/>
                    <a:pt x="18" y="0"/>
                  </a:cubicBezTo>
                  <a:cubicBezTo>
                    <a:pt x="17" y="2"/>
                    <a:pt x="16" y="3"/>
                    <a:pt x="16" y="4"/>
                  </a:cubicBezTo>
                  <a:cubicBezTo>
                    <a:pt x="17" y="6"/>
                    <a:pt x="21" y="8"/>
                    <a:pt x="20" y="9"/>
                  </a:cubicBezTo>
                  <a:cubicBezTo>
                    <a:pt x="18" y="11"/>
                    <a:pt x="13" y="10"/>
                    <a:pt x="11" y="9"/>
                  </a:cubicBezTo>
                  <a:cubicBezTo>
                    <a:pt x="9" y="7"/>
                    <a:pt x="4" y="4"/>
                    <a:pt x="3" y="6"/>
                  </a:cubicBezTo>
                  <a:cubicBezTo>
                    <a:pt x="2" y="8"/>
                    <a:pt x="8" y="13"/>
                    <a:pt x="7" y="15"/>
                  </a:cubicBezTo>
                  <a:cubicBezTo>
                    <a:pt x="6" y="18"/>
                    <a:pt x="11" y="21"/>
                    <a:pt x="11" y="24"/>
                  </a:cubicBezTo>
                  <a:cubicBezTo>
                    <a:pt x="11" y="28"/>
                    <a:pt x="18" y="30"/>
                    <a:pt x="18" y="33"/>
                  </a:cubicBezTo>
                  <a:cubicBezTo>
                    <a:pt x="18" y="34"/>
                    <a:pt x="19" y="36"/>
                    <a:pt x="20" y="38"/>
                  </a:cubicBezTo>
                  <a:cubicBezTo>
                    <a:pt x="26" y="36"/>
                    <a:pt x="30" y="32"/>
                    <a:pt x="34" y="30"/>
                  </a:cubicBezTo>
                  <a:cubicBezTo>
                    <a:pt x="39" y="27"/>
                    <a:pt x="37" y="38"/>
                    <a:pt x="36" y="40"/>
                  </a:cubicBezTo>
                  <a:cubicBezTo>
                    <a:pt x="35" y="41"/>
                    <a:pt x="40" y="44"/>
                    <a:pt x="44" y="46"/>
                  </a:cubicBezTo>
                  <a:cubicBezTo>
                    <a:pt x="44" y="43"/>
                    <a:pt x="44" y="41"/>
                    <a:pt x="46" y="39"/>
                  </a:cubicBezTo>
                  <a:cubicBezTo>
                    <a:pt x="52" y="32"/>
                    <a:pt x="56" y="21"/>
                    <a:pt x="53" y="15"/>
                  </a:cubicBezTo>
                  <a:close/>
                  <a:moveTo>
                    <a:pt x="5" y="32"/>
                  </a:moveTo>
                  <a:cubicBezTo>
                    <a:pt x="4" y="31"/>
                    <a:pt x="2" y="30"/>
                    <a:pt x="0" y="29"/>
                  </a:cubicBezTo>
                  <a:cubicBezTo>
                    <a:pt x="0" y="31"/>
                    <a:pt x="0" y="34"/>
                    <a:pt x="3" y="35"/>
                  </a:cubicBezTo>
                  <a:cubicBezTo>
                    <a:pt x="8" y="37"/>
                    <a:pt x="1" y="38"/>
                    <a:pt x="11" y="40"/>
                  </a:cubicBezTo>
                  <a:cubicBezTo>
                    <a:pt x="12" y="40"/>
                    <a:pt x="12" y="40"/>
                    <a:pt x="13" y="40"/>
                  </a:cubicBezTo>
                  <a:cubicBezTo>
                    <a:pt x="13" y="37"/>
                    <a:pt x="13" y="36"/>
                    <a:pt x="11" y="34"/>
                  </a:cubicBezTo>
                  <a:cubicBezTo>
                    <a:pt x="8" y="30"/>
                    <a:pt x="7" y="32"/>
                    <a:pt x="5" y="32"/>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2" name="Freeform 169"/>
            <p:cNvSpPr>
              <a:spLocks noChangeArrowheads="1"/>
            </p:cNvSpPr>
            <p:nvPr/>
          </p:nvSpPr>
          <p:spPr bwMode="auto">
            <a:xfrm>
              <a:off x="4946665" y="1595439"/>
              <a:ext cx="309564" cy="220663"/>
            </a:xfrm>
            <a:custGeom>
              <a:avLst/>
              <a:gdLst>
                <a:gd name="T0" fmla="*/ 156 w 162"/>
                <a:gd name="T1" fmla="*/ 17 h 116"/>
                <a:gd name="T2" fmla="*/ 152 w 162"/>
                <a:gd name="T3" fmla="*/ 13 h 116"/>
                <a:gd name="T4" fmla="*/ 139 w 162"/>
                <a:gd name="T5" fmla="*/ 22 h 116"/>
                <a:gd name="T6" fmla="*/ 134 w 162"/>
                <a:gd name="T7" fmla="*/ 24 h 116"/>
                <a:gd name="T8" fmla="*/ 128 w 162"/>
                <a:gd name="T9" fmla="*/ 23 h 116"/>
                <a:gd name="T10" fmla="*/ 128 w 162"/>
                <a:gd name="T11" fmla="*/ 10 h 116"/>
                <a:gd name="T12" fmla="*/ 123 w 162"/>
                <a:gd name="T13" fmla="*/ 1 h 116"/>
                <a:gd name="T14" fmla="*/ 113 w 162"/>
                <a:gd name="T15" fmla="*/ 10 h 116"/>
                <a:gd name="T16" fmla="*/ 102 w 162"/>
                <a:gd name="T17" fmla="*/ 16 h 116"/>
                <a:gd name="T18" fmla="*/ 91 w 162"/>
                <a:gd name="T19" fmla="*/ 19 h 116"/>
                <a:gd name="T20" fmla="*/ 81 w 162"/>
                <a:gd name="T21" fmla="*/ 16 h 116"/>
                <a:gd name="T22" fmla="*/ 72 w 162"/>
                <a:gd name="T23" fmla="*/ 13 h 116"/>
                <a:gd name="T24" fmla="*/ 62 w 162"/>
                <a:gd name="T25" fmla="*/ 11 h 116"/>
                <a:gd name="T26" fmla="*/ 53 w 162"/>
                <a:gd name="T27" fmla="*/ 17 h 116"/>
                <a:gd name="T28" fmla="*/ 47 w 162"/>
                <a:gd name="T29" fmla="*/ 28 h 116"/>
                <a:gd name="T30" fmla="*/ 31 w 162"/>
                <a:gd name="T31" fmla="*/ 37 h 116"/>
                <a:gd name="T32" fmla="*/ 21 w 162"/>
                <a:gd name="T33" fmla="*/ 41 h 116"/>
                <a:gd name="T34" fmla="*/ 13 w 162"/>
                <a:gd name="T35" fmla="*/ 38 h 116"/>
                <a:gd name="T36" fmla="*/ 8 w 162"/>
                <a:gd name="T37" fmla="*/ 44 h 116"/>
                <a:gd name="T38" fmla="*/ 3 w 162"/>
                <a:gd name="T39" fmla="*/ 53 h 116"/>
                <a:gd name="T40" fmla="*/ 2 w 162"/>
                <a:gd name="T41" fmla="*/ 62 h 116"/>
                <a:gd name="T42" fmla="*/ 2 w 162"/>
                <a:gd name="T43" fmla="*/ 74 h 116"/>
                <a:gd name="T44" fmla="*/ 4 w 162"/>
                <a:gd name="T45" fmla="*/ 87 h 116"/>
                <a:gd name="T46" fmla="*/ 15 w 162"/>
                <a:gd name="T47" fmla="*/ 93 h 116"/>
                <a:gd name="T48" fmla="*/ 3 w 162"/>
                <a:gd name="T49" fmla="*/ 109 h 116"/>
                <a:gd name="T50" fmla="*/ 6 w 162"/>
                <a:gd name="T51" fmla="*/ 113 h 116"/>
                <a:gd name="T52" fmla="*/ 23 w 162"/>
                <a:gd name="T53" fmla="*/ 115 h 116"/>
                <a:gd name="T54" fmla="*/ 68 w 162"/>
                <a:gd name="T55" fmla="*/ 109 h 116"/>
                <a:gd name="T56" fmla="*/ 67 w 162"/>
                <a:gd name="T57" fmla="*/ 98 h 116"/>
                <a:gd name="T58" fmla="*/ 76 w 162"/>
                <a:gd name="T59" fmla="*/ 93 h 116"/>
                <a:gd name="T60" fmla="*/ 84 w 162"/>
                <a:gd name="T61" fmla="*/ 91 h 116"/>
                <a:gd name="T62" fmla="*/ 96 w 162"/>
                <a:gd name="T63" fmla="*/ 87 h 116"/>
                <a:gd name="T64" fmla="*/ 101 w 162"/>
                <a:gd name="T65" fmla="*/ 82 h 116"/>
                <a:gd name="T66" fmla="*/ 105 w 162"/>
                <a:gd name="T67" fmla="*/ 70 h 116"/>
                <a:gd name="T68" fmla="*/ 113 w 162"/>
                <a:gd name="T69" fmla="*/ 65 h 116"/>
                <a:gd name="T70" fmla="*/ 109 w 162"/>
                <a:gd name="T71" fmla="*/ 58 h 116"/>
                <a:gd name="T72" fmla="*/ 122 w 162"/>
                <a:gd name="T73" fmla="*/ 58 h 116"/>
                <a:gd name="T74" fmla="*/ 123 w 162"/>
                <a:gd name="T75" fmla="*/ 49 h 116"/>
                <a:gd name="T76" fmla="*/ 128 w 162"/>
                <a:gd name="T77" fmla="*/ 41 h 116"/>
                <a:gd name="T78" fmla="*/ 126 w 162"/>
                <a:gd name="T79" fmla="*/ 34 h 116"/>
                <a:gd name="T80" fmla="*/ 128 w 162"/>
                <a:gd name="T81" fmla="*/ 29 h 116"/>
                <a:gd name="T82" fmla="*/ 129 w 162"/>
                <a:gd name="T83" fmla="*/ 28 h 116"/>
                <a:gd name="T84" fmla="*/ 135 w 162"/>
                <a:gd name="T85" fmla="*/ 26 h 116"/>
                <a:gd name="T86" fmla="*/ 150 w 162"/>
                <a:gd name="T87" fmla="*/ 21 h 116"/>
                <a:gd name="T88" fmla="*/ 162 w 162"/>
                <a:gd name="T89" fmla="*/ 18 h 116"/>
                <a:gd name="T90" fmla="*/ 156 w 162"/>
                <a:gd name="T91" fmla="*/ 17 h 11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62"/>
                <a:gd name="T139" fmla="*/ 0 h 116"/>
                <a:gd name="T140" fmla="*/ 162 w 162"/>
                <a:gd name="T141" fmla="*/ 116 h 11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62" h="116">
                  <a:moveTo>
                    <a:pt x="156" y="17"/>
                  </a:moveTo>
                  <a:cubicBezTo>
                    <a:pt x="154" y="17"/>
                    <a:pt x="154" y="15"/>
                    <a:pt x="152" y="13"/>
                  </a:cubicBezTo>
                  <a:cubicBezTo>
                    <a:pt x="150" y="12"/>
                    <a:pt x="144" y="18"/>
                    <a:pt x="139" y="22"/>
                  </a:cubicBezTo>
                  <a:cubicBezTo>
                    <a:pt x="137" y="22"/>
                    <a:pt x="135" y="23"/>
                    <a:pt x="134" y="24"/>
                  </a:cubicBezTo>
                  <a:cubicBezTo>
                    <a:pt x="131" y="24"/>
                    <a:pt x="129" y="24"/>
                    <a:pt x="128" y="23"/>
                  </a:cubicBezTo>
                  <a:cubicBezTo>
                    <a:pt x="125" y="20"/>
                    <a:pt x="132" y="12"/>
                    <a:pt x="128" y="10"/>
                  </a:cubicBezTo>
                  <a:cubicBezTo>
                    <a:pt x="123" y="8"/>
                    <a:pt x="127" y="1"/>
                    <a:pt x="123" y="1"/>
                  </a:cubicBezTo>
                  <a:cubicBezTo>
                    <a:pt x="119" y="0"/>
                    <a:pt x="113" y="7"/>
                    <a:pt x="113" y="10"/>
                  </a:cubicBezTo>
                  <a:cubicBezTo>
                    <a:pt x="113" y="14"/>
                    <a:pt x="102" y="13"/>
                    <a:pt x="102" y="16"/>
                  </a:cubicBezTo>
                  <a:cubicBezTo>
                    <a:pt x="102" y="19"/>
                    <a:pt x="92" y="15"/>
                    <a:pt x="91" y="19"/>
                  </a:cubicBezTo>
                  <a:cubicBezTo>
                    <a:pt x="89" y="22"/>
                    <a:pt x="84" y="16"/>
                    <a:pt x="81" y="16"/>
                  </a:cubicBezTo>
                  <a:cubicBezTo>
                    <a:pt x="78" y="16"/>
                    <a:pt x="76" y="12"/>
                    <a:pt x="72" y="13"/>
                  </a:cubicBezTo>
                  <a:cubicBezTo>
                    <a:pt x="68" y="14"/>
                    <a:pt x="65" y="12"/>
                    <a:pt x="62" y="11"/>
                  </a:cubicBezTo>
                  <a:cubicBezTo>
                    <a:pt x="59" y="11"/>
                    <a:pt x="57" y="18"/>
                    <a:pt x="53" y="17"/>
                  </a:cubicBezTo>
                  <a:cubicBezTo>
                    <a:pt x="50" y="15"/>
                    <a:pt x="48" y="23"/>
                    <a:pt x="47" y="28"/>
                  </a:cubicBezTo>
                  <a:cubicBezTo>
                    <a:pt x="45" y="32"/>
                    <a:pt x="30" y="32"/>
                    <a:pt x="31" y="37"/>
                  </a:cubicBezTo>
                  <a:cubicBezTo>
                    <a:pt x="31" y="42"/>
                    <a:pt x="22" y="44"/>
                    <a:pt x="21" y="41"/>
                  </a:cubicBezTo>
                  <a:cubicBezTo>
                    <a:pt x="20" y="38"/>
                    <a:pt x="14" y="39"/>
                    <a:pt x="13" y="38"/>
                  </a:cubicBezTo>
                  <a:cubicBezTo>
                    <a:pt x="11" y="38"/>
                    <a:pt x="7" y="39"/>
                    <a:pt x="8" y="44"/>
                  </a:cubicBezTo>
                  <a:cubicBezTo>
                    <a:pt x="8" y="48"/>
                    <a:pt x="4" y="51"/>
                    <a:pt x="3" y="53"/>
                  </a:cubicBezTo>
                  <a:cubicBezTo>
                    <a:pt x="3" y="54"/>
                    <a:pt x="0" y="60"/>
                    <a:pt x="2" y="62"/>
                  </a:cubicBezTo>
                  <a:cubicBezTo>
                    <a:pt x="4" y="65"/>
                    <a:pt x="0" y="70"/>
                    <a:pt x="2" y="74"/>
                  </a:cubicBezTo>
                  <a:cubicBezTo>
                    <a:pt x="4" y="79"/>
                    <a:pt x="3" y="86"/>
                    <a:pt x="4" y="87"/>
                  </a:cubicBezTo>
                  <a:cubicBezTo>
                    <a:pt x="5" y="89"/>
                    <a:pt x="13" y="88"/>
                    <a:pt x="15" y="93"/>
                  </a:cubicBezTo>
                  <a:cubicBezTo>
                    <a:pt x="17" y="98"/>
                    <a:pt x="4" y="107"/>
                    <a:pt x="3" y="109"/>
                  </a:cubicBezTo>
                  <a:cubicBezTo>
                    <a:pt x="3" y="110"/>
                    <a:pt x="4" y="112"/>
                    <a:pt x="6" y="113"/>
                  </a:cubicBezTo>
                  <a:cubicBezTo>
                    <a:pt x="11" y="113"/>
                    <a:pt x="17" y="114"/>
                    <a:pt x="23" y="115"/>
                  </a:cubicBezTo>
                  <a:cubicBezTo>
                    <a:pt x="30" y="116"/>
                    <a:pt x="68" y="111"/>
                    <a:pt x="68" y="109"/>
                  </a:cubicBezTo>
                  <a:cubicBezTo>
                    <a:pt x="69" y="108"/>
                    <a:pt x="67" y="100"/>
                    <a:pt x="67" y="98"/>
                  </a:cubicBezTo>
                  <a:cubicBezTo>
                    <a:pt x="68" y="96"/>
                    <a:pt x="72" y="92"/>
                    <a:pt x="76" y="93"/>
                  </a:cubicBezTo>
                  <a:cubicBezTo>
                    <a:pt x="80" y="93"/>
                    <a:pt x="84" y="94"/>
                    <a:pt x="84" y="91"/>
                  </a:cubicBezTo>
                  <a:cubicBezTo>
                    <a:pt x="84" y="88"/>
                    <a:pt x="95" y="84"/>
                    <a:pt x="96" y="87"/>
                  </a:cubicBezTo>
                  <a:cubicBezTo>
                    <a:pt x="97" y="89"/>
                    <a:pt x="101" y="88"/>
                    <a:pt x="101" y="82"/>
                  </a:cubicBezTo>
                  <a:cubicBezTo>
                    <a:pt x="102" y="75"/>
                    <a:pt x="101" y="70"/>
                    <a:pt x="105" y="70"/>
                  </a:cubicBezTo>
                  <a:cubicBezTo>
                    <a:pt x="109" y="69"/>
                    <a:pt x="113" y="67"/>
                    <a:pt x="113" y="65"/>
                  </a:cubicBezTo>
                  <a:cubicBezTo>
                    <a:pt x="112" y="63"/>
                    <a:pt x="108" y="59"/>
                    <a:pt x="109" y="58"/>
                  </a:cubicBezTo>
                  <a:cubicBezTo>
                    <a:pt x="110" y="56"/>
                    <a:pt x="120" y="61"/>
                    <a:pt x="122" y="58"/>
                  </a:cubicBezTo>
                  <a:cubicBezTo>
                    <a:pt x="123" y="55"/>
                    <a:pt x="121" y="52"/>
                    <a:pt x="123" y="49"/>
                  </a:cubicBezTo>
                  <a:cubicBezTo>
                    <a:pt x="124" y="46"/>
                    <a:pt x="128" y="44"/>
                    <a:pt x="128" y="41"/>
                  </a:cubicBezTo>
                  <a:cubicBezTo>
                    <a:pt x="128" y="38"/>
                    <a:pt x="128" y="37"/>
                    <a:pt x="126" y="34"/>
                  </a:cubicBezTo>
                  <a:cubicBezTo>
                    <a:pt x="124" y="32"/>
                    <a:pt x="125" y="29"/>
                    <a:pt x="128" y="29"/>
                  </a:cubicBezTo>
                  <a:cubicBezTo>
                    <a:pt x="128" y="28"/>
                    <a:pt x="129" y="28"/>
                    <a:pt x="129" y="28"/>
                  </a:cubicBezTo>
                  <a:cubicBezTo>
                    <a:pt x="132" y="27"/>
                    <a:pt x="134" y="27"/>
                    <a:pt x="135" y="26"/>
                  </a:cubicBezTo>
                  <a:cubicBezTo>
                    <a:pt x="139" y="23"/>
                    <a:pt x="147" y="20"/>
                    <a:pt x="150" y="21"/>
                  </a:cubicBezTo>
                  <a:cubicBezTo>
                    <a:pt x="153" y="22"/>
                    <a:pt x="158" y="21"/>
                    <a:pt x="162" y="18"/>
                  </a:cubicBezTo>
                  <a:cubicBezTo>
                    <a:pt x="160" y="17"/>
                    <a:pt x="157" y="16"/>
                    <a:pt x="156"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3" name="Freeform 170"/>
            <p:cNvSpPr>
              <a:spLocks noChangeArrowheads="1"/>
            </p:cNvSpPr>
            <p:nvPr/>
          </p:nvSpPr>
          <p:spPr bwMode="auto">
            <a:xfrm>
              <a:off x="4959365" y="1628777"/>
              <a:ext cx="355601" cy="320676"/>
            </a:xfrm>
            <a:custGeom>
              <a:avLst/>
              <a:gdLst>
                <a:gd name="T0" fmla="*/ 172 w 186"/>
                <a:gd name="T1" fmla="*/ 9 h 168"/>
                <a:gd name="T2" fmla="*/ 158 w 186"/>
                <a:gd name="T3" fmla="*/ 1 h 168"/>
                <a:gd name="T4" fmla="*/ 144 w 186"/>
                <a:gd name="T5" fmla="*/ 3 h 168"/>
                <a:gd name="T6" fmla="*/ 123 w 186"/>
                <a:gd name="T7" fmla="*/ 10 h 168"/>
                <a:gd name="T8" fmla="*/ 120 w 186"/>
                <a:gd name="T9" fmla="*/ 16 h 168"/>
                <a:gd name="T10" fmla="*/ 117 w 186"/>
                <a:gd name="T11" fmla="*/ 31 h 168"/>
                <a:gd name="T12" fmla="*/ 103 w 186"/>
                <a:gd name="T13" fmla="*/ 40 h 168"/>
                <a:gd name="T14" fmla="*/ 99 w 186"/>
                <a:gd name="T15" fmla="*/ 52 h 168"/>
                <a:gd name="T16" fmla="*/ 90 w 186"/>
                <a:gd name="T17" fmla="*/ 69 h 168"/>
                <a:gd name="T18" fmla="*/ 70 w 186"/>
                <a:gd name="T19" fmla="*/ 75 h 168"/>
                <a:gd name="T20" fmla="*/ 62 w 186"/>
                <a:gd name="T21" fmla="*/ 91 h 168"/>
                <a:gd name="T22" fmla="*/ 0 w 186"/>
                <a:gd name="T23" fmla="*/ 95 h 168"/>
                <a:gd name="T24" fmla="*/ 17 w 186"/>
                <a:gd name="T25" fmla="*/ 111 h 168"/>
                <a:gd name="T26" fmla="*/ 25 w 186"/>
                <a:gd name="T27" fmla="*/ 132 h 168"/>
                <a:gd name="T28" fmla="*/ 7 w 186"/>
                <a:gd name="T29" fmla="*/ 146 h 168"/>
                <a:gd name="T30" fmla="*/ 29 w 186"/>
                <a:gd name="T31" fmla="*/ 148 h 168"/>
                <a:gd name="T32" fmla="*/ 55 w 186"/>
                <a:gd name="T33" fmla="*/ 146 h 168"/>
                <a:gd name="T34" fmla="*/ 70 w 186"/>
                <a:gd name="T35" fmla="*/ 155 h 168"/>
                <a:gd name="T36" fmla="*/ 82 w 186"/>
                <a:gd name="T37" fmla="*/ 167 h 168"/>
                <a:gd name="T38" fmla="*/ 84 w 186"/>
                <a:gd name="T39" fmla="*/ 167 h 168"/>
                <a:gd name="T40" fmla="*/ 105 w 186"/>
                <a:gd name="T41" fmla="*/ 160 h 168"/>
                <a:gd name="T42" fmla="*/ 110 w 186"/>
                <a:gd name="T43" fmla="*/ 147 h 168"/>
                <a:gd name="T44" fmla="*/ 98 w 186"/>
                <a:gd name="T45" fmla="*/ 128 h 168"/>
                <a:gd name="T46" fmla="*/ 114 w 186"/>
                <a:gd name="T47" fmla="*/ 118 h 168"/>
                <a:gd name="T48" fmla="*/ 128 w 186"/>
                <a:gd name="T49" fmla="*/ 109 h 168"/>
                <a:gd name="T50" fmla="*/ 142 w 186"/>
                <a:gd name="T51" fmla="*/ 91 h 168"/>
                <a:gd name="T52" fmla="*/ 154 w 186"/>
                <a:gd name="T53" fmla="*/ 80 h 168"/>
                <a:gd name="T54" fmla="*/ 162 w 186"/>
                <a:gd name="T55" fmla="*/ 63 h 168"/>
                <a:gd name="T56" fmla="*/ 150 w 186"/>
                <a:gd name="T57" fmla="*/ 47 h 168"/>
                <a:gd name="T58" fmla="*/ 154 w 186"/>
                <a:gd name="T59" fmla="*/ 30 h 168"/>
                <a:gd name="T60" fmla="*/ 182 w 186"/>
                <a:gd name="T61" fmla="*/ 29 h 168"/>
                <a:gd name="T62" fmla="*/ 177 w 186"/>
                <a:gd name="T63" fmla="*/ 17 h 16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6"/>
                <a:gd name="T97" fmla="*/ 0 h 168"/>
                <a:gd name="T98" fmla="*/ 186 w 186"/>
                <a:gd name="T99" fmla="*/ 168 h 16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6" h="168">
                  <a:moveTo>
                    <a:pt x="177" y="17"/>
                  </a:moveTo>
                  <a:cubicBezTo>
                    <a:pt x="172" y="15"/>
                    <a:pt x="172" y="10"/>
                    <a:pt x="172" y="9"/>
                  </a:cubicBezTo>
                  <a:cubicBezTo>
                    <a:pt x="172" y="7"/>
                    <a:pt x="166" y="4"/>
                    <a:pt x="161" y="0"/>
                  </a:cubicBezTo>
                  <a:cubicBezTo>
                    <a:pt x="161" y="1"/>
                    <a:pt x="159" y="1"/>
                    <a:pt x="158" y="1"/>
                  </a:cubicBezTo>
                  <a:cubicBezTo>
                    <a:pt x="157" y="1"/>
                    <a:pt x="157" y="0"/>
                    <a:pt x="156" y="0"/>
                  </a:cubicBezTo>
                  <a:cubicBezTo>
                    <a:pt x="152" y="3"/>
                    <a:pt x="147" y="4"/>
                    <a:pt x="144" y="3"/>
                  </a:cubicBezTo>
                  <a:cubicBezTo>
                    <a:pt x="141" y="2"/>
                    <a:pt x="133" y="5"/>
                    <a:pt x="129" y="8"/>
                  </a:cubicBezTo>
                  <a:cubicBezTo>
                    <a:pt x="128" y="9"/>
                    <a:pt x="126" y="9"/>
                    <a:pt x="123" y="10"/>
                  </a:cubicBezTo>
                  <a:cubicBezTo>
                    <a:pt x="123" y="10"/>
                    <a:pt x="122" y="10"/>
                    <a:pt x="122" y="11"/>
                  </a:cubicBezTo>
                  <a:cubicBezTo>
                    <a:pt x="119" y="11"/>
                    <a:pt x="118" y="14"/>
                    <a:pt x="120" y="16"/>
                  </a:cubicBezTo>
                  <a:cubicBezTo>
                    <a:pt x="122" y="19"/>
                    <a:pt x="122" y="20"/>
                    <a:pt x="122" y="23"/>
                  </a:cubicBezTo>
                  <a:cubicBezTo>
                    <a:pt x="122" y="26"/>
                    <a:pt x="118" y="28"/>
                    <a:pt x="117" y="31"/>
                  </a:cubicBezTo>
                  <a:cubicBezTo>
                    <a:pt x="115" y="34"/>
                    <a:pt x="117" y="37"/>
                    <a:pt x="116" y="40"/>
                  </a:cubicBezTo>
                  <a:cubicBezTo>
                    <a:pt x="114" y="43"/>
                    <a:pt x="104" y="38"/>
                    <a:pt x="103" y="40"/>
                  </a:cubicBezTo>
                  <a:cubicBezTo>
                    <a:pt x="102" y="41"/>
                    <a:pt x="106" y="45"/>
                    <a:pt x="107" y="47"/>
                  </a:cubicBezTo>
                  <a:cubicBezTo>
                    <a:pt x="107" y="49"/>
                    <a:pt x="103" y="51"/>
                    <a:pt x="99" y="52"/>
                  </a:cubicBezTo>
                  <a:cubicBezTo>
                    <a:pt x="95" y="52"/>
                    <a:pt x="96" y="57"/>
                    <a:pt x="95" y="64"/>
                  </a:cubicBezTo>
                  <a:cubicBezTo>
                    <a:pt x="95" y="70"/>
                    <a:pt x="91" y="71"/>
                    <a:pt x="90" y="69"/>
                  </a:cubicBezTo>
                  <a:cubicBezTo>
                    <a:pt x="89" y="66"/>
                    <a:pt x="78" y="70"/>
                    <a:pt x="78" y="73"/>
                  </a:cubicBezTo>
                  <a:cubicBezTo>
                    <a:pt x="78" y="76"/>
                    <a:pt x="74" y="75"/>
                    <a:pt x="70" y="75"/>
                  </a:cubicBezTo>
                  <a:cubicBezTo>
                    <a:pt x="66" y="74"/>
                    <a:pt x="62" y="78"/>
                    <a:pt x="61" y="80"/>
                  </a:cubicBezTo>
                  <a:cubicBezTo>
                    <a:pt x="61" y="82"/>
                    <a:pt x="63" y="90"/>
                    <a:pt x="62" y="91"/>
                  </a:cubicBezTo>
                  <a:cubicBezTo>
                    <a:pt x="62" y="93"/>
                    <a:pt x="24" y="98"/>
                    <a:pt x="17" y="97"/>
                  </a:cubicBezTo>
                  <a:cubicBezTo>
                    <a:pt x="11" y="96"/>
                    <a:pt x="5" y="95"/>
                    <a:pt x="0" y="95"/>
                  </a:cubicBezTo>
                  <a:cubicBezTo>
                    <a:pt x="2" y="97"/>
                    <a:pt x="4" y="99"/>
                    <a:pt x="5" y="101"/>
                  </a:cubicBezTo>
                  <a:cubicBezTo>
                    <a:pt x="6" y="105"/>
                    <a:pt x="11" y="109"/>
                    <a:pt x="17" y="111"/>
                  </a:cubicBezTo>
                  <a:cubicBezTo>
                    <a:pt x="22" y="113"/>
                    <a:pt x="19" y="122"/>
                    <a:pt x="22" y="123"/>
                  </a:cubicBezTo>
                  <a:cubicBezTo>
                    <a:pt x="25" y="124"/>
                    <a:pt x="28" y="131"/>
                    <a:pt x="25" y="132"/>
                  </a:cubicBezTo>
                  <a:cubicBezTo>
                    <a:pt x="21" y="132"/>
                    <a:pt x="18" y="133"/>
                    <a:pt x="14" y="135"/>
                  </a:cubicBezTo>
                  <a:cubicBezTo>
                    <a:pt x="11" y="137"/>
                    <a:pt x="7" y="141"/>
                    <a:pt x="7" y="146"/>
                  </a:cubicBezTo>
                  <a:cubicBezTo>
                    <a:pt x="7" y="147"/>
                    <a:pt x="7" y="148"/>
                    <a:pt x="7" y="149"/>
                  </a:cubicBezTo>
                  <a:cubicBezTo>
                    <a:pt x="17" y="149"/>
                    <a:pt x="27" y="149"/>
                    <a:pt x="29" y="148"/>
                  </a:cubicBezTo>
                  <a:cubicBezTo>
                    <a:pt x="30" y="146"/>
                    <a:pt x="35" y="145"/>
                    <a:pt x="37" y="146"/>
                  </a:cubicBezTo>
                  <a:cubicBezTo>
                    <a:pt x="40" y="148"/>
                    <a:pt x="51" y="149"/>
                    <a:pt x="55" y="146"/>
                  </a:cubicBezTo>
                  <a:cubicBezTo>
                    <a:pt x="61" y="143"/>
                    <a:pt x="64" y="146"/>
                    <a:pt x="64" y="149"/>
                  </a:cubicBezTo>
                  <a:cubicBezTo>
                    <a:pt x="65" y="152"/>
                    <a:pt x="67" y="153"/>
                    <a:pt x="70" y="155"/>
                  </a:cubicBezTo>
                  <a:cubicBezTo>
                    <a:pt x="72" y="157"/>
                    <a:pt x="70" y="160"/>
                    <a:pt x="72" y="163"/>
                  </a:cubicBezTo>
                  <a:cubicBezTo>
                    <a:pt x="74" y="165"/>
                    <a:pt x="77" y="165"/>
                    <a:pt x="82" y="167"/>
                  </a:cubicBezTo>
                  <a:cubicBezTo>
                    <a:pt x="82" y="167"/>
                    <a:pt x="83" y="168"/>
                    <a:pt x="83" y="168"/>
                  </a:cubicBezTo>
                  <a:cubicBezTo>
                    <a:pt x="84" y="168"/>
                    <a:pt x="84" y="168"/>
                    <a:pt x="84" y="167"/>
                  </a:cubicBezTo>
                  <a:cubicBezTo>
                    <a:pt x="87" y="164"/>
                    <a:pt x="87" y="159"/>
                    <a:pt x="94" y="160"/>
                  </a:cubicBezTo>
                  <a:cubicBezTo>
                    <a:pt x="102" y="162"/>
                    <a:pt x="101" y="159"/>
                    <a:pt x="105" y="160"/>
                  </a:cubicBezTo>
                  <a:cubicBezTo>
                    <a:pt x="109" y="161"/>
                    <a:pt x="112" y="160"/>
                    <a:pt x="114" y="158"/>
                  </a:cubicBezTo>
                  <a:cubicBezTo>
                    <a:pt x="115" y="155"/>
                    <a:pt x="112" y="150"/>
                    <a:pt x="110" y="147"/>
                  </a:cubicBezTo>
                  <a:cubicBezTo>
                    <a:pt x="107" y="145"/>
                    <a:pt x="104" y="140"/>
                    <a:pt x="105" y="136"/>
                  </a:cubicBezTo>
                  <a:cubicBezTo>
                    <a:pt x="105" y="131"/>
                    <a:pt x="98" y="131"/>
                    <a:pt x="98" y="128"/>
                  </a:cubicBezTo>
                  <a:cubicBezTo>
                    <a:pt x="98" y="124"/>
                    <a:pt x="105" y="118"/>
                    <a:pt x="106" y="117"/>
                  </a:cubicBezTo>
                  <a:cubicBezTo>
                    <a:pt x="107" y="116"/>
                    <a:pt x="113" y="121"/>
                    <a:pt x="114" y="118"/>
                  </a:cubicBezTo>
                  <a:cubicBezTo>
                    <a:pt x="116" y="115"/>
                    <a:pt x="120" y="117"/>
                    <a:pt x="122" y="117"/>
                  </a:cubicBezTo>
                  <a:cubicBezTo>
                    <a:pt x="124" y="118"/>
                    <a:pt x="128" y="113"/>
                    <a:pt x="128" y="109"/>
                  </a:cubicBezTo>
                  <a:cubicBezTo>
                    <a:pt x="129" y="105"/>
                    <a:pt x="136" y="105"/>
                    <a:pt x="138" y="103"/>
                  </a:cubicBezTo>
                  <a:cubicBezTo>
                    <a:pt x="139" y="102"/>
                    <a:pt x="141" y="93"/>
                    <a:pt x="142" y="91"/>
                  </a:cubicBezTo>
                  <a:cubicBezTo>
                    <a:pt x="143" y="89"/>
                    <a:pt x="149" y="91"/>
                    <a:pt x="149" y="86"/>
                  </a:cubicBezTo>
                  <a:cubicBezTo>
                    <a:pt x="149" y="81"/>
                    <a:pt x="151" y="80"/>
                    <a:pt x="154" y="80"/>
                  </a:cubicBezTo>
                  <a:cubicBezTo>
                    <a:pt x="157" y="79"/>
                    <a:pt x="156" y="75"/>
                    <a:pt x="156" y="71"/>
                  </a:cubicBezTo>
                  <a:cubicBezTo>
                    <a:pt x="157" y="68"/>
                    <a:pt x="159" y="64"/>
                    <a:pt x="162" y="63"/>
                  </a:cubicBezTo>
                  <a:cubicBezTo>
                    <a:pt x="166" y="62"/>
                    <a:pt x="161" y="57"/>
                    <a:pt x="157" y="58"/>
                  </a:cubicBezTo>
                  <a:cubicBezTo>
                    <a:pt x="153" y="59"/>
                    <a:pt x="150" y="47"/>
                    <a:pt x="150" y="47"/>
                  </a:cubicBezTo>
                  <a:cubicBezTo>
                    <a:pt x="150" y="47"/>
                    <a:pt x="151" y="38"/>
                    <a:pt x="148" y="36"/>
                  </a:cubicBezTo>
                  <a:cubicBezTo>
                    <a:pt x="146" y="35"/>
                    <a:pt x="149" y="30"/>
                    <a:pt x="154" y="30"/>
                  </a:cubicBezTo>
                  <a:cubicBezTo>
                    <a:pt x="159" y="30"/>
                    <a:pt x="168" y="36"/>
                    <a:pt x="171" y="33"/>
                  </a:cubicBezTo>
                  <a:cubicBezTo>
                    <a:pt x="174" y="31"/>
                    <a:pt x="180" y="30"/>
                    <a:pt x="182" y="29"/>
                  </a:cubicBezTo>
                  <a:cubicBezTo>
                    <a:pt x="183" y="28"/>
                    <a:pt x="185" y="24"/>
                    <a:pt x="186" y="22"/>
                  </a:cubicBezTo>
                  <a:cubicBezTo>
                    <a:pt x="184" y="21"/>
                    <a:pt x="181" y="19"/>
                    <a:pt x="177" y="1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4" name="Freeform 171"/>
            <p:cNvSpPr>
              <a:spLocks noEditPoints="1" noChangeArrowheads="1"/>
            </p:cNvSpPr>
            <p:nvPr/>
          </p:nvSpPr>
          <p:spPr bwMode="auto">
            <a:xfrm>
              <a:off x="5672155" y="2346328"/>
              <a:ext cx="992191" cy="360363"/>
            </a:xfrm>
            <a:custGeom>
              <a:avLst/>
              <a:gdLst>
                <a:gd name="T0" fmla="*/ 38 w 519"/>
                <a:gd name="T1" fmla="*/ 80 h 189"/>
                <a:gd name="T2" fmla="*/ 147 w 519"/>
                <a:gd name="T3" fmla="*/ 101 h 189"/>
                <a:gd name="T4" fmla="*/ 22 w 519"/>
                <a:gd name="T5" fmla="*/ 52 h 189"/>
                <a:gd name="T6" fmla="*/ 278 w 519"/>
                <a:gd name="T7" fmla="*/ 134 h 189"/>
                <a:gd name="T8" fmla="*/ 290 w 519"/>
                <a:gd name="T9" fmla="*/ 107 h 189"/>
                <a:gd name="T10" fmla="*/ 306 w 519"/>
                <a:gd name="T11" fmla="*/ 111 h 189"/>
                <a:gd name="T12" fmla="*/ 317 w 519"/>
                <a:gd name="T13" fmla="*/ 76 h 189"/>
                <a:gd name="T14" fmla="*/ 318 w 519"/>
                <a:gd name="T15" fmla="*/ 63 h 189"/>
                <a:gd name="T16" fmla="*/ 297 w 519"/>
                <a:gd name="T17" fmla="*/ 53 h 189"/>
                <a:gd name="T18" fmla="*/ 266 w 519"/>
                <a:gd name="T19" fmla="*/ 97 h 189"/>
                <a:gd name="T20" fmla="*/ 123 w 519"/>
                <a:gd name="T21" fmla="*/ 106 h 189"/>
                <a:gd name="T22" fmla="*/ 118 w 519"/>
                <a:gd name="T23" fmla="*/ 87 h 189"/>
                <a:gd name="T24" fmla="*/ 114 w 519"/>
                <a:gd name="T25" fmla="*/ 95 h 189"/>
                <a:gd name="T26" fmla="*/ 95 w 519"/>
                <a:gd name="T27" fmla="*/ 71 h 189"/>
                <a:gd name="T28" fmla="*/ 78 w 519"/>
                <a:gd name="T29" fmla="*/ 50 h 189"/>
                <a:gd name="T30" fmla="*/ 52 w 519"/>
                <a:gd name="T31" fmla="*/ 34 h 189"/>
                <a:gd name="T32" fmla="*/ 2 w 519"/>
                <a:gd name="T33" fmla="*/ 5 h 189"/>
                <a:gd name="T34" fmla="*/ 45 w 519"/>
                <a:gd name="T35" fmla="*/ 65 h 189"/>
                <a:gd name="T36" fmla="*/ 99 w 519"/>
                <a:gd name="T37" fmla="*/ 128 h 189"/>
                <a:gd name="T38" fmla="*/ 121 w 519"/>
                <a:gd name="T39" fmla="*/ 117 h 189"/>
                <a:gd name="T40" fmla="*/ 373 w 519"/>
                <a:gd name="T41" fmla="*/ 53 h 189"/>
                <a:gd name="T42" fmla="*/ 376 w 519"/>
                <a:gd name="T43" fmla="*/ 64 h 189"/>
                <a:gd name="T44" fmla="*/ 348 w 519"/>
                <a:gd name="T45" fmla="*/ 106 h 189"/>
                <a:gd name="T46" fmla="*/ 277 w 519"/>
                <a:gd name="T47" fmla="*/ 167 h 189"/>
                <a:gd name="T48" fmla="*/ 322 w 519"/>
                <a:gd name="T49" fmla="*/ 162 h 189"/>
                <a:gd name="T50" fmla="*/ 387 w 519"/>
                <a:gd name="T51" fmla="*/ 107 h 189"/>
                <a:gd name="T52" fmla="*/ 218 w 519"/>
                <a:gd name="T53" fmla="*/ 158 h 189"/>
                <a:gd name="T54" fmla="*/ 196 w 519"/>
                <a:gd name="T55" fmla="*/ 147 h 189"/>
                <a:gd name="T56" fmla="*/ 122 w 519"/>
                <a:gd name="T57" fmla="*/ 138 h 189"/>
                <a:gd name="T58" fmla="*/ 131 w 519"/>
                <a:gd name="T59" fmla="*/ 153 h 189"/>
                <a:gd name="T60" fmla="*/ 201 w 519"/>
                <a:gd name="T61" fmla="*/ 164 h 189"/>
                <a:gd name="T62" fmla="*/ 218 w 519"/>
                <a:gd name="T63" fmla="*/ 158 h 189"/>
                <a:gd name="T64" fmla="*/ 452 w 519"/>
                <a:gd name="T65" fmla="*/ 106 h 189"/>
                <a:gd name="T66" fmla="*/ 404 w 519"/>
                <a:gd name="T67" fmla="*/ 82 h 189"/>
                <a:gd name="T68" fmla="*/ 435 w 519"/>
                <a:gd name="T69" fmla="*/ 94 h 189"/>
                <a:gd name="T70" fmla="*/ 417 w 519"/>
                <a:gd name="T71" fmla="*/ 101 h 189"/>
                <a:gd name="T72" fmla="*/ 444 w 519"/>
                <a:gd name="T73" fmla="*/ 114 h 189"/>
                <a:gd name="T74" fmla="*/ 492 w 519"/>
                <a:gd name="T75" fmla="*/ 143 h 189"/>
                <a:gd name="T76" fmla="*/ 507 w 519"/>
                <a:gd name="T77" fmla="*/ 161 h 189"/>
                <a:gd name="T78" fmla="*/ 480 w 519"/>
                <a:gd name="T79" fmla="*/ 86 h 189"/>
                <a:gd name="T80" fmla="*/ 330 w 519"/>
                <a:gd name="T81" fmla="*/ 175 h 189"/>
                <a:gd name="T82" fmla="*/ 336 w 519"/>
                <a:gd name="T83" fmla="*/ 177 h 189"/>
                <a:gd name="T84" fmla="*/ 339 w 519"/>
                <a:gd name="T85" fmla="*/ 174 h 189"/>
                <a:gd name="T86" fmla="*/ 250 w 519"/>
                <a:gd name="T87" fmla="*/ 67 h 189"/>
                <a:gd name="T88" fmla="*/ 255 w 519"/>
                <a:gd name="T89" fmla="*/ 39 h 189"/>
                <a:gd name="T90" fmla="*/ 254 w 519"/>
                <a:gd name="T91" fmla="*/ 20 h 189"/>
                <a:gd name="T92" fmla="*/ 225 w 519"/>
                <a:gd name="T93" fmla="*/ 36 h 189"/>
                <a:gd name="T94" fmla="*/ 201 w 519"/>
                <a:gd name="T95" fmla="*/ 51 h 189"/>
                <a:gd name="T96" fmla="*/ 165 w 519"/>
                <a:gd name="T97" fmla="*/ 52 h 189"/>
                <a:gd name="T98" fmla="*/ 153 w 519"/>
                <a:gd name="T99" fmla="*/ 61 h 189"/>
                <a:gd name="T100" fmla="*/ 180 w 519"/>
                <a:gd name="T101" fmla="*/ 103 h 189"/>
                <a:gd name="T102" fmla="*/ 218 w 519"/>
                <a:gd name="T103" fmla="*/ 112 h 189"/>
                <a:gd name="T104" fmla="*/ 268 w 519"/>
                <a:gd name="T105" fmla="*/ 178 h 189"/>
                <a:gd name="T106" fmla="*/ 268 w 519"/>
                <a:gd name="T107" fmla="*/ 178 h 189"/>
                <a:gd name="T108" fmla="*/ 236 w 519"/>
                <a:gd name="T109" fmla="*/ 169 h 189"/>
                <a:gd name="T110" fmla="*/ 251 w 519"/>
                <a:gd name="T111" fmla="*/ 161 h 18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19"/>
                <a:gd name="T169" fmla="*/ 0 h 189"/>
                <a:gd name="T170" fmla="*/ 519 w 519"/>
                <a:gd name="T171" fmla="*/ 189 h 18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19" h="189">
                  <a:moveTo>
                    <a:pt x="38" y="80"/>
                  </a:moveTo>
                  <a:cubicBezTo>
                    <a:pt x="37" y="82"/>
                    <a:pt x="41" y="89"/>
                    <a:pt x="43" y="87"/>
                  </a:cubicBezTo>
                  <a:cubicBezTo>
                    <a:pt x="46" y="85"/>
                    <a:pt x="40" y="75"/>
                    <a:pt x="38" y="80"/>
                  </a:cubicBezTo>
                  <a:close/>
                  <a:moveTo>
                    <a:pt x="147" y="101"/>
                  </a:moveTo>
                  <a:cubicBezTo>
                    <a:pt x="147" y="98"/>
                    <a:pt x="138" y="99"/>
                    <a:pt x="141" y="103"/>
                  </a:cubicBezTo>
                  <a:cubicBezTo>
                    <a:pt x="144" y="108"/>
                    <a:pt x="147" y="104"/>
                    <a:pt x="147" y="101"/>
                  </a:cubicBezTo>
                  <a:close/>
                  <a:moveTo>
                    <a:pt x="22" y="52"/>
                  </a:moveTo>
                  <a:cubicBezTo>
                    <a:pt x="21" y="55"/>
                    <a:pt x="25" y="65"/>
                    <a:pt x="29" y="61"/>
                  </a:cubicBezTo>
                  <a:cubicBezTo>
                    <a:pt x="33" y="57"/>
                    <a:pt x="22" y="48"/>
                    <a:pt x="22" y="52"/>
                  </a:cubicBezTo>
                  <a:close/>
                  <a:moveTo>
                    <a:pt x="273" y="109"/>
                  </a:moveTo>
                  <a:cubicBezTo>
                    <a:pt x="278" y="109"/>
                    <a:pt x="278" y="116"/>
                    <a:pt x="277" y="121"/>
                  </a:cubicBezTo>
                  <a:cubicBezTo>
                    <a:pt x="276" y="125"/>
                    <a:pt x="274" y="135"/>
                    <a:pt x="278" y="134"/>
                  </a:cubicBezTo>
                  <a:cubicBezTo>
                    <a:pt x="283" y="132"/>
                    <a:pt x="287" y="125"/>
                    <a:pt x="284" y="123"/>
                  </a:cubicBezTo>
                  <a:cubicBezTo>
                    <a:pt x="281" y="120"/>
                    <a:pt x="281" y="106"/>
                    <a:pt x="282" y="102"/>
                  </a:cubicBezTo>
                  <a:cubicBezTo>
                    <a:pt x="284" y="98"/>
                    <a:pt x="293" y="101"/>
                    <a:pt x="290" y="107"/>
                  </a:cubicBezTo>
                  <a:cubicBezTo>
                    <a:pt x="287" y="112"/>
                    <a:pt x="295" y="112"/>
                    <a:pt x="295" y="118"/>
                  </a:cubicBezTo>
                  <a:cubicBezTo>
                    <a:pt x="295" y="124"/>
                    <a:pt x="300" y="121"/>
                    <a:pt x="306" y="119"/>
                  </a:cubicBezTo>
                  <a:cubicBezTo>
                    <a:pt x="311" y="118"/>
                    <a:pt x="310" y="115"/>
                    <a:pt x="306" y="111"/>
                  </a:cubicBezTo>
                  <a:cubicBezTo>
                    <a:pt x="303" y="107"/>
                    <a:pt x="309" y="101"/>
                    <a:pt x="304" y="98"/>
                  </a:cubicBezTo>
                  <a:cubicBezTo>
                    <a:pt x="299" y="94"/>
                    <a:pt x="296" y="89"/>
                    <a:pt x="300" y="88"/>
                  </a:cubicBezTo>
                  <a:cubicBezTo>
                    <a:pt x="305" y="87"/>
                    <a:pt x="319" y="79"/>
                    <a:pt x="317" y="76"/>
                  </a:cubicBezTo>
                  <a:cubicBezTo>
                    <a:pt x="316" y="73"/>
                    <a:pt x="296" y="77"/>
                    <a:pt x="294" y="83"/>
                  </a:cubicBezTo>
                  <a:cubicBezTo>
                    <a:pt x="293" y="89"/>
                    <a:pt x="279" y="82"/>
                    <a:pt x="280" y="72"/>
                  </a:cubicBezTo>
                  <a:cubicBezTo>
                    <a:pt x="282" y="61"/>
                    <a:pt x="310" y="60"/>
                    <a:pt x="318" y="63"/>
                  </a:cubicBezTo>
                  <a:cubicBezTo>
                    <a:pt x="326" y="67"/>
                    <a:pt x="334" y="57"/>
                    <a:pt x="337" y="52"/>
                  </a:cubicBezTo>
                  <a:cubicBezTo>
                    <a:pt x="340" y="46"/>
                    <a:pt x="331" y="53"/>
                    <a:pt x="325" y="56"/>
                  </a:cubicBezTo>
                  <a:cubicBezTo>
                    <a:pt x="320" y="60"/>
                    <a:pt x="305" y="56"/>
                    <a:pt x="297" y="53"/>
                  </a:cubicBezTo>
                  <a:cubicBezTo>
                    <a:pt x="289" y="51"/>
                    <a:pt x="290" y="58"/>
                    <a:pt x="283" y="59"/>
                  </a:cubicBezTo>
                  <a:cubicBezTo>
                    <a:pt x="277" y="60"/>
                    <a:pt x="278" y="74"/>
                    <a:pt x="275" y="76"/>
                  </a:cubicBezTo>
                  <a:cubicBezTo>
                    <a:pt x="272" y="77"/>
                    <a:pt x="272" y="88"/>
                    <a:pt x="266" y="97"/>
                  </a:cubicBezTo>
                  <a:cubicBezTo>
                    <a:pt x="260" y="107"/>
                    <a:pt x="268" y="108"/>
                    <a:pt x="273" y="109"/>
                  </a:cubicBezTo>
                  <a:close/>
                  <a:moveTo>
                    <a:pt x="121" y="117"/>
                  </a:moveTo>
                  <a:cubicBezTo>
                    <a:pt x="121" y="113"/>
                    <a:pt x="123" y="108"/>
                    <a:pt x="123" y="106"/>
                  </a:cubicBezTo>
                  <a:cubicBezTo>
                    <a:pt x="123" y="103"/>
                    <a:pt x="124" y="102"/>
                    <a:pt x="127" y="103"/>
                  </a:cubicBezTo>
                  <a:cubicBezTo>
                    <a:pt x="130" y="104"/>
                    <a:pt x="130" y="97"/>
                    <a:pt x="128" y="96"/>
                  </a:cubicBezTo>
                  <a:cubicBezTo>
                    <a:pt x="125" y="95"/>
                    <a:pt x="124" y="87"/>
                    <a:pt x="118" y="87"/>
                  </a:cubicBezTo>
                  <a:cubicBezTo>
                    <a:pt x="113" y="87"/>
                    <a:pt x="114" y="92"/>
                    <a:pt x="117" y="92"/>
                  </a:cubicBezTo>
                  <a:cubicBezTo>
                    <a:pt x="120" y="92"/>
                    <a:pt x="122" y="95"/>
                    <a:pt x="121" y="97"/>
                  </a:cubicBezTo>
                  <a:cubicBezTo>
                    <a:pt x="120" y="100"/>
                    <a:pt x="119" y="95"/>
                    <a:pt x="114" y="95"/>
                  </a:cubicBezTo>
                  <a:cubicBezTo>
                    <a:pt x="110" y="96"/>
                    <a:pt x="113" y="90"/>
                    <a:pt x="107" y="89"/>
                  </a:cubicBezTo>
                  <a:cubicBezTo>
                    <a:pt x="102" y="89"/>
                    <a:pt x="103" y="79"/>
                    <a:pt x="97" y="79"/>
                  </a:cubicBezTo>
                  <a:cubicBezTo>
                    <a:pt x="92" y="79"/>
                    <a:pt x="91" y="75"/>
                    <a:pt x="95" y="71"/>
                  </a:cubicBezTo>
                  <a:cubicBezTo>
                    <a:pt x="99" y="68"/>
                    <a:pt x="89" y="65"/>
                    <a:pt x="89" y="61"/>
                  </a:cubicBezTo>
                  <a:cubicBezTo>
                    <a:pt x="89" y="57"/>
                    <a:pt x="83" y="59"/>
                    <a:pt x="83" y="56"/>
                  </a:cubicBezTo>
                  <a:cubicBezTo>
                    <a:pt x="83" y="53"/>
                    <a:pt x="81" y="54"/>
                    <a:pt x="78" y="50"/>
                  </a:cubicBezTo>
                  <a:cubicBezTo>
                    <a:pt x="75" y="46"/>
                    <a:pt x="73" y="50"/>
                    <a:pt x="71" y="47"/>
                  </a:cubicBezTo>
                  <a:cubicBezTo>
                    <a:pt x="68" y="44"/>
                    <a:pt x="64" y="42"/>
                    <a:pt x="62" y="43"/>
                  </a:cubicBezTo>
                  <a:cubicBezTo>
                    <a:pt x="60" y="44"/>
                    <a:pt x="54" y="39"/>
                    <a:pt x="52" y="34"/>
                  </a:cubicBezTo>
                  <a:cubicBezTo>
                    <a:pt x="51" y="29"/>
                    <a:pt x="35" y="22"/>
                    <a:pt x="33" y="17"/>
                  </a:cubicBezTo>
                  <a:cubicBezTo>
                    <a:pt x="31" y="11"/>
                    <a:pt x="26" y="9"/>
                    <a:pt x="17" y="9"/>
                  </a:cubicBezTo>
                  <a:cubicBezTo>
                    <a:pt x="8" y="9"/>
                    <a:pt x="4" y="0"/>
                    <a:pt x="2" y="5"/>
                  </a:cubicBezTo>
                  <a:cubicBezTo>
                    <a:pt x="0" y="10"/>
                    <a:pt x="12" y="23"/>
                    <a:pt x="18" y="26"/>
                  </a:cubicBezTo>
                  <a:cubicBezTo>
                    <a:pt x="23" y="30"/>
                    <a:pt x="26" y="42"/>
                    <a:pt x="33" y="42"/>
                  </a:cubicBezTo>
                  <a:cubicBezTo>
                    <a:pt x="40" y="43"/>
                    <a:pt x="40" y="64"/>
                    <a:pt x="45" y="65"/>
                  </a:cubicBezTo>
                  <a:cubicBezTo>
                    <a:pt x="50" y="66"/>
                    <a:pt x="61" y="82"/>
                    <a:pt x="63" y="91"/>
                  </a:cubicBezTo>
                  <a:cubicBezTo>
                    <a:pt x="64" y="100"/>
                    <a:pt x="75" y="104"/>
                    <a:pt x="79" y="110"/>
                  </a:cubicBezTo>
                  <a:cubicBezTo>
                    <a:pt x="83" y="117"/>
                    <a:pt x="97" y="125"/>
                    <a:pt x="99" y="128"/>
                  </a:cubicBezTo>
                  <a:cubicBezTo>
                    <a:pt x="101" y="131"/>
                    <a:pt x="103" y="137"/>
                    <a:pt x="105" y="134"/>
                  </a:cubicBezTo>
                  <a:cubicBezTo>
                    <a:pt x="107" y="131"/>
                    <a:pt x="114" y="134"/>
                    <a:pt x="117" y="134"/>
                  </a:cubicBezTo>
                  <a:cubicBezTo>
                    <a:pt x="120" y="134"/>
                    <a:pt x="121" y="122"/>
                    <a:pt x="121" y="117"/>
                  </a:cubicBezTo>
                  <a:close/>
                  <a:moveTo>
                    <a:pt x="376" y="64"/>
                  </a:moveTo>
                  <a:cubicBezTo>
                    <a:pt x="383" y="65"/>
                    <a:pt x="380" y="60"/>
                    <a:pt x="380" y="56"/>
                  </a:cubicBezTo>
                  <a:cubicBezTo>
                    <a:pt x="380" y="51"/>
                    <a:pt x="373" y="55"/>
                    <a:pt x="373" y="53"/>
                  </a:cubicBezTo>
                  <a:cubicBezTo>
                    <a:pt x="373" y="50"/>
                    <a:pt x="371" y="41"/>
                    <a:pt x="365" y="48"/>
                  </a:cubicBezTo>
                  <a:cubicBezTo>
                    <a:pt x="360" y="56"/>
                    <a:pt x="367" y="74"/>
                    <a:pt x="371" y="73"/>
                  </a:cubicBezTo>
                  <a:cubicBezTo>
                    <a:pt x="375" y="72"/>
                    <a:pt x="368" y="63"/>
                    <a:pt x="376" y="64"/>
                  </a:cubicBezTo>
                  <a:close/>
                  <a:moveTo>
                    <a:pt x="348" y="106"/>
                  </a:moveTo>
                  <a:cubicBezTo>
                    <a:pt x="350" y="111"/>
                    <a:pt x="359" y="114"/>
                    <a:pt x="362" y="109"/>
                  </a:cubicBezTo>
                  <a:cubicBezTo>
                    <a:pt x="365" y="105"/>
                    <a:pt x="347" y="99"/>
                    <a:pt x="348" y="106"/>
                  </a:cubicBezTo>
                  <a:close/>
                  <a:moveTo>
                    <a:pt x="322" y="162"/>
                  </a:moveTo>
                  <a:cubicBezTo>
                    <a:pt x="313" y="161"/>
                    <a:pt x="307" y="167"/>
                    <a:pt x="298" y="164"/>
                  </a:cubicBezTo>
                  <a:cubicBezTo>
                    <a:pt x="289" y="161"/>
                    <a:pt x="276" y="164"/>
                    <a:pt x="277" y="167"/>
                  </a:cubicBezTo>
                  <a:cubicBezTo>
                    <a:pt x="278" y="170"/>
                    <a:pt x="286" y="170"/>
                    <a:pt x="295" y="170"/>
                  </a:cubicBezTo>
                  <a:cubicBezTo>
                    <a:pt x="304" y="171"/>
                    <a:pt x="312" y="166"/>
                    <a:pt x="318" y="165"/>
                  </a:cubicBezTo>
                  <a:cubicBezTo>
                    <a:pt x="324" y="165"/>
                    <a:pt x="331" y="163"/>
                    <a:pt x="322" y="162"/>
                  </a:cubicBezTo>
                  <a:close/>
                  <a:moveTo>
                    <a:pt x="393" y="101"/>
                  </a:moveTo>
                  <a:cubicBezTo>
                    <a:pt x="385" y="98"/>
                    <a:pt x="370" y="100"/>
                    <a:pt x="371" y="105"/>
                  </a:cubicBezTo>
                  <a:cubicBezTo>
                    <a:pt x="373" y="109"/>
                    <a:pt x="380" y="107"/>
                    <a:pt x="387" y="107"/>
                  </a:cubicBezTo>
                  <a:cubicBezTo>
                    <a:pt x="394" y="107"/>
                    <a:pt x="397" y="112"/>
                    <a:pt x="401" y="112"/>
                  </a:cubicBezTo>
                  <a:cubicBezTo>
                    <a:pt x="405" y="112"/>
                    <a:pt x="402" y="104"/>
                    <a:pt x="393" y="101"/>
                  </a:cubicBezTo>
                  <a:close/>
                  <a:moveTo>
                    <a:pt x="218" y="158"/>
                  </a:moveTo>
                  <a:cubicBezTo>
                    <a:pt x="217" y="154"/>
                    <a:pt x="204" y="158"/>
                    <a:pt x="198" y="155"/>
                  </a:cubicBezTo>
                  <a:cubicBezTo>
                    <a:pt x="192" y="153"/>
                    <a:pt x="205" y="150"/>
                    <a:pt x="209" y="148"/>
                  </a:cubicBezTo>
                  <a:cubicBezTo>
                    <a:pt x="214" y="145"/>
                    <a:pt x="207" y="144"/>
                    <a:pt x="196" y="147"/>
                  </a:cubicBezTo>
                  <a:cubicBezTo>
                    <a:pt x="185" y="151"/>
                    <a:pt x="173" y="140"/>
                    <a:pt x="173" y="145"/>
                  </a:cubicBezTo>
                  <a:cubicBezTo>
                    <a:pt x="172" y="149"/>
                    <a:pt x="153" y="143"/>
                    <a:pt x="149" y="139"/>
                  </a:cubicBezTo>
                  <a:cubicBezTo>
                    <a:pt x="144" y="136"/>
                    <a:pt x="126" y="132"/>
                    <a:pt x="122" y="138"/>
                  </a:cubicBezTo>
                  <a:cubicBezTo>
                    <a:pt x="119" y="144"/>
                    <a:pt x="116" y="139"/>
                    <a:pt x="117" y="145"/>
                  </a:cubicBezTo>
                  <a:cubicBezTo>
                    <a:pt x="118" y="149"/>
                    <a:pt x="122" y="146"/>
                    <a:pt x="125" y="146"/>
                  </a:cubicBezTo>
                  <a:cubicBezTo>
                    <a:pt x="128" y="146"/>
                    <a:pt x="127" y="152"/>
                    <a:pt x="131" y="153"/>
                  </a:cubicBezTo>
                  <a:cubicBezTo>
                    <a:pt x="136" y="153"/>
                    <a:pt x="150" y="157"/>
                    <a:pt x="151" y="154"/>
                  </a:cubicBezTo>
                  <a:cubicBezTo>
                    <a:pt x="153" y="151"/>
                    <a:pt x="166" y="154"/>
                    <a:pt x="173" y="160"/>
                  </a:cubicBezTo>
                  <a:cubicBezTo>
                    <a:pt x="179" y="165"/>
                    <a:pt x="195" y="165"/>
                    <a:pt x="201" y="164"/>
                  </a:cubicBezTo>
                  <a:cubicBezTo>
                    <a:pt x="207" y="163"/>
                    <a:pt x="213" y="168"/>
                    <a:pt x="216" y="165"/>
                  </a:cubicBezTo>
                  <a:cubicBezTo>
                    <a:pt x="218" y="162"/>
                    <a:pt x="222" y="170"/>
                    <a:pt x="229" y="165"/>
                  </a:cubicBezTo>
                  <a:cubicBezTo>
                    <a:pt x="236" y="160"/>
                    <a:pt x="218" y="162"/>
                    <a:pt x="218" y="158"/>
                  </a:cubicBezTo>
                  <a:close/>
                  <a:moveTo>
                    <a:pt x="480" y="86"/>
                  </a:moveTo>
                  <a:cubicBezTo>
                    <a:pt x="475" y="86"/>
                    <a:pt x="474" y="95"/>
                    <a:pt x="470" y="95"/>
                  </a:cubicBezTo>
                  <a:cubicBezTo>
                    <a:pt x="466" y="95"/>
                    <a:pt x="460" y="104"/>
                    <a:pt x="452" y="106"/>
                  </a:cubicBezTo>
                  <a:cubicBezTo>
                    <a:pt x="444" y="109"/>
                    <a:pt x="443" y="83"/>
                    <a:pt x="440" y="78"/>
                  </a:cubicBezTo>
                  <a:cubicBezTo>
                    <a:pt x="436" y="73"/>
                    <a:pt x="416" y="69"/>
                    <a:pt x="414" y="75"/>
                  </a:cubicBezTo>
                  <a:cubicBezTo>
                    <a:pt x="412" y="81"/>
                    <a:pt x="405" y="78"/>
                    <a:pt x="404" y="82"/>
                  </a:cubicBezTo>
                  <a:cubicBezTo>
                    <a:pt x="404" y="87"/>
                    <a:pt x="406" y="85"/>
                    <a:pt x="410" y="85"/>
                  </a:cubicBezTo>
                  <a:cubicBezTo>
                    <a:pt x="415" y="85"/>
                    <a:pt x="415" y="89"/>
                    <a:pt x="417" y="93"/>
                  </a:cubicBezTo>
                  <a:cubicBezTo>
                    <a:pt x="419" y="97"/>
                    <a:pt x="431" y="94"/>
                    <a:pt x="435" y="94"/>
                  </a:cubicBezTo>
                  <a:cubicBezTo>
                    <a:pt x="439" y="94"/>
                    <a:pt x="439" y="99"/>
                    <a:pt x="434" y="97"/>
                  </a:cubicBezTo>
                  <a:cubicBezTo>
                    <a:pt x="428" y="95"/>
                    <a:pt x="428" y="100"/>
                    <a:pt x="424" y="99"/>
                  </a:cubicBezTo>
                  <a:cubicBezTo>
                    <a:pt x="420" y="98"/>
                    <a:pt x="415" y="98"/>
                    <a:pt x="417" y="101"/>
                  </a:cubicBezTo>
                  <a:cubicBezTo>
                    <a:pt x="420" y="103"/>
                    <a:pt x="424" y="105"/>
                    <a:pt x="424" y="111"/>
                  </a:cubicBezTo>
                  <a:cubicBezTo>
                    <a:pt x="424" y="116"/>
                    <a:pt x="432" y="115"/>
                    <a:pt x="432" y="111"/>
                  </a:cubicBezTo>
                  <a:cubicBezTo>
                    <a:pt x="432" y="106"/>
                    <a:pt x="436" y="112"/>
                    <a:pt x="444" y="114"/>
                  </a:cubicBezTo>
                  <a:cubicBezTo>
                    <a:pt x="451" y="116"/>
                    <a:pt x="446" y="119"/>
                    <a:pt x="454" y="119"/>
                  </a:cubicBezTo>
                  <a:cubicBezTo>
                    <a:pt x="461" y="120"/>
                    <a:pt x="479" y="125"/>
                    <a:pt x="485" y="130"/>
                  </a:cubicBezTo>
                  <a:cubicBezTo>
                    <a:pt x="492" y="135"/>
                    <a:pt x="487" y="139"/>
                    <a:pt x="492" y="143"/>
                  </a:cubicBezTo>
                  <a:cubicBezTo>
                    <a:pt x="496" y="148"/>
                    <a:pt x="497" y="153"/>
                    <a:pt x="491" y="153"/>
                  </a:cubicBezTo>
                  <a:cubicBezTo>
                    <a:pt x="485" y="153"/>
                    <a:pt x="479" y="159"/>
                    <a:pt x="481" y="162"/>
                  </a:cubicBezTo>
                  <a:cubicBezTo>
                    <a:pt x="482" y="165"/>
                    <a:pt x="502" y="161"/>
                    <a:pt x="507" y="161"/>
                  </a:cubicBezTo>
                  <a:cubicBezTo>
                    <a:pt x="510" y="161"/>
                    <a:pt x="513" y="166"/>
                    <a:pt x="519" y="170"/>
                  </a:cubicBezTo>
                  <a:cubicBezTo>
                    <a:pt x="519" y="99"/>
                    <a:pt x="519" y="99"/>
                    <a:pt x="519" y="99"/>
                  </a:cubicBezTo>
                  <a:cubicBezTo>
                    <a:pt x="504" y="94"/>
                    <a:pt x="484" y="85"/>
                    <a:pt x="480" y="86"/>
                  </a:cubicBezTo>
                  <a:close/>
                  <a:moveTo>
                    <a:pt x="336" y="170"/>
                  </a:moveTo>
                  <a:cubicBezTo>
                    <a:pt x="335" y="171"/>
                    <a:pt x="334" y="171"/>
                    <a:pt x="332" y="172"/>
                  </a:cubicBezTo>
                  <a:cubicBezTo>
                    <a:pt x="332" y="173"/>
                    <a:pt x="331" y="174"/>
                    <a:pt x="330" y="175"/>
                  </a:cubicBezTo>
                  <a:cubicBezTo>
                    <a:pt x="329" y="176"/>
                    <a:pt x="328" y="174"/>
                    <a:pt x="327" y="173"/>
                  </a:cubicBezTo>
                  <a:cubicBezTo>
                    <a:pt x="320" y="175"/>
                    <a:pt x="317" y="183"/>
                    <a:pt x="321" y="186"/>
                  </a:cubicBezTo>
                  <a:cubicBezTo>
                    <a:pt x="326" y="188"/>
                    <a:pt x="332" y="182"/>
                    <a:pt x="336" y="177"/>
                  </a:cubicBezTo>
                  <a:cubicBezTo>
                    <a:pt x="336" y="177"/>
                    <a:pt x="337" y="176"/>
                    <a:pt x="337" y="176"/>
                  </a:cubicBezTo>
                  <a:cubicBezTo>
                    <a:pt x="337" y="175"/>
                    <a:pt x="338" y="175"/>
                    <a:pt x="338" y="174"/>
                  </a:cubicBezTo>
                  <a:cubicBezTo>
                    <a:pt x="338" y="174"/>
                    <a:pt x="339" y="174"/>
                    <a:pt x="339" y="174"/>
                  </a:cubicBezTo>
                  <a:cubicBezTo>
                    <a:pt x="338" y="172"/>
                    <a:pt x="337" y="171"/>
                    <a:pt x="336" y="170"/>
                  </a:cubicBezTo>
                  <a:close/>
                  <a:moveTo>
                    <a:pt x="243" y="84"/>
                  </a:moveTo>
                  <a:cubicBezTo>
                    <a:pt x="249" y="81"/>
                    <a:pt x="250" y="74"/>
                    <a:pt x="250" y="67"/>
                  </a:cubicBezTo>
                  <a:cubicBezTo>
                    <a:pt x="249" y="60"/>
                    <a:pt x="264" y="60"/>
                    <a:pt x="267" y="57"/>
                  </a:cubicBezTo>
                  <a:cubicBezTo>
                    <a:pt x="269" y="55"/>
                    <a:pt x="263" y="50"/>
                    <a:pt x="259" y="48"/>
                  </a:cubicBezTo>
                  <a:cubicBezTo>
                    <a:pt x="255" y="46"/>
                    <a:pt x="258" y="42"/>
                    <a:pt x="255" y="39"/>
                  </a:cubicBezTo>
                  <a:cubicBezTo>
                    <a:pt x="252" y="37"/>
                    <a:pt x="247" y="30"/>
                    <a:pt x="252" y="29"/>
                  </a:cubicBezTo>
                  <a:cubicBezTo>
                    <a:pt x="256" y="29"/>
                    <a:pt x="249" y="23"/>
                    <a:pt x="252" y="21"/>
                  </a:cubicBezTo>
                  <a:cubicBezTo>
                    <a:pt x="253" y="21"/>
                    <a:pt x="253" y="20"/>
                    <a:pt x="254" y="20"/>
                  </a:cubicBezTo>
                  <a:cubicBezTo>
                    <a:pt x="252" y="19"/>
                    <a:pt x="250" y="18"/>
                    <a:pt x="249" y="18"/>
                  </a:cubicBezTo>
                  <a:cubicBezTo>
                    <a:pt x="243" y="18"/>
                    <a:pt x="231" y="17"/>
                    <a:pt x="231" y="26"/>
                  </a:cubicBezTo>
                  <a:cubicBezTo>
                    <a:pt x="232" y="34"/>
                    <a:pt x="224" y="31"/>
                    <a:pt x="225" y="36"/>
                  </a:cubicBezTo>
                  <a:cubicBezTo>
                    <a:pt x="225" y="40"/>
                    <a:pt x="221" y="40"/>
                    <a:pt x="221" y="46"/>
                  </a:cubicBezTo>
                  <a:cubicBezTo>
                    <a:pt x="222" y="52"/>
                    <a:pt x="218" y="50"/>
                    <a:pt x="211" y="53"/>
                  </a:cubicBezTo>
                  <a:cubicBezTo>
                    <a:pt x="205" y="56"/>
                    <a:pt x="207" y="51"/>
                    <a:pt x="201" y="51"/>
                  </a:cubicBezTo>
                  <a:cubicBezTo>
                    <a:pt x="194" y="51"/>
                    <a:pt x="193" y="54"/>
                    <a:pt x="189" y="56"/>
                  </a:cubicBezTo>
                  <a:cubicBezTo>
                    <a:pt x="185" y="57"/>
                    <a:pt x="177" y="55"/>
                    <a:pt x="175" y="57"/>
                  </a:cubicBezTo>
                  <a:cubicBezTo>
                    <a:pt x="172" y="59"/>
                    <a:pt x="168" y="52"/>
                    <a:pt x="165" y="52"/>
                  </a:cubicBezTo>
                  <a:cubicBezTo>
                    <a:pt x="164" y="52"/>
                    <a:pt x="163" y="49"/>
                    <a:pt x="162" y="45"/>
                  </a:cubicBezTo>
                  <a:cubicBezTo>
                    <a:pt x="162" y="45"/>
                    <a:pt x="161" y="45"/>
                    <a:pt x="161" y="45"/>
                  </a:cubicBezTo>
                  <a:cubicBezTo>
                    <a:pt x="156" y="45"/>
                    <a:pt x="149" y="57"/>
                    <a:pt x="153" y="61"/>
                  </a:cubicBezTo>
                  <a:cubicBezTo>
                    <a:pt x="158" y="65"/>
                    <a:pt x="157" y="73"/>
                    <a:pt x="159" y="76"/>
                  </a:cubicBezTo>
                  <a:cubicBezTo>
                    <a:pt x="162" y="80"/>
                    <a:pt x="169" y="81"/>
                    <a:pt x="169" y="88"/>
                  </a:cubicBezTo>
                  <a:cubicBezTo>
                    <a:pt x="169" y="95"/>
                    <a:pt x="175" y="106"/>
                    <a:pt x="180" y="103"/>
                  </a:cubicBezTo>
                  <a:cubicBezTo>
                    <a:pt x="184" y="100"/>
                    <a:pt x="187" y="104"/>
                    <a:pt x="189" y="107"/>
                  </a:cubicBezTo>
                  <a:cubicBezTo>
                    <a:pt x="190" y="110"/>
                    <a:pt x="200" y="105"/>
                    <a:pt x="204" y="105"/>
                  </a:cubicBezTo>
                  <a:cubicBezTo>
                    <a:pt x="207" y="106"/>
                    <a:pt x="217" y="108"/>
                    <a:pt x="218" y="112"/>
                  </a:cubicBezTo>
                  <a:cubicBezTo>
                    <a:pt x="219" y="116"/>
                    <a:pt x="228" y="112"/>
                    <a:pt x="234" y="109"/>
                  </a:cubicBezTo>
                  <a:cubicBezTo>
                    <a:pt x="241" y="107"/>
                    <a:pt x="237" y="88"/>
                    <a:pt x="243" y="84"/>
                  </a:cubicBezTo>
                  <a:close/>
                  <a:moveTo>
                    <a:pt x="268" y="178"/>
                  </a:moveTo>
                  <a:cubicBezTo>
                    <a:pt x="270" y="181"/>
                    <a:pt x="276" y="181"/>
                    <a:pt x="278" y="183"/>
                  </a:cubicBezTo>
                  <a:cubicBezTo>
                    <a:pt x="280" y="185"/>
                    <a:pt x="289" y="189"/>
                    <a:pt x="289" y="183"/>
                  </a:cubicBezTo>
                  <a:cubicBezTo>
                    <a:pt x="289" y="178"/>
                    <a:pt x="266" y="174"/>
                    <a:pt x="268" y="178"/>
                  </a:cubicBezTo>
                  <a:close/>
                  <a:moveTo>
                    <a:pt x="251" y="161"/>
                  </a:moveTo>
                  <a:cubicBezTo>
                    <a:pt x="250" y="164"/>
                    <a:pt x="244" y="165"/>
                    <a:pt x="241" y="163"/>
                  </a:cubicBezTo>
                  <a:cubicBezTo>
                    <a:pt x="238" y="160"/>
                    <a:pt x="234" y="166"/>
                    <a:pt x="236" y="169"/>
                  </a:cubicBezTo>
                  <a:cubicBezTo>
                    <a:pt x="237" y="170"/>
                    <a:pt x="244" y="175"/>
                    <a:pt x="252" y="171"/>
                  </a:cubicBezTo>
                  <a:cubicBezTo>
                    <a:pt x="260" y="167"/>
                    <a:pt x="266" y="171"/>
                    <a:pt x="268" y="167"/>
                  </a:cubicBezTo>
                  <a:cubicBezTo>
                    <a:pt x="270" y="162"/>
                    <a:pt x="253" y="158"/>
                    <a:pt x="251" y="161"/>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5" name="Freeform 172"/>
            <p:cNvSpPr>
              <a:spLocks noEditPoints="1" noChangeArrowheads="1"/>
            </p:cNvSpPr>
            <p:nvPr/>
          </p:nvSpPr>
          <p:spPr bwMode="auto">
            <a:xfrm>
              <a:off x="6297630" y="2651128"/>
              <a:ext cx="69851" cy="30163"/>
            </a:xfrm>
            <a:custGeom>
              <a:avLst/>
              <a:gdLst>
                <a:gd name="T0" fmla="*/ 3 w 37"/>
                <a:gd name="T1" fmla="*/ 12 h 16"/>
                <a:gd name="T2" fmla="*/ 0 w 37"/>
                <a:gd name="T3" fmla="*/ 13 h 16"/>
                <a:gd name="T4" fmla="*/ 3 w 37"/>
                <a:gd name="T5" fmla="*/ 15 h 16"/>
                <a:gd name="T6" fmla="*/ 5 w 37"/>
                <a:gd name="T7" fmla="*/ 12 h 16"/>
                <a:gd name="T8" fmla="*/ 4 w 37"/>
                <a:gd name="T9" fmla="*/ 12 h 16"/>
                <a:gd name="T10" fmla="*/ 3 w 37"/>
                <a:gd name="T11" fmla="*/ 12 h 16"/>
                <a:gd name="T12" fmla="*/ 19 w 37"/>
                <a:gd name="T13" fmla="*/ 3 h 16"/>
                <a:gd name="T14" fmla="*/ 10 w 37"/>
                <a:gd name="T15" fmla="*/ 9 h 16"/>
                <a:gd name="T16" fmla="*/ 9 w 37"/>
                <a:gd name="T17" fmla="*/ 10 h 16"/>
                <a:gd name="T18" fmla="*/ 12 w 37"/>
                <a:gd name="T19" fmla="*/ 14 h 16"/>
                <a:gd name="T20" fmla="*/ 36 w 37"/>
                <a:gd name="T21" fmla="*/ 3 h 16"/>
                <a:gd name="T22" fmla="*/ 19 w 37"/>
                <a:gd name="T23" fmla="*/ 3 h 1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6"/>
                <a:gd name="T38" fmla="*/ 37 w 37"/>
                <a:gd name="T39" fmla="*/ 16 h 1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6">
                  <a:moveTo>
                    <a:pt x="3" y="12"/>
                  </a:moveTo>
                  <a:cubicBezTo>
                    <a:pt x="2" y="12"/>
                    <a:pt x="1" y="12"/>
                    <a:pt x="0" y="13"/>
                  </a:cubicBezTo>
                  <a:cubicBezTo>
                    <a:pt x="1" y="14"/>
                    <a:pt x="2" y="16"/>
                    <a:pt x="3" y="15"/>
                  </a:cubicBezTo>
                  <a:cubicBezTo>
                    <a:pt x="4" y="14"/>
                    <a:pt x="5" y="13"/>
                    <a:pt x="5" y="12"/>
                  </a:cubicBezTo>
                  <a:cubicBezTo>
                    <a:pt x="5" y="12"/>
                    <a:pt x="4" y="12"/>
                    <a:pt x="4" y="12"/>
                  </a:cubicBezTo>
                  <a:cubicBezTo>
                    <a:pt x="3" y="12"/>
                    <a:pt x="3" y="12"/>
                    <a:pt x="3" y="12"/>
                  </a:cubicBezTo>
                  <a:close/>
                  <a:moveTo>
                    <a:pt x="19" y="3"/>
                  </a:moveTo>
                  <a:cubicBezTo>
                    <a:pt x="15" y="3"/>
                    <a:pt x="13" y="7"/>
                    <a:pt x="10" y="9"/>
                  </a:cubicBezTo>
                  <a:cubicBezTo>
                    <a:pt x="9" y="10"/>
                    <a:pt x="9" y="10"/>
                    <a:pt x="9" y="10"/>
                  </a:cubicBezTo>
                  <a:cubicBezTo>
                    <a:pt x="10" y="11"/>
                    <a:pt x="11" y="12"/>
                    <a:pt x="12" y="14"/>
                  </a:cubicBezTo>
                  <a:cubicBezTo>
                    <a:pt x="19" y="10"/>
                    <a:pt x="35" y="5"/>
                    <a:pt x="36" y="3"/>
                  </a:cubicBezTo>
                  <a:cubicBezTo>
                    <a:pt x="37" y="0"/>
                    <a:pt x="26" y="4"/>
                    <a:pt x="19" y="3"/>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6" name="Freeform 173"/>
            <p:cNvSpPr>
              <a:spLocks noChangeArrowheads="1"/>
            </p:cNvSpPr>
            <p:nvPr/>
          </p:nvSpPr>
          <p:spPr bwMode="auto">
            <a:xfrm>
              <a:off x="3925899" y="1370013"/>
              <a:ext cx="73025" cy="39688"/>
            </a:xfrm>
            <a:custGeom>
              <a:avLst/>
              <a:gdLst>
                <a:gd name="T0" fmla="*/ 0 w 38"/>
                <a:gd name="T1" fmla="*/ 19 h 21"/>
                <a:gd name="T2" fmla="*/ 7 w 38"/>
                <a:gd name="T3" fmla="*/ 18 h 21"/>
                <a:gd name="T4" fmla="*/ 9 w 38"/>
                <a:gd name="T5" fmla="*/ 21 h 21"/>
                <a:gd name="T6" fmla="*/ 17 w 38"/>
                <a:gd name="T7" fmla="*/ 20 h 21"/>
                <a:gd name="T8" fmla="*/ 24 w 38"/>
                <a:gd name="T9" fmla="*/ 20 h 21"/>
                <a:gd name="T10" fmla="*/ 28 w 38"/>
                <a:gd name="T11" fmla="*/ 15 h 21"/>
                <a:gd name="T12" fmla="*/ 31 w 38"/>
                <a:gd name="T13" fmla="*/ 9 h 21"/>
                <a:gd name="T14" fmla="*/ 38 w 38"/>
                <a:gd name="T15" fmla="*/ 5 h 21"/>
                <a:gd name="T16" fmla="*/ 35 w 38"/>
                <a:gd name="T17" fmla="*/ 0 h 21"/>
                <a:gd name="T18" fmla="*/ 27 w 38"/>
                <a:gd name="T19" fmla="*/ 3 h 21"/>
                <a:gd name="T20" fmla="*/ 18 w 38"/>
                <a:gd name="T21" fmla="*/ 6 h 21"/>
                <a:gd name="T22" fmla="*/ 5 w 38"/>
                <a:gd name="T23" fmla="*/ 4 h 21"/>
                <a:gd name="T24" fmla="*/ 1 w 38"/>
                <a:gd name="T25" fmla="*/ 4 h 21"/>
                <a:gd name="T26" fmla="*/ 0 w 38"/>
                <a:gd name="T27" fmla="*/ 19 h 2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21"/>
                <a:gd name="T44" fmla="*/ 38 w 38"/>
                <a:gd name="T45" fmla="*/ 21 h 2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21">
                  <a:moveTo>
                    <a:pt x="0" y="19"/>
                  </a:moveTo>
                  <a:cubicBezTo>
                    <a:pt x="3" y="18"/>
                    <a:pt x="6" y="17"/>
                    <a:pt x="7" y="18"/>
                  </a:cubicBezTo>
                  <a:cubicBezTo>
                    <a:pt x="8" y="18"/>
                    <a:pt x="9" y="20"/>
                    <a:pt x="9" y="21"/>
                  </a:cubicBezTo>
                  <a:cubicBezTo>
                    <a:pt x="11" y="21"/>
                    <a:pt x="16" y="20"/>
                    <a:pt x="17" y="20"/>
                  </a:cubicBezTo>
                  <a:cubicBezTo>
                    <a:pt x="19" y="19"/>
                    <a:pt x="24" y="21"/>
                    <a:pt x="24" y="20"/>
                  </a:cubicBezTo>
                  <a:cubicBezTo>
                    <a:pt x="25" y="18"/>
                    <a:pt x="26" y="15"/>
                    <a:pt x="28" y="15"/>
                  </a:cubicBezTo>
                  <a:cubicBezTo>
                    <a:pt x="30" y="15"/>
                    <a:pt x="29" y="10"/>
                    <a:pt x="31" y="9"/>
                  </a:cubicBezTo>
                  <a:cubicBezTo>
                    <a:pt x="33" y="9"/>
                    <a:pt x="38" y="5"/>
                    <a:pt x="38" y="5"/>
                  </a:cubicBezTo>
                  <a:cubicBezTo>
                    <a:pt x="38" y="5"/>
                    <a:pt x="36" y="1"/>
                    <a:pt x="35" y="0"/>
                  </a:cubicBezTo>
                  <a:cubicBezTo>
                    <a:pt x="34" y="0"/>
                    <a:pt x="32" y="3"/>
                    <a:pt x="27" y="3"/>
                  </a:cubicBezTo>
                  <a:cubicBezTo>
                    <a:pt x="23" y="3"/>
                    <a:pt x="20" y="6"/>
                    <a:pt x="18" y="6"/>
                  </a:cubicBezTo>
                  <a:cubicBezTo>
                    <a:pt x="16" y="6"/>
                    <a:pt x="9" y="4"/>
                    <a:pt x="5" y="4"/>
                  </a:cubicBezTo>
                  <a:cubicBezTo>
                    <a:pt x="4" y="4"/>
                    <a:pt x="2" y="4"/>
                    <a:pt x="1" y="4"/>
                  </a:cubicBezTo>
                  <a:cubicBezTo>
                    <a:pt x="0" y="7"/>
                    <a:pt x="0" y="13"/>
                    <a:pt x="0" y="1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7" name="Freeform 174"/>
            <p:cNvSpPr>
              <a:spLocks noEditPoints="1" noChangeArrowheads="1"/>
            </p:cNvSpPr>
            <p:nvPr/>
          </p:nvSpPr>
          <p:spPr bwMode="auto">
            <a:xfrm>
              <a:off x="3790962" y="1365248"/>
              <a:ext cx="247651" cy="269874"/>
            </a:xfrm>
            <a:custGeom>
              <a:avLst/>
              <a:gdLst>
                <a:gd name="T0" fmla="*/ 90 w 130"/>
                <a:gd name="T1" fmla="*/ 122 h 141"/>
                <a:gd name="T2" fmla="*/ 77 w 130"/>
                <a:gd name="T3" fmla="*/ 122 h 141"/>
                <a:gd name="T4" fmla="*/ 67 w 130"/>
                <a:gd name="T5" fmla="*/ 127 h 141"/>
                <a:gd name="T6" fmla="*/ 79 w 130"/>
                <a:gd name="T7" fmla="*/ 133 h 141"/>
                <a:gd name="T8" fmla="*/ 92 w 130"/>
                <a:gd name="T9" fmla="*/ 141 h 141"/>
                <a:gd name="T10" fmla="*/ 95 w 130"/>
                <a:gd name="T11" fmla="*/ 134 h 141"/>
                <a:gd name="T12" fmla="*/ 99 w 130"/>
                <a:gd name="T13" fmla="*/ 123 h 141"/>
                <a:gd name="T14" fmla="*/ 90 w 130"/>
                <a:gd name="T15" fmla="*/ 122 h 141"/>
                <a:gd name="T16" fmla="*/ 26 w 130"/>
                <a:gd name="T17" fmla="*/ 85 h 141"/>
                <a:gd name="T18" fmla="*/ 18 w 130"/>
                <a:gd name="T19" fmla="*/ 87 h 141"/>
                <a:gd name="T20" fmla="*/ 22 w 130"/>
                <a:gd name="T21" fmla="*/ 101 h 141"/>
                <a:gd name="T22" fmla="*/ 27 w 130"/>
                <a:gd name="T23" fmla="*/ 112 h 141"/>
                <a:gd name="T24" fmla="*/ 34 w 130"/>
                <a:gd name="T25" fmla="*/ 107 h 141"/>
                <a:gd name="T26" fmla="*/ 36 w 130"/>
                <a:gd name="T27" fmla="*/ 89 h 141"/>
                <a:gd name="T28" fmla="*/ 26 w 130"/>
                <a:gd name="T29" fmla="*/ 85 h 141"/>
                <a:gd name="T30" fmla="*/ 108 w 130"/>
                <a:gd name="T31" fmla="*/ 79 h 141"/>
                <a:gd name="T32" fmla="*/ 99 w 130"/>
                <a:gd name="T33" fmla="*/ 73 h 141"/>
                <a:gd name="T34" fmla="*/ 82 w 130"/>
                <a:gd name="T35" fmla="*/ 55 h 141"/>
                <a:gd name="T36" fmla="*/ 66 w 130"/>
                <a:gd name="T37" fmla="*/ 38 h 141"/>
                <a:gd name="T38" fmla="*/ 66 w 130"/>
                <a:gd name="T39" fmla="*/ 27 h 141"/>
                <a:gd name="T40" fmla="*/ 71 w 130"/>
                <a:gd name="T41" fmla="*/ 21 h 141"/>
                <a:gd name="T42" fmla="*/ 72 w 130"/>
                <a:gd name="T43" fmla="*/ 6 h 141"/>
                <a:gd name="T44" fmla="*/ 66 w 130"/>
                <a:gd name="T45" fmla="*/ 5 h 141"/>
                <a:gd name="T46" fmla="*/ 64 w 130"/>
                <a:gd name="T47" fmla="*/ 0 h 141"/>
                <a:gd name="T48" fmla="*/ 55 w 130"/>
                <a:gd name="T49" fmla="*/ 1 h 141"/>
                <a:gd name="T50" fmla="*/ 48 w 130"/>
                <a:gd name="T51" fmla="*/ 3 h 141"/>
                <a:gd name="T52" fmla="*/ 46 w 130"/>
                <a:gd name="T53" fmla="*/ 2 h 141"/>
                <a:gd name="T54" fmla="*/ 44 w 130"/>
                <a:gd name="T55" fmla="*/ 5 h 141"/>
                <a:gd name="T56" fmla="*/ 42 w 130"/>
                <a:gd name="T57" fmla="*/ 7 h 141"/>
                <a:gd name="T58" fmla="*/ 39 w 130"/>
                <a:gd name="T59" fmla="*/ 9 h 141"/>
                <a:gd name="T60" fmla="*/ 34 w 130"/>
                <a:gd name="T61" fmla="*/ 10 h 141"/>
                <a:gd name="T62" fmla="*/ 30 w 130"/>
                <a:gd name="T63" fmla="*/ 12 h 141"/>
                <a:gd name="T64" fmla="*/ 27 w 130"/>
                <a:gd name="T65" fmla="*/ 16 h 141"/>
                <a:gd name="T66" fmla="*/ 20 w 130"/>
                <a:gd name="T67" fmla="*/ 9 h 141"/>
                <a:gd name="T68" fmla="*/ 15 w 130"/>
                <a:gd name="T69" fmla="*/ 17 h 141"/>
                <a:gd name="T70" fmla="*/ 5 w 130"/>
                <a:gd name="T71" fmla="*/ 17 h 141"/>
                <a:gd name="T72" fmla="*/ 6 w 130"/>
                <a:gd name="T73" fmla="*/ 23 h 141"/>
                <a:gd name="T74" fmla="*/ 4 w 130"/>
                <a:gd name="T75" fmla="*/ 27 h 141"/>
                <a:gd name="T76" fmla="*/ 2 w 130"/>
                <a:gd name="T77" fmla="*/ 30 h 141"/>
                <a:gd name="T78" fmla="*/ 5 w 130"/>
                <a:gd name="T79" fmla="*/ 36 h 141"/>
                <a:gd name="T80" fmla="*/ 8 w 130"/>
                <a:gd name="T81" fmla="*/ 41 h 141"/>
                <a:gd name="T82" fmla="*/ 13 w 130"/>
                <a:gd name="T83" fmla="*/ 43 h 141"/>
                <a:gd name="T84" fmla="*/ 12 w 130"/>
                <a:gd name="T85" fmla="*/ 47 h 141"/>
                <a:gd name="T86" fmla="*/ 17 w 130"/>
                <a:gd name="T87" fmla="*/ 45 h 141"/>
                <a:gd name="T88" fmla="*/ 25 w 130"/>
                <a:gd name="T89" fmla="*/ 38 h 141"/>
                <a:gd name="T90" fmla="*/ 41 w 130"/>
                <a:gd name="T91" fmla="*/ 45 h 141"/>
                <a:gd name="T92" fmla="*/ 44 w 130"/>
                <a:gd name="T93" fmla="*/ 52 h 141"/>
                <a:gd name="T94" fmla="*/ 55 w 130"/>
                <a:gd name="T95" fmla="*/ 65 h 141"/>
                <a:gd name="T96" fmla="*/ 70 w 130"/>
                <a:gd name="T97" fmla="*/ 79 h 141"/>
                <a:gd name="T98" fmla="*/ 81 w 130"/>
                <a:gd name="T99" fmla="*/ 83 h 141"/>
                <a:gd name="T100" fmla="*/ 91 w 130"/>
                <a:gd name="T101" fmla="*/ 90 h 141"/>
                <a:gd name="T102" fmla="*/ 99 w 130"/>
                <a:gd name="T103" fmla="*/ 96 h 141"/>
                <a:gd name="T104" fmla="*/ 103 w 130"/>
                <a:gd name="T105" fmla="*/ 103 h 141"/>
                <a:gd name="T106" fmla="*/ 103 w 130"/>
                <a:gd name="T107" fmla="*/ 115 h 141"/>
                <a:gd name="T108" fmla="*/ 104 w 130"/>
                <a:gd name="T109" fmla="*/ 124 h 141"/>
                <a:gd name="T110" fmla="*/ 109 w 130"/>
                <a:gd name="T111" fmla="*/ 115 h 141"/>
                <a:gd name="T112" fmla="*/ 116 w 130"/>
                <a:gd name="T113" fmla="*/ 108 h 141"/>
                <a:gd name="T114" fmla="*/ 111 w 130"/>
                <a:gd name="T115" fmla="*/ 99 h 141"/>
                <a:gd name="T116" fmla="*/ 121 w 130"/>
                <a:gd name="T117" fmla="*/ 95 h 141"/>
                <a:gd name="T118" fmla="*/ 130 w 130"/>
                <a:gd name="T119" fmla="*/ 95 h 141"/>
                <a:gd name="T120" fmla="*/ 108 w 130"/>
                <a:gd name="T121" fmla="*/ 79 h 1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30"/>
                <a:gd name="T184" fmla="*/ 0 h 141"/>
                <a:gd name="T185" fmla="*/ 130 w 130"/>
                <a:gd name="T186" fmla="*/ 141 h 1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30" h="141">
                  <a:moveTo>
                    <a:pt x="90" y="122"/>
                  </a:moveTo>
                  <a:cubicBezTo>
                    <a:pt x="84" y="124"/>
                    <a:pt x="81" y="124"/>
                    <a:pt x="77" y="122"/>
                  </a:cubicBezTo>
                  <a:cubicBezTo>
                    <a:pt x="73" y="120"/>
                    <a:pt x="66" y="124"/>
                    <a:pt x="67" y="127"/>
                  </a:cubicBezTo>
                  <a:cubicBezTo>
                    <a:pt x="68" y="129"/>
                    <a:pt x="71" y="131"/>
                    <a:pt x="79" y="133"/>
                  </a:cubicBezTo>
                  <a:cubicBezTo>
                    <a:pt x="87" y="135"/>
                    <a:pt x="88" y="141"/>
                    <a:pt x="92" y="141"/>
                  </a:cubicBezTo>
                  <a:cubicBezTo>
                    <a:pt x="95" y="141"/>
                    <a:pt x="96" y="138"/>
                    <a:pt x="95" y="134"/>
                  </a:cubicBezTo>
                  <a:cubicBezTo>
                    <a:pt x="94" y="129"/>
                    <a:pt x="99" y="124"/>
                    <a:pt x="99" y="123"/>
                  </a:cubicBezTo>
                  <a:cubicBezTo>
                    <a:pt x="100" y="122"/>
                    <a:pt x="97" y="121"/>
                    <a:pt x="90" y="122"/>
                  </a:cubicBezTo>
                  <a:close/>
                  <a:moveTo>
                    <a:pt x="26" y="85"/>
                  </a:moveTo>
                  <a:cubicBezTo>
                    <a:pt x="22" y="88"/>
                    <a:pt x="19" y="84"/>
                    <a:pt x="18" y="87"/>
                  </a:cubicBezTo>
                  <a:cubicBezTo>
                    <a:pt x="16" y="90"/>
                    <a:pt x="23" y="95"/>
                    <a:pt x="22" y="101"/>
                  </a:cubicBezTo>
                  <a:cubicBezTo>
                    <a:pt x="20" y="108"/>
                    <a:pt x="23" y="116"/>
                    <a:pt x="27" y="112"/>
                  </a:cubicBezTo>
                  <a:cubicBezTo>
                    <a:pt x="30" y="108"/>
                    <a:pt x="32" y="110"/>
                    <a:pt x="34" y="107"/>
                  </a:cubicBezTo>
                  <a:cubicBezTo>
                    <a:pt x="37" y="104"/>
                    <a:pt x="35" y="94"/>
                    <a:pt x="36" y="89"/>
                  </a:cubicBezTo>
                  <a:cubicBezTo>
                    <a:pt x="38" y="84"/>
                    <a:pt x="30" y="81"/>
                    <a:pt x="26" y="85"/>
                  </a:cubicBezTo>
                  <a:close/>
                  <a:moveTo>
                    <a:pt x="108" y="79"/>
                  </a:moveTo>
                  <a:cubicBezTo>
                    <a:pt x="103" y="77"/>
                    <a:pt x="106" y="72"/>
                    <a:pt x="99" y="73"/>
                  </a:cubicBezTo>
                  <a:cubicBezTo>
                    <a:pt x="92" y="73"/>
                    <a:pt x="84" y="64"/>
                    <a:pt x="82" y="55"/>
                  </a:cubicBezTo>
                  <a:cubicBezTo>
                    <a:pt x="79" y="45"/>
                    <a:pt x="69" y="44"/>
                    <a:pt x="66" y="38"/>
                  </a:cubicBezTo>
                  <a:cubicBezTo>
                    <a:pt x="63" y="33"/>
                    <a:pt x="68" y="32"/>
                    <a:pt x="66" y="27"/>
                  </a:cubicBezTo>
                  <a:cubicBezTo>
                    <a:pt x="65" y="24"/>
                    <a:pt x="68" y="22"/>
                    <a:pt x="71" y="21"/>
                  </a:cubicBezTo>
                  <a:cubicBezTo>
                    <a:pt x="71" y="15"/>
                    <a:pt x="71" y="9"/>
                    <a:pt x="72" y="6"/>
                  </a:cubicBezTo>
                  <a:cubicBezTo>
                    <a:pt x="69" y="5"/>
                    <a:pt x="67" y="5"/>
                    <a:pt x="66" y="5"/>
                  </a:cubicBezTo>
                  <a:cubicBezTo>
                    <a:pt x="65" y="4"/>
                    <a:pt x="64" y="0"/>
                    <a:pt x="64" y="0"/>
                  </a:cubicBezTo>
                  <a:cubicBezTo>
                    <a:pt x="63" y="0"/>
                    <a:pt x="56" y="0"/>
                    <a:pt x="55" y="1"/>
                  </a:cubicBezTo>
                  <a:cubicBezTo>
                    <a:pt x="53" y="2"/>
                    <a:pt x="50" y="5"/>
                    <a:pt x="48" y="3"/>
                  </a:cubicBezTo>
                  <a:cubicBezTo>
                    <a:pt x="47" y="3"/>
                    <a:pt x="47" y="3"/>
                    <a:pt x="46" y="2"/>
                  </a:cubicBezTo>
                  <a:cubicBezTo>
                    <a:pt x="44" y="5"/>
                    <a:pt x="44" y="5"/>
                    <a:pt x="44" y="5"/>
                  </a:cubicBezTo>
                  <a:cubicBezTo>
                    <a:pt x="44" y="5"/>
                    <a:pt x="44" y="7"/>
                    <a:pt x="42" y="7"/>
                  </a:cubicBezTo>
                  <a:cubicBezTo>
                    <a:pt x="41" y="7"/>
                    <a:pt x="39" y="6"/>
                    <a:pt x="39" y="9"/>
                  </a:cubicBezTo>
                  <a:cubicBezTo>
                    <a:pt x="39" y="11"/>
                    <a:pt x="35" y="10"/>
                    <a:pt x="34" y="10"/>
                  </a:cubicBezTo>
                  <a:cubicBezTo>
                    <a:pt x="32" y="10"/>
                    <a:pt x="30" y="10"/>
                    <a:pt x="30" y="12"/>
                  </a:cubicBezTo>
                  <a:cubicBezTo>
                    <a:pt x="30" y="14"/>
                    <a:pt x="29" y="19"/>
                    <a:pt x="27" y="16"/>
                  </a:cubicBezTo>
                  <a:cubicBezTo>
                    <a:pt x="24" y="14"/>
                    <a:pt x="21" y="8"/>
                    <a:pt x="20" y="9"/>
                  </a:cubicBezTo>
                  <a:cubicBezTo>
                    <a:pt x="19" y="9"/>
                    <a:pt x="17" y="17"/>
                    <a:pt x="15" y="17"/>
                  </a:cubicBezTo>
                  <a:cubicBezTo>
                    <a:pt x="13" y="17"/>
                    <a:pt x="8" y="17"/>
                    <a:pt x="5" y="17"/>
                  </a:cubicBezTo>
                  <a:cubicBezTo>
                    <a:pt x="4" y="20"/>
                    <a:pt x="5" y="22"/>
                    <a:pt x="6" y="23"/>
                  </a:cubicBezTo>
                  <a:cubicBezTo>
                    <a:pt x="8" y="23"/>
                    <a:pt x="6" y="26"/>
                    <a:pt x="4" y="27"/>
                  </a:cubicBezTo>
                  <a:cubicBezTo>
                    <a:pt x="3" y="28"/>
                    <a:pt x="0" y="27"/>
                    <a:pt x="2" y="30"/>
                  </a:cubicBezTo>
                  <a:cubicBezTo>
                    <a:pt x="4" y="33"/>
                    <a:pt x="7" y="33"/>
                    <a:pt x="5" y="36"/>
                  </a:cubicBezTo>
                  <a:cubicBezTo>
                    <a:pt x="3" y="38"/>
                    <a:pt x="5" y="41"/>
                    <a:pt x="8" y="41"/>
                  </a:cubicBezTo>
                  <a:cubicBezTo>
                    <a:pt x="10" y="41"/>
                    <a:pt x="14" y="41"/>
                    <a:pt x="13" y="43"/>
                  </a:cubicBezTo>
                  <a:cubicBezTo>
                    <a:pt x="12" y="44"/>
                    <a:pt x="12" y="45"/>
                    <a:pt x="12" y="47"/>
                  </a:cubicBezTo>
                  <a:cubicBezTo>
                    <a:pt x="14" y="46"/>
                    <a:pt x="15" y="46"/>
                    <a:pt x="17" y="45"/>
                  </a:cubicBezTo>
                  <a:cubicBezTo>
                    <a:pt x="21" y="43"/>
                    <a:pt x="19" y="40"/>
                    <a:pt x="25" y="38"/>
                  </a:cubicBezTo>
                  <a:cubicBezTo>
                    <a:pt x="31" y="37"/>
                    <a:pt x="38" y="42"/>
                    <a:pt x="41" y="45"/>
                  </a:cubicBezTo>
                  <a:cubicBezTo>
                    <a:pt x="43" y="49"/>
                    <a:pt x="44" y="49"/>
                    <a:pt x="44" y="52"/>
                  </a:cubicBezTo>
                  <a:cubicBezTo>
                    <a:pt x="45" y="55"/>
                    <a:pt x="47" y="60"/>
                    <a:pt x="55" y="65"/>
                  </a:cubicBezTo>
                  <a:cubicBezTo>
                    <a:pt x="63" y="71"/>
                    <a:pt x="66" y="76"/>
                    <a:pt x="70" y="79"/>
                  </a:cubicBezTo>
                  <a:cubicBezTo>
                    <a:pt x="74" y="81"/>
                    <a:pt x="79" y="80"/>
                    <a:pt x="81" y="83"/>
                  </a:cubicBezTo>
                  <a:cubicBezTo>
                    <a:pt x="84" y="86"/>
                    <a:pt x="87" y="88"/>
                    <a:pt x="91" y="90"/>
                  </a:cubicBezTo>
                  <a:cubicBezTo>
                    <a:pt x="95" y="92"/>
                    <a:pt x="95" y="96"/>
                    <a:pt x="99" y="96"/>
                  </a:cubicBezTo>
                  <a:cubicBezTo>
                    <a:pt x="103" y="97"/>
                    <a:pt x="100" y="100"/>
                    <a:pt x="103" y="103"/>
                  </a:cubicBezTo>
                  <a:cubicBezTo>
                    <a:pt x="105" y="106"/>
                    <a:pt x="106" y="112"/>
                    <a:pt x="103" y="115"/>
                  </a:cubicBezTo>
                  <a:cubicBezTo>
                    <a:pt x="101" y="119"/>
                    <a:pt x="102" y="124"/>
                    <a:pt x="104" y="124"/>
                  </a:cubicBezTo>
                  <a:cubicBezTo>
                    <a:pt x="105" y="124"/>
                    <a:pt x="109" y="118"/>
                    <a:pt x="109" y="115"/>
                  </a:cubicBezTo>
                  <a:cubicBezTo>
                    <a:pt x="110" y="112"/>
                    <a:pt x="113" y="112"/>
                    <a:pt x="116" y="108"/>
                  </a:cubicBezTo>
                  <a:cubicBezTo>
                    <a:pt x="118" y="105"/>
                    <a:pt x="112" y="104"/>
                    <a:pt x="111" y="99"/>
                  </a:cubicBezTo>
                  <a:cubicBezTo>
                    <a:pt x="109" y="95"/>
                    <a:pt x="116" y="91"/>
                    <a:pt x="121" y="95"/>
                  </a:cubicBezTo>
                  <a:cubicBezTo>
                    <a:pt x="127" y="98"/>
                    <a:pt x="130" y="101"/>
                    <a:pt x="130" y="95"/>
                  </a:cubicBezTo>
                  <a:cubicBezTo>
                    <a:pt x="130" y="89"/>
                    <a:pt x="112" y="82"/>
                    <a:pt x="108" y="79"/>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8" name="Freeform 175"/>
            <p:cNvSpPr>
              <a:spLocks noChangeArrowheads="1"/>
            </p:cNvSpPr>
            <p:nvPr/>
          </p:nvSpPr>
          <p:spPr bwMode="auto">
            <a:xfrm>
              <a:off x="4038596" y="1465261"/>
              <a:ext cx="26988" cy="33338"/>
            </a:xfrm>
            <a:custGeom>
              <a:avLst/>
              <a:gdLst>
                <a:gd name="T0" fmla="*/ 5 w 14"/>
                <a:gd name="T1" fmla="*/ 0 h 18"/>
                <a:gd name="T2" fmla="*/ 1 w 14"/>
                <a:gd name="T3" fmla="*/ 8 h 18"/>
                <a:gd name="T4" fmla="*/ 0 w 14"/>
                <a:gd name="T5" fmla="*/ 12 h 18"/>
                <a:gd name="T6" fmla="*/ 8 w 14"/>
                <a:gd name="T7" fmla="*/ 18 h 18"/>
                <a:gd name="T8" fmla="*/ 9 w 14"/>
                <a:gd name="T9" fmla="*/ 18 h 18"/>
                <a:gd name="T10" fmla="*/ 14 w 14"/>
                <a:gd name="T11" fmla="*/ 10 h 18"/>
                <a:gd name="T12" fmla="*/ 5 w 14"/>
                <a:gd name="T13" fmla="*/ 0 h 18"/>
                <a:gd name="T14" fmla="*/ 0 60000 65536"/>
                <a:gd name="T15" fmla="*/ 0 60000 65536"/>
                <a:gd name="T16" fmla="*/ 0 60000 65536"/>
                <a:gd name="T17" fmla="*/ 0 60000 65536"/>
                <a:gd name="T18" fmla="*/ 0 60000 65536"/>
                <a:gd name="T19" fmla="*/ 0 60000 65536"/>
                <a:gd name="T20" fmla="*/ 0 60000 65536"/>
                <a:gd name="T21" fmla="*/ 0 w 14"/>
                <a:gd name="T22" fmla="*/ 0 h 18"/>
                <a:gd name="T23" fmla="*/ 14 w 14"/>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18">
                  <a:moveTo>
                    <a:pt x="5" y="0"/>
                  </a:moveTo>
                  <a:cubicBezTo>
                    <a:pt x="3" y="3"/>
                    <a:pt x="0" y="7"/>
                    <a:pt x="1" y="8"/>
                  </a:cubicBezTo>
                  <a:cubicBezTo>
                    <a:pt x="1" y="9"/>
                    <a:pt x="0" y="10"/>
                    <a:pt x="0" y="12"/>
                  </a:cubicBezTo>
                  <a:cubicBezTo>
                    <a:pt x="3" y="14"/>
                    <a:pt x="6" y="16"/>
                    <a:pt x="8" y="18"/>
                  </a:cubicBezTo>
                  <a:cubicBezTo>
                    <a:pt x="8" y="18"/>
                    <a:pt x="8" y="18"/>
                    <a:pt x="9" y="18"/>
                  </a:cubicBezTo>
                  <a:cubicBezTo>
                    <a:pt x="9" y="14"/>
                    <a:pt x="12" y="10"/>
                    <a:pt x="14" y="10"/>
                  </a:cubicBezTo>
                  <a:cubicBezTo>
                    <a:pt x="11" y="7"/>
                    <a:pt x="7" y="2"/>
                    <a:pt x="5" y="0"/>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69" name="Freeform 176"/>
            <p:cNvSpPr>
              <a:spLocks noChangeArrowheads="1"/>
            </p:cNvSpPr>
            <p:nvPr/>
          </p:nvSpPr>
          <p:spPr bwMode="auto">
            <a:xfrm>
              <a:off x="4044950" y="1389062"/>
              <a:ext cx="90488" cy="106363"/>
            </a:xfrm>
            <a:custGeom>
              <a:avLst/>
              <a:gdLst>
                <a:gd name="T0" fmla="*/ 41 w 47"/>
                <a:gd name="T1" fmla="*/ 37 h 56"/>
                <a:gd name="T2" fmla="*/ 41 w 47"/>
                <a:gd name="T3" fmla="*/ 29 h 56"/>
                <a:gd name="T4" fmla="*/ 42 w 47"/>
                <a:gd name="T5" fmla="*/ 23 h 56"/>
                <a:gd name="T6" fmla="*/ 29 w 47"/>
                <a:gd name="T7" fmla="*/ 20 h 56"/>
                <a:gd name="T8" fmla="*/ 28 w 47"/>
                <a:gd name="T9" fmla="*/ 13 h 56"/>
                <a:gd name="T10" fmla="*/ 24 w 47"/>
                <a:gd name="T11" fmla="*/ 9 h 56"/>
                <a:gd name="T12" fmla="*/ 20 w 47"/>
                <a:gd name="T13" fmla="*/ 2 h 56"/>
                <a:gd name="T14" fmla="*/ 20 w 47"/>
                <a:gd name="T15" fmla="*/ 2 h 56"/>
                <a:gd name="T16" fmla="*/ 17 w 47"/>
                <a:gd name="T17" fmla="*/ 1 h 56"/>
                <a:gd name="T18" fmla="*/ 12 w 47"/>
                <a:gd name="T19" fmla="*/ 0 h 56"/>
                <a:gd name="T20" fmla="*/ 0 w 47"/>
                <a:gd name="T21" fmla="*/ 3 h 56"/>
                <a:gd name="T22" fmla="*/ 3 w 47"/>
                <a:gd name="T23" fmla="*/ 10 h 56"/>
                <a:gd name="T24" fmla="*/ 7 w 47"/>
                <a:gd name="T25" fmla="*/ 18 h 56"/>
                <a:gd name="T26" fmla="*/ 6 w 47"/>
                <a:gd name="T27" fmla="*/ 36 h 56"/>
                <a:gd name="T28" fmla="*/ 2 w 47"/>
                <a:gd name="T29" fmla="*/ 40 h 56"/>
                <a:gd name="T30" fmla="*/ 11 w 47"/>
                <a:gd name="T31" fmla="*/ 50 h 56"/>
                <a:gd name="T32" fmla="*/ 11 w 47"/>
                <a:gd name="T33" fmla="*/ 50 h 56"/>
                <a:gd name="T34" fmla="*/ 21 w 47"/>
                <a:gd name="T35" fmla="*/ 56 h 56"/>
                <a:gd name="T36" fmla="*/ 41 w 47"/>
                <a:gd name="T37" fmla="*/ 52 h 56"/>
                <a:gd name="T38" fmla="*/ 41 w 47"/>
                <a:gd name="T39" fmla="*/ 49 h 56"/>
                <a:gd name="T40" fmla="*/ 45 w 47"/>
                <a:gd name="T41" fmla="*/ 44 h 56"/>
                <a:gd name="T42" fmla="*/ 41 w 47"/>
                <a:gd name="T43" fmla="*/ 3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
                <a:gd name="T67" fmla="*/ 0 h 56"/>
                <a:gd name="T68" fmla="*/ 47 w 47"/>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 h="56">
                  <a:moveTo>
                    <a:pt x="41" y="37"/>
                  </a:moveTo>
                  <a:cubicBezTo>
                    <a:pt x="39" y="35"/>
                    <a:pt x="39" y="31"/>
                    <a:pt x="41" y="29"/>
                  </a:cubicBezTo>
                  <a:cubicBezTo>
                    <a:pt x="44" y="28"/>
                    <a:pt x="42" y="26"/>
                    <a:pt x="42" y="23"/>
                  </a:cubicBezTo>
                  <a:cubicBezTo>
                    <a:pt x="42" y="21"/>
                    <a:pt x="31" y="20"/>
                    <a:pt x="29" y="20"/>
                  </a:cubicBezTo>
                  <a:cubicBezTo>
                    <a:pt x="27" y="19"/>
                    <a:pt x="30" y="13"/>
                    <a:pt x="28" y="13"/>
                  </a:cubicBezTo>
                  <a:cubicBezTo>
                    <a:pt x="25" y="13"/>
                    <a:pt x="24" y="11"/>
                    <a:pt x="24" y="9"/>
                  </a:cubicBezTo>
                  <a:cubicBezTo>
                    <a:pt x="24" y="7"/>
                    <a:pt x="20" y="3"/>
                    <a:pt x="20" y="2"/>
                  </a:cubicBezTo>
                  <a:cubicBezTo>
                    <a:pt x="20" y="2"/>
                    <a:pt x="20" y="2"/>
                    <a:pt x="20" y="2"/>
                  </a:cubicBezTo>
                  <a:cubicBezTo>
                    <a:pt x="19" y="1"/>
                    <a:pt x="17" y="1"/>
                    <a:pt x="17" y="1"/>
                  </a:cubicBezTo>
                  <a:cubicBezTo>
                    <a:pt x="15" y="1"/>
                    <a:pt x="12" y="0"/>
                    <a:pt x="12" y="0"/>
                  </a:cubicBezTo>
                  <a:cubicBezTo>
                    <a:pt x="12" y="0"/>
                    <a:pt x="5" y="2"/>
                    <a:pt x="0" y="3"/>
                  </a:cubicBezTo>
                  <a:cubicBezTo>
                    <a:pt x="1" y="6"/>
                    <a:pt x="2" y="9"/>
                    <a:pt x="3" y="10"/>
                  </a:cubicBezTo>
                  <a:cubicBezTo>
                    <a:pt x="7" y="11"/>
                    <a:pt x="6" y="15"/>
                    <a:pt x="7" y="18"/>
                  </a:cubicBezTo>
                  <a:cubicBezTo>
                    <a:pt x="8" y="21"/>
                    <a:pt x="8" y="36"/>
                    <a:pt x="6" y="36"/>
                  </a:cubicBezTo>
                  <a:cubicBezTo>
                    <a:pt x="5" y="36"/>
                    <a:pt x="4" y="37"/>
                    <a:pt x="2" y="40"/>
                  </a:cubicBezTo>
                  <a:cubicBezTo>
                    <a:pt x="4" y="42"/>
                    <a:pt x="8" y="47"/>
                    <a:pt x="11" y="50"/>
                  </a:cubicBezTo>
                  <a:cubicBezTo>
                    <a:pt x="11" y="50"/>
                    <a:pt x="11" y="50"/>
                    <a:pt x="11" y="50"/>
                  </a:cubicBezTo>
                  <a:cubicBezTo>
                    <a:pt x="13" y="50"/>
                    <a:pt x="21" y="56"/>
                    <a:pt x="21" y="56"/>
                  </a:cubicBezTo>
                  <a:cubicBezTo>
                    <a:pt x="21" y="56"/>
                    <a:pt x="33" y="53"/>
                    <a:pt x="41" y="52"/>
                  </a:cubicBezTo>
                  <a:cubicBezTo>
                    <a:pt x="41" y="51"/>
                    <a:pt x="41" y="50"/>
                    <a:pt x="41" y="49"/>
                  </a:cubicBezTo>
                  <a:cubicBezTo>
                    <a:pt x="41" y="47"/>
                    <a:pt x="43" y="44"/>
                    <a:pt x="45" y="44"/>
                  </a:cubicBezTo>
                  <a:cubicBezTo>
                    <a:pt x="47" y="44"/>
                    <a:pt x="44" y="39"/>
                    <a:pt x="41" y="37"/>
                  </a:cubicBezTo>
                  <a:close/>
                </a:path>
              </a:pathLst>
            </a:custGeom>
            <a:grpFill/>
            <a:ln w="1" cap="flat" cmpd="sng">
              <a:noFill/>
              <a:miter lim="800000"/>
            </a:ln>
          </p:spPr>
          <p:txBody>
            <a:bodyPr/>
            <a:lstStyle/>
            <a:p>
              <a:pPr defTabSz="914400"/>
              <a:endParaRPr lang="zh-CN" altLang="zh-CN" sz="1865">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
        <p:nvSpPr>
          <p:cNvPr id="23" name="文本框 22"/>
          <p:cNvSpPr txBox="1"/>
          <p:nvPr/>
        </p:nvSpPr>
        <p:spPr>
          <a:xfrm>
            <a:off x="874011" y="3081773"/>
            <a:ext cx="6353173" cy="830997"/>
          </a:xfrm>
          <a:prstGeom prst="rect">
            <a:avLst/>
          </a:prstGeom>
          <a:noFill/>
        </p:spPr>
        <p:txBody>
          <a:bodyPr wrap="square" rtlCol="0">
            <a:spAutoFit/>
          </a:bodyPr>
          <a:lstStyle/>
          <a:p>
            <a:pPr algn="dist" defTabSz="685800"/>
            <a:r>
              <a:rPr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rPr>
              <a:t>协方差及相关系数</a:t>
            </a:r>
            <a:endParaRPr kumimoji="0" lang="zh-CN" altLang="en-US" sz="4800" b="1" dirty="0">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0" name="文本框 369"/>
          <p:cNvSpPr txBox="1"/>
          <p:nvPr/>
        </p:nvSpPr>
        <p:spPr>
          <a:xfrm>
            <a:off x="1777321" y="2073508"/>
            <a:ext cx="4559680" cy="830997"/>
          </a:xfrm>
          <a:prstGeom prst="rect">
            <a:avLst/>
          </a:prstGeom>
          <a:noFill/>
          <a:effectLst/>
        </p:spPr>
        <p:txBody>
          <a:bodyPr wrap="square" rtlCol="0">
            <a:spAutoFit/>
          </a:bodyPr>
          <a:lstStyle/>
          <a:p>
            <a:pPr algn="dist"/>
            <a:r>
              <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概率统计（</a:t>
            </a:r>
            <a:r>
              <a:rPr lang="en-US" altLang="zh-CN"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a:t>
            </a:r>
            <a:r>
              <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sz="4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71" name="矩形 370"/>
          <p:cNvSpPr/>
          <p:nvPr/>
        </p:nvSpPr>
        <p:spPr>
          <a:xfrm>
            <a:off x="1018492" y="4013600"/>
            <a:ext cx="5628092" cy="669863"/>
          </a:xfrm>
          <a:prstGeom prst="rect">
            <a:avLst/>
          </a:prstGeom>
        </p:spPr>
        <p:txBody>
          <a:bodyPr wrap="square">
            <a:spAutoFit/>
          </a:bodyPr>
          <a:lstStyle/>
          <a:p>
            <a:pPr algn="ctr">
              <a:lnSpc>
                <a:spcPct val="150000"/>
              </a:lnSpc>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主讲人：曾华琳</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 name="组合 3"/>
          <p:cNvGrpSpPr/>
          <p:nvPr/>
        </p:nvGrpSpPr>
        <p:grpSpPr>
          <a:xfrm>
            <a:off x="8102254" y="1704658"/>
            <a:ext cx="3881691" cy="3435187"/>
            <a:chOff x="8226111" y="1728368"/>
            <a:chExt cx="3881691" cy="3435187"/>
          </a:xfrm>
        </p:grpSpPr>
        <p:pic>
          <p:nvPicPr>
            <p:cNvPr id="187" name="图片 186"/>
            <p:cNvPicPr>
              <a:picLocks noChangeAspect="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884928" y="1728368"/>
              <a:ext cx="2561629" cy="2561629"/>
            </a:xfrm>
            <a:prstGeom prst="rect">
              <a:avLst/>
            </a:prstGeom>
          </p:spPr>
        </p:pic>
        <p:sp>
          <p:nvSpPr>
            <p:cNvPr id="188" name="文本框 187"/>
            <p:cNvSpPr txBox="1"/>
            <p:nvPr/>
          </p:nvSpPr>
          <p:spPr>
            <a:xfrm>
              <a:off x="8226111" y="4578780"/>
              <a:ext cx="3881691" cy="584775"/>
            </a:xfrm>
            <a:prstGeom prst="rect">
              <a:avLst/>
            </a:prstGeom>
            <a:noFill/>
            <a:effectLst/>
          </p:spPr>
          <p:txBody>
            <a:bodyPr wrap="square" rtlCol="0">
              <a:spAutoFit/>
            </a:bodyPr>
            <a:lstStyle/>
            <a:p>
              <a:pPr algn="dist"/>
              <a:r>
                <a:rPr lang="zh-CN" altLang="en-US" sz="3200" b="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信息学院</a:t>
              </a:r>
              <a:endParaRPr lang="zh-CN" altLang="en-US" sz="32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spTree>
  </p:cSld>
  <p:clrMapOvr>
    <a:masterClrMapping/>
  </p:clrMapOvr>
  <p:transition spd="slow" advClick="0" advTm="8285">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 y="0"/>
            <a:ext cx="3949908" cy="6858000"/>
          </a:xfrm>
          <a:prstGeom prst="rect">
            <a:avLst/>
          </a:prstGeom>
          <a:gradFill flip="none" rotWithShape="1">
            <a:gsLst>
              <a:gs pos="29000">
                <a:srgbClr val="B91319"/>
              </a:gs>
              <a:gs pos="0">
                <a:srgbClr val="DC1218"/>
              </a:gs>
              <a:gs pos="79000">
                <a:srgbClr val="9E0E18"/>
              </a:gs>
              <a:gs pos="58000">
                <a:srgbClr val="A61319"/>
              </a:gs>
              <a:gs pos="100000">
                <a:srgbClr val="901518"/>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6" name="组合 5"/>
          <p:cNvGrpSpPr/>
          <p:nvPr/>
        </p:nvGrpSpPr>
        <p:grpSpPr>
          <a:xfrm>
            <a:off x="0" y="5764053"/>
            <a:ext cx="3949910" cy="1043740"/>
            <a:chOff x="4782847" y="4094267"/>
            <a:chExt cx="4170084" cy="782805"/>
          </a:xfrm>
        </p:grpSpPr>
        <p:sp>
          <p:nvSpPr>
            <p:cNvPr id="7" name="矩形 6"/>
            <p:cNvSpPr/>
            <p:nvPr/>
          </p:nvSpPr>
          <p:spPr>
            <a:xfrm flipH="1">
              <a:off x="4972448" y="4396100"/>
              <a:ext cx="3980483" cy="36000"/>
            </a:xfrm>
            <a:prstGeom prst="rect">
              <a:avLst/>
            </a:prstGeom>
            <a:gradFill flip="none" rotWithShape="1">
              <a:gsLst>
                <a:gs pos="0">
                  <a:schemeClr val="bg1">
                    <a:lumMod val="95000"/>
                    <a:alpha val="0"/>
                  </a:schemeClr>
                </a:gs>
                <a:gs pos="48000">
                  <a:schemeClr val="bg1">
                    <a:lumMod val="95000"/>
                    <a:alpha val="55000"/>
                  </a:schemeClr>
                </a:gs>
                <a:gs pos="100000">
                  <a:schemeClr val="bg1">
                    <a:lumMod val="95000"/>
                    <a:alpha val="6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8" name="直接连接符 7"/>
            <p:cNvCxnSpPr/>
            <p:nvPr/>
          </p:nvCxnSpPr>
          <p:spPr>
            <a:xfrm>
              <a:off x="5622744" y="4472521"/>
              <a:ext cx="3151522" cy="0"/>
            </a:xfrm>
            <a:prstGeom prst="line">
              <a:avLst/>
            </a:prstGeom>
            <a:ln w="19050">
              <a:gradFill flip="none" rotWithShape="1">
                <a:gsLst>
                  <a:gs pos="0">
                    <a:schemeClr val="accent1">
                      <a:lumMod val="5000"/>
                      <a:lumOff val="95000"/>
                      <a:alpha val="16000"/>
                    </a:schemeClr>
                  </a:gs>
                  <a:gs pos="60000">
                    <a:schemeClr val="bg1">
                      <a:lumMod val="95000"/>
                      <a:alpha val="55000"/>
                    </a:schemeClr>
                  </a:gs>
                  <a:gs pos="100000">
                    <a:schemeClr val="bg1">
                      <a:lumMod val="95000"/>
                      <a:alpha val="13000"/>
                    </a:schemeClr>
                  </a:gs>
                </a:gsLst>
                <a:lin ang="0" scaled="1"/>
                <a:tileRect/>
              </a:gra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768612" y="4645497"/>
              <a:ext cx="819227" cy="0"/>
            </a:xfrm>
            <a:prstGeom prst="line">
              <a:avLst/>
            </a:prstGeom>
            <a:ln w="19050">
              <a:gradFill flip="none" rotWithShape="1">
                <a:gsLst>
                  <a:gs pos="0">
                    <a:schemeClr val="accent1">
                      <a:lumMod val="5000"/>
                      <a:lumOff val="95000"/>
                      <a:alpha val="0"/>
                    </a:schemeClr>
                  </a:gs>
                  <a:gs pos="55000">
                    <a:schemeClr val="bg1">
                      <a:lumMod val="95000"/>
                      <a:alpha val="79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723086" y="4559944"/>
              <a:ext cx="819227" cy="0"/>
            </a:xfrm>
            <a:prstGeom prst="line">
              <a:avLst/>
            </a:prstGeom>
            <a:ln w="19050">
              <a:gradFill flip="none" rotWithShape="1">
                <a:gsLst>
                  <a:gs pos="0">
                    <a:schemeClr val="accent1">
                      <a:lumMod val="5000"/>
                      <a:lumOff val="95000"/>
                      <a:alpha val="0"/>
                    </a:schemeClr>
                  </a:gs>
                  <a:gs pos="55000">
                    <a:schemeClr val="bg1">
                      <a:lumMod val="95000"/>
                      <a:alpha val="79000"/>
                    </a:schemeClr>
                  </a:gs>
                  <a:gs pos="100000">
                    <a:schemeClr val="bg1">
                      <a:lumMod val="95000"/>
                      <a:alpha val="18000"/>
                    </a:schemeClr>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
          <p:nvSpPr>
            <p:cNvPr id="11" name="任意多边形 10"/>
            <p:cNvSpPr/>
            <p:nvPr/>
          </p:nvSpPr>
          <p:spPr>
            <a:xfrm>
              <a:off x="7467298" y="4279163"/>
              <a:ext cx="260022" cy="422967"/>
            </a:xfrm>
            <a:custGeom>
              <a:avLst/>
              <a:gdLst>
                <a:gd name="connsiteX0" fmla="*/ 87369 w 260022"/>
                <a:gd name="connsiteY0" fmla="*/ 59184 h 422967"/>
                <a:gd name="connsiteX1" fmla="*/ 120540 w 260022"/>
                <a:gd name="connsiteY1" fmla="*/ 59184 h 422967"/>
                <a:gd name="connsiteX2" fmla="*/ 120540 w 260022"/>
                <a:gd name="connsiteY2" fmla="*/ 419184 h 422967"/>
                <a:gd name="connsiteX3" fmla="*/ 87369 w 260022"/>
                <a:gd name="connsiteY3" fmla="*/ 419184 h 422967"/>
                <a:gd name="connsiteX4" fmla="*/ 0 w 260022"/>
                <a:gd name="connsiteY4" fmla="*/ 59184 h 422967"/>
                <a:gd name="connsiteX5" fmla="*/ 33171 w 260022"/>
                <a:gd name="connsiteY5" fmla="*/ 59184 h 422967"/>
                <a:gd name="connsiteX6" fmla="*/ 33171 w 260022"/>
                <a:gd name="connsiteY6" fmla="*/ 419184 h 422967"/>
                <a:gd name="connsiteX7" fmla="*/ 0 w 260022"/>
                <a:gd name="connsiteY7" fmla="*/ 419184 h 422967"/>
                <a:gd name="connsiteX8" fmla="*/ 226851 w 260022"/>
                <a:gd name="connsiteY8" fmla="*/ 0 h 422967"/>
                <a:gd name="connsiteX9" fmla="*/ 260022 w 260022"/>
                <a:gd name="connsiteY9" fmla="*/ 0 h 422967"/>
                <a:gd name="connsiteX10" fmla="*/ 260022 w 260022"/>
                <a:gd name="connsiteY10" fmla="*/ 422967 h 422967"/>
                <a:gd name="connsiteX11" fmla="*/ 226851 w 260022"/>
                <a:gd name="connsiteY11" fmla="*/ 422967 h 422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0022" h="422967">
                  <a:moveTo>
                    <a:pt x="87369" y="59184"/>
                  </a:moveTo>
                  <a:lnTo>
                    <a:pt x="120540" y="59184"/>
                  </a:lnTo>
                  <a:lnTo>
                    <a:pt x="120540" y="419184"/>
                  </a:lnTo>
                  <a:lnTo>
                    <a:pt x="87369" y="419184"/>
                  </a:lnTo>
                  <a:close/>
                  <a:moveTo>
                    <a:pt x="0" y="59184"/>
                  </a:moveTo>
                  <a:lnTo>
                    <a:pt x="33171" y="59184"/>
                  </a:lnTo>
                  <a:lnTo>
                    <a:pt x="33171" y="419184"/>
                  </a:lnTo>
                  <a:lnTo>
                    <a:pt x="0" y="419184"/>
                  </a:lnTo>
                  <a:close/>
                  <a:moveTo>
                    <a:pt x="226851" y="0"/>
                  </a:moveTo>
                  <a:lnTo>
                    <a:pt x="260022" y="0"/>
                  </a:lnTo>
                  <a:lnTo>
                    <a:pt x="260022" y="422967"/>
                  </a:lnTo>
                  <a:lnTo>
                    <a:pt x="226851" y="422967"/>
                  </a:lnTo>
                  <a:close/>
                </a:path>
              </a:pathLst>
            </a:custGeom>
            <a:solidFill>
              <a:schemeClr val="bg1">
                <a:lumMod val="95000"/>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2" name="任意多边形 11"/>
            <p:cNvSpPr/>
            <p:nvPr/>
          </p:nvSpPr>
          <p:spPr>
            <a:xfrm>
              <a:off x="6862061" y="4110149"/>
              <a:ext cx="248780" cy="241514"/>
            </a:xfrm>
            <a:custGeom>
              <a:avLst/>
              <a:gdLst>
                <a:gd name="connsiteX0" fmla="*/ 15832 w 270000"/>
                <a:gd name="connsiteY0" fmla="*/ 216314 h 241514"/>
                <a:gd name="connsiteX1" fmla="*/ 238570 w 270000"/>
                <a:gd name="connsiteY1" fmla="*/ 216314 h 241514"/>
                <a:gd name="connsiteX2" fmla="*/ 238570 w 270000"/>
                <a:gd name="connsiteY2" fmla="*/ 241514 h 241514"/>
                <a:gd name="connsiteX3" fmla="*/ 15832 w 270000"/>
                <a:gd name="connsiteY3" fmla="*/ 241514 h 241514"/>
                <a:gd name="connsiteX4" fmla="*/ 0 w 270000"/>
                <a:gd name="connsiteY4" fmla="*/ 177270 h 241514"/>
                <a:gd name="connsiteX5" fmla="*/ 270000 w 270000"/>
                <a:gd name="connsiteY5" fmla="*/ 177270 h 241514"/>
                <a:gd name="connsiteX6" fmla="*/ 270000 w 270000"/>
                <a:gd name="connsiteY6" fmla="*/ 202470 h 241514"/>
                <a:gd name="connsiteX7" fmla="*/ 0 w 270000"/>
                <a:gd name="connsiteY7" fmla="*/ 202470 h 241514"/>
                <a:gd name="connsiteX8" fmla="*/ 0 w 270000"/>
                <a:gd name="connsiteY8" fmla="*/ 135151 h 241514"/>
                <a:gd name="connsiteX9" fmla="*/ 270000 w 270000"/>
                <a:gd name="connsiteY9" fmla="*/ 135151 h 241514"/>
                <a:gd name="connsiteX10" fmla="*/ 270000 w 270000"/>
                <a:gd name="connsiteY10" fmla="*/ 160351 h 241514"/>
                <a:gd name="connsiteX11" fmla="*/ 0 w 270000"/>
                <a:gd name="connsiteY11" fmla="*/ 160351 h 241514"/>
                <a:gd name="connsiteX12" fmla="*/ 0 w 270000"/>
                <a:gd name="connsiteY12" fmla="*/ 94740 h 241514"/>
                <a:gd name="connsiteX13" fmla="*/ 270000 w 270000"/>
                <a:gd name="connsiteY13" fmla="*/ 94740 h 241514"/>
                <a:gd name="connsiteX14" fmla="*/ 270000 w 270000"/>
                <a:gd name="connsiteY14" fmla="*/ 119940 h 241514"/>
                <a:gd name="connsiteX15" fmla="*/ 0 w 270000"/>
                <a:gd name="connsiteY15" fmla="*/ 119940 h 241514"/>
                <a:gd name="connsiteX16" fmla="*/ 0 w 270000"/>
                <a:gd name="connsiteY16" fmla="*/ 50253 h 241514"/>
                <a:gd name="connsiteX17" fmla="*/ 270000 w 270000"/>
                <a:gd name="connsiteY17" fmla="*/ 50253 h 241514"/>
                <a:gd name="connsiteX18" fmla="*/ 270000 w 270000"/>
                <a:gd name="connsiteY18" fmla="*/ 75453 h 241514"/>
                <a:gd name="connsiteX19" fmla="*/ 0 w 270000"/>
                <a:gd name="connsiteY19" fmla="*/ 75453 h 241514"/>
                <a:gd name="connsiteX20" fmla="*/ 15832 w 270000"/>
                <a:gd name="connsiteY20" fmla="*/ 0 h 241514"/>
                <a:gd name="connsiteX21" fmla="*/ 238570 w 270000"/>
                <a:gd name="connsiteY21" fmla="*/ 0 h 241514"/>
                <a:gd name="connsiteX22" fmla="*/ 238570 w 270000"/>
                <a:gd name="connsiteY22" fmla="*/ 25200 h 241514"/>
                <a:gd name="connsiteX23" fmla="*/ 15832 w 270000"/>
                <a:gd name="connsiteY23" fmla="*/ 25200 h 24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0000" h="241514">
                  <a:moveTo>
                    <a:pt x="15832" y="216314"/>
                  </a:moveTo>
                  <a:lnTo>
                    <a:pt x="238570" y="216314"/>
                  </a:lnTo>
                  <a:lnTo>
                    <a:pt x="238570" y="241514"/>
                  </a:lnTo>
                  <a:lnTo>
                    <a:pt x="15832" y="241514"/>
                  </a:lnTo>
                  <a:close/>
                  <a:moveTo>
                    <a:pt x="0" y="177270"/>
                  </a:moveTo>
                  <a:lnTo>
                    <a:pt x="270000" y="177270"/>
                  </a:lnTo>
                  <a:lnTo>
                    <a:pt x="270000" y="202470"/>
                  </a:lnTo>
                  <a:lnTo>
                    <a:pt x="0" y="202470"/>
                  </a:lnTo>
                  <a:close/>
                  <a:moveTo>
                    <a:pt x="0" y="135151"/>
                  </a:moveTo>
                  <a:lnTo>
                    <a:pt x="270000" y="135151"/>
                  </a:lnTo>
                  <a:lnTo>
                    <a:pt x="270000" y="160351"/>
                  </a:lnTo>
                  <a:lnTo>
                    <a:pt x="0" y="160351"/>
                  </a:lnTo>
                  <a:close/>
                  <a:moveTo>
                    <a:pt x="0" y="94740"/>
                  </a:moveTo>
                  <a:lnTo>
                    <a:pt x="270000" y="94740"/>
                  </a:lnTo>
                  <a:lnTo>
                    <a:pt x="270000" y="119940"/>
                  </a:lnTo>
                  <a:lnTo>
                    <a:pt x="0" y="119940"/>
                  </a:lnTo>
                  <a:close/>
                  <a:moveTo>
                    <a:pt x="0" y="50253"/>
                  </a:moveTo>
                  <a:lnTo>
                    <a:pt x="270000" y="50253"/>
                  </a:lnTo>
                  <a:lnTo>
                    <a:pt x="270000" y="75453"/>
                  </a:lnTo>
                  <a:lnTo>
                    <a:pt x="0" y="75453"/>
                  </a:lnTo>
                  <a:close/>
                  <a:moveTo>
                    <a:pt x="15832" y="0"/>
                  </a:moveTo>
                  <a:lnTo>
                    <a:pt x="238570" y="0"/>
                  </a:lnTo>
                  <a:lnTo>
                    <a:pt x="238570" y="25200"/>
                  </a:lnTo>
                  <a:lnTo>
                    <a:pt x="15832" y="25200"/>
                  </a:lnTo>
                  <a:close/>
                </a:path>
              </a:pathLst>
            </a:custGeom>
            <a:gradFill flip="none" rotWithShape="1">
              <a:gsLst>
                <a:gs pos="0">
                  <a:schemeClr val="accent3">
                    <a:lumMod val="5000"/>
                    <a:lumOff val="95000"/>
                    <a:alpha val="25000"/>
                  </a:schemeClr>
                </a:gs>
                <a:gs pos="45000">
                  <a:schemeClr val="bg1">
                    <a:lumMod val="95000"/>
                    <a:alpha val="50000"/>
                  </a:schemeClr>
                </a:gs>
                <a:gs pos="73000">
                  <a:schemeClr val="bg1">
                    <a:lumMod val="95000"/>
                    <a:alpha val="48000"/>
                  </a:schemeClr>
                </a:gs>
                <a:gs pos="100000">
                  <a:schemeClr val="accent3">
                    <a:lumMod val="30000"/>
                    <a:lumOff val="70000"/>
                    <a:alpha val="48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3" name="直接连接符 12"/>
            <p:cNvCxnSpPr/>
            <p:nvPr/>
          </p:nvCxnSpPr>
          <p:spPr>
            <a:xfrm>
              <a:off x="7847564" y="4665047"/>
              <a:ext cx="551121" cy="0"/>
            </a:xfrm>
            <a:prstGeom prst="line">
              <a:avLst/>
            </a:prstGeom>
            <a:ln w="19050">
              <a:gradFill flip="none" rotWithShape="1">
                <a:gsLst>
                  <a:gs pos="0">
                    <a:schemeClr val="accent1">
                      <a:lumMod val="5000"/>
                      <a:lumOff val="95000"/>
                      <a:alpha val="0"/>
                    </a:schemeClr>
                  </a:gs>
                  <a:gs pos="55000">
                    <a:schemeClr val="bg1">
                      <a:lumMod val="95000"/>
                      <a:alpha val="52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8052185" y="4523125"/>
              <a:ext cx="819227" cy="0"/>
            </a:xfrm>
            <a:prstGeom prst="line">
              <a:avLst/>
            </a:prstGeom>
            <a:ln w="19050">
              <a:gradFill flip="none" rotWithShape="1">
                <a:gsLst>
                  <a:gs pos="0">
                    <a:schemeClr val="accent1">
                      <a:lumMod val="5000"/>
                      <a:lumOff val="95000"/>
                      <a:alpha val="0"/>
                    </a:schemeClr>
                  </a:gs>
                  <a:gs pos="55000">
                    <a:schemeClr val="bg1">
                      <a:lumMod val="95000"/>
                      <a:alpha val="55000"/>
                    </a:schemeClr>
                  </a:gs>
                  <a:gs pos="100000">
                    <a:schemeClr val="bg1">
                      <a:lumMod val="95000"/>
                      <a:alpha val="18000"/>
                    </a:schemeClr>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
          <p:nvSpPr>
            <p:cNvPr id="15" name="任意多边形 14"/>
            <p:cNvSpPr/>
            <p:nvPr/>
          </p:nvSpPr>
          <p:spPr>
            <a:xfrm>
              <a:off x="7366021" y="4804172"/>
              <a:ext cx="139317" cy="72900"/>
            </a:xfrm>
            <a:custGeom>
              <a:avLst/>
              <a:gdLst>
                <a:gd name="connsiteX0" fmla="*/ 7034 w 151200"/>
                <a:gd name="connsiteY0" fmla="*/ 47700 h 72900"/>
                <a:gd name="connsiteX1" fmla="*/ 143834 w 151200"/>
                <a:gd name="connsiteY1" fmla="*/ 47700 h 72900"/>
                <a:gd name="connsiteX2" fmla="*/ 143834 w 151200"/>
                <a:gd name="connsiteY2" fmla="*/ 72900 h 72900"/>
                <a:gd name="connsiteX3" fmla="*/ 7034 w 151200"/>
                <a:gd name="connsiteY3" fmla="*/ 72900 h 72900"/>
                <a:gd name="connsiteX4" fmla="*/ 0 w 151200"/>
                <a:gd name="connsiteY4" fmla="*/ 0 h 72900"/>
                <a:gd name="connsiteX5" fmla="*/ 151200 w 151200"/>
                <a:gd name="connsiteY5" fmla="*/ 0 h 72900"/>
                <a:gd name="connsiteX6" fmla="*/ 151200 w 151200"/>
                <a:gd name="connsiteY6" fmla="*/ 25200 h 72900"/>
                <a:gd name="connsiteX7" fmla="*/ 0 w 151200"/>
                <a:gd name="connsiteY7" fmla="*/ 25200 h 7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200" h="72900">
                  <a:moveTo>
                    <a:pt x="7034" y="47700"/>
                  </a:moveTo>
                  <a:lnTo>
                    <a:pt x="143834" y="47700"/>
                  </a:lnTo>
                  <a:lnTo>
                    <a:pt x="143834" y="72900"/>
                  </a:lnTo>
                  <a:lnTo>
                    <a:pt x="7034" y="72900"/>
                  </a:lnTo>
                  <a:close/>
                  <a:moveTo>
                    <a:pt x="0" y="0"/>
                  </a:moveTo>
                  <a:lnTo>
                    <a:pt x="151200" y="0"/>
                  </a:lnTo>
                  <a:lnTo>
                    <a:pt x="151200" y="25200"/>
                  </a:lnTo>
                  <a:lnTo>
                    <a:pt x="0" y="25200"/>
                  </a:lnTo>
                  <a:close/>
                </a:path>
              </a:pathLst>
            </a:custGeom>
            <a:gradFill>
              <a:gsLst>
                <a:gs pos="0">
                  <a:schemeClr val="accent1">
                    <a:lumMod val="5000"/>
                    <a:lumOff val="95000"/>
                    <a:alpha val="21000"/>
                  </a:schemeClr>
                </a:gs>
                <a:gs pos="55000">
                  <a:schemeClr val="bg1">
                    <a:lumMod val="95000"/>
                    <a:alpha val="52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 name="矩形 15"/>
            <p:cNvSpPr/>
            <p:nvPr/>
          </p:nvSpPr>
          <p:spPr>
            <a:xfrm>
              <a:off x="6303499" y="4176900"/>
              <a:ext cx="139317" cy="25200"/>
            </a:xfrm>
            <a:prstGeom prst="rect">
              <a:avLst/>
            </a:prstGeom>
            <a:gradFill>
              <a:gsLst>
                <a:gs pos="0">
                  <a:schemeClr val="accent1">
                    <a:lumMod val="5000"/>
                    <a:lumOff val="95000"/>
                    <a:alpha val="12000"/>
                  </a:schemeClr>
                </a:gs>
                <a:gs pos="47000">
                  <a:schemeClr val="bg1">
                    <a:lumMod val="95000"/>
                    <a:alpha val="79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7" name="直接连接符 16"/>
            <p:cNvCxnSpPr/>
            <p:nvPr/>
          </p:nvCxnSpPr>
          <p:spPr>
            <a:xfrm>
              <a:off x="7903128" y="4323221"/>
              <a:ext cx="275560" cy="0"/>
            </a:xfrm>
            <a:prstGeom prst="line">
              <a:avLst/>
            </a:prstGeom>
            <a:ln w="19050">
              <a:gradFill flip="none" rotWithShape="1">
                <a:gsLst>
                  <a:gs pos="0">
                    <a:schemeClr val="accent1">
                      <a:lumMod val="5000"/>
                      <a:lumOff val="95000"/>
                      <a:alpha val="0"/>
                    </a:schemeClr>
                  </a:gs>
                  <a:gs pos="55000">
                    <a:schemeClr val="bg1">
                      <a:lumMod val="95000"/>
                      <a:alpha val="55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sp>
          <p:nvSpPr>
            <p:cNvPr id="18" name="任意多边形 17"/>
            <p:cNvSpPr/>
            <p:nvPr/>
          </p:nvSpPr>
          <p:spPr>
            <a:xfrm>
              <a:off x="8707918" y="4304986"/>
              <a:ext cx="72976" cy="72900"/>
            </a:xfrm>
            <a:custGeom>
              <a:avLst/>
              <a:gdLst>
                <a:gd name="connsiteX0" fmla="*/ 7034 w 151200"/>
                <a:gd name="connsiteY0" fmla="*/ 47700 h 72900"/>
                <a:gd name="connsiteX1" fmla="*/ 143834 w 151200"/>
                <a:gd name="connsiteY1" fmla="*/ 47700 h 72900"/>
                <a:gd name="connsiteX2" fmla="*/ 143834 w 151200"/>
                <a:gd name="connsiteY2" fmla="*/ 72900 h 72900"/>
                <a:gd name="connsiteX3" fmla="*/ 7034 w 151200"/>
                <a:gd name="connsiteY3" fmla="*/ 72900 h 72900"/>
                <a:gd name="connsiteX4" fmla="*/ 0 w 151200"/>
                <a:gd name="connsiteY4" fmla="*/ 0 h 72900"/>
                <a:gd name="connsiteX5" fmla="*/ 151200 w 151200"/>
                <a:gd name="connsiteY5" fmla="*/ 0 h 72900"/>
                <a:gd name="connsiteX6" fmla="*/ 151200 w 151200"/>
                <a:gd name="connsiteY6" fmla="*/ 25200 h 72900"/>
                <a:gd name="connsiteX7" fmla="*/ 0 w 151200"/>
                <a:gd name="connsiteY7" fmla="*/ 25200 h 72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200" h="72900">
                  <a:moveTo>
                    <a:pt x="7034" y="47700"/>
                  </a:moveTo>
                  <a:lnTo>
                    <a:pt x="143834" y="47700"/>
                  </a:lnTo>
                  <a:lnTo>
                    <a:pt x="143834" y="72900"/>
                  </a:lnTo>
                  <a:lnTo>
                    <a:pt x="7034" y="72900"/>
                  </a:lnTo>
                  <a:close/>
                  <a:moveTo>
                    <a:pt x="0" y="0"/>
                  </a:moveTo>
                  <a:lnTo>
                    <a:pt x="151200" y="0"/>
                  </a:lnTo>
                  <a:lnTo>
                    <a:pt x="151200" y="25200"/>
                  </a:lnTo>
                  <a:lnTo>
                    <a:pt x="0" y="25200"/>
                  </a:lnTo>
                  <a:close/>
                </a:path>
              </a:pathLst>
            </a:custGeom>
            <a:gradFill>
              <a:gsLst>
                <a:gs pos="0">
                  <a:schemeClr val="accent1">
                    <a:lumMod val="5000"/>
                    <a:lumOff val="95000"/>
                    <a:alpha val="24000"/>
                  </a:schemeClr>
                </a:gs>
                <a:gs pos="55000">
                  <a:schemeClr val="bg1">
                    <a:lumMod val="95000"/>
                    <a:alpha val="55000"/>
                  </a:schemeClr>
                </a:gs>
                <a:gs pos="100000">
                  <a:schemeClr val="bg1">
                    <a:lumMod val="95000"/>
                    <a:alpha val="24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9" name="直接连接符 18"/>
            <p:cNvCxnSpPr/>
            <p:nvPr/>
          </p:nvCxnSpPr>
          <p:spPr>
            <a:xfrm>
              <a:off x="7985344" y="4609497"/>
              <a:ext cx="866267" cy="0"/>
            </a:xfrm>
            <a:prstGeom prst="line">
              <a:avLst/>
            </a:prstGeom>
            <a:ln w="19050">
              <a:gradFill flip="none" rotWithShape="1">
                <a:gsLst>
                  <a:gs pos="0">
                    <a:schemeClr val="accent1">
                      <a:lumMod val="5000"/>
                      <a:lumOff val="95000"/>
                      <a:alpha val="12000"/>
                    </a:schemeClr>
                  </a:gs>
                  <a:gs pos="66000">
                    <a:srgbClr val="F2F2F2">
                      <a:alpha val="0"/>
                    </a:srgbClr>
                  </a:gs>
                  <a:gs pos="28000">
                    <a:schemeClr val="bg1">
                      <a:lumMod val="95000"/>
                      <a:alpha val="55000"/>
                    </a:schemeClr>
                  </a:gs>
                  <a:gs pos="100000">
                    <a:schemeClr val="bg1">
                      <a:lumMod val="95000"/>
                      <a:alpha val="18000"/>
                    </a:schemeClr>
                  </a:gs>
                </a:gsLst>
                <a:lin ang="0" scaled="1"/>
                <a:tileRect/>
              </a:gradFill>
              <a:prstDash val="sysDash"/>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4782847" y="4262142"/>
              <a:ext cx="139317" cy="25200"/>
            </a:xfrm>
            <a:prstGeom prst="rect">
              <a:avLst/>
            </a:prstGeom>
            <a:gradFill>
              <a:gsLst>
                <a:gs pos="0">
                  <a:schemeClr val="accent1">
                    <a:lumMod val="5000"/>
                    <a:lumOff val="95000"/>
                    <a:alpha val="12000"/>
                  </a:schemeClr>
                </a:gs>
                <a:gs pos="47000">
                  <a:schemeClr val="bg1">
                    <a:lumMod val="95000"/>
                    <a:alpha val="49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1" name="矩形 20"/>
            <p:cNvSpPr/>
            <p:nvPr/>
          </p:nvSpPr>
          <p:spPr>
            <a:xfrm>
              <a:off x="5913529" y="4094267"/>
              <a:ext cx="139317" cy="25200"/>
            </a:xfrm>
            <a:prstGeom prst="rect">
              <a:avLst/>
            </a:prstGeom>
            <a:gradFill>
              <a:gsLst>
                <a:gs pos="0">
                  <a:schemeClr val="accent1">
                    <a:lumMod val="5000"/>
                    <a:lumOff val="95000"/>
                    <a:alpha val="12000"/>
                  </a:schemeClr>
                </a:gs>
                <a:gs pos="47000">
                  <a:schemeClr val="bg1">
                    <a:lumMod val="95000"/>
                    <a:alpha val="40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2" name="矩形 21"/>
            <p:cNvSpPr/>
            <p:nvPr/>
          </p:nvSpPr>
          <p:spPr>
            <a:xfrm>
              <a:off x="6909857" y="4707644"/>
              <a:ext cx="139317" cy="25200"/>
            </a:xfrm>
            <a:prstGeom prst="rect">
              <a:avLst/>
            </a:prstGeom>
            <a:gradFill>
              <a:gsLst>
                <a:gs pos="0">
                  <a:schemeClr val="accent1">
                    <a:lumMod val="5000"/>
                    <a:lumOff val="95000"/>
                    <a:alpha val="12000"/>
                  </a:schemeClr>
                </a:gs>
                <a:gs pos="47000">
                  <a:schemeClr val="bg1">
                    <a:lumMod val="95000"/>
                    <a:alpha val="79000"/>
                  </a:schemeClr>
                </a:gs>
                <a:gs pos="100000">
                  <a:schemeClr val="bg1">
                    <a:lumMod val="95000"/>
                    <a:alpha val="18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 name="任意多边形 22"/>
            <p:cNvSpPr/>
            <p:nvPr/>
          </p:nvSpPr>
          <p:spPr>
            <a:xfrm>
              <a:off x="5113517" y="4164613"/>
              <a:ext cx="258731" cy="195058"/>
            </a:xfrm>
            <a:custGeom>
              <a:avLst/>
              <a:gdLst>
                <a:gd name="connsiteX0" fmla="*/ 19495 w 280800"/>
                <a:gd name="connsiteY0" fmla="*/ 169858 h 195058"/>
                <a:gd name="connsiteX1" fmla="*/ 242233 w 280800"/>
                <a:gd name="connsiteY1" fmla="*/ 169858 h 195058"/>
                <a:gd name="connsiteX2" fmla="*/ 242233 w 280800"/>
                <a:gd name="connsiteY2" fmla="*/ 195058 h 195058"/>
                <a:gd name="connsiteX3" fmla="*/ 19495 w 280800"/>
                <a:gd name="connsiteY3" fmla="*/ 195058 h 195058"/>
                <a:gd name="connsiteX4" fmla="*/ 11590 w 280800"/>
                <a:gd name="connsiteY4" fmla="*/ 129551 h 195058"/>
                <a:gd name="connsiteX5" fmla="*/ 263590 w 280800"/>
                <a:gd name="connsiteY5" fmla="*/ 129551 h 195058"/>
                <a:gd name="connsiteX6" fmla="*/ 263590 w 280800"/>
                <a:gd name="connsiteY6" fmla="*/ 154751 h 195058"/>
                <a:gd name="connsiteX7" fmla="*/ 11590 w 280800"/>
                <a:gd name="connsiteY7" fmla="*/ 154751 h 195058"/>
                <a:gd name="connsiteX8" fmla="*/ 912 w 280800"/>
                <a:gd name="connsiteY8" fmla="*/ 91334 h 195058"/>
                <a:gd name="connsiteX9" fmla="*/ 274512 w 280800"/>
                <a:gd name="connsiteY9" fmla="*/ 91334 h 195058"/>
                <a:gd name="connsiteX10" fmla="*/ 274512 w 280800"/>
                <a:gd name="connsiteY10" fmla="*/ 116534 h 195058"/>
                <a:gd name="connsiteX11" fmla="*/ 912 w 280800"/>
                <a:gd name="connsiteY11" fmla="*/ 116534 h 195058"/>
                <a:gd name="connsiteX12" fmla="*/ 0 w 280800"/>
                <a:gd name="connsiteY12" fmla="*/ 48059 h 195058"/>
                <a:gd name="connsiteX13" fmla="*/ 280800 w 280800"/>
                <a:gd name="connsiteY13" fmla="*/ 48059 h 195058"/>
                <a:gd name="connsiteX14" fmla="*/ 280800 w 280800"/>
                <a:gd name="connsiteY14" fmla="*/ 73259 h 195058"/>
                <a:gd name="connsiteX15" fmla="*/ 0 w 280800"/>
                <a:gd name="connsiteY15" fmla="*/ 73259 h 195058"/>
                <a:gd name="connsiteX16" fmla="*/ 19495 w 280800"/>
                <a:gd name="connsiteY16" fmla="*/ 0 h 195058"/>
                <a:gd name="connsiteX17" fmla="*/ 242233 w 280800"/>
                <a:gd name="connsiteY17" fmla="*/ 0 h 195058"/>
                <a:gd name="connsiteX18" fmla="*/ 242233 w 280800"/>
                <a:gd name="connsiteY18" fmla="*/ 25200 h 195058"/>
                <a:gd name="connsiteX19" fmla="*/ 19495 w 280800"/>
                <a:gd name="connsiteY19" fmla="*/ 25200 h 195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80800" h="195058">
                  <a:moveTo>
                    <a:pt x="19495" y="169858"/>
                  </a:moveTo>
                  <a:lnTo>
                    <a:pt x="242233" y="169858"/>
                  </a:lnTo>
                  <a:lnTo>
                    <a:pt x="242233" y="195058"/>
                  </a:lnTo>
                  <a:lnTo>
                    <a:pt x="19495" y="195058"/>
                  </a:lnTo>
                  <a:close/>
                  <a:moveTo>
                    <a:pt x="11590" y="129551"/>
                  </a:moveTo>
                  <a:lnTo>
                    <a:pt x="263590" y="129551"/>
                  </a:lnTo>
                  <a:lnTo>
                    <a:pt x="263590" y="154751"/>
                  </a:lnTo>
                  <a:lnTo>
                    <a:pt x="11590" y="154751"/>
                  </a:lnTo>
                  <a:close/>
                  <a:moveTo>
                    <a:pt x="912" y="91334"/>
                  </a:moveTo>
                  <a:lnTo>
                    <a:pt x="274512" y="91334"/>
                  </a:lnTo>
                  <a:lnTo>
                    <a:pt x="274512" y="116534"/>
                  </a:lnTo>
                  <a:lnTo>
                    <a:pt x="912" y="116534"/>
                  </a:lnTo>
                  <a:close/>
                  <a:moveTo>
                    <a:pt x="0" y="48059"/>
                  </a:moveTo>
                  <a:lnTo>
                    <a:pt x="280800" y="48059"/>
                  </a:lnTo>
                  <a:lnTo>
                    <a:pt x="280800" y="73259"/>
                  </a:lnTo>
                  <a:lnTo>
                    <a:pt x="0" y="73259"/>
                  </a:lnTo>
                  <a:close/>
                  <a:moveTo>
                    <a:pt x="19495" y="0"/>
                  </a:moveTo>
                  <a:lnTo>
                    <a:pt x="242233" y="0"/>
                  </a:lnTo>
                  <a:lnTo>
                    <a:pt x="242233" y="25200"/>
                  </a:lnTo>
                  <a:lnTo>
                    <a:pt x="19495" y="25200"/>
                  </a:lnTo>
                  <a:close/>
                </a:path>
              </a:pathLst>
            </a:custGeom>
            <a:gradFill flip="none" rotWithShape="1">
              <a:gsLst>
                <a:gs pos="0">
                  <a:schemeClr val="accent3">
                    <a:lumMod val="5000"/>
                    <a:lumOff val="95000"/>
                    <a:alpha val="25000"/>
                  </a:schemeClr>
                </a:gs>
                <a:gs pos="45000">
                  <a:schemeClr val="bg1">
                    <a:lumMod val="95000"/>
                    <a:alpha val="60000"/>
                  </a:schemeClr>
                </a:gs>
                <a:gs pos="73000">
                  <a:schemeClr val="bg1">
                    <a:lumMod val="95000"/>
                    <a:alpha val="70000"/>
                  </a:schemeClr>
                </a:gs>
                <a:gs pos="100000">
                  <a:schemeClr val="accent3">
                    <a:lumMod val="30000"/>
                    <a:lumOff val="70000"/>
                    <a:alpha val="48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4" name="组合 23"/>
          <p:cNvGrpSpPr/>
          <p:nvPr/>
        </p:nvGrpSpPr>
        <p:grpSpPr>
          <a:xfrm>
            <a:off x="319548" y="5249589"/>
            <a:ext cx="1104000" cy="1689600"/>
            <a:chOff x="5152583" y="3833274"/>
            <a:chExt cx="828000" cy="1267200"/>
          </a:xfrm>
        </p:grpSpPr>
        <p:sp>
          <p:nvSpPr>
            <p:cNvPr id="25" name="椭圆 24"/>
            <p:cNvSpPr/>
            <p:nvPr/>
          </p:nvSpPr>
          <p:spPr>
            <a:xfrm>
              <a:off x="5175983" y="4076274"/>
              <a:ext cx="781200" cy="781200"/>
            </a:xfrm>
            <a:prstGeom prst="ellipse">
              <a:avLst/>
            </a:prstGeom>
            <a:no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6" name="空心弧 25"/>
            <p:cNvSpPr/>
            <p:nvPr/>
          </p:nvSpPr>
          <p:spPr>
            <a:xfrm>
              <a:off x="5152583" y="4052874"/>
              <a:ext cx="828000" cy="828000"/>
            </a:xfrm>
            <a:prstGeom prst="blockArc">
              <a:avLst>
                <a:gd name="adj1" fmla="val 20421311"/>
                <a:gd name="adj2" fmla="val 4186973"/>
                <a:gd name="adj3" fmla="val 5992"/>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black"/>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7" name="空心弧 26"/>
            <p:cNvSpPr/>
            <p:nvPr/>
          </p:nvSpPr>
          <p:spPr>
            <a:xfrm>
              <a:off x="5262793" y="4163084"/>
              <a:ext cx="607581" cy="607581"/>
            </a:xfrm>
            <a:prstGeom prst="blockArc">
              <a:avLst>
                <a:gd name="adj1" fmla="val 3457982"/>
                <a:gd name="adj2" fmla="val 696183"/>
                <a:gd name="adj3" fmla="val 13291"/>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black"/>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8" name="矩形 27"/>
            <p:cNvSpPr/>
            <p:nvPr/>
          </p:nvSpPr>
          <p:spPr>
            <a:xfrm rot="2700000" flipV="1">
              <a:off x="4932983" y="4452474"/>
              <a:ext cx="1267200" cy="28800"/>
            </a:xfrm>
            <a:prstGeom prst="rect">
              <a:avLst/>
            </a:prstGeom>
            <a:solidFill>
              <a:schemeClr val="bg1">
                <a:lumMod val="9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1865">
                <a:solidFill>
                  <a:prstClr val="white"/>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218" name="组合 217"/>
          <p:cNvGrpSpPr/>
          <p:nvPr/>
        </p:nvGrpSpPr>
        <p:grpSpPr>
          <a:xfrm>
            <a:off x="6004293" y="2017477"/>
            <a:ext cx="639320" cy="654310"/>
            <a:chOff x="6175941" y="1234452"/>
            <a:chExt cx="639320" cy="654310"/>
          </a:xfrm>
        </p:grpSpPr>
        <p:sp>
          <p:nvSpPr>
            <p:cNvPr id="219" name="圆角矩形 218"/>
            <p:cNvSpPr/>
            <p:nvPr/>
          </p:nvSpPr>
          <p:spPr>
            <a:xfrm>
              <a:off x="6175941" y="1249442"/>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20" name="文本框 219"/>
            <p:cNvSpPr txBox="1"/>
            <p:nvPr/>
          </p:nvSpPr>
          <p:spPr>
            <a:xfrm>
              <a:off x="6183179" y="1234452"/>
              <a:ext cx="619293" cy="646331"/>
            </a:xfrm>
            <a:prstGeom prst="rect">
              <a:avLst/>
            </a:prstGeom>
            <a:noFill/>
            <a:effectLst/>
          </p:spPr>
          <p:txBody>
            <a:bodyPr wrap="square" rtlCol="0">
              <a:spAutoFit/>
            </a:bodyPr>
            <a:lstStyle/>
            <a:p>
              <a:pPr algn="ctr"/>
              <a:r>
                <a:rPr lang="en-US" altLang="zh-CN" sz="36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rPr>
                <a:t>1</a:t>
              </a:r>
              <a:endParaRPr lang="en-US" altLang="zh-CN" sz="28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grpSp>
        <p:nvGrpSpPr>
          <p:cNvPr id="221" name="组合 220"/>
          <p:cNvGrpSpPr/>
          <p:nvPr/>
        </p:nvGrpSpPr>
        <p:grpSpPr>
          <a:xfrm>
            <a:off x="5996434" y="3022401"/>
            <a:ext cx="654416" cy="654310"/>
            <a:chOff x="6175941" y="2180826"/>
            <a:chExt cx="654416" cy="654310"/>
          </a:xfrm>
        </p:grpSpPr>
        <p:sp>
          <p:nvSpPr>
            <p:cNvPr id="222" name="圆角矩形 221"/>
            <p:cNvSpPr/>
            <p:nvPr/>
          </p:nvSpPr>
          <p:spPr>
            <a:xfrm>
              <a:off x="6175941" y="2195816"/>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23" name="文本框 222"/>
            <p:cNvSpPr txBox="1"/>
            <p:nvPr/>
          </p:nvSpPr>
          <p:spPr>
            <a:xfrm>
              <a:off x="6191037" y="2180826"/>
              <a:ext cx="639320" cy="646331"/>
            </a:xfrm>
            <a:prstGeom prst="rect">
              <a:avLst/>
            </a:prstGeom>
            <a:noFill/>
            <a:effectLst/>
          </p:spPr>
          <p:txBody>
            <a:bodyPr wrap="square" rtlCol="0">
              <a:spAutoFit/>
            </a:bodyPr>
            <a:lstStyle/>
            <a:p>
              <a:pPr algn="ctr"/>
              <a:r>
                <a:rPr lang="en-US" altLang="zh-CN" sz="36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rPr>
                <a:t>2</a:t>
              </a:r>
              <a:endParaRPr lang="en-US" altLang="zh-CN" sz="28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sp>
        <p:nvSpPr>
          <p:cNvPr id="233" name="文本框 232"/>
          <p:cNvSpPr txBox="1"/>
          <p:nvPr/>
        </p:nvSpPr>
        <p:spPr>
          <a:xfrm>
            <a:off x="7056960" y="2082082"/>
            <a:ext cx="2927472" cy="523220"/>
          </a:xfrm>
          <a:prstGeom prst="rect">
            <a:avLst/>
          </a:prstGeom>
          <a:noFill/>
        </p:spPr>
        <p:txBody>
          <a:bodyPr wrap="squar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协方差</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8" name="文本框 237"/>
          <p:cNvSpPr txBox="1"/>
          <p:nvPr/>
        </p:nvSpPr>
        <p:spPr>
          <a:xfrm>
            <a:off x="1506344" y="513425"/>
            <a:ext cx="4461478" cy="1015663"/>
          </a:xfrm>
          <a:prstGeom prst="rect">
            <a:avLst/>
          </a:prstGeom>
          <a:noFill/>
        </p:spPr>
        <p:txBody>
          <a:bodyPr wrap="none" rtlCol="0">
            <a:spAutoFit/>
          </a:bodyPr>
          <a:lstStyle/>
          <a:p>
            <a:r>
              <a:rPr lang="en-US" altLang="zh-CN" sz="6000" b="1" dirty="0">
                <a:solidFill>
                  <a:srgbClr val="FFFFFF"/>
                </a:soli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rPr>
              <a:t>CONC</a:t>
            </a:r>
            <a:r>
              <a:rPr lang="en-US" altLang="zh-CN" sz="60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rPr>
              <a:t>ENTS</a:t>
            </a:r>
            <a:endParaRPr lang="zh-CN" altLang="en-US" sz="60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Times New Roman" panose="02020603050405020304" pitchFamily="18" charset="0"/>
              <a:ea typeface="微软雅黑" panose="020B0503020204020204" pitchFamily="34" charset="-122"/>
              <a:cs typeface="Kartika" panose="02020503030404060203" pitchFamily="18" charset="0"/>
              <a:sym typeface="Times New Roman" panose="02020603050405020304" pitchFamily="18" charset="0"/>
            </a:endParaRPr>
          </a:p>
        </p:txBody>
      </p:sp>
      <p:sp>
        <p:nvSpPr>
          <p:cNvPr id="239" name="文本框 20"/>
          <p:cNvSpPr>
            <a:spLocks noChangeArrowheads="1"/>
          </p:cNvSpPr>
          <p:nvPr/>
        </p:nvSpPr>
        <p:spPr bwMode="auto">
          <a:xfrm>
            <a:off x="698481" y="2769188"/>
            <a:ext cx="251222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6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rPr>
              <a:t>目   录</a:t>
            </a:r>
            <a:endParaRPr lang="en-US" sz="6600" b="1" dirty="0">
              <a:solidFill>
                <a:srgbClr val="FFFFFF"/>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235" name="文本框 234"/>
          <p:cNvSpPr txBox="1"/>
          <p:nvPr/>
        </p:nvSpPr>
        <p:spPr>
          <a:xfrm>
            <a:off x="7079824" y="3083956"/>
            <a:ext cx="2927472" cy="523220"/>
          </a:xfrm>
          <a:prstGeom prst="rect">
            <a:avLst/>
          </a:prstGeom>
          <a:noFill/>
        </p:spPr>
        <p:txBody>
          <a:bodyPr wrap="squar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相关系数</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0" name="组合 39"/>
          <p:cNvGrpSpPr/>
          <p:nvPr/>
        </p:nvGrpSpPr>
        <p:grpSpPr>
          <a:xfrm>
            <a:off x="5991502" y="4030352"/>
            <a:ext cx="639322" cy="654310"/>
            <a:chOff x="6175939" y="4126955"/>
            <a:chExt cx="639322" cy="654310"/>
          </a:xfrm>
        </p:grpSpPr>
        <p:sp>
          <p:nvSpPr>
            <p:cNvPr id="41" name="圆角矩形 227"/>
            <p:cNvSpPr/>
            <p:nvPr/>
          </p:nvSpPr>
          <p:spPr>
            <a:xfrm>
              <a:off x="6175941" y="4141945"/>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42" name="文本框 41"/>
            <p:cNvSpPr txBox="1"/>
            <p:nvPr/>
          </p:nvSpPr>
          <p:spPr>
            <a:xfrm>
              <a:off x="6175939" y="4126955"/>
              <a:ext cx="639321" cy="646331"/>
            </a:xfrm>
            <a:prstGeom prst="rect">
              <a:avLst/>
            </a:prstGeom>
            <a:noFill/>
            <a:effectLst/>
          </p:spPr>
          <p:txBody>
            <a:bodyPr wrap="square" rtlCol="0">
              <a:spAutoFit/>
            </a:bodyPr>
            <a:lstStyle/>
            <a:p>
              <a:pPr algn="ctr"/>
              <a:r>
                <a:rPr lang="en-US" altLang="zh-CN" sz="36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rPr>
                <a:t>3</a:t>
              </a:r>
              <a:endParaRPr lang="en-US" altLang="zh-CN" sz="28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sp>
        <p:nvSpPr>
          <p:cNvPr id="43" name="文本框 42"/>
          <p:cNvSpPr txBox="1"/>
          <p:nvPr/>
        </p:nvSpPr>
        <p:spPr>
          <a:xfrm>
            <a:off x="7079824" y="4060367"/>
            <a:ext cx="3264648" cy="523220"/>
          </a:xfrm>
          <a:prstGeom prst="rect">
            <a:avLst/>
          </a:prstGeom>
          <a:noFill/>
        </p:spPr>
        <p:txBody>
          <a:bodyPr wrap="squar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课堂练习 </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48" name="组合 47"/>
          <p:cNvGrpSpPr/>
          <p:nvPr/>
        </p:nvGrpSpPr>
        <p:grpSpPr>
          <a:xfrm>
            <a:off x="6011529" y="4933330"/>
            <a:ext cx="639322" cy="654310"/>
            <a:chOff x="6175939" y="4126955"/>
            <a:chExt cx="639322" cy="654310"/>
          </a:xfrm>
        </p:grpSpPr>
        <p:sp>
          <p:nvSpPr>
            <p:cNvPr id="49" name="圆角矩形 227"/>
            <p:cNvSpPr/>
            <p:nvPr/>
          </p:nvSpPr>
          <p:spPr>
            <a:xfrm>
              <a:off x="6175941" y="4141945"/>
              <a:ext cx="639320" cy="639320"/>
            </a:xfrm>
            <a:prstGeom prst="round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50" name="文本框 49"/>
            <p:cNvSpPr txBox="1"/>
            <p:nvPr/>
          </p:nvSpPr>
          <p:spPr>
            <a:xfrm>
              <a:off x="6175939" y="4126955"/>
              <a:ext cx="619293" cy="646331"/>
            </a:xfrm>
            <a:prstGeom prst="rect">
              <a:avLst/>
            </a:prstGeom>
            <a:noFill/>
            <a:effectLst/>
          </p:spPr>
          <p:txBody>
            <a:bodyPr wrap="square" rtlCol="0">
              <a:spAutoFit/>
            </a:bodyPr>
            <a:lstStyle/>
            <a:p>
              <a:pPr algn="ctr"/>
              <a:r>
                <a:rPr lang="en-US" altLang="zh-CN" sz="36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rPr>
                <a:t>4</a:t>
              </a:r>
              <a:endParaRPr lang="en-US" altLang="zh-CN" sz="2800" b="1" dirty="0">
                <a:solidFill>
                  <a:schemeClr val="bg1"/>
                </a:solidFill>
                <a:latin typeface="微软雅黑" panose="020B0503020204020204" pitchFamily="34" charset="-122"/>
                <a:ea typeface="微软雅黑" panose="020B0503020204020204" pitchFamily="34" charset="-122"/>
                <a:sym typeface="Times New Roman" panose="02020603050405020304" pitchFamily="18" charset="0"/>
              </a:endParaRPr>
            </a:p>
          </p:txBody>
        </p:sp>
      </p:grpSp>
      <p:sp>
        <p:nvSpPr>
          <p:cNvPr id="51" name="文本框 50"/>
          <p:cNvSpPr txBox="1"/>
          <p:nvPr/>
        </p:nvSpPr>
        <p:spPr>
          <a:xfrm>
            <a:off x="7099851" y="4963345"/>
            <a:ext cx="3949908" cy="523220"/>
          </a:xfrm>
          <a:prstGeom prst="rect">
            <a:avLst/>
          </a:prstGeom>
          <a:noFill/>
        </p:spPr>
        <p:txBody>
          <a:bodyPr wrap="square" rtlCol="0">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归纳总结 布置作业</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Click="0" advTm="0">
        <p15:prstTrans prst="airplane"/>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750"/>
                                        <p:tgtEl>
                                          <p:spTgt spid="5"/>
                                        </p:tgtEl>
                                      </p:cBhvr>
                                    </p:animEffect>
                                  </p:childTnLst>
                                </p:cTn>
                              </p:par>
                              <p:par>
                                <p:cTn id="8" presetID="22" presetClass="entr" presetSubtype="2"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right)">
                                      <p:cBhvr>
                                        <p:cTn id="10" dur="1000"/>
                                        <p:tgtEl>
                                          <p:spTgt spid="6"/>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childTnLst>
                                </p:cTn>
                              </p:par>
                            </p:childTnLst>
                          </p:cTn>
                        </p:par>
                        <p:par>
                          <p:cTn id="15" fill="hold">
                            <p:stCondLst>
                              <p:cond delay="1500"/>
                            </p:stCondLst>
                            <p:childTnLst>
                              <p:par>
                                <p:cTn id="16" presetID="8" presetClass="emph" presetSubtype="0" repeatCount="indefinite" fill="hold" nodeType="afterEffect">
                                  <p:stCondLst>
                                    <p:cond delay="0"/>
                                  </p:stCondLst>
                                  <p:childTnLst>
                                    <p:animRot by="21600000">
                                      <p:cBhvr>
                                        <p:cTn id="17" dur="2500" fill="hold"/>
                                        <p:tgtEl>
                                          <p:spTgt spid="24"/>
                                        </p:tgtEl>
                                        <p:attrNameLst>
                                          <p:attrName>r</p:attrName>
                                        </p:attrNameLst>
                                      </p:cBhvr>
                                    </p:animRot>
                                  </p:childTnLst>
                                </p:cTn>
                              </p:par>
                              <p:par>
                                <p:cTn id="18" presetID="22" presetClass="entr" presetSubtype="8" fill="hold" grpId="0" nodeType="withEffect">
                                  <p:stCondLst>
                                    <p:cond delay="0"/>
                                  </p:stCondLst>
                                  <p:childTnLst>
                                    <p:set>
                                      <p:cBhvr>
                                        <p:cTn id="19" dur="1" fill="hold">
                                          <p:stCondLst>
                                            <p:cond delay="0"/>
                                          </p:stCondLst>
                                        </p:cTn>
                                        <p:tgtEl>
                                          <p:spTgt spid="238"/>
                                        </p:tgtEl>
                                        <p:attrNameLst>
                                          <p:attrName>style.visibility</p:attrName>
                                        </p:attrNameLst>
                                      </p:cBhvr>
                                      <p:to>
                                        <p:strVal val="visible"/>
                                      </p:to>
                                    </p:set>
                                    <p:animEffect transition="in" filter="wipe(left)">
                                      <p:cBhvr>
                                        <p:cTn id="20" dur="750"/>
                                        <p:tgtEl>
                                          <p:spTgt spid="23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39"/>
                                        </p:tgtEl>
                                        <p:attrNameLst>
                                          <p:attrName>style.visibility</p:attrName>
                                        </p:attrNameLst>
                                      </p:cBhvr>
                                      <p:to>
                                        <p:strVal val="visible"/>
                                      </p:to>
                                    </p:set>
                                    <p:animEffect transition="in" filter="fade">
                                      <p:cBhvr>
                                        <p:cTn id="23" dur="750"/>
                                        <p:tgtEl>
                                          <p:spTgt spid="239"/>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218"/>
                                        </p:tgtEl>
                                        <p:attrNameLst>
                                          <p:attrName>style.visibility</p:attrName>
                                        </p:attrNameLst>
                                      </p:cBhvr>
                                      <p:to>
                                        <p:strVal val="visible"/>
                                      </p:to>
                                    </p:set>
                                    <p:anim calcmode="lin" valueType="num">
                                      <p:cBhvr additive="base">
                                        <p:cTn id="28" dur="750" fill="hold"/>
                                        <p:tgtEl>
                                          <p:spTgt spid="218"/>
                                        </p:tgtEl>
                                        <p:attrNameLst>
                                          <p:attrName>ppt_x</p:attrName>
                                        </p:attrNameLst>
                                      </p:cBhvr>
                                      <p:tavLst>
                                        <p:tav tm="0">
                                          <p:val>
                                            <p:strVal val="0-#ppt_w/2"/>
                                          </p:val>
                                        </p:tav>
                                        <p:tav tm="100000">
                                          <p:val>
                                            <p:strVal val="#ppt_x"/>
                                          </p:val>
                                        </p:tav>
                                      </p:tavLst>
                                    </p:anim>
                                    <p:anim calcmode="lin" valueType="num">
                                      <p:cBhvr additive="base">
                                        <p:cTn id="29" dur="750" fill="hold"/>
                                        <p:tgtEl>
                                          <p:spTgt spid="218"/>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233"/>
                                        </p:tgtEl>
                                        <p:attrNameLst>
                                          <p:attrName>style.visibility</p:attrName>
                                        </p:attrNameLst>
                                      </p:cBhvr>
                                      <p:to>
                                        <p:strVal val="visible"/>
                                      </p:to>
                                    </p:set>
                                    <p:anim calcmode="lin" valueType="num">
                                      <p:cBhvr additive="base">
                                        <p:cTn id="32" dur="750" fill="hold"/>
                                        <p:tgtEl>
                                          <p:spTgt spid="233"/>
                                        </p:tgtEl>
                                        <p:attrNameLst>
                                          <p:attrName>ppt_x</p:attrName>
                                        </p:attrNameLst>
                                      </p:cBhvr>
                                      <p:tavLst>
                                        <p:tav tm="0">
                                          <p:val>
                                            <p:strVal val="1+#ppt_w/2"/>
                                          </p:val>
                                        </p:tav>
                                        <p:tav tm="100000">
                                          <p:val>
                                            <p:strVal val="#ppt_x"/>
                                          </p:val>
                                        </p:tav>
                                      </p:tavLst>
                                    </p:anim>
                                    <p:anim calcmode="lin" valueType="num">
                                      <p:cBhvr additive="base">
                                        <p:cTn id="33" dur="750" fill="hold"/>
                                        <p:tgtEl>
                                          <p:spTgt spid="233"/>
                                        </p:tgtEl>
                                        <p:attrNameLst>
                                          <p:attrName>ppt_y</p:attrName>
                                        </p:attrNameLst>
                                      </p:cBhvr>
                                      <p:tavLst>
                                        <p:tav tm="0">
                                          <p:val>
                                            <p:strVal val="#ppt_y"/>
                                          </p:val>
                                        </p:tav>
                                        <p:tav tm="100000">
                                          <p:val>
                                            <p:strVal val="#ppt_y"/>
                                          </p:val>
                                        </p:tav>
                                      </p:tavLst>
                                    </p:anim>
                                  </p:childTnLst>
                                </p:cTn>
                              </p:par>
                            </p:childTnLst>
                          </p:cTn>
                        </p:par>
                        <p:par>
                          <p:cTn id="34" fill="hold">
                            <p:stCondLst>
                              <p:cond delay="1000"/>
                            </p:stCondLst>
                            <p:childTnLst>
                              <p:par>
                                <p:cTn id="35" presetID="2" presetClass="entr" presetSubtype="8" fill="hold" nodeType="afterEffect">
                                  <p:stCondLst>
                                    <p:cond delay="0"/>
                                  </p:stCondLst>
                                  <p:childTnLst>
                                    <p:set>
                                      <p:cBhvr>
                                        <p:cTn id="36" dur="1" fill="hold">
                                          <p:stCondLst>
                                            <p:cond delay="0"/>
                                          </p:stCondLst>
                                        </p:cTn>
                                        <p:tgtEl>
                                          <p:spTgt spid="221"/>
                                        </p:tgtEl>
                                        <p:attrNameLst>
                                          <p:attrName>style.visibility</p:attrName>
                                        </p:attrNameLst>
                                      </p:cBhvr>
                                      <p:to>
                                        <p:strVal val="visible"/>
                                      </p:to>
                                    </p:set>
                                    <p:anim calcmode="lin" valueType="num">
                                      <p:cBhvr additive="base">
                                        <p:cTn id="37" dur="750" fill="hold"/>
                                        <p:tgtEl>
                                          <p:spTgt spid="221"/>
                                        </p:tgtEl>
                                        <p:attrNameLst>
                                          <p:attrName>ppt_x</p:attrName>
                                        </p:attrNameLst>
                                      </p:cBhvr>
                                      <p:tavLst>
                                        <p:tav tm="0">
                                          <p:val>
                                            <p:strVal val="0-#ppt_w/2"/>
                                          </p:val>
                                        </p:tav>
                                        <p:tav tm="100000">
                                          <p:val>
                                            <p:strVal val="#ppt_x"/>
                                          </p:val>
                                        </p:tav>
                                      </p:tavLst>
                                    </p:anim>
                                    <p:anim calcmode="lin" valueType="num">
                                      <p:cBhvr additive="base">
                                        <p:cTn id="38" dur="750" fill="hold"/>
                                        <p:tgtEl>
                                          <p:spTgt spid="221"/>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235"/>
                                        </p:tgtEl>
                                        <p:attrNameLst>
                                          <p:attrName>style.visibility</p:attrName>
                                        </p:attrNameLst>
                                      </p:cBhvr>
                                      <p:to>
                                        <p:strVal val="visible"/>
                                      </p:to>
                                    </p:set>
                                    <p:anim calcmode="lin" valueType="num">
                                      <p:cBhvr additive="base">
                                        <p:cTn id="41" dur="750" fill="hold"/>
                                        <p:tgtEl>
                                          <p:spTgt spid="235"/>
                                        </p:tgtEl>
                                        <p:attrNameLst>
                                          <p:attrName>ppt_x</p:attrName>
                                        </p:attrNameLst>
                                      </p:cBhvr>
                                      <p:tavLst>
                                        <p:tav tm="0">
                                          <p:val>
                                            <p:strVal val="1+#ppt_w/2"/>
                                          </p:val>
                                        </p:tav>
                                        <p:tav tm="100000">
                                          <p:val>
                                            <p:strVal val="#ppt_x"/>
                                          </p:val>
                                        </p:tav>
                                      </p:tavLst>
                                    </p:anim>
                                    <p:anim calcmode="lin" valueType="num">
                                      <p:cBhvr additive="base">
                                        <p:cTn id="42" dur="750" fill="hold"/>
                                        <p:tgtEl>
                                          <p:spTgt spid="235"/>
                                        </p:tgtEl>
                                        <p:attrNameLst>
                                          <p:attrName>ppt_y</p:attrName>
                                        </p:attrNameLst>
                                      </p:cBhvr>
                                      <p:tavLst>
                                        <p:tav tm="0">
                                          <p:val>
                                            <p:strVal val="#ppt_y"/>
                                          </p:val>
                                        </p:tav>
                                        <p:tav tm="100000">
                                          <p:val>
                                            <p:strVal val="#ppt_y"/>
                                          </p:val>
                                        </p:tav>
                                      </p:tavLst>
                                    </p:anim>
                                  </p:childTnLst>
                                </p:cTn>
                              </p:par>
                            </p:childTnLst>
                          </p:cTn>
                        </p:par>
                        <p:par>
                          <p:cTn id="43" fill="hold">
                            <p:stCondLst>
                              <p:cond delay="2000"/>
                            </p:stCondLst>
                            <p:childTnLst>
                              <p:par>
                                <p:cTn id="44" presetID="2" presetClass="entr" presetSubtype="8" fill="hold" nodeType="afterEffect">
                                  <p:stCondLst>
                                    <p:cond delay="0"/>
                                  </p:stCondLst>
                                  <p:childTnLst>
                                    <p:set>
                                      <p:cBhvr>
                                        <p:cTn id="45" dur="1" fill="hold">
                                          <p:stCondLst>
                                            <p:cond delay="0"/>
                                          </p:stCondLst>
                                        </p:cTn>
                                        <p:tgtEl>
                                          <p:spTgt spid="40"/>
                                        </p:tgtEl>
                                        <p:attrNameLst>
                                          <p:attrName>style.visibility</p:attrName>
                                        </p:attrNameLst>
                                      </p:cBhvr>
                                      <p:to>
                                        <p:strVal val="visible"/>
                                      </p:to>
                                    </p:set>
                                    <p:anim calcmode="lin" valueType="num">
                                      <p:cBhvr additive="base">
                                        <p:cTn id="46" dur="750" fill="hold"/>
                                        <p:tgtEl>
                                          <p:spTgt spid="40"/>
                                        </p:tgtEl>
                                        <p:attrNameLst>
                                          <p:attrName>ppt_x</p:attrName>
                                        </p:attrNameLst>
                                      </p:cBhvr>
                                      <p:tavLst>
                                        <p:tav tm="0">
                                          <p:val>
                                            <p:strVal val="0-#ppt_w/2"/>
                                          </p:val>
                                        </p:tav>
                                        <p:tav tm="100000">
                                          <p:val>
                                            <p:strVal val="#ppt_x"/>
                                          </p:val>
                                        </p:tav>
                                      </p:tavLst>
                                    </p:anim>
                                    <p:anim calcmode="lin" valueType="num">
                                      <p:cBhvr additive="base">
                                        <p:cTn id="47" dur="750" fill="hold"/>
                                        <p:tgtEl>
                                          <p:spTgt spid="40"/>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0"/>
                                  </p:stCondLst>
                                  <p:childTnLst>
                                    <p:set>
                                      <p:cBhvr>
                                        <p:cTn id="49" dur="1" fill="hold">
                                          <p:stCondLst>
                                            <p:cond delay="0"/>
                                          </p:stCondLst>
                                        </p:cTn>
                                        <p:tgtEl>
                                          <p:spTgt spid="43"/>
                                        </p:tgtEl>
                                        <p:attrNameLst>
                                          <p:attrName>style.visibility</p:attrName>
                                        </p:attrNameLst>
                                      </p:cBhvr>
                                      <p:to>
                                        <p:strVal val="visible"/>
                                      </p:to>
                                    </p:set>
                                    <p:anim calcmode="lin" valueType="num">
                                      <p:cBhvr additive="base">
                                        <p:cTn id="50" dur="750" fill="hold"/>
                                        <p:tgtEl>
                                          <p:spTgt spid="43"/>
                                        </p:tgtEl>
                                        <p:attrNameLst>
                                          <p:attrName>ppt_x</p:attrName>
                                        </p:attrNameLst>
                                      </p:cBhvr>
                                      <p:tavLst>
                                        <p:tav tm="0">
                                          <p:val>
                                            <p:strVal val="1+#ppt_w/2"/>
                                          </p:val>
                                        </p:tav>
                                        <p:tav tm="100000">
                                          <p:val>
                                            <p:strVal val="#ppt_x"/>
                                          </p:val>
                                        </p:tav>
                                      </p:tavLst>
                                    </p:anim>
                                    <p:anim calcmode="lin" valueType="num">
                                      <p:cBhvr additive="base">
                                        <p:cTn id="51" dur="750" fill="hold"/>
                                        <p:tgtEl>
                                          <p:spTgt spid="43"/>
                                        </p:tgtEl>
                                        <p:attrNameLst>
                                          <p:attrName>ppt_y</p:attrName>
                                        </p:attrNameLst>
                                      </p:cBhvr>
                                      <p:tavLst>
                                        <p:tav tm="0">
                                          <p:val>
                                            <p:strVal val="#ppt_y"/>
                                          </p:val>
                                        </p:tav>
                                        <p:tav tm="100000">
                                          <p:val>
                                            <p:strVal val="#ppt_y"/>
                                          </p:val>
                                        </p:tav>
                                      </p:tavLst>
                                    </p:anim>
                                  </p:childTnLst>
                                </p:cTn>
                              </p:par>
                            </p:childTnLst>
                          </p:cTn>
                        </p:par>
                        <p:par>
                          <p:cTn id="52" fill="hold">
                            <p:stCondLst>
                              <p:cond delay="3000"/>
                            </p:stCondLst>
                            <p:childTnLst>
                              <p:par>
                                <p:cTn id="53" presetID="2" presetClass="entr" presetSubtype="8" fill="hold" nodeType="afterEffect">
                                  <p:stCondLst>
                                    <p:cond delay="0"/>
                                  </p:stCondLst>
                                  <p:childTnLst>
                                    <p:set>
                                      <p:cBhvr>
                                        <p:cTn id="54" dur="1" fill="hold">
                                          <p:stCondLst>
                                            <p:cond delay="0"/>
                                          </p:stCondLst>
                                        </p:cTn>
                                        <p:tgtEl>
                                          <p:spTgt spid="48"/>
                                        </p:tgtEl>
                                        <p:attrNameLst>
                                          <p:attrName>style.visibility</p:attrName>
                                        </p:attrNameLst>
                                      </p:cBhvr>
                                      <p:to>
                                        <p:strVal val="visible"/>
                                      </p:to>
                                    </p:set>
                                    <p:anim calcmode="lin" valueType="num">
                                      <p:cBhvr additive="base">
                                        <p:cTn id="55" dur="750" fill="hold"/>
                                        <p:tgtEl>
                                          <p:spTgt spid="48"/>
                                        </p:tgtEl>
                                        <p:attrNameLst>
                                          <p:attrName>ppt_x</p:attrName>
                                        </p:attrNameLst>
                                      </p:cBhvr>
                                      <p:tavLst>
                                        <p:tav tm="0">
                                          <p:val>
                                            <p:strVal val="0-#ppt_w/2"/>
                                          </p:val>
                                        </p:tav>
                                        <p:tav tm="100000">
                                          <p:val>
                                            <p:strVal val="#ppt_x"/>
                                          </p:val>
                                        </p:tav>
                                      </p:tavLst>
                                    </p:anim>
                                    <p:anim calcmode="lin" valueType="num">
                                      <p:cBhvr additive="base">
                                        <p:cTn id="56" dur="750" fill="hold"/>
                                        <p:tgtEl>
                                          <p:spTgt spid="48"/>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51"/>
                                        </p:tgtEl>
                                        <p:attrNameLst>
                                          <p:attrName>style.visibility</p:attrName>
                                        </p:attrNameLst>
                                      </p:cBhvr>
                                      <p:to>
                                        <p:strVal val="visible"/>
                                      </p:to>
                                    </p:set>
                                    <p:anim calcmode="lin" valueType="num">
                                      <p:cBhvr additive="base">
                                        <p:cTn id="59" dur="750" fill="hold"/>
                                        <p:tgtEl>
                                          <p:spTgt spid="51"/>
                                        </p:tgtEl>
                                        <p:attrNameLst>
                                          <p:attrName>ppt_x</p:attrName>
                                        </p:attrNameLst>
                                      </p:cBhvr>
                                      <p:tavLst>
                                        <p:tav tm="0">
                                          <p:val>
                                            <p:strVal val="1+#ppt_w/2"/>
                                          </p:val>
                                        </p:tav>
                                        <p:tav tm="100000">
                                          <p:val>
                                            <p:strVal val="#ppt_x"/>
                                          </p:val>
                                        </p:tav>
                                      </p:tavLst>
                                    </p:anim>
                                    <p:anim calcmode="lin" valueType="num">
                                      <p:cBhvr additive="base">
                                        <p:cTn id="60" dur="750" fill="hold"/>
                                        <p:tgtEl>
                                          <p:spTgt spid="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33" grpId="0"/>
      <p:bldP spid="238" grpId="0"/>
      <p:bldP spid="239" grpId="0"/>
      <p:bldP spid="235" grpId="0"/>
      <p:bldP spid="43" grpId="0"/>
      <p:bldP spid="5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6" name="Text Box 98"/>
          <p:cNvSpPr txBox="1">
            <a:spLocks noChangeArrowheads="1"/>
          </p:cNvSpPr>
          <p:nvPr/>
        </p:nvSpPr>
        <p:spPr bwMode="auto">
          <a:xfrm>
            <a:off x="1335307" y="1043225"/>
            <a:ext cx="9445165" cy="340920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200000"/>
              </a:lnSpc>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前面我们介绍了随机变量的数学期望和方差，对于二维随机变量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，我们除了讨论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的数学期望和方差以外，还要讨论描述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和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之间关系的数字特征，这就是本讲要讨论的</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7267" name="Rectangle 99"/>
          <p:cNvSpPr>
            <a:spLocks noChangeArrowheads="1"/>
          </p:cNvSpPr>
          <p:nvPr/>
        </p:nvSpPr>
        <p:spPr bwMode="auto">
          <a:xfrm>
            <a:off x="4367808" y="4598633"/>
            <a:ext cx="3556000" cy="523220"/>
          </a:xfrm>
          <a:prstGeom prst="rect">
            <a:avLst/>
          </a:prstGeom>
          <a:solidFill>
            <a:srgbClr val="C00000"/>
          </a:solidFill>
          <a:ln>
            <a:noFill/>
          </a:ln>
          <a:effectLst/>
        </p:spPr>
        <p:txBody>
          <a:bodyPr anchor="ctr">
            <a:spAutoFit/>
          </a:bodyPr>
          <a:lstStyle/>
          <a:p>
            <a:pPr algn="ctr" eaLnBrk="1" hangingPunct="1"/>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协方差和相关系数</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4"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矩形 4"/>
          <p:cNvSpPr>
            <a:spLocks noChangeArrowheads="1"/>
          </p:cNvSpPr>
          <p:nvPr/>
        </p:nvSpPr>
        <p:spPr bwMode="auto">
          <a:xfrm>
            <a:off x="1406163" y="255069"/>
            <a:ext cx="3198293"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协方差及相关系数</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6" name="组合 5"/>
          <p:cNvGrpSpPr/>
          <p:nvPr/>
        </p:nvGrpSpPr>
        <p:grpSpPr>
          <a:xfrm>
            <a:off x="851761" y="364781"/>
            <a:ext cx="263341" cy="395013"/>
            <a:chOff x="5284519" y="1508166"/>
            <a:chExt cx="213756" cy="427512"/>
          </a:xfrm>
        </p:grpSpPr>
        <p:cxnSp>
          <p:nvCxnSpPr>
            <p:cNvPr id="7" name="直接连接符 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8" name="直接连接符 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7266"/>
                                        </p:tgtEl>
                                        <p:attrNameLst>
                                          <p:attrName>style.visibility</p:attrName>
                                        </p:attrNameLst>
                                      </p:cBhvr>
                                      <p:to>
                                        <p:strVal val="visible"/>
                                      </p:to>
                                    </p:set>
                                    <p:animEffect transition="in" filter="barn(outVertical)">
                                      <p:cBhvr>
                                        <p:cTn id="7" dur="500"/>
                                        <p:tgtEl>
                                          <p:spTgt spid="7266"/>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528" fill="hold" grpId="0" nodeType="clickEffect">
                                  <p:stCondLst>
                                    <p:cond delay="0"/>
                                  </p:stCondLst>
                                  <p:childTnLst>
                                    <p:set>
                                      <p:cBhvr>
                                        <p:cTn id="11" dur="1" fill="hold">
                                          <p:stCondLst>
                                            <p:cond delay="0"/>
                                          </p:stCondLst>
                                        </p:cTn>
                                        <p:tgtEl>
                                          <p:spTgt spid="7267"/>
                                        </p:tgtEl>
                                        <p:attrNameLst>
                                          <p:attrName>style.visibility</p:attrName>
                                        </p:attrNameLst>
                                      </p:cBhvr>
                                      <p:to>
                                        <p:strVal val="visible"/>
                                      </p:to>
                                    </p:set>
                                    <p:anim calcmode="lin" valueType="num">
                                      <p:cBhvr>
                                        <p:cTn id="12" dur="500" fill="hold"/>
                                        <p:tgtEl>
                                          <p:spTgt spid="7267"/>
                                        </p:tgtEl>
                                        <p:attrNameLst>
                                          <p:attrName>ppt_w</p:attrName>
                                        </p:attrNameLst>
                                      </p:cBhvr>
                                      <p:tavLst>
                                        <p:tav tm="0">
                                          <p:val>
                                            <p:fltVal val="0"/>
                                          </p:val>
                                        </p:tav>
                                        <p:tav tm="100000">
                                          <p:val>
                                            <p:strVal val="#ppt_w"/>
                                          </p:val>
                                        </p:tav>
                                      </p:tavLst>
                                    </p:anim>
                                    <p:anim calcmode="lin" valueType="num">
                                      <p:cBhvr>
                                        <p:cTn id="13" dur="500" fill="hold"/>
                                        <p:tgtEl>
                                          <p:spTgt spid="7267"/>
                                        </p:tgtEl>
                                        <p:attrNameLst>
                                          <p:attrName>ppt_h</p:attrName>
                                        </p:attrNameLst>
                                      </p:cBhvr>
                                      <p:tavLst>
                                        <p:tav tm="0">
                                          <p:val>
                                            <p:fltVal val="0"/>
                                          </p:val>
                                        </p:tav>
                                        <p:tav tm="100000">
                                          <p:val>
                                            <p:strVal val="#ppt_h"/>
                                          </p:val>
                                        </p:tav>
                                      </p:tavLst>
                                    </p:anim>
                                    <p:anim calcmode="lin" valueType="num">
                                      <p:cBhvr>
                                        <p:cTn id="14" dur="500" fill="hold"/>
                                        <p:tgtEl>
                                          <p:spTgt spid="7267"/>
                                        </p:tgtEl>
                                        <p:attrNameLst>
                                          <p:attrName>ppt_x</p:attrName>
                                        </p:attrNameLst>
                                      </p:cBhvr>
                                      <p:tavLst>
                                        <p:tav tm="0">
                                          <p:val>
                                            <p:fltVal val="0.5"/>
                                          </p:val>
                                        </p:tav>
                                        <p:tav tm="100000">
                                          <p:val>
                                            <p:strVal val="#ppt_x"/>
                                          </p:val>
                                        </p:tav>
                                      </p:tavLst>
                                    </p:anim>
                                    <p:anim calcmode="lin" valueType="num">
                                      <p:cBhvr>
                                        <p:cTn id="15" dur="500" fill="hold"/>
                                        <p:tgtEl>
                                          <p:spTgt spid="726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6" grpId="0" autoUpdateAnimBg="0"/>
      <p:bldP spid="7267"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15398" y="2727150"/>
            <a:ext cx="5040000" cy="1015663"/>
          </a:xfrm>
          <a:prstGeom prst="rect">
            <a:avLst/>
          </a:prstGeom>
          <a:noFill/>
        </p:spPr>
        <p:txBody>
          <a:bodyPr wrap="square" rtlCol="0">
            <a:spAutoFit/>
          </a:bodyPr>
          <a:lstStyle/>
          <a:p>
            <a:pPr algn="dist"/>
            <a:r>
              <a:rPr lang="zh-CN" altLang="en-US" sz="60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协方差</a:t>
            </a:r>
            <a:endParaRPr lang="zh-CN" altLang="en-US" sz="60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01</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advClick="0" advTm="0">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63" name="Text Box 43"/>
          <p:cNvSpPr txBox="1">
            <a:spLocks noChangeArrowheads="1"/>
          </p:cNvSpPr>
          <p:nvPr/>
        </p:nvSpPr>
        <p:spPr bwMode="auto">
          <a:xfrm>
            <a:off x="1286701" y="1016047"/>
            <a:ext cx="9618598" cy="13086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lnSpc>
                <a:spcPct val="150000"/>
              </a:lnSpc>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量</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称为随机变量</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Y</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的协方差，</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记为</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        </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364" name="Text Box 44"/>
          <p:cNvSpPr txBox="1">
            <a:spLocks noChangeArrowheads="1"/>
          </p:cNvSpPr>
          <p:nvPr/>
        </p:nvSpPr>
        <p:spPr bwMode="auto">
          <a:xfrm>
            <a:off x="2133600" y="5311429"/>
            <a:ext cx="79248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just"/>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⑶  </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baseline="-25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365" name="Rectangle 45"/>
          <p:cNvSpPr>
            <a:spLocks noChangeArrowheads="1"/>
          </p:cNvSpPr>
          <p:nvPr/>
        </p:nvSpPr>
        <p:spPr bwMode="auto">
          <a:xfrm>
            <a:off x="2135189" y="3882276"/>
            <a:ext cx="52705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⑴  </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367" name="Rectangle 47"/>
          <p:cNvSpPr>
            <a:spLocks noChangeArrowheads="1"/>
          </p:cNvSpPr>
          <p:nvPr/>
        </p:nvSpPr>
        <p:spPr bwMode="auto">
          <a:xfrm>
            <a:off x="1286701" y="3147303"/>
            <a:ext cx="189026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简单性质</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368" name="Rectangle 48"/>
          <p:cNvSpPr>
            <a:spLocks noChangeArrowheads="1"/>
          </p:cNvSpPr>
          <p:nvPr/>
        </p:nvSpPr>
        <p:spPr bwMode="auto">
          <a:xfrm>
            <a:off x="2135189" y="4605052"/>
            <a:ext cx="675377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⑵  </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aX</a:t>
            </a:r>
            <a:r>
              <a:rPr lang="en-US" altLang="zh-CN" sz="2800" b="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ab</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800" b="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是常数</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369" name="Rectangle 49"/>
          <p:cNvSpPr>
            <a:spLocks noChangeArrowheads="1"/>
          </p:cNvSpPr>
          <p:nvPr/>
        </p:nvSpPr>
        <p:spPr bwMode="auto">
          <a:xfrm>
            <a:off x="3835975" y="2474091"/>
            <a:ext cx="5052986" cy="523220"/>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6370" name="Rectangle 50"/>
          <p:cNvSpPr>
            <a:spLocks noChangeArrowheads="1"/>
          </p:cNvSpPr>
          <p:nvPr/>
        </p:nvSpPr>
        <p:spPr bwMode="auto">
          <a:xfrm>
            <a:off x="1286701" y="1138857"/>
            <a:ext cx="11721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定义</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0"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一、协方差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6370"/>
                                        </p:tgtEl>
                                        <p:attrNameLst>
                                          <p:attrName>style.visibility</p:attrName>
                                        </p:attrNameLst>
                                      </p:cBhvr>
                                      <p:to>
                                        <p:strVal val="visible"/>
                                      </p:to>
                                    </p:set>
                                    <p:anim calcmode="lin" valueType="num">
                                      <p:cBhvr additive="base">
                                        <p:cTn id="7" dur="500" fill="hold"/>
                                        <p:tgtEl>
                                          <p:spTgt spid="56370"/>
                                        </p:tgtEl>
                                        <p:attrNameLst>
                                          <p:attrName>ppt_x</p:attrName>
                                        </p:attrNameLst>
                                      </p:cBhvr>
                                      <p:tavLst>
                                        <p:tav tm="0">
                                          <p:val>
                                            <p:strVal val="0-#ppt_w/2"/>
                                          </p:val>
                                        </p:tav>
                                        <p:tav tm="100000">
                                          <p:val>
                                            <p:strVal val="#ppt_x"/>
                                          </p:val>
                                        </p:tav>
                                      </p:tavLst>
                                    </p:anim>
                                    <p:anim calcmode="lin" valueType="num">
                                      <p:cBhvr additive="base">
                                        <p:cTn id="8" dur="500" fill="hold"/>
                                        <p:tgtEl>
                                          <p:spTgt spid="563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6363"/>
                                        </p:tgtEl>
                                        <p:attrNameLst>
                                          <p:attrName>style.visibility</p:attrName>
                                        </p:attrNameLst>
                                      </p:cBhvr>
                                      <p:to>
                                        <p:strVal val="visible"/>
                                      </p:to>
                                    </p:set>
                                    <p:animEffect transition="in" filter="wipe(left)">
                                      <p:cBhvr>
                                        <p:cTn id="13" dur="500"/>
                                        <p:tgtEl>
                                          <p:spTgt spid="5636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56369"/>
                                        </p:tgtEl>
                                        <p:attrNameLst>
                                          <p:attrName>style.visibility</p:attrName>
                                        </p:attrNameLst>
                                      </p:cBhvr>
                                      <p:to>
                                        <p:strVal val="visible"/>
                                      </p:to>
                                    </p:set>
                                    <p:animEffect transition="in" filter="wipe(right)">
                                      <p:cBhvr>
                                        <p:cTn id="18" dur="500"/>
                                        <p:tgtEl>
                                          <p:spTgt spid="5636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6367"/>
                                        </p:tgtEl>
                                        <p:attrNameLst>
                                          <p:attrName>style.visibility</p:attrName>
                                        </p:attrNameLst>
                                      </p:cBhvr>
                                      <p:to>
                                        <p:strVal val="visible"/>
                                      </p:to>
                                    </p:set>
                                    <p:anim calcmode="lin" valueType="num">
                                      <p:cBhvr additive="base">
                                        <p:cTn id="23" dur="500" fill="hold"/>
                                        <p:tgtEl>
                                          <p:spTgt spid="56367"/>
                                        </p:tgtEl>
                                        <p:attrNameLst>
                                          <p:attrName>ppt_x</p:attrName>
                                        </p:attrNameLst>
                                      </p:cBhvr>
                                      <p:tavLst>
                                        <p:tav tm="0">
                                          <p:val>
                                            <p:strVal val="0-#ppt_w/2"/>
                                          </p:val>
                                        </p:tav>
                                        <p:tav tm="100000">
                                          <p:val>
                                            <p:strVal val="#ppt_x"/>
                                          </p:val>
                                        </p:tav>
                                      </p:tavLst>
                                    </p:anim>
                                    <p:anim calcmode="lin" valueType="num">
                                      <p:cBhvr additive="base">
                                        <p:cTn id="24" dur="500" fill="hold"/>
                                        <p:tgtEl>
                                          <p:spTgt spid="56367"/>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56365"/>
                                        </p:tgtEl>
                                        <p:attrNameLst>
                                          <p:attrName>style.visibility</p:attrName>
                                        </p:attrNameLst>
                                      </p:cBhvr>
                                      <p:to>
                                        <p:strVal val="visible"/>
                                      </p:to>
                                    </p:set>
                                    <p:animEffect transition="in" filter="wipe(left)">
                                      <p:cBhvr>
                                        <p:cTn id="29" dur="500"/>
                                        <p:tgtEl>
                                          <p:spTgt spid="5636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6368"/>
                                        </p:tgtEl>
                                        <p:attrNameLst>
                                          <p:attrName>style.visibility</p:attrName>
                                        </p:attrNameLst>
                                      </p:cBhvr>
                                      <p:to>
                                        <p:strVal val="visible"/>
                                      </p:to>
                                    </p:set>
                                    <p:animEffect transition="in" filter="wipe(left)">
                                      <p:cBhvr>
                                        <p:cTn id="34" dur="500"/>
                                        <p:tgtEl>
                                          <p:spTgt spid="5636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6364"/>
                                        </p:tgtEl>
                                        <p:attrNameLst>
                                          <p:attrName>style.visibility</p:attrName>
                                        </p:attrNameLst>
                                      </p:cBhvr>
                                      <p:to>
                                        <p:strVal val="visible"/>
                                      </p:to>
                                    </p:set>
                                    <p:animEffect transition="in" filter="wipe(left)">
                                      <p:cBhvr>
                                        <p:cTn id="39" dur="500"/>
                                        <p:tgtEl>
                                          <p:spTgt spid="56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63" grpId="0" autoUpdateAnimBg="0"/>
      <p:bldP spid="56364" grpId="0" autoUpdateAnimBg="0"/>
      <p:bldP spid="56365" grpId="0" autoUpdateAnimBg="0"/>
      <p:bldP spid="56367" grpId="0" autoUpdateAnimBg="0"/>
      <p:bldP spid="56368" grpId="0" autoUpdateAnimBg="0"/>
      <p:bldP spid="56369" grpId="0"/>
      <p:bldP spid="56370"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70" name="Rectangle 50"/>
          <p:cNvSpPr>
            <a:spLocks noChangeArrowheads="1"/>
          </p:cNvSpPr>
          <p:nvPr/>
        </p:nvSpPr>
        <p:spPr bwMode="auto">
          <a:xfrm>
            <a:off x="1286701" y="1138857"/>
            <a:ext cx="26084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证明（</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3</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利用</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0"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一、协方差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aphicFrame>
        <p:nvGraphicFramePr>
          <p:cNvPr id="15" name="Object 7"/>
          <p:cNvGraphicFramePr>
            <a:graphicFrameLocks noChangeAspect="1"/>
          </p:cNvGraphicFramePr>
          <p:nvPr/>
        </p:nvGraphicFramePr>
        <p:xfrm>
          <a:off x="3895107" y="1156459"/>
          <a:ext cx="5368165" cy="488015"/>
        </p:xfrm>
        <a:graphic>
          <a:graphicData uri="http://schemas.openxmlformats.org/presentationml/2006/ole">
            <mc:AlternateContent xmlns:mc="http://schemas.openxmlformats.org/markup-compatibility/2006">
              <mc:Choice xmlns:v="urn:schemas-microsoft-com:vml" Requires="v">
                <p:oleObj spid="_x0000_s206855" name="公式" r:id="rId1" imgW="2235200" imgH="203200" progId="Equation.3">
                  <p:embed/>
                </p:oleObj>
              </mc:Choice>
              <mc:Fallback>
                <p:oleObj name="公式" r:id="rId1" imgW="2235200" imgH="203200" progId="Equation.3">
                  <p:embed/>
                  <p:pic>
                    <p:nvPicPr>
                      <p:cNvPr id="0" name="Object 7"/>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5107" y="1156459"/>
                        <a:ext cx="5368165" cy="488015"/>
                      </a:xfrm>
                      <a:prstGeom prst="rect">
                        <a:avLst/>
                      </a:prstGeom>
                      <a:noFill/>
                      <a:ln>
                        <a:noFill/>
                      </a:ln>
                      <a:effectLst/>
                    </p:spPr>
                  </p:pic>
                </p:oleObj>
              </mc:Fallback>
            </mc:AlternateContent>
          </a:graphicData>
        </a:graphic>
      </p:graphicFrame>
      <p:grpSp>
        <p:nvGrpSpPr>
          <p:cNvPr id="3" name="组 2"/>
          <p:cNvGrpSpPr/>
          <p:nvPr/>
        </p:nvGrpSpPr>
        <p:grpSpPr>
          <a:xfrm>
            <a:off x="1286701" y="1873830"/>
            <a:ext cx="4855549" cy="685740"/>
            <a:chOff x="1286701" y="1873830"/>
            <a:chExt cx="4855549" cy="685740"/>
          </a:xfrm>
        </p:grpSpPr>
        <p:sp>
          <p:nvSpPr>
            <p:cNvPr id="16" name="Rectangle 50"/>
            <p:cNvSpPr>
              <a:spLocks noChangeArrowheads="1"/>
            </p:cNvSpPr>
            <p:nvPr/>
          </p:nvSpPr>
          <p:spPr bwMode="auto">
            <a:xfrm>
              <a:off x="1286701" y="1934303"/>
              <a:ext cx="180049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证明（</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4</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2" name="图片 1"/>
            <p:cNvPicPr>
              <a:picLocks noChangeAspect="1"/>
            </p:cNvPicPr>
            <p:nvPr/>
          </p:nvPicPr>
          <p:blipFill rotWithShape="1">
            <a:blip r:embed="rId3"/>
            <a:srcRect l="13544" t="-9920" b="-2570"/>
            <a:stretch>
              <a:fillRect/>
            </a:stretch>
          </p:blipFill>
          <p:spPr>
            <a:xfrm>
              <a:off x="3023976" y="1873830"/>
              <a:ext cx="3118274" cy="685740"/>
            </a:xfrm>
            <a:prstGeom prst="rect">
              <a:avLst/>
            </a:prstGeom>
          </p:spPr>
        </p:pic>
      </p:grpSp>
      <p:graphicFrame>
        <p:nvGraphicFramePr>
          <p:cNvPr id="19" name="Object 4"/>
          <p:cNvGraphicFramePr>
            <a:graphicFrameLocks noChangeAspect="1"/>
          </p:cNvGraphicFramePr>
          <p:nvPr/>
        </p:nvGraphicFramePr>
        <p:xfrm>
          <a:off x="2790069" y="2723547"/>
          <a:ext cx="5322156" cy="541714"/>
        </p:xfrm>
        <a:graphic>
          <a:graphicData uri="http://schemas.openxmlformats.org/presentationml/2006/ole">
            <mc:AlternateContent xmlns:mc="http://schemas.openxmlformats.org/markup-compatibility/2006">
              <mc:Choice xmlns:v="urn:schemas-microsoft-com:vml" Requires="v">
                <p:oleObj spid="_x0000_s4" name="公式" r:id="rId4" imgW="2311400" imgH="215900" progId="Equation.3">
                  <p:embed/>
                </p:oleObj>
              </mc:Choice>
              <mc:Fallback>
                <p:oleObj name="公式" r:id="rId4" imgW="2311400" imgH="2159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0069" y="2723547"/>
                        <a:ext cx="5322156" cy="541714"/>
                      </a:xfrm>
                      <a:prstGeom prst="rect">
                        <a:avLst/>
                      </a:prstGeom>
                      <a:noFill/>
                      <a:ln>
                        <a:noFill/>
                      </a:ln>
                      <a:effectLst/>
                    </p:spPr>
                  </p:pic>
                </p:oleObj>
              </mc:Fallback>
            </mc:AlternateContent>
          </a:graphicData>
        </a:graphic>
      </p:graphicFrame>
      <p:graphicFrame>
        <p:nvGraphicFramePr>
          <p:cNvPr id="20" name="Object 6"/>
          <p:cNvGraphicFramePr>
            <a:graphicFrameLocks noChangeAspect="1"/>
          </p:cNvGraphicFramePr>
          <p:nvPr/>
        </p:nvGraphicFramePr>
        <p:xfrm>
          <a:off x="2790069" y="3423543"/>
          <a:ext cx="6473203" cy="534197"/>
        </p:xfrm>
        <a:graphic>
          <a:graphicData uri="http://schemas.openxmlformats.org/presentationml/2006/ole">
            <mc:AlternateContent xmlns:mc="http://schemas.openxmlformats.org/markup-compatibility/2006">
              <mc:Choice xmlns:v="urn:schemas-microsoft-com:vml" Requires="v">
                <p:oleObj spid="_x0000_s5" name="公式" r:id="rId6" imgW="2616200" imgH="215900" progId="Equation.3">
                  <p:embed/>
                </p:oleObj>
              </mc:Choice>
              <mc:Fallback>
                <p:oleObj name="公式" r:id="rId6" imgW="2616200" imgH="215900" progId="Equation.3">
                  <p:embed/>
                  <p:pic>
                    <p:nvPicPr>
                      <p:cNvPr id="0" name="Object 6"/>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90069" y="3423543"/>
                        <a:ext cx="6473203" cy="534197"/>
                      </a:xfrm>
                      <a:prstGeom prst="rect">
                        <a:avLst/>
                      </a:prstGeom>
                      <a:noFill/>
                      <a:ln>
                        <a:noFill/>
                      </a:ln>
                      <a:effectLst/>
                    </p:spPr>
                  </p:pic>
                </p:oleObj>
              </mc:Fallback>
            </mc:AlternateContent>
          </a:graphicData>
        </a:graphic>
      </p:graphicFrame>
      <p:graphicFrame>
        <p:nvGraphicFramePr>
          <p:cNvPr id="21" name="Object 3"/>
          <p:cNvGraphicFramePr>
            <a:graphicFrameLocks noChangeAspect="1"/>
          </p:cNvGraphicFramePr>
          <p:nvPr/>
        </p:nvGraphicFramePr>
        <p:xfrm>
          <a:off x="2790069" y="4075781"/>
          <a:ext cx="7268332" cy="543169"/>
        </p:xfrm>
        <a:graphic>
          <a:graphicData uri="http://schemas.openxmlformats.org/presentationml/2006/ole">
            <mc:AlternateContent xmlns:mc="http://schemas.openxmlformats.org/markup-compatibility/2006">
              <mc:Choice xmlns:v="urn:schemas-microsoft-com:vml" Requires="v">
                <p:oleObj spid="_x0000_s6" name="公式" r:id="rId8" imgW="3263900" imgH="215900" progId="Equation.3">
                  <p:embed/>
                </p:oleObj>
              </mc:Choice>
              <mc:Fallback>
                <p:oleObj name="公式" r:id="rId8" imgW="3263900" imgH="2159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90069" y="4075781"/>
                        <a:ext cx="7268332" cy="543169"/>
                      </a:xfrm>
                      <a:prstGeom prst="rect">
                        <a:avLst/>
                      </a:prstGeom>
                      <a:noFill/>
                      <a:ln>
                        <a:noFill/>
                      </a:ln>
                      <a:effectLst/>
                    </p:spPr>
                  </p:pic>
                </p:oleObj>
              </mc:Fallback>
            </mc:AlternateContent>
          </a:graphicData>
        </a:graphic>
      </p:graphicFrame>
      <p:graphicFrame>
        <p:nvGraphicFramePr>
          <p:cNvPr id="22" name="Object 8"/>
          <p:cNvGraphicFramePr>
            <a:graphicFrameLocks noChangeAspect="1"/>
          </p:cNvGraphicFramePr>
          <p:nvPr/>
        </p:nvGraphicFramePr>
        <p:xfrm>
          <a:off x="2790068" y="4757111"/>
          <a:ext cx="4858434" cy="554318"/>
        </p:xfrm>
        <a:graphic>
          <a:graphicData uri="http://schemas.openxmlformats.org/presentationml/2006/ole">
            <mc:AlternateContent xmlns:mc="http://schemas.openxmlformats.org/markup-compatibility/2006">
              <mc:Choice xmlns:v="urn:schemas-microsoft-com:vml" Requires="v">
                <p:oleObj spid="_x0000_s7" name="公式" r:id="rId10" imgW="1892300" imgH="215900" progId="Equation.3">
                  <p:embed/>
                </p:oleObj>
              </mc:Choice>
              <mc:Fallback>
                <p:oleObj name="公式" r:id="rId10" imgW="1892300" imgH="215900" progId="Equation.3">
                  <p:embed/>
                  <p:pic>
                    <p:nvPicPr>
                      <p:cNvPr id="0" name="Object 8"/>
                      <p:cNvPicPr>
                        <a:picLocks noGrp="1"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90068" y="4757111"/>
                        <a:ext cx="4858434" cy="554318"/>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70"/>
                                        </p:tgtEl>
                                        <p:attrNameLst>
                                          <p:attrName>style.visibility</p:attrName>
                                        </p:attrNameLst>
                                      </p:cBhvr>
                                      <p:to>
                                        <p:strVal val="visible"/>
                                      </p:to>
                                    </p:set>
                                    <p:animEffect transition="in" filter="wipe(left)">
                                      <p:cBhvr>
                                        <p:cTn id="7" dur="500"/>
                                        <p:tgtEl>
                                          <p:spTgt spid="563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7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70" name="Rectangle 50"/>
          <p:cNvSpPr>
            <a:spLocks noChangeArrowheads="1"/>
          </p:cNvSpPr>
          <p:nvPr/>
        </p:nvSpPr>
        <p:spPr bwMode="auto">
          <a:xfrm>
            <a:off x="1286701" y="1138857"/>
            <a:ext cx="23391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协方差的计算</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0"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一、协方差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16" name="Rectangle 50"/>
          <p:cNvSpPr>
            <a:spLocks noChangeArrowheads="1"/>
          </p:cNvSpPr>
          <p:nvPr/>
        </p:nvSpPr>
        <p:spPr bwMode="auto">
          <a:xfrm>
            <a:off x="1286701" y="1934303"/>
            <a:ext cx="215956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）定义法</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pic>
        <p:nvPicPr>
          <p:cNvPr id="4" name="图片 3"/>
          <p:cNvPicPr>
            <a:picLocks noChangeAspect="1"/>
          </p:cNvPicPr>
          <p:nvPr/>
        </p:nvPicPr>
        <p:blipFill rotWithShape="1">
          <a:blip r:embed="rId1"/>
          <a:srcRect l="23687" t="-15929" b="-1"/>
          <a:stretch>
            <a:fillRect/>
          </a:stretch>
        </p:blipFill>
        <p:spPr>
          <a:xfrm>
            <a:off x="3625803" y="1844824"/>
            <a:ext cx="6336704" cy="619659"/>
          </a:xfrm>
          <a:prstGeom prst="rect">
            <a:avLst/>
          </a:prstGeom>
        </p:spPr>
      </p:pic>
      <p:graphicFrame>
        <p:nvGraphicFramePr>
          <p:cNvPr id="18" name="Object 2"/>
          <p:cNvGraphicFramePr>
            <a:graphicFrameLocks noChangeAspect="1"/>
          </p:cNvGraphicFramePr>
          <p:nvPr/>
        </p:nvGraphicFramePr>
        <p:xfrm>
          <a:off x="3441366" y="2736709"/>
          <a:ext cx="6896078" cy="1700403"/>
        </p:xfrm>
        <a:graphic>
          <a:graphicData uri="http://schemas.openxmlformats.org/presentationml/2006/ole">
            <mc:AlternateContent xmlns:mc="http://schemas.openxmlformats.org/markup-compatibility/2006">
              <mc:Choice xmlns:v="urn:schemas-microsoft-com:vml" Requires="v">
                <p:oleObj spid="_x0000_s206855" name="Equation" r:id="rId2" imgW="2781300" imgH="685800" progId="Equation.DSMT4">
                  <p:embed/>
                </p:oleObj>
              </mc:Choice>
              <mc:Fallback>
                <p:oleObj name="Equation" r:id="rId2" imgW="2781300" imgH="685800" progId="Equation.DSMT4">
                  <p:embed/>
                  <p:pic>
                    <p:nvPicPr>
                      <p:cNvPr id="0" name="Object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1366" y="2736709"/>
                        <a:ext cx="6896078" cy="1700403"/>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370"/>
                                        </p:tgtEl>
                                        <p:attrNameLst>
                                          <p:attrName>style.visibility</p:attrName>
                                        </p:attrNameLst>
                                      </p:cBhvr>
                                      <p:to>
                                        <p:strVal val="visible"/>
                                      </p:to>
                                    </p:set>
                                    <p:animEffect transition="in" filter="wipe(left)">
                                      <p:cBhvr>
                                        <p:cTn id="7" dur="500"/>
                                        <p:tgtEl>
                                          <p:spTgt spid="5637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70" grpId="0"/>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93" name="Text Box 85"/>
          <p:cNvSpPr txBox="1">
            <a:spLocks noChangeArrowheads="1"/>
          </p:cNvSpPr>
          <p:nvPr/>
        </p:nvSpPr>
        <p:spPr bwMode="auto">
          <a:xfrm>
            <a:off x="3395662" y="4572000"/>
            <a:ext cx="5400675" cy="523220"/>
          </a:xfrm>
          <a:prstGeom prst="rect">
            <a:avLst/>
          </a:prstGeom>
          <a:solidFill>
            <a:srgbClr val="C00000"/>
          </a:solidFill>
          <a:ln>
            <a:noFill/>
          </a:ln>
        </p:spPr>
        <p:txBody>
          <a:bodyPr>
            <a:spAutoFit/>
          </a:bodyPr>
          <a:lstStyle/>
          <a:p>
            <a:pPr algn="ctr" eaLnBrk="1" hangingPunct="1">
              <a:spcBef>
                <a:spcPct val="50000"/>
              </a:spcBef>
            </a:pP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i="1" dirty="0" err="1">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XY</a:t>
            </a:r>
            <a:r>
              <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094" name="Rectangle 86"/>
          <p:cNvSpPr>
            <a:spLocks noChangeArrowheads="1"/>
          </p:cNvSpPr>
          <p:nvPr/>
        </p:nvSpPr>
        <p:spPr bwMode="auto">
          <a:xfrm>
            <a:off x="1853814" y="5526100"/>
            <a:ext cx="5881225"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可见，若</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 </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独立， </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0 .</a:t>
            </a:r>
            <a:endPar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096" name="Rectangle 88"/>
          <p:cNvSpPr>
            <a:spLocks noChangeArrowheads="1"/>
          </p:cNvSpPr>
          <p:nvPr/>
        </p:nvSpPr>
        <p:spPr bwMode="auto">
          <a:xfrm>
            <a:off x="1703512" y="1797812"/>
            <a:ext cx="5929828"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由协方差的定义及期望的性质，可得</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097" name="Rectangle 89"/>
          <p:cNvSpPr>
            <a:spLocks noChangeArrowheads="1"/>
          </p:cNvSpPr>
          <p:nvPr/>
        </p:nvSpPr>
        <p:spPr bwMode="auto">
          <a:xfrm>
            <a:off x="2580354" y="2444009"/>
            <a:ext cx="5052986"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098" name="Rectangle 90"/>
          <p:cNvSpPr>
            <a:spLocks noChangeArrowheads="1"/>
          </p:cNvSpPr>
          <p:nvPr/>
        </p:nvSpPr>
        <p:spPr bwMode="auto">
          <a:xfrm>
            <a:off x="3935760" y="3090206"/>
            <a:ext cx="6135013"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099" name="Rectangle 91"/>
          <p:cNvSpPr>
            <a:spLocks noChangeArrowheads="1"/>
          </p:cNvSpPr>
          <p:nvPr/>
        </p:nvSpPr>
        <p:spPr bwMode="auto">
          <a:xfrm>
            <a:off x="3940601" y="3736403"/>
            <a:ext cx="2864887"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3100" name="Rectangle 92"/>
          <p:cNvSpPr>
            <a:spLocks noChangeArrowheads="1"/>
          </p:cNvSpPr>
          <p:nvPr/>
        </p:nvSpPr>
        <p:spPr bwMode="auto">
          <a:xfrm>
            <a:off x="1853814" y="4555482"/>
            <a:ext cx="543739"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Rectangle 50"/>
          <p:cNvSpPr>
            <a:spLocks noChangeArrowheads="1"/>
          </p:cNvSpPr>
          <p:nvPr/>
        </p:nvSpPr>
        <p:spPr bwMode="auto">
          <a:xfrm>
            <a:off x="1286701" y="1138857"/>
            <a:ext cx="485261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3.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计算协方差的一个简单公式</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1"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一、协方差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3096"/>
                                        </p:tgtEl>
                                        <p:attrNameLst>
                                          <p:attrName>style.visibility</p:attrName>
                                        </p:attrNameLst>
                                      </p:cBhvr>
                                      <p:to>
                                        <p:strVal val="visible"/>
                                      </p:to>
                                    </p:set>
                                    <p:animEffect transition="in" filter="wipe(left)">
                                      <p:cBhvr>
                                        <p:cTn id="13" dur="500"/>
                                        <p:tgtEl>
                                          <p:spTgt spid="4309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3097"/>
                                        </p:tgtEl>
                                        <p:attrNameLst>
                                          <p:attrName>style.visibility</p:attrName>
                                        </p:attrNameLst>
                                      </p:cBhvr>
                                      <p:to>
                                        <p:strVal val="visible"/>
                                      </p:to>
                                    </p:set>
                                    <p:animEffect transition="in" filter="wipe(left)">
                                      <p:cBhvr>
                                        <p:cTn id="18" dur="500"/>
                                        <p:tgtEl>
                                          <p:spTgt spid="4309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grpId="0" nodeType="clickEffect">
                                  <p:stCondLst>
                                    <p:cond delay="0"/>
                                  </p:stCondLst>
                                  <p:childTnLst>
                                    <p:set>
                                      <p:cBhvr>
                                        <p:cTn id="22" dur="1" fill="hold">
                                          <p:stCondLst>
                                            <p:cond delay="0"/>
                                          </p:stCondLst>
                                        </p:cTn>
                                        <p:tgtEl>
                                          <p:spTgt spid="43098"/>
                                        </p:tgtEl>
                                        <p:attrNameLst>
                                          <p:attrName>style.visibility</p:attrName>
                                        </p:attrNameLst>
                                      </p:cBhvr>
                                      <p:to>
                                        <p:strVal val="visible"/>
                                      </p:to>
                                    </p:set>
                                    <p:animEffect transition="in" filter="wipe(right)">
                                      <p:cBhvr>
                                        <p:cTn id="23" dur="500"/>
                                        <p:tgtEl>
                                          <p:spTgt spid="4309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3099"/>
                                        </p:tgtEl>
                                        <p:attrNameLst>
                                          <p:attrName>style.visibility</p:attrName>
                                        </p:attrNameLst>
                                      </p:cBhvr>
                                      <p:to>
                                        <p:strVal val="visible"/>
                                      </p:to>
                                    </p:set>
                                    <p:animEffect transition="in" filter="wipe(left)">
                                      <p:cBhvr>
                                        <p:cTn id="28" dur="500"/>
                                        <p:tgtEl>
                                          <p:spTgt spid="43099"/>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43100"/>
                                        </p:tgtEl>
                                        <p:attrNameLst>
                                          <p:attrName>style.visibility</p:attrName>
                                        </p:attrNameLst>
                                      </p:cBhvr>
                                      <p:to>
                                        <p:strVal val="visible"/>
                                      </p:to>
                                    </p:set>
                                  </p:childTnLst>
                                </p:cTn>
                              </p:par>
                            </p:childTnLst>
                          </p:cTn>
                        </p:par>
                        <p:par>
                          <p:cTn id="33" fill="hold">
                            <p:stCondLst>
                              <p:cond delay="500"/>
                            </p:stCondLst>
                            <p:childTnLst>
                              <p:par>
                                <p:cTn id="34" presetID="2" presetClass="entr" presetSubtype="2" fill="hold" grpId="0" nodeType="afterEffect">
                                  <p:stCondLst>
                                    <p:cond delay="0"/>
                                  </p:stCondLst>
                                  <p:childTnLst>
                                    <p:set>
                                      <p:cBhvr>
                                        <p:cTn id="35" dur="1" fill="hold">
                                          <p:stCondLst>
                                            <p:cond delay="0"/>
                                          </p:stCondLst>
                                        </p:cTn>
                                        <p:tgtEl>
                                          <p:spTgt spid="43093"/>
                                        </p:tgtEl>
                                        <p:attrNameLst>
                                          <p:attrName>style.visibility</p:attrName>
                                        </p:attrNameLst>
                                      </p:cBhvr>
                                      <p:to>
                                        <p:strVal val="visible"/>
                                      </p:to>
                                    </p:set>
                                    <p:anim calcmode="lin" valueType="num">
                                      <p:cBhvr additive="base">
                                        <p:cTn id="36" dur="500" fill="hold"/>
                                        <p:tgtEl>
                                          <p:spTgt spid="43093"/>
                                        </p:tgtEl>
                                        <p:attrNameLst>
                                          <p:attrName>ppt_x</p:attrName>
                                        </p:attrNameLst>
                                      </p:cBhvr>
                                      <p:tavLst>
                                        <p:tav tm="0">
                                          <p:val>
                                            <p:strVal val="1+#ppt_w/2"/>
                                          </p:val>
                                        </p:tav>
                                        <p:tav tm="100000">
                                          <p:val>
                                            <p:strVal val="#ppt_x"/>
                                          </p:val>
                                        </p:tav>
                                      </p:tavLst>
                                    </p:anim>
                                    <p:anim calcmode="lin" valueType="num">
                                      <p:cBhvr additive="base">
                                        <p:cTn id="37" dur="500" fill="hold"/>
                                        <p:tgtEl>
                                          <p:spTgt spid="43093"/>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43094"/>
                                        </p:tgtEl>
                                        <p:attrNameLst>
                                          <p:attrName>style.visibility</p:attrName>
                                        </p:attrNameLst>
                                      </p:cBhvr>
                                      <p:to>
                                        <p:strVal val="visible"/>
                                      </p:to>
                                    </p:set>
                                    <p:anim calcmode="lin" valueType="num">
                                      <p:cBhvr additive="base">
                                        <p:cTn id="42" dur="500" fill="hold"/>
                                        <p:tgtEl>
                                          <p:spTgt spid="43094"/>
                                        </p:tgtEl>
                                        <p:attrNameLst>
                                          <p:attrName>ppt_x</p:attrName>
                                        </p:attrNameLst>
                                      </p:cBhvr>
                                      <p:tavLst>
                                        <p:tav tm="0">
                                          <p:val>
                                            <p:strVal val="#ppt_x"/>
                                          </p:val>
                                        </p:tav>
                                        <p:tav tm="100000">
                                          <p:val>
                                            <p:strVal val="#ppt_x"/>
                                          </p:val>
                                        </p:tav>
                                      </p:tavLst>
                                    </p:anim>
                                    <p:anim calcmode="lin" valueType="num">
                                      <p:cBhvr additive="base">
                                        <p:cTn id="43" dur="500" fill="hold"/>
                                        <p:tgtEl>
                                          <p:spTgt spid="430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93" grpId="0" animBg="1" autoUpdateAnimBg="0"/>
      <p:bldP spid="43094" grpId="0" autoUpdateAnimBg="0"/>
      <p:bldP spid="43096" grpId="0" autoUpdateAnimBg="0"/>
      <p:bldP spid="43097" grpId="0" autoUpdateAnimBg="0"/>
      <p:bldP spid="43098" grpId="0" autoUpdateAnimBg="0"/>
      <p:bldP spid="43099" grpId="0" autoUpdateAnimBg="0"/>
      <p:bldP spid="43100" grpId="0" autoUpdateAnimBg="0"/>
      <p:bldP spid="10"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412" name="Object 44"/>
          <p:cNvGraphicFramePr>
            <a:graphicFrameLocks noChangeAspect="1"/>
          </p:cNvGraphicFramePr>
          <p:nvPr/>
        </p:nvGraphicFramePr>
        <p:xfrm>
          <a:off x="6557963" y="4265613"/>
          <a:ext cx="112712" cy="214312"/>
        </p:xfrm>
        <a:graphic>
          <a:graphicData uri="http://schemas.openxmlformats.org/presentationml/2006/ole">
            <mc:AlternateContent xmlns:mc="http://schemas.openxmlformats.org/markup-compatibility/2006">
              <mc:Choice xmlns:v="urn:schemas-microsoft-com:vml" Requires="v">
                <p:oleObj spid="_x0000_s206855" name="公式" r:id="rId1" imgW="114300" imgH="215900" progId="Equation.3">
                  <p:embed/>
                </p:oleObj>
              </mc:Choice>
              <mc:Fallback>
                <p:oleObj name="公式" r:id="rId1" imgW="114300" imgH="215900" progId="Equation.3">
                  <p:embed/>
                  <p:pic>
                    <p:nvPicPr>
                      <p:cNvPr id="0" name="Object 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7963" y="42656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413" name="Object 45"/>
          <p:cNvGraphicFramePr>
            <a:graphicFrameLocks noChangeAspect="1"/>
          </p:cNvGraphicFramePr>
          <p:nvPr/>
        </p:nvGraphicFramePr>
        <p:xfrm>
          <a:off x="6557963" y="4265613"/>
          <a:ext cx="112712" cy="214312"/>
        </p:xfrm>
        <a:graphic>
          <a:graphicData uri="http://schemas.openxmlformats.org/presentationml/2006/ole">
            <mc:AlternateContent xmlns:mc="http://schemas.openxmlformats.org/markup-compatibility/2006">
              <mc:Choice xmlns:v="urn:schemas-microsoft-com:vml" Requires="v">
                <p:oleObj spid="_x0000_s2" name="公式" r:id="rId3" imgW="114300" imgH="215900" progId="Equation.3">
                  <p:embed/>
                </p:oleObj>
              </mc:Choice>
              <mc:Fallback>
                <p:oleObj name="公式" r:id="rId3" imgW="114300" imgH="215900" progId="Equation.3">
                  <p:embed/>
                  <p:pic>
                    <p:nvPicPr>
                      <p:cNvPr id="0" name="Object 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7963" y="42656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414" name="Object 46"/>
          <p:cNvGraphicFramePr>
            <a:graphicFrameLocks noChangeAspect="1"/>
          </p:cNvGraphicFramePr>
          <p:nvPr/>
        </p:nvGraphicFramePr>
        <p:xfrm>
          <a:off x="6557963" y="4265613"/>
          <a:ext cx="112712" cy="214312"/>
        </p:xfrm>
        <a:graphic>
          <a:graphicData uri="http://schemas.openxmlformats.org/presentationml/2006/ole">
            <mc:AlternateContent xmlns:mc="http://schemas.openxmlformats.org/markup-compatibility/2006">
              <mc:Choice xmlns:v="urn:schemas-microsoft-com:vml" Requires="v">
                <p:oleObj spid="_x0000_s3" name="公式" r:id="rId4" imgW="114300" imgH="215900" progId="Equation.3">
                  <p:embed/>
                </p:oleObj>
              </mc:Choice>
              <mc:Fallback>
                <p:oleObj name="公式" r:id="rId4" imgW="114300" imgH="215900" progId="Equation.3">
                  <p:embed/>
                  <p:pic>
                    <p:nvPicPr>
                      <p:cNvPr id="0" name="Object 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7963" y="42656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415" name="Rectangle 47"/>
          <p:cNvSpPr>
            <a:spLocks noChangeArrowheads="1"/>
          </p:cNvSpPr>
          <p:nvPr/>
        </p:nvSpPr>
        <p:spPr bwMode="auto">
          <a:xfrm>
            <a:off x="3215680" y="4218315"/>
            <a:ext cx="5147563"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)+ 2</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8417" name="Text Box 49"/>
          <p:cNvSpPr txBox="1">
            <a:spLocks noChangeArrowheads="1"/>
          </p:cNvSpPr>
          <p:nvPr/>
        </p:nvSpPr>
        <p:spPr bwMode="auto">
          <a:xfrm>
            <a:off x="2895626" y="1504100"/>
            <a:ext cx="12618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特别地</a:t>
            </a:r>
            <a:endPar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9" name="Rectangle 89"/>
          <p:cNvSpPr>
            <a:spLocks noChangeArrowheads="1"/>
          </p:cNvSpPr>
          <p:nvPr/>
        </p:nvSpPr>
        <p:spPr bwMode="auto">
          <a:xfrm>
            <a:off x="3684588" y="2149840"/>
            <a:ext cx="4785284"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0" name="Rectangle 47"/>
          <p:cNvSpPr>
            <a:spLocks noChangeArrowheads="1"/>
          </p:cNvSpPr>
          <p:nvPr/>
        </p:nvSpPr>
        <p:spPr bwMode="auto">
          <a:xfrm>
            <a:off x="1286701" y="3147303"/>
            <a:ext cx="5929828"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4.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随机变量和的方差与协方差的关系</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1"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矩形 11"/>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一、协方差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3" name="组合 12"/>
          <p:cNvGrpSpPr/>
          <p:nvPr/>
        </p:nvGrpSpPr>
        <p:grpSpPr>
          <a:xfrm>
            <a:off x="851761" y="364781"/>
            <a:ext cx="263341" cy="395013"/>
            <a:chOff x="5284519" y="1508166"/>
            <a:chExt cx="213756" cy="427512"/>
          </a:xfrm>
        </p:grpSpPr>
        <p:cxnSp>
          <p:nvCxnSpPr>
            <p:cNvPr id="14" name="直接连接符 1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5" name="直接连接符 1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417"/>
                                        </p:tgtEl>
                                        <p:attrNameLst>
                                          <p:attrName>style.visibility</p:attrName>
                                        </p:attrNameLst>
                                      </p:cBhvr>
                                      <p:to>
                                        <p:strVal val="visible"/>
                                      </p:to>
                                    </p:set>
                                    <p:animEffect transition="in" filter="wipe(left)">
                                      <p:cBhvr>
                                        <p:cTn id="7" dur="500"/>
                                        <p:tgtEl>
                                          <p:spTgt spid="584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8415"/>
                                        </p:tgtEl>
                                        <p:attrNameLst>
                                          <p:attrName>style.visibility</p:attrName>
                                        </p:attrNameLst>
                                      </p:cBhvr>
                                      <p:to>
                                        <p:strVal val="visible"/>
                                      </p:to>
                                    </p:set>
                                    <p:animEffect transition="in" filter="wipe(left)">
                                      <p:cBhvr>
                                        <p:cTn id="22" dur="500"/>
                                        <p:tgtEl>
                                          <p:spTgt spid="58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15" grpId="0"/>
      <p:bldP spid="58417" grpId="0"/>
      <p:bldP spid="9" grpId="0"/>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87" name="Object 51"/>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206855" name="公式" r:id="rId1" imgW="114300" imgH="215900" progId="Equation.3">
                  <p:embed/>
                </p:oleObj>
              </mc:Choice>
              <mc:Fallback>
                <p:oleObj name="公式" r:id="rId1" imgW="114300" imgH="215900" progId="Equation.3">
                  <p:embed/>
                  <p:pic>
                    <p:nvPicPr>
                      <p:cNvPr id="0" name="Object 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88" name="Object 52"/>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2" name="公式" r:id="rId3" imgW="114300" imgH="215900" progId="Equation.3">
                  <p:embed/>
                </p:oleObj>
              </mc:Choice>
              <mc:Fallback>
                <p:oleObj name="公式" r:id="rId3" imgW="114300" imgH="215900" progId="Equation.3">
                  <p:embed/>
                  <p:pic>
                    <p:nvPicPr>
                      <p:cNvPr id="0" name="Object 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89" name="Rectangle 53"/>
          <p:cNvSpPr>
            <a:spLocks noChangeArrowheads="1"/>
          </p:cNvSpPr>
          <p:nvPr/>
        </p:nvSpPr>
        <p:spPr bwMode="auto">
          <a:xfrm>
            <a:off x="1335307" y="1436173"/>
            <a:ext cx="1267151" cy="661207"/>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思考：</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一、协方差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aphicFrame>
        <p:nvGraphicFramePr>
          <p:cNvPr id="12" name="Object 8"/>
          <p:cNvGraphicFramePr>
            <a:graphicFrameLocks noChangeAspect="1"/>
          </p:cNvGraphicFramePr>
          <p:nvPr/>
        </p:nvGraphicFramePr>
        <p:xfrm>
          <a:off x="2699380" y="1546158"/>
          <a:ext cx="8096729" cy="573319"/>
        </p:xfrm>
        <a:graphic>
          <a:graphicData uri="http://schemas.openxmlformats.org/presentationml/2006/ole">
            <mc:AlternateContent xmlns:mc="http://schemas.openxmlformats.org/markup-compatibility/2006">
              <mc:Choice xmlns:v="urn:schemas-microsoft-com:vml" Requires="v">
                <p:oleObj spid="_x0000_s3" name="Equation" r:id="rId4" imgW="2870200" imgH="203200" progId="Equation.DSMT4">
                  <p:embed/>
                </p:oleObj>
              </mc:Choice>
              <mc:Fallback>
                <p:oleObj name="Equation" r:id="rId4" imgW="2870200" imgH="20320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9380" y="1546158"/>
                        <a:ext cx="8096729" cy="573319"/>
                      </a:xfrm>
                      <a:prstGeom prst="rect">
                        <a:avLst/>
                      </a:prstGeom>
                      <a:noFill/>
                      <a:ln>
                        <a:noFill/>
                      </a:ln>
                    </p:spPr>
                  </p:pic>
                </p:oleObj>
              </mc:Fallback>
            </mc:AlternateContent>
          </a:graphicData>
        </a:graphic>
      </p:graphicFrame>
      <p:pic>
        <p:nvPicPr>
          <p:cNvPr id="4" name="图片 3"/>
          <p:cNvPicPr>
            <a:picLocks noChangeAspect="1"/>
          </p:cNvPicPr>
          <p:nvPr/>
        </p:nvPicPr>
        <p:blipFill rotWithShape="1">
          <a:blip r:embed="rId6">
            <a:duotone>
              <a:prstClr val="black"/>
              <a:schemeClr val="tx2">
                <a:tint val="45000"/>
                <a:satMod val="400000"/>
              </a:schemeClr>
            </a:duotone>
            <a:lum bright="-62000" contrast="-26000"/>
          </a:blip>
          <a:srcRect l="13722"/>
          <a:stretch>
            <a:fillRect/>
          </a:stretch>
        </p:blipFill>
        <p:spPr>
          <a:xfrm>
            <a:off x="2440251" y="2836861"/>
            <a:ext cx="7874945" cy="1421608"/>
          </a:xfrm>
          <a:prstGeom prst="rect">
            <a:avLst/>
          </a:prstGeom>
        </p:spPr>
      </p:pic>
      <p:sp>
        <p:nvSpPr>
          <p:cNvPr id="13" name="Rectangle 53"/>
          <p:cNvSpPr>
            <a:spLocks noChangeArrowheads="1"/>
          </p:cNvSpPr>
          <p:nvPr/>
        </p:nvSpPr>
        <p:spPr bwMode="auto">
          <a:xfrm>
            <a:off x="1335307" y="2799005"/>
            <a:ext cx="1267151" cy="661207"/>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答案：</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 name="太阳形 4"/>
          <p:cNvSpPr/>
          <p:nvPr/>
        </p:nvSpPr>
        <p:spPr>
          <a:xfrm>
            <a:off x="10632504" y="332656"/>
            <a:ext cx="1080120" cy="1080120"/>
          </a:xfrm>
          <a:prstGeom prst="su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14389"/>
                                        </p:tgtEl>
                                        <p:attrNameLst>
                                          <p:attrName>style.visibility</p:attrName>
                                        </p:attrNameLst>
                                      </p:cBhvr>
                                      <p:to>
                                        <p:strVal val="visible"/>
                                      </p:to>
                                    </p:set>
                                    <p:animEffect transition="in" filter="barn(outVertical)">
                                      <p:cBhvr>
                                        <p:cTn id="7" dur="500"/>
                                        <p:tgtEl>
                                          <p:spTgt spid="14389"/>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arn(outVertical)">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37"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barn(outVertical)">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89" grpId="0" autoUpdateAnimBg="0"/>
      <p:bldP spid="13"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87" name="Object 51"/>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189457" name="公式" r:id="rId1" imgW="114300" imgH="215900" progId="Equation.3">
                  <p:embed/>
                </p:oleObj>
              </mc:Choice>
              <mc:Fallback>
                <p:oleObj name="公式" r:id="rId1" imgW="114300" imgH="215900" progId="Equation.3">
                  <p:embed/>
                  <p:pic>
                    <p:nvPicPr>
                      <p:cNvPr id="0" name="Object 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88" name="Object 52"/>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189458" name="公式" r:id="rId3" imgW="114300" imgH="215900" progId="Equation.3">
                  <p:embed/>
                </p:oleObj>
              </mc:Choice>
              <mc:Fallback>
                <p:oleObj name="公式" r:id="rId3" imgW="114300" imgH="215900" progId="Equation.3">
                  <p:embed/>
                  <p:pic>
                    <p:nvPicPr>
                      <p:cNvPr id="0" name="Object 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89" name="Rectangle 53"/>
          <p:cNvSpPr>
            <a:spLocks noChangeArrowheads="1"/>
          </p:cNvSpPr>
          <p:nvPr/>
        </p:nvSpPr>
        <p:spPr bwMode="auto">
          <a:xfrm>
            <a:off x="1335307" y="1397444"/>
            <a:ext cx="9585229" cy="738664"/>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设</a:t>
            </a:r>
            <a:r>
              <a:rPr lang="en-US" altLang="zh-CN" sz="280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(X,Y)</a:t>
            </a:r>
            <a:r>
              <a:rPr lang="zh-CN" altLang="en-US" sz="280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的分布律为：                               </a:t>
            </a:r>
            <a:r>
              <a:rPr lang="zh-CN" altLang="es-ES_tradnl" sz="280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求</a:t>
            </a:r>
            <a:r>
              <a:rPr lang="es-ES_tradnl" altLang="zh-CN" sz="280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rPr>
              <a:t>COV(X,Y).</a:t>
            </a:r>
            <a:endParaRPr lang="es-ES_tradnl" altLang="zh-CN" sz="2800" b="1" dirty="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一、协方差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pic>
        <p:nvPicPr>
          <p:cNvPr id="4" name="图片 3"/>
          <p:cNvPicPr>
            <a:picLocks noChangeAspect="1"/>
          </p:cNvPicPr>
          <p:nvPr/>
        </p:nvPicPr>
        <p:blipFill>
          <a:blip r:embed="rId4"/>
          <a:stretch>
            <a:fillRect/>
          </a:stretch>
        </p:blipFill>
        <p:spPr>
          <a:xfrm>
            <a:off x="5519936" y="1556792"/>
            <a:ext cx="2960143" cy="1733798"/>
          </a:xfrm>
          <a:prstGeom prst="rect">
            <a:avLst/>
          </a:prstGeom>
        </p:spPr>
      </p:pic>
      <p:graphicFrame>
        <p:nvGraphicFramePr>
          <p:cNvPr id="23" name="Object 26"/>
          <p:cNvGraphicFramePr>
            <a:graphicFrameLocks noChangeAspect="1"/>
          </p:cNvGraphicFramePr>
          <p:nvPr/>
        </p:nvGraphicFramePr>
        <p:xfrm>
          <a:off x="2063552" y="3884632"/>
          <a:ext cx="6416527" cy="507067"/>
        </p:xfrm>
        <a:graphic>
          <a:graphicData uri="http://schemas.openxmlformats.org/presentationml/2006/ole">
            <mc:AlternateContent xmlns:mc="http://schemas.openxmlformats.org/markup-compatibility/2006">
              <mc:Choice xmlns:v="urn:schemas-microsoft-com:vml" Requires="v">
                <p:oleObj spid="_x0000_s189459" name="公式" r:id="rId5" imgW="2730500" imgH="215900" progId="Equation.3">
                  <p:embed/>
                </p:oleObj>
              </mc:Choice>
              <mc:Fallback>
                <p:oleObj name="公式" r:id="rId5" imgW="2730500" imgH="215900" progId="Equation.3">
                  <p:embed/>
                  <p:pic>
                    <p:nvPicPr>
                      <p:cNvPr id="0"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3552" y="3884632"/>
                        <a:ext cx="6416527" cy="507067"/>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4389"/>
                                        </p:tgtEl>
                                        <p:attrNameLst>
                                          <p:attrName>style.visibility</p:attrName>
                                        </p:attrNameLst>
                                      </p:cBhvr>
                                      <p:to>
                                        <p:strVal val="visible"/>
                                      </p:to>
                                    </p:set>
                                    <p:animEffect transition="in" filter="barn(outVertical)">
                                      <p:cBhvr>
                                        <p:cTn id="7" dur="500"/>
                                        <p:tgtEl>
                                          <p:spTgt spid="14389"/>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arn(outVertic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23"/>
                                        </p:tgtEl>
                                        <p:attrNameLst>
                                          <p:attrName>style.visibility</p:attrName>
                                        </p:attrNameLst>
                                      </p:cBhvr>
                                      <p:to>
                                        <p:strVal val="visible"/>
                                      </p:to>
                                    </p:set>
                                    <p:anim calcmode="lin" valueType="num">
                                      <p:cBhvr additive="base">
                                        <p:cTn id="16" dur="1000" fill="hold"/>
                                        <p:tgtEl>
                                          <p:spTgt spid="23"/>
                                        </p:tgtEl>
                                        <p:attrNameLst>
                                          <p:attrName>ppt_x</p:attrName>
                                        </p:attrNameLst>
                                      </p:cBhvr>
                                      <p:tavLst>
                                        <p:tav tm="0">
                                          <p:val>
                                            <p:strVal val="0-#ppt_w/2"/>
                                          </p:val>
                                        </p:tav>
                                        <p:tav tm="100000">
                                          <p:val>
                                            <p:strVal val="#ppt_x"/>
                                          </p:val>
                                        </p:tav>
                                      </p:tavLst>
                                    </p:anim>
                                    <p:anim calcmode="lin" valueType="num">
                                      <p:cBhvr additive="base">
                                        <p:cTn id="17"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89" grpId="0" bldLvl="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一、协方差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aphicFrame>
        <p:nvGraphicFramePr>
          <p:cNvPr id="12" name="Object 27"/>
          <p:cNvGraphicFramePr>
            <a:graphicFrameLocks noChangeAspect="1"/>
          </p:cNvGraphicFramePr>
          <p:nvPr/>
        </p:nvGraphicFramePr>
        <p:xfrm>
          <a:off x="1411847" y="1340768"/>
          <a:ext cx="5019424" cy="825186"/>
        </p:xfrm>
        <a:graphic>
          <a:graphicData uri="http://schemas.openxmlformats.org/presentationml/2006/ole">
            <mc:AlternateContent xmlns:mc="http://schemas.openxmlformats.org/markup-compatibility/2006">
              <mc:Choice xmlns:v="urn:schemas-microsoft-com:vml" Requires="v">
                <p:oleObj spid="_x0000_s190481" name="公式" r:id="rId1" imgW="2159000" imgH="355600" progId="Equation.3">
                  <p:embed/>
                </p:oleObj>
              </mc:Choice>
              <mc:Fallback>
                <p:oleObj name="公式" r:id="rId1" imgW="2159000" imgH="355600" progId="Equation.3">
                  <p:embed/>
                  <p:pic>
                    <p:nvPicPr>
                      <p:cNvPr id="0" name="Object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1847" y="1340768"/>
                        <a:ext cx="5019424" cy="825186"/>
                      </a:xfrm>
                      <a:prstGeom prst="rect">
                        <a:avLst/>
                      </a:prstGeom>
                      <a:noFill/>
                      <a:ln>
                        <a:noFill/>
                      </a:ln>
                      <a:effectLst/>
                    </p:spPr>
                  </p:pic>
                </p:oleObj>
              </mc:Fallback>
            </mc:AlternateContent>
          </a:graphicData>
        </a:graphic>
      </p:graphicFrame>
      <p:grpSp>
        <p:nvGrpSpPr>
          <p:cNvPr id="4" name="组 3"/>
          <p:cNvGrpSpPr/>
          <p:nvPr/>
        </p:nvGrpSpPr>
        <p:grpSpPr>
          <a:xfrm>
            <a:off x="3287688" y="2348880"/>
            <a:ext cx="4948273" cy="2867025"/>
            <a:chOff x="3287688" y="2348880"/>
            <a:chExt cx="4948273" cy="2867025"/>
          </a:xfrm>
        </p:grpSpPr>
        <p:graphicFrame>
          <p:nvGraphicFramePr>
            <p:cNvPr id="14387" name="Object 51"/>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190482" name="公式" r:id="rId3" imgW="114300" imgH="215900" progId="Equation.3">
                    <p:embed/>
                  </p:oleObj>
                </mc:Choice>
                <mc:Fallback>
                  <p:oleObj name="公式" r:id="rId3" imgW="114300" imgH="215900" progId="Equation.3">
                    <p:embed/>
                    <p:pic>
                      <p:nvPicPr>
                        <p:cNvPr id="0"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88" name="Object 52"/>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190483" name="公式" r:id="rId5" imgW="114300" imgH="215900" progId="Equation.3">
                    <p:embed/>
                  </p:oleObj>
                </mc:Choice>
                <mc:Fallback>
                  <p:oleObj name="公式" r:id="rId5" imgW="114300" imgH="215900" progId="Equation.3">
                    <p:embed/>
                    <p:pic>
                      <p:nvPicPr>
                        <p:cNvPr id="0"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图片 1"/>
            <p:cNvPicPr>
              <a:picLocks noChangeAspect="1"/>
            </p:cNvPicPr>
            <p:nvPr/>
          </p:nvPicPr>
          <p:blipFill>
            <a:blip r:embed="rId6"/>
            <a:stretch>
              <a:fillRect/>
            </a:stretch>
          </p:blipFill>
          <p:spPr>
            <a:xfrm>
              <a:off x="3287688" y="2348880"/>
              <a:ext cx="4948273" cy="2867025"/>
            </a:xfrm>
            <a:prstGeom prst="rect">
              <a:avLst/>
            </a:prstGeom>
          </p:spPr>
        </p:pic>
        <p:sp>
          <p:nvSpPr>
            <p:cNvPr id="3" name="矩形 2"/>
            <p:cNvSpPr/>
            <p:nvPr/>
          </p:nvSpPr>
          <p:spPr>
            <a:xfrm>
              <a:off x="7320136" y="2492896"/>
              <a:ext cx="720080"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13" name="矩形 12"/>
            <p:cNvSpPr/>
            <p:nvPr/>
          </p:nvSpPr>
          <p:spPr>
            <a:xfrm>
              <a:off x="7104112" y="3181153"/>
              <a:ext cx="1059841"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14" name="矩形 13"/>
            <p:cNvSpPr/>
            <p:nvPr/>
          </p:nvSpPr>
          <p:spPr>
            <a:xfrm>
              <a:off x="7320136" y="3823339"/>
              <a:ext cx="720080" cy="57606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15" name="矩形 14"/>
            <p:cNvSpPr/>
            <p:nvPr/>
          </p:nvSpPr>
          <p:spPr>
            <a:xfrm>
              <a:off x="7273992" y="4534297"/>
              <a:ext cx="720080"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16" name="矩形 15"/>
            <p:cNvSpPr/>
            <p:nvPr/>
          </p:nvSpPr>
          <p:spPr>
            <a:xfrm>
              <a:off x="6071231" y="4548551"/>
              <a:ext cx="720080"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17" name="矩形 16"/>
            <p:cNvSpPr/>
            <p:nvPr/>
          </p:nvSpPr>
          <p:spPr>
            <a:xfrm>
              <a:off x="4749770" y="4534297"/>
              <a:ext cx="914181"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18" name="矩形 17"/>
            <p:cNvSpPr/>
            <p:nvPr/>
          </p:nvSpPr>
          <p:spPr>
            <a:xfrm>
              <a:off x="3503647" y="4527055"/>
              <a:ext cx="720080" cy="576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grpSp>
      <p:pic>
        <p:nvPicPr>
          <p:cNvPr id="20" name="图片 19"/>
          <p:cNvPicPr>
            <a:picLocks noChangeAspect="1"/>
          </p:cNvPicPr>
          <p:nvPr/>
        </p:nvPicPr>
        <p:blipFill rotWithShape="1">
          <a:blip r:embed="rId6"/>
          <a:srcRect l="77633" t="7230" r="3450" b="74350"/>
          <a:stretch>
            <a:fillRect/>
          </a:stretch>
        </p:blipFill>
        <p:spPr>
          <a:xfrm>
            <a:off x="7104112" y="2564904"/>
            <a:ext cx="936104" cy="528092"/>
          </a:xfrm>
          <a:prstGeom prst="rect">
            <a:avLst/>
          </a:prstGeom>
        </p:spPr>
      </p:pic>
      <p:pic>
        <p:nvPicPr>
          <p:cNvPr id="21" name="图片 20"/>
          <p:cNvPicPr>
            <a:picLocks noChangeAspect="1"/>
          </p:cNvPicPr>
          <p:nvPr/>
        </p:nvPicPr>
        <p:blipFill rotWithShape="1">
          <a:blip r:embed="rId6"/>
          <a:srcRect l="77206" t="29822" r="-79" b="48570"/>
          <a:stretch>
            <a:fillRect/>
          </a:stretch>
        </p:blipFill>
        <p:spPr>
          <a:xfrm>
            <a:off x="7104113" y="3203854"/>
            <a:ext cx="1131848" cy="619485"/>
          </a:xfrm>
          <a:prstGeom prst="rect">
            <a:avLst/>
          </a:prstGeom>
        </p:spPr>
      </p:pic>
      <p:pic>
        <p:nvPicPr>
          <p:cNvPr id="22" name="图片 21"/>
          <p:cNvPicPr>
            <a:picLocks noChangeAspect="1"/>
          </p:cNvPicPr>
          <p:nvPr/>
        </p:nvPicPr>
        <p:blipFill rotWithShape="1">
          <a:blip r:embed="rId6"/>
          <a:srcRect l="77633" t="52188" r="4029" b="25255"/>
          <a:stretch>
            <a:fillRect/>
          </a:stretch>
        </p:blipFill>
        <p:spPr>
          <a:xfrm>
            <a:off x="7150435" y="3887600"/>
            <a:ext cx="907441" cy="646697"/>
          </a:xfrm>
          <a:prstGeom prst="rect">
            <a:avLst/>
          </a:prstGeom>
        </p:spPr>
      </p:pic>
      <p:pic>
        <p:nvPicPr>
          <p:cNvPr id="23" name="图片 22"/>
          <p:cNvPicPr>
            <a:picLocks noChangeAspect="1"/>
          </p:cNvPicPr>
          <p:nvPr/>
        </p:nvPicPr>
        <p:blipFill rotWithShape="1">
          <a:blip r:embed="rId6"/>
          <a:srcRect l="77633" t="75634" r="3450" b="2540"/>
          <a:stretch>
            <a:fillRect/>
          </a:stretch>
        </p:blipFill>
        <p:spPr>
          <a:xfrm>
            <a:off x="7176120" y="4509120"/>
            <a:ext cx="936104" cy="625750"/>
          </a:xfrm>
          <a:prstGeom prst="rect">
            <a:avLst/>
          </a:prstGeom>
        </p:spPr>
      </p:pic>
      <p:pic>
        <p:nvPicPr>
          <p:cNvPr id="24" name="图片 23"/>
          <p:cNvPicPr>
            <a:picLocks noChangeAspect="1"/>
          </p:cNvPicPr>
          <p:nvPr/>
        </p:nvPicPr>
        <p:blipFill rotWithShape="1">
          <a:blip r:embed="rId6"/>
          <a:srcRect l="53002" t="75634" r="33223" b="1833"/>
          <a:stretch>
            <a:fillRect/>
          </a:stretch>
        </p:blipFill>
        <p:spPr>
          <a:xfrm>
            <a:off x="6048760" y="4527055"/>
            <a:ext cx="681646" cy="646021"/>
          </a:xfrm>
          <a:prstGeom prst="rect">
            <a:avLst/>
          </a:prstGeom>
        </p:spPr>
      </p:pic>
      <p:pic>
        <p:nvPicPr>
          <p:cNvPr id="25" name="图片 24"/>
          <p:cNvPicPr>
            <a:picLocks noChangeAspect="1"/>
          </p:cNvPicPr>
          <p:nvPr/>
        </p:nvPicPr>
        <p:blipFill rotWithShape="1">
          <a:blip r:embed="rId6"/>
          <a:srcRect l="24724" t="75634" r="51585" b="1442"/>
          <a:stretch>
            <a:fillRect/>
          </a:stretch>
        </p:blipFill>
        <p:spPr>
          <a:xfrm>
            <a:off x="4480909" y="4453147"/>
            <a:ext cx="1172342" cy="657214"/>
          </a:xfrm>
          <a:prstGeom prst="rect">
            <a:avLst/>
          </a:prstGeom>
        </p:spPr>
      </p:pic>
      <p:pic>
        <p:nvPicPr>
          <p:cNvPr id="26" name="图片 25"/>
          <p:cNvPicPr>
            <a:picLocks noChangeAspect="1"/>
          </p:cNvPicPr>
          <p:nvPr/>
        </p:nvPicPr>
        <p:blipFill rotWithShape="1">
          <a:blip r:embed="rId6"/>
          <a:srcRect l="1895" t="77288" r="80700" b="3077"/>
          <a:stretch>
            <a:fillRect/>
          </a:stretch>
        </p:blipFill>
        <p:spPr>
          <a:xfrm>
            <a:off x="3491754" y="4596570"/>
            <a:ext cx="861314" cy="5629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0-#ppt_w/2"/>
                                          </p:val>
                                        </p:tav>
                                        <p:tav tm="100000">
                                          <p:val>
                                            <p:strVal val="#ppt_x"/>
                                          </p:val>
                                        </p:tav>
                                      </p:tavLst>
                                    </p:anim>
                                    <p:anim calcmode="lin" valueType="num">
                                      <p:cBhvr additive="base">
                                        <p:cTn id="8" dur="10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1000" fill="hold"/>
                                        <p:tgtEl>
                                          <p:spTgt spid="4"/>
                                        </p:tgtEl>
                                        <p:attrNameLst>
                                          <p:attrName>ppt_x</p:attrName>
                                        </p:attrNameLst>
                                      </p:cBhvr>
                                      <p:tavLst>
                                        <p:tav tm="0">
                                          <p:val>
                                            <p:strVal val="0-#ppt_w/2"/>
                                          </p:val>
                                        </p:tav>
                                        <p:tav tm="100000">
                                          <p:val>
                                            <p:strVal val="#ppt_x"/>
                                          </p:val>
                                        </p:tav>
                                      </p:tavLst>
                                    </p:anim>
                                    <p:anim calcmode="lin" valueType="num">
                                      <p:cBhvr additive="base">
                                        <p:cTn id="14"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1000" fill="hold"/>
                                        <p:tgtEl>
                                          <p:spTgt spid="20"/>
                                        </p:tgtEl>
                                        <p:attrNameLst>
                                          <p:attrName>ppt_x</p:attrName>
                                        </p:attrNameLst>
                                      </p:cBhvr>
                                      <p:tavLst>
                                        <p:tav tm="0">
                                          <p:val>
                                            <p:strVal val="0-#ppt_w/2"/>
                                          </p:val>
                                        </p:tav>
                                        <p:tav tm="100000">
                                          <p:val>
                                            <p:strVal val="#ppt_x"/>
                                          </p:val>
                                        </p:tav>
                                      </p:tavLst>
                                    </p:anim>
                                    <p:anim calcmode="lin" valueType="num">
                                      <p:cBhvr additive="base">
                                        <p:cTn id="20" dur="10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1000" fill="hold"/>
                                        <p:tgtEl>
                                          <p:spTgt spid="21"/>
                                        </p:tgtEl>
                                        <p:attrNameLst>
                                          <p:attrName>ppt_x</p:attrName>
                                        </p:attrNameLst>
                                      </p:cBhvr>
                                      <p:tavLst>
                                        <p:tav tm="0">
                                          <p:val>
                                            <p:strVal val="0-#ppt_w/2"/>
                                          </p:val>
                                        </p:tav>
                                        <p:tav tm="100000">
                                          <p:val>
                                            <p:strVal val="#ppt_x"/>
                                          </p:val>
                                        </p:tav>
                                      </p:tavLst>
                                    </p:anim>
                                    <p:anim calcmode="lin" valueType="num">
                                      <p:cBhvr additive="base">
                                        <p:cTn id="26" dur="10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1000" fill="hold"/>
                                        <p:tgtEl>
                                          <p:spTgt spid="22"/>
                                        </p:tgtEl>
                                        <p:attrNameLst>
                                          <p:attrName>ppt_x</p:attrName>
                                        </p:attrNameLst>
                                      </p:cBhvr>
                                      <p:tavLst>
                                        <p:tav tm="0">
                                          <p:val>
                                            <p:strVal val="0-#ppt_w/2"/>
                                          </p:val>
                                        </p:tav>
                                        <p:tav tm="100000">
                                          <p:val>
                                            <p:strVal val="#ppt_x"/>
                                          </p:val>
                                        </p:tav>
                                      </p:tavLst>
                                    </p:anim>
                                    <p:anim calcmode="lin" valueType="num">
                                      <p:cBhvr additive="base">
                                        <p:cTn id="32" dur="10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base">
                                        <p:cTn id="37" dur="1000" fill="hold"/>
                                        <p:tgtEl>
                                          <p:spTgt spid="26"/>
                                        </p:tgtEl>
                                        <p:attrNameLst>
                                          <p:attrName>ppt_x</p:attrName>
                                        </p:attrNameLst>
                                      </p:cBhvr>
                                      <p:tavLst>
                                        <p:tav tm="0">
                                          <p:val>
                                            <p:strVal val="0-#ppt_w/2"/>
                                          </p:val>
                                        </p:tav>
                                        <p:tav tm="100000">
                                          <p:val>
                                            <p:strVal val="#ppt_x"/>
                                          </p:val>
                                        </p:tav>
                                      </p:tavLst>
                                    </p:anim>
                                    <p:anim calcmode="lin" valueType="num">
                                      <p:cBhvr additive="base">
                                        <p:cTn id="38" dur="10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anim calcmode="lin" valueType="num">
                                      <p:cBhvr additive="base">
                                        <p:cTn id="43" dur="1000" fill="hold"/>
                                        <p:tgtEl>
                                          <p:spTgt spid="25"/>
                                        </p:tgtEl>
                                        <p:attrNameLst>
                                          <p:attrName>ppt_x</p:attrName>
                                        </p:attrNameLst>
                                      </p:cBhvr>
                                      <p:tavLst>
                                        <p:tav tm="0">
                                          <p:val>
                                            <p:strVal val="0-#ppt_w/2"/>
                                          </p:val>
                                        </p:tav>
                                        <p:tav tm="100000">
                                          <p:val>
                                            <p:strVal val="#ppt_x"/>
                                          </p:val>
                                        </p:tav>
                                      </p:tavLst>
                                    </p:anim>
                                    <p:anim calcmode="lin" valueType="num">
                                      <p:cBhvr additive="base">
                                        <p:cTn id="44" dur="10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1000" fill="hold"/>
                                        <p:tgtEl>
                                          <p:spTgt spid="24"/>
                                        </p:tgtEl>
                                        <p:attrNameLst>
                                          <p:attrName>ppt_x</p:attrName>
                                        </p:attrNameLst>
                                      </p:cBhvr>
                                      <p:tavLst>
                                        <p:tav tm="0">
                                          <p:val>
                                            <p:strVal val="0-#ppt_w/2"/>
                                          </p:val>
                                        </p:tav>
                                        <p:tav tm="100000">
                                          <p:val>
                                            <p:strVal val="#ppt_x"/>
                                          </p:val>
                                        </p:tav>
                                      </p:tavLst>
                                    </p:anim>
                                    <p:anim calcmode="lin" valueType="num">
                                      <p:cBhvr additive="base">
                                        <p:cTn id="50" dur="10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23"/>
                                        </p:tgtEl>
                                        <p:attrNameLst>
                                          <p:attrName>style.visibility</p:attrName>
                                        </p:attrNameLst>
                                      </p:cBhvr>
                                      <p:to>
                                        <p:strVal val="visible"/>
                                      </p:to>
                                    </p:set>
                                    <p:anim calcmode="lin" valueType="num">
                                      <p:cBhvr additive="base">
                                        <p:cTn id="55" dur="1000" fill="hold"/>
                                        <p:tgtEl>
                                          <p:spTgt spid="23"/>
                                        </p:tgtEl>
                                        <p:attrNameLst>
                                          <p:attrName>ppt_x</p:attrName>
                                        </p:attrNameLst>
                                      </p:cBhvr>
                                      <p:tavLst>
                                        <p:tav tm="0">
                                          <p:val>
                                            <p:strVal val="0-#ppt_w/2"/>
                                          </p:val>
                                        </p:tav>
                                        <p:tav tm="100000">
                                          <p:val>
                                            <p:strVal val="#ppt_x"/>
                                          </p:val>
                                        </p:tav>
                                      </p:tavLst>
                                    </p:anim>
                                    <p:anim calcmode="lin" valueType="num">
                                      <p:cBhvr additive="base">
                                        <p:cTn id="56" dur="10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一、协方差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33" name="Text Box 2"/>
          <p:cNvSpPr txBox="1">
            <a:spLocks noChangeArrowheads="1"/>
          </p:cNvSpPr>
          <p:nvPr/>
        </p:nvSpPr>
        <p:spPr bwMode="auto">
          <a:xfrm>
            <a:off x="1748251" y="1240334"/>
            <a:ext cx="10795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b="1" i="1">
                <a:solidFill>
                  <a:schemeClr val="tx1"/>
                </a:solidFill>
                <a:latin typeface="Times" charset="0"/>
              </a:defRPr>
            </a:lvl1pPr>
            <a:lvl2pPr marL="742950" indent="-285750">
              <a:spcBef>
                <a:spcPct val="20000"/>
              </a:spcBef>
              <a:buChar char="–"/>
              <a:defRPr sz="2800" b="1" i="1">
                <a:solidFill>
                  <a:schemeClr val="tx1"/>
                </a:solidFill>
                <a:latin typeface="Times" charset="0"/>
              </a:defRPr>
            </a:lvl2pPr>
            <a:lvl3pPr marL="1143000" indent="-228600">
              <a:spcBef>
                <a:spcPct val="20000"/>
              </a:spcBef>
              <a:buChar char="•"/>
              <a:defRPr sz="2400" b="1" i="1">
                <a:solidFill>
                  <a:schemeClr val="tx1"/>
                </a:solidFill>
                <a:latin typeface="Times" charset="0"/>
              </a:defRPr>
            </a:lvl3pPr>
            <a:lvl4pPr marL="1600200" indent="-228600">
              <a:spcBef>
                <a:spcPct val="20000"/>
              </a:spcBef>
              <a:buChar char="–"/>
              <a:defRPr sz="2000" b="1" i="1">
                <a:solidFill>
                  <a:schemeClr val="tx1"/>
                </a:solidFill>
                <a:latin typeface="Times" charset="0"/>
              </a:defRPr>
            </a:lvl4pPr>
            <a:lvl5pPr marL="2057400" indent="-228600">
              <a:spcBef>
                <a:spcPct val="20000"/>
              </a:spcBef>
              <a:buChar char="»"/>
              <a:defRPr sz="2000" b="1" i="1">
                <a:solidFill>
                  <a:schemeClr val="tx1"/>
                </a:solidFill>
                <a:latin typeface="Times" charset="0"/>
              </a:defRPr>
            </a:lvl5pPr>
            <a:lvl6pPr marL="2514600" indent="-228600" eaLnBrk="0" fontAlgn="base" hangingPunct="0">
              <a:spcBef>
                <a:spcPct val="20000"/>
              </a:spcBef>
              <a:spcAft>
                <a:spcPct val="0"/>
              </a:spcAft>
              <a:buChar char="»"/>
              <a:defRPr sz="2000" b="1" i="1">
                <a:solidFill>
                  <a:schemeClr val="tx1"/>
                </a:solidFill>
                <a:latin typeface="Times" charset="0"/>
              </a:defRPr>
            </a:lvl6pPr>
            <a:lvl7pPr marL="2971800" indent="-228600" eaLnBrk="0" fontAlgn="base" hangingPunct="0">
              <a:spcBef>
                <a:spcPct val="20000"/>
              </a:spcBef>
              <a:spcAft>
                <a:spcPct val="0"/>
              </a:spcAft>
              <a:buChar char="»"/>
              <a:defRPr sz="2000" b="1" i="1">
                <a:solidFill>
                  <a:schemeClr val="tx1"/>
                </a:solidFill>
                <a:latin typeface="Times" charset="0"/>
              </a:defRPr>
            </a:lvl7pPr>
            <a:lvl8pPr marL="3429000" indent="-228600" eaLnBrk="0" fontAlgn="base" hangingPunct="0">
              <a:spcBef>
                <a:spcPct val="20000"/>
              </a:spcBef>
              <a:spcAft>
                <a:spcPct val="0"/>
              </a:spcAft>
              <a:buChar char="»"/>
              <a:defRPr sz="2000" b="1" i="1">
                <a:solidFill>
                  <a:schemeClr val="tx1"/>
                </a:solidFill>
                <a:latin typeface="Times" charset="0"/>
              </a:defRPr>
            </a:lvl8pPr>
            <a:lvl9pPr marL="3886200" indent="-228600" eaLnBrk="0" fontAlgn="base" hangingPunct="0">
              <a:spcBef>
                <a:spcPct val="20000"/>
              </a:spcBef>
              <a:spcAft>
                <a:spcPct val="0"/>
              </a:spcAft>
              <a:buChar char="»"/>
              <a:defRPr sz="2000" b="1" i="1">
                <a:solidFill>
                  <a:schemeClr val="tx1"/>
                </a:solidFill>
                <a:latin typeface="Times" charset="0"/>
              </a:defRPr>
            </a:lvl9pPr>
          </a:lstStyle>
          <a:p>
            <a:pPr eaLnBrk="1" hangingPunct="1">
              <a:spcBef>
                <a:spcPct val="50000"/>
              </a:spcBef>
              <a:buFontTx/>
              <a:buNone/>
            </a:pPr>
            <a:r>
              <a:rPr lang="zh-CN" altLang="en-US" i="0">
                <a:solidFill>
                  <a:srgbClr val="000000"/>
                </a:solidFill>
                <a:latin typeface="Times New Roman" panose="02020603050405020304" pitchFamily="18" charset="0"/>
              </a:rPr>
              <a:t>易知</a:t>
            </a:r>
            <a:r>
              <a:rPr lang="en-US" altLang="zh-CN" i="0">
                <a:solidFill>
                  <a:srgbClr val="000000"/>
                </a:solidFill>
                <a:latin typeface="Times New Roman" panose="02020603050405020304" pitchFamily="18" charset="0"/>
              </a:rPr>
              <a:t>:</a:t>
            </a:r>
            <a:endParaRPr lang="en-US" altLang="zh-CN" i="0">
              <a:solidFill>
                <a:srgbClr val="000000"/>
              </a:solidFill>
              <a:latin typeface="Times New Roman" panose="02020603050405020304" pitchFamily="18" charset="0"/>
            </a:endParaRPr>
          </a:p>
        </p:txBody>
      </p:sp>
      <p:graphicFrame>
        <p:nvGraphicFramePr>
          <p:cNvPr id="34" name="Group 3"/>
          <p:cNvGraphicFramePr>
            <a:graphicFrameLocks noGrp="1"/>
          </p:cNvGraphicFramePr>
          <p:nvPr/>
        </p:nvGraphicFramePr>
        <p:xfrm>
          <a:off x="2395951" y="2032496"/>
          <a:ext cx="2903537" cy="1368425"/>
        </p:xfrm>
        <a:graphic>
          <a:graphicData uri="http://schemas.openxmlformats.org/drawingml/2006/table">
            <a:tbl>
              <a:tblPr/>
              <a:tblGrid>
                <a:gridCol w="968375"/>
                <a:gridCol w="966787"/>
                <a:gridCol w="968375"/>
              </a:tblGrid>
              <a:tr h="657225">
                <a:tc>
                  <a:txBody>
                    <a:bodyPr/>
                    <a:lstStyle>
                      <a:lvl1pPr eaLnBrk="0" hangingPunct="0">
                        <a:defRPr sz="2800" b="1" i="1">
                          <a:solidFill>
                            <a:schemeClr val="tx1"/>
                          </a:solidFill>
                          <a:latin typeface="Times" charset="0"/>
                        </a:defRPr>
                      </a:lvl1pPr>
                      <a:lvl2pPr eaLnBrk="0" hangingPunct="0">
                        <a:defRPr sz="2400" b="1" i="1">
                          <a:solidFill>
                            <a:schemeClr val="tx1"/>
                          </a:solidFill>
                          <a:latin typeface="Times" charset="0"/>
                        </a:defRPr>
                      </a:lvl2pPr>
                      <a:lvl3pPr eaLnBrk="0" hangingPunct="0">
                        <a:defRPr sz="2000" b="1" i="1">
                          <a:solidFill>
                            <a:schemeClr val="tx1"/>
                          </a:solidFill>
                          <a:latin typeface="Times" charset="0"/>
                        </a:defRPr>
                      </a:lvl3pPr>
                      <a:lvl4pPr eaLnBrk="0" hangingPunct="0">
                        <a:defRPr b="1" i="1">
                          <a:solidFill>
                            <a:schemeClr val="tx1"/>
                          </a:solidFill>
                          <a:latin typeface="Times" charset="0"/>
                        </a:defRPr>
                      </a:lvl4pPr>
                      <a:lvl5pPr eaLnBrk="0" hangingPunct="0">
                        <a:defRPr b="1" i="1">
                          <a:solidFill>
                            <a:schemeClr val="tx1"/>
                          </a:solidFill>
                          <a:latin typeface="Times" charset="0"/>
                        </a:defRPr>
                      </a:lvl5pPr>
                      <a:lvl6pPr eaLnBrk="0" fontAlgn="base" hangingPunct="0">
                        <a:spcBef>
                          <a:spcPct val="20000"/>
                        </a:spcBef>
                        <a:spcAft>
                          <a:spcPct val="0"/>
                        </a:spcAft>
                        <a:defRPr b="1" i="1">
                          <a:solidFill>
                            <a:schemeClr val="tx1"/>
                          </a:solidFill>
                          <a:latin typeface="Times" charset="0"/>
                        </a:defRPr>
                      </a:lvl6pPr>
                      <a:lvl7pPr eaLnBrk="0" fontAlgn="base" hangingPunct="0">
                        <a:spcBef>
                          <a:spcPct val="20000"/>
                        </a:spcBef>
                        <a:spcAft>
                          <a:spcPct val="0"/>
                        </a:spcAft>
                        <a:defRPr b="1" i="1">
                          <a:solidFill>
                            <a:schemeClr val="tx1"/>
                          </a:solidFill>
                          <a:latin typeface="Times" charset="0"/>
                        </a:defRPr>
                      </a:lvl7pPr>
                      <a:lvl8pPr eaLnBrk="0" fontAlgn="base" hangingPunct="0">
                        <a:spcBef>
                          <a:spcPct val="20000"/>
                        </a:spcBef>
                        <a:spcAft>
                          <a:spcPct val="0"/>
                        </a:spcAft>
                        <a:defRPr b="1" i="1">
                          <a:solidFill>
                            <a:schemeClr val="tx1"/>
                          </a:solidFill>
                          <a:latin typeface="Times" charset="0"/>
                        </a:defRPr>
                      </a:lvl8pPr>
                      <a:lvl9pPr eaLnBrk="0" fontAlgn="base" hangingPunct="0">
                        <a:spcBef>
                          <a:spcPct val="20000"/>
                        </a:spcBef>
                        <a:spcAft>
                          <a:spcPct val="0"/>
                        </a:spcAft>
                        <a:defRPr b="1" i="1">
                          <a:solidFill>
                            <a:schemeClr val="tx1"/>
                          </a:solidFill>
                          <a:latin typeface="Times"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3200" b="0" i="1" u="none" strike="noStrike" cap="none" normalizeH="0" baseline="0">
                          <a:ln>
                            <a:noFill/>
                          </a:ln>
                          <a:solidFill>
                            <a:schemeClr val="tx1"/>
                          </a:solidFill>
                          <a:effectLst/>
                          <a:latin typeface="Times" charset="0"/>
                          <a:ea typeface="宋体" panose="02010600030101010101" pitchFamily="2" charset="-122"/>
                        </a:rPr>
                        <a:t>X</a:t>
                      </a:r>
                      <a:endParaRPr kumimoji="0" lang="en-US" altLang="zh-CN" sz="3200" b="0" i="1" u="none" strike="noStrike" cap="none" normalizeH="0" baseline="0">
                        <a:ln>
                          <a:noFill/>
                        </a:ln>
                        <a:solidFill>
                          <a:schemeClr val="tx1"/>
                        </a:solidFill>
                        <a:effectLst/>
                        <a:latin typeface="Times"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800" b="1" i="1">
                          <a:solidFill>
                            <a:schemeClr val="tx1"/>
                          </a:solidFill>
                          <a:latin typeface="Times" charset="0"/>
                        </a:defRPr>
                      </a:lvl1pPr>
                      <a:lvl2pPr eaLnBrk="0" hangingPunct="0">
                        <a:defRPr sz="2400" b="1" i="1">
                          <a:solidFill>
                            <a:schemeClr val="tx1"/>
                          </a:solidFill>
                          <a:latin typeface="Times" charset="0"/>
                        </a:defRPr>
                      </a:lvl2pPr>
                      <a:lvl3pPr eaLnBrk="0" hangingPunct="0">
                        <a:defRPr sz="2000" b="1" i="1">
                          <a:solidFill>
                            <a:schemeClr val="tx1"/>
                          </a:solidFill>
                          <a:latin typeface="Times" charset="0"/>
                        </a:defRPr>
                      </a:lvl3pPr>
                      <a:lvl4pPr eaLnBrk="0" hangingPunct="0">
                        <a:defRPr b="1" i="1">
                          <a:solidFill>
                            <a:schemeClr val="tx1"/>
                          </a:solidFill>
                          <a:latin typeface="Times" charset="0"/>
                        </a:defRPr>
                      </a:lvl4pPr>
                      <a:lvl5pPr eaLnBrk="0" hangingPunct="0">
                        <a:defRPr b="1" i="1">
                          <a:solidFill>
                            <a:schemeClr val="tx1"/>
                          </a:solidFill>
                          <a:latin typeface="Times" charset="0"/>
                        </a:defRPr>
                      </a:lvl5pPr>
                      <a:lvl6pPr eaLnBrk="0" fontAlgn="base" hangingPunct="0">
                        <a:spcBef>
                          <a:spcPct val="20000"/>
                        </a:spcBef>
                        <a:spcAft>
                          <a:spcPct val="0"/>
                        </a:spcAft>
                        <a:defRPr b="1" i="1">
                          <a:solidFill>
                            <a:schemeClr val="tx1"/>
                          </a:solidFill>
                          <a:latin typeface="Times" charset="0"/>
                        </a:defRPr>
                      </a:lvl6pPr>
                      <a:lvl7pPr eaLnBrk="0" fontAlgn="base" hangingPunct="0">
                        <a:spcBef>
                          <a:spcPct val="20000"/>
                        </a:spcBef>
                        <a:spcAft>
                          <a:spcPct val="0"/>
                        </a:spcAft>
                        <a:defRPr b="1" i="1">
                          <a:solidFill>
                            <a:schemeClr val="tx1"/>
                          </a:solidFill>
                          <a:latin typeface="Times" charset="0"/>
                        </a:defRPr>
                      </a:lvl7pPr>
                      <a:lvl8pPr eaLnBrk="0" fontAlgn="base" hangingPunct="0">
                        <a:spcBef>
                          <a:spcPct val="20000"/>
                        </a:spcBef>
                        <a:spcAft>
                          <a:spcPct val="0"/>
                        </a:spcAft>
                        <a:defRPr b="1" i="1">
                          <a:solidFill>
                            <a:schemeClr val="tx1"/>
                          </a:solidFill>
                          <a:latin typeface="Times" charset="0"/>
                        </a:defRPr>
                      </a:lvl8pPr>
                      <a:lvl9pPr eaLnBrk="0" fontAlgn="base" hangingPunct="0">
                        <a:spcBef>
                          <a:spcPct val="20000"/>
                        </a:spcBef>
                        <a:spcAft>
                          <a:spcPct val="0"/>
                        </a:spcAft>
                        <a:defRPr b="1" i="1">
                          <a:solidFill>
                            <a:schemeClr val="tx1"/>
                          </a:solidFill>
                          <a:latin typeface="Times"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3200" b="0" i="1" u="none" strike="noStrike" cap="none" normalizeH="0" baseline="0">
                          <a:ln>
                            <a:noFill/>
                          </a:ln>
                          <a:solidFill>
                            <a:schemeClr val="tx1"/>
                          </a:solidFill>
                          <a:effectLst/>
                          <a:latin typeface="Times" charset="0"/>
                          <a:ea typeface="宋体" panose="02010600030101010101" pitchFamily="2" charset="-122"/>
                        </a:rPr>
                        <a:t>0</a:t>
                      </a:r>
                      <a:endParaRPr kumimoji="0" lang="en-US" altLang="zh-CN" sz="3200" b="0" i="1" u="none" strike="noStrike" cap="none" normalizeH="0" baseline="0">
                        <a:ln>
                          <a:noFill/>
                        </a:ln>
                        <a:solidFill>
                          <a:schemeClr val="tx1"/>
                        </a:solidFill>
                        <a:effectLst/>
                        <a:latin typeface="Times"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800" b="1" i="1">
                          <a:solidFill>
                            <a:schemeClr val="tx1"/>
                          </a:solidFill>
                          <a:latin typeface="Times" charset="0"/>
                        </a:defRPr>
                      </a:lvl1pPr>
                      <a:lvl2pPr eaLnBrk="0" hangingPunct="0">
                        <a:defRPr sz="2400" b="1" i="1">
                          <a:solidFill>
                            <a:schemeClr val="tx1"/>
                          </a:solidFill>
                          <a:latin typeface="Times" charset="0"/>
                        </a:defRPr>
                      </a:lvl2pPr>
                      <a:lvl3pPr eaLnBrk="0" hangingPunct="0">
                        <a:defRPr sz="2000" b="1" i="1">
                          <a:solidFill>
                            <a:schemeClr val="tx1"/>
                          </a:solidFill>
                          <a:latin typeface="Times" charset="0"/>
                        </a:defRPr>
                      </a:lvl3pPr>
                      <a:lvl4pPr eaLnBrk="0" hangingPunct="0">
                        <a:defRPr b="1" i="1">
                          <a:solidFill>
                            <a:schemeClr val="tx1"/>
                          </a:solidFill>
                          <a:latin typeface="Times" charset="0"/>
                        </a:defRPr>
                      </a:lvl4pPr>
                      <a:lvl5pPr eaLnBrk="0" hangingPunct="0">
                        <a:defRPr b="1" i="1">
                          <a:solidFill>
                            <a:schemeClr val="tx1"/>
                          </a:solidFill>
                          <a:latin typeface="Times" charset="0"/>
                        </a:defRPr>
                      </a:lvl5pPr>
                      <a:lvl6pPr eaLnBrk="0" fontAlgn="base" hangingPunct="0">
                        <a:spcBef>
                          <a:spcPct val="20000"/>
                        </a:spcBef>
                        <a:spcAft>
                          <a:spcPct val="0"/>
                        </a:spcAft>
                        <a:defRPr b="1" i="1">
                          <a:solidFill>
                            <a:schemeClr val="tx1"/>
                          </a:solidFill>
                          <a:latin typeface="Times" charset="0"/>
                        </a:defRPr>
                      </a:lvl6pPr>
                      <a:lvl7pPr eaLnBrk="0" fontAlgn="base" hangingPunct="0">
                        <a:spcBef>
                          <a:spcPct val="20000"/>
                        </a:spcBef>
                        <a:spcAft>
                          <a:spcPct val="0"/>
                        </a:spcAft>
                        <a:defRPr b="1" i="1">
                          <a:solidFill>
                            <a:schemeClr val="tx1"/>
                          </a:solidFill>
                          <a:latin typeface="Times" charset="0"/>
                        </a:defRPr>
                      </a:lvl7pPr>
                      <a:lvl8pPr eaLnBrk="0" fontAlgn="base" hangingPunct="0">
                        <a:spcBef>
                          <a:spcPct val="20000"/>
                        </a:spcBef>
                        <a:spcAft>
                          <a:spcPct val="0"/>
                        </a:spcAft>
                        <a:defRPr b="1" i="1">
                          <a:solidFill>
                            <a:schemeClr val="tx1"/>
                          </a:solidFill>
                          <a:latin typeface="Times" charset="0"/>
                        </a:defRPr>
                      </a:lvl8pPr>
                      <a:lvl9pPr eaLnBrk="0" fontAlgn="base" hangingPunct="0">
                        <a:spcBef>
                          <a:spcPct val="20000"/>
                        </a:spcBef>
                        <a:spcAft>
                          <a:spcPct val="0"/>
                        </a:spcAft>
                        <a:defRPr b="1" i="1">
                          <a:solidFill>
                            <a:schemeClr val="tx1"/>
                          </a:solidFill>
                          <a:latin typeface="Times"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3200" b="0" i="1" u="none" strike="noStrike" cap="none" normalizeH="0" baseline="0">
                          <a:ln>
                            <a:noFill/>
                          </a:ln>
                          <a:solidFill>
                            <a:schemeClr val="tx1"/>
                          </a:solidFill>
                          <a:effectLst/>
                          <a:latin typeface="Times" charset="0"/>
                          <a:ea typeface="宋体" panose="02010600030101010101" pitchFamily="2" charset="-122"/>
                        </a:rPr>
                        <a:t>1</a:t>
                      </a:r>
                      <a:endParaRPr kumimoji="0" lang="en-US" altLang="zh-CN" sz="3200" b="0" i="1" u="none" strike="noStrike" cap="none" normalizeH="0" baseline="0">
                        <a:ln>
                          <a:noFill/>
                        </a:ln>
                        <a:solidFill>
                          <a:schemeClr val="tx1"/>
                        </a:solidFill>
                        <a:effectLst/>
                        <a:latin typeface="Times"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11200">
                <a:tc>
                  <a:txBody>
                    <a:bodyPr/>
                    <a:lstStyle>
                      <a:lvl1pPr eaLnBrk="0" hangingPunct="0">
                        <a:defRPr sz="2800" b="1" i="1">
                          <a:solidFill>
                            <a:schemeClr val="tx1"/>
                          </a:solidFill>
                          <a:latin typeface="Times" charset="0"/>
                        </a:defRPr>
                      </a:lvl1pPr>
                      <a:lvl2pPr eaLnBrk="0" hangingPunct="0">
                        <a:defRPr sz="2400" b="1" i="1">
                          <a:solidFill>
                            <a:schemeClr val="tx1"/>
                          </a:solidFill>
                          <a:latin typeface="Times" charset="0"/>
                        </a:defRPr>
                      </a:lvl2pPr>
                      <a:lvl3pPr eaLnBrk="0" hangingPunct="0">
                        <a:defRPr sz="2000" b="1" i="1">
                          <a:solidFill>
                            <a:schemeClr val="tx1"/>
                          </a:solidFill>
                          <a:latin typeface="Times" charset="0"/>
                        </a:defRPr>
                      </a:lvl3pPr>
                      <a:lvl4pPr eaLnBrk="0" hangingPunct="0">
                        <a:defRPr b="1" i="1">
                          <a:solidFill>
                            <a:schemeClr val="tx1"/>
                          </a:solidFill>
                          <a:latin typeface="Times" charset="0"/>
                        </a:defRPr>
                      </a:lvl4pPr>
                      <a:lvl5pPr eaLnBrk="0" hangingPunct="0">
                        <a:defRPr b="1" i="1">
                          <a:solidFill>
                            <a:schemeClr val="tx1"/>
                          </a:solidFill>
                          <a:latin typeface="Times" charset="0"/>
                        </a:defRPr>
                      </a:lvl5pPr>
                      <a:lvl6pPr eaLnBrk="0" fontAlgn="base" hangingPunct="0">
                        <a:spcBef>
                          <a:spcPct val="20000"/>
                        </a:spcBef>
                        <a:spcAft>
                          <a:spcPct val="0"/>
                        </a:spcAft>
                        <a:defRPr b="1" i="1">
                          <a:solidFill>
                            <a:schemeClr val="tx1"/>
                          </a:solidFill>
                          <a:latin typeface="Times" charset="0"/>
                        </a:defRPr>
                      </a:lvl6pPr>
                      <a:lvl7pPr eaLnBrk="0" fontAlgn="base" hangingPunct="0">
                        <a:spcBef>
                          <a:spcPct val="20000"/>
                        </a:spcBef>
                        <a:spcAft>
                          <a:spcPct val="0"/>
                        </a:spcAft>
                        <a:defRPr b="1" i="1">
                          <a:solidFill>
                            <a:schemeClr val="tx1"/>
                          </a:solidFill>
                          <a:latin typeface="Times" charset="0"/>
                        </a:defRPr>
                      </a:lvl7pPr>
                      <a:lvl8pPr eaLnBrk="0" fontAlgn="base" hangingPunct="0">
                        <a:spcBef>
                          <a:spcPct val="20000"/>
                        </a:spcBef>
                        <a:spcAft>
                          <a:spcPct val="0"/>
                        </a:spcAft>
                        <a:defRPr b="1" i="1">
                          <a:solidFill>
                            <a:schemeClr val="tx1"/>
                          </a:solidFill>
                          <a:latin typeface="Times" charset="0"/>
                        </a:defRPr>
                      </a:lvl8pPr>
                      <a:lvl9pPr eaLnBrk="0" fontAlgn="base" hangingPunct="0">
                        <a:spcBef>
                          <a:spcPct val="20000"/>
                        </a:spcBef>
                        <a:spcAft>
                          <a:spcPct val="0"/>
                        </a:spcAft>
                        <a:defRPr b="1" i="1">
                          <a:solidFill>
                            <a:schemeClr val="tx1"/>
                          </a:solidFill>
                          <a:latin typeface="Times"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zh-CN" sz="3200" b="0" i="1" u="none" strike="noStrike" cap="none" normalizeH="0" baseline="-25000">
                        <a:ln>
                          <a:noFill/>
                        </a:ln>
                        <a:solidFill>
                          <a:schemeClr val="tx1"/>
                        </a:solidFill>
                        <a:effectLst/>
                        <a:latin typeface="Times"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800" b="1" i="1">
                          <a:solidFill>
                            <a:schemeClr val="tx1"/>
                          </a:solidFill>
                          <a:latin typeface="Times" charset="0"/>
                        </a:defRPr>
                      </a:lvl1pPr>
                      <a:lvl2pPr eaLnBrk="0" hangingPunct="0">
                        <a:defRPr sz="2400" b="1" i="1">
                          <a:solidFill>
                            <a:schemeClr val="tx1"/>
                          </a:solidFill>
                          <a:latin typeface="Times" charset="0"/>
                        </a:defRPr>
                      </a:lvl2pPr>
                      <a:lvl3pPr eaLnBrk="0" hangingPunct="0">
                        <a:defRPr sz="2000" b="1" i="1">
                          <a:solidFill>
                            <a:schemeClr val="tx1"/>
                          </a:solidFill>
                          <a:latin typeface="Times" charset="0"/>
                        </a:defRPr>
                      </a:lvl3pPr>
                      <a:lvl4pPr eaLnBrk="0" hangingPunct="0">
                        <a:defRPr b="1" i="1">
                          <a:solidFill>
                            <a:schemeClr val="tx1"/>
                          </a:solidFill>
                          <a:latin typeface="Times" charset="0"/>
                        </a:defRPr>
                      </a:lvl4pPr>
                      <a:lvl5pPr eaLnBrk="0" hangingPunct="0">
                        <a:defRPr b="1" i="1">
                          <a:solidFill>
                            <a:schemeClr val="tx1"/>
                          </a:solidFill>
                          <a:latin typeface="Times" charset="0"/>
                        </a:defRPr>
                      </a:lvl5pPr>
                      <a:lvl6pPr eaLnBrk="0" fontAlgn="base" hangingPunct="0">
                        <a:spcBef>
                          <a:spcPct val="20000"/>
                        </a:spcBef>
                        <a:spcAft>
                          <a:spcPct val="0"/>
                        </a:spcAft>
                        <a:defRPr b="1" i="1">
                          <a:solidFill>
                            <a:schemeClr val="tx1"/>
                          </a:solidFill>
                          <a:latin typeface="Times" charset="0"/>
                        </a:defRPr>
                      </a:lvl6pPr>
                      <a:lvl7pPr eaLnBrk="0" fontAlgn="base" hangingPunct="0">
                        <a:spcBef>
                          <a:spcPct val="20000"/>
                        </a:spcBef>
                        <a:spcAft>
                          <a:spcPct val="0"/>
                        </a:spcAft>
                        <a:defRPr b="1" i="1">
                          <a:solidFill>
                            <a:schemeClr val="tx1"/>
                          </a:solidFill>
                          <a:latin typeface="Times" charset="0"/>
                        </a:defRPr>
                      </a:lvl7pPr>
                      <a:lvl8pPr eaLnBrk="0" fontAlgn="base" hangingPunct="0">
                        <a:spcBef>
                          <a:spcPct val="20000"/>
                        </a:spcBef>
                        <a:spcAft>
                          <a:spcPct val="0"/>
                        </a:spcAft>
                        <a:defRPr b="1" i="1">
                          <a:solidFill>
                            <a:schemeClr val="tx1"/>
                          </a:solidFill>
                          <a:latin typeface="Times" charset="0"/>
                        </a:defRPr>
                      </a:lvl8pPr>
                      <a:lvl9pPr eaLnBrk="0" fontAlgn="base" hangingPunct="0">
                        <a:spcBef>
                          <a:spcPct val="20000"/>
                        </a:spcBef>
                        <a:spcAft>
                          <a:spcPct val="0"/>
                        </a:spcAft>
                        <a:defRPr b="1" i="1">
                          <a:solidFill>
                            <a:schemeClr val="tx1"/>
                          </a:solidFill>
                          <a:latin typeface="Times"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zh-CN" sz="3200" b="0" i="1" u="none" strike="noStrike" cap="none" normalizeH="0" baseline="0">
                        <a:ln>
                          <a:noFill/>
                        </a:ln>
                        <a:solidFill>
                          <a:schemeClr val="tx1"/>
                        </a:solidFill>
                        <a:effectLst/>
                        <a:latin typeface="Times"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800" b="1" i="1">
                          <a:solidFill>
                            <a:schemeClr val="tx1"/>
                          </a:solidFill>
                          <a:latin typeface="Times" charset="0"/>
                        </a:defRPr>
                      </a:lvl1pPr>
                      <a:lvl2pPr eaLnBrk="0" hangingPunct="0">
                        <a:defRPr sz="2400" b="1" i="1">
                          <a:solidFill>
                            <a:schemeClr val="tx1"/>
                          </a:solidFill>
                          <a:latin typeface="Times" charset="0"/>
                        </a:defRPr>
                      </a:lvl2pPr>
                      <a:lvl3pPr eaLnBrk="0" hangingPunct="0">
                        <a:defRPr sz="2000" b="1" i="1">
                          <a:solidFill>
                            <a:schemeClr val="tx1"/>
                          </a:solidFill>
                          <a:latin typeface="Times" charset="0"/>
                        </a:defRPr>
                      </a:lvl3pPr>
                      <a:lvl4pPr eaLnBrk="0" hangingPunct="0">
                        <a:defRPr b="1" i="1">
                          <a:solidFill>
                            <a:schemeClr val="tx1"/>
                          </a:solidFill>
                          <a:latin typeface="Times" charset="0"/>
                        </a:defRPr>
                      </a:lvl4pPr>
                      <a:lvl5pPr eaLnBrk="0" hangingPunct="0">
                        <a:defRPr b="1" i="1">
                          <a:solidFill>
                            <a:schemeClr val="tx1"/>
                          </a:solidFill>
                          <a:latin typeface="Times" charset="0"/>
                        </a:defRPr>
                      </a:lvl5pPr>
                      <a:lvl6pPr eaLnBrk="0" fontAlgn="base" hangingPunct="0">
                        <a:spcBef>
                          <a:spcPct val="20000"/>
                        </a:spcBef>
                        <a:spcAft>
                          <a:spcPct val="0"/>
                        </a:spcAft>
                        <a:defRPr b="1" i="1">
                          <a:solidFill>
                            <a:schemeClr val="tx1"/>
                          </a:solidFill>
                          <a:latin typeface="Times" charset="0"/>
                        </a:defRPr>
                      </a:lvl6pPr>
                      <a:lvl7pPr eaLnBrk="0" fontAlgn="base" hangingPunct="0">
                        <a:spcBef>
                          <a:spcPct val="20000"/>
                        </a:spcBef>
                        <a:spcAft>
                          <a:spcPct val="0"/>
                        </a:spcAft>
                        <a:defRPr b="1" i="1">
                          <a:solidFill>
                            <a:schemeClr val="tx1"/>
                          </a:solidFill>
                          <a:latin typeface="Times" charset="0"/>
                        </a:defRPr>
                      </a:lvl7pPr>
                      <a:lvl8pPr eaLnBrk="0" fontAlgn="base" hangingPunct="0">
                        <a:spcBef>
                          <a:spcPct val="20000"/>
                        </a:spcBef>
                        <a:spcAft>
                          <a:spcPct val="0"/>
                        </a:spcAft>
                        <a:defRPr b="1" i="1">
                          <a:solidFill>
                            <a:schemeClr val="tx1"/>
                          </a:solidFill>
                          <a:latin typeface="Times" charset="0"/>
                        </a:defRPr>
                      </a:lvl8pPr>
                      <a:lvl9pPr eaLnBrk="0" fontAlgn="base" hangingPunct="0">
                        <a:spcBef>
                          <a:spcPct val="20000"/>
                        </a:spcBef>
                        <a:spcAft>
                          <a:spcPct val="0"/>
                        </a:spcAft>
                        <a:defRPr b="1" i="1">
                          <a:solidFill>
                            <a:schemeClr val="tx1"/>
                          </a:solidFill>
                          <a:latin typeface="Times"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zh-CN" sz="3200" b="0" i="1" u="none" strike="noStrike" cap="none" normalizeH="0" baseline="0">
                        <a:ln>
                          <a:noFill/>
                        </a:ln>
                        <a:solidFill>
                          <a:schemeClr val="tx1"/>
                        </a:solidFill>
                        <a:effectLst/>
                        <a:latin typeface="Times"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5" name="Group 17"/>
          <p:cNvGraphicFramePr>
            <a:graphicFrameLocks noGrp="1"/>
          </p:cNvGraphicFramePr>
          <p:nvPr/>
        </p:nvGraphicFramePr>
        <p:xfrm>
          <a:off x="6139276" y="2032496"/>
          <a:ext cx="2903537" cy="1368425"/>
        </p:xfrm>
        <a:graphic>
          <a:graphicData uri="http://schemas.openxmlformats.org/drawingml/2006/table">
            <a:tbl>
              <a:tblPr/>
              <a:tblGrid>
                <a:gridCol w="968375"/>
                <a:gridCol w="966787"/>
                <a:gridCol w="968375"/>
              </a:tblGrid>
              <a:tr h="584200">
                <a:tc>
                  <a:txBody>
                    <a:bodyPr/>
                    <a:lstStyle>
                      <a:lvl1pPr eaLnBrk="0" hangingPunct="0">
                        <a:defRPr sz="2800" b="1" i="1">
                          <a:solidFill>
                            <a:schemeClr val="tx1"/>
                          </a:solidFill>
                          <a:latin typeface="Times" charset="0"/>
                        </a:defRPr>
                      </a:lvl1pPr>
                      <a:lvl2pPr eaLnBrk="0" hangingPunct="0">
                        <a:defRPr sz="2400" b="1" i="1">
                          <a:solidFill>
                            <a:schemeClr val="tx1"/>
                          </a:solidFill>
                          <a:latin typeface="Times" charset="0"/>
                        </a:defRPr>
                      </a:lvl2pPr>
                      <a:lvl3pPr eaLnBrk="0" hangingPunct="0">
                        <a:defRPr sz="2000" b="1" i="1">
                          <a:solidFill>
                            <a:schemeClr val="tx1"/>
                          </a:solidFill>
                          <a:latin typeface="Times" charset="0"/>
                        </a:defRPr>
                      </a:lvl3pPr>
                      <a:lvl4pPr eaLnBrk="0" hangingPunct="0">
                        <a:defRPr b="1" i="1">
                          <a:solidFill>
                            <a:schemeClr val="tx1"/>
                          </a:solidFill>
                          <a:latin typeface="Times" charset="0"/>
                        </a:defRPr>
                      </a:lvl4pPr>
                      <a:lvl5pPr eaLnBrk="0" hangingPunct="0">
                        <a:defRPr b="1" i="1">
                          <a:solidFill>
                            <a:schemeClr val="tx1"/>
                          </a:solidFill>
                          <a:latin typeface="Times" charset="0"/>
                        </a:defRPr>
                      </a:lvl5pPr>
                      <a:lvl6pPr eaLnBrk="0" fontAlgn="base" hangingPunct="0">
                        <a:spcBef>
                          <a:spcPct val="20000"/>
                        </a:spcBef>
                        <a:spcAft>
                          <a:spcPct val="0"/>
                        </a:spcAft>
                        <a:defRPr b="1" i="1">
                          <a:solidFill>
                            <a:schemeClr val="tx1"/>
                          </a:solidFill>
                          <a:latin typeface="Times" charset="0"/>
                        </a:defRPr>
                      </a:lvl6pPr>
                      <a:lvl7pPr eaLnBrk="0" fontAlgn="base" hangingPunct="0">
                        <a:spcBef>
                          <a:spcPct val="20000"/>
                        </a:spcBef>
                        <a:spcAft>
                          <a:spcPct val="0"/>
                        </a:spcAft>
                        <a:defRPr b="1" i="1">
                          <a:solidFill>
                            <a:schemeClr val="tx1"/>
                          </a:solidFill>
                          <a:latin typeface="Times" charset="0"/>
                        </a:defRPr>
                      </a:lvl7pPr>
                      <a:lvl8pPr eaLnBrk="0" fontAlgn="base" hangingPunct="0">
                        <a:spcBef>
                          <a:spcPct val="20000"/>
                        </a:spcBef>
                        <a:spcAft>
                          <a:spcPct val="0"/>
                        </a:spcAft>
                        <a:defRPr b="1" i="1">
                          <a:solidFill>
                            <a:schemeClr val="tx1"/>
                          </a:solidFill>
                          <a:latin typeface="Times" charset="0"/>
                        </a:defRPr>
                      </a:lvl8pPr>
                      <a:lvl9pPr eaLnBrk="0" fontAlgn="base" hangingPunct="0">
                        <a:spcBef>
                          <a:spcPct val="20000"/>
                        </a:spcBef>
                        <a:spcAft>
                          <a:spcPct val="0"/>
                        </a:spcAft>
                        <a:defRPr b="1" i="1">
                          <a:solidFill>
                            <a:schemeClr val="tx1"/>
                          </a:solidFill>
                          <a:latin typeface="Times"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3200" b="0" i="1" u="none" strike="noStrike" cap="none" normalizeH="0" baseline="0">
                          <a:ln>
                            <a:noFill/>
                          </a:ln>
                          <a:solidFill>
                            <a:schemeClr val="tx1"/>
                          </a:solidFill>
                          <a:effectLst/>
                          <a:latin typeface="Times" charset="0"/>
                          <a:ea typeface="宋体" panose="02010600030101010101" pitchFamily="2" charset="-122"/>
                        </a:rPr>
                        <a:t>Y</a:t>
                      </a:r>
                      <a:endParaRPr kumimoji="0" lang="en-US" altLang="zh-CN" sz="3200" b="0" i="1" u="none" strike="noStrike" cap="none" normalizeH="0" baseline="0">
                        <a:ln>
                          <a:noFill/>
                        </a:ln>
                        <a:solidFill>
                          <a:schemeClr val="tx1"/>
                        </a:solidFill>
                        <a:effectLst/>
                        <a:latin typeface="Times"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800" b="1" i="1">
                          <a:solidFill>
                            <a:schemeClr val="tx1"/>
                          </a:solidFill>
                          <a:latin typeface="Times" charset="0"/>
                        </a:defRPr>
                      </a:lvl1pPr>
                      <a:lvl2pPr eaLnBrk="0" hangingPunct="0">
                        <a:defRPr sz="2400" b="1" i="1">
                          <a:solidFill>
                            <a:schemeClr val="tx1"/>
                          </a:solidFill>
                          <a:latin typeface="Times" charset="0"/>
                        </a:defRPr>
                      </a:lvl2pPr>
                      <a:lvl3pPr eaLnBrk="0" hangingPunct="0">
                        <a:defRPr sz="2000" b="1" i="1">
                          <a:solidFill>
                            <a:schemeClr val="tx1"/>
                          </a:solidFill>
                          <a:latin typeface="Times" charset="0"/>
                        </a:defRPr>
                      </a:lvl3pPr>
                      <a:lvl4pPr eaLnBrk="0" hangingPunct="0">
                        <a:defRPr b="1" i="1">
                          <a:solidFill>
                            <a:schemeClr val="tx1"/>
                          </a:solidFill>
                          <a:latin typeface="Times" charset="0"/>
                        </a:defRPr>
                      </a:lvl4pPr>
                      <a:lvl5pPr eaLnBrk="0" hangingPunct="0">
                        <a:defRPr b="1" i="1">
                          <a:solidFill>
                            <a:schemeClr val="tx1"/>
                          </a:solidFill>
                          <a:latin typeface="Times" charset="0"/>
                        </a:defRPr>
                      </a:lvl5pPr>
                      <a:lvl6pPr eaLnBrk="0" fontAlgn="base" hangingPunct="0">
                        <a:spcBef>
                          <a:spcPct val="20000"/>
                        </a:spcBef>
                        <a:spcAft>
                          <a:spcPct val="0"/>
                        </a:spcAft>
                        <a:defRPr b="1" i="1">
                          <a:solidFill>
                            <a:schemeClr val="tx1"/>
                          </a:solidFill>
                          <a:latin typeface="Times" charset="0"/>
                        </a:defRPr>
                      </a:lvl6pPr>
                      <a:lvl7pPr eaLnBrk="0" fontAlgn="base" hangingPunct="0">
                        <a:spcBef>
                          <a:spcPct val="20000"/>
                        </a:spcBef>
                        <a:spcAft>
                          <a:spcPct val="0"/>
                        </a:spcAft>
                        <a:defRPr b="1" i="1">
                          <a:solidFill>
                            <a:schemeClr val="tx1"/>
                          </a:solidFill>
                          <a:latin typeface="Times" charset="0"/>
                        </a:defRPr>
                      </a:lvl7pPr>
                      <a:lvl8pPr eaLnBrk="0" fontAlgn="base" hangingPunct="0">
                        <a:spcBef>
                          <a:spcPct val="20000"/>
                        </a:spcBef>
                        <a:spcAft>
                          <a:spcPct val="0"/>
                        </a:spcAft>
                        <a:defRPr b="1" i="1">
                          <a:solidFill>
                            <a:schemeClr val="tx1"/>
                          </a:solidFill>
                          <a:latin typeface="Times" charset="0"/>
                        </a:defRPr>
                      </a:lvl8pPr>
                      <a:lvl9pPr eaLnBrk="0" fontAlgn="base" hangingPunct="0">
                        <a:spcBef>
                          <a:spcPct val="20000"/>
                        </a:spcBef>
                        <a:spcAft>
                          <a:spcPct val="0"/>
                        </a:spcAft>
                        <a:defRPr b="1" i="1">
                          <a:solidFill>
                            <a:schemeClr val="tx1"/>
                          </a:solidFill>
                          <a:latin typeface="Times"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3200" b="0" i="1" u="none" strike="noStrike" cap="none" normalizeH="0" baseline="0">
                          <a:ln>
                            <a:noFill/>
                          </a:ln>
                          <a:solidFill>
                            <a:schemeClr val="tx1"/>
                          </a:solidFill>
                          <a:effectLst/>
                          <a:latin typeface="Times" charset="0"/>
                          <a:ea typeface="宋体" panose="02010600030101010101" pitchFamily="2" charset="-122"/>
                        </a:rPr>
                        <a:t>0</a:t>
                      </a:r>
                      <a:endParaRPr kumimoji="0" lang="en-US" altLang="zh-CN" sz="3200" b="0" i="1" u="none" strike="noStrike" cap="none" normalizeH="0" baseline="0">
                        <a:ln>
                          <a:noFill/>
                        </a:ln>
                        <a:solidFill>
                          <a:schemeClr val="tx1"/>
                        </a:solidFill>
                        <a:effectLst/>
                        <a:latin typeface="Times"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800" b="1" i="1">
                          <a:solidFill>
                            <a:schemeClr val="tx1"/>
                          </a:solidFill>
                          <a:latin typeface="Times" charset="0"/>
                        </a:defRPr>
                      </a:lvl1pPr>
                      <a:lvl2pPr eaLnBrk="0" hangingPunct="0">
                        <a:defRPr sz="2400" b="1" i="1">
                          <a:solidFill>
                            <a:schemeClr val="tx1"/>
                          </a:solidFill>
                          <a:latin typeface="Times" charset="0"/>
                        </a:defRPr>
                      </a:lvl2pPr>
                      <a:lvl3pPr eaLnBrk="0" hangingPunct="0">
                        <a:defRPr sz="2000" b="1" i="1">
                          <a:solidFill>
                            <a:schemeClr val="tx1"/>
                          </a:solidFill>
                          <a:latin typeface="Times" charset="0"/>
                        </a:defRPr>
                      </a:lvl3pPr>
                      <a:lvl4pPr eaLnBrk="0" hangingPunct="0">
                        <a:defRPr b="1" i="1">
                          <a:solidFill>
                            <a:schemeClr val="tx1"/>
                          </a:solidFill>
                          <a:latin typeface="Times" charset="0"/>
                        </a:defRPr>
                      </a:lvl4pPr>
                      <a:lvl5pPr eaLnBrk="0" hangingPunct="0">
                        <a:defRPr b="1" i="1">
                          <a:solidFill>
                            <a:schemeClr val="tx1"/>
                          </a:solidFill>
                          <a:latin typeface="Times" charset="0"/>
                        </a:defRPr>
                      </a:lvl5pPr>
                      <a:lvl6pPr eaLnBrk="0" fontAlgn="base" hangingPunct="0">
                        <a:spcBef>
                          <a:spcPct val="20000"/>
                        </a:spcBef>
                        <a:spcAft>
                          <a:spcPct val="0"/>
                        </a:spcAft>
                        <a:defRPr b="1" i="1">
                          <a:solidFill>
                            <a:schemeClr val="tx1"/>
                          </a:solidFill>
                          <a:latin typeface="Times" charset="0"/>
                        </a:defRPr>
                      </a:lvl6pPr>
                      <a:lvl7pPr eaLnBrk="0" fontAlgn="base" hangingPunct="0">
                        <a:spcBef>
                          <a:spcPct val="20000"/>
                        </a:spcBef>
                        <a:spcAft>
                          <a:spcPct val="0"/>
                        </a:spcAft>
                        <a:defRPr b="1" i="1">
                          <a:solidFill>
                            <a:schemeClr val="tx1"/>
                          </a:solidFill>
                          <a:latin typeface="Times" charset="0"/>
                        </a:defRPr>
                      </a:lvl7pPr>
                      <a:lvl8pPr eaLnBrk="0" fontAlgn="base" hangingPunct="0">
                        <a:spcBef>
                          <a:spcPct val="20000"/>
                        </a:spcBef>
                        <a:spcAft>
                          <a:spcPct val="0"/>
                        </a:spcAft>
                        <a:defRPr b="1" i="1">
                          <a:solidFill>
                            <a:schemeClr val="tx1"/>
                          </a:solidFill>
                          <a:latin typeface="Times" charset="0"/>
                        </a:defRPr>
                      </a:lvl8pPr>
                      <a:lvl9pPr eaLnBrk="0" fontAlgn="base" hangingPunct="0">
                        <a:spcBef>
                          <a:spcPct val="20000"/>
                        </a:spcBef>
                        <a:spcAft>
                          <a:spcPct val="0"/>
                        </a:spcAft>
                        <a:defRPr b="1" i="1">
                          <a:solidFill>
                            <a:schemeClr val="tx1"/>
                          </a:solidFill>
                          <a:latin typeface="Times"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en-US" altLang="zh-CN" sz="3200" b="0" i="1" u="none" strike="noStrike" cap="none" normalizeH="0" baseline="0">
                          <a:ln>
                            <a:noFill/>
                          </a:ln>
                          <a:solidFill>
                            <a:schemeClr val="tx1"/>
                          </a:solidFill>
                          <a:effectLst/>
                          <a:latin typeface="Times" charset="0"/>
                          <a:ea typeface="宋体" panose="02010600030101010101" pitchFamily="2" charset="-122"/>
                        </a:rPr>
                        <a:t>1</a:t>
                      </a:r>
                      <a:endParaRPr kumimoji="0" lang="en-US" altLang="zh-CN" sz="3200" b="0" i="1" u="none" strike="noStrike" cap="none" normalizeH="0" baseline="0">
                        <a:ln>
                          <a:noFill/>
                        </a:ln>
                        <a:solidFill>
                          <a:schemeClr val="tx1"/>
                        </a:solidFill>
                        <a:effectLst/>
                        <a:latin typeface="Times"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84225">
                <a:tc>
                  <a:txBody>
                    <a:bodyPr/>
                    <a:lstStyle>
                      <a:lvl1pPr eaLnBrk="0" hangingPunct="0">
                        <a:defRPr sz="2800" b="1" i="1">
                          <a:solidFill>
                            <a:schemeClr val="tx1"/>
                          </a:solidFill>
                          <a:latin typeface="Times" charset="0"/>
                        </a:defRPr>
                      </a:lvl1pPr>
                      <a:lvl2pPr eaLnBrk="0" hangingPunct="0">
                        <a:defRPr sz="2400" b="1" i="1">
                          <a:solidFill>
                            <a:schemeClr val="tx1"/>
                          </a:solidFill>
                          <a:latin typeface="Times" charset="0"/>
                        </a:defRPr>
                      </a:lvl2pPr>
                      <a:lvl3pPr eaLnBrk="0" hangingPunct="0">
                        <a:defRPr sz="2000" b="1" i="1">
                          <a:solidFill>
                            <a:schemeClr val="tx1"/>
                          </a:solidFill>
                          <a:latin typeface="Times" charset="0"/>
                        </a:defRPr>
                      </a:lvl3pPr>
                      <a:lvl4pPr eaLnBrk="0" hangingPunct="0">
                        <a:defRPr b="1" i="1">
                          <a:solidFill>
                            <a:schemeClr val="tx1"/>
                          </a:solidFill>
                          <a:latin typeface="Times" charset="0"/>
                        </a:defRPr>
                      </a:lvl4pPr>
                      <a:lvl5pPr eaLnBrk="0" hangingPunct="0">
                        <a:defRPr b="1" i="1">
                          <a:solidFill>
                            <a:schemeClr val="tx1"/>
                          </a:solidFill>
                          <a:latin typeface="Times" charset="0"/>
                        </a:defRPr>
                      </a:lvl5pPr>
                      <a:lvl6pPr eaLnBrk="0" fontAlgn="base" hangingPunct="0">
                        <a:spcBef>
                          <a:spcPct val="20000"/>
                        </a:spcBef>
                        <a:spcAft>
                          <a:spcPct val="0"/>
                        </a:spcAft>
                        <a:defRPr b="1" i="1">
                          <a:solidFill>
                            <a:schemeClr val="tx1"/>
                          </a:solidFill>
                          <a:latin typeface="Times" charset="0"/>
                        </a:defRPr>
                      </a:lvl6pPr>
                      <a:lvl7pPr eaLnBrk="0" fontAlgn="base" hangingPunct="0">
                        <a:spcBef>
                          <a:spcPct val="20000"/>
                        </a:spcBef>
                        <a:spcAft>
                          <a:spcPct val="0"/>
                        </a:spcAft>
                        <a:defRPr b="1" i="1">
                          <a:solidFill>
                            <a:schemeClr val="tx1"/>
                          </a:solidFill>
                          <a:latin typeface="Times" charset="0"/>
                        </a:defRPr>
                      </a:lvl7pPr>
                      <a:lvl8pPr eaLnBrk="0" fontAlgn="base" hangingPunct="0">
                        <a:spcBef>
                          <a:spcPct val="20000"/>
                        </a:spcBef>
                        <a:spcAft>
                          <a:spcPct val="0"/>
                        </a:spcAft>
                        <a:defRPr b="1" i="1">
                          <a:solidFill>
                            <a:schemeClr val="tx1"/>
                          </a:solidFill>
                          <a:latin typeface="Times" charset="0"/>
                        </a:defRPr>
                      </a:lvl8pPr>
                      <a:lvl9pPr eaLnBrk="0" fontAlgn="base" hangingPunct="0">
                        <a:spcBef>
                          <a:spcPct val="20000"/>
                        </a:spcBef>
                        <a:spcAft>
                          <a:spcPct val="0"/>
                        </a:spcAft>
                        <a:defRPr b="1" i="1">
                          <a:solidFill>
                            <a:schemeClr val="tx1"/>
                          </a:solidFill>
                          <a:latin typeface="Times"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zh-CN" sz="3200" b="0" i="1" u="none" strike="noStrike" cap="none" normalizeH="0" baseline="-25000">
                        <a:ln>
                          <a:noFill/>
                        </a:ln>
                        <a:solidFill>
                          <a:schemeClr val="tx1"/>
                        </a:solidFill>
                        <a:effectLst/>
                        <a:latin typeface="Times"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800" b="1" i="1">
                          <a:solidFill>
                            <a:schemeClr val="tx1"/>
                          </a:solidFill>
                          <a:latin typeface="Times" charset="0"/>
                        </a:defRPr>
                      </a:lvl1pPr>
                      <a:lvl2pPr eaLnBrk="0" hangingPunct="0">
                        <a:defRPr sz="2400" b="1" i="1">
                          <a:solidFill>
                            <a:schemeClr val="tx1"/>
                          </a:solidFill>
                          <a:latin typeface="Times" charset="0"/>
                        </a:defRPr>
                      </a:lvl2pPr>
                      <a:lvl3pPr eaLnBrk="0" hangingPunct="0">
                        <a:defRPr sz="2000" b="1" i="1">
                          <a:solidFill>
                            <a:schemeClr val="tx1"/>
                          </a:solidFill>
                          <a:latin typeface="Times" charset="0"/>
                        </a:defRPr>
                      </a:lvl3pPr>
                      <a:lvl4pPr eaLnBrk="0" hangingPunct="0">
                        <a:defRPr b="1" i="1">
                          <a:solidFill>
                            <a:schemeClr val="tx1"/>
                          </a:solidFill>
                          <a:latin typeface="Times" charset="0"/>
                        </a:defRPr>
                      </a:lvl4pPr>
                      <a:lvl5pPr eaLnBrk="0" hangingPunct="0">
                        <a:defRPr b="1" i="1">
                          <a:solidFill>
                            <a:schemeClr val="tx1"/>
                          </a:solidFill>
                          <a:latin typeface="Times" charset="0"/>
                        </a:defRPr>
                      </a:lvl5pPr>
                      <a:lvl6pPr eaLnBrk="0" fontAlgn="base" hangingPunct="0">
                        <a:spcBef>
                          <a:spcPct val="20000"/>
                        </a:spcBef>
                        <a:spcAft>
                          <a:spcPct val="0"/>
                        </a:spcAft>
                        <a:defRPr b="1" i="1">
                          <a:solidFill>
                            <a:schemeClr val="tx1"/>
                          </a:solidFill>
                          <a:latin typeface="Times" charset="0"/>
                        </a:defRPr>
                      </a:lvl6pPr>
                      <a:lvl7pPr eaLnBrk="0" fontAlgn="base" hangingPunct="0">
                        <a:spcBef>
                          <a:spcPct val="20000"/>
                        </a:spcBef>
                        <a:spcAft>
                          <a:spcPct val="0"/>
                        </a:spcAft>
                        <a:defRPr b="1" i="1">
                          <a:solidFill>
                            <a:schemeClr val="tx1"/>
                          </a:solidFill>
                          <a:latin typeface="Times" charset="0"/>
                        </a:defRPr>
                      </a:lvl7pPr>
                      <a:lvl8pPr eaLnBrk="0" fontAlgn="base" hangingPunct="0">
                        <a:spcBef>
                          <a:spcPct val="20000"/>
                        </a:spcBef>
                        <a:spcAft>
                          <a:spcPct val="0"/>
                        </a:spcAft>
                        <a:defRPr b="1" i="1">
                          <a:solidFill>
                            <a:schemeClr val="tx1"/>
                          </a:solidFill>
                          <a:latin typeface="Times" charset="0"/>
                        </a:defRPr>
                      </a:lvl8pPr>
                      <a:lvl9pPr eaLnBrk="0" fontAlgn="base" hangingPunct="0">
                        <a:spcBef>
                          <a:spcPct val="20000"/>
                        </a:spcBef>
                        <a:spcAft>
                          <a:spcPct val="0"/>
                        </a:spcAft>
                        <a:defRPr b="1" i="1">
                          <a:solidFill>
                            <a:schemeClr val="tx1"/>
                          </a:solidFill>
                          <a:latin typeface="Times"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zh-CN" sz="3200" b="0" i="1" u="none" strike="noStrike" cap="none" normalizeH="0" baseline="0">
                        <a:ln>
                          <a:noFill/>
                        </a:ln>
                        <a:solidFill>
                          <a:schemeClr val="tx1"/>
                        </a:solidFill>
                        <a:effectLst/>
                        <a:latin typeface="Times"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defRPr sz="2800" b="1" i="1">
                          <a:solidFill>
                            <a:schemeClr val="tx1"/>
                          </a:solidFill>
                          <a:latin typeface="Times" charset="0"/>
                        </a:defRPr>
                      </a:lvl1pPr>
                      <a:lvl2pPr eaLnBrk="0" hangingPunct="0">
                        <a:defRPr sz="2400" b="1" i="1">
                          <a:solidFill>
                            <a:schemeClr val="tx1"/>
                          </a:solidFill>
                          <a:latin typeface="Times" charset="0"/>
                        </a:defRPr>
                      </a:lvl2pPr>
                      <a:lvl3pPr eaLnBrk="0" hangingPunct="0">
                        <a:defRPr sz="2000" b="1" i="1">
                          <a:solidFill>
                            <a:schemeClr val="tx1"/>
                          </a:solidFill>
                          <a:latin typeface="Times" charset="0"/>
                        </a:defRPr>
                      </a:lvl3pPr>
                      <a:lvl4pPr eaLnBrk="0" hangingPunct="0">
                        <a:defRPr b="1" i="1">
                          <a:solidFill>
                            <a:schemeClr val="tx1"/>
                          </a:solidFill>
                          <a:latin typeface="Times" charset="0"/>
                        </a:defRPr>
                      </a:lvl4pPr>
                      <a:lvl5pPr eaLnBrk="0" hangingPunct="0">
                        <a:defRPr b="1" i="1">
                          <a:solidFill>
                            <a:schemeClr val="tx1"/>
                          </a:solidFill>
                          <a:latin typeface="Times" charset="0"/>
                        </a:defRPr>
                      </a:lvl5pPr>
                      <a:lvl6pPr eaLnBrk="0" fontAlgn="base" hangingPunct="0">
                        <a:spcBef>
                          <a:spcPct val="20000"/>
                        </a:spcBef>
                        <a:spcAft>
                          <a:spcPct val="0"/>
                        </a:spcAft>
                        <a:defRPr b="1" i="1">
                          <a:solidFill>
                            <a:schemeClr val="tx1"/>
                          </a:solidFill>
                          <a:latin typeface="Times" charset="0"/>
                        </a:defRPr>
                      </a:lvl6pPr>
                      <a:lvl7pPr eaLnBrk="0" fontAlgn="base" hangingPunct="0">
                        <a:spcBef>
                          <a:spcPct val="20000"/>
                        </a:spcBef>
                        <a:spcAft>
                          <a:spcPct val="0"/>
                        </a:spcAft>
                        <a:defRPr b="1" i="1">
                          <a:solidFill>
                            <a:schemeClr val="tx1"/>
                          </a:solidFill>
                          <a:latin typeface="Times" charset="0"/>
                        </a:defRPr>
                      </a:lvl7pPr>
                      <a:lvl8pPr eaLnBrk="0" fontAlgn="base" hangingPunct="0">
                        <a:spcBef>
                          <a:spcPct val="20000"/>
                        </a:spcBef>
                        <a:spcAft>
                          <a:spcPct val="0"/>
                        </a:spcAft>
                        <a:defRPr b="1" i="1">
                          <a:solidFill>
                            <a:schemeClr val="tx1"/>
                          </a:solidFill>
                          <a:latin typeface="Times" charset="0"/>
                        </a:defRPr>
                      </a:lvl8pPr>
                      <a:lvl9pPr eaLnBrk="0" fontAlgn="base" hangingPunct="0">
                        <a:spcBef>
                          <a:spcPct val="20000"/>
                        </a:spcBef>
                        <a:spcAft>
                          <a:spcPct val="0"/>
                        </a:spcAft>
                        <a:defRPr b="1" i="1">
                          <a:solidFill>
                            <a:schemeClr val="tx1"/>
                          </a:solidFill>
                          <a:latin typeface="Times"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kumimoji="0" lang="zh-CN" altLang="zh-CN" sz="3200" b="0" i="1" u="none" strike="noStrike" cap="none" normalizeH="0" baseline="0">
                        <a:ln>
                          <a:noFill/>
                        </a:ln>
                        <a:solidFill>
                          <a:schemeClr val="tx1"/>
                        </a:solidFill>
                        <a:effectLst/>
                        <a:latin typeface="Times"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6" name="Object 34"/>
          <p:cNvGraphicFramePr>
            <a:graphicFrameLocks noChangeAspect="1"/>
          </p:cNvGraphicFramePr>
          <p:nvPr/>
        </p:nvGraphicFramePr>
        <p:xfrm>
          <a:off x="2538826" y="2608759"/>
          <a:ext cx="695325" cy="835025"/>
        </p:xfrm>
        <a:graphic>
          <a:graphicData uri="http://schemas.openxmlformats.org/presentationml/2006/ole">
            <mc:AlternateContent xmlns:mc="http://schemas.openxmlformats.org/markup-compatibility/2006">
              <mc:Choice xmlns:v="urn:schemas-microsoft-com:vml" Requires="v">
                <p:oleObj spid="_x0000_s191530" name="公式" r:id="rId1" imgW="190500" imgH="228600" progId="Equation.3">
                  <p:embed/>
                </p:oleObj>
              </mc:Choice>
              <mc:Fallback>
                <p:oleObj name="公式" r:id="rId1" imgW="190500" imgH="228600" progId="Equation.3">
                  <p:embed/>
                  <p:pic>
                    <p:nvPicPr>
                      <p:cNvPr id="0" name="Object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8826" y="2608759"/>
                        <a:ext cx="695325" cy="835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7" name="Object 35"/>
          <p:cNvGraphicFramePr>
            <a:graphicFrameLocks noChangeAspect="1"/>
          </p:cNvGraphicFramePr>
          <p:nvPr/>
        </p:nvGraphicFramePr>
        <p:xfrm>
          <a:off x="3388138" y="2751634"/>
          <a:ext cx="898525" cy="533400"/>
        </p:xfrm>
        <a:graphic>
          <a:graphicData uri="http://schemas.openxmlformats.org/presentationml/2006/ole">
            <mc:AlternateContent xmlns:mc="http://schemas.openxmlformats.org/markup-compatibility/2006">
              <mc:Choice xmlns:v="urn:schemas-microsoft-com:vml" Requires="v">
                <p:oleObj spid="_x0000_s191531" name="公式" r:id="rId3" imgW="342900" imgH="203200" progId="Equation.3">
                  <p:embed/>
                </p:oleObj>
              </mc:Choice>
              <mc:Fallback>
                <p:oleObj name="公式" r:id="rId3" imgW="342900" imgH="203200" progId="Equation.3">
                  <p:embed/>
                  <p:pic>
                    <p:nvPicPr>
                      <p:cNvPr id="0" name="Object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8138" y="2751634"/>
                        <a:ext cx="89852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8" name="Object 36"/>
          <p:cNvGraphicFramePr>
            <a:graphicFrameLocks noChangeAspect="1"/>
          </p:cNvGraphicFramePr>
          <p:nvPr/>
        </p:nvGraphicFramePr>
        <p:xfrm>
          <a:off x="4483513" y="2751634"/>
          <a:ext cx="522288" cy="565150"/>
        </p:xfrm>
        <a:graphic>
          <a:graphicData uri="http://schemas.openxmlformats.org/presentationml/2006/ole">
            <mc:AlternateContent xmlns:mc="http://schemas.openxmlformats.org/markup-compatibility/2006">
              <mc:Choice xmlns:v="urn:schemas-microsoft-com:vml" Requires="v">
                <p:oleObj spid="_x0000_s191532" name="公式" r:id="rId5" imgW="152400" imgH="165100" progId="Equation.3">
                  <p:embed/>
                </p:oleObj>
              </mc:Choice>
              <mc:Fallback>
                <p:oleObj name="公式" r:id="rId5" imgW="152400" imgH="165100" progId="Equation.3">
                  <p:embed/>
                  <p:pic>
                    <p:nvPicPr>
                      <p:cNvPr id="0" name="Object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3513" y="2751634"/>
                        <a:ext cx="522288"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39" name="Object 37"/>
          <p:cNvGraphicFramePr>
            <a:graphicFrameLocks noChangeAspect="1"/>
          </p:cNvGraphicFramePr>
          <p:nvPr/>
        </p:nvGraphicFramePr>
        <p:xfrm>
          <a:off x="6212301" y="2535734"/>
          <a:ext cx="788987" cy="882650"/>
        </p:xfrm>
        <a:graphic>
          <a:graphicData uri="http://schemas.openxmlformats.org/presentationml/2006/ole">
            <mc:AlternateContent xmlns:mc="http://schemas.openxmlformats.org/markup-compatibility/2006">
              <mc:Choice xmlns:v="urn:schemas-microsoft-com:vml" Requires="v">
                <p:oleObj spid="_x0000_s191533" name="公式" r:id="rId7" imgW="215900" imgH="241300" progId="Equation.3">
                  <p:embed/>
                </p:oleObj>
              </mc:Choice>
              <mc:Fallback>
                <p:oleObj name="公式" r:id="rId7" imgW="215900" imgH="241300" progId="Equation.3">
                  <p:embed/>
                  <p:pic>
                    <p:nvPicPr>
                      <p:cNvPr id="0"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12301" y="2535734"/>
                        <a:ext cx="788987"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0" name="Object 38"/>
          <p:cNvGraphicFramePr>
            <a:graphicFrameLocks noChangeAspect="1"/>
          </p:cNvGraphicFramePr>
          <p:nvPr/>
        </p:nvGraphicFramePr>
        <p:xfrm>
          <a:off x="7131463" y="2680196"/>
          <a:ext cx="898525" cy="533400"/>
        </p:xfrm>
        <a:graphic>
          <a:graphicData uri="http://schemas.openxmlformats.org/presentationml/2006/ole">
            <mc:AlternateContent xmlns:mc="http://schemas.openxmlformats.org/markup-compatibility/2006">
              <mc:Choice xmlns:v="urn:schemas-microsoft-com:vml" Requires="v">
                <p:oleObj spid="_x0000_s191534" name="公式" r:id="rId9" imgW="342900" imgH="203200" progId="Equation.3">
                  <p:embed/>
                </p:oleObj>
              </mc:Choice>
              <mc:Fallback>
                <p:oleObj name="公式" r:id="rId9" imgW="342900" imgH="203200" progId="Equation.3">
                  <p:embed/>
                  <p:pic>
                    <p:nvPicPr>
                      <p:cNvPr id="0" name="Object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31463" y="2680196"/>
                        <a:ext cx="898525"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1" name="Object 39"/>
          <p:cNvGraphicFramePr>
            <a:graphicFrameLocks noChangeAspect="1"/>
          </p:cNvGraphicFramePr>
          <p:nvPr/>
        </p:nvGraphicFramePr>
        <p:xfrm>
          <a:off x="8299863" y="2680196"/>
          <a:ext cx="522288" cy="565150"/>
        </p:xfrm>
        <a:graphic>
          <a:graphicData uri="http://schemas.openxmlformats.org/presentationml/2006/ole">
            <mc:AlternateContent xmlns:mc="http://schemas.openxmlformats.org/markup-compatibility/2006">
              <mc:Choice xmlns:v="urn:schemas-microsoft-com:vml" Requires="v">
                <p:oleObj spid="_x0000_s191535" name="公式" r:id="rId11" imgW="152400" imgH="165100" progId="Equation.3">
                  <p:embed/>
                </p:oleObj>
              </mc:Choice>
              <mc:Fallback>
                <p:oleObj name="公式" r:id="rId11" imgW="152400" imgH="165100" progId="Equation.3">
                  <p:embed/>
                  <p:pic>
                    <p:nvPicPr>
                      <p:cNvPr id="0" name="Object 3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99863" y="2680196"/>
                        <a:ext cx="522288" cy="565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45" name="Text Box 31"/>
          <p:cNvSpPr txBox="1">
            <a:spLocks noChangeArrowheads="1"/>
          </p:cNvSpPr>
          <p:nvPr/>
        </p:nvSpPr>
        <p:spPr bwMode="auto">
          <a:xfrm>
            <a:off x="2240228" y="3614923"/>
            <a:ext cx="7559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b="1" i="1">
                <a:solidFill>
                  <a:schemeClr val="tx1"/>
                </a:solidFill>
                <a:latin typeface="Times" charset="0"/>
              </a:defRPr>
            </a:lvl1pPr>
            <a:lvl2pPr marL="742950" indent="-285750">
              <a:spcBef>
                <a:spcPct val="20000"/>
              </a:spcBef>
              <a:buChar char="–"/>
              <a:defRPr sz="2800" b="1" i="1">
                <a:solidFill>
                  <a:schemeClr val="tx1"/>
                </a:solidFill>
                <a:latin typeface="Times" charset="0"/>
              </a:defRPr>
            </a:lvl2pPr>
            <a:lvl3pPr marL="1143000" indent="-228600">
              <a:spcBef>
                <a:spcPct val="20000"/>
              </a:spcBef>
              <a:buChar char="•"/>
              <a:defRPr sz="2400" b="1" i="1">
                <a:solidFill>
                  <a:schemeClr val="tx1"/>
                </a:solidFill>
                <a:latin typeface="Times" charset="0"/>
              </a:defRPr>
            </a:lvl3pPr>
            <a:lvl4pPr marL="1600200" indent="-228600">
              <a:spcBef>
                <a:spcPct val="20000"/>
              </a:spcBef>
              <a:buChar char="–"/>
              <a:defRPr sz="2000" b="1" i="1">
                <a:solidFill>
                  <a:schemeClr val="tx1"/>
                </a:solidFill>
                <a:latin typeface="Times" charset="0"/>
              </a:defRPr>
            </a:lvl4pPr>
            <a:lvl5pPr marL="2057400" indent="-228600">
              <a:spcBef>
                <a:spcPct val="20000"/>
              </a:spcBef>
              <a:buChar char="»"/>
              <a:defRPr sz="2000" b="1" i="1">
                <a:solidFill>
                  <a:schemeClr val="tx1"/>
                </a:solidFill>
                <a:latin typeface="Times" charset="0"/>
              </a:defRPr>
            </a:lvl5pPr>
            <a:lvl6pPr marL="2514600" indent="-228600" eaLnBrk="0" fontAlgn="base" hangingPunct="0">
              <a:spcBef>
                <a:spcPct val="20000"/>
              </a:spcBef>
              <a:spcAft>
                <a:spcPct val="0"/>
              </a:spcAft>
              <a:buChar char="»"/>
              <a:defRPr sz="2000" b="1" i="1">
                <a:solidFill>
                  <a:schemeClr val="tx1"/>
                </a:solidFill>
                <a:latin typeface="Times" charset="0"/>
              </a:defRPr>
            </a:lvl6pPr>
            <a:lvl7pPr marL="2971800" indent="-228600" eaLnBrk="0" fontAlgn="base" hangingPunct="0">
              <a:spcBef>
                <a:spcPct val="20000"/>
              </a:spcBef>
              <a:spcAft>
                <a:spcPct val="0"/>
              </a:spcAft>
              <a:buChar char="»"/>
              <a:defRPr sz="2000" b="1" i="1">
                <a:solidFill>
                  <a:schemeClr val="tx1"/>
                </a:solidFill>
                <a:latin typeface="Times" charset="0"/>
              </a:defRPr>
            </a:lvl7pPr>
            <a:lvl8pPr marL="3429000" indent="-228600" eaLnBrk="0" fontAlgn="base" hangingPunct="0">
              <a:spcBef>
                <a:spcPct val="20000"/>
              </a:spcBef>
              <a:spcAft>
                <a:spcPct val="0"/>
              </a:spcAft>
              <a:buChar char="»"/>
              <a:defRPr sz="2000" b="1" i="1">
                <a:solidFill>
                  <a:schemeClr val="tx1"/>
                </a:solidFill>
                <a:latin typeface="Times" charset="0"/>
              </a:defRPr>
            </a:lvl8pPr>
            <a:lvl9pPr marL="3886200" indent="-228600" eaLnBrk="0" fontAlgn="base" hangingPunct="0">
              <a:spcBef>
                <a:spcPct val="20000"/>
              </a:spcBef>
              <a:spcAft>
                <a:spcPct val="0"/>
              </a:spcAft>
              <a:buChar char="»"/>
              <a:defRPr sz="2000" b="1" i="1">
                <a:solidFill>
                  <a:schemeClr val="tx1"/>
                </a:solidFill>
                <a:latin typeface="Times" charset="0"/>
              </a:defRPr>
            </a:lvl9pPr>
          </a:lstStyle>
          <a:p>
            <a:pPr eaLnBrk="1" hangingPunct="1">
              <a:spcBef>
                <a:spcPct val="50000"/>
              </a:spcBef>
              <a:buFontTx/>
              <a:buNone/>
            </a:pPr>
            <a:r>
              <a:rPr lang="en-US" altLang="zh-CN" i="0">
                <a:solidFill>
                  <a:srgbClr val="000000"/>
                </a:solidFill>
                <a:latin typeface="Times New Roman" panose="02020603050405020304" pitchFamily="18" charset="0"/>
              </a:rPr>
              <a:t>E(X)=P         E(Y)=P</a:t>
            </a:r>
            <a:endParaRPr lang="en-US" altLang="zh-CN" i="0">
              <a:solidFill>
                <a:srgbClr val="000000"/>
              </a:solidFill>
              <a:latin typeface="Times New Roman" panose="02020603050405020304" pitchFamily="18" charset="0"/>
            </a:endParaRPr>
          </a:p>
        </p:txBody>
      </p:sp>
      <p:graphicFrame>
        <p:nvGraphicFramePr>
          <p:cNvPr id="46" name="Object 32"/>
          <p:cNvGraphicFramePr>
            <a:graphicFrameLocks noChangeAspect="1"/>
          </p:cNvGraphicFramePr>
          <p:nvPr/>
        </p:nvGraphicFramePr>
        <p:xfrm>
          <a:off x="2330715" y="4264211"/>
          <a:ext cx="5886450" cy="533400"/>
        </p:xfrm>
        <a:graphic>
          <a:graphicData uri="http://schemas.openxmlformats.org/presentationml/2006/ole">
            <mc:AlternateContent xmlns:mc="http://schemas.openxmlformats.org/markup-compatibility/2006">
              <mc:Choice xmlns:v="urn:schemas-microsoft-com:vml" Requires="v">
                <p:oleObj spid="_x0000_s191536" name="公式" r:id="rId13" imgW="2235200" imgH="203200" progId="Equation.3">
                  <p:embed/>
                </p:oleObj>
              </mc:Choice>
              <mc:Fallback>
                <p:oleObj name="公式" r:id="rId13" imgW="2235200" imgH="203200" progId="Equation.3">
                  <p:embed/>
                  <p:pic>
                    <p:nvPicPr>
                      <p:cNvPr id="0"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30715" y="4264211"/>
                        <a:ext cx="58864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47" name="Object 33"/>
          <p:cNvGraphicFramePr>
            <a:graphicFrameLocks noChangeAspect="1"/>
          </p:cNvGraphicFramePr>
          <p:nvPr/>
        </p:nvGraphicFramePr>
        <p:xfrm>
          <a:off x="4367808" y="4919879"/>
          <a:ext cx="4905681" cy="1496108"/>
        </p:xfrm>
        <a:graphic>
          <a:graphicData uri="http://schemas.openxmlformats.org/presentationml/2006/ole">
            <mc:AlternateContent xmlns:mc="http://schemas.openxmlformats.org/markup-compatibility/2006">
              <mc:Choice xmlns:v="urn:schemas-microsoft-com:vml" Requires="v">
                <p:oleObj spid="_x0000_s191537" name="公式" r:id="rId15" imgW="1955800" imgH="596900" progId="Equation.3">
                  <p:embed/>
                </p:oleObj>
              </mc:Choice>
              <mc:Fallback>
                <p:oleObj name="公式" r:id="rId15" imgW="1955800" imgH="596900" progId="Equation.3">
                  <p:embed/>
                  <p:pic>
                    <p:nvPicPr>
                      <p:cNvPr id="0" name="Object 3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67808" y="4919879"/>
                        <a:ext cx="4905681" cy="1496108"/>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1000" fill="hold"/>
                                        <p:tgtEl>
                                          <p:spTgt spid="33"/>
                                        </p:tgtEl>
                                        <p:attrNameLst>
                                          <p:attrName>ppt_x</p:attrName>
                                        </p:attrNameLst>
                                      </p:cBhvr>
                                      <p:tavLst>
                                        <p:tav tm="0">
                                          <p:val>
                                            <p:strVal val="0-#ppt_w/2"/>
                                          </p:val>
                                        </p:tav>
                                        <p:tav tm="100000">
                                          <p:val>
                                            <p:strVal val="#ppt_x"/>
                                          </p:val>
                                        </p:tav>
                                      </p:tavLst>
                                    </p:anim>
                                    <p:anim calcmode="lin" valueType="num">
                                      <p:cBhvr additive="base">
                                        <p:cTn id="8" dur="10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anim calcmode="lin" valueType="num">
                                      <p:cBhvr additive="base">
                                        <p:cTn id="13" dur="1000" fill="hold"/>
                                        <p:tgtEl>
                                          <p:spTgt spid="34"/>
                                        </p:tgtEl>
                                        <p:attrNameLst>
                                          <p:attrName>ppt_x</p:attrName>
                                        </p:attrNameLst>
                                      </p:cBhvr>
                                      <p:tavLst>
                                        <p:tav tm="0">
                                          <p:val>
                                            <p:strVal val="0-#ppt_w/2"/>
                                          </p:val>
                                        </p:tav>
                                        <p:tav tm="100000">
                                          <p:val>
                                            <p:strVal val="#ppt_x"/>
                                          </p:val>
                                        </p:tav>
                                      </p:tavLst>
                                    </p:anim>
                                    <p:anim calcmode="lin" valueType="num">
                                      <p:cBhvr additive="base">
                                        <p:cTn id="14" dur="10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1000" fill="hold"/>
                                        <p:tgtEl>
                                          <p:spTgt spid="36"/>
                                        </p:tgtEl>
                                        <p:attrNameLst>
                                          <p:attrName>ppt_x</p:attrName>
                                        </p:attrNameLst>
                                      </p:cBhvr>
                                      <p:tavLst>
                                        <p:tav tm="0">
                                          <p:val>
                                            <p:strVal val="0-#ppt_w/2"/>
                                          </p:val>
                                        </p:tav>
                                        <p:tav tm="100000">
                                          <p:val>
                                            <p:strVal val="#ppt_x"/>
                                          </p:val>
                                        </p:tav>
                                      </p:tavLst>
                                    </p:anim>
                                    <p:anim calcmode="lin" valueType="num">
                                      <p:cBhvr additive="base">
                                        <p:cTn id="20" dur="10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7"/>
                                        </p:tgtEl>
                                        <p:attrNameLst>
                                          <p:attrName>style.visibility</p:attrName>
                                        </p:attrNameLst>
                                      </p:cBhvr>
                                      <p:to>
                                        <p:strVal val="visible"/>
                                      </p:to>
                                    </p:set>
                                    <p:anim calcmode="lin" valueType="num">
                                      <p:cBhvr additive="base">
                                        <p:cTn id="25" dur="1000" fill="hold"/>
                                        <p:tgtEl>
                                          <p:spTgt spid="37"/>
                                        </p:tgtEl>
                                        <p:attrNameLst>
                                          <p:attrName>ppt_x</p:attrName>
                                        </p:attrNameLst>
                                      </p:cBhvr>
                                      <p:tavLst>
                                        <p:tav tm="0">
                                          <p:val>
                                            <p:strVal val="0-#ppt_w/2"/>
                                          </p:val>
                                        </p:tav>
                                        <p:tav tm="100000">
                                          <p:val>
                                            <p:strVal val="#ppt_x"/>
                                          </p:val>
                                        </p:tav>
                                      </p:tavLst>
                                    </p:anim>
                                    <p:anim calcmode="lin" valueType="num">
                                      <p:cBhvr additive="base">
                                        <p:cTn id="26" dur="10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8"/>
                                        </p:tgtEl>
                                        <p:attrNameLst>
                                          <p:attrName>style.visibility</p:attrName>
                                        </p:attrNameLst>
                                      </p:cBhvr>
                                      <p:to>
                                        <p:strVal val="visible"/>
                                      </p:to>
                                    </p:set>
                                    <p:anim calcmode="lin" valueType="num">
                                      <p:cBhvr additive="base">
                                        <p:cTn id="31" dur="1000" fill="hold"/>
                                        <p:tgtEl>
                                          <p:spTgt spid="38"/>
                                        </p:tgtEl>
                                        <p:attrNameLst>
                                          <p:attrName>ppt_x</p:attrName>
                                        </p:attrNameLst>
                                      </p:cBhvr>
                                      <p:tavLst>
                                        <p:tav tm="0">
                                          <p:val>
                                            <p:strVal val="0-#ppt_w/2"/>
                                          </p:val>
                                        </p:tav>
                                        <p:tav tm="100000">
                                          <p:val>
                                            <p:strVal val="#ppt_x"/>
                                          </p:val>
                                        </p:tav>
                                      </p:tavLst>
                                    </p:anim>
                                    <p:anim calcmode="lin" valueType="num">
                                      <p:cBhvr additive="base">
                                        <p:cTn id="32" dur="10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anim calcmode="lin" valueType="num">
                                      <p:cBhvr additive="base">
                                        <p:cTn id="37" dur="1000" fill="hold"/>
                                        <p:tgtEl>
                                          <p:spTgt spid="35"/>
                                        </p:tgtEl>
                                        <p:attrNameLst>
                                          <p:attrName>ppt_x</p:attrName>
                                        </p:attrNameLst>
                                      </p:cBhvr>
                                      <p:tavLst>
                                        <p:tav tm="0">
                                          <p:val>
                                            <p:strVal val="1+#ppt_w/2"/>
                                          </p:val>
                                        </p:tav>
                                        <p:tav tm="100000">
                                          <p:val>
                                            <p:strVal val="#ppt_x"/>
                                          </p:val>
                                        </p:tav>
                                      </p:tavLst>
                                    </p:anim>
                                    <p:anim calcmode="lin" valueType="num">
                                      <p:cBhvr additive="base">
                                        <p:cTn id="38" dur="10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additive="base">
                                        <p:cTn id="43" dur="1000" fill="hold"/>
                                        <p:tgtEl>
                                          <p:spTgt spid="39"/>
                                        </p:tgtEl>
                                        <p:attrNameLst>
                                          <p:attrName>ppt_x</p:attrName>
                                        </p:attrNameLst>
                                      </p:cBhvr>
                                      <p:tavLst>
                                        <p:tav tm="0">
                                          <p:val>
                                            <p:strVal val="1+#ppt_w/2"/>
                                          </p:val>
                                        </p:tav>
                                        <p:tav tm="100000">
                                          <p:val>
                                            <p:strVal val="#ppt_x"/>
                                          </p:val>
                                        </p:tav>
                                      </p:tavLst>
                                    </p:anim>
                                    <p:anim calcmode="lin" valueType="num">
                                      <p:cBhvr additive="base">
                                        <p:cTn id="44" dur="10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nodeType="clickEffect">
                                  <p:stCondLst>
                                    <p:cond delay="0"/>
                                  </p:stCondLst>
                                  <p:childTnLst>
                                    <p:set>
                                      <p:cBhvr>
                                        <p:cTn id="48" dur="1" fill="hold">
                                          <p:stCondLst>
                                            <p:cond delay="0"/>
                                          </p:stCondLst>
                                        </p:cTn>
                                        <p:tgtEl>
                                          <p:spTgt spid="40"/>
                                        </p:tgtEl>
                                        <p:attrNameLst>
                                          <p:attrName>style.visibility</p:attrName>
                                        </p:attrNameLst>
                                      </p:cBhvr>
                                      <p:to>
                                        <p:strVal val="visible"/>
                                      </p:to>
                                    </p:set>
                                    <p:anim calcmode="lin" valueType="num">
                                      <p:cBhvr additive="base">
                                        <p:cTn id="49" dur="1000" fill="hold"/>
                                        <p:tgtEl>
                                          <p:spTgt spid="40"/>
                                        </p:tgtEl>
                                        <p:attrNameLst>
                                          <p:attrName>ppt_x</p:attrName>
                                        </p:attrNameLst>
                                      </p:cBhvr>
                                      <p:tavLst>
                                        <p:tav tm="0">
                                          <p:val>
                                            <p:strVal val="1+#ppt_w/2"/>
                                          </p:val>
                                        </p:tav>
                                        <p:tav tm="100000">
                                          <p:val>
                                            <p:strVal val="#ppt_x"/>
                                          </p:val>
                                        </p:tav>
                                      </p:tavLst>
                                    </p:anim>
                                    <p:anim calcmode="lin" valueType="num">
                                      <p:cBhvr additive="base">
                                        <p:cTn id="50" dur="10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41"/>
                                        </p:tgtEl>
                                        <p:attrNameLst>
                                          <p:attrName>style.visibility</p:attrName>
                                        </p:attrNameLst>
                                      </p:cBhvr>
                                      <p:to>
                                        <p:strVal val="visible"/>
                                      </p:to>
                                    </p:set>
                                    <p:anim calcmode="lin" valueType="num">
                                      <p:cBhvr additive="base">
                                        <p:cTn id="55" dur="1000" fill="hold"/>
                                        <p:tgtEl>
                                          <p:spTgt spid="41"/>
                                        </p:tgtEl>
                                        <p:attrNameLst>
                                          <p:attrName>ppt_x</p:attrName>
                                        </p:attrNameLst>
                                      </p:cBhvr>
                                      <p:tavLst>
                                        <p:tav tm="0">
                                          <p:val>
                                            <p:strVal val="1+#ppt_w/2"/>
                                          </p:val>
                                        </p:tav>
                                        <p:tav tm="100000">
                                          <p:val>
                                            <p:strVal val="#ppt_x"/>
                                          </p:val>
                                        </p:tav>
                                      </p:tavLst>
                                    </p:anim>
                                    <p:anim calcmode="lin" valueType="num">
                                      <p:cBhvr additive="base">
                                        <p:cTn id="56" dur="10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45"/>
                                        </p:tgtEl>
                                        <p:attrNameLst>
                                          <p:attrName>style.visibility</p:attrName>
                                        </p:attrNameLst>
                                      </p:cBhvr>
                                      <p:to>
                                        <p:strVal val="visible"/>
                                      </p:to>
                                    </p:set>
                                    <p:anim calcmode="lin" valueType="num">
                                      <p:cBhvr additive="base">
                                        <p:cTn id="61" dur="1000" fill="hold"/>
                                        <p:tgtEl>
                                          <p:spTgt spid="45"/>
                                        </p:tgtEl>
                                        <p:attrNameLst>
                                          <p:attrName>ppt_x</p:attrName>
                                        </p:attrNameLst>
                                      </p:cBhvr>
                                      <p:tavLst>
                                        <p:tav tm="0">
                                          <p:val>
                                            <p:strVal val="0-#ppt_w/2"/>
                                          </p:val>
                                        </p:tav>
                                        <p:tav tm="100000">
                                          <p:val>
                                            <p:strVal val="#ppt_x"/>
                                          </p:val>
                                        </p:tav>
                                      </p:tavLst>
                                    </p:anim>
                                    <p:anim calcmode="lin" valueType="num">
                                      <p:cBhvr additive="base">
                                        <p:cTn id="62" dur="10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46"/>
                                        </p:tgtEl>
                                        <p:attrNameLst>
                                          <p:attrName>style.visibility</p:attrName>
                                        </p:attrNameLst>
                                      </p:cBhvr>
                                      <p:to>
                                        <p:strVal val="visible"/>
                                      </p:to>
                                    </p:set>
                                    <p:anim calcmode="lin" valueType="num">
                                      <p:cBhvr additive="base">
                                        <p:cTn id="67" dur="1000" fill="hold"/>
                                        <p:tgtEl>
                                          <p:spTgt spid="46"/>
                                        </p:tgtEl>
                                        <p:attrNameLst>
                                          <p:attrName>ppt_x</p:attrName>
                                        </p:attrNameLst>
                                      </p:cBhvr>
                                      <p:tavLst>
                                        <p:tav tm="0">
                                          <p:val>
                                            <p:strVal val="0-#ppt_w/2"/>
                                          </p:val>
                                        </p:tav>
                                        <p:tav tm="100000">
                                          <p:val>
                                            <p:strVal val="#ppt_x"/>
                                          </p:val>
                                        </p:tav>
                                      </p:tavLst>
                                    </p:anim>
                                    <p:anim calcmode="lin" valueType="num">
                                      <p:cBhvr additive="base">
                                        <p:cTn id="68" dur="10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nodeType="clickEffect">
                                  <p:stCondLst>
                                    <p:cond delay="0"/>
                                  </p:stCondLst>
                                  <p:childTnLst>
                                    <p:set>
                                      <p:cBhvr>
                                        <p:cTn id="72" dur="1" fill="hold">
                                          <p:stCondLst>
                                            <p:cond delay="0"/>
                                          </p:stCondLst>
                                        </p:cTn>
                                        <p:tgtEl>
                                          <p:spTgt spid="47"/>
                                        </p:tgtEl>
                                        <p:attrNameLst>
                                          <p:attrName>style.visibility</p:attrName>
                                        </p:attrNameLst>
                                      </p:cBhvr>
                                      <p:to>
                                        <p:strVal val="visible"/>
                                      </p:to>
                                    </p:set>
                                    <p:anim calcmode="lin" valueType="num">
                                      <p:cBhvr additive="base">
                                        <p:cTn id="73" dur="1000" fill="hold"/>
                                        <p:tgtEl>
                                          <p:spTgt spid="47"/>
                                        </p:tgtEl>
                                        <p:attrNameLst>
                                          <p:attrName>ppt_x</p:attrName>
                                        </p:attrNameLst>
                                      </p:cBhvr>
                                      <p:tavLst>
                                        <p:tav tm="0">
                                          <p:val>
                                            <p:strVal val="0-#ppt_w/2"/>
                                          </p:val>
                                        </p:tav>
                                        <p:tav tm="100000">
                                          <p:val>
                                            <p:strVal val="#ppt_x"/>
                                          </p:val>
                                        </p:tav>
                                      </p:tavLst>
                                    </p:anim>
                                    <p:anim calcmode="lin" valueType="num">
                                      <p:cBhvr additive="base">
                                        <p:cTn id="74" dur="1000" fill="hold"/>
                                        <p:tgtEl>
                                          <p:spTgt spid="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p:bldP spid="45"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87" name="Object 51"/>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192544" name="公式" r:id="rId1" imgW="114300" imgH="215900" progId="Equation.3">
                  <p:embed/>
                </p:oleObj>
              </mc:Choice>
              <mc:Fallback>
                <p:oleObj name="公式" r:id="rId1" imgW="114300" imgH="215900" progId="Equation.3">
                  <p:embed/>
                  <p:pic>
                    <p:nvPicPr>
                      <p:cNvPr id="0" name="Object 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88" name="Object 52"/>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192545" name="公式" r:id="rId3" imgW="114300" imgH="215900" progId="Equation.3">
                  <p:embed/>
                </p:oleObj>
              </mc:Choice>
              <mc:Fallback>
                <p:oleObj name="公式" r:id="rId3" imgW="114300" imgH="215900" progId="Equation.3">
                  <p:embed/>
                  <p:pic>
                    <p:nvPicPr>
                      <p:cNvPr id="0" name="Object 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一、协方差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2" name="组 1"/>
          <p:cNvGrpSpPr/>
          <p:nvPr/>
        </p:nvGrpSpPr>
        <p:grpSpPr>
          <a:xfrm>
            <a:off x="1335307" y="1339769"/>
            <a:ext cx="9672070" cy="1566351"/>
            <a:chOff x="1335307" y="1339769"/>
            <a:chExt cx="9672070" cy="1566351"/>
          </a:xfrm>
        </p:grpSpPr>
        <p:sp>
          <p:nvSpPr>
            <p:cNvPr id="14389" name="Rectangle 53"/>
            <p:cNvSpPr>
              <a:spLocks noChangeArrowheads="1"/>
            </p:cNvSpPr>
            <p:nvPr/>
          </p:nvSpPr>
          <p:spPr bwMode="auto">
            <a:xfrm>
              <a:off x="1335307" y="1435627"/>
              <a:ext cx="9585229" cy="662297"/>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nSpc>
                  <a:spcPct val="150000"/>
                </a:lnSpc>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(X,Y)</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的概率密度为：</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2" name="Object 3"/>
            <p:cNvGraphicFramePr>
              <a:graphicFrameLocks noChangeAspect="1"/>
            </p:cNvGraphicFramePr>
            <p:nvPr/>
          </p:nvGraphicFramePr>
          <p:xfrm>
            <a:off x="5794722" y="1339769"/>
            <a:ext cx="5212655" cy="1566351"/>
          </p:xfrm>
          <a:graphic>
            <a:graphicData uri="http://schemas.openxmlformats.org/presentationml/2006/ole">
              <mc:AlternateContent xmlns:mc="http://schemas.openxmlformats.org/markup-compatibility/2006">
                <mc:Choice xmlns:v="urn:schemas-microsoft-com:vml" Requires="v">
                  <p:oleObj spid="_x0000_s192546" name="公式" r:id="rId4" imgW="2324100" imgH="698500" progId="Equation.3">
                    <p:embed/>
                  </p:oleObj>
                </mc:Choice>
                <mc:Fallback>
                  <p:oleObj name="公式" r:id="rId4" imgW="2324100" imgH="6985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4722" y="1339769"/>
                          <a:ext cx="5212655" cy="1566351"/>
                        </a:xfrm>
                        <a:prstGeom prst="rect">
                          <a:avLst/>
                        </a:prstGeom>
                        <a:noFill/>
                        <a:ln>
                          <a:noFill/>
                        </a:ln>
                        <a:effectLst/>
                      </p:spPr>
                    </p:pic>
                  </p:oleObj>
                </mc:Fallback>
              </mc:AlternateContent>
            </a:graphicData>
          </a:graphic>
        </p:graphicFrame>
      </p:grpSp>
      <p:graphicFrame>
        <p:nvGraphicFramePr>
          <p:cNvPr id="13" name="Object 4"/>
          <p:cNvGraphicFramePr>
            <a:graphicFrameLocks noChangeAspect="1"/>
          </p:cNvGraphicFramePr>
          <p:nvPr/>
        </p:nvGraphicFramePr>
        <p:xfrm>
          <a:off x="2063552" y="3176667"/>
          <a:ext cx="5832673" cy="491144"/>
        </p:xfrm>
        <a:graphic>
          <a:graphicData uri="http://schemas.openxmlformats.org/presentationml/2006/ole">
            <mc:AlternateContent xmlns:mc="http://schemas.openxmlformats.org/markup-compatibility/2006">
              <mc:Choice xmlns:v="urn:schemas-microsoft-com:vml" Requires="v">
                <p:oleObj spid="_x0000_s192547" name="公式" r:id="rId6" imgW="2552700" imgH="215900" progId="Equation.3">
                  <p:embed/>
                </p:oleObj>
              </mc:Choice>
              <mc:Fallback>
                <p:oleObj name="公式" r:id="rId6" imgW="2552700" imgH="2159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63552" y="3176667"/>
                        <a:ext cx="5832673" cy="491144"/>
                      </a:xfrm>
                      <a:prstGeom prst="rect">
                        <a:avLst/>
                      </a:prstGeom>
                      <a:noFill/>
                      <a:ln>
                        <a:noFill/>
                      </a:ln>
                      <a:effectLst/>
                    </p:spPr>
                  </p:pic>
                </p:oleObj>
              </mc:Fallback>
            </mc:AlternateContent>
          </a:graphicData>
        </a:graphic>
      </p:graphicFrame>
      <p:graphicFrame>
        <p:nvGraphicFramePr>
          <p:cNvPr id="14" name="Object 5"/>
          <p:cNvGraphicFramePr>
            <a:graphicFrameLocks noChangeAspect="1"/>
          </p:cNvGraphicFramePr>
          <p:nvPr/>
        </p:nvGraphicFramePr>
        <p:xfrm>
          <a:off x="2711624" y="3862057"/>
          <a:ext cx="5400600" cy="848934"/>
        </p:xfrm>
        <a:graphic>
          <a:graphicData uri="http://schemas.openxmlformats.org/presentationml/2006/ole">
            <mc:AlternateContent xmlns:mc="http://schemas.openxmlformats.org/markup-compatibility/2006">
              <mc:Choice xmlns:v="urn:schemas-microsoft-com:vml" Requires="v">
                <p:oleObj spid="_x0000_s192548" name="公式" r:id="rId8" imgW="2095500" imgH="330200" progId="Equation.3">
                  <p:embed/>
                </p:oleObj>
              </mc:Choice>
              <mc:Fallback>
                <p:oleObj name="公式" r:id="rId8" imgW="2095500" imgH="33020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11624" y="3862057"/>
                        <a:ext cx="5400600" cy="848934"/>
                      </a:xfrm>
                      <a:prstGeom prst="rect">
                        <a:avLst/>
                      </a:prstGeom>
                      <a:noFill/>
                      <a:ln>
                        <a:noFill/>
                      </a:ln>
                      <a:effectLst/>
                    </p:spPr>
                  </p:pic>
                </p:oleObj>
              </mc:Fallback>
            </mc:AlternateContent>
          </a:graphicData>
        </a:graphic>
      </p:graphicFrame>
      <p:graphicFrame>
        <p:nvGraphicFramePr>
          <p:cNvPr id="15" name="Object 6"/>
          <p:cNvGraphicFramePr>
            <a:graphicFrameLocks noChangeAspect="1"/>
          </p:cNvGraphicFramePr>
          <p:nvPr/>
        </p:nvGraphicFramePr>
        <p:xfrm>
          <a:off x="2440251" y="4710991"/>
          <a:ext cx="4447837" cy="1125538"/>
        </p:xfrm>
        <a:graphic>
          <a:graphicData uri="http://schemas.openxmlformats.org/presentationml/2006/ole">
            <mc:AlternateContent xmlns:mc="http://schemas.openxmlformats.org/markup-compatibility/2006">
              <mc:Choice xmlns:v="urn:schemas-microsoft-com:vml" Requires="v">
                <p:oleObj spid="_x0000_s192549" name="公式" r:id="rId10" imgW="1600200" imgH="406400" progId="Equation.3">
                  <p:embed/>
                </p:oleObj>
              </mc:Choice>
              <mc:Fallback>
                <p:oleObj name="公式" r:id="rId10" imgW="1600200" imgH="40640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40251" y="4710991"/>
                        <a:ext cx="4447837" cy="1125538"/>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1000" fill="hold"/>
                                        <p:tgtEl>
                                          <p:spTgt spid="13"/>
                                        </p:tgtEl>
                                        <p:attrNameLst>
                                          <p:attrName>ppt_x</p:attrName>
                                        </p:attrNameLst>
                                      </p:cBhvr>
                                      <p:tavLst>
                                        <p:tav tm="0">
                                          <p:val>
                                            <p:strVal val="0-#ppt_w/2"/>
                                          </p:val>
                                        </p:tav>
                                        <p:tav tm="100000">
                                          <p:val>
                                            <p:strVal val="#ppt_x"/>
                                          </p:val>
                                        </p:tav>
                                      </p:tavLst>
                                    </p:anim>
                                    <p:anim calcmode="lin" valueType="num">
                                      <p:cBhvr additive="base">
                                        <p:cTn id="14" dur="10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1000" fill="hold"/>
                                        <p:tgtEl>
                                          <p:spTgt spid="14"/>
                                        </p:tgtEl>
                                        <p:attrNameLst>
                                          <p:attrName>ppt_x</p:attrName>
                                        </p:attrNameLst>
                                      </p:cBhvr>
                                      <p:tavLst>
                                        <p:tav tm="0">
                                          <p:val>
                                            <p:strVal val="0-#ppt_w/2"/>
                                          </p:val>
                                        </p:tav>
                                        <p:tav tm="100000">
                                          <p:val>
                                            <p:strVal val="#ppt_x"/>
                                          </p:val>
                                        </p:tav>
                                      </p:tavLst>
                                    </p:anim>
                                    <p:anim calcmode="lin" valueType="num">
                                      <p:cBhvr additive="base">
                                        <p:cTn id="20" dur="10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1000" fill="hold"/>
                                        <p:tgtEl>
                                          <p:spTgt spid="15"/>
                                        </p:tgtEl>
                                        <p:attrNameLst>
                                          <p:attrName>ppt_x</p:attrName>
                                        </p:attrNameLst>
                                      </p:cBhvr>
                                      <p:tavLst>
                                        <p:tav tm="0">
                                          <p:val>
                                            <p:strVal val="0-#ppt_w/2"/>
                                          </p:val>
                                        </p:tav>
                                        <p:tav tm="100000">
                                          <p:val>
                                            <p:strVal val="#ppt_x"/>
                                          </p:val>
                                        </p:tav>
                                      </p:tavLst>
                                    </p:anim>
                                    <p:anim calcmode="lin" valueType="num">
                                      <p:cBhvr additive="base">
                                        <p:cTn id="26" dur="10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87" name="Object 51"/>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193563" name="公式" r:id="rId1" imgW="114300" imgH="215900" progId="Equation.3">
                  <p:embed/>
                </p:oleObj>
              </mc:Choice>
              <mc:Fallback>
                <p:oleObj name="公式" r:id="rId1" imgW="114300" imgH="215900" progId="Equation.3">
                  <p:embed/>
                  <p:pic>
                    <p:nvPicPr>
                      <p:cNvPr id="0" name="Object 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88" name="Object 52"/>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193564" name="公式" r:id="rId3" imgW="114300" imgH="215900" progId="Equation.3">
                  <p:embed/>
                </p:oleObj>
              </mc:Choice>
              <mc:Fallback>
                <p:oleObj name="公式" r:id="rId3" imgW="114300" imgH="215900" progId="Equation.3">
                  <p:embed/>
                  <p:pic>
                    <p:nvPicPr>
                      <p:cNvPr id="0" name="Object 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一、协方差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aphicFrame>
        <p:nvGraphicFramePr>
          <p:cNvPr id="16" name="Object 2"/>
          <p:cNvGraphicFramePr>
            <a:graphicFrameLocks noChangeAspect="1"/>
          </p:cNvGraphicFramePr>
          <p:nvPr/>
        </p:nvGraphicFramePr>
        <p:xfrm>
          <a:off x="3058651" y="2535497"/>
          <a:ext cx="3455665" cy="889630"/>
        </p:xfrm>
        <a:graphic>
          <a:graphicData uri="http://schemas.openxmlformats.org/presentationml/2006/ole">
            <mc:AlternateContent xmlns:mc="http://schemas.openxmlformats.org/markup-compatibility/2006">
              <mc:Choice xmlns:v="urn:schemas-microsoft-com:vml" Requires="v">
                <p:oleObj spid="_x0000_s193565" name="公式" r:id="rId4" imgW="1282700" imgH="330200" progId="Equation.3">
                  <p:embed/>
                </p:oleObj>
              </mc:Choice>
              <mc:Fallback>
                <p:oleObj name="公式" r:id="rId4" imgW="1282700" imgH="330200" progId="Equation.3">
                  <p:embed/>
                  <p:pic>
                    <p:nvPicPr>
                      <p:cNvPr id="0" name="Object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8651" y="2535497"/>
                        <a:ext cx="3455665" cy="889630"/>
                      </a:xfrm>
                      <a:prstGeom prst="rect">
                        <a:avLst/>
                      </a:prstGeom>
                      <a:noFill/>
                      <a:ln>
                        <a:noFill/>
                      </a:ln>
                      <a:effectLst/>
                    </p:spPr>
                  </p:pic>
                </p:oleObj>
              </mc:Fallback>
            </mc:AlternateContent>
          </a:graphicData>
        </a:graphic>
      </p:graphicFrame>
      <p:graphicFrame>
        <p:nvGraphicFramePr>
          <p:cNvPr id="17" name="Object 12"/>
          <p:cNvGraphicFramePr>
            <a:graphicFrameLocks noChangeAspect="1"/>
          </p:cNvGraphicFramePr>
          <p:nvPr/>
        </p:nvGraphicFramePr>
        <p:xfrm>
          <a:off x="2135560" y="1373795"/>
          <a:ext cx="4464223" cy="823269"/>
        </p:xfrm>
        <a:graphic>
          <a:graphicData uri="http://schemas.openxmlformats.org/presentationml/2006/ole">
            <mc:AlternateContent xmlns:mc="http://schemas.openxmlformats.org/markup-compatibility/2006">
              <mc:Choice xmlns:v="urn:schemas-microsoft-com:vml" Requires="v">
                <p:oleObj spid="_x0000_s193566" name="公式" r:id="rId6" imgW="1790700" imgH="330200" progId="Equation.3">
                  <p:embed/>
                </p:oleObj>
              </mc:Choice>
              <mc:Fallback>
                <p:oleObj name="公式" r:id="rId6" imgW="1790700" imgH="330200" progId="Equation.3">
                  <p:embed/>
                  <p:pic>
                    <p:nvPicPr>
                      <p:cNvPr id="0" name="Object 12"/>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5560" y="1373795"/>
                        <a:ext cx="4464223" cy="823269"/>
                      </a:xfrm>
                      <a:prstGeom prst="rect">
                        <a:avLst/>
                      </a:prstGeom>
                      <a:noFill/>
                      <a:ln>
                        <a:noFill/>
                      </a:ln>
                      <a:effectLst/>
                    </p:spPr>
                  </p:pic>
                </p:oleObj>
              </mc:Fallback>
            </mc:AlternateContent>
          </a:graphicData>
        </a:graphic>
      </p:graphicFrame>
      <p:graphicFrame>
        <p:nvGraphicFramePr>
          <p:cNvPr id="18" name="Object 13"/>
          <p:cNvGraphicFramePr>
            <a:graphicFrameLocks noChangeAspect="1"/>
          </p:cNvGraphicFramePr>
          <p:nvPr/>
        </p:nvGraphicFramePr>
        <p:xfrm>
          <a:off x="3035785" y="3763560"/>
          <a:ext cx="877109" cy="719834"/>
        </p:xfrm>
        <a:graphic>
          <a:graphicData uri="http://schemas.openxmlformats.org/presentationml/2006/ole">
            <mc:AlternateContent xmlns:mc="http://schemas.openxmlformats.org/markup-compatibility/2006">
              <mc:Choice xmlns:v="urn:schemas-microsoft-com:vml" Requires="v">
                <p:oleObj spid="_x0000_s193567" name="公式" r:id="rId8" imgW="279400" imgH="228600" progId="Equation.3">
                  <p:embed/>
                </p:oleObj>
              </mc:Choice>
              <mc:Fallback>
                <p:oleObj name="公式" r:id="rId8" imgW="279400" imgH="22860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35785" y="3763560"/>
                        <a:ext cx="877109" cy="719834"/>
                      </a:xfrm>
                      <a:prstGeom prst="rect">
                        <a:avLst/>
                      </a:prstGeom>
                      <a:noFill/>
                      <a:ln>
                        <a:noFill/>
                      </a:ln>
                      <a:effectLst/>
                    </p:spPr>
                  </p:pic>
                </p:oleObj>
              </mc:Fallback>
            </mc:AlternateContent>
          </a:graphicData>
        </a:graphic>
      </p:graphicFrame>
      <p:grpSp>
        <p:nvGrpSpPr>
          <p:cNvPr id="4" name="组 3"/>
          <p:cNvGrpSpPr/>
          <p:nvPr/>
        </p:nvGrpSpPr>
        <p:grpSpPr>
          <a:xfrm>
            <a:off x="8217998" y="2752027"/>
            <a:ext cx="2397125" cy="2692400"/>
            <a:chOff x="8217998" y="2752027"/>
            <a:chExt cx="2397125" cy="2692400"/>
          </a:xfrm>
        </p:grpSpPr>
        <p:sp>
          <p:nvSpPr>
            <p:cNvPr id="19" name="Rectangle 3"/>
            <p:cNvSpPr>
              <a:spLocks noChangeArrowheads="1"/>
            </p:cNvSpPr>
            <p:nvPr/>
          </p:nvSpPr>
          <p:spPr bwMode="auto">
            <a:xfrm>
              <a:off x="8578360" y="3425127"/>
              <a:ext cx="1295400" cy="1295400"/>
            </a:xfrm>
            <a:prstGeom prst="rect">
              <a:avLst/>
            </a:prstGeom>
            <a:solidFill>
              <a:srgbClr val="C00000"/>
            </a:solidFill>
            <a:ln w="12700" cap="sq">
              <a:solidFill>
                <a:schemeClr val="tx1"/>
              </a:solidFill>
              <a:miter lim="800000"/>
              <a:headEnd type="none" w="sm" len="sm"/>
              <a:tailEnd type="none" w="sm" len="sm"/>
            </a:ln>
            <a:effectLst/>
          </p:spPr>
          <p:txBody>
            <a:bodyPr wrap="none" anchor="ctr"/>
            <a:lstStyle>
              <a:lvl1pPr>
                <a:spcBef>
                  <a:spcPct val="20000"/>
                </a:spcBef>
                <a:buChar char="•"/>
                <a:defRPr sz="3200" b="1" i="1">
                  <a:solidFill>
                    <a:schemeClr val="tx1"/>
                  </a:solidFill>
                  <a:latin typeface="Times" charset="0"/>
                </a:defRPr>
              </a:lvl1pPr>
              <a:lvl2pPr marL="742950" indent="-285750">
                <a:spcBef>
                  <a:spcPct val="20000"/>
                </a:spcBef>
                <a:buChar char="–"/>
                <a:defRPr sz="2800" b="1" i="1">
                  <a:solidFill>
                    <a:schemeClr val="tx1"/>
                  </a:solidFill>
                  <a:latin typeface="Times" charset="0"/>
                </a:defRPr>
              </a:lvl2pPr>
              <a:lvl3pPr marL="1143000" indent="-228600">
                <a:spcBef>
                  <a:spcPct val="20000"/>
                </a:spcBef>
                <a:buChar char="•"/>
                <a:defRPr sz="2400" b="1" i="1">
                  <a:solidFill>
                    <a:schemeClr val="tx1"/>
                  </a:solidFill>
                  <a:latin typeface="Times" charset="0"/>
                </a:defRPr>
              </a:lvl3pPr>
              <a:lvl4pPr marL="1600200" indent="-228600">
                <a:spcBef>
                  <a:spcPct val="20000"/>
                </a:spcBef>
                <a:buChar char="–"/>
                <a:defRPr sz="2000" b="1" i="1">
                  <a:solidFill>
                    <a:schemeClr val="tx1"/>
                  </a:solidFill>
                  <a:latin typeface="Times" charset="0"/>
                </a:defRPr>
              </a:lvl4pPr>
              <a:lvl5pPr marL="2057400" indent="-228600">
                <a:spcBef>
                  <a:spcPct val="20000"/>
                </a:spcBef>
                <a:buChar char="»"/>
                <a:defRPr sz="2000" b="1" i="1">
                  <a:solidFill>
                    <a:schemeClr val="tx1"/>
                  </a:solidFill>
                  <a:latin typeface="Times" charset="0"/>
                </a:defRPr>
              </a:lvl5pPr>
              <a:lvl6pPr marL="2514600" indent="-228600" eaLnBrk="0" fontAlgn="base" hangingPunct="0">
                <a:spcBef>
                  <a:spcPct val="20000"/>
                </a:spcBef>
                <a:spcAft>
                  <a:spcPct val="0"/>
                </a:spcAft>
                <a:buChar char="»"/>
                <a:defRPr sz="2000" b="1" i="1">
                  <a:solidFill>
                    <a:schemeClr val="tx1"/>
                  </a:solidFill>
                  <a:latin typeface="Times" charset="0"/>
                </a:defRPr>
              </a:lvl6pPr>
              <a:lvl7pPr marL="2971800" indent="-228600" eaLnBrk="0" fontAlgn="base" hangingPunct="0">
                <a:spcBef>
                  <a:spcPct val="20000"/>
                </a:spcBef>
                <a:spcAft>
                  <a:spcPct val="0"/>
                </a:spcAft>
                <a:buChar char="»"/>
                <a:defRPr sz="2000" b="1" i="1">
                  <a:solidFill>
                    <a:schemeClr val="tx1"/>
                  </a:solidFill>
                  <a:latin typeface="Times" charset="0"/>
                </a:defRPr>
              </a:lvl7pPr>
              <a:lvl8pPr marL="3429000" indent="-228600" eaLnBrk="0" fontAlgn="base" hangingPunct="0">
                <a:spcBef>
                  <a:spcPct val="20000"/>
                </a:spcBef>
                <a:spcAft>
                  <a:spcPct val="0"/>
                </a:spcAft>
                <a:buChar char="»"/>
                <a:defRPr sz="2000" b="1" i="1">
                  <a:solidFill>
                    <a:schemeClr val="tx1"/>
                  </a:solidFill>
                  <a:latin typeface="Times" charset="0"/>
                </a:defRPr>
              </a:lvl8pPr>
              <a:lvl9pPr marL="3886200" indent="-228600" eaLnBrk="0" fontAlgn="base" hangingPunct="0">
                <a:spcBef>
                  <a:spcPct val="20000"/>
                </a:spcBef>
                <a:spcAft>
                  <a:spcPct val="0"/>
                </a:spcAft>
                <a:buChar char="»"/>
                <a:defRPr sz="2000" b="1" i="1">
                  <a:solidFill>
                    <a:schemeClr val="tx1"/>
                  </a:solidFill>
                  <a:latin typeface="Times" charset="0"/>
                </a:defRPr>
              </a:lvl9pPr>
            </a:lstStyle>
            <a:p>
              <a:pPr eaLnBrk="1" hangingPunct="1">
                <a:lnSpc>
                  <a:spcPct val="150000"/>
                </a:lnSpc>
                <a:spcBef>
                  <a:spcPct val="0"/>
                </a:spcBef>
                <a:buClr>
                  <a:srgbClr val="000000"/>
                </a:buClr>
                <a:buSzPct val="80000"/>
                <a:defRPr/>
              </a:pPr>
              <a:endParaRPr kumimoji="0" lang="zh-CN" altLang="en-US" sz="2400" i="0" dirty="0">
                <a:solidFill>
                  <a:srgbClr val="000066"/>
                </a:solidFill>
                <a:latin typeface="+mn-lt"/>
                <a:ea typeface="+mn-ea"/>
                <a:cs typeface="+mn-ea"/>
                <a:sym typeface="+mn-lt"/>
              </a:endParaRPr>
            </a:p>
          </p:txBody>
        </p:sp>
        <p:sp>
          <p:nvSpPr>
            <p:cNvPr id="20" name="Line 4"/>
            <p:cNvSpPr>
              <a:spLocks noChangeShapeType="1"/>
            </p:cNvSpPr>
            <p:nvPr/>
          </p:nvSpPr>
          <p:spPr bwMode="auto">
            <a:xfrm>
              <a:off x="8649798" y="4722115"/>
              <a:ext cx="1800225"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nSpc>
                  <a:spcPct val="150000"/>
                </a:lnSpc>
                <a:defRPr/>
              </a:pPr>
              <a:endParaRPr lang="zh-CN" altLang="en-US">
                <a:latin typeface="+mn-lt"/>
                <a:ea typeface="+mn-ea"/>
                <a:cs typeface="+mn-ea"/>
                <a:sym typeface="+mn-lt"/>
              </a:endParaRPr>
            </a:p>
          </p:txBody>
        </p:sp>
        <p:sp>
          <p:nvSpPr>
            <p:cNvPr id="21" name="Line 5"/>
            <p:cNvSpPr>
              <a:spLocks noChangeShapeType="1"/>
            </p:cNvSpPr>
            <p:nvPr/>
          </p:nvSpPr>
          <p:spPr bwMode="auto">
            <a:xfrm flipV="1">
              <a:off x="8568835" y="2980627"/>
              <a:ext cx="0" cy="68580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nSpc>
                  <a:spcPct val="150000"/>
                </a:lnSpc>
                <a:defRPr/>
              </a:pPr>
              <a:endParaRPr lang="zh-CN" altLang="en-US">
                <a:latin typeface="+mn-lt"/>
                <a:ea typeface="+mn-ea"/>
                <a:cs typeface="+mn-ea"/>
                <a:sym typeface="+mn-lt"/>
              </a:endParaRPr>
            </a:p>
          </p:txBody>
        </p:sp>
        <p:sp>
          <p:nvSpPr>
            <p:cNvPr id="22" name="Text Box 6"/>
            <p:cNvSpPr txBox="1">
              <a:spLocks noChangeArrowheads="1"/>
            </p:cNvSpPr>
            <p:nvPr/>
          </p:nvSpPr>
          <p:spPr bwMode="auto">
            <a:xfrm>
              <a:off x="10234123" y="4864990"/>
              <a:ext cx="381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i="1">
                  <a:solidFill>
                    <a:schemeClr val="tx1"/>
                  </a:solidFill>
                  <a:latin typeface="Times" charset="0"/>
                </a:defRPr>
              </a:lvl1pPr>
              <a:lvl2pPr marL="742950" indent="-285750">
                <a:spcBef>
                  <a:spcPct val="20000"/>
                </a:spcBef>
                <a:buChar char="–"/>
                <a:defRPr sz="2800" b="1" i="1">
                  <a:solidFill>
                    <a:schemeClr val="tx1"/>
                  </a:solidFill>
                  <a:latin typeface="Times" charset="0"/>
                </a:defRPr>
              </a:lvl2pPr>
              <a:lvl3pPr marL="1143000" indent="-228600">
                <a:spcBef>
                  <a:spcPct val="20000"/>
                </a:spcBef>
                <a:buChar char="•"/>
                <a:defRPr sz="2400" b="1" i="1">
                  <a:solidFill>
                    <a:schemeClr val="tx1"/>
                  </a:solidFill>
                  <a:latin typeface="Times" charset="0"/>
                </a:defRPr>
              </a:lvl3pPr>
              <a:lvl4pPr marL="1600200" indent="-228600">
                <a:spcBef>
                  <a:spcPct val="20000"/>
                </a:spcBef>
                <a:buChar char="–"/>
                <a:defRPr sz="2000" b="1" i="1">
                  <a:solidFill>
                    <a:schemeClr val="tx1"/>
                  </a:solidFill>
                  <a:latin typeface="Times" charset="0"/>
                </a:defRPr>
              </a:lvl4pPr>
              <a:lvl5pPr marL="2057400" indent="-228600">
                <a:spcBef>
                  <a:spcPct val="20000"/>
                </a:spcBef>
                <a:buChar char="»"/>
                <a:defRPr sz="2000" b="1" i="1">
                  <a:solidFill>
                    <a:schemeClr val="tx1"/>
                  </a:solidFill>
                  <a:latin typeface="Times" charset="0"/>
                </a:defRPr>
              </a:lvl5pPr>
              <a:lvl6pPr marL="2514600" indent="-228600" eaLnBrk="0" fontAlgn="base" hangingPunct="0">
                <a:spcBef>
                  <a:spcPct val="20000"/>
                </a:spcBef>
                <a:spcAft>
                  <a:spcPct val="0"/>
                </a:spcAft>
                <a:buChar char="»"/>
                <a:defRPr sz="2000" b="1" i="1">
                  <a:solidFill>
                    <a:schemeClr val="tx1"/>
                  </a:solidFill>
                  <a:latin typeface="Times" charset="0"/>
                </a:defRPr>
              </a:lvl6pPr>
              <a:lvl7pPr marL="2971800" indent="-228600" eaLnBrk="0" fontAlgn="base" hangingPunct="0">
                <a:spcBef>
                  <a:spcPct val="20000"/>
                </a:spcBef>
                <a:spcAft>
                  <a:spcPct val="0"/>
                </a:spcAft>
                <a:buChar char="»"/>
                <a:defRPr sz="2000" b="1" i="1">
                  <a:solidFill>
                    <a:schemeClr val="tx1"/>
                  </a:solidFill>
                  <a:latin typeface="Times" charset="0"/>
                </a:defRPr>
              </a:lvl7pPr>
              <a:lvl8pPr marL="3429000" indent="-228600" eaLnBrk="0" fontAlgn="base" hangingPunct="0">
                <a:spcBef>
                  <a:spcPct val="20000"/>
                </a:spcBef>
                <a:spcAft>
                  <a:spcPct val="0"/>
                </a:spcAft>
                <a:buChar char="»"/>
                <a:defRPr sz="2000" b="1" i="1">
                  <a:solidFill>
                    <a:schemeClr val="tx1"/>
                  </a:solidFill>
                  <a:latin typeface="Times" charset="0"/>
                </a:defRPr>
              </a:lvl8pPr>
              <a:lvl9pPr marL="3886200" indent="-228600" eaLnBrk="0" fontAlgn="base" hangingPunct="0">
                <a:spcBef>
                  <a:spcPct val="20000"/>
                </a:spcBef>
                <a:spcAft>
                  <a:spcPct val="0"/>
                </a:spcAft>
                <a:buChar char="»"/>
                <a:defRPr sz="2000" b="1" i="1">
                  <a:solidFill>
                    <a:schemeClr val="tx1"/>
                  </a:solidFill>
                  <a:latin typeface="Times" charset="0"/>
                </a:defRPr>
              </a:lvl9pPr>
            </a:lstStyle>
            <a:p>
              <a:pPr eaLnBrk="1" hangingPunct="1">
                <a:lnSpc>
                  <a:spcPct val="150000"/>
                </a:lnSpc>
                <a:spcBef>
                  <a:spcPct val="0"/>
                </a:spcBef>
                <a:buFontTx/>
                <a:buNone/>
                <a:defRPr/>
              </a:pPr>
              <a:r>
                <a:rPr lang="en-US" altLang="zh-CN" sz="2400" b="0" i="0">
                  <a:solidFill>
                    <a:srgbClr val="000000"/>
                  </a:solidFill>
                  <a:latin typeface="+mn-lt"/>
                  <a:ea typeface="+mn-ea"/>
                  <a:cs typeface="+mn-ea"/>
                  <a:sym typeface="+mn-lt"/>
                </a:rPr>
                <a:t>X</a:t>
              </a:r>
              <a:endParaRPr lang="en-US" altLang="zh-CN" sz="2400" b="0" i="0">
                <a:solidFill>
                  <a:srgbClr val="000000"/>
                </a:solidFill>
                <a:latin typeface="+mn-lt"/>
                <a:ea typeface="+mn-ea"/>
                <a:cs typeface="+mn-ea"/>
                <a:sym typeface="+mn-lt"/>
              </a:endParaRPr>
            </a:p>
          </p:txBody>
        </p:sp>
        <p:sp>
          <p:nvSpPr>
            <p:cNvPr id="23" name="Text Box 7"/>
            <p:cNvSpPr txBox="1">
              <a:spLocks noChangeArrowheads="1"/>
            </p:cNvSpPr>
            <p:nvPr/>
          </p:nvSpPr>
          <p:spPr bwMode="auto">
            <a:xfrm>
              <a:off x="8797435" y="2752027"/>
              <a:ext cx="3587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i="1">
                  <a:solidFill>
                    <a:schemeClr val="tx1"/>
                  </a:solidFill>
                  <a:latin typeface="Times" charset="0"/>
                </a:defRPr>
              </a:lvl1pPr>
              <a:lvl2pPr marL="742950" indent="-285750">
                <a:spcBef>
                  <a:spcPct val="20000"/>
                </a:spcBef>
                <a:buChar char="–"/>
                <a:defRPr sz="2800" b="1" i="1">
                  <a:solidFill>
                    <a:schemeClr val="tx1"/>
                  </a:solidFill>
                  <a:latin typeface="Times" charset="0"/>
                </a:defRPr>
              </a:lvl2pPr>
              <a:lvl3pPr marL="1143000" indent="-228600">
                <a:spcBef>
                  <a:spcPct val="20000"/>
                </a:spcBef>
                <a:buChar char="•"/>
                <a:defRPr sz="2400" b="1" i="1">
                  <a:solidFill>
                    <a:schemeClr val="tx1"/>
                  </a:solidFill>
                  <a:latin typeface="Times" charset="0"/>
                </a:defRPr>
              </a:lvl3pPr>
              <a:lvl4pPr marL="1600200" indent="-228600">
                <a:spcBef>
                  <a:spcPct val="20000"/>
                </a:spcBef>
                <a:buChar char="–"/>
                <a:defRPr sz="2000" b="1" i="1">
                  <a:solidFill>
                    <a:schemeClr val="tx1"/>
                  </a:solidFill>
                  <a:latin typeface="Times" charset="0"/>
                </a:defRPr>
              </a:lvl4pPr>
              <a:lvl5pPr marL="2057400" indent="-228600">
                <a:spcBef>
                  <a:spcPct val="20000"/>
                </a:spcBef>
                <a:buChar char="»"/>
                <a:defRPr sz="2000" b="1" i="1">
                  <a:solidFill>
                    <a:schemeClr val="tx1"/>
                  </a:solidFill>
                  <a:latin typeface="Times" charset="0"/>
                </a:defRPr>
              </a:lvl5pPr>
              <a:lvl6pPr marL="2514600" indent="-228600" eaLnBrk="0" fontAlgn="base" hangingPunct="0">
                <a:spcBef>
                  <a:spcPct val="20000"/>
                </a:spcBef>
                <a:spcAft>
                  <a:spcPct val="0"/>
                </a:spcAft>
                <a:buChar char="»"/>
                <a:defRPr sz="2000" b="1" i="1">
                  <a:solidFill>
                    <a:schemeClr val="tx1"/>
                  </a:solidFill>
                  <a:latin typeface="Times" charset="0"/>
                </a:defRPr>
              </a:lvl6pPr>
              <a:lvl7pPr marL="2971800" indent="-228600" eaLnBrk="0" fontAlgn="base" hangingPunct="0">
                <a:spcBef>
                  <a:spcPct val="20000"/>
                </a:spcBef>
                <a:spcAft>
                  <a:spcPct val="0"/>
                </a:spcAft>
                <a:buChar char="»"/>
                <a:defRPr sz="2000" b="1" i="1">
                  <a:solidFill>
                    <a:schemeClr val="tx1"/>
                  </a:solidFill>
                  <a:latin typeface="Times" charset="0"/>
                </a:defRPr>
              </a:lvl7pPr>
              <a:lvl8pPr marL="3429000" indent="-228600" eaLnBrk="0" fontAlgn="base" hangingPunct="0">
                <a:spcBef>
                  <a:spcPct val="20000"/>
                </a:spcBef>
                <a:spcAft>
                  <a:spcPct val="0"/>
                </a:spcAft>
                <a:buChar char="»"/>
                <a:defRPr sz="2000" b="1" i="1">
                  <a:solidFill>
                    <a:schemeClr val="tx1"/>
                  </a:solidFill>
                  <a:latin typeface="Times" charset="0"/>
                </a:defRPr>
              </a:lvl8pPr>
              <a:lvl9pPr marL="3886200" indent="-228600" eaLnBrk="0" fontAlgn="base" hangingPunct="0">
                <a:spcBef>
                  <a:spcPct val="20000"/>
                </a:spcBef>
                <a:spcAft>
                  <a:spcPct val="0"/>
                </a:spcAft>
                <a:buChar char="»"/>
                <a:defRPr sz="2000" b="1" i="1">
                  <a:solidFill>
                    <a:schemeClr val="tx1"/>
                  </a:solidFill>
                  <a:latin typeface="Times" charset="0"/>
                </a:defRPr>
              </a:lvl9pPr>
            </a:lstStyle>
            <a:p>
              <a:pPr eaLnBrk="1" hangingPunct="1">
                <a:lnSpc>
                  <a:spcPct val="150000"/>
                </a:lnSpc>
                <a:spcBef>
                  <a:spcPct val="0"/>
                </a:spcBef>
                <a:buFontTx/>
                <a:buNone/>
                <a:defRPr/>
              </a:pPr>
              <a:r>
                <a:rPr lang="en-US" altLang="zh-CN" sz="2400" b="0" i="0">
                  <a:solidFill>
                    <a:srgbClr val="000000"/>
                  </a:solidFill>
                  <a:latin typeface="+mn-lt"/>
                  <a:ea typeface="+mn-ea"/>
                  <a:cs typeface="+mn-ea"/>
                  <a:sym typeface="+mn-lt"/>
                </a:rPr>
                <a:t>Y</a:t>
              </a:r>
              <a:endParaRPr lang="en-US" altLang="zh-CN" sz="2400" b="0" i="0">
                <a:solidFill>
                  <a:srgbClr val="000000"/>
                </a:solidFill>
                <a:latin typeface="+mn-lt"/>
                <a:ea typeface="+mn-ea"/>
                <a:cs typeface="+mn-ea"/>
                <a:sym typeface="+mn-lt"/>
              </a:endParaRPr>
            </a:p>
          </p:txBody>
        </p:sp>
        <p:sp>
          <p:nvSpPr>
            <p:cNvPr id="24" name="Text Box 8"/>
            <p:cNvSpPr txBox="1">
              <a:spLocks noChangeArrowheads="1"/>
            </p:cNvSpPr>
            <p:nvPr/>
          </p:nvSpPr>
          <p:spPr bwMode="auto">
            <a:xfrm>
              <a:off x="9513398" y="4722115"/>
              <a:ext cx="457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i="1">
                  <a:solidFill>
                    <a:schemeClr val="tx1"/>
                  </a:solidFill>
                  <a:latin typeface="Times" charset="0"/>
                </a:defRPr>
              </a:lvl1pPr>
              <a:lvl2pPr marL="742950" indent="-285750">
                <a:spcBef>
                  <a:spcPct val="20000"/>
                </a:spcBef>
                <a:buChar char="–"/>
                <a:defRPr sz="2800" b="1" i="1">
                  <a:solidFill>
                    <a:schemeClr val="tx1"/>
                  </a:solidFill>
                  <a:latin typeface="Times" charset="0"/>
                </a:defRPr>
              </a:lvl2pPr>
              <a:lvl3pPr marL="1143000" indent="-228600">
                <a:spcBef>
                  <a:spcPct val="20000"/>
                </a:spcBef>
                <a:buChar char="•"/>
                <a:defRPr sz="2400" b="1" i="1">
                  <a:solidFill>
                    <a:schemeClr val="tx1"/>
                  </a:solidFill>
                  <a:latin typeface="Times" charset="0"/>
                </a:defRPr>
              </a:lvl3pPr>
              <a:lvl4pPr marL="1600200" indent="-228600">
                <a:spcBef>
                  <a:spcPct val="20000"/>
                </a:spcBef>
                <a:buChar char="–"/>
                <a:defRPr sz="2000" b="1" i="1">
                  <a:solidFill>
                    <a:schemeClr val="tx1"/>
                  </a:solidFill>
                  <a:latin typeface="Times" charset="0"/>
                </a:defRPr>
              </a:lvl4pPr>
              <a:lvl5pPr marL="2057400" indent="-228600">
                <a:spcBef>
                  <a:spcPct val="20000"/>
                </a:spcBef>
                <a:buChar char="»"/>
                <a:defRPr sz="2000" b="1" i="1">
                  <a:solidFill>
                    <a:schemeClr val="tx1"/>
                  </a:solidFill>
                  <a:latin typeface="Times" charset="0"/>
                </a:defRPr>
              </a:lvl5pPr>
              <a:lvl6pPr marL="2514600" indent="-228600" eaLnBrk="0" fontAlgn="base" hangingPunct="0">
                <a:spcBef>
                  <a:spcPct val="20000"/>
                </a:spcBef>
                <a:spcAft>
                  <a:spcPct val="0"/>
                </a:spcAft>
                <a:buChar char="»"/>
                <a:defRPr sz="2000" b="1" i="1">
                  <a:solidFill>
                    <a:schemeClr val="tx1"/>
                  </a:solidFill>
                  <a:latin typeface="Times" charset="0"/>
                </a:defRPr>
              </a:lvl6pPr>
              <a:lvl7pPr marL="2971800" indent="-228600" eaLnBrk="0" fontAlgn="base" hangingPunct="0">
                <a:spcBef>
                  <a:spcPct val="20000"/>
                </a:spcBef>
                <a:spcAft>
                  <a:spcPct val="0"/>
                </a:spcAft>
                <a:buChar char="»"/>
                <a:defRPr sz="2000" b="1" i="1">
                  <a:solidFill>
                    <a:schemeClr val="tx1"/>
                  </a:solidFill>
                  <a:latin typeface="Times" charset="0"/>
                </a:defRPr>
              </a:lvl7pPr>
              <a:lvl8pPr marL="3429000" indent="-228600" eaLnBrk="0" fontAlgn="base" hangingPunct="0">
                <a:spcBef>
                  <a:spcPct val="20000"/>
                </a:spcBef>
                <a:spcAft>
                  <a:spcPct val="0"/>
                </a:spcAft>
                <a:buChar char="»"/>
                <a:defRPr sz="2000" b="1" i="1">
                  <a:solidFill>
                    <a:schemeClr val="tx1"/>
                  </a:solidFill>
                  <a:latin typeface="Times" charset="0"/>
                </a:defRPr>
              </a:lvl8pPr>
              <a:lvl9pPr marL="3886200" indent="-228600" eaLnBrk="0" fontAlgn="base" hangingPunct="0">
                <a:spcBef>
                  <a:spcPct val="20000"/>
                </a:spcBef>
                <a:spcAft>
                  <a:spcPct val="0"/>
                </a:spcAft>
                <a:buChar char="»"/>
                <a:defRPr sz="2000" b="1" i="1">
                  <a:solidFill>
                    <a:schemeClr val="tx1"/>
                  </a:solidFill>
                  <a:latin typeface="Times" charset="0"/>
                </a:defRPr>
              </a:lvl9pPr>
            </a:lstStyle>
            <a:p>
              <a:pPr eaLnBrk="1" hangingPunct="1">
                <a:lnSpc>
                  <a:spcPct val="150000"/>
                </a:lnSpc>
                <a:spcBef>
                  <a:spcPct val="0"/>
                </a:spcBef>
                <a:buFontTx/>
                <a:buNone/>
                <a:defRPr/>
              </a:pPr>
              <a:r>
                <a:rPr lang="en-US" altLang="zh-CN" sz="2400" b="0" i="0">
                  <a:solidFill>
                    <a:srgbClr val="000000"/>
                  </a:solidFill>
                  <a:latin typeface="+mn-lt"/>
                  <a:ea typeface="+mn-ea"/>
                  <a:cs typeface="+mn-ea"/>
                  <a:sym typeface="+mn-lt"/>
                </a:rPr>
                <a:t>1</a:t>
              </a:r>
              <a:endParaRPr lang="en-US" altLang="zh-CN" sz="2400" b="0" i="0">
                <a:solidFill>
                  <a:srgbClr val="000000"/>
                </a:solidFill>
                <a:latin typeface="+mn-lt"/>
                <a:ea typeface="+mn-ea"/>
                <a:cs typeface="+mn-ea"/>
                <a:sym typeface="+mn-lt"/>
              </a:endParaRPr>
            </a:p>
          </p:txBody>
        </p:sp>
        <p:sp>
          <p:nvSpPr>
            <p:cNvPr id="25" name="Text Box 9"/>
            <p:cNvSpPr txBox="1">
              <a:spLocks noChangeArrowheads="1"/>
            </p:cNvSpPr>
            <p:nvPr/>
          </p:nvSpPr>
          <p:spPr bwMode="auto">
            <a:xfrm>
              <a:off x="8217998" y="3137790"/>
              <a:ext cx="381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i="1">
                  <a:solidFill>
                    <a:schemeClr val="tx1"/>
                  </a:solidFill>
                  <a:latin typeface="Times" charset="0"/>
                </a:defRPr>
              </a:lvl1pPr>
              <a:lvl2pPr marL="742950" indent="-285750">
                <a:spcBef>
                  <a:spcPct val="20000"/>
                </a:spcBef>
                <a:buChar char="–"/>
                <a:defRPr sz="2800" b="1" i="1">
                  <a:solidFill>
                    <a:schemeClr val="tx1"/>
                  </a:solidFill>
                  <a:latin typeface="Times" charset="0"/>
                </a:defRPr>
              </a:lvl2pPr>
              <a:lvl3pPr marL="1143000" indent="-228600">
                <a:spcBef>
                  <a:spcPct val="20000"/>
                </a:spcBef>
                <a:buChar char="•"/>
                <a:defRPr sz="2400" b="1" i="1">
                  <a:solidFill>
                    <a:schemeClr val="tx1"/>
                  </a:solidFill>
                  <a:latin typeface="Times" charset="0"/>
                </a:defRPr>
              </a:lvl3pPr>
              <a:lvl4pPr marL="1600200" indent="-228600">
                <a:spcBef>
                  <a:spcPct val="20000"/>
                </a:spcBef>
                <a:buChar char="–"/>
                <a:defRPr sz="2000" b="1" i="1">
                  <a:solidFill>
                    <a:schemeClr val="tx1"/>
                  </a:solidFill>
                  <a:latin typeface="Times" charset="0"/>
                </a:defRPr>
              </a:lvl4pPr>
              <a:lvl5pPr marL="2057400" indent="-228600">
                <a:spcBef>
                  <a:spcPct val="20000"/>
                </a:spcBef>
                <a:buChar char="»"/>
                <a:defRPr sz="2000" b="1" i="1">
                  <a:solidFill>
                    <a:schemeClr val="tx1"/>
                  </a:solidFill>
                  <a:latin typeface="Times" charset="0"/>
                </a:defRPr>
              </a:lvl5pPr>
              <a:lvl6pPr marL="2514600" indent="-228600" eaLnBrk="0" fontAlgn="base" hangingPunct="0">
                <a:spcBef>
                  <a:spcPct val="20000"/>
                </a:spcBef>
                <a:spcAft>
                  <a:spcPct val="0"/>
                </a:spcAft>
                <a:buChar char="»"/>
                <a:defRPr sz="2000" b="1" i="1">
                  <a:solidFill>
                    <a:schemeClr val="tx1"/>
                  </a:solidFill>
                  <a:latin typeface="Times" charset="0"/>
                </a:defRPr>
              </a:lvl6pPr>
              <a:lvl7pPr marL="2971800" indent="-228600" eaLnBrk="0" fontAlgn="base" hangingPunct="0">
                <a:spcBef>
                  <a:spcPct val="20000"/>
                </a:spcBef>
                <a:spcAft>
                  <a:spcPct val="0"/>
                </a:spcAft>
                <a:buChar char="»"/>
                <a:defRPr sz="2000" b="1" i="1">
                  <a:solidFill>
                    <a:schemeClr val="tx1"/>
                  </a:solidFill>
                  <a:latin typeface="Times" charset="0"/>
                </a:defRPr>
              </a:lvl7pPr>
              <a:lvl8pPr marL="3429000" indent="-228600" eaLnBrk="0" fontAlgn="base" hangingPunct="0">
                <a:spcBef>
                  <a:spcPct val="20000"/>
                </a:spcBef>
                <a:spcAft>
                  <a:spcPct val="0"/>
                </a:spcAft>
                <a:buChar char="»"/>
                <a:defRPr sz="2000" b="1" i="1">
                  <a:solidFill>
                    <a:schemeClr val="tx1"/>
                  </a:solidFill>
                  <a:latin typeface="Times" charset="0"/>
                </a:defRPr>
              </a:lvl8pPr>
              <a:lvl9pPr marL="3886200" indent="-228600" eaLnBrk="0" fontAlgn="base" hangingPunct="0">
                <a:spcBef>
                  <a:spcPct val="20000"/>
                </a:spcBef>
                <a:spcAft>
                  <a:spcPct val="0"/>
                </a:spcAft>
                <a:buChar char="»"/>
                <a:defRPr sz="2000" b="1" i="1">
                  <a:solidFill>
                    <a:schemeClr val="tx1"/>
                  </a:solidFill>
                  <a:latin typeface="Times" charset="0"/>
                </a:defRPr>
              </a:lvl9pPr>
            </a:lstStyle>
            <a:p>
              <a:pPr eaLnBrk="1" hangingPunct="1">
                <a:lnSpc>
                  <a:spcPct val="150000"/>
                </a:lnSpc>
                <a:spcBef>
                  <a:spcPct val="0"/>
                </a:spcBef>
                <a:buFontTx/>
                <a:buNone/>
                <a:defRPr/>
              </a:pPr>
              <a:r>
                <a:rPr lang="en-US" altLang="zh-CN" sz="2400" b="0" i="0">
                  <a:solidFill>
                    <a:srgbClr val="000000"/>
                  </a:solidFill>
                  <a:latin typeface="+mn-lt"/>
                  <a:ea typeface="+mn-ea"/>
                  <a:cs typeface="+mn-ea"/>
                  <a:sym typeface="+mn-lt"/>
                </a:rPr>
                <a:t>1</a:t>
              </a:r>
              <a:endParaRPr lang="en-US" altLang="zh-CN" sz="2400" b="0" i="0">
                <a:solidFill>
                  <a:srgbClr val="000000"/>
                </a:solidFill>
                <a:latin typeface="+mn-lt"/>
                <a:ea typeface="+mn-ea"/>
                <a:cs typeface="+mn-ea"/>
                <a:sym typeface="+mn-lt"/>
              </a:endParaRPr>
            </a:p>
          </p:txBody>
        </p:sp>
        <p:sp>
          <p:nvSpPr>
            <p:cNvPr id="26" name="Text Box 10"/>
            <p:cNvSpPr txBox="1">
              <a:spLocks noChangeArrowheads="1"/>
            </p:cNvSpPr>
            <p:nvPr/>
          </p:nvSpPr>
          <p:spPr bwMode="auto">
            <a:xfrm>
              <a:off x="8949835" y="3971227"/>
              <a:ext cx="609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i="1">
                  <a:solidFill>
                    <a:schemeClr val="tx1"/>
                  </a:solidFill>
                  <a:latin typeface="Times" charset="0"/>
                </a:defRPr>
              </a:lvl1pPr>
              <a:lvl2pPr marL="742950" indent="-285750">
                <a:spcBef>
                  <a:spcPct val="20000"/>
                </a:spcBef>
                <a:buChar char="–"/>
                <a:defRPr sz="2800" b="1" i="1">
                  <a:solidFill>
                    <a:schemeClr val="tx1"/>
                  </a:solidFill>
                  <a:latin typeface="Times" charset="0"/>
                </a:defRPr>
              </a:lvl2pPr>
              <a:lvl3pPr marL="1143000" indent="-228600">
                <a:spcBef>
                  <a:spcPct val="20000"/>
                </a:spcBef>
                <a:buChar char="•"/>
                <a:defRPr sz="2400" b="1" i="1">
                  <a:solidFill>
                    <a:schemeClr val="tx1"/>
                  </a:solidFill>
                  <a:latin typeface="Times" charset="0"/>
                </a:defRPr>
              </a:lvl3pPr>
              <a:lvl4pPr marL="1600200" indent="-228600">
                <a:spcBef>
                  <a:spcPct val="20000"/>
                </a:spcBef>
                <a:buChar char="–"/>
                <a:defRPr sz="2000" b="1" i="1">
                  <a:solidFill>
                    <a:schemeClr val="tx1"/>
                  </a:solidFill>
                  <a:latin typeface="Times" charset="0"/>
                </a:defRPr>
              </a:lvl4pPr>
              <a:lvl5pPr marL="2057400" indent="-228600">
                <a:spcBef>
                  <a:spcPct val="20000"/>
                </a:spcBef>
                <a:buChar char="»"/>
                <a:defRPr sz="2000" b="1" i="1">
                  <a:solidFill>
                    <a:schemeClr val="tx1"/>
                  </a:solidFill>
                  <a:latin typeface="Times" charset="0"/>
                </a:defRPr>
              </a:lvl5pPr>
              <a:lvl6pPr marL="2514600" indent="-228600" eaLnBrk="0" fontAlgn="base" hangingPunct="0">
                <a:spcBef>
                  <a:spcPct val="20000"/>
                </a:spcBef>
                <a:spcAft>
                  <a:spcPct val="0"/>
                </a:spcAft>
                <a:buChar char="»"/>
                <a:defRPr sz="2000" b="1" i="1">
                  <a:solidFill>
                    <a:schemeClr val="tx1"/>
                  </a:solidFill>
                  <a:latin typeface="Times" charset="0"/>
                </a:defRPr>
              </a:lvl6pPr>
              <a:lvl7pPr marL="2971800" indent="-228600" eaLnBrk="0" fontAlgn="base" hangingPunct="0">
                <a:spcBef>
                  <a:spcPct val="20000"/>
                </a:spcBef>
                <a:spcAft>
                  <a:spcPct val="0"/>
                </a:spcAft>
                <a:buChar char="»"/>
                <a:defRPr sz="2000" b="1" i="1">
                  <a:solidFill>
                    <a:schemeClr val="tx1"/>
                  </a:solidFill>
                  <a:latin typeface="Times" charset="0"/>
                </a:defRPr>
              </a:lvl7pPr>
              <a:lvl8pPr marL="3429000" indent="-228600" eaLnBrk="0" fontAlgn="base" hangingPunct="0">
                <a:spcBef>
                  <a:spcPct val="20000"/>
                </a:spcBef>
                <a:spcAft>
                  <a:spcPct val="0"/>
                </a:spcAft>
                <a:buChar char="»"/>
                <a:defRPr sz="2000" b="1" i="1">
                  <a:solidFill>
                    <a:schemeClr val="tx1"/>
                  </a:solidFill>
                  <a:latin typeface="Times" charset="0"/>
                </a:defRPr>
              </a:lvl8pPr>
              <a:lvl9pPr marL="3886200" indent="-228600" eaLnBrk="0" fontAlgn="base" hangingPunct="0">
                <a:spcBef>
                  <a:spcPct val="20000"/>
                </a:spcBef>
                <a:spcAft>
                  <a:spcPct val="0"/>
                </a:spcAft>
                <a:buChar char="»"/>
                <a:defRPr sz="2000" b="1" i="1">
                  <a:solidFill>
                    <a:schemeClr val="tx1"/>
                  </a:solidFill>
                  <a:latin typeface="Times" charset="0"/>
                </a:defRPr>
              </a:lvl9pPr>
            </a:lstStyle>
            <a:p>
              <a:pPr eaLnBrk="1" hangingPunct="1">
                <a:lnSpc>
                  <a:spcPct val="150000"/>
                </a:lnSpc>
                <a:spcBef>
                  <a:spcPct val="0"/>
                </a:spcBef>
                <a:buFontTx/>
                <a:buNone/>
                <a:defRPr/>
              </a:pPr>
              <a:r>
                <a:rPr lang="en-US" altLang="zh-CN" sz="2400" b="0" i="0">
                  <a:solidFill>
                    <a:srgbClr val="000000"/>
                  </a:solidFill>
                  <a:latin typeface="+mn-lt"/>
                  <a:ea typeface="+mn-ea"/>
                  <a:cs typeface="+mn-ea"/>
                  <a:sym typeface="+mn-lt"/>
                </a:rPr>
                <a:t>D</a:t>
              </a:r>
              <a:endParaRPr lang="en-US" altLang="zh-CN" sz="2400" b="0" i="0">
                <a:solidFill>
                  <a:srgbClr val="000000"/>
                </a:solidFill>
                <a:latin typeface="+mn-lt"/>
                <a:ea typeface="+mn-ea"/>
                <a:cs typeface="+mn-ea"/>
                <a:sym typeface="+mn-lt"/>
              </a:endParaRPr>
            </a:p>
          </p:txBody>
        </p:sp>
        <p:sp>
          <p:nvSpPr>
            <p:cNvPr id="27" name="Text Box 11"/>
            <p:cNvSpPr txBox="1">
              <a:spLocks noChangeArrowheads="1"/>
            </p:cNvSpPr>
            <p:nvPr/>
          </p:nvSpPr>
          <p:spPr bwMode="auto">
            <a:xfrm>
              <a:off x="8362460" y="4793552"/>
              <a:ext cx="5032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i="1">
                  <a:solidFill>
                    <a:schemeClr val="tx1"/>
                  </a:solidFill>
                  <a:latin typeface="Times" charset="0"/>
                </a:defRPr>
              </a:lvl1pPr>
              <a:lvl2pPr marL="742950" indent="-285750">
                <a:spcBef>
                  <a:spcPct val="20000"/>
                </a:spcBef>
                <a:buChar char="–"/>
                <a:defRPr sz="2800" b="1" i="1">
                  <a:solidFill>
                    <a:schemeClr val="tx1"/>
                  </a:solidFill>
                  <a:latin typeface="Times" charset="0"/>
                </a:defRPr>
              </a:lvl2pPr>
              <a:lvl3pPr marL="1143000" indent="-228600">
                <a:spcBef>
                  <a:spcPct val="20000"/>
                </a:spcBef>
                <a:buChar char="•"/>
                <a:defRPr sz="2400" b="1" i="1">
                  <a:solidFill>
                    <a:schemeClr val="tx1"/>
                  </a:solidFill>
                  <a:latin typeface="Times" charset="0"/>
                </a:defRPr>
              </a:lvl3pPr>
              <a:lvl4pPr marL="1600200" indent="-228600">
                <a:spcBef>
                  <a:spcPct val="20000"/>
                </a:spcBef>
                <a:buChar char="–"/>
                <a:defRPr sz="2000" b="1" i="1">
                  <a:solidFill>
                    <a:schemeClr val="tx1"/>
                  </a:solidFill>
                  <a:latin typeface="Times" charset="0"/>
                </a:defRPr>
              </a:lvl4pPr>
              <a:lvl5pPr marL="2057400" indent="-228600">
                <a:spcBef>
                  <a:spcPct val="20000"/>
                </a:spcBef>
                <a:buChar char="»"/>
                <a:defRPr sz="2000" b="1" i="1">
                  <a:solidFill>
                    <a:schemeClr val="tx1"/>
                  </a:solidFill>
                  <a:latin typeface="Times" charset="0"/>
                </a:defRPr>
              </a:lvl5pPr>
              <a:lvl6pPr marL="2514600" indent="-228600" eaLnBrk="0" fontAlgn="base" hangingPunct="0">
                <a:spcBef>
                  <a:spcPct val="20000"/>
                </a:spcBef>
                <a:spcAft>
                  <a:spcPct val="0"/>
                </a:spcAft>
                <a:buChar char="»"/>
                <a:defRPr sz="2000" b="1" i="1">
                  <a:solidFill>
                    <a:schemeClr val="tx1"/>
                  </a:solidFill>
                  <a:latin typeface="Times" charset="0"/>
                </a:defRPr>
              </a:lvl6pPr>
              <a:lvl7pPr marL="2971800" indent="-228600" eaLnBrk="0" fontAlgn="base" hangingPunct="0">
                <a:spcBef>
                  <a:spcPct val="20000"/>
                </a:spcBef>
                <a:spcAft>
                  <a:spcPct val="0"/>
                </a:spcAft>
                <a:buChar char="»"/>
                <a:defRPr sz="2000" b="1" i="1">
                  <a:solidFill>
                    <a:schemeClr val="tx1"/>
                  </a:solidFill>
                  <a:latin typeface="Times" charset="0"/>
                </a:defRPr>
              </a:lvl7pPr>
              <a:lvl8pPr marL="3429000" indent="-228600" eaLnBrk="0" fontAlgn="base" hangingPunct="0">
                <a:spcBef>
                  <a:spcPct val="20000"/>
                </a:spcBef>
                <a:spcAft>
                  <a:spcPct val="0"/>
                </a:spcAft>
                <a:buChar char="»"/>
                <a:defRPr sz="2000" b="1" i="1">
                  <a:solidFill>
                    <a:schemeClr val="tx1"/>
                  </a:solidFill>
                  <a:latin typeface="Times" charset="0"/>
                </a:defRPr>
              </a:lvl8pPr>
              <a:lvl9pPr marL="3886200" indent="-228600" eaLnBrk="0" fontAlgn="base" hangingPunct="0">
                <a:spcBef>
                  <a:spcPct val="20000"/>
                </a:spcBef>
                <a:spcAft>
                  <a:spcPct val="0"/>
                </a:spcAft>
                <a:buChar char="»"/>
                <a:defRPr sz="2000" b="1" i="1">
                  <a:solidFill>
                    <a:schemeClr val="tx1"/>
                  </a:solidFill>
                  <a:latin typeface="Times" charset="0"/>
                </a:defRPr>
              </a:lvl9pPr>
            </a:lstStyle>
            <a:p>
              <a:pPr eaLnBrk="1" hangingPunct="1">
                <a:lnSpc>
                  <a:spcPct val="150000"/>
                </a:lnSpc>
                <a:spcBef>
                  <a:spcPct val="0"/>
                </a:spcBef>
                <a:buFontTx/>
                <a:buNone/>
                <a:defRPr/>
              </a:pPr>
              <a:r>
                <a:rPr lang="en-US" altLang="zh-CN" sz="2400" b="0" i="0">
                  <a:solidFill>
                    <a:srgbClr val="000000"/>
                  </a:solidFill>
                  <a:latin typeface="+mn-lt"/>
                  <a:ea typeface="+mn-ea"/>
                  <a:cs typeface="+mn-ea"/>
                  <a:sym typeface="+mn-lt"/>
                </a:rPr>
                <a:t>0</a:t>
              </a:r>
              <a:endParaRPr lang="en-US" altLang="zh-CN" sz="2400" b="0" i="0">
                <a:solidFill>
                  <a:srgbClr val="000000"/>
                </a:solidFill>
                <a:latin typeface="+mn-lt"/>
                <a:ea typeface="+mn-ea"/>
                <a:cs typeface="+mn-ea"/>
                <a:sym typeface="+mn-l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1000" fill="hold"/>
                                        <p:tgtEl>
                                          <p:spTgt spid="17"/>
                                        </p:tgtEl>
                                        <p:attrNameLst>
                                          <p:attrName>ppt_x</p:attrName>
                                        </p:attrNameLst>
                                      </p:cBhvr>
                                      <p:tavLst>
                                        <p:tav tm="0">
                                          <p:val>
                                            <p:strVal val="0-#ppt_w/2"/>
                                          </p:val>
                                        </p:tav>
                                        <p:tav tm="100000">
                                          <p:val>
                                            <p:strVal val="#ppt_x"/>
                                          </p:val>
                                        </p:tav>
                                      </p:tavLst>
                                    </p:anim>
                                    <p:anim calcmode="lin" valueType="num">
                                      <p:cBhvr additive="base">
                                        <p:cTn id="8" dur="10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1000" fill="hold"/>
                                        <p:tgtEl>
                                          <p:spTgt spid="16"/>
                                        </p:tgtEl>
                                        <p:attrNameLst>
                                          <p:attrName>ppt_x</p:attrName>
                                        </p:attrNameLst>
                                      </p:cBhvr>
                                      <p:tavLst>
                                        <p:tav tm="0">
                                          <p:val>
                                            <p:strVal val="0-#ppt_w/2"/>
                                          </p:val>
                                        </p:tav>
                                        <p:tav tm="100000">
                                          <p:val>
                                            <p:strVal val="#ppt_x"/>
                                          </p:val>
                                        </p:tav>
                                      </p:tavLst>
                                    </p:anim>
                                    <p:anim calcmode="lin" valueType="num">
                                      <p:cBhvr additive="base">
                                        <p:cTn id="14" dur="10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1000" fill="hold"/>
                                        <p:tgtEl>
                                          <p:spTgt spid="18"/>
                                        </p:tgtEl>
                                        <p:attrNameLst>
                                          <p:attrName>ppt_x</p:attrName>
                                        </p:attrNameLst>
                                      </p:cBhvr>
                                      <p:tavLst>
                                        <p:tav tm="0">
                                          <p:val>
                                            <p:strVal val="0-#ppt_w/2"/>
                                          </p:val>
                                        </p:tav>
                                        <p:tav tm="100000">
                                          <p:val>
                                            <p:strVal val="#ppt_x"/>
                                          </p:val>
                                        </p:tav>
                                      </p:tavLst>
                                    </p:anim>
                                    <p:anim calcmode="lin" valueType="num">
                                      <p:cBhvr additive="base">
                                        <p:cTn id="20" dur="1000" fill="hold"/>
                                        <p:tgtEl>
                                          <p:spTgt spid="18"/>
                                        </p:tgtEl>
                                        <p:attrNameLst>
                                          <p:attrName>ppt_y</p:attrName>
                                        </p:attrNameLst>
                                      </p:cBhvr>
                                      <p:tavLst>
                                        <p:tav tm="0">
                                          <p:val>
                                            <p:strVal val="#ppt_y"/>
                                          </p:val>
                                        </p:tav>
                                        <p:tav tm="100000">
                                          <p:val>
                                            <p:strVal val="#ppt_y"/>
                                          </p:val>
                                        </p:tav>
                                      </p:tavLst>
                                    </p:anim>
                                  </p:childTnLst>
                                </p:cTn>
                              </p:par>
                            </p:childTnLst>
                          </p:cTn>
                        </p:par>
                        <p:par>
                          <p:cTn id="21" fill="hold">
                            <p:stCondLst>
                              <p:cond delay="1000"/>
                            </p:stCondLst>
                            <p:childTnLst>
                              <p:par>
                                <p:cTn id="22" presetID="16" presetClass="entr" presetSubtype="37"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arn(outVertical)">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87" name="Object 51"/>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194597" name="公式" r:id="rId1" imgW="114300" imgH="215900" progId="Equation.3">
                  <p:embed/>
                </p:oleObj>
              </mc:Choice>
              <mc:Fallback>
                <p:oleObj name="公式" r:id="rId1" imgW="114300" imgH="215900" progId="Equation.3">
                  <p:embed/>
                  <p:pic>
                    <p:nvPicPr>
                      <p:cNvPr id="0" name="Object 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88" name="Object 52"/>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194598" name="公式" r:id="rId3" imgW="114300" imgH="215900" progId="Equation.3">
                  <p:embed/>
                </p:oleObj>
              </mc:Choice>
              <mc:Fallback>
                <p:oleObj name="公式" r:id="rId3" imgW="114300" imgH="215900" progId="Equation.3">
                  <p:embed/>
                  <p:pic>
                    <p:nvPicPr>
                      <p:cNvPr id="0" name="Object 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一、协方差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aphicFrame>
        <p:nvGraphicFramePr>
          <p:cNvPr id="28" name="Object 2"/>
          <p:cNvGraphicFramePr>
            <a:graphicFrameLocks noChangeAspect="1"/>
          </p:cNvGraphicFramePr>
          <p:nvPr/>
        </p:nvGraphicFramePr>
        <p:xfrm>
          <a:off x="3300947" y="2166496"/>
          <a:ext cx="3054120" cy="786175"/>
        </p:xfrm>
        <a:graphic>
          <a:graphicData uri="http://schemas.openxmlformats.org/presentationml/2006/ole">
            <mc:AlternateContent xmlns:mc="http://schemas.openxmlformats.org/markup-compatibility/2006">
              <mc:Choice xmlns:v="urn:schemas-microsoft-com:vml" Requires="v">
                <p:oleObj spid="_x0000_s194599" name="公式" r:id="rId4" imgW="1282700" imgH="330200" progId="Equation.3">
                  <p:embed/>
                </p:oleObj>
              </mc:Choice>
              <mc:Fallback>
                <p:oleObj name="公式" r:id="rId4" imgW="1282700" imgH="330200" progId="Equation.3">
                  <p:embed/>
                  <p:pic>
                    <p:nvPicPr>
                      <p:cNvPr id="0" name="Object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0947" y="2166496"/>
                        <a:ext cx="3054120" cy="786175"/>
                      </a:xfrm>
                      <a:prstGeom prst="rect">
                        <a:avLst/>
                      </a:prstGeom>
                      <a:noFill/>
                      <a:ln>
                        <a:noFill/>
                      </a:ln>
                      <a:effectLst/>
                    </p:spPr>
                  </p:pic>
                </p:oleObj>
              </mc:Fallback>
            </mc:AlternateContent>
          </a:graphicData>
        </a:graphic>
      </p:graphicFrame>
      <p:graphicFrame>
        <p:nvGraphicFramePr>
          <p:cNvPr id="29" name="Object 3"/>
          <p:cNvGraphicFramePr>
            <a:graphicFrameLocks noChangeAspect="1"/>
          </p:cNvGraphicFramePr>
          <p:nvPr/>
        </p:nvGraphicFramePr>
        <p:xfrm>
          <a:off x="6528048" y="2240920"/>
          <a:ext cx="888018" cy="726770"/>
        </p:xfrm>
        <a:graphic>
          <a:graphicData uri="http://schemas.openxmlformats.org/presentationml/2006/ole">
            <mc:AlternateContent xmlns:mc="http://schemas.openxmlformats.org/markup-compatibility/2006">
              <mc:Choice xmlns:v="urn:schemas-microsoft-com:vml" Requires="v">
                <p:oleObj spid="_x0000_s194600" name="公式" r:id="rId6" imgW="279400" imgH="228600" progId="Equation.3">
                  <p:embed/>
                </p:oleObj>
              </mc:Choice>
              <mc:Fallback>
                <p:oleObj name="公式" r:id="rId6" imgW="279400" imgH="228600" progId="Equation.3">
                  <p:embed/>
                  <p:pic>
                    <p:nvPicPr>
                      <p:cNvPr id="0" name="Object 3"/>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28048" y="2240920"/>
                        <a:ext cx="888018" cy="726770"/>
                      </a:xfrm>
                      <a:prstGeom prst="rect">
                        <a:avLst/>
                      </a:prstGeom>
                      <a:noFill/>
                      <a:ln>
                        <a:noFill/>
                      </a:ln>
                      <a:effectLst/>
                    </p:spPr>
                  </p:pic>
                </p:oleObj>
              </mc:Fallback>
            </mc:AlternateContent>
          </a:graphicData>
        </a:graphic>
      </p:graphicFrame>
      <p:graphicFrame>
        <p:nvGraphicFramePr>
          <p:cNvPr id="30" name="Object 4"/>
          <p:cNvGraphicFramePr>
            <a:graphicFrameLocks noChangeAspect="1"/>
          </p:cNvGraphicFramePr>
          <p:nvPr/>
        </p:nvGraphicFramePr>
        <p:xfrm>
          <a:off x="3507235" y="1160318"/>
          <a:ext cx="4205975" cy="786915"/>
        </p:xfrm>
        <a:graphic>
          <a:graphicData uri="http://schemas.openxmlformats.org/presentationml/2006/ole">
            <mc:AlternateContent xmlns:mc="http://schemas.openxmlformats.org/markup-compatibility/2006">
              <mc:Choice xmlns:v="urn:schemas-microsoft-com:vml" Requires="v">
                <p:oleObj spid="_x0000_s194601" name="公式" r:id="rId8" imgW="1765300" imgH="330200" progId="Equation.3">
                  <p:embed/>
                </p:oleObj>
              </mc:Choice>
              <mc:Fallback>
                <p:oleObj name="公式" r:id="rId8" imgW="1765300" imgH="330200" progId="Equation.3">
                  <p:embed/>
                  <p:pic>
                    <p:nvPicPr>
                      <p:cNvPr id="0" name="Object 4"/>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07235" y="1160318"/>
                        <a:ext cx="4205975" cy="786915"/>
                      </a:xfrm>
                      <a:prstGeom prst="rect">
                        <a:avLst/>
                      </a:prstGeom>
                      <a:noFill/>
                      <a:ln>
                        <a:noFill/>
                      </a:ln>
                      <a:effectLst/>
                    </p:spPr>
                  </p:pic>
                </p:oleObj>
              </mc:Fallback>
            </mc:AlternateContent>
          </a:graphicData>
        </a:graphic>
      </p:graphicFrame>
      <p:graphicFrame>
        <p:nvGraphicFramePr>
          <p:cNvPr id="31" name="Object 6"/>
          <p:cNvGraphicFramePr>
            <a:graphicFrameLocks noChangeAspect="1"/>
          </p:cNvGraphicFramePr>
          <p:nvPr/>
        </p:nvGraphicFramePr>
        <p:xfrm>
          <a:off x="3300947" y="3429000"/>
          <a:ext cx="5011032" cy="1293267"/>
        </p:xfrm>
        <a:graphic>
          <a:graphicData uri="http://schemas.openxmlformats.org/presentationml/2006/ole">
            <mc:AlternateContent xmlns:mc="http://schemas.openxmlformats.org/markup-compatibility/2006">
              <mc:Choice xmlns:v="urn:schemas-microsoft-com:vml" Requires="v">
                <p:oleObj spid="_x0000_s194602" name="公式" r:id="rId10" imgW="2362200" imgH="609600" progId="Equation.3">
                  <p:embed/>
                </p:oleObj>
              </mc:Choice>
              <mc:Fallback>
                <p:oleObj name="公式" r:id="rId10" imgW="2362200" imgH="609600" progId="Equation.3">
                  <p:embed/>
                  <p:pic>
                    <p:nvPicPr>
                      <p:cNvPr id="0" name="Object 6"/>
                      <p:cNvPicPr>
                        <a:picLocks noGrp="1"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00947" y="3429000"/>
                        <a:ext cx="5011032" cy="1293267"/>
                      </a:xfrm>
                      <a:prstGeom prst="rect">
                        <a:avLst/>
                      </a:prstGeom>
                      <a:noFill/>
                      <a:ln>
                        <a:noFill/>
                      </a:ln>
                      <a:effectLst/>
                    </p:spPr>
                  </p:pic>
                </p:oleObj>
              </mc:Fallback>
            </mc:AlternateContent>
          </a:graphicData>
        </a:graphic>
      </p:graphicFrame>
      <p:graphicFrame>
        <p:nvGraphicFramePr>
          <p:cNvPr id="32" name="Object 5"/>
          <p:cNvGraphicFramePr>
            <a:graphicFrameLocks noChangeAspect="1"/>
          </p:cNvGraphicFramePr>
          <p:nvPr/>
        </p:nvGraphicFramePr>
        <p:xfrm>
          <a:off x="2249792" y="1319854"/>
          <a:ext cx="909755" cy="507418"/>
        </p:xfrm>
        <a:graphic>
          <a:graphicData uri="http://schemas.openxmlformats.org/presentationml/2006/ole">
            <mc:AlternateContent xmlns:mc="http://schemas.openxmlformats.org/markup-compatibility/2006">
              <mc:Choice xmlns:v="urn:schemas-microsoft-com:vml" Requires="v">
                <p:oleObj spid="_x0000_s194603" name="公式" r:id="rId12" imgW="405765" imgH="215900" progId="Equation.3">
                  <p:embed/>
                </p:oleObj>
              </mc:Choice>
              <mc:Fallback>
                <p:oleObj name="公式" r:id="rId12" imgW="405765" imgH="215900" progId="Equation.3">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49792" y="1319854"/>
                        <a:ext cx="909755" cy="507418"/>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 calcmode="lin" valueType="num">
                                      <p:cBhvr additive="base">
                                        <p:cTn id="22" dur="1000" fill="hold"/>
                                        <p:tgtEl>
                                          <p:spTgt spid="29"/>
                                        </p:tgtEl>
                                        <p:attrNameLst>
                                          <p:attrName>ppt_x</p:attrName>
                                        </p:attrNameLst>
                                      </p:cBhvr>
                                      <p:tavLst>
                                        <p:tav tm="0">
                                          <p:val>
                                            <p:strVal val="1+#ppt_w/2"/>
                                          </p:val>
                                        </p:tav>
                                        <p:tav tm="100000">
                                          <p:val>
                                            <p:strVal val="#ppt_x"/>
                                          </p:val>
                                        </p:tav>
                                      </p:tavLst>
                                    </p:anim>
                                    <p:anim calcmode="lin" valueType="num">
                                      <p:cBhvr additive="base">
                                        <p:cTn id="23" dur="10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wipe(left)">
                                      <p:cBhvr>
                                        <p:cTn id="2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87" name="Object 51"/>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195596" name="公式" r:id="rId1" imgW="114300" imgH="215900" progId="Equation.3">
                  <p:embed/>
                </p:oleObj>
              </mc:Choice>
              <mc:Fallback>
                <p:oleObj name="公式" r:id="rId1" imgW="114300" imgH="215900" progId="Equation.3">
                  <p:embed/>
                  <p:pic>
                    <p:nvPicPr>
                      <p:cNvPr id="0" name="Object 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88" name="Object 52"/>
          <p:cNvGraphicFramePr>
            <a:graphicFrameLocks noChangeAspect="1"/>
          </p:cNvGraphicFramePr>
          <p:nvPr/>
        </p:nvGraphicFramePr>
        <p:xfrm>
          <a:off x="5976938" y="4151313"/>
          <a:ext cx="112712" cy="214312"/>
        </p:xfrm>
        <a:graphic>
          <a:graphicData uri="http://schemas.openxmlformats.org/presentationml/2006/ole">
            <mc:AlternateContent xmlns:mc="http://schemas.openxmlformats.org/markup-compatibility/2006">
              <mc:Choice xmlns:v="urn:schemas-microsoft-com:vml" Requires="v">
                <p:oleObj spid="_x0000_s195597" name="公式" r:id="rId3" imgW="114300" imgH="215900" progId="Equation.3">
                  <p:embed/>
                </p:oleObj>
              </mc:Choice>
              <mc:Fallback>
                <p:oleObj name="公式" r:id="rId3" imgW="114300" imgH="215900" progId="Equation.3">
                  <p:embed/>
                  <p:pic>
                    <p:nvPicPr>
                      <p:cNvPr id="0" name="Object 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938" y="4151313"/>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89" name="Rectangle 53"/>
          <p:cNvSpPr>
            <a:spLocks noChangeArrowheads="1"/>
          </p:cNvSpPr>
          <p:nvPr/>
        </p:nvSpPr>
        <p:spPr bwMode="auto">
          <a:xfrm>
            <a:off x="1335307" y="1112463"/>
            <a:ext cx="9709802" cy="130862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lnSpc>
                <a:spcPct val="150000"/>
              </a:lnSpc>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协方差的大小在一定程度上反映了</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相互间的关系，但它还受</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本身度量单位的影响。例如：</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390" name="Text Box 54"/>
          <p:cNvSpPr txBox="1">
            <a:spLocks noChangeArrowheads="1"/>
          </p:cNvSpPr>
          <p:nvPr/>
        </p:nvSpPr>
        <p:spPr bwMode="auto">
          <a:xfrm>
            <a:off x="3474340" y="2770432"/>
            <a:ext cx="4395755" cy="5847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en-US" altLang="zh-CN" sz="32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32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kX</a:t>
            </a:r>
            <a:r>
              <a:rPr lang="en-US" altLang="zh-CN"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32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kY</a:t>
            </a:r>
            <a:r>
              <a:rPr lang="en-US" altLang="zh-CN"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32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k</a:t>
            </a:r>
            <a:r>
              <a:rPr lang="en-US" altLang="zh-CN" sz="3200" b="1" i="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32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32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32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32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4391" name="Text Box 55"/>
          <p:cNvSpPr txBox="1">
            <a:spLocks noChangeArrowheads="1"/>
          </p:cNvSpPr>
          <p:nvPr/>
        </p:nvSpPr>
        <p:spPr bwMode="auto">
          <a:xfrm>
            <a:off x="1335307" y="3704548"/>
            <a:ext cx="9585230" cy="13086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lnSpc>
                <a:spcPct val="150000"/>
              </a:lnSpc>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为了克服这一缺点，对协方差进行标准化，这就引入了</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相关系数</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1406163" y="255069"/>
            <a:ext cx="2068177"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一、协方差</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9" name="组合 8"/>
          <p:cNvGrpSpPr/>
          <p:nvPr/>
        </p:nvGrpSpPr>
        <p:grpSpPr>
          <a:xfrm>
            <a:off x="851761" y="364781"/>
            <a:ext cx="263341" cy="395013"/>
            <a:chOff x="5284519" y="1508166"/>
            <a:chExt cx="213756" cy="427512"/>
          </a:xfrm>
        </p:grpSpPr>
        <p:cxnSp>
          <p:nvCxnSpPr>
            <p:cNvPr id="10" name="直接连接符 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1" name="直接连接符 1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4389"/>
                                        </p:tgtEl>
                                        <p:attrNameLst>
                                          <p:attrName>style.visibility</p:attrName>
                                        </p:attrNameLst>
                                      </p:cBhvr>
                                      <p:to>
                                        <p:strVal val="visible"/>
                                      </p:to>
                                    </p:set>
                                    <p:animEffect transition="in" filter="barn(outVertical)">
                                      <p:cBhvr>
                                        <p:cTn id="7" dur="500"/>
                                        <p:tgtEl>
                                          <p:spTgt spid="1438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390"/>
                                        </p:tgtEl>
                                        <p:attrNameLst>
                                          <p:attrName>style.visibility</p:attrName>
                                        </p:attrNameLst>
                                      </p:cBhvr>
                                      <p:to>
                                        <p:strVal val="visible"/>
                                      </p:to>
                                    </p:set>
                                    <p:anim calcmode="lin" valueType="num">
                                      <p:cBhvr additive="base">
                                        <p:cTn id="12" dur="500" fill="hold"/>
                                        <p:tgtEl>
                                          <p:spTgt spid="14390"/>
                                        </p:tgtEl>
                                        <p:attrNameLst>
                                          <p:attrName>ppt_x</p:attrName>
                                        </p:attrNameLst>
                                      </p:cBhvr>
                                      <p:tavLst>
                                        <p:tav tm="0">
                                          <p:val>
                                            <p:strVal val="#ppt_x"/>
                                          </p:val>
                                        </p:tav>
                                        <p:tav tm="100000">
                                          <p:val>
                                            <p:strVal val="#ppt_x"/>
                                          </p:val>
                                        </p:tav>
                                      </p:tavLst>
                                    </p:anim>
                                    <p:anim calcmode="lin" valueType="num">
                                      <p:cBhvr additive="base">
                                        <p:cTn id="13" dur="500" fill="hold"/>
                                        <p:tgtEl>
                                          <p:spTgt spid="1439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14391"/>
                                        </p:tgtEl>
                                        <p:attrNameLst>
                                          <p:attrName>style.visibility</p:attrName>
                                        </p:attrNameLst>
                                      </p:cBhvr>
                                      <p:to>
                                        <p:strVal val="visible"/>
                                      </p:to>
                                    </p:set>
                                    <p:animEffect transition="in" filter="barn(outVertical)">
                                      <p:cBhvr>
                                        <p:cTn id="18" dur="500"/>
                                        <p:tgtEl>
                                          <p:spTgt spid="14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89" grpId="0" bldLvl="0" animBg="1" autoUpdateAnimBg="0"/>
      <p:bldP spid="14390" grpId="0" bldLvl="0" animBg="1" autoUpdateAnimBg="0"/>
      <p:bldP spid="14391"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15398" y="2727150"/>
            <a:ext cx="5040000" cy="1015663"/>
          </a:xfrm>
          <a:prstGeom prst="rect">
            <a:avLst/>
          </a:prstGeom>
          <a:noFill/>
        </p:spPr>
        <p:txBody>
          <a:bodyPr wrap="square" rtlCol="0">
            <a:spAutoFit/>
          </a:bodyPr>
          <a:lstStyle/>
          <a:p>
            <a:pPr algn="dist"/>
            <a:r>
              <a:rPr lang="zh-CN" altLang="en-US" sz="60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相关系数</a:t>
            </a:r>
            <a:endParaRPr lang="zh-CN" altLang="en-US" sz="60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2" name="组合 1"/>
          <p:cNvGrpSpPr/>
          <p:nvPr/>
        </p:nvGrpSpPr>
        <p:grpSpPr>
          <a:xfrm>
            <a:off x="630315" y="1727230"/>
            <a:ext cx="3779202" cy="3643987"/>
            <a:chOff x="20441" y="510989"/>
            <a:chExt cx="2026824" cy="1954307"/>
          </a:xfrm>
        </p:grpSpPr>
        <p:sp>
          <p:nvSpPr>
            <p:cNvPr id="11" name="矩形 10"/>
            <p:cNvSpPr/>
            <p:nvPr/>
          </p:nvSpPr>
          <p:spPr>
            <a:xfrm flipH="1">
              <a:off x="20441" y="510989"/>
              <a:ext cx="2026824" cy="1954307"/>
            </a:xfrm>
            <a:prstGeom prst="rect">
              <a:avLst/>
            </a:prstGeom>
            <a:gradFill>
              <a:gsLst>
                <a:gs pos="29000">
                  <a:srgbClr val="B91319"/>
                </a:gs>
                <a:gs pos="0">
                  <a:srgbClr val="DC1218"/>
                </a:gs>
                <a:gs pos="79000">
                  <a:srgbClr val="9E0E18"/>
                </a:gs>
                <a:gs pos="58000">
                  <a:srgbClr val="A61319"/>
                </a:gs>
                <a:gs pos="100000">
                  <a:srgbClr val="901518"/>
                </a:gs>
              </a:gsLst>
              <a:path path="circle">
                <a:fillToRect l="50000" t="50000" r="50000" b="50000"/>
              </a:path>
            </a:gradFill>
            <a:ln w="101600">
              <a:solidFill>
                <a:srgbClr val="F0EF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 name="文本框 20"/>
            <p:cNvSpPr txBox="1"/>
            <p:nvPr/>
          </p:nvSpPr>
          <p:spPr>
            <a:xfrm>
              <a:off x="325677" y="893913"/>
              <a:ext cx="1269959" cy="1188458"/>
            </a:xfrm>
            <a:prstGeom prst="rect">
              <a:avLst/>
            </a:prstGeom>
            <a:noFill/>
          </p:spPr>
          <p:txBody>
            <a:bodyPr wrap="none" rtlCol="0">
              <a:spAutoFit/>
            </a:bodyPr>
            <a:lstStyle/>
            <a:p>
              <a:r>
                <a:rPr lang="en-US" altLang="zh-CN" sz="13800" b="1" dirty="0">
                  <a:solidFill>
                    <a:srgbClr val="FFFFFF"/>
                  </a:soli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rPr>
                <a:t>02</a:t>
              </a:r>
              <a:endParaRPr lang="zh-CN" altLang="en-US" sz="13800" b="1" dirty="0">
                <a:gradFill>
                  <a:gsLst>
                    <a:gs pos="29000">
                      <a:srgbClr val="B91319"/>
                    </a:gs>
                    <a:gs pos="0">
                      <a:srgbClr val="DC1218"/>
                    </a:gs>
                    <a:gs pos="79000">
                      <a:srgbClr val="9E0E18"/>
                    </a:gs>
                    <a:gs pos="58000">
                      <a:srgbClr val="A61319"/>
                    </a:gs>
                    <a:gs pos="100000">
                      <a:srgbClr val="901518"/>
                    </a:gs>
                  </a:gsLst>
                  <a:path path="circle">
                    <a:fillToRect l="50000" t="50000" r="50000" b="50000"/>
                  </a:path>
                </a:gradFill>
                <a:effectLst>
                  <a:outerShdw blurRad="50800" dist="38100" dir="2700000" algn="tl" rotWithShape="0">
                    <a:prstClr val="black">
                      <a:alpha val="40000"/>
                    </a:prstClr>
                  </a:outerShdw>
                </a:effectLst>
                <a:latin typeface="微软雅黑" panose="020B0503020204020204" pitchFamily="34" charset="-122"/>
                <a:ea typeface="微软雅黑" panose="020B0503020204020204" pitchFamily="34" charset="-122"/>
                <a:cs typeface="Kartika" panose="02020503030404060203" pitchFamily="18" charset="0"/>
                <a:sym typeface="Times New Roman" panose="02020603050405020304" pitchFamily="18" charset="0"/>
              </a:endParaRPr>
            </a:p>
          </p:txBody>
        </p:sp>
      </p:grpSp>
      <p:grpSp>
        <p:nvGrpSpPr>
          <p:cNvPr id="25" name="组合 24"/>
          <p:cNvGrpSpPr/>
          <p:nvPr/>
        </p:nvGrpSpPr>
        <p:grpSpPr>
          <a:xfrm>
            <a:off x="5805313" y="4130850"/>
            <a:ext cx="5040000" cy="80962"/>
            <a:chOff x="6426750" y="4143057"/>
            <a:chExt cx="5040000" cy="80962"/>
          </a:xfrm>
        </p:grpSpPr>
        <p:cxnSp>
          <p:nvCxnSpPr>
            <p:cNvPr id="22" name="直接连接符 21"/>
            <p:cNvCxnSpPr/>
            <p:nvPr/>
          </p:nvCxnSpPr>
          <p:spPr>
            <a:xfrm flipH="1">
              <a:off x="6426750" y="4143057"/>
              <a:ext cx="5040000" cy="0"/>
            </a:xfrm>
            <a:prstGeom prst="line">
              <a:avLst/>
            </a:prstGeom>
            <a:ln w="127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6426750" y="4224019"/>
              <a:ext cx="5040000" cy="0"/>
            </a:xfrm>
            <a:prstGeom prst="line">
              <a:avLst/>
            </a:prstGeom>
            <a:ln w="38100">
              <a:solidFill>
                <a:srgbClr val="B01319"/>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advClick="0" advTm="0">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27" name="Rectangle 67"/>
          <p:cNvSpPr>
            <a:spLocks noChangeArrowheads="1"/>
          </p:cNvSpPr>
          <p:nvPr/>
        </p:nvSpPr>
        <p:spPr bwMode="auto">
          <a:xfrm>
            <a:off x="2502322" y="3743640"/>
            <a:ext cx="63246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为随机变量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和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的相关系数</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5428" name="Group 68"/>
          <p:cNvGrpSpPr/>
          <p:nvPr/>
        </p:nvGrpSpPr>
        <p:grpSpPr bwMode="auto">
          <a:xfrm>
            <a:off x="1373609" y="1265516"/>
            <a:ext cx="6272213" cy="2124074"/>
            <a:chOff x="960" y="978"/>
            <a:chExt cx="3951" cy="1338"/>
          </a:xfrm>
        </p:grpSpPr>
        <p:sp>
          <p:nvSpPr>
            <p:cNvPr id="15429" name="Rectangle 69"/>
            <p:cNvSpPr>
              <a:spLocks noChangeArrowheads="1"/>
            </p:cNvSpPr>
            <p:nvPr/>
          </p:nvSpPr>
          <p:spPr bwMode="auto">
            <a:xfrm>
              <a:off x="960" y="978"/>
              <a:ext cx="3264"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定义</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)&gt;0,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)&gt;0,</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5430" name="Object 70"/>
            <p:cNvGraphicFramePr>
              <a:graphicFrameLocks noChangeAspect="1"/>
            </p:cNvGraphicFramePr>
            <p:nvPr/>
          </p:nvGraphicFramePr>
          <p:xfrm>
            <a:off x="2415" y="1559"/>
            <a:ext cx="2496" cy="757"/>
          </p:xfrm>
          <a:graphic>
            <a:graphicData uri="http://schemas.openxmlformats.org/presentationml/2006/ole">
              <mc:AlternateContent xmlns:mc="http://schemas.openxmlformats.org/markup-compatibility/2006">
                <mc:Choice xmlns:v="urn:schemas-microsoft-com:vml" Requires="v">
                  <p:oleObj spid="_x0000_s196625" name="Equation" r:id="rId1" imgW="30175200" imgH="10668000" progId="Equation.DSMT4">
                    <p:embed/>
                  </p:oleObj>
                </mc:Choice>
                <mc:Fallback>
                  <p:oleObj name="Equation" r:id="rId1" imgW="30175200" imgH="10668000" progId="Equation.DSMT4">
                    <p:embed/>
                    <p:pic>
                      <p:nvPicPr>
                        <p:cNvPr id="0" name="Object 70"/>
                        <p:cNvPicPr>
                          <a:picLocks noChangeAspect="1" noChangeArrowheads="1"/>
                        </p:cNvPicPr>
                        <p:nvPr/>
                      </p:nvPicPr>
                      <p:blipFill>
                        <a:blip r:embed="rId2"/>
                        <a:srcRect/>
                        <a:stretch>
                          <a:fillRect/>
                        </a:stretch>
                      </p:blipFill>
                      <p:spPr bwMode="auto">
                        <a:xfrm>
                          <a:off x="2415" y="1559"/>
                          <a:ext cx="2496" cy="757"/>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31" name="Rectangle 71"/>
            <p:cNvSpPr>
              <a:spLocks noChangeArrowheads="1"/>
            </p:cNvSpPr>
            <p:nvPr/>
          </p:nvSpPr>
          <p:spPr bwMode="auto">
            <a:xfrm>
              <a:off x="3663" y="978"/>
              <a:ext cx="343"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称</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15432" name="Group 72"/>
          <p:cNvGrpSpPr/>
          <p:nvPr/>
        </p:nvGrpSpPr>
        <p:grpSpPr bwMode="auto">
          <a:xfrm>
            <a:off x="1406163" y="4581525"/>
            <a:ext cx="6781800" cy="669926"/>
            <a:chOff x="480" y="2902"/>
            <a:chExt cx="4272" cy="422"/>
          </a:xfrm>
        </p:grpSpPr>
        <p:sp>
          <p:nvSpPr>
            <p:cNvPr id="15433" name="Text Box 73"/>
            <p:cNvSpPr txBox="1">
              <a:spLocks noChangeArrowheads="1"/>
            </p:cNvSpPr>
            <p:nvPr/>
          </p:nvSpPr>
          <p:spPr bwMode="auto">
            <a:xfrm>
              <a:off x="480" y="2994"/>
              <a:ext cx="4272"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eaLnBrk="1" hangingPunct="1">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在不致引起混淆时，记</a:t>
              </a:r>
              <a:r>
                <a:rPr lang="zh-CN" altLang="en-US"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为      。</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5434" name="Object 74"/>
            <p:cNvGraphicFramePr>
              <a:graphicFrameLocks noChangeAspect="1"/>
            </p:cNvGraphicFramePr>
            <p:nvPr/>
          </p:nvGraphicFramePr>
          <p:xfrm>
            <a:off x="2808" y="2902"/>
            <a:ext cx="496" cy="422"/>
          </p:xfrm>
          <a:graphic>
            <a:graphicData uri="http://schemas.openxmlformats.org/presentationml/2006/ole">
              <mc:AlternateContent xmlns:mc="http://schemas.openxmlformats.org/markup-compatibility/2006">
                <mc:Choice xmlns:v="urn:schemas-microsoft-com:vml" Requires="v">
                  <p:oleObj spid="_x0000_s196626" name="Equation" r:id="rId3" imgW="6400800" imgH="5486400" progId="Equation.DSMT4">
                    <p:embed/>
                  </p:oleObj>
                </mc:Choice>
                <mc:Fallback>
                  <p:oleObj name="Equation" r:id="rId3" imgW="6400800" imgH="5486400" progId="Equation.DSMT4">
                    <p:embed/>
                    <p:pic>
                      <p:nvPicPr>
                        <p:cNvPr id="0" name="Object 74"/>
                        <p:cNvPicPr>
                          <a:picLocks noChangeAspect="1" noChangeArrowheads="1"/>
                        </p:cNvPicPr>
                        <p:nvPr/>
                      </p:nvPicPr>
                      <p:blipFill>
                        <a:blip r:embed="rId4"/>
                        <a:srcRect/>
                        <a:stretch>
                          <a:fillRect/>
                        </a:stretch>
                      </p:blipFill>
                      <p:spPr bwMode="auto">
                        <a:xfrm>
                          <a:off x="2808" y="2902"/>
                          <a:ext cx="496" cy="4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35" name="Object 75"/>
            <p:cNvGraphicFramePr>
              <a:graphicFrameLocks noChangeAspect="1"/>
            </p:cNvGraphicFramePr>
            <p:nvPr/>
          </p:nvGraphicFramePr>
          <p:xfrm>
            <a:off x="3606" y="3005"/>
            <a:ext cx="281" cy="304"/>
          </p:xfrm>
          <a:graphic>
            <a:graphicData uri="http://schemas.openxmlformats.org/presentationml/2006/ole">
              <mc:AlternateContent xmlns:mc="http://schemas.openxmlformats.org/markup-compatibility/2006">
                <mc:Choice xmlns:v="urn:schemas-microsoft-com:vml" Requires="v">
                  <p:oleObj spid="_x0000_s196627" name="Equation" r:id="rId5" imgW="3657600" imgH="3962400" progId="Equation.DSMT4">
                    <p:embed/>
                  </p:oleObj>
                </mc:Choice>
                <mc:Fallback>
                  <p:oleObj name="Equation" r:id="rId5" imgW="3657600" imgH="3962400" progId="Equation.DSMT4">
                    <p:embed/>
                    <p:pic>
                      <p:nvPicPr>
                        <p:cNvPr id="0" name="Object 75"/>
                        <p:cNvPicPr>
                          <a:picLocks noChangeAspect="1" noChangeArrowheads="1"/>
                        </p:cNvPicPr>
                        <p:nvPr/>
                      </p:nvPicPr>
                      <p:blipFill>
                        <a:blip r:embed="rId6"/>
                        <a:srcRect/>
                        <a:stretch>
                          <a:fillRect/>
                        </a:stretch>
                      </p:blipFill>
                      <p:spPr bwMode="auto">
                        <a:xfrm>
                          <a:off x="3606" y="3005"/>
                          <a:ext cx="281" cy="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cxnSp>
        <p:nvCxnSpPr>
          <p:cNvPr id="12"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二、相关系数</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4" name="组合 13"/>
          <p:cNvGrpSpPr/>
          <p:nvPr/>
        </p:nvGrpSpPr>
        <p:grpSpPr>
          <a:xfrm>
            <a:off x="851761" y="364781"/>
            <a:ext cx="263341" cy="395013"/>
            <a:chOff x="5284519" y="1508166"/>
            <a:chExt cx="213756" cy="427512"/>
          </a:xfrm>
        </p:grpSpPr>
        <p:cxnSp>
          <p:nvCxnSpPr>
            <p:cNvPr id="15" name="直接连接符 14"/>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6" name="直接连接符 15"/>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428"/>
                                        </p:tgtEl>
                                        <p:attrNameLst>
                                          <p:attrName>style.visibility</p:attrName>
                                        </p:attrNameLst>
                                      </p:cBhvr>
                                      <p:to>
                                        <p:strVal val="visible"/>
                                      </p:to>
                                    </p:set>
                                    <p:animEffect transition="in" filter="wipe(left)">
                                      <p:cBhvr>
                                        <p:cTn id="7" dur="500"/>
                                        <p:tgtEl>
                                          <p:spTgt spid="15428"/>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15427"/>
                                        </p:tgtEl>
                                        <p:attrNameLst>
                                          <p:attrName>style.visibility</p:attrName>
                                        </p:attrNameLst>
                                      </p:cBhvr>
                                      <p:to>
                                        <p:strVal val="visible"/>
                                      </p:to>
                                    </p:set>
                                    <p:animEffect transition="in" filter="wipe(right)">
                                      <p:cBhvr>
                                        <p:cTn id="11" dur="500"/>
                                        <p:tgtEl>
                                          <p:spTgt spid="15427"/>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5432"/>
                                        </p:tgtEl>
                                        <p:attrNameLst>
                                          <p:attrName>style.visibility</p:attrName>
                                        </p:attrNameLst>
                                      </p:cBhvr>
                                      <p:to>
                                        <p:strVal val="visible"/>
                                      </p:to>
                                    </p:set>
                                    <p:anim calcmode="lin" valueType="num">
                                      <p:cBhvr additive="base">
                                        <p:cTn id="16" dur="500" fill="hold"/>
                                        <p:tgtEl>
                                          <p:spTgt spid="15432"/>
                                        </p:tgtEl>
                                        <p:attrNameLst>
                                          <p:attrName>ppt_x</p:attrName>
                                        </p:attrNameLst>
                                      </p:cBhvr>
                                      <p:tavLst>
                                        <p:tav tm="0">
                                          <p:val>
                                            <p:strVal val="#ppt_x"/>
                                          </p:val>
                                        </p:tav>
                                        <p:tav tm="100000">
                                          <p:val>
                                            <p:strVal val="#ppt_x"/>
                                          </p:val>
                                        </p:tav>
                                      </p:tavLst>
                                    </p:anim>
                                    <p:anim calcmode="lin" valueType="num">
                                      <p:cBhvr additive="base">
                                        <p:cTn id="17" dur="500" fill="hold"/>
                                        <p:tgtEl>
                                          <p:spTgt spid="154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27" grpId="0" bldLvl="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12" name="Text Box 72"/>
          <p:cNvSpPr txBox="1">
            <a:spLocks noChangeArrowheads="1"/>
          </p:cNvSpPr>
          <p:nvPr/>
        </p:nvSpPr>
        <p:spPr bwMode="auto">
          <a:xfrm>
            <a:off x="1238194" y="1252907"/>
            <a:ext cx="2921058"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spcBef>
                <a:spcPct val="50000"/>
              </a:spcBef>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相关系数的性质：</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35913" name="Object 73"/>
          <p:cNvGraphicFramePr>
            <a:graphicFrameLocks noChangeAspect="1"/>
          </p:cNvGraphicFramePr>
          <p:nvPr/>
        </p:nvGraphicFramePr>
        <p:xfrm>
          <a:off x="4285457" y="1260844"/>
          <a:ext cx="1643062" cy="601663"/>
        </p:xfrm>
        <a:graphic>
          <a:graphicData uri="http://schemas.openxmlformats.org/presentationml/2006/ole">
            <mc:AlternateContent xmlns:mc="http://schemas.openxmlformats.org/markup-compatibility/2006">
              <mc:Choice xmlns:v="urn:schemas-microsoft-com:vml" Requires="v">
                <p:oleObj spid="_x0000_s197661" name="Equation" r:id="rId1" imgW="13106400" imgH="4876800" progId="Equation.DSMT4">
                  <p:embed/>
                </p:oleObj>
              </mc:Choice>
              <mc:Fallback>
                <p:oleObj name="Equation" r:id="rId1" imgW="13106400" imgH="4876800" progId="Equation.DSMT4">
                  <p:embed/>
                  <p:pic>
                    <p:nvPicPr>
                      <p:cNvPr id="0" name="Object 73"/>
                      <p:cNvPicPr>
                        <a:picLocks noChangeAspect="1" noChangeArrowheads="1"/>
                      </p:cNvPicPr>
                      <p:nvPr/>
                    </p:nvPicPr>
                    <p:blipFill>
                      <a:blip r:embed="rId2"/>
                      <a:srcRect/>
                      <a:stretch>
                        <a:fillRect/>
                      </a:stretch>
                    </p:blipFill>
                    <p:spPr bwMode="auto">
                      <a:xfrm>
                        <a:off x="4285457" y="1260844"/>
                        <a:ext cx="1643062" cy="601663"/>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914" name="Rectangle 74"/>
          <p:cNvSpPr>
            <a:spLocks noChangeArrowheads="1"/>
          </p:cNvSpPr>
          <p:nvPr/>
        </p:nvSpPr>
        <p:spPr bwMode="auto">
          <a:xfrm>
            <a:off x="1489278" y="2039393"/>
            <a:ext cx="628890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证：由方差的性质和协方差的定义知，</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15" name="Rectangle 75"/>
          <p:cNvSpPr>
            <a:spLocks noChangeArrowheads="1"/>
          </p:cNvSpPr>
          <p:nvPr/>
        </p:nvSpPr>
        <p:spPr bwMode="auto">
          <a:xfrm>
            <a:off x="7561468" y="2043435"/>
            <a:ext cx="2967479"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对任意实数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a:t>
            </a:r>
            <a:r>
              <a:rPr lang="zh-CN" altLang="en-US"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有</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16" name="Rectangle 76"/>
          <p:cNvSpPr>
            <a:spLocks noChangeArrowheads="1"/>
          </p:cNvSpPr>
          <p:nvPr/>
        </p:nvSpPr>
        <p:spPr bwMode="auto">
          <a:xfrm>
            <a:off x="2878519" y="2814984"/>
            <a:ext cx="635892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i="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35917" name="Group 77"/>
          <p:cNvGrpSpPr/>
          <p:nvPr/>
        </p:nvGrpSpPr>
        <p:grpSpPr bwMode="auto">
          <a:xfrm>
            <a:off x="2213506" y="3627297"/>
            <a:ext cx="4732337" cy="933450"/>
            <a:chOff x="592" y="2304"/>
            <a:chExt cx="2981" cy="588"/>
          </a:xfrm>
        </p:grpSpPr>
        <p:graphicFrame>
          <p:nvGraphicFramePr>
            <p:cNvPr id="35918" name="Object 78"/>
            <p:cNvGraphicFramePr>
              <a:graphicFrameLocks noChangeAspect="1"/>
            </p:cNvGraphicFramePr>
            <p:nvPr/>
          </p:nvGraphicFramePr>
          <p:xfrm>
            <a:off x="1046" y="2304"/>
            <a:ext cx="1300" cy="588"/>
          </p:xfrm>
          <a:graphic>
            <a:graphicData uri="http://schemas.openxmlformats.org/presentationml/2006/ole">
              <mc:AlternateContent xmlns:mc="http://schemas.openxmlformats.org/markup-compatibility/2006">
                <mc:Choice xmlns:v="urn:schemas-microsoft-com:vml" Requires="v">
                  <p:oleObj spid="_x0000_s197662" name="Equation" r:id="rId3" imgW="22250400" imgH="10058400" progId="Equation.DSMT4">
                    <p:embed/>
                  </p:oleObj>
                </mc:Choice>
                <mc:Fallback>
                  <p:oleObj name="Equation" r:id="rId3" imgW="22250400" imgH="10058400" progId="Equation.DSMT4">
                    <p:embed/>
                    <p:pic>
                      <p:nvPicPr>
                        <p:cNvPr id="0" name="Object 78"/>
                        <p:cNvPicPr>
                          <a:picLocks noChangeAspect="1" noChangeArrowheads="1"/>
                        </p:cNvPicPr>
                        <p:nvPr/>
                      </p:nvPicPr>
                      <p:blipFill>
                        <a:blip r:embed="rId4"/>
                        <a:srcRect/>
                        <a:stretch>
                          <a:fillRect/>
                        </a:stretch>
                      </p:blipFill>
                      <p:spPr bwMode="auto">
                        <a:xfrm>
                          <a:off x="1046" y="2304"/>
                          <a:ext cx="1300" cy="58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919" name="Rectangle 79"/>
            <p:cNvSpPr>
              <a:spLocks noChangeArrowheads="1"/>
            </p:cNvSpPr>
            <p:nvPr/>
          </p:nvSpPr>
          <p:spPr bwMode="auto">
            <a:xfrm>
              <a:off x="592" y="2382"/>
              <a:ext cx="343"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令</a:t>
              </a:r>
              <a:endPar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35920" name="Text Box 80"/>
            <p:cNvSpPr txBox="1">
              <a:spLocks noChangeArrowheads="1"/>
            </p:cNvSpPr>
            <p:nvPr/>
          </p:nvSpPr>
          <p:spPr bwMode="auto">
            <a:xfrm>
              <a:off x="2326" y="2382"/>
              <a:ext cx="1247"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，则上式为</a:t>
              </a:r>
              <a:endParaRPr lang="zh-CN" altLang="en-US" sz="280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35921" name="Group 81"/>
          <p:cNvGrpSpPr/>
          <p:nvPr/>
        </p:nvGrpSpPr>
        <p:grpSpPr bwMode="auto">
          <a:xfrm>
            <a:off x="1608062" y="4693569"/>
            <a:ext cx="5003801" cy="1073150"/>
            <a:chOff x="508" y="2542"/>
            <a:chExt cx="3152" cy="676"/>
          </a:xfrm>
        </p:grpSpPr>
        <p:sp>
          <p:nvSpPr>
            <p:cNvPr id="35922" name="Text Box 82"/>
            <p:cNvSpPr txBox="1">
              <a:spLocks noChangeArrowheads="1"/>
            </p:cNvSpPr>
            <p:nvPr/>
          </p:nvSpPr>
          <p:spPr bwMode="auto">
            <a:xfrm>
              <a:off x="508" y="2709"/>
              <a:ext cx="1264"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35923" name="Object 83"/>
            <p:cNvGraphicFramePr>
              <a:graphicFrameLocks noChangeAspect="1"/>
            </p:cNvGraphicFramePr>
            <p:nvPr/>
          </p:nvGraphicFramePr>
          <p:xfrm>
            <a:off x="1664" y="2542"/>
            <a:ext cx="1996" cy="676"/>
          </p:xfrm>
          <a:graphic>
            <a:graphicData uri="http://schemas.openxmlformats.org/presentationml/2006/ole">
              <mc:AlternateContent xmlns:mc="http://schemas.openxmlformats.org/markup-compatibility/2006">
                <mc:Choice xmlns:v="urn:schemas-microsoft-com:vml" Requires="v">
                  <p:oleObj spid="_x0000_s197663" name="Equation" r:id="rId5" imgW="31394400" imgH="10668000" progId="Equation.DSMT4">
                    <p:embed/>
                  </p:oleObj>
                </mc:Choice>
                <mc:Fallback>
                  <p:oleObj name="Equation" r:id="rId5" imgW="31394400" imgH="10668000" progId="Equation.DSMT4">
                    <p:embed/>
                    <p:pic>
                      <p:nvPicPr>
                        <p:cNvPr id="0" name="Object 83"/>
                        <p:cNvPicPr>
                          <a:picLocks noChangeAspect="1" noChangeArrowheads="1"/>
                        </p:cNvPicPr>
                        <p:nvPr/>
                      </p:nvPicPr>
                      <p:blipFill>
                        <a:blip r:embed="rId6"/>
                        <a:srcRect/>
                        <a:stretch>
                          <a:fillRect/>
                        </a:stretch>
                      </p:blipFill>
                      <p:spPr bwMode="auto">
                        <a:xfrm>
                          <a:off x="1664" y="2542"/>
                          <a:ext cx="1996" cy="676"/>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5924" name="Object 84"/>
          <p:cNvGraphicFramePr>
            <a:graphicFrameLocks noChangeAspect="1"/>
          </p:cNvGraphicFramePr>
          <p:nvPr/>
        </p:nvGraphicFramePr>
        <p:xfrm>
          <a:off x="6581700" y="4701506"/>
          <a:ext cx="3759200" cy="1057275"/>
        </p:xfrm>
        <a:graphic>
          <a:graphicData uri="http://schemas.openxmlformats.org/presentationml/2006/ole">
            <mc:AlternateContent xmlns:mc="http://schemas.openxmlformats.org/markup-compatibility/2006">
              <mc:Choice xmlns:v="urn:schemas-microsoft-com:vml" Requires="v">
                <p:oleObj spid="_x0000_s197664" name="Equation" r:id="rId7" imgW="37795200" imgH="10668000" progId="Equation.DSMT4">
                  <p:embed/>
                </p:oleObj>
              </mc:Choice>
              <mc:Fallback>
                <p:oleObj name="Equation" r:id="rId7" imgW="37795200" imgH="10668000" progId="Equation.DSMT4">
                  <p:embed/>
                  <p:pic>
                    <p:nvPicPr>
                      <p:cNvPr id="0" name="Object 84"/>
                      <p:cNvPicPr>
                        <a:picLocks noChangeAspect="1" noChangeArrowheads="1"/>
                      </p:cNvPicPr>
                      <p:nvPr/>
                    </p:nvPicPr>
                    <p:blipFill>
                      <a:blip r:embed="rId8"/>
                      <a:srcRect/>
                      <a:stretch>
                        <a:fillRect/>
                      </a:stretch>
                    </p:blipFill>
                    <p:spPr bwMode="auto">
                      <a:xfrm>
                        <a:off x="6581700" y="4701506"/>
                        <a:ext cx="3759200" cy="10572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925" name="Object 85"/>
          <p:cNvGraphicFramePr>
            <a:graphicFrameLocks noChangeAspect="1"/>
          </p:cNvGraphicFramePr>
          <p:nvPr/>
        </p:nvGraphicFramePr>
        <p:xfrm>
          <a:off x="6949797" y="5909065"/>
          <a:ext cx="2114550" cy="514350"/>
        </p:xfrm>
        <a:graphic>
          <a:graphicData uri="http://schemas.openxmlformats.org/presentationml/2006/ole">
            <mc:AlternateContent xmlns:mc="http://schemas.openxmlformats.org/markup-compatibility/2006">
              <mc:Choice xmlns:v="urn:schemas-microsoft-com:vml" Requires="v">
                <p:oleObj spid="_x0000_s197665" name="Equation" r:id="rId9" imgW="22555200" imgH="5486400" progId="Equation.DSMT4">
                  <p:embed/>
                </p:oleObj>
              </mc:Choice>
              <mc:Fallback>
                <p:oleObj name="Equation" r:id="rId9" imgW="22555200" imgH="5486400" progId="Equation.DSMT4">
                  <p:embed/>
                  <p:pic>
                    <p:nvPicPr>
                      <p:cNvPr id="0" name="Object 85"/>
                      <p:cNvPicPr>
                        <a:picLocks noChangeAspect="1" noChangeArrowheads="1"/>
                      </p:cNvPicPr>
                      <p:nvPr/>
                    </p:nvPicPr>
                    <p:blipFill>
                      <a:blip r:embed="rId10"/>
                      <a:srcRect/>
                      <a:stretch>
                        <a:fillRect/>
                      </a:stretch>
                    </p:blipFill>
                    <p:spPr bwMode="auto">
                      <a:xfrm>
                        <a:off x="6949797" y="5909065"/>
                        <a:ext cx="2114550" cy="51435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21"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2" name="矩形 21"/>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二、相关系数</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23" name="组合 22"/>
          <p:cNvGrpSpPr/>
          <p:nvPr/>
        </p:nvGrpSpPr>
        <p:grpSpPr>
          <a:xfrm>
            <a:off x="851761" y="364781"/>
            <a:ext cx="263341" cy="395013"/>
            <a:chOff x="5284519" y="1508166"/>
            <a:chExt cx="213756" cy="427512"/>
          </a:xfrm>
        </p:grpSpPr>
        <p:cxnSp>
          <p:nvCxnSpPr>
            <p:cNvPr id="24" name="直接连接符 23"/>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5" name="直接连接符 24"/>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26" name="Group 86"/>
          <p:cNvGrpSpPr/>
          <p:nvPr/>
        </p:nvGrpSpPr>
        <p:grpSpPr bwMode="auto">
          <a:xfrm>
            <a:off x="6611863" y="2661402"/>
            <a:ext cx="4968875" cy="1871663"/>
            <a:chOff x="1896" y="460"/>
            <a:chExt cx="3600" cy="1344"/>
          </a:xfrm>
        </p:grpSpPr>
        <p:sp>
          <p:nvSpPr>
            <p:cNvPr id="27" name="Rectangle 87"/>
            <p:cNvSpPr>
              <a:spLocks noChangeArrowheads="1"/>
            </p:cNvSpPr>
            <p:nvPr/>
          </p:nvSpPr>
          <p:spPr bwMode="auto">
            <a:xfrm>
              <a:off x="1896" y="460"/>
              <a:ext cx="3600" cy="1344"/>
            </a:xfrm>
            <a:prstGeom prst="rect">
              <a:avLst/>
            </a:prstGeom>
            <a:solidFill>
              <a:schemeClr val="accent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endParaRPr lang="zh-CN" altLang="en-US"/>
            </a:p>
          </p:txBody>
        </p:sp>
        <p:sp>
          <p:nvSpPr>
            <p:cNvPr id="28" name="Text Box 88"/>
            <p:cNvSpPr txBox="1">
              <a:spLocks noChangeArrowheads="1"/>
            </p:cNvSpPr>
            <p:nvPr/>
          </p:nvSpPr>
          <p:spPr bwMode="auto">
            <a:xfrm>
              <a:off x="2055" y="615"/>
              <a:ext cx="3373" cy="94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b="1"/>
                <a:t>由于方差</a:t>
              </a:r>
              <a:r>
                <a:rPr lang="en-US" altLang="zh-CN" sz="3200" b="1" i="1"/>
                <a:t>D</a:t>
              </a:r>
              <a:r>
                <a:rPr lang="en-US" altLang="zh-CN" sz="3200" b="1"/>
                <a:t>(</a:t>
              </a:r>
              <a:r>
                <a:rPr lang="en-US" altLang="zh-CN" sz="3200" b="1" i="1"/>
                <a:t>Y</a:t>
              </a:r>
              <a:r>
                <a:rPr lang="en-US" altLang="zh-CN" sz="3200" b="1"/>
                <a:t>)</a:t>
              </a:r>
              <a:r>
                <a:rPr lang="zh-CN" altLang="en-US" b="1"/>
                <a:t>是正的</a:t>
              </a:r>
              <a:r>
                <a:rPr lang="en-US" altLang="zh-CN" b="1"/>
                <a:t>,</a:t>
              </a:r>
              <a:r>
                <a:rPr lang="zh-CN" altLang="en-US" b="1"/>
                <a:t>故必有</a:t>
              </a:r>
              <a:endParaRPr lang="zh-CN" altLang="en-US" b="1"/>
            </a:p>
            <a:p>
              <a:pPr algn="ctr" eaLnBrk="1" hangingPunct="1">
                <a:spcBef>
                  <a:spcPct val="50000"/>
                </a:spcBef>
              </a:pPr>
              <a:r>
                <a:rPr lang="en-US" altLang="zh-CN" sz="3200" b="1"/>
                <a:t>1-     ≥ 0,</a:t>
              </a:r>
              <a:r>
                <a:rPr lang="zh-CN" altLang="en-US" sz="3200" b="1"/>
                <a:t>所以 </a:t>
              </a:r>
              <a:r>
                <a:rPr lang="en-US" altLang="zh-CN" sz="3200" b="1"/>
                <a:t>|   |≤1</a:t>
              </a:r>
              <a:r>
                <a:rPr lang="zh-CN" altLang="en-US" sz="3200" b="1"/>
                <a:t>。</a:t>
              </a:r>
              <a:endParaRPr lang="zh-CN" altLang="en-US" sz="3200" b="1"/>
            </a:p>
          </p:txBody>
        </p:sp>
        <p:graphicFrame>
          <p:nvGraphicFramePr>
            <p:cNvPr id="29" name="Object 89"/>
            <p:cNvGraphicFramePr>
              <a:graphicFrameLocks noChangeAspect="1"/>
            </p:cNvGraphicFramePr>
            <p:nvPr/>
          </p:nvGraphicFramePr>
          <p:xfrm>
            <a:off x="2690" y="1119"/>
            <a:ext cx="352" cy="397"/>
          </p:xfrm>
          <a:graphic>
            <a:graphicData uri="http://schemas.openxmlformats.org/presentationml/2006/ole">
              <mc:AlternateContent xmlns:mc="http://schemas.openxmlformats.org/markup-compatibility/2006">
                <mc:Choice xmlns:v="urn:schemas-microsoft-com:vml" Requires="v">
                  <p:oleObj spid="_x0000_s197666" name="Equation" r:id="rId11" imgW="175260" imgH="204470" progId="Equation.3">
                    <p:embed/>
                  </p:oleObj>
                </mc:Choice>
                <mc:Fallback>
                  <p:oleObj name="Equation" r:id="rId11" imgW="175260" imgH="204470" progId="Equation.3">
                    <p:embed/>
                    <p:pic>
                      <p:nvPicPr>
                        <p:cNvPr id="0" name="Object 8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90" y="1119"/>
                          <a:ext cx="352" cy="3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90"/>
            <p:cNvGraphicFramePr>
              <a:graphicFrameLocks noChangeAspect="1"/>
            </p:cNvGraphicFramePr>
            <p:nvPr/>
          </p:nvGraphicFramePr>
          <p:xfrm>
            <a:off x="4204" y="1224"/>
            <a:ext cx="263" cy="284"/>
          </p:xfrm>
          <a:graphic>
            <a:graphicData uri="http://schemas.openxmlformats.org/presentationml/2006/ole">
              <mc:AlternateContent xmlns:mc="http://schemas.openxmlformats.org/markup-compatibility/2006">
                <mc:Choice xmlns:v="urn:schemas-microsoft-com:vml" Requires="v">
                  <p:oleObj spid="_x0000_s197667" name="Equation" r:id="rId13" imgW="126365" imgH="135890" progId="Equation.3">
                    <p:embed/>
                  </p:oleObj>
                </mc:Choice>
                <mc:Fallback>
                  <p:oleObj name="Equation" r:id="rId13" imgW="126365" imgH="135890" progId="Equation.3">
                    <p:embed/>
                    <p:pic>
                      <p:nvPicPr>
                        <p:cNvPr id="0" name="Object 9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04" y="1224"/>
                          <a:ext cx="263"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912"/>
                                        </p:tgtEl>
                                        <p:attrNameLst>
                                          <p:attrName>style.visibility</p:attrName>
                                        </p:attrNameLst>
                                      </p:cBhvr>
                                      <p:to>
                                        <p:strVal val="visible"/>
                                      </p:to>
                                    </p:set>
                                    <p:animEffect transition="in" filter="wipe(left)">
                                      <p:cBhvr>
                                        <p:cTn id="7" dur="500"/>
                                        <p:tgtEl>
                                          <p:spTgt spid="359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5913"/>
                                        </p:tgtEl>
                                        <p:attrNameLst>
                                          <p:attrName>style.visibility</p:attrName>
                                        </p:attrNameLst>
                                      </p:cBhvr>
                                      <p:to>
                                        <p:strVal val="visible"/>
                                      </p:to>
                                    </p:set>
                                    <p:animEffect transition="in" filter="wipe(left)">
                                      <p:cBhvr>
                                        <p:cTn id="12" dur="500"/>
                                        <p:tgtEl>
                                          <p:spTgt spid="359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5914"/>
                                        </p:tgtEl>
                                        <p:attrNameLst>
                                          <p:attrName>style.visibility</p:attrName>
                                        </p:attrNameLst>
                                      </p:cBhvr>
                                      <p:to>
                                        <p:strVal val="visible"/>
                                      </p:to>
                                    </p:set>
                                    <p:animEffect transition="in" filter="wipe(left)">
                                      <p:cBhvr>
                                        <p:cTn id="17" dur="500"/>
                                        <p:tgtEl>
                                          <p:spTgt spid="359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5915"/>
                                        </p:tgtEl>
                                        <p:attrNameLst>
                                          <p:attrName>style.visibility</p:attrName>
                                        </p:attrNameLst>
                                      </p:cBhvr>
                                      <p:to>
                                        <p:strVal val="visible"/>
                                      </p:to>
                                    </p:set>
                                    <p:animEffect transition="in" filter="wipe(left)">
                                      <p:cBhvr>
                                        <p:cTn id="22" dur="500"/>
                                        <p:tgtEl>
                                          <p:spTgt spid="35915"/>
                                        </p:tgtEl>
                                      </p:cBhvr>
                                    </p:animEffect>
                                  </p:childTnLst>
                                </p:cTn>
                              </p:par>
                            </p:childTnLst>
                          </p:cTn>
                        </p:par>
                        <p:par>
                          <p:cTn id="23" fill="hold">
                            <p:stCondLst>
                              <p:cond delay="500"/>
                            </p:stCondLst>
                            <p:childTnLst>
                              <p:par>
                                <p:cTn id="24" presetID="22" presetClass="entr" presetSubtype="2" fill="hold" grpId="0" nodeType="afterEffect">
                                  <p:stCondLst>
                                    <p:cond delay="0"/>
                                  </p:stCondLst>
                                  <p:childTnLst>
                                    <p:set>
                                      <p:cBhvr>
                                        <p:cTn id="25" dur="1" fill="hold">
                                          <p:stCondLst>
                                            <p:cond delay="0"/>
                                          </p:stCondLst>
                                        </p:cTn>
                                        <p:tgtEl>
                                          <p:spTgt spid="35916"/>
                                        </p:tgtEl>
                                        <p:attrNameLst>
                                          <p:attrName>style.visibility</p:attrName>
                                        </p:attrNameLst>
                                      </p:cBhvr>
                                      <p:to>
                                        <p:strVal val="visible"/>
                                      </p:to>
                                    </p:set>
                                    <p:animEffect transition="in" filter="wipe(right)">
                                      <p:cBhvr>
                                        <p:cTn id="26" dur="500"/>
                                        <p:tgtEl>
                                          <p:spTgt spid="3591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5917"/>
                                        </p:tgtEl>
                                        <p:attrNameLst>
                                          <p:attrName>style.visibility</p:attrName>
                                        </p:attrNameLst>
                                      </p:cBhvr>
                                      <p:to>
                                        <p:strVal val="visible"/>
                                      </p:to>
                                    </p:set>
                                    <p:animEffect transition="in" filter="wipe(left)">
                                      <p:cBhvr>
                                        <p:cTn id="31" dur="500"/>
                                        <p:tgtEl>
                                          <p:spTgt spid="3591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5921"/>
                                        </p:tgtEl>
                                        <p:attrNameLst>
                                          <p:attrName>style.visibility</p:attrName>
                                        </p:attrNameLst>
                                      </p:cBhvr>
                                      <p:to>
                                        <p:strVal val="visible"/>
                                      </p:to>
                                    </p:set>
                                    <p:animEffect transition="in" filter="wipe(left)">
                                      <p:cBhvr>
                                        <p:cTn id="36" dur="500"/>
                                        <p:tgtEl>
                                          <p:spTgt spid="3592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nodeType="clickEffect">
                                  <p:stCondLst>
                                    <p:cond delay="0"/>
                                  </p:stCondLst>
                                  <p:childTnLst>
                                    <p:set>
                                      <p:cBhvr>
                                        <p:cTn id="40" dur="1" fill="hold">
                                          <p:stCondLst>
                                            <p:cond delay="0"/>
                                          </p:stCondLst>
                                        </p:cTn>
                                        <p:tgtEl>
                                          <p:spTgt spid="35924"/>
                                        </p:tgtEl>
                                        <p:attrNameLst>
                                          <p:attrName>style.visibility</p:attrName>
                                        </p:attrNameLst>
                                      </p:cBhvr>
                                      <p:to>
                                        <p:strVal val="visible"/>
                                      </p:to>
                                    </p:set>
                                    <p:animEffect transition="in" filter="wipe(right)">
                                      <p:cBhvr>
                                        <p:cTn id="41" dur="500"/>
                                        <p:tgtEl>
                                          <p:spTgt spid="35924"/>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nodeType="clickEffect">
                                  <p:stCondLst>
                                    <p:cond delay="0"/>
                                  </p:stCondLst>
                                  <p:childTnLst>
                                    <p:set>
                                      <p:cBhvr>
                                        <p:cTn id="45" dur="1" fill="hold">
                                          <p:stCondLst>
                                            <p:cond delay="0"/>
                                          </p:stCondLst>
                                        </p:cTn>
                                        <p:tgtEl>
                                          <p:spTgt spid="35925"/>
                                        </p:tgtEl>
                                        <p:attrNameLst>
                                          <p:attrName>style.visibility</p:attrName>
                                        </p:attrNameLst>
                                      </p:cBhvr>
                                      <p:to>
                                        <p:strVal val="visible"/>
                                      </p:to>
                                    </p:set>
                                    <p:anim calcmode="lin" valueType="num">
                                      <p:cBhvr additive="base">
                                        <p:cTn id="46" dur="500" fill="hold"/>
                                        <p:tgtEl>
                                          <p:spTgt spid="35925"/>
                                        </p:tgtEl>
                                        <p:attrNameLst>
                                          <p:attrName>ppt_x</p:attrName>
                                        </p:attrNameLst>
                                      </p:cBhvr>
                                      <p:tavLst>
                                        <p:tav tm="0">
                                          <p:val>
                                            <p:strVal val="1+#ppt_w/2"/>
                                          </p:val>
                                        </p:tav>
                                        <p:tav tm="100000">
                                          <p:val>
                                            <p:strVal val="#ppt_x"/>
                                          </p:val>
                                        </p:tav>
                                      </p:tavLst>
                                    </p:anim>
                                    <p:anim calcmode="lin" valueType="num">
                                      <p:cBhvr additive="base">
                                        <p:cTn id="47" dur="500" fill="hold"/>
                                        <p:tgtEl>
                                          <p:spTgt spid="35925"/>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1" fill="hold" nodeType="clickEffect">
                                  <p:stCondLst>
                                    <p:cond delay="0"/>
                                  </p:stCondLst>
                                  <p:childTnLst>
                                    <p:set>
                                      <p:cBhvr>
                                        <p:cTn id="51" dur="1" fill="hold">
                                          <p:stCondLst>
                                            <p:cond delay="0"/>
                                          </p:stCondLst>
                                        </p:cTn>
                                        <p:tgtEl>
                                          <p:spTgt spid="26"/>
                                        </p:tgtEl>
                                        <p:attrNameLst>
                                          <p:attrName>style.visibility</p:attrName>
                                        </p:attrNameLst>
                                      </p:cBhvr>
                                      <p:to>
                                        <p:strVal val="visible"/>
                                      </p:to>
                                    </p:set>
                                    <p:anim calcmode="lin" valueType="num">
                                      <p:cBhvr additive="base">
                                        <p:cTn id="52" dur="500" fill="hold"/>
                                        <p:tgtEl>
                                          <p:spTgt spid="26"/>
                                        </p:tgtEl>
                                        <p:attrNameLst>
                                          <p:attrName>ppt_x</p:attrName>
                                        </p:attrNameLst>
                                      </p:cBhvr>
                                      <p:tavLst>
                                        <p:tav tm="0">
                                          <p:val>
                                            <p:strVal val="#ppt_x"/>
                                          </p:val>
                                        </p:tav>
                                        <p:tav tm="100000">
                                          <p:val>
                                            <p:strVal val="#ppt_x"/>
                                          </p:val>
                                        </p:tav>
                                      </p:tavLst>
                                    </p:anim>
                                    <p:anim calcmode="lin" valueType="num">
                                      <p:cBhvr additive="base">
                                        <p:cTn id="53" dur="500" fill="hold"/>
                                        <p:tgtEl>
                                          <p:spTgt spid="2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12" grpId="0"/>
      <p:bldP spid="35914" grpId="0" bldLvl="0" animBg="1" autoUpdateAnimBg="0"/>
      <p:bldP spid="35915" grpId="0" bldLvl="0" animBg="1" autoUpdateAnimBg="0"/>
      <p:bldP spid="35916" grpId="0" bldLvl="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矩形 17"/>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二、相关系数</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9" name="组合 18"/>
          <p:cNvGrpSpPr/>
          <p:nvPr/>
        </p:nvGrpSpPr>
        <p:grpSpPr>
          <a:xfrm>
            <a:off x="851761" y="364781"/>
            <a:ext cx="263341" cy="395013"/>
            <a:chOff x="5284519" y="1508166"/>
            <a:chExt cx="213756" cy="427512"/>
          </a:xfrm>
        </p:grpSpPr>
        <p:cxnSp>
          <p:nvCxnSpPr>
            <p:cNvPr id="20" name="直接连接符 1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1" name="直接连接符 2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pSp>
        <p:nvGrpSpPr>
          <p:cNvPr id="2" name="组 1"/>
          <p:cNvGrpSpPr/>
          <p:nvPr/>
        </p:nvGrpSpPr>
        <p:grpSpPr>
          <a:xfrm>
            <a:off x="1238194" y="1252907"/>
            <a:ext cx="3362150" cy="525680"/>
            <a:chOff x="1238194" y="1252907"/>
            <a:chExt cx="3362150" cy="525680"/>
          </a:xfrm>
        </p:grpSpPr>
        <p:sp>
          <p:nvSpPr>
            <p:cNvPr id="15" name="Text Box 72"/>
            <p:cNvSpPr txBox="1">
              <a:spLocks noChangeArrowheads="1"/>
            </p:cNvSpPr>
            <p:nvPr/>
          </p:nvSpPr>
          <p:spPr bwMode="auto">
            <a:xfrm>
              <a:off x="1238194" y="1252907"/>
              <a:ext cx="2921058"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spcBef>
                  <a:spcPct val="50000"/>
                </a:spcBef>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证明（</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22" name="Object 3"/>
            <p:cNvGraphicFramePr>
              <a:graphicFrameLocks noChangeAspect="1"/>
            </p:cNvGraphicFramePr>
            <p:nvPr/>
          </p:nvGraphicFramePr>
          <p:xfrm>
            <a:off x="3231919" y="1286462"/>
            <a:ext cx="1368425" cy="492125"/>
          </p:xfrm>
          <a:graphic>
            <a:graphicData uri="http://schemas.openxmlformats.org/presentationml/2006/ole">
              <mc:AlternateContent xmlns:mc="http://schemas.openxmlformats.org/markup-compatibility/2006">
                <mc:Choice xmlns:v="urn:schemas-microsoft-com:vml" Requires="v">
                  <p:oleObj spid="_x0000_s198683" name="公式" r:id="rId1" imgW="494665" imgH="177800" progId="Equation.3">
                    <p:embed/>
                  </p:oleObj>
                </mc:Choice>
                <mc:Fallback>
                  <p:oleObj name="公式" r:id="rId1" imgW="494665" imgH="1778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1919" y="1286462"/>
                          <a:ext cx="1368425"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graphicFrame>
        <p:nvGraphicFramePr>
          <p:cNvPr id="23" name="Object 4"/>
          <p:cNvGraphicFramePr>
            <a:graphicFrameLocks noChangeAspect="1"/>
          </p:cNvGraphicFramePr>
          <p:nvPr/>
        </p:nvGraphicFramePr>
        <p:xfrm>
          <a:off x="2495600" y="2099187"/>
          <a:ext cx="7673975" cy="577850"/>
        </p:xfrm>
        <a:graphic>
          <a:graphicData uri="http://schemas.openxmlformats.org/presentationml/2006/ole">
            <mc:AlternateContent xmlns:mc="http://schemas.openxmlformats.org/markup-compatibility/2006">
              <mc:Choice xmlns:v="urn:schemas-microsoft-com:vml" Requires="v">
                <p:oleObj spid="_x0000_s198684" name="公式" r:id="rId3" imgW="3035300" imgH="228600" progId="Equation.3">
                  <p:embed/>
                </p:oleObj>
              </mc:Choice>
              <mc:Fallback>
                <p:oleObj name="公式" r:id="rId3" imgW="30353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5600" y="2099187"/>
                        <a:ext cx="7673975"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4" name="Object 5"/>
          <p:cNvGraphicFramePr>
            <a:graphicFrameLocks noChangeAspect="1"/>
          </p:cNvGraphicFramePr>
          <p:nvPr/>
        </p:nvGraphicFramePr>
        <p:xfrm>
          <a:off x="2951212" y="2819912"/>
          <a:ext cx="5902325" cy="596900"/>
        </p:xfrm>
        <a:graphic>
          <a:graphicData uri="http://schemas.openxmlformats.org/presentationml/2006/ole">
            <mc:AlternateContent xmlns:mc="http://schemas.openxmlformats.org/markup-compatibility/2006">
              <mc:Choice xmlns:v="urn:schemas-microsoft-com:vml" Requires="v">
                <p:oleObj spid="_x0000_s198685" name="公式" r:id="rId5" imgW="2387600" imgH="241300" progId="Equation.3">
                  <p:embed/>
                </p:oleObj>
              </mc:Choice>
              <mc:Fallback>
                <p:oleObj name="公式" r:id="rId5" imgW="2387600" imgH="2413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1212" y="2819912"/>
                        <a:ext cx="5902325"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5" name="Object 6"/>
          <p:cNvGraphicFramePr>
            <a:graphicFrameLocks noChangeAspect="1"/>
          </p:cNvGraphicFramePr>
          <p:nvPr/>
        </p:nvGraphicFramePr>
        <p:xfrm>
          <a:off x="2984550" y="3507300"/>
          <a:ext cx="3646487" cy="1108075"/>
        </p:xfrm>
        <a:graphic>
          <a:graphicData uri="http://schemas.openxmlformats.org/presentationml/2006/ole">
            <mc:AlternateContent xmlns:mc="http://schemas.openxmlformats.org/markup-compatibility/2006">
              <mc:Choice xmlns:v="urn:schemas-microsoft-com:vml" Requires="v">
                <p:oleObj spid="_x0000_s198686" name="公式" r:id="rId7" imgW="1459865" imgH="444500" progId="Equation.3">
                  <p:embed/>
                </p:oleObj>
              </mc:Choice>
              <mc:Fallback>
                <p:oleObj name="公式" r:id="rId7" imgW="1459865" imgH="4445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4550" y="3507300"/>
                        <a:ext cx="3646487" cy="1108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26" name="Object 7"/>
          <p:cNvGraphicFramePr>
            <a:graphicFrameLocks noChangeAspect="1"/>
          </p:cNvGraphicFramePr>
          <p:nvPr/>
        </p:nvGraphicFramePr>
        <p:xfrm>
          <a:off x="3606800" y="4869160"/>
          <a:ext cx="1952625" cy="736600"/>
        </p:xfrm>
        <a:graphic>
          <a:graphicData uri="http://schemas.openxmlformats.org/presentationml/2006/ole">
            <mc:AlternateContent xmlns:mc="http://schemas.openxmlformats.org/markup-compatibility/2006">
              <mc:Choice xmlns:v="urn:schemas-microsoft-com:vml" Requires="v">
                <p:oleObj spid="_x0000_s198687" name="公式" r:id="rId9" imgW="673100" imgH="254000" progId="Equation.3">
                  <p:embed/>
                </p:oleObj>
              </mc:Choice>
              <mc:Fallback>
                <p:oleObj name="公式" r:id="rId9" imgW="673100" imgH="2540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06800" y="4869160"/>
                        <a:ext cx="1952625" cy="73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10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10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box(in)">
                                      <p:cBhvr>
                                        <p:cTn id="22" dur="10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checkerboard(across)">
                                      <p:cBhvr>
                                        <p:cTn id="27"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59" name="Rectangle 75"/>
          <p:cNvSpPr>
            <a:spLocks noChangeArrowheads="1"/>
          </p:cNvSpPr>
          <p:nvPr/>
        </p:nvSpPr>
        <p:spPr bwMode="auto">
          <a:xfrm>
            <a:off x="2003593" y="1969477"/>
            <a:ext cx="7620000" cy="523875"/>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独立时，</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p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，但其逆不真。</a:t>
            </a:r>
            <a:endPar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1" name="Rectangle 77"/>
          <p:cNvSpPr>
            <a:spLocks noChangeArrowheads="1"/>
          </p:cNvSpPr>
          <p:nvPr/>
        </p:nvSpPr>
        <p:spPr bwMode="auto">
          <a:xfrm>
            <a:off x="2423592" y="2764912"/>
            <a:ext cx="5970994"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由于当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独立时，</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0</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2" name="Rectangle 78"/>
          <p:cNvSpPr>
            <a:spLocks noChangeArrowheads="1"/>
          </p:cNvSpPr>
          <p:nvPr/>
        </p:nvSpPr>
        <p:spPr bwMode="auto">
          <a:xfrm>
            <a:off x="3265890" y="3787574"/>
            <a:ext cx="543739"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故</a:t>
            </a:r>
            <a:endPar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6463" name="Group 79"/>
          <p:cNvGrpSpPr/>
          <p:nvPr/>
        </p:nvGrpSpPr>
        <p:grpSpPr bwMode="auto">
          <a:xfrm>
            <a:off x="3981618" y="3510548"/>
            <a:ext cx="4138613" cy="1166813"/>
            <a:chOff x="1412" y="1584"/>
            <a:chExt cx="2607" cy="735"/>
          </a:xfrm>
        </p:grpSpPr>
        <p:graphicFrame>
          <p:nvGraphicFramePr>
            <p:cNvPr id="16464" name="Object 80"/>
            <p:cNvGraphicFramePr>
              <a:graphicFrameLocks noChangeAspect="1"/>
            </p:cNvGraphicFramePr>
            <p:nvPr/>
          </p:nvGraphicFramePr>
          <p:xfrm>
            <a:off x="1412" y="1584"/>
            <a:ext cx="2152" cy="735"/>
          </p:xfrm>
          <a:graphic>
            <a:graphicData uri="http://schemas.openxmlformats.org/presentationml/2006/ole">
              <mc:AlternateContent xmlns:mc="http://schemas.openxmlformats.org/markup-compatibility/2006">
                <mc:Choice xmlns:v="urn:schemas-microsoft-com:vml" Requires="v">
                  <p:oleObj spid="_x0000_s199692" name="Equation" r:id="rId1" imgW="26822400" imgH="10668000" progId="Equation.DSMT4">
                    <p:embed/>
                  </p:oleObj>
                </mc:Choice>
                <mc:Fallback>
                  <p:oleObj name="Equation" r:id="rId1" imgW="26822400" imgH="10668000" progId="Equation.DSMT4">
                    <p:embed/>
                    <p:pic>
                      <p:nvPicPr>
                        <p:cNvPr id="0" name="Object 80"/>
                        <p:cNvPicPr>
                          <a:picLocks noChangeAspect="1" noChangeArrowheads="1"/>
                        </p:cNvPicPr>
                        <p:nvPr/>
                      </p:nvPicPr>
                      <p:blipFill>
                        <a:blip r:embed="rId2"/>
                        <a:srcRect/>
                        <a:stretch>
                          <a:fillRect/>
                        </a:stretch>
                      </p:blipFill>
                      <p:spPr bwMode="auto">
                        <a:xfrm>
                          <a:off x="1412" y="1584"/>
                          <a:ext cx="2152" cy="73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65" name="Rectangle 81"/>
            <p:cNvSpPr>
              <a:spLocks noChangeArrowheads="1"/>
            </p:cNvSpPr>
            <p:nvPr/>
          </p:nvSpPr>
          <p:spPr bwMode="auto">
            <a:xfrm>
              <a:off x="3604" y="1746"/>
              <a:ext cx="415"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0</a:t>
              </a:r>
              <a:endPar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grpSp>
        <p:nvGrpSpPr>
          <p:cNvPr id="16466" name="Group 82"/>
          <p:cNvGrpSpPr/>
          <p:nvPr/>
        </p:nvGrpSpPr>
        <p:grpSpPr bwMode="auto">
          <a:xfrm>
            <a:off x="2003593" y="5028019"/>
            <a:ext cx="6831014" cy="555625"/>
            <a:chOff x="655" y="2429"/>
            <a:chExt cx="4303" cy="350"/>
          </a:xfrm>
        </p:grpSpPr>
        <p:graphicFrame>
          <p:nvGraphicFramePr>
            <p:cNvPr id="16467" name="Object 83"/>
            <p:cNvGraphicFramePr>
              <a:graphicFrameLocks noChangeAspect="1"/>
            </p:cNvGraphicFramePr>
            <p:nvPr/>
          </p:nvGraphicFramePr>
          <p:xfrm>
            <a:off x="1239" y="2429"/>
            <a:ext cx="662" cy="350"/>
          </p:xfrm>
          <a:graphic>
            <a:graphicData uri="http://schemas.openxmlformats.org/presentationml/2006/ole">
              <mc:AlternateContent xmlns:mc="http://schemas.openxmlformats.org/markup-compatibility/2006">
                <mc:Choice xmlns:v="urn:schemas-microsoft-com:vml" Requires="v">
                  <p:oleObj spid="_x0000_s199693" name="Equation" r:id="rId3" imgW="9144000" imgH="4876800" progId="Equation.DSMT4">
                    <p:embed/>
                  </p:oleObj>
                </mc:Choice>
                <mc:Fallback>
                  <p:oleObj name="Equation" r:id="rId3" imgW="9144000" imgH="4876800" progId="Equation.DSMT4">
                    <p:embed/>
                    <p:pic>
                      <p:nvPicPr>
                        <p:cNvPr id="0" name="Object 83"/>
                        <p:cNvPicPr>
                          <a:picLocks noChangeAspect="1" noChangeArrowheads="1"/>
                        </p:cNvPicPr>
                        <p:nvPr/>
                      </p:nvPicPr>
                      <p:blipFill>
                        <a:blip r:embed="rId4"/>
                        <a:srcRect/>
                        <a:stretch>
                          <a:fillRect/>
                        </a:stretch>
                      </p:blipFill>
                      <p:spPr bwMode="auto">
                        <a:xfrm>
                          <a:off x="1239" y="2429"/>
                          <a:ext cx="662" cy="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468" name="Rectangle 84"/>
            <p:cNvSpPr>
              <a:spLocks noChangeArrowheads="1"/>
            </p:cNvSpPr>
            <p:nvPr/>
          </p:nvSpPr>
          <p:spPr bwMode="auto">
            <a:xfrm>
              <a:off x="655" y="2437"/>
              <a:ext cx="569"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但由</a:t>
              </a:r>
              <a:endPar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6469" name="Rectangle 85"/>
            <p:cNvSpPr>
              <a:spLocks noChangeArrowheads="1"/>
            </p:cNvSpPr>
            <p:nvPr/>
          </p:nvSpPr>
          <p:spPr bwMode="auto">
            <a:xfrm>
              <a:off x="1960" y="2437"/>
              <a:ext cx="2998"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并不一定能推出</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独立。</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cxnSp>
        <p:nvCxnSpPr>
          <p:cNvPr id="17"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8" name="矩形 17"/>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二、相关系数</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9" name="组合 18"/>
          <p:cNvGrpSpPr/>
          <p:nvPr/>
        </p:nvGrpSpPr>
        <p:grpSpPr>
          <a:xfrm>
            <a:off x="851761" y="364781"/>
            <a:ext cx="263341" cy="395013"/>
            <a:chOff x="5284519" y="1508166"/>
            <a:chExt cx="213756" cy="427512"/>
          </a:xfrm>
        </p:grpSpPr>
        <p:cxnSp>
          <p:nvCxnSpPr>
            <p:cNvPr id="20" name="直接连接符 19"/>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1" name="直接连接符 20"/>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59"/>
                                        </p:tgtEl>
                                        <p:attrNameLst>
                                          <p:attrName>style.visibility</p:attrName>
                                        </p:attrNameLst>
                                      </p:cBhvr>
                                      <p:to>
                                        <p:strVal val="visible"/>
                                      </p:to>
                                    </p:set>
                                    <p:animEffect transition="in" filter="wipe(left)">
                                      <p:cBhvr>
                                        <p:cTn id="7" dur="500"/>
                                        <p:tgtEl>
                                          <p:spTgt spid="1645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16461"/>
                                        </p:tgtEl>
                                        <p:attrNameLst>
                                          <p:attrName>style.visibility</p:attrName>
                                        </p:attrNameLst>
                                      </p:cBhvr>
                                      <p:to>
                                        <p:strVal val="visible"/>
                                      </p:to>
                                    </p:set>
                                    <p:animEffect transition="in" filter="barn(outVertical)">
                                      <p:cBhvr>
                                        <p:cTn id="12" dur="500"/>
                                        <p:tgtEl>
                                          <p:spTgt spid="1646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6462"/>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499"/>
                                          </p:stCondLst>
                                        </p:cTn>
                                        <p:tgtEl>
                                          <p:spTgt spid="1646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6" presetClass="entr" presetSubtype="37" fill="hold" nodeType="clickEffect">
                                  <p:stCondLst>
                                    <p:cond delay="0"/>
                                  </p:stCondLst>
                                  <p:childTnLst>
                                    <p:set>
                                      <p:cBhvr>
                                        <p:cTn id="23" dur="1" fill="hold">
                                          <p:stCondLst>
                                            <p:cond delay="0"/>
                                          </p:stCondLst>
                                        </p:cTn>
                                        <p:tgtEl>
                                          <p:spTgt spid="16466"/>
                                        </p:tgtEl>
                                        <p:attrNameLst>
                                          <p:attrName>style.visibility</p:attrName>
                                        </p:attrNameLst>
                                      </p:cBhvr>
                                      <p:to>
                                        <p:strVal val="visible"/>
                                      </p:to>
                                    </p:set>
                                    <p:animEffect transition="in" filter="barn(outVertical)">
                                      <p:cBhvr>
                                        <p:cTn id="24" dur="500"/>
                                        <p:tgtEl>
                                          <p:spTgt spid="16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59" grpId="0" bldLvl="0" animBg="1"/>
      <p:bldP spid="16461" grpId="0" bldLvl="0" animBg="1" autoUpdateAnimBg="0"/>
      <p:bldP spid="16462" grpId="0" bldLvl="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48" name="Rectangle 40"/>
          <p:cNvSpPr>
            <a:spLocks noChangeArrowheads="1"/>
          </p:cNvSpPr>
          <p:nvPr/>
        </p:nvSpPr>
        <p:spPr bwMode="auto">
          <a:xfrm>
            <a:off x="2850404" y="1913739"/>
            <a:ext cx="229393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r>
              <a:rPr lang="en-US" altLang="zh-CN" sz="2800" b="1" i="1" dirty="0" err="1">
                <a:latin typeface="Times New Roman" panose="02020603050405020304" pitchFamily="18" charset="0"/>
                <a:ea typeface="微软雅黑" panose="020B0503020204020204" pitchFamily="34" charset="-122"/>
                <a:sym typeface="Times New Roman" panose="02020603050405020304" pitchFamily="18" charset="0"/>
              </a:rPr>
              <a:t>Cov</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)=0</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449" name="Text Box 41"/>
          <p:cNvSpPr txBox="1">
            <a:spLocks noChangeArrowheads="1"/>
          </p:cNvSpPr>
          <p:nvPr/>
        </p:nvSpPr>
        <p:spPr bwMode="auto">
          <a:xfrm>
            <a:off x="4943872" y="1931825"/>
            <a:ext cx="36760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事实上，</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的密度函数</a:t>
            </a:r>
            <a:endPar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7450" name="Object 42"/>
          <p:cNvGraphicFramePr>
            <a:graphicFrameLocks noChangeAspect="1"/>
          </p:cNvGraphicFramePr>
          <p:nvPr/>
        </p:nvGraphicFramePr>
        <p:xfrm>
          <a:off x="2567608" y="2623511"/>
          <a:ext cx="3263063" cy="1488415"/>
        </p:xfrm>
        <a:graphic>
          <a:graphicData uri="http://schemas.openxmlformats.org/presentationml/2006/ole">
            <mc:AlternateContent xmlns:mc="http://schemas.openxmlformats.org/markup-compatibility/2006">
              <mc:Choice xmlns:v="urn:schemas-microsoft-com:vml" Requires="v">
                <p:oleObj spid="_x0000_s200726" name="Equation" r:id="rId1" imgW="34747200" imgH="15849600" progId="Equation.DSMT4">
                  <p:embed/>
                </p:oleObj>
              </mc:Choice>
              <mc:Fallback>
                <p:oleObj name="Equation" r:id="rId1" imgW="34747200" imgH="15849600" progId="Equation.DSMT4">
                  <p:embed/>
                  <p:pic>
                    <p:nvPicPr>
                      <p:cNvPr id="0" name="Object 42"/>
                      <p:cNvPicPr>
                        <a:picLocks noChangeAspect="1" noChangeArrowheads="1"/>
                      </p:cNvPicPr>
                      <p:nvPr/>
                    </p:nvPicPr>
                    <p:blipFill>
                      <a:blip r:embed="rId2"/>
                      <a:srcRect/>
                      <a:stretch>
                        <a:fillRect/>
                      </a:stretch>
                    </p:blipFill>
                    <p:spPr bwMode="auto">
                      <a:xfrm>
                        <a:off x="2567608" y="2623511"/>
                        <a:ext cx="3263063" cy="1488415"/>
                      </a:xfrm>
                      <a:prstGeom prst="rect">
                        <a:avLst/>
                      </a:prstGeom>
                      <a:noFill/>
                      <a:ln>
                        <a:noFill/>
                      </a:ln>
                      <a:effectLst/>
                    </p:spPr>
                  </p:pic>
                </p:oleObj>
              </mc:Fallback>
            </mc:AlternateContent>
          </a:graphicData>
        </a:graphic>
      </p:graphicFrame>
      <p:graphicFrame>
        <p:nvGraphicFramePr>
          <p:cNvPr id="17451" name="Object 43"/>
          <p:cNvGraphicFramePr>
            <a:graphicFrameLocks noChangeAspect="1"/>
          </p:cNvGraphicFramePr>
          <p:nvPr/>
        </p:nvGraphicFramePr>
        <p:xfrm>
          <a:off x="6168008" y="3129806"/>
          <a:ext cx="2228463" cy="526165"/>
        </p:xfrm>
        <a:graphic>
          <a:graphicData uri="http://schemas.openxmlformats.org/presentationml/2006/ole">
            <mc:AlternateContent xmlns:mc="http://schemas.openxmlformats.org/markup-compatibility/2006">
              <mc:Choice xmlns:v="urn:schemas-microsoft-com:vml" Requires="v">
                <p:oleObj spid="_x0000_s200727" name="Equation" r:id="rId3" imgW="21945600" imgH="5181600" progId="Equation.DSMT4">
                  <p:embed/>
                </p:oleObj>
              </mc:Choice>
              <mc:Fallback>
                <p:oleObj name="Equation" r:id="rId3" imgW="21945600" imgH="5181600" progId="Equation.DSMT4">
                  <p:embed/>
                  <p:pic>
                    <p:nvPicPr>
                      <p:cNvPr id="0" name="Object 43"/>
                      <p:cNvPicPr>
                        <a:picLocks noChangeAspect="1" noChangeArrowheads="1"/>
                      </p:cNvPicPr>
                      <p:nvPr/>
                    </p:nvPicPr>
                    <p:blipFill>
                      <a:blip r:embed="rId4"/>
                      <a:srcRect/>
                      <a:stretch>
                        <a:fillRect/>
                      </a:stretch>
                    </p:blipFill>
                    <p:spPr bwMode="auto">
                      <a:xfrm>
                        <a:off x="6168008" y="3129806"/>
                        <a:ext cx="2228463" cy="526165"/>
                      </a:xfrm>
                      <a:prstGeom prst="rect">
                        <a:avLst/>
                      </a:prstGeom>
                      <a:noFill/>
                      <a:ln>
                        <a:noFill/>
                      </a:ln>
                      <a:effectLst/>
                    </p:spPr>
                  </p:pic>
                </p:oleObj>
              </mc:Fallback>
            </mc:AlternateContent>
          </a:graphicData>
        </a:graphic>
      </p:graphicFrame>
      <p:graphicFrame>
        <p:nvGraphicFramePr>
          <p:cNvPr id="17452" name="Object 44"/>
          <p:cNvGraphicFramePr>
            <a:graphicFrameLocks noChangeAspect="1"/>
          </p:cNvGraphicFramePr>
          <p:nvPr/>
        </p:nvGraphicFramePr>
        <p:xfrm>
          <a:off x="2567608" y="3933056"/>
          <a:ext cx="5982283" cy="1545662"/>
        </p:xfrm>
        <a:graphic>
          <a:graphicData uri="http://schemas.openxmlformats.org/presentationml/2006/ole">
            <mc:AlternateContent xmlns:mc="http://schemas.openxmlformats.org/markup-compatibility/2006">
              <mc:Choice xmlns:v="urn:schemas-microsoft-com:vml" Requires="v">
                <p:oleObj spid="_x0000_s200728" name="Equation" r:id="rId5" imgW="63703200" imgH="16459200" progId="Equation.DSMT4">
                  <p:embed/>
                </p:oleObj>
              </mc:Choice>
              <mc:Fallback>
                <p:oleObj name="Equation" r:id="rId5" imgW="63703200" imgH="16459200" progId="Equation.DSMT4">
                  <p:embed/>
                  <p:pic>
                    <p:nvPicPr>
                      <p:cNvPr id="0" name="Object 44"/>
                      <p:cNvPicPr>
                        <a:picLocks noChangeAspect="1" noChangeArrowheads="1"/>
                      </p:cNvPicPr>
                      <p:nvPr/>
                    </p:nvPicPr>
                    <p:blipFill>
                      <a:blip r:embed="rId6"/>
                      <a:srcRect/>
                      <a:stretch>
                        <a:fillRect/>
                      </a:stretch>
                    </p:blipFill>
                    <p:spPr bwMode="auto">
                      <a:xfrm>
                        <a:off x="2567608" y="3933056"/>
                        <a:ext cx="5982283" cy="1545662"/>
                      </a:xfrm>
                      <a:prstGeom prst="rect">
                        <a:avLst/>
                      </a:prstGeom>
                      <a:noFill/>
                      <a:ln>
                        <a:noFill/>
                      </a:ln>
                      <a:effectLst/>
                    </p:spPr>
                  </p:pic>
                </p:oleObj>
              </mc:Fallback>
            </mc:AlternateContent>
          </a:graphicData>
        </a:graphic>
      </p:graphicFrame>
      <p:graphicFrame>
        <p:nvGraphicFramePr>
          <p:cNvPr id="17453" name="Object 45"/>
          <p:cNvGraphicFramePr>
            <a:graphicFrameLocks noChangeAspect="1"/>
          </p:cNvGraphicFramePr>
          <p:nvPr/>
        </p:nvGraphicFramePr>
        <p:xfrm>
          <a:off x="2567609" y="5742997"/>
          <a:ext cx="5123580" cy="457974"/>
        </p:xfrm>
        <a:graphic>
          <a:graphicData uri="http://schemas.openxmlformats.org/presentationml/2006/ole">
            <mc:AlternateContent xmlns:mc="http://schemas.openxmlformats.org/markup-compatibility/2006">
              <mc:Choice xmlns:v="urn:schemas-microsoft-com:vml" Requires="v">
                <p:oleObj spid="_x0000_s200729" name="Equation" r:id="rId7" imgW="54559200" imgH="4876800" progId="Equation.DSMT4">
                  <p:embed/>
                </p:oleObj>
              </mc:Choice>
              <mc:Fallback>
                <p:oleObj name="Equation" r:id="rId7" imgW="54559200" imgH="4876800" progId="Equation.DSMT4">
                  <p:embed/>
                  <p:pic>
                    <p:nvPicPr>
                      <p:cNvPr id="0" name="Object 45"/>
                      <p:cNvPicPr>
                        <a:picLocks noChangeAspect="1" noChangeArrowheads="1"/>
                      </p:cNvPicPr>
                      <p:nvPr/>
                    </p:nvPicPr>
                    <p:blipFill>
                      <a:blip r:embed="rId8"/>
                      <a:srcRect/>
                      <a:stretch>
                        <a:fillRect/>
                      </a:stretch>
                    </p:blipFill>
                    <p:spPr bwMode="auto">
                      <a:xfrm>
                        <a:off x="2567609" y="5742997"/>
                        <a:ext cx="5123580" cy="457974"/>
                      </a:xfrm>
                      <a:prstGeom prst="rect">
                        <a:avLst/>
                      </a:prstGeom>
                      <a:noFill/>
                      <a:ln>
                        <a:noFill/>
                      </a:ln>
                      <a:effectLst/>
                    </p:spPr>
                  </p:pic>
                </p:oleObj>
              </mc:Fallback>
            </mc:AlternateContent>
          </a:graphicData>
        </a:graphic>
      </p:graphicFrame>
      <p:sp>
        <p:nvSpPr>
          <p:cNvPr id="17454" name="Rectangle 46"/>
          <p:cNvSpPr>
            <a:spLocks noChangeArrowheads="1"/>
          </p:cNvSpPr>
          <p:nvPr/>
        </p:nvSpPr>
        <p:spPr bwMode="auto">
          <a:xfrm>
            <a:off x="1271464" y="1128575"/>
            <a:ext cx="8459787"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eaLnBrk="1" hangingPunct="1"/>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例</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：设</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服从</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(-1/2, 1/2)</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内的均匀分布，而</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rPr>
              <a:t>=cos</a:t>
            </a:r>
            <a:r>
              <a:rPr lang="en-US" altLang="zh-CN" sz="2800" b="1" i="1" dirty="0">
                <a:latin typeface="Times New Roman" panose="02020603050405020304" pitchFamily="18" charset="0"/>
                <a:ea typeface="微软雅黑" panose="020B0503020204020204" pitchFamily="34" charset="-122"/>
                <a:sym typeface="Times New Roman" panose="02020603050405020304" pitchFamily="18" charset="0"/>
              </a:rPr>
              <a:t> X</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7455" name="Rectangle 47"/>
          <p:cNvSpPr>
            <a:spLocks noChangeArrowheads="1"/>
          </p:cNvSpPr>
          <p:nvPr/>
        </p:nvSpPr>
        <p:spPr bwMode="auto">
          <a:xfrm>
            <a:off x="1273264" y="1913739"/>
            <a:ext cx="16209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不难求得</a:t>
            </a:r>
            <a:endPar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2"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二、相关系数</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4" name="组合 13"/>
          <p:cNvGrpSpPr/>
          <p:nvPr/>
        </p:nvGrpSpPr>
        <p:grpSpPr>
          <a:xfrm>
            <a:off x="851761" y="364781"/>
            <a:ext cx="263341" cy="395013"/>
            <a:chOff x="5284519" y="1508166"/>
            <a:chExt cx="213756" cy="427512"/>
          </a:xfrm>
        </p:grpSpPr>
        <p:cxnSp>
          <p:nvCxnSpPr>
            <p:cNvPr id="15" name="直接连接符 14"/>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6" name="直接连接符 15"/>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54"/>
                                        </p:tgtEl>
                                        <p:attrNameLst>
                                          <p:attrName>style.visibility</p:attrName>
                                        </p:attrNameLst>
                                      </p:cBhvr>
                                      <p:to>
                                        <p:strVal val="visible"/>
                                      </p:to>
                                    </p:set>
                                    <p:animEffect transition="in" filter="wipe(left)">
                                      <p:cBhvr>
                                        <p:cTn id="7" dur="500"/>
                                        <p:tgtEl>
                                          <p:spTgt spid="174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55"/>
                                        </p:tgtEl>
                                        <p:attrNameLst>
                                          <p:attrName>style.visibility</p:attrName>
                                        </p:attrNameLst>
                                      </p:cBhvr>
                                      <p:to>
                                        <p:strVal val="visible"/>
                                      </p:to>
                                    </p:set>
                                    <p:animEffect transition="in" filter="wipe(left)">
                                      <p:cBhvr>
                                        <p:cTn id="12" dur="500"/>
                                        <p:tgtEl>
                                          <p:spTgt spid="174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48"/>
                                        </p:tgtEl>
                                        <p:attrNameLst>
                                          <p:attrName>style.visibility</p:attrName>
                                        </p:attrNameLst>
                                      </p:cBhvr>
                                      <p:to>
                                        <p:strVal val="visible"/>
                                      </p:to>
                                    </p:set>
                                    <p:animEffect transition="in" filter="wipe(left)">
                                      <p:cBhvr>
                                        <p:cTn id="17" dur="500"/>
                                        <p:tgtEl>
                                          <p:spTgt spid="17448"/>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7449"/>
                                        </p:tgtEl>
                                        <p:attrNameLst>
                                          <p:attrName>style.visibility</p:attrName>
                                        </p:attrNameLst>
                                      </p:cBhvr>
                                      <p:to>
                                        <p:strVal val="visible"/>
                                      </p:to>
                                    </p:set>
                                    <p:anim calcmode="lin" valueType="num">
                                      <p:cBhvr additive="base">
                                        <p:cTn id="22" dur="500" fill="hold"/>
                                        <p:tgtEl>
                                          <p:spTgt spid="17449"/>
                                        </p:tgtEl>
                                        <p:attrNameLst>
                                          <p:attrName>ppt_x</p:attrName>
                                        </p:attrNameLst>
                                      </p:cBhvr>
                                      <p:tavLst>
                                        <p:tav tm="0">
                                          <p:val>
                                            <p:strVal val="0-#ppt_w/2"/>
                                          </p:val>
                                        </p:tav>
                                        <p:tav tm="100000">
                                          <p:val>
                                            <p:strVal val="#ppt_x"/>
                                          </p:val>
                                        </p:tav>
                                      </p:tavLst>
                                    </p:anim>
                                    <p:anim calcmode="lin" valueType="num">
                                      <p:cBhvr additive="base">
                                        <p:cTn id="23" dur="500" fill="hold"/>
                                        <p:tgtEl>
                                          <p:spTgt spid="1744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nodeType="clickEffect">
                                  <p:stCondLst>
                                    <p:cond delay="0"/>
                                  </p:stCondLst>
                                  <p:childTnLst>
                                    <p:set>
                                      <p:cBhvr>
                                        <p:cTn id="27" dur="1" fill="hold">
                                          <p:stCondLst>
                                            <p:cond delay="0"/>
                                          </p:stCondLst>
                                        </p:cTn>
                                        <p:tgtEl>
                                          <p:spTgt spid="17450"/>
                                        </p:tgtEl>
                                        <p:attrNameLst>
                                          <p:attrName>style.visibility</p:attrName>
                                        </p:attrNameLst>
                                      </p:cBhvr>
                                      <p:to>
                                        <p:strVal val="visible"/>
                                      </p:to>
                                    </p:set>
                                    <p:anim calcmode="lin" valueType="num">
                                      <p:cBhvr additive="base">
                                        <p:cTn id="28" dur="500" fill="hold"/>
                                        <p:tgtEl>
                                          <p:spTgt spid="17450"/>
                                        </p:tgtEl>
                                        <p:attrNameLst>
                                          <p:attrName>ppt_x</p:attrName>
                                        </p:attrNameLst>
                                      </p:cBhvr>
                                      <p:tavLst>
                                        <p:tav tm="0">
                                          <p:val>
                                            <p:strVal val="0-#ppt_w/2"/>
                                          </p:val>
                                        </p:tav>
                                        <p:tav tm="100000">
                                          <p:val>
                                            <p:strVal val="#ppt_x"/>
                                          </p:val>
                                        </p:tav>
                                      </p:tavLst>
                                    </p:anim>
                                    <p:anim calcmode="lin" valueType="num">
                                      <p:cBhvr additive="base">
                                        <p:cTn id="29" dur="500" fill="hold"/>
                                        <p:tgtEl>
                                          <p:spTgt spid="17450"/>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nodeType="clickEffect">
                                  <p:stCondLst>
                                    <p:cond delay="0"/>
                                  </p:stCondLst>
                                  <p:childTnLst>
                                    <p:set>
                                      <p:cBhvr>
                                        <p:cTn id="33" dur="1" fill="hold">
                                          <p:stCondLst>
                                            <p:cond delay="0"/>
                                          </p:stCondLst>
                                        </p:cTn>
                                        <p:tgtEl>
                                          <p:spTgt spid="17451"/>
                                        </p:tgtEl>
                                        <p:attrNameLst>
                                          <p:attrName>style.visibility</p:attrName>
                                        </p:attrNameLst>
                                      </p:cBhvr>
                                      <p:to>
                                        <p:strVal val="visible"/>
                                      </p:to>
                                    </p:set>
                                    <p:anim calcmode="lin" valueType="num">
                                      <p:cBhvr additive="base">
                                        <p:cTn id="34" dur="500" fill="hold"/>
                                        <p:tgtEl>
                                          <p:spTgt spid="17451"/>
                                        </p:tgtEl>
                                        <p:attrNameLst>
                                          <p:attrName>ppt_x</p:attrName>
                                        </p:attrNameLst>
                                      </p:cBhvr>
                                      <p:tavLst>
                                        <p:tav tm="0">
                                          <p:val>
                                            <p:strVal val="0-#ppt_w/2"/>
                                          </p:val>
                                        </p:tav>
                                        <p:tav tm="100000">
                                          <p:val>
                                            <p:strVal val="#ppt_x"/>
                                          </p:val>
                                        </p:tav>
                                      </p:tavLst>
                                    </p:anim>
                                    <p:anim calcmode="lin" valueType="num">
                                      <p:cBhvr additive="base">
                                        <p:cTn id="35" dur="500" fill="hold"/>
                                        <p:tgtEl>
                                          <p:spTgt spid="17451"/>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17452"/>
                                        </p:tgtEl>
                                        <p:attrNameLst>
                                          <p:attrName>style.visibility</p:attrName>
                                        </p:attrNameLst>
                                      </p:cBhvr>
                                      <p:to>
                                        <p:strVal val="visible"/>
                                      </p:to>
                                    </p:set>
                                    <p:anim calcmode="lin" valueType="num">
                                      <p:cBhvr additive="base">
                                        <p:cTn id="40" dur="500" fill="hold"/>
                                        <p:tgtEl>
                                          <p:spTgt spid="17452"/>
                                        </p:tgtEl>
                                        <p:attrNameLst>
                                          <p:attrName>ppt_x</p:attrName>
                                        </p:attrNameLst>
                                      </p:cBhvr>
                                      <p:tavLst>
                                        <p:tav tm="0">
                                          <p:val>
                                            <p:strVal val="0-#ppt_w/2"/>
                                          </p:val>
                                        </p:tav>
                                        <p:tav tm="100000">
                                          <p:val>
                                            <p:strVal val="#ppt_x"/>
                                          </p:val>
                                        </p:tav>
                                      </p:tavLst>
                                    </p:anim>
                                    <p:anim calcmode="lin" valueType="num">
                                      <p:cBhvr additive="base">
                                        <p:cTn id="41" dur="500" fill="hold"/>
                                        <p:tgtEl>
                                          <p:spTgt spid="17452"/>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17453"/>
                                        </p:tgtEl>
                                        <p:attrNameLst>
                                          <p:attrName>style.visibility</p:attrName>
                                        </p:attrNameLst>
                                      </p:cBhvr>
                                      <p:to>
                                        <p:strVal val="visible"/>
                                      </p:to>
                                    </p:set>
                                    <p:anim calcmode="lin" valueType="num">
                                      <p:cBhvr additive="base">
                                        <p:cTn id="46" dur="500" fill="hold"/>
                                        <p:tgtEl>
                                          <p:spTgt spid="17453"/>
                                        </p:tgtEl>
                                        <p:attrNameLst>
                                          <p:attrName>ppt_x</p:attrName>
                                        </p:attrNameLst>
                                      </p:cBhvr>
                                      <p:tavLst>
                                        <p:tav tm="0">
                                          <p:val>
                                            <p:strVal val="0-#ppt_w/2"/>
                                          </p:val>
                                        </p:tav>
                                        <p:tav tm="100000">
                                          <p:val>
                                            <p:strVal val="#ppt_x"/>
                                          </p:val>
                                        </p:tav>
                                      </p:tavLst>
                                    </p:anim>
                                    <p:anim calcmode="lin" valueType="num">
                                      <p:cBhvr additive="base">
                                        <p:cTn id="47" dur="500" fill="hold"/>
                                        <p:tgtEl>
                                          <p:spTgt spid="174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48" grpId="0" bldLvl="0" animBg="1"/>
      <p:bldP spid="17449" grpId="0" bldLvl="0" animBg="1" autoUpdateAnimBg="0"/>
      <p:bldP spid="17454" grpId="0" bldLvl="0" animBg="1"/>
      <p:bldP spid="17455"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015" name="Object 31"/>
          <p:cNvGraphicFramePr>
            <a:graphicFrameLocks noChangeAspect="1"/>
          </p:cNvGraphicFramePr>
          <p:nvPr/>
        </p:nvGraphicFramePr>
        <p:xfrm>
          <a:off x="4435475" y="2897902"/>
          <a:ext cx="2166938" cy="708025"/>
        </p:xfrm>
        <a:graphic>
          <a:graphicData uri="http://schemas.openxmlformats.org/presentationml/2006/ole">
            <mc:AlternateContent xmlns:mc="http://schemas.openxmlformats.org/markup-compatibility/2006">
              <mc:Choice xmlns:v="urn:schemas-microsoft-com:vml" Requires="v">
                <p:oleObj spid="_x0000_s201745" name="Equation" r:id="rId1" imgW="12496800" imgH="6096000" progId="Equation.DSMT4">
                  <p:embed/>
                </p:oleObj>
              </mc:Choice>
              <mc:Fallback>
                <p:oleObj name="Equation" r:id="rId1" imgW="12496800" imgH="6096000" progId="Equation.DSMT4">
                  <p:embed/>
                  <p:pic>
                    <p:nvPicPr>
                      <p:cNvPr id="0" name="Object 31"/>
                      <p:cNvPicPr>
                        <a:picLocks noChangeAspect="1" noChangeArrowheads="1"/>
                      </p:cNvPicPr>
                      <p:nvPr/>
                    </p:nvPicPr>
                    <p:blipFill>
                      <a:blip r:embed="rId2"/>
                      <a:srcRect/>
                      <a:stretch>
                        <a:fillRect/>
                      </a:stretch>
                    </p:blipFill>
                    <p:spPr bwMode="auto">
                      <a:xfrm>
                        <a:off x="4435475" y="2897902"/>
                        <a:ext cx="2166938"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016" name="Text Box 32"/>
          <p:cNvSpPr txBox="1">
            <a:spLocks noChangeArrowheads="1"/>
          </p:cNvSpPr>
          <p:nvPr/>
        </p:nvSpPr>
        <p:spPr bwMode="auto">
          <a:xfrm>
            <a:off x="2919699" y="3879769"/>
            <a:ext cx="34660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存在常数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sz="28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017" name="Text Box 33"/>
          <p:cNvSpPr txBox="1">
            <a:spLocks noChangeArrowheads="1"/>
          </p:cNvSpPr>
          <p:nvPr/>
        </p:nvSpPr>
        <p:spPr bwMode="auto">
          <a:xfrm>
            <a:off x="6574218" y="3879769"/>
            <a:ext cx="34660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使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P</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 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sz="28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019" name="AutoShape 35"/>
          <p:cNvSpPr>
            <a:spLocks noChangeArrowheads="1"/>
          </p:cNvSpPr>
          <p:nvPr/>
        </p:nvSpPr>
        <p:spPr bwMode="auto">
          <a:xfrm>
            <a:off x="1969680" y="4065179"/>
            <a:ext cx="685800" cy="228600"/>
          </a:xfrm>
          <a:prstGeom prst="leftRightArrow">
            <a:avLst>
              <a:gd name="adj1" fmla="val 50000"/>
              <a:gd name="adj2" fmla="val 60000"/>
            </a:avLst>
          </a:prstGeom>
          <a:solidFill>
            <a:srgbClr val="C00000"/>
          </a:solidFill>
          <a:ln w="9525">
            <a:solidFill>
              <a:schemeClr val="tx1"/>
            </a:solidFill>
            <a:miter lim="800000"/>
          </a:ln>
          <a:effectLst/>
        </p:spPr>
        <p:txBody>
          <a:bodyPr wrap="none" anchor="ctr"/>
          <a:lstStyle/>
          <a:p>
            <a:endParaRPr lang="zh-CN" altLang="en-US" sz="2800">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020" name="Rectangle 36"/>
          <p:cNvSpPr>
            <a:spLocks noChangeArrowheads="1"/>
          </p:cNvSpPr>
          <p:nvPr/>
        </p:nvSpPr>
        <p:spPr bwMode="auto">
          <a:xfrm>
            <a:off x="2980803" y="4871877"/>
            <a:ext cx="493866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即</a:t>
            </a:r>
            <a:r>
              <a:rPr lang="zh-CN" altLang="en-US" sz="2800" b="1" dirty="0">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和 </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以概率 </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1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线性相关。</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2021" name="Object 37"/>
          <p:cNvGraphicFramePr>
            <a:graphicFrameLocks noChangeAspect="1"/>
          </p:cNvGraphicFramePr>
          <p:nvPr/>
        </p:nvGraphicFramePr>
        <p:xfrm>
          <a:off x="5964238" y="1755776"/>
          <a:ext cx="112712" cy="214313"/>
        </p:xfrm>
        <a:graphic>
          <a:graphicData uri="http://schemas.openxmlformats.org/presentationml/2006/ole">
            <mc:AlternateContent xmlns:mc="http://schemas.openxmlformats.org/markup-compatibility/2006">
              <mc:Choice xmlns:v="urn:schemas-microsoft-com:vml" Requires="v">
                <p:oleObj spid="_x0000_s201746" name="公式" r:id="rId3" imgW="114300" imgH="215900" progId="Equation.3">
                  <p:embed/>
                </p:oleObj>
              </mc:Choice>
              <mc:Fallback>
                <p:oleObj name="公式" r:id="rId3" imgW="114300" imgH="215900" progId="Equation.3">
                  <p:embed/>
                  <p:pic>
                    <p:nvPicPr>
                      <p:cNvPr id="0"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4238" y="1755776"/>
                        <a:ext cx="112712"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2022" name="Group 38"/>
          <p:cNvGrpSpPr/>
          <p:nvPr/>
        </p:nvGrpSpPr>
        <p:grpSpPr bwMode="auto">
          <a:xfrm>
            <a:off x="2303463" y="1108078"/>
            <a:ext cx="2005013" cy="523875"/>
            <a:chOff x="630" y="1813"/>
            <a:chExt cx="1263" cy="330"/>
          </a:xfrm>
        </p:grpSpPr>
        <p:sp>
          <p:nvSpPr>
            <p:cNvPr id="42023" name="Rectangle 39"/>
            <p:cNvSpPr>
              <a:spLocks noChangeArrowheads="1"/>
            </p:cNvSpPr>
            <p:nvPr/>
          </p:nvSpPr>
          <p:spPr bwMode="auto">
            <a:xfrm>
              <a:off x="630" y="1813"/>
              <a:ext cx="1263"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因而    </a:t>
              </a:r>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a:t>
              </a:r>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42024" name="Object 40"/>
            <p:cNvGraphicFramePr>
              <a:graphicFrameLocks noChangeAspect="1"/>
            </p:cNvGraphicFramePr>
            <p:nvPr/>
          </p:nvGraphicFramePr>
          <p:xfrm>
            <a:off x="1127" y="1847"/>
            <a:ext cx="263" cy="284"/>
          </p:xfrm>
          <a:graphic>
            <a:graphicData uri="http://schemas.openxmlformats.org/presentationml/2006/ole">
              <mc:AlternateContent xmlns:mc="http://schemas.openxmlformats.org/markup-compatibility/2006">
                <mc:Choice xmlns:v="urn:schemas-microsoft-com:vml" Requires="v">
                  <p:oleObj spid="_x0000_s201747" name="Equation" r:id="rId5" imgW="3657600" imgH="3962400" progId="Equation.DSMT4">
                    <p:embed/>
                  </p:oleObj>
                </mc:Choice>
                <mc:Fallback>
                  <p:oleObj name="Equation" r:id="rId5" imgW="3657600" imgH="3962400" progId="Equation.DSMT4">
                    <p:embed/>
                    <p:pic>
                      <p:nvPicPr>
                        <p:cNvPr id="0" name="Object 40"/>
                        <p:cNvPicPr>
                          <a:picLocks noChangeAspect="1" noChangeArrowheads="1"/>
                        </p:cNvPicPr>
                        <p:nvPr/>
                      </p:nvPicPr>
                      <p:blipFill>
                        <a:blip r:embed="rId6"/>
                        <a:srcRect/>
                        <a:stretch>
                          <a:fillRect/>
                        </a:stretch>
                      </p:blipFill>
                      <p:spPr bwMode="auto">
                        <a:xfrm>
                          <a:off x="1127" y="1847"/>
                          <a:ext cx="263"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2025" name="Rectangle 41"/>
          <p:cNvSpPr>
            <a:spLocks noChangeArrowheads="1"/>
          </p:cNvSpPr>
          <p:nvPr/>
        </p:nvSpPr>
        <p:spPr bwMode="auto">
          <a:xfrm>
            <a:off x="4116757" y="1086850"/>
            <a:ext cx="29637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即</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不相关。</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026" name="Rectangle 42"/>
          <p:cNvSpPr>
            <a:spLocks noChangeArrowheads="1"/>
          </p:cNvSpPr>
          <p:nvPr/>
        </p:nvSpPr>
        <p:spPr bwMode="auto">
          <a:xfrm>
            <a:off x="2303464" y="2044234"/>
            <a:ext cx="4592924"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但</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有严格的函数关系，</a:t>
            </a:r>
            <a:endPar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2027" name="Rectangle 43"/>
          <p:cNvSpPr>
            <a:spLocks noChangeArrowheads="1"/>
          </p:cNvSpPr>
          <p:nvPr/>
        </p:nvSpPr>
        <p:spPr bwMode="auto">
          <a:xfrm>
            <a:off x="6672263" y="2036297"/>
            <a:ext cx="296376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即</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不独立。</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5" name="Text Box 72"/>
          <p:cNvSpPr txBox="1">
            <a:spLocks noChangeArrowheads="1"/>
          </p:cNvSpPr>
          <p:nvPr/>
        </p:nvSpPr>
        <p:spPr bwMode="auto">
          <a:xfrm>
            <a:off x="1387418" y="2990305"/>
            <a:ext cx="2921058" cy="5232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l" eaLnBrk="1" hangingPunct="1">
              <a:spcBef>
                <a:spcPct val="50000"/>
              </a:spcBef>
            </a:pP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相关系数的性质：</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6"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7" name="矩形 16"/>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二、相关系数</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8" name="组合 17"/>
          <p:cNvGrpSpPr/>
          <p:nvPr/>
        </p:nvGrpSpPr>
        <p:grpSpPr>
          <a:xfrm>
            <a:off x="851761" y="364781"/>
            <a:ext cx="263341" cy="395013"/>
            <a:chOff x="5284519" y="1508166"/>
            <a:chExt cx="213756" cy="427512"/>
          </a:xfrm>
        </p:grpSpPr>
        <p:cxnSp>
          <p:nvCxnSpPr>
            <p:cNvPr id="19" name="直接连接符 18"/>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0" name="直接连接符 19"/>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022"/>
                                        </p:tgtEl>
                                        <p:attrNameLst>
                                          <p:attrName>style.visibility</p:attrName>
                                        </p:attrNameLst>
                                      </p:cBhvr>
                                      <p:to>
                                        <p:strVal val="visible"/>
                                      </p:to>
                                    </p:set>
                                    <p:animEffect transition="in" filter="wipe(left)">
                                      <p:cBhvr>
                                        <p:cTn id="7" dur="500"/>
                                        <p:tgtEl>
                                          <p:spTgt spid="420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42025"/>
                                        </p:tgtEl>
                                        <p:attrNameLst>
                                          <p:attrName>style.visibility</p:attrName>
                                        </p:attrNameLst>
                                      </p:cBhvr>
                                      <p:to>
                                        <p:strVal val="visible"/>
                                      </p:to>
                                    </p:set>
                                    <p:anim calcmode="lin" valueType="num">
                                      <p:cBhvr additive="base">
                                        <p:cTn id="12" dur="500" fill="hold"/>
                                        <p:tgtEl>
                                          <p:spTgt spid="42025"/>
                                        </p:tgtEl>
                                        <p:attrNameLst>
                                          <p:attrName>ppt_x</p:attrName>
                                        </p:attrNameLst>
                                      </p:cBhvr>
                                      <p:tavLst>
                                        <p:tav tm="0">
                                          <p:val>
                                            <p:strVal val="1+#ppt_w/2"/>
                                          </p:val>
                                        </p:tav>
                                        <p:tav tm="100000">
                                          <p:val>
                                            <p:strVal val="#ppt_x"/>
                                          </p:val>
                                        </p:tav>
                                      </p:tavLst>
                                    </p:anim>
                                    <p:anim calcmode="lin" valueType="num">
                                      <p:cBhvr additive="base">
                                        <p:cTn id="13" dur="500" fill="hold"/>
                                        <p:tgtEl>
                                          <p:spTgt spid="4202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2026"/>
                                        </p:tgtEl>
                                        <p:attrNameLst>
                                          <p:attrName>style.visibility</p:attrName>
                                        </p:attrNameLst>
                                      </p:cBhvr>
                                      <p:to>
                                        <p:strVal val="visible"/>
                                      </p:to>
                                    </p:set>
                                    <p:animEffect transition="in" filter="wipe(left)">
                                      <p:cBhvr>
                                        <p:cTn id="18" dur="500"/>
                                        <p:tgtEl>
                                          <p:spTgt spid="4202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2027"/>
                                        </p:tgtEl>
                                        <p:attrNameLst>
                                          <p:attrName>style.visibility</p:attrName>
                                        </p:attrNameLst>
                                      </p:cBhvr>
                                      <p:to>
                                        <p:strVal val="visible"/>
                                      </p:to>
                                    </p:set>
                                    <p:anim calcmode="lin" valueType="num">
                                      <p:cBhvr additive="base">
                                        <p:cTn id="23" dur="500" fill="hold"/>
                                        <p:tgtEl>
                                          <p:spTgt spid="42027"/>
                                        </p:tgtEl>
                                        <p:attrNameLst>
                                          <p:attrName>ppt_x</p:attrName>
                                        </p:attrNameLst>
                                      </p:cBhvr>
                                      <p:tavLst>
                                        <p:tav tm="0">
                                          <p:val>
                                            <p:strVal val="#ppt_x"/>
                                          </p:val>
                                        </p:tav>
                                        <p:tav tm="100000">
                                          <p:val>
                                            <p:strVal val="#ppt_x"/>
                                          </p:val>
                                        </p:tav>
                                      </p:tavLst>
                                    </p:anim>
                                    <p:anim calcmode="lin" valueType="num">
                                      <p:cBhvr additive="base">
                                        <p:cTn id="24" dur="500" fill="hold"/>
                                        <p:tgtEl>
                                          <p:spTgt spid="4202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42015"/>
                                        </p:tgtEl>
                                        <p:attrNameLst>
                                          <p:attrName>style.visibility</p:attrName>
                                        </p:attrNameLst>
                                      </p:cBhvr>
                                      <p:to>
                                        <p:strVal val="visible"/>
                                      </p:to>
                                    </p:set>
                                    <p:animEffect transition="in" filter="wipe(left)">
                                      <p:cBhvr>
                                        <p:cTn id="33" dur="500"/>
                                        <p:tgtEl>
                                          <p:spTgt spid="42015"/>
                                        </p:tgtEl>
                                      </p:cBhvr>
                                    </p:animEffect>
                                  </p:childTnLst>
                                </p:cTn>
                              </p:par>
                            </p:childTnLst>
                          </p:cTn>
                        </p:par>
                        <p:par>
                          <p:cTn id="34" fill="hold">
                            <p:stCondLst>
                              <p:cond delay="1000"/>
                            </p:stCondLst>
                            <p:childTnLst>
                              <p:par>
                                <p:cTn id="35" presetID="1" presetClass="entr" presetSubtype="0" fill="hold" nodeType="afterEffect">
                                  <p:stCondLst>
                                    <p:cond delay="0"/>
                                  </p:stCondLst>
                                  <p:childTnLst>
                                    <p:set>
                                      <p:cBhvr>
                                        <p:cTn id="36" dur="1" fill="hold">
                                          <p:stCondLst>
                                            <p:cond delay="499"/>
                                          </p:stCondLst>
                                        </p:cTn>
                                        <p:tgtEl>
                                          <p:spTgt spid="42019"/>
                                        </p:tgtEl>
                                        <p:attrNameLst>
                                          <p:attrName>style.visibility</p:attrName>
                                        </p:attrNameLst>
                                      </p:cBhvr>
                                      <p:to>
                                        <p:strVal val="visible"/>
                                      </p:to>
                                    </p:set>
                                  </p:childTnLst>
                                </p:cTn>
                              </p:par>
                            </p:childTnLst>
                          </p:cTn>
                        </p:par>
                        <p:par>
                          <p:cTn id="37" fill="hold">
                            <p:stCondLst>
                              <p:cond delay="1500"/>
                            </p:stCondLst>
                            <p:childTnLst>
                              <p:par>
                                <p:cTn id="38" presetID="2" presetClass="entr" presetSubtype="2" fill="hold" grpId="0" nodeType="afterEffect">
                                  <p:stCondLst>
                                    <p:cond delay="0"/>
                                  </p:stCondLst>
                                  <p:childTnLst>
                                    <p:set>
                                      <p:cBhvr>
                                        <p:cTn id="39" dur="1" fill="hold">
                                          <p:stCondLst>
                                            <p:cond delay="0"/>
                                          </p:stCondLst>
                                        </p:cTn>
                                        <p:tgtEl>
                                          <p:spTgt spid="42016"/>
                                        </p:tgtEl>
                                        <p:attrNameLst>
                                          <p:attrName>style.visibility</p:attrName>
                                        </p:attrNameLst>
                                      </p:cBhvr>
                                      <p:to>
                                        <p:strVal val="visible"/>
                                      </p:to>
                                    </p:set>
                                    <p:anim calcmode="lin" valueType="num">
                                      <p:cBhvr additive="base">
                                        <p:cTn id="40" dur="500" fill="hold"/>
                                        <p:tgtEl>
                                          <p:spTgt spid="42016"/>
                                        </p:tgtEl>
                                        <p:attrNameLst>
                                          <p:attrName>ppt_x</p:attrName>
                                        </p:attrNameLst>
                                      </p:cBhvr>
                                      <p:tavLst>
                                        <p:tav tm="0">
                                          <p:val>
                                            <p:strVal val="1+#ppt_w/2"/>
                                          </p:val>
                                        </p:tav>
                                        <p:tav tm="100000">
                                          <p:val>
                                            <p:strVal val="#ppt_x"/>
                                          </p:val>
                                        </p:tav>
                                      </p:tavLst>
                                    </p:anim>
                                    <p:anim calcmode="lin" valueType="num">
                                      <p:cBhvr additive="base">
                                        <p:cTn id="41" dur="500" fill="hold"/>
                                        <p:tgtEl>
                                          <p:spTgt spid="42016"/>
                                        </p:tgtEl>
                                        <p:attrNameLst>
                                          <p:attrName>ppt_y</p:attrName>
                                        </p:attrNameLst>
                                      </p:cBhvr>
                                      <p:tavLst>
                                        <p:tav tm="0">
                                          <p:val>
                                            <p:strVal val="#ppt_y"/>
                                          </p:val>
                                        </p:tav>
                                        <p:tav tm="100000">
                                          <p:val>
                                            <p:strVal val="#ppt_y"/>
                                          </p:val>
                                        </p:tav>
                                      </p:tavLst>
                                    </p:anim>
                                  </p:childTnLst>
                                </p:cTn>
                              </p:par>
                            </p:childTnLst>
                          </p:cTn>
                        </p:par>
                        <p:par>
                          <p:cTn id="42" fill="hold">
                            <p:stCondLst>
                              <p:cond delay="2000"/>
                            </p:stCondLst>
                            <p:childTnLst>
                              <p:par>
                                <p:cTn id="43" presetID="22" presetClass="entr" presetSubtype="8" fill="hold" grpId="0" nodeType="afterEffect">
                                  <p:stCondLst>
                                    <p:cond delay="0"/>
                                  </p:stCondLst>
                                  <p:childTnLst>
                                    <p:set>
                                      <p:cBhvr>
                                        <p:cTn id="44" dur="1" fill="hold">
                                          <p:stCondLst>
                                            <p:cond delay="0"/>
                                          </p:stCondLst>
                                        </p:cTn>
                                        <p:tgtEl>
                                          <p:spTgt spid="42017"/>
                                        </p:tgtEl>
                                        <p:attrNameLst>
                                          <p:attrName>style.visibility</p:attrName>
                                        </p:attrNameLst>
                                      </p:cBhvr>
                                      <p:to>
                                        <p:strVal val="visible"/>
                                      </p:to>
                                    </p:set>
                                    <p:animEffect transition="in" filter="wipe(left)">
                                      <p:cBhvr>
                                        <p:cTn id="45" dur="500"/>
                                        <p:tgtEl>
                                          <p:spTgt spid="42017"/>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2" fill="hold" grpId="0" nodeType="clickEffect">
                                  <p:stCondLst>
                                    <p:cond delay="0"/>
                                  </p:stCondLst>
                                  <p:childTnLst>
                                    <p:set>
                                      <p:cBhvr>
                                        <p:cTn id="49" dur="1" fill="hold">
                                          <p:stCondLst>
                                            <p:cond delay="0"/>
                                          </p:stCondLst>
                                        </p:cTn>
                                        <p:tgtEl>
                                          <p:spTgt spid="42020"/>
                                        </p:tgtEl>
                                        <p:attrNameLst>
                                          <p:attrName>style.visibility</p:attrName>
                                        </p:attrNameLst>
                                      </p:cBhvr>
                                      <p:to>
                                        <p:strVal val="visible"/>
                                      </p:to>
                                    </p:set>
                                    <p:anim calcmode="lin" valueType="num">
                                      <p:cBhvr additive="base">
                                        <p:cTn id="50" dur="500" fill="hold"/>
                                        <p:tgtEl>
                                          <p:spTgt spid="42020"/>
                                        </p:tgtEl>
                                        <p:attrNameLst>
                                          <p:attrName>ppt_x</p:attrName>
                                        </p:attrNameLst>
                                      </p:cBhvr>
                                      <p:tavLst>
                                        <p:tav tm="0">
                                          <p:val>
                                            <p:strVal val="1+#ppt_w/2"/>
                                          </p:val>
                                        </p:tav>
                                        <p:tav tm="100000">
                                          <p:val>
                                            <p:strVal val="#ppt_x"/>
                                          </p:val>
                                        </p:tav>
                                      </p:tavLst>
                                    </p:anim>
                                    <p:anim calcmode="lin" valueType="num">
                                      <p:cBhvr additive="base">
                                        <p:cTn id="51" dur="500" fill="hold"/>
                                        <p:tgtEl>
                                          <p:spTgt spid="420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16" grpId="0" bldLvl="0" animBg="1"/>
      <p:bldP spid="42017" grpId="0" bldLvl="0" animBg="1"/>
      <p:bldP spid="42020" grpId="0" bldLvl="0" animBg="1" autoUpdateAnimBg="0"/>
      <p:bldP spid="42025" grpId="0" bldLvl="0" animBg="1"/>
      <p:bldP spid="42026" grpId="0" bldLvl="0" animBg="1" autoUpdateAnimBg="0"/>
      <p:bldP spid="42027" grpId="0" bldLvl="0" animBg="1" autoUpdateAnimBg="0"/>
      <p:bldP spid="1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45" name="Rectangle 85"/>
          <p:cNvSpPr>
            <a:spLocks noChangeArrowheads="1"/>
          </p:cNvSpPr>
          <p:nvPr/>
        </p:nvSpPr>
        <p:spPr bwMode="auto">
          <a:xfrm>
            <a:off x="2343150" y="2039571"/>
            <a:ext cx="826861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考虑以</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的线性函数</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800" b="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来近似表示</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，以均方误差</a:t>
            </a:r>
            <a:endParaRPr lang="zh-CN" altLang="en-US" sz="28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047" name="Text Box 87"/>
          <p:cNvSpPr txBox="1">
            <a:spLocks noChangeArrowheads="1"/>
          </p:cNvSpPr>
          <p:nvPr/>
        </p:nvSpPr>
        <p:spPr bwMode="auto">
          <a:xfrm>
            <a:off x="4727848" y="2787295"/>
            <a:ext cx="2903359"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e =E</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a+bX</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048" name="Text Box 88"/>
          <p:cNvSpPr txBox="1">
            <a:spLocks noChangeArrowheads="1"/>
          </p:cNvSpPr>
          <p:nvPr/>
        </p:nvSpPr>
        <p:spPr bwMode="auto">
          <a:xfrm>
            <a:off x="1652589" y="3572997"/>
            <a:ext cx="6520824"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来衡量以 </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 +b X </a:t>
            </a:r>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近似表示</a:t>
            </a:r>
            <a:r>
              <a:rPr lang="en-US" altLang="zh-CN" sz="2800" b="1" i="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的好坏程度 </a:t>
            </a:r>
            <a:r>
              <a:rPr lang="en-US" altLang="zh-CN" sz="2800" b="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049" name="Text Box 89"/>
          <p:cNvSpPr txBox="1">
            <a:spLocks noChangeArrowheads="1"/>
          </p:cNvSpPr>
          <p:nvPr/>
        </p:nvSpPr>
        <p:spPr bwMode="auto">
          <a:xfrm>
            <a:off x="2408238" y="4393734"/>
            <a:ext cx="7008137"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值越小表示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 +b 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的近似程度越好。</a:t>
            </a:r>
            <a:endParaRPr lang="en-US" altLang="zh-CN" sz="28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050" name="Rectangle 90"/>
          <p:cNvSpPr>
            <a:spLocks noChangeArrowheads="1"/>
          </p:cNvSpPr>
          <p:nvPr/>
        </p:nvSpPr>
        <p:spPr bwMode="auto">
          <a:xfrm>
            <a:off x="1847850" y="829797"/>
            <a:ext cx="80010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eaLnBrk="1" hangingPunct="1"/>
            <a:r>
              <a:rPr lang="en-US" altLang="zh-CN" sz="2800" b="1">
                <a:solidFill>
                  <a:schemeClr val="hlink"/>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b="1">
              <a:solidFill>
                <a:schemeClr val="hlink"/>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051" name="Rectangle 91"/>
          <p:cNvSpPr>
            <a:spLocks noChangeArrowheads="1"/>
          </p:cNvSpPr>
          <p:nvPr/>
        </p:nvSpPr>
        <p:spPr bwMode="auto">
          <a:xfrm>
            <a:off x="1703389" y="5301586"/>
            <a:ext cx="8640762" cy="565348"/>
          </a:xfrm>
          <a:prstGeom prst="rect">
            <a:avLst/>
          </a:prstGeom>
          <a:solidFill>
            <a:srgbClr val="C00000"/>
          </a:solidFill>
          <a:ln>
            <a:noFill/>
          </a:ln>
          <a:effectLst/>
        </p:spPr>
        <p:txBody>
          <a:bodyPr anchor="ctr">
            <a:spAutoFit/>
          </a:bodyPr>
          <a:lstStyle/>
          <a:p>
            <a:pPr algn="ctr" eaLnBrk="1" hangingPunct="1">
              <a:lnSpc>
                <a:spcPct val="120000"/>
              </a:lnSpc>
              <a:spcBef>
                <a:spcPct val="50000"/>
              </a:spcBef>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用微积分中求极值的方法，求出使</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达到最小时的 </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 , b</a:t>
            </a:r>
            <a:endPar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41052" name="Rectangle 92"/>
          <p:cNvSpPr>
            <a:spLocks noChangeArrowheads="1"/>
          </p:cNvSpPr>
          <p:nvPr/>
        </p:nvSpPr>
        <p:spPr bwMode="auto">
          <a:xfrm>
            <a:off x="1647825" y="1252171"/>
            <a:ext cx="7703236"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相关系数刻划了</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和</a:t>
            </a:r>
            <a:r>
              <a:rPr lang="en-US" altLang="zh-CN" sz="2800" b="1" i="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Y</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间“线性相关”的程度。</a:t>
            </a:r>
            <a:endParaRPr lang="en-US" altLang="zh-CN"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0"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二、相关系数</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052"/>
                                        </p:tgtEl>
                                        <p:attrNameLst>
                                          <p:attrName>style.visibility</p:attrName>
                                        </p:attrNameLst>
                                      </p:cBhvr>
                                      <p:to>
                                        <p:strVal val="visible"/>
                                      </p:to>
                                    </p:set>
                                    <p:animEffect transition="in" filter="wipe(left)">
                                      <p:cBhvr>
                                        <p:cTn id="7" dur="500"/>
                                        <p:tgtEl>
                                          <p:spTgt spid="410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045"/>
                                        </p:tgtEl>
                                        <p:attrNameLst>
                                          <p:attrName>style.visibility</p:attrName>
                                        </p:attrNameLst>
                                      </p:cBhvr>
                                      <p:to>
                                        <p:strVal val="visible"/>
                                      </p:to>
                                    </p:set>
                                    <p:animEffect transition="in" filter="wipe(left)">
                                      <p:cBhvr>
                                        <p:cTn id="12" dur="500"/>
                                        <p:tgtEl>
                                          <p:spTgt spid="41045"/>
                                        </p:tgtEl>
                                      </p:cBhvr>
                                    </p:animEffect>
                                  </p:childTnLst>
                                </p:cTn>
                              </p:par>
                            </p:childTnLst>
                          </p:cTn>
                        </p:par>
                        <p:par>
                          <p:cTn id="13" fill="hold">
                            <p:stCondLst>
                              <p:cond delay="500"/>
                            </p:stCondLst>
                            <p:childTnLst>
                              <p:par>
                                <p:cTn id="14" presetID="2" presetClass="entr" presetSubtype="2" fill="hold" grpId="0" nodeType="afterEffect">
                                  <p:stCondLst>
                                    <p:cond delay="0"/>
                                  </p:stCondLst>
                                  <p:childTnLst>
                                    <p:set>
                                      <p:cBhvr>
                                        <p:cTn id="15" dur="1" fill="hold">
                                          <p:stCondLst>
                                            <p:cond delay="0"/>
                                          </p:stCondLst>
                                        </p:cTn>
                                        <p:tgtEl>
                                          <p:spTgt spid="41047"/>
                                        </p:tgtEl>
                                        <p:attrNameLst>
                                          <p:attrName>style.visibility</p:attrName>
                                        </p:attrNameLst>
                                      </p:cBhvr>
                                      <p:to>
                                        <p:strVal val="visible"/>
                                      </p:to>
                                    </p:set>
                                    <p:anim calcmode="lin" valueType="num">
                                      <p:cBhvr additive="base">
                                        <p:cTn id="16" dur="500" fill="hold"/>
                                        <p:tgtEl>
                                          <p:spTgt spid="41047"/>
                                        </p:tgtEl>
                                        <p:attrNameLst>
                                          <p:attrName>ppt_x</p:attrName>
                                        </p:attrNameLst>
                                      </p:cBhvr>
                                      <p:tavLst>
                                        <p:tav tm="0">
                                          <p:val>
                                            <p:strVal val="1+#ppt_w/2"/>
                                          </p:val>
                                        </p:tav>
                                        <p:tav tm="100000">
                                          <p:val>
                                            <p:strVal val="#ppt_x"/>
                                          </p:val>
                                        </p:tav>
                                      </p:tavLst>
                                    </p:anim>
                                    <p:anim calcmode="lin" valueType="num">
                                      <p:cBhvr additive="base">
                                        <p:cTn id="17" dur="500" fill="hold"/>
                                        <p:tgtEl>
                                          <p:spTgt spid="41047"/>
                                        </p:tgtEl>
                                        <p:attrNameLst>
                                          <p:attrName>ppt_y</p:attrName>
                                        </p:attrNameLst>
                                      </p:cBhvr>
                                      <p:tavLst>
                                        <p:tav tm="0">
                                          <p:val>
                                            <p:strVal val="#ppt_y"/>
                                          </p:val>
                                        </p:tav>
                                        <p:tav tm="100000">
                                          <p:val>
                                            <p:strVal val="#ppt_y"/>
                                          </p:val>
                                        </p:tav>
                                      </p:tavLst>
                                    </p:anim>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41048"/>
                                        </p:tgtEl>
                                        <p:attrNameLst>
                                          <p:attrName>style.visibility</p:attrName>
                                        </p:attrNameLst>
                                      </p:cBhvr>
                                      <p:to>
                                        <p:strVal val="visible"/>
                                      </p:to>
                                    </p:set>
                                    <p:animEffect transition="in" filter="barn(outVertical)">
                                      <p:cBhvr>
                                        <p:cTn id="21" dur="500"/>
                                        <p:tgtEl>
                                          <p:spTgt spid="4104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41049"/>
                                        </p:tgtEl>
                                        <p:attrNameLst>
                                          <p:attrName>style.visibility</p:attrName>
                                        </p:attrNameLst>
                                      </p:cBhvr>
                                      <p:to>
                                        <p:strVal val="visible"/>
                                      </p:to>
                                    </p:set>
                                    <p:animEffect transition="in" filter="wipe(left)">
                                      <p:cBhvr>
                                        <p:cTn id="26" dur="500"/>
                                        <p:tgtEl>
                                          <p:spTgt spid="41049"/>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37" fill="hold" grpId="0" nodeType="clickEffect">
                                  <p:stCondLst>
                                    <p:cond delay="0"/>
                                  </p:stCondLst>
                                  <p:childTnLst>
                                    <p:set>
                                      <p:cBhvr>
                                        <p:cTn id="30" dur="1" fill="hold">
                                          <p:stCondLst>
                                            <p:cond delay="0"/>
                                          </p:stCondLst>
                                        </p:cTn>
                                        <p:tgtEl>
                                          <p:spTgt spid="41051"/>
                                        </p:tgtEl>
                                        <p:attrNameLst>
                                          <p:attrName>style.visibility</p:attrName>
                                        </p:attrNameLst>
                                      </p:cBhvr>
                                      <p:to>
                                        <p:strVal val="visible"/>
                                      </p:to>
                                    </p:set>
                                    <p:animEffect transition="in" filter="barn(outVertical)">
                                      <p:cBhvr>
                                        <p:cTn id="31" dur="500"/>
                                        <p:tgtEl>
                                          <p:spTgt spid="41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45" grpId="0" bldLvl="0" animBg="1" autoUpdateAnimBg="0"/>
      <p:bldP spid="41047" grpId="0" bldLvl="0" animBg="1" autoUpdateAnimBg="0"/>
      <p:bldP spid="41048" grpId="0" bldLvl="0" animBg="1" autoUpdateAnimBg="0"/>
      <p:bldP spid="41049" grpId="0" bldLvl="0" animBg="1" autoUpdateAnimBg="0"/>
      <p:bldP spid="41051" grpId="0" bldLvl="0" animBg="1" autoUpdateAnimBg="0"/>
      <p:bldP spid="41052"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25" name="Rectangle 29"/>
          <p:cNvSpPr>
            <a:spLocks noChangeArrowheads="1"/>
          </p:cNvSpPr>
          <p:nvPr/>
        </p:nvSpPr>
        <p:spPr bwMode="auto">
          <a:xfrm>
            <a:off x="1703512" y="1810077"/>
            <a:ext cx="90010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eaLnBrk="1" hangingPunct="1"/>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i="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i="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i="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800" b="1" i="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- 2</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abE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- 2</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5326" name="Text Box 30"/>
          <p:cNvSpPr txBox="1">
            <a:spLocks noChangeArrowheads="1"/>
          </p:cNvSpPr>
          <p:nvPr/>
        </p:nvSpPr>
        <p:spPr bwMode="auto">
          <a:xfrm>
            <a:off x="1458886" y="1033416"/>
            <a:ext cx="2993127"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800" b="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err="1">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bX</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baseline="300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endParaRPr lang="en-US" altLang="zh-CN" sz="28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5327" name="Object 31"/>
          <p:cNvGraphicFramePr>
            <a:graphicFrameLocks noChangeAspect="1"/>
          </p:cNvGraphicFramePr>
          <p:nvPr/>
        </p:nvGraphicFramePr>
        <p:xfrm>
          <a:off x="2939728" y="2409244"/>
          <a:ext cx="5513387" cy="2109788"/>
        </p:xfrm>
        <a:graphic>
          <a:graphicData uri="http://schemas.openxmlformats.org/presentationml/2006/ole">
            <mc:AlternateContent xmlns:mc="http://schemas.openxmlformats.org/markup-compatibility/2006">
              <mc:Choice xmlns:v="urn:schemas-microsoft-com:vml" Requires="v">
                <p:oleObj spid="_x0000_s202769" name="Equation" r:id="rId1" imgW="60045600" imgH="20116800" progId="Equation.DSMT4">
                  <p:embed/>
                </p:oleObj>
              </mc:Choice>
              <mc:Fallback>
                <p:oleObj name="Equation" r:id="rId1" imgW="60045600" imgH="20116800" progId="Equation.DSMT4">
                  <p:embed/>
                  <p:pic>
                    <p:nvPicPr>
                      <p:cNvPr id="0" name="Object 31"/>
                      <p:cNvPicPr>
                        <a:picLocks noChangeAspect="1" noChangeArrowheads="1"/>
                      </p:cNvPicPr>
                      <p:nvPr/>
                    </p:nvPicPr>
                    <p:blipFill>
                      <a:blip r:embed="rId2"/>
                      <a:srcRect/>
                      <a:stretch>
                        <a:fillRect/>
                      </a:stretch>
                    </p:blipFill>
                    <p:spPr bwMode="auto">
                      <a:xfrm>
                        <a:off x="2939728" y="2409244"/>
                        <a:ext cx="5513387" cy="210978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5328" name="Object 32"/>
          <p:cNvGraphicFramePr>
            <a:graphicFrameLocks noChangeAspect="1"/>
          </p:cNvGraphicFramePr>
          <p:nvPr/>
        </p:nvGraphicFramePr>
        <p:xfrm>
          <a:off x="3505200" y="4743450"/>
          <a:ext cx="2781300" cy="990600"/>
        </p:xfrm>
        <a:graphic>
          <a:graphicData uri="http://schemas.openxmlformats.org/presentationml/2006/ole">
            <mc:AlternateContent xmlns:mc="http://schemas.openxmlformats.org/markup-compatibility/2006">
              <mc:Choice xmlns:v="urn:schemas-microsoft-com:vml" Requires="v">
                <p:oleObj spid="_x0000_s202770" name="Equation" r:id="rId3" imgW="23469600" imgH="10058400" progId="Equation.DSMT4">
                  <p:embed/>
                </p:oleObj>
              </mc:Choice>
              <mc:Fallback>
                <p:oleObj name="Equation" r:id="rId3" imgW="23469600" imgH="10058400" progId="Equation.DSMT4">
                  <p:embed/>
                  <p:pic>
                    <p:nvPicPr>
                      <p:cNvPr id="0" name="Object 32"/>
                      <p:cNvPicPr>
                        <a:picLocks noChangeAspect="1" noChangeArrowheads="1"/>
                      </p:cNvPicPr>
                      <p:nvPr/>
                    </p:nvPicPr>
                    <p:blipFill>
                      <a:blip r:embed="rId4"/>
                      <a:srcRect/>
                      <a:stretch>
                        <a:fillRect/>
                      </a:stretch>
                    </p:blipFill>
                    <p:spPr bwMode="auto">
                      <a:xfrm>
                        <a:off x="3505200" y="4743450"/>
                        <a:ext cx="2781300" cy="99060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29" name="Text Box 33"/>
          <p:cNvSpPr txBox="1">
            <a:spLocks noChangeArrowheads="1"/>
          </p:cNvSpPr>
          <p:nvPr/>
        </p:nvSpPr>
        <p:spPr bwMode="auto">
          <a:xfrm>
            <a:off x="1997889" y="4977140"/>
            <a:ext cx="902811"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解得</a:t>
            </a:r>
            <a:endParaRPr lang="zh-CN" altLang="en-US" sz="28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5330" name="Object 34"/>
          <p:cNvGraphicFramePr>
            <a:graphicFrameLocks noChangeAspect="1"/>
          </p:cNvGraphicFramePr>
          <p:nvPr/>
        </p:nvGraphicFramePr>
        <p:xfrm>
          <a:off x="3560763" y="5734050"/>
          <a:ext cx="3560762" cy="647700"/>
        </p:xfrm>
        <a:graphic>
          <a:graphicData uri="http://schemas.openxmlformats.org/presentationml/2006/ole">
            <mc:AlternateContent xmlns:mc="http://schemas.openxmlformats.org/markup-compatibility/2006">
              <mc:Choice xmlns:v="urn:schemas-microsoft-com:vml" Requires="v">
                <p:oleObj spid="_x0000_s202771" name="Equation" r:id="rId5" imgW="29565600" imgH="5486400" progId="Equation.DSMT4">
                  <p:embed/>
                </p:oleObj>
              </mc:Choice>
              <mc:Fallback>
                <p:oleObj name="Equation" r:id="rId5" imgW="29565600" imgH="5486400" progId="Equation.DSMT4">
                  <p:embed/>
                  <p:pic>
                    <p:nvPicPr>
                      <p:cNvPr id="0" name="Object 34"/>
                      <p:cNvPicPr>
                        <a:picLocks noChangeAspect="1" noChangeArrowheads="1"/>
                      </p:cNvPicPr>
                      <p:nvPr/>
                    </p:nvPicPr>
                    <p:blipFill>
                      <a:blip r:embed="rId6"/>
                      <a:srcRect/>
                      <a:stretch>
                        <a:fillRect/>
                      </a:stretch>
                    </p:blipFill>
                    <p:spPr bwMode="auto">
                      <a:xfrm>
                        <a:off x="3560763" y="5734050"/>
                        <a:ext cx="3560762" cy="64770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5331" name="AutoShape 35"/>
          <p:cNvSpPr>
            <a:spLocks noChangeArrowheads="1"/>
          </p:cNvSpPr>
          <p:nvPr/>
        </p:nvSpPr>
        <p:spPr bwMode="auto">
          <a:xfrm>
            <a:off x="8328025" y="4463499"/>
            <a:ext cx="2376487" cy="1233686"/>
          </a:xfrm>
          <a:prstGeom prst="wedgeRectCallout">
            <a:avLst>
              <a:gd name="adj1" fmla="val -95824"/>
              <a:gd name="adj2" fmla="val 75000"/>
            </a:avLst>
          </a:prstGeom>
          <a:solidFill>
            <a:srgbClr val="C00000"/>
          </a:solidFill>
          <a:ln w="9525">
            <a:solidFill>
              <a:schemeClr val="tx1"/>
            </a:solidFill>
            <a:miter lim="800000"/>
          </a:ln>
          <a:effectLst/>
        </p:spPr>
        <p:txBody>
          <a:bodyPr wrap="none" anchor="ctr"/>
          <a:lstStyle/>
          <a:p>
            <a:pPr algn="ctr" eaLnBrk="1" hangingPunct="1">
              <a:lnSpc>
                <a:spcPct val="70000"/>
              </a:lnSpc>
              <a:spcBef>
                <a:spcPct val="50000"/>
              </a:spcBef>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最佳逼近</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a:p>
            <a:pPr algn="ctr" eaLnBrk="1" hangingPunct="1">
              <a:lnSpc>
                <a:spcPct val="70000"/>
              </a:lnSpc>
              <a:spcBef>
                <a:spcPct val="50000"/>
              </a:spcBef>
            </a:pP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L</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a:t>
            </a:r>
            <a:r>
              <a:rPr lang="en-US" altLang="zh-CN" sz="28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0</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b</a:t>
            </a:r>
            <a:r>
              <a:rPr lang="en-US" altLang="zh-CN" sz="2800" b="1" baseline="-25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0</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endPar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55332" name="AutoShape 36"/>
          <p:cNvSpPr/>
          <p:nvPr/>
        </p:nvSpPr>
        <p:spPr bwMode="auto">
          <a:xfrm>
            <a:off x="3076149" y="5152559"/>
            <a:ext cx="308351" cy="990600"/>
          </a:xfrm>
          <a:prstGeom prst="leftBrace">
            <a:avLst>
              <a:gd name="adj1" fmla="val 108333"/>
              <a:gd name="adj2" fmla="val 50000"/>
            </a:avLst>
          </a:prstGeom>
          <a:noFill/>
          <a:ln w="28575">
            <a:solidFill>
              <a:schemeClr val="tx1">
                <a:lumMod val="85000"/>
                <a:lumOff val="15000"/>
              </a:schemeClr>
            </a:solidFill>
            <a:round/>
          </a:ln>
          <a:effectLst/>
          <a:extLst>
            <a:ext uri="{909E8E84-426E-40DD-AFC4-6F175D3DCCD1}">
              <a14:hiddenFill xmlns:a14="http://schemas.microsoft.com/office/drawing/2010/main">
                <a:solidFill>
                  <a:srgbClr val="000066"/>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0"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二、相关系数</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326"/>
                                        </p:tgtEl>
                                        <p:attrNameLst>
                                          <p:attrName>style.visibility</p:attrName>
                                        </p:attrNameLst>
                                      </p:cBhvr>
                                      <p:to>
                                        <p:strVal val="visible"/>
                                      </p:to>
                                    </p:set>
                                    <p:animEffect transition="in" filter="wipe(left)">
                                      <p:cBhvr>
                                        <p:cTn id="7" dur="500"/>
                                        <p:tgtEl>
                                          <p:spTgt spid="553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55325"/>
                                        </p:tgtEl>
                                        <p:attrNameLst>
                                          <p:attrName>style.visibility</p:attrName>
                                        </p:attrNameLst>
                                      </p:cBhvr>
                                      <p:to>
                                        <p:strVal val="visible"/>
                                      </p:to>
                                    </p:set>
                                    <p:anim calcmode="lin" valueType="num">
                                      <p:cBhvr additive="base">
                                        <p:cTn id="12" dur="500" fill="hold"/>
                                        <p:tgtEl>
                                          <p:spTgt spid="55325"/>
                                        </p:tgtEl>
                                        <p:attrNameLst>
                                          <p:attrName>ppt_x</p:attrName>
                                        </p:attrNameLst>
                                      </p:cBhvr>
                                      <p:tavLst>
                                        <p:tav tm="0">
                                          <p:val>
                                            <p:strVal val="1+#ppt_w/2"/>
                                          </p:val>
                                        </p:tav>
                                        <p:tav tm="100000">
                                          <p:val>
                                            <p:strVal val="#ppt_x"/>
                                          </p:val>
                                        </p:tav>
                                      </p:tavLst>
                                    </p:anim>
                                    <p:anim calcmode="lin" valueType="num">
                                      <p:cBhvr additive="base">
                                        <p:cTn id="13" dur="500" fill="hold"/>
                                        <p:tgtEl>
                                          <p:spTgt spid="5532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55327"/>
                                        </p:tgtEl>
                                        <p:attrNameLst>
                                          <p:attrName>style.visibility</p:attrName>
                                        </p:attrNameLst>
                                      </p:cBhvr>
                                      <p:to>
                                        <p:strVal val="visible"/>
                                      </p:to>
                                    </p:set>
                                    <p:animEffect transition="in" filter="wipe(left)">
                                      <p:cBhvr>
                                        <p:cTn id="18" dur="500"/>
                                        <p:tgtEl>
                                          <p:spTgt spid="5532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55329"/>
                                        </p:tgtEl>
                                        <p:attrNameLst>
                                          <p:attrName>style.visibility</p:attrName>
                                        </p:attrNameLst>
                                      </p:cBhvr>
                                      <p:to>
                                        <p:strVal val="visible"/>
                                      </p:to>
                                    </p:set>
                                    <p:anim calcmode="lin" valueType="num">
                                      <p:cBhvr additive="base">
                                        <p:cTn id="23" dur="500" fill="hold"/>
                                        <p:tgtEl>
                                          <p:spTgt spid="55329"/>
                                        </p:tgtEl>
                                        <p:attrNameLst>
                                          <p:attrName>ppt_x</p:attrName>
                                        </p:attrNameLst>
                                      </p:cBhvr>
                                      <p:tavLst>
                                        <p:tav tm="0">
                                          <p:val>
                                            <p:strVal val="0-#ppt_w/2"/>
                                          </p:val>
                                        </p:tav>
                                        <p:tav tm="100000">
                                          <p:val>
                                            <p:strVal val="#ppt_x"/>
                                          </p:val>
                                        </p:tav>
                                      </p:tavLst>
                                    </p:anim>
                                    <p:anim calcmode="lin" valueType="num">
                                      <p:cBhvr additive="base">
                                        <p:cTn id="24" dur="500" fill="hold"/>
                                        <p:tgtEl>
                                          <p:spTgt spid="55329"/>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 presetClass="entr" presetSubtype="2" fill="hold" nodeType="afterEffect">
                                  <p:stCondLst>
                                    <p:cond delay="0"/>
                                  </p:stCondLst>
                                  <p:childTnLst>
                                    <p:set>
                                      <p:cBhvr>
                                        <p:cTn id="27" dur="1" fill="hold">
                                          <p:stCondLst>
                                            <p:cond delay="0"/>
                                          </p:stCondLst>
                                        </p:cTn>
                                        <p:tgtEl>
                                          <p:spTgt spid="55332"/>
                                        </p:tgtEl>
                                        <p:attrNameLst>
                                          <p:attrName>style.visibility</p:attrName>
                                        </p:attrNameLst>
                                      </p:cBhvr>
                                      <p:to>
                                        <p:strVal val="visible"/>
                                      </p:to>
                                    </p:set>
                                    <p:anim calcmode="lin" valueType="num">
                                      <p:cBhvr additive="base">
                                        <p:cTn id="28" dur="500" fill="hold"/>
                                        <p:tgtEl>
                                          <p:spTgt spid="55332"/>
                                        </p:tgtEl>
                                        <p:attrNameLst>
                                          <p:attrName>ppt_x</p:attrName>
                                        </p:attrNameLst>
                                      </p:cBhvr>
                                      <p:tavLst>
                                        <p:tav tm="0">
                                          <p:val>
                                            <p:strVal val="1+#ppt_w/2"/>
                                          </p:val>
                                        </p:tav>
                                        <p:tav tm="100000">
                                          <p:val>
                                            <p:strVal val="#ppt_x"/>
                                          </p:val>
                                        </p:tav>
                                      </p:tavLst>
                                    </p:anim>
                                    <p:anim calcmode="lin" valueType="num">
                                      <p:cBhvr additive="base">
                                        <p:cTn id="29" dur="500" fill="hold"/>
                                        <p:tgtEl>
                                          <p:spTgt spid="55332"/>
                                        </p:tgtEl>
                                        <p:attrNameLst>
                                          <p:attrName>ppt_y</p:attrName>
                                        </p:attrNameLst>
                                      </p:cBhvr>
                                      <p:tavLst>
                                        <p:tav tm="0">
                                          <p:val>
                                            <p:strVal val="#ppt_y"/>
                                          </p:val>
                                        </p:tav>
                                        <p:tav tm="100000">
                                          <p:val>
                                            <p:strVal val="#ppt_y"/>
                                          </p:val>
                                        </p:tav>
                                      </p:tavLst>
                                    </p:anim>
                                  </p:childTnLst>
                                </p:cTn>
                              </p:par>
                            </p:childTnLst>
                          </p:cTn>
                        </p:par>
                        <p:par>
                          <p:cTn id="30" fill="hold">
                            <p:stCondLst>
                              <p:cond delay="1000"/>
                            </p:stCondLst>
                            <p:childTnLst>
                              <p:par>
                                <p:cTn id="31" presetID="2" presetClass="entr" presetSubtype="2" fill="hold" nodeType="afterEffect">
                                  <p:stCondLst>
                                    <p:cond delay="0"/>
                                  </p:stCondLst>
                                  <p:childTnLst>
                                    <p:set>
                                      <p:cBhvr>
                                        <p:cTn id="32" dur="1" fill="hold">
                                          <p:stCondLst>
                                            <p:cond delay="0"/>
                                          </p:stCondLst>
                                        </p:cTn>
                                        <p:tgtEl>
                                          <p:spTgt spid="55328"/>
                                        </p:tgtEl>
                                        <p:attrNameLst>
                                          <p:attrName>style.visibility</p:attrName>
                                        </p:attrNameLst>
                                      </p:cBhvr>
                                      <p:to>
                                        <p:strVal val="visible"/>
                                      </p:to>
                                    </p:set>
                                    <p:anim calcmode="lin" valueType="num">
                                      <p:cBhvr additive="base">
                                        <p:cTn id="33" dur="500" fill="hold"/>
                                        <p:tgtEl>
                                          <p:spTgt spid="55328"/>
                                        </p:tgtEl>
                                        <p:attrNameLst>
                                          <p:attrName>ppt_x</p:attrName>
                                        </p:attrNameLst>
                                      </p:cBhvr>
                                      <p:tavLst>
                                        <p:tav tm="0">
                                          <p:val>
                                            <p:strVal val="1+#ppt_w/2"/>
                                          </p:val>
                                        </p:tav>
                                        <p:tav tm="100000">
                                          <p:val>
                                            <p:strVal val="#ppt_x"/>
                                          </p:val>
                                        </p:tav>
                                      </p:tavLst>
                                    </p:anim>
                                    <p:anim calcmode="lin" valueType="num">
                                      <p:cBhvr additive="base">
                                        <p:cTn id="34" dur="500" fill="hold"/>
                                        <p:tgtEl>
                                          <p:spTgt spid="55328"/>
                                        </p:tgtEl>
                                        <p:attrNameLst>
                                          <p:attrName>ppt_y</p:attrName>
                                        </p:attrNameLst>
                                      </p:cBhvr>
                                      <p:tavLst>
                                        <p:tav tm="0">
                                          <p:val>
                                            <p:strVal val="#ppt_y"/>
                                          </p:val>
                                        </p:tav>
                                        <p:tav tm="100000">
                                          <p:val>
                                            <p:strVal val="#ppt_y"/>
                                          </p:val>
                                        </p:tav>
                                      </p:tavLst>
                                    </p:anim>
                                  </p:childTnLst>
                                </p:cTn>
                              </p:par>
                            </p:childTnLst>
                          </p:cTn>
                        </p:par>
                        <p:par>
                          <p:cTn id="35" fill="hold">
                            <p:stCondLst>
                              <p:cond delay="1500"/>
                            </p:stCondLst>
                            <p:childTnLst>
                              <p:par>
                                <p:cTn id="36" presetID="2" presetClass="entr" presetSubtype="2" fill="hold" nodeType="afterEffect">
                                  <p:stCondLst>
                                    <p:cond delay="0"/>
                                  </p:stCondLst>
                                  <p:childTnLst>
                                    <p:set>
                                      <p:cBhvr>
                                        <p:cTn id="37" dur="1" fill="hold">
                                          <p:stCondLst>
                                            <p:cond delay="0"/>
                                          </p:stCondLst>
                                        </p:cTn>
                                        <p:tgtEl>
                                          <p:spTgt spid="55330"/>
                                        </p:tgtEl>
                                        <p:attrNameLst>
                                          <p:attrName>style.visibility</p:attrName>
                                        </p:attrNameLst>
                                      </p:cBhvr>
                                      <p:to>
                                        <p:strVal val="visible"/>
                                      </p:to>
                                    </p:set>
                                    <p:anim calcmode="lin" valueType="num">
                                      <p:cBhvr additive="base">
                                        <p:cTn id="38" dur="500" fill="hold"/>
                                        <p:tgtEl>
                                          <p:spTgt spid="55330"/>
                                        </p:tgtEl>
                                        <p:attrNameLst>
                                          <p:attrName>ppt_x</p:attrName>
                                        </p:attrNameLst>
                                      </p:cBhvr>
                                      <p:tavLst>
                                        <p:tav tm="0">
                                          <p:val>
                                            <p:strVal val="1+#ppt_w/2"/>
                                          </p:val>
                                        </p:tav>
                                        <p:tav tm="100000">
                                          <p:val>
                                            <p:strVal val="#ppt_x"/>
                                          </p:val>
                                        </p:tav>
                                      </p:tavLst>
                                    </p:anim>
                                    <p:anim calcmode="lin" valueType="num">
                                      <p:cBhvr additive="base">
                                        <p:cTn id="39" dur="500" fill="hold"/>
                                        <p:tgtEl>
                                          <p:spTgt spid="55330"/>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55331"/>
                                        </p:tgtEl>
                                        <p:attrNameLst>
                                          <p:attrName>style.visibility</p:attrName>
                                        </p:attrNameLst>
                                      </p:cBhvr>
                                      <p:to>
                                        <p:strVal val="visible"/>
                                      </p:to>
                                    </p:set>
                                    <p:anim calcmode="lin" valueType="num">
                                      <p:cBhvr additive="base">
                                        <p:cTn id="44" dur="500" fill="hold"/>
                                        <p:tgtEl>
                                          <p:spTgt spid="55331"/>
                                        </p:tgtEl>
                                        <p:attrNameLst>
                                          <p:attrName>ppt_x</p:attrName>
                                        </p:attrNameLst>
                                      </p:cBhvr>
                                      <p:tavLst>
                                        <p:tav tm="0">
                                          <p:val>
                                            <p:strVal val="1+#ppt_w/2"/>
                                          </p:val>
                                        </p:tav>
                                        <p:tav tm="100000">
                                          <p:val>
                                            <p:strVal val="#ppt_x"/>
                                          </p:val>
                                        </p:tav>
                                      </p:tavLst>
                                    </p:anim>
                                    <p:anim calcmode="lin" valueType="num">
                                      <p:cBhvr additive="base">
                                        <p:cTn id="45" dur="500" fill="hold"/>
                                        <p:tgtEl>
                                          <p:spTgt spid="553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25" grpId="0" bldLvl="0" animBg="1" autoUpdateAnimBg="0"/>
      <p:bldP spid="55326" grpId="0" bldLvl="0" animBg="1"/>
      <p:bldP spid="55329" grpId="0" bldLvl="0" animBg="1" autoUpdateAnimBg="0"/>
      <p:bldP spid="55331" grpId="0" bldLvl="0" animBg="1"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二、相关系数</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2" name="组合 11"/>
          <p:cNvGrpSpPr/>
          <p:nvPr/>
        </p:nvGrpSpPr>
        <p:grpSpPr>
          <a:xfrm>
            <a:off x="851761" y="364781"/>
            <a:ext cx="263341" cy="395013"/>
            <a:chOff x="5284519" y="1508166"/>
            <a:chExt cx="213756" cy="427512"/>
          </a:xfrm>
        </p:grpSpPr>
        <p:cxnSp>
          <p:nvCxnSpPr>
            <p:cNvPr id="13" name="直接连接符 12"/>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4" name="直接连接符 13"/>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aphicFrame>
        <p:nvGraphicFramePr>
          <p:cNvPr id="15" name="Object 2"/>
          <p:cNvGraphicFramePr>
            <a:graphicFrameLocks noChangeAspect="1"/>
          </p:cNvGraphicFramePr>
          <p:nvPr/>
        </p:nvGraphicFramePr>
        <p:xfrm>
          <a:off x="1374643" y="1296530"/>
          <a:ext cx="2673613" cy="481693"/>
        </p:xfrm>
        <a:graphic>
          <a:graphicData uri="http://schemas.openxmlformats.org/presentationml/2006/ole">
            <mc:AlternateContent xmlns:mc="http://schemas.openxmlformats.org/markup-compatibility/2006">
              <mc:Choice xmlns:v="urn:schemas-microsoft-com:vml" Requires="v">
                <p:oleObj spid="_x0000_s203808" name="公式" r:id="rId1" imgW="1129665" imgH="203200" progId="Equation.3">
                  <p:embed/>
                </p:oleObj>
              </mc:Choice>
              <mc:Fallback>
                <p:oleObj name="公式" r:id="rId1" imgW="1129665" imgH="2032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4643" y="1296530"/>
                        <a:ext cx="2673613" cy="481693"/>
                      </a:xfrm>
                      <a:prstGeom prst="rect">
                        <a:avLst/>
                      </a:prstGeom>
                      <a:noFill/>
                      <a:ln>
                        <a:noFill/>
                      </a:ln>
                      <a:effectLst/>
                    </p:spPr>
                  </p:pic>
                </p:oleObj>
              </mc:Fallback>
            </mc:AlternateContent>
          </a:graphicData>
        </a:graphic>
      </p:graphicFrame>
      <p:graphicFrame>
        <p:nvGraphicFramePr>
          <p:cNvPr id="16" name="Object 3"/>
          <p:cNvGraphicFramePr>
            <a:graphicFrameLocks noChangeAspect="1"/>
          </p:cNvGraphicFramePr>
          <p:nvPr/>
        </p:nvGraphicFramePr>
        <p:xfrm>
          <a:off x="4245115" y="1296531"/>
          <a:ext cx="5530518" cy="1556406"/>
        </p:xfrm>
        <a:graphic>
          <a:graphicData uri="http://schemas.openxmlformats.org/presentationml/2006/ole">
            <mc:AlternateContent xmlns:mc="http://schemas.openxmlformats.org/markup-compatibility/2006">
              <mc:Choice xmlns:v="urn:schemas-microsoft-com:vml" Requires="v">
                <p:oleObj spid="_x0000_s203809" name="公式" r:id="rId3" imgW="2438400" imgH="685800" progId="Equation.3">
                  <p:embed/>
                </p:oleObj>
              </mc:Choice>
              <mc:Fallback>
                <p:oleObj name="公式" r:id="rId3" imgW="2438400" imgH="685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5115" y="1296531"/>
                        <a:ext cx="5530518" cy="1556406"/>
                      </a:xfrm>
                      <a:prstGeom prst="rect">
                        <a:avLst/>
                      </a:prstGeom>
                      <a:noFill/>
                      <a:ln>
                        <a:noFill/>
                      </a:ln>
                      <a:effectLst/>
                    </p:spPr>
                  </p:pic>
                </p:oleObj>
              </mc:Fallback>
            </mc:AlternateContent>
          </a:graphicData>
        </a:graphic>
      </p:graphicFrame>
      <p:graphicFrame>
        <p:nvGraphicFramePr>
          <p:cNvPr id="17" name="Object 4"/>
          <p:cNvGraphicFramePr>
            <a:graphicFrameLocks noChangeAspect="1"/>
          </p:cNvGraphicFramePr>
          <p:nvPr/>
        </p:nvGraphicFramePr>
        <p:xfrm>
          <a:off x="2202560" y="2888045"/>
          <a:ext cx="4084538" cy="506840"/>
        </p:xfrm>
        <a:graphic>
          <a:graphicData uri="http://schemas.openxmlformats.org/presentationml/2006/ole">
            <mc:AlternateContent xmlns:mc="http://schemas.openxmlformats.org/markup-compatibility/2006">
              <mc:Choice xmlns:v="urn:schemas-microsoft-com:vml" Requires="v">
                <p:oleObj spid="_x0000_s203810" name="公式" r:id="rId5" imgW="1841500" imgH="228600" progId="Equation.3">
                  <p:embed/>
                </p:oleObj>
              </mc:Choice>
              <mc:Fallback>
                <p:oleObj name="公式" r:id="rId5" imgW="1841500" imgH="228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2560" y="2888045"/>
                        <a:ext cx="4084538" cy="506840"/>
                      </a:xfrm>
                      <a:prstGeom prst="rect">
                        <a:avLst/>
                      </a:prstGeom>
                      <a:noFill/>
                      <a:ln>
                        <a:noFill/>
                      </a:ln>
                      <a:effectLst/>
                    </p:spPr>
                  </p:pic>
                </p:oleObj>
              </mc:Fallback>
            </mc:AlternateContent>
          </a:graphicData>
        </a:graphic>
      </p:graphicFrame>
      <p:graphicFrame>
        <p:nvGraphicFramePr>
          <p:cNvPr id="18" name="Object 5"/>
          <p:cNvGraphicFramePr>
            <a:graphicFrameLocks noChangeAspect="1"/>
          </p:cNvGraphicFramePr>
          <p:nvPr/>
        </p:nvGraphicFramePr>
        <p:xfrm>
          <a:off x="2351584" y="3434954"/>
          <a:ext cx="6096000" cy="2017712"/>
        </p:xfrm>
        <a:graphic>
          <a:graphicData uri="http://schemas.openxmlformats.org/presentationml/2006/ole">
            <mc:AlternateContent xmlns:mc="http://schemas.openxmlformats.org/markup-compatibility/2006">
              <mc:Choice xmlns:v="urn:schemas-microsoft-com:vml" Requires="v">
                <p:oleObj spid="_x0000_s203811" name="公式" r:id="rId7" imgW="2755900" imgH="914400" progId="Equation.3">
                  <p:embed/>
                </p:oleObj>
              </mc:Choice>
              <mc:Fallback>
                <p:oleObj name="公式" r:id="rId7" imgW="2755900" imgH="9144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1584" y="3434954"/>
                        <a:ext cx="6096000" cy="2017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19" name="Object 6"/>
          <p:cNvGraphicFramePr>
            <a:graphicFrameLocks noChangeAspect="1"/>
          </p:cNvGraphicFramePr>
          <p:nvPr/>
        </p:nvGraphicFramePr>
        <p:xfrm>
          <a:off x="3184683" y="4443810"/>
          <a:ext cx="2232025" cy="1100138"/>
        </p:xfrm>
        <a:graphic>
          <a:graphicData uri="http://schemas.openxmlformats.org/presentationml/2006/ole">
            <mc:AlternateContent xmlns:mc="http://schemas.openxmlformats.org/markup-compatibility/2006">
              <mc:Choice xmlns:v="urn:schemas-microsoft-com:vml" Requires="v">
                <p:oleObj spid="_x0000_s203812" name="公式" r:id="rId9" imgW="927100" imgH="457200" progId="Equation.3">
                  <p:embed/>
                </p:oleObj>
              </mc:Choice>
              <mc:Fallback>
                <p:oleObj name="公式" r:id="rId9" imgW="927100" imgH="4572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84683" y="4443810"/>
                        <a:ext cx="2232025" cy="110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20" name="Object 7"/>
          <p:cNvGraphicFramePr>
            <a:graphicFrameLocks noChangeAspect="1"/>
          </p:cNvGraphicFramePr>
          <p:nvPr/>
        </p:nvGraphicFramePr>
        <p:xfrm>
          <a:off x="2135186" y="5603875"/>
          <a:ext cx="1152525" cy="530225"/>
        </p:xfrm>
        <a:graphic>
          <a:graphicData uri="http://schemas.openxmlformats.org/presentationml/2006/ole">
            <mc:AlternateContent xmlns:mc="http://schemas.openxmlformats.org/markup-compatibility/2006">
              <mc:Choice xmlns:v="urn:schemas-microsoft-com:vml" Requires="v">
                <p:oleObj spid="_x0000_s203813" name="公式" r:id="rId11" imgW="469900" imgH="215900" progId="Equation.3">
                  <p:embed/>
                </p:oleObj>
              </mc:Choice>
              <mc:Fallback>
                <p:oleObj name="公式" r:id="rId11" imgW="469900" imgH="2159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35186" y="5603875"/>
                        <a:ext cx="1152525"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10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10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10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ox(in)">
                                      <p:cBhvr>
                                        <p:cTn id="27" dur="10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61" name="Rectangle 69"/>
          <p:cNvSpPr>
            <a:spLocks noChangeArrowheads="1"/>
          </p:cNvSpPr>
          <p:nvPr/>
        </p:nvSpPr>
        <p:spPr bwMode="auto">
          <a:xfrm>
            <a:off x="1847528" y="1434148"/>
            <a:ext cx="4583435" cy="492443"/>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这一逼近的剩余是</a:t>
            </a:r>
            <a:endPar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59462" name="Group 70"/>
          <p:cNvGrpSpPr/>
          <p:nvPr/>
        </p:nvGrpSpPr>
        <p:grpSpPr bwMode="auto">
          <a:xfrm>
            <a:off x="2855640" y="3539157"/>
            <a:ext cx="5410200" cy="492125"/>
            <a:chOff x="1248" y="1918"/>
            <a:chExt cx="3408" cy="310"/>
          </a:xfrm>
        </p:grpSpPr>
        <p:sp>
          <p:nvSpPr>
            <p:cNvPr id="59463" name="Text Box 71"/>
            <p:cNvSpPr txBox="1">
              <a:spLocks noChangeArrowheads="1"/>
            </p:cNvSpPr>
            <p:nvPr/>
          </p:nvSpPr>
          <p:spPr bwMode="auto">
            <a:xfrm>
              <a:off x="1248" y="1918"/>
              <a:ext cx="3408" cy="31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eaLnBrk="1" hangingPunct="1">
                <a:spcBef>
                  <a:spcPct val="50000"/>
                </a:spcBef>
              </a:pP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若       </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无线性关系；</a:t>
              </a:r>
              <a:endPar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9464" name="Object 72"/>
            <p:cNvGraphicFramePr>
              <a:graphicFrameLocks noChangeAspect="1"/>
            </p:cNvGraphicFramePr>
            <p:nvPr/>
          </p:nvGraphicFramePr>
          <p:xfrm>
            <a:off x="1541" y="1929"/>
            <a:ext cx="269" cy="292"/>
          </p:xfrm>
          <a:graphic>
            <a:graphicData uri="http://schemas.openxmlformats.org/presentationml/2006/ole">
              <mc:AlternateContent xmlns:mc="http://schemas.openxmlformats.org/markup-compatibility/2006">
                <mc:Choice xmlns:v="urn:schemas-microsoft-com:vml" Requires="v">
                  <p:oleObj spid="_x0000_s204832" name="Equation" r:id="rId1" imgW="3657600" imgH="3962400" progId="Equation.DSMT4">
                    <p:embed/>
                  </p:oleObj>
                </mc:Choice>
                <mc:Fallback>
                  <p:oleObj name="Equation" r:id="rId1" imgW="3657600" imgH="3962400" progId="Equation.DSMT4">
                    <p:embed/>
                    <p:pic>
                      <p:nvPicPr>
                        <p:cNvPr id="0" name="Object 72"/>
                        <p:cNvPicPr>
                          <a:picLocks noChangeAspect="1" noChangeArrowheads="1"/>
                        </p:cNvPicPr>
                        <p:nvPr/>
                      </p:nvPicPr>
                      <p:blipFill>
                        <a:blip r:embed="rId2"/>
                        <a:srcRect/>
                        <a:stretch>
                          <a:fillRect/>
                        </a:stretch>
                      </p:blipFill>
                      <p:spPr bwMode="auto">
                        <a:xfrm>
                          <a:off x="1541" y="1929"/>
                          <a:ext cx="269"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9465" name="Group 73"/>
          <p:cNvGrpSpPr/>
          <p:nvPr/>
        </p:nvGrpSpPr>
        <p:grpSpPr bwMode="auto">
          <a:xfrm>
            <a:off x="1847528" y="2874343"/>
            <a:ext cx="6850065" cy="557213"/>
            <a:chOff x="478" y="1473"/>
            <a:chExt cx="4315" cy="351"/>
          </a:xfrm>
        </p:grpSpPr>
        <p:sp>
          <p:nvSpPr>
            <p:cNvPr id="59468" name="Text Box 76"/>
            <p:cNvSpPr txBox="1">
              <a:spLocks noChangeArrowheads="1"/>
            </p:cNvSpPr>
            <p:nvPr/>
          </p:nvSpPr>
          <p:spPr bwMode="auto">
            <a:xfrm>
              <a:off x="478" y="1473"/>
              <a:ext cx="4315" cy="31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spcBef>
                  <a:spcPct val="50000"/>
                </a:spcBef>
              </a:pP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可见，若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有严格线性关系；</a:t>
              </a:r>
              <a:endParaRPr lang="en-US" altLang="zh-CN" sz="26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9467" name="Object 75"/>
            <p:cNvGraphicFramePr>
              <a:graphicFrameLocks noChangeAspect="1"/>
            </p:cNvGraphicFramePr>
            <p:nvPr/>
          </p:nvGraphicFramePr>
          <p:xfrm>
            <a:off x="1405" y="1492"/>
            <a:ext cx="1016" cy="332"/>
          </p:xfrm>
          <a:graphic>
            <a:graphicData uri="http://schemas.openxmlformats.org/presentationml/2006/ole">
              <mc:AlternateContent xmlns:mc="http://schemas.openxmlformats.org/markup-compatibility/2006">
                <mc:Choice xmlns:v="urn:schemas-microsoft-com:vml" Requires="v">
                  <p:oleObj spid="_x0000_s204833" name="Equation" r:id="rId3" imgW="11582400" imgH="4876800" progId="Equation.DSMT4">
                    <p:embed/>
                  </p:oleObj>
                </mc:Choice>
                <mc:Fallback>
                  <p:oleObj name="Equation" r:id="rId3" imgW="11582400" imgH="4876800" progId="Equation.DSMT4">
                    <p:embed/>
                    <p:pic>
                      <p:nvPicPr>
                        <p:cNvPr id="0" name="Object 75"/>
                        <p:cNvPicPr>
                          <a:picLocks noChangeAspect="1" noChangeArrowheads="1"/>
                        </p:cNvPicPr>
                        <p:nvPr/>
                      </p:nvPicPr>
                      <p:blipFill>
                        <a:blip r:embed="rId4"/>
                        <a:srcRect/>
                        <a:stretch>
                          <a:fillRect/>
                        </a:stretch>
                      </p:blipFill>
                      <p:spPr bwMode="auto">
                        <a:xfrm>
                          <a:off x="1405" y="1492"/>
                          <a:ext cx="1016" cy="33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9470" name="Group 78"/>
          <p:cNvGrpSpPr/>
          <p:nvPr/>
        </p:nvGrpSpPr>
        <p:grpSpPr bwMode="auto">
          <a:xfrm>
            <a:off x="2855640" y="4149996"/>
            <a:ext cx="2008189" cy="523875"/>
            <a:chOff x="468" y="2369"/>
            <a:chExt cx="1265" cy="330"/>
          </a:xfrm>
        </p:grpSpPr>
        <p:sp>
          <p:nvSpPr>
            <p:cNvPr id="59471" name="Rectangle 79"/>
            <p:cNvSpPr>
              <a:spLocks noChangeArrowheads="1"/>
            </p:cNvSpPr>
            <p:nvPr/>
          </p:nvSpPr>
          <p:spPr bwMode="auto">
            <a:xfrm>
              <a:off x="468" y="2369"/>
              <a:ext cx="1265" cy="33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若 </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0&lt;|    |&lt;1,</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9472" name="Object 80"/>
            <p:cNvGraphicFramePr>
              <a:graphicFrameLocks noChangeAspect="1"/>
            </p:cNvGraphicFramePr>
            <p:nvPr/>
          </p:nvGraphicFramePr>
          <p:xfrm>
            <a:off x="1097" y="2405"/>
            <a:ext cx="270" cy="292"/>
          </p:xfrm>
          <a:graphic>
            <a:graphicData uri="http://schemas.openxmlformats.org/presentationml/2006/ole">
              <mc:AlternateContent xmlns:mc="http://schemas.openxmlformats.org/markup-compatibility/2006">
                <mc:Choice xmlns:v="urn:schemas-microsoft-com:vml" Requires="v">
                  <p:oleObj spid="_x0000_s204834" name="Equation" r:id="rId5" imgW="3657600" imgH="3962400" progId="Equation.DSMT4">
                    <p:embed/>
                  </p:oleObj>
                </mc:Choice>
                <mc:Fallback>
                  <p:oleObj name="Equation" r:id="rId5" imgW="3657600" imgH="3962400" progId="Equation.DSMT4">
                    <p:embed/>
                    <p:pic>
                      <p:nvPicPr>
                        <p:cNvPr id="0" name="Object 80"/>
                        <p:cNvPicPr>
                          <a:picLocks noChangeAspect="1" noChangeArrowheads="1"/>
                        </p:cNvPicPr>
                        <p:nvPr/>
                      </p:nvPicPr>
                      <p:blipFill>
                        <a:blip r:embed="rId6"/>
                        <a:srcRect/>
                        <a:stretch>
                          <a:fillRect/>
                        </a:stretch>
                      </p:blipFill>
                      <p:spPr bwMode="auto">
                        <a:xfrm>
                          <a:off x="1097" y="2405"/>
                          <a:ext cx="270"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9473" name="Group 81"/>
          <p:cNvGrpSpPr/>
          <p:nvPr/>
        </p:nvGrpSpPr>
        <p:grpSpPr bwMode="auto">
          <a:xfrm>
            <a:off x="3319141" y="4931727"/>
            <a:ext cx="7875589" cy="492125"/>
            <a:chOff x="381" y="2811"/>
            <a:chExt cx="4961" cy="310"/>
          </a:xfrm>
        </p:grpSpPr>
        <p:sp>
          <p:nvSpPr>
            <p:cNvPr id="59474" name="Rectangle 82"/>
            <p:cNvSpPr>
              <a:spLocks noChangeArrowheads="1"/>
            </p:cNvSpPr>
            <p:nvPr/>
          </p:nvSpPr>
          <p:spPr bwMode="auto">
            <a:xfrm>
              <a:off x="381" y="2811"/>
              <a:ext cx="4961" cy="31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457200" indent="-457200">
                <a:buFont typeface="Arial" panose="020B0604020202020204" pitchFamily="34" charset="0"/>
                <a:buChar char="•"/>
              </a:pP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的值越接近于</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1,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的线性相关程度越高；</a:t>
              </a:r>
              <a:endPar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9475" name="Object 83"/>
            <p:cNvGraphicFramePr>
              <a:graphicFrameLocks noChangeAspect="1"/>
            </p:cNvGraphicFramePr>
            <p:nvPr/>
          </p:nvGraphicFramePr>
          <p:xfrm>
            <a:off x="761" y="2826"/>
            <a:ext cx="270" cy="292"/>
          </p:xfrm>
          <a:graphic>
            <a:graphicData uri="http://schemas.openxmlformats.org/presentationml/2006/ole">
              <mc:AlternateContent xmlns:mc="http://schemas.openxmlformats.org/markup-compatibility/2006">
                <mc:Choice xmlns:v="urn:schemas-microsoft-com:vml" Requires="v">
                  <p:oleObj spid="_x0000_s204835" name="Equation" r:id="rId7" imgW="3657600" imgH="3962400" progId="Equation.DSMT4">
                    <p:embed/>
                  </p:oleObj>
                </mc:Choice>
                <mc:Fallback>
                  <p:oleObj name="Equation" r:id="rId7" imgW="3657600" imgH="3962400" progId="Equation.DSMT4">
                    <p:embed/>
                    <p:pic>
                      <p:nvPicPr>
                        <p:cNvPr id="0" name="Object 83"/>
                        <p:cNvPicPr>
                          <a:picLocks noChangeAspect="1" noChangeArrowheads="1"/>
                        </p:cNvPicPr>
                        <p:nvPr/>
                      </p:nvPicPr>
                      <p:blipFill>
                        <a:blip r:embed="rId8"/>
                        <a:srcRect/>
                        <a:stretch>
                          <a:fillRect/>
                        </a:stretch>
                      </p:blipFill>
                      <p:spPr bwMode="auto">
                        <a:xfrm>
                          <a:off x="761" y="2826"/>
                          <a:ext cx="270"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9476" name="Group 84"/>
          <p:cNvGrpSpPr/>
          <p:nvPr/>
        </p:nvGrpSpPr>
        <p:grpSpPr bwMode="auto">
          <a:xfrm>
            <a:off x="3319141" y="5596541"/>
            <a:ext cx="7639052" cy="500063"/>
            <a:chOff x="465" y="3339"/>
            <a:chExt cx="4812" cy="315"/>
          </a:xfrm>
        </p:grpSpPr>
        <p:sp>
          <p:nvSpPr>
            <p:cNvPr id="59477" name="Rectangle 85"/>
            <p:cNvSpPr>
              <a:spLocks noChangeArrowheads="1"/>
            </p:cNvSpPr>
            <p:nvPr/>
          </p:nvSpPr>
          <p:spPr bwMode="auto">
            <a:xfrm>
              <a:off x="465" y="3339"/>
              <a:ext cx="4812" cy="31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marL="457200" indent="-457200">
                <a:buFont typeface="Arial" panose="020B0604020202020204" pitchFamily="34" charset="0"/>
                <a:buChar char="•"/>
              </a:pP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    | </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的值越接近于</a:t>
              </a:r>
              <a:r>
                <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0, </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a:t>
              </a:r>
              <a:r>
                <a:rPr lang="en-US" altLang="zh-CN" sz="26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的线性相关程度越弱。</a:t>
              </a:r>
              <a:endParaRPr lang="en-US" altLang="zh-CN" sz="26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9478" name="Object 86"/>
            <p:cNvGraphicFramePr>
              <a:graphicFrameLocks noChangeAspect="1"/>
            </p:cNvGraphicFramePr>
            <p:nvPr/>
          </p:nvGraphicFramePr>
          <p:xfrm>
            <a:off x="845" y="3362"/>
            <a:ext cx="270" cy="292"/>
          </p:xfrm>
          <a:graphic>
            <a:graphicData uri="http://schemas.openxmlformats.org/presentationml/2006/ole">
              <mc:AlternateContent xmlns:mc="http://schemas.openxmlformats.org/markup-compatibility/2006">
                <mc:Choice xmlns:v="urn:schemas-microsoft-com:vml" Requires="v">
                  <p:oleObj spid="_x0000_s204836" name="Equation" r:id="rId9" imgW="3657600" imgH="3962400" progId="Equation.DSMT4">
                    <p:embed/>
                  </p:oleObj>
                </mc:Choice>
                <mc:Fallback>
                  <p:oleObj name="Equation" r:id="rId9" imgW="3657600" imgH="3962400" progId="Equation.DSMT4">
                    <p:embed/>
                    <p:pic>
                      <p:nvPicPr>
                        <p:cNvPr id="0" name="Object 86"/>
                        <p:cNvPicPr>
                          <a:picLocks noChangeAspect="1" noChangeArrowheads="1"/>
                        </p:cNvPicPr>
                        <p:nvPr/>
                      </p:nvPicPr>
                      <p:blipFill>
                        <a:blip r:embed="rId10"/>
                        <a:srcRect/>
                        <a:stretch>
                          <a:fillRect/>
                        </a:stretch>
                      </p:blipFill>
                      <p:spPr bwMode="auto">
                        <a:xfrm>
                          <a:off x="845" y="3362"/>
                          <a:ext cx="270"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9479" name="Group 87"/>
          <p:cNvGrpSpPr/>
          <p:nvPr/>
        </p:nvGrpSpPr>
        <p:grpSpPr bwMode="auto">
          <a:xfrm>
            <a:off x="4139245" y="1978383"/>
            <a:ext cx="4953000" cy="655637"/>
            <a:chOff x="1200" y="931"/>
            <a:chExt cx="3120" cy="413"/>
          </a:xfrm>
        </p:grpSpPr>
        <p:sp>
          <p:nvSpPr>
            <p:cNvPr id="59480" name="Rectangle 88"/>
            <p:cNvSpPr>
              <a:spLocks noChangeArrowheads="1"/>
            </p:cNvSpPr>
            <p:nvPr/>
          </p:nvSpPr>
          <p:spPr bwMode="auto">
            <a:xfrm>
              <a:off x="1200" y="979"/>
              <a:ext cx="3120" cy="365"/>
            </a:xfrm>
            <a:prstGeom prst="rect">
              <a:avLst/>
            </a:prstGeom>
            <a:solidFill>
              <a:srgbClr val="C0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ctr"/>
              <a:r>
                <a:rPr lang="en-US" altLang="zh-CN" sz="32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E</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32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32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L</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32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3200" b="1" baseline="30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2</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32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D</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32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)(1-</a:t>
              </a:r>
              <a:r>
                <a:rPr lang="en-US" altLang="zh-CN" sz="3200" b="1" baseline="300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       </a:t>
              </a:r>
              <a:r>
                <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endParaRPr lang="en-US" altLang="zh-CN" sz="32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59481" name="Object 89"/>
            <p:cNvGraphicFramePr>
              <a:graphicFrameLocks noChangeAspect="1"/>
            </p:cNvGraphicFramePr>
            <p:nvPr/>
          </p:nvGraphicFramePr>
          <p:xfrm>
            <a:off x="3731" y="931"/>
            <a:ext cx="356" cy="403"/>
          </p:xfrm>
          <a:graphic>
            <a:graphicData uri="http://schemas.openxmlformats.org/presentationml/2006/ole">
              <mc:AlternateContent xmlns:mc="http://schemas.openxmlformats.org/markup-compatibility/2006">
                <mc:Choice xmlns:v="urn:schemas-microsoft-com:vml" Requires="v">
                  <p:oleObj spid="_x0000_s204837" name="Equation" r:id="rId11" imgW="4876800" imgH="5486400" progId="Equation.DSMT4">
                    <p:embed/>
                  </p:oleObj>
                </mc:Choice>
                <mc:Fallback>
                  <p:oleObj name="Equation" r:id="rId11" imgW="4876800" imgH="5486400" progId="Equation.DSMT4">
                    <p:embed/>
                    <p:pic>
                      <p:nvPicPr>
                        <p:cNvPr id="0" name="Object 89"/>
                        <p:cNvPicPr>
                          <a:picLocks noChangeAspect="1" noChangeArrowheads="1"/>
                        </p:cNvPicPr>
                        <p:nvPr/>
                      </p:nvPicPr>
                      <p:blipFill>
                        <a:blip r:embed="rId12"/>
                        <a:srcRect/>
                        <a:stretch>
                          <a:fillRect/>
                        </a:stretch>
                      </p:blipFill>
                      <p:spPr bwMode="auto">
                        <a:xfrm>
                          <a:off x="3731" y="931"/>
                          <a:ext cx="356"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cxnSp>
        <p:nvCxnSpPr>
          <p:cNvPr id="24"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5" name="矩形 24"/>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二、相关系数</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26" name="组合 25"/>
          <p:cNvGrpSpPr/>
          <p:nvPr/>
        </p:nvGrpSpPr>
        <p:grpSpPr>
          <a:xfrm>
            <a:off x="851761" y="364781"/>
            <a:ext cx="263341" cy="395013"/>
            <a:chOff x="5284519" y="1508166"/>
            <a:chExt cx="213756" cy="427512"/>
          </a:xfrm>
        </p:grpSpPr>
        <p:cxnSp>
          <p:nvCxnSpPr>
            <p:cNvPr id="27" name="直接连接符 2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28" name="直接连接符 2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
        <p:nvSpPr>
          <p:cNvPr id="29" name="Text Box 68"/>
          <p:cNvSpPr txBox="1">
            <a:spLocks noChangeArrowheads="1"/>
          </p:cNvSpPr>
          <p:nvPr/>
        </p:nvSpPr>
        <p:spPr bwMode="auto">
          <a:xfrm>
            <a:off x="2033781" y="872662"/>
            <a:ext cx="6282490" cy="5847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r>
              <a:rPr lang="en-US" altLang="zh-CN" dirty="0"/>
              <a:t> </a:t>
            </a:r>
            <a:r>
              <a:rPr lang="en-US" altLang="zh-CN" b="1" dirty="0"/>
              <a:t>  </a:t>
            </a:r>
            <a:r>
              <a:rPr lang="zh-CN" altLang="en-US" b="1" dirty="0"/>
              <a:t>这样求出的最佳逼近为</a:t>
            </a:r>
            <a:r>
              <a:rPr lang="en-US" altLang="zh-CN" sz="3200" b="1" i="1" dirty="0"/>
              <a:t>L</a:t>
            </a:r>
            <a:r>
              <a:rPr lang="en-US" altLang="zh-CN" sz="3200" b="1" dirty="0"/>
              <a:t>(</a:t>
            </a:r>
            <a:r>
              <a:rPr lang="en-US" altLang="zh-CN" sz="3200" b="1" i="1" dirty="0"/>
              <a:t>X</a:t>
            </a:r>
            <a:r>
              <a:rPr lang="en-US" altLang="zh-CN" sz="3200" b="1" dirty="0"/>
              <a:t>)=</a:t>
            </a:r>
            <a:r>
              <a:rPr lang="en-US" altLang="zh-CN" sz="3200" b="1" i="1" dirty="0"/>
              <a:t>a</a:t>
            </a:r>
            <a:r>
              <a:rPr lang="en-US" altLang="zh-CN" sz="3200" b="1" baseline="-25000" dirty="0"/>
              <a:t>0</a:t>
            </a:r>
            <a:r>
              <a:rPr lang="en-US" altLang="zh-CN" sz="3200" b="1" dirty="0"/>
              <a:t>+</a:t>
            </a:r>
            <a:r>
              <a:rPr lang="en-US" altLang="zh-CN" sz="3200" b="1" i="1" dirty="0"/>
              <a:t>b</a:t>
            </a:r>
            <a:r>
              <a:rPr lang="en-US" altLang="zh-CN" sz="3200" b="1" baseline="-25000" dirty="0"/>
              <a:t>0</a:t>
            </a:r>
            <a:r>
              <a:rPr lang="en-US" altLang="zh-CN" sz="3200" b="1" i="1" dirty="0"/>
              <a:t>X</a:t>
            </a:r>
            <a:endParaRPr lang="en-US" altLang="zh-CN"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461"/>
                                        </p:tgtEl>
                                        <p:attrNameLst>
                                          <p:attrName>style.visibility</p:attrName>
                                        </p:attrNameLst>
                                      </p:cBhvr>
                                      <p:to>
                                        <p:strVal val="visible"/>
                                      </p:to>
                                    </p:set>
                                    <p:animEffect transition="in" filter="wipe(left)">
                                      <p:cBhvr>
                                        <p:cTn id="7" dur="500"/>
                                        <p:tgtEl>
                                          <p:spTgt spid="594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9479"/>
                                        </p:tgtEl>
                                        <p:attrNameLst>
                                          <p:attrName>style.visibility</p:attrName>
                                        </p:attrNameLst>
                                      </p:cBhvr>
                                      <p:to>
                                        <p:strVal val="visible"/>
                                      </p:to>
                                    </p:set>
                                    <p:animEffect transition="in" filter="wipe(right)">
                                      <p:cBhvr>
                                        <p:cTn id="12" dur="500"/>
                                        <p:tgtEl>
                                          <p:spTgt spid="594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9465"/>
                                        </p:tgtEl>
                                        <p:attrNameLst>
                                          <p:attrName>style.visibility</p:attrName>
                                        </p:attrNameLst>
                                      </p:cBhvr>
                                      <p:to>
                                        <p:strVal val="visible"/>
                                      </p:to>
                                    </p:set>
                                    <p:animEffect transition="in" filter="wipe(left)">
                                      <p:cBhvr>
                                        <p:cTn id="17" dur="500"/>
                                        <p:tgtEl>
                                          <p:spTgt spid="594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9462"/>
                                        </p:tgtEl>
                                        <p:attrNameLst>
                                          <p:attrName>style.visibility</p:attrName>
                                        </p:attrNameLst>
                                      </p:cBhvr>
                                      <p:to>
                                        <p:strVal val="visible"/>
                                      </p:to>
                                    </p:set>
                                    <p:animEffect transition="in" filter="wipe(left)">
                                      <p:cBhvr>
                                        <p:cTn id="22" dur="500"/>
                                        <p:tgtEl>
                                          <p:spTgt spid="594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9470"/>
                                        </p:tgtEl>
                                        <p:attrNameLst>
                                          <p:attrName>style.visibility</p:attrName>
                                        </p:attrNameLst>
                                      </p:cBhvr>
                                      <p:to>
                                        <p:strVal val="visible"/>
                                      </p:to>
                                    </p:set>
                                    <p:animEffect transition="in" filter="wipe(left)">
                                      <p:cBhvr>
                                        <p:cTn id="27" dur="500"/>
                                        <p:tgtEl>
                                          <p:spTgt spid="5947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59473"/>
                                        </p:tgtEl>
                                        <p:attrNameLst>
                                          <p:attrName>style.visibility</p:attrName>
                                        </p:attrNameLst>
                                      </p:cBhvr>
                                      <p:to>
                                        <p:strVal val="visible"/>
                                      </p:to>
                                    </p:set>
                                    <p:animEffect transition="in" filter="wipe(right)">
                                      <p:cBhvr>
                                        <p:cTn id="32" dur="500"/>
                                        <p:tgtEl>
                                          <p:spTgt spid="5947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59476"/>
                                        </p:tgtEl>
                                        <p:attrNameLst>
                                          <p:attrName>style.visibility</p:attrName>
                                        </p:attrNameLst>
                                      </p:cBhvr>
                                      <p:to>
                                        <p:strVal val="visible"/>
                                      </p:to>
                                    </p:set>
                                    <p:animEffect transition="in" filter="wipe(right)">
                                      <p:cBhvr>
                                        <p:cTn id="37" dur="500"/>
                                        <p:tgtEl>
                                          <p:spTgt spid="59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61" grpId="0" bldLvl="0" animBg="1"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23" name="Text Box 67"/>
          <p:cNvSpPr txBox="1">
            <a:spLocks noChangeArrowheads="1"/>
          </p:cNvSpPr>
          <p:nvPr/>
        </p:nvSpPr>
        <p:spPr bwMode="auto">
          <a:xfrm>
            <a:off x="1335307" y="3891541"/>
            <a:ext cx="5570756"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spcBef>
                <a:spcPct val="50000"/>
              </a:spcBef>
            </a:pP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但对下述情形，独立与不相关等价</a:t>
            </a:r>
            <a:endParaRPr lang="zh-CN" altLang="en-US" sz="2800"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524" name="Group 68"/>
          <p:cNvGrpSpPr/>
          <p:nvPr/>
        </p:nvGrpSpPr>
        <p:grpSpPr bwMode="auto">
          <a:xfrm>
            <a:off x="2860795" y="4732871"/>
            <a:ext cx="6019800" cy="1541463"/>
            <a:chOff x="480" y="2688"/>
            <a:chExt cx="3792" cy="971"/>
          </a:xfrm>
          <a:solidFill>
            <a:srgbClr val="C00000"/>
          </a:solidFill>
        </p:grpSpPr>
        <p:sp>
          <p:nvSpPr>
            <p:cNvPr id="19525" name="Rectangle 69"/>
            <p:cNvSpPr>
              <a:spLocks noChangeArrowheads="1"/>
            </p:cNvSpPr>
            <p:nvPr/>
          </p:nvSpPr>
          <p:spPr bwMode="auto">
            <a:xfrm>
              <a:off x="480" y="2688"/>
              <a:ext cx="3792" cy="971"/>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sz="280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526" name="Group 70"/>
            <p:cNvGrpSpPr/>
            <p:nvPr/>
          </p:nvGrpSpPr>
          <p:grpSpPr bwMode="auto">
            <a:xfrm>
              <a:off x="688" y="2773"/>
              <a:ext cx="3357" cy="803"/>
              <a:chOff x="688" y="2773"/>
              <a:chExt cx="3357" cy="803"/>
            </a:xfrm>
            <a:grpFill/>
          </p:grpSpPr>
          <p:sp>
            <p:nvSpPr>
              <p:cNvPr id="19527" name="Text Box 71"/>
              <p:cNvSpPr txBox="1">
                <a:spLocks noChangeArrowheads="1"/>
              </p:cNvSpPr>
              <p:nvPr/>
            </p:nvSpPr>
            <p:spPr bwMode="auto">
              <a:xfrm>
                <a:off x="688" y="2773"/>
                <a:ext cx="3357" cy="33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ctr" eaLnBrk="1" hangingPunct="1">
                  <a:spcBef>
                    <a:spcPct val="50000"/>
                  </a:spcBef>
                </a:pP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若</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Y</a:t>
                </a:r>
                <a:r>
                  <a:rPr lang="en-US" altLang="zh-CN"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服从二维正态分布，则</a:t>
                </a:r>
                <a:endParaRPr lang="zh-CN" altLang="en-US" sz="2800"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pSp>
            <p:nvGrpSpPr>
              <p:cNvPr id="19528" name="Group 72"/>
              <p:cNvGrpSpPr/>
              <p:nvPr/>
            </p:nvGrpSpPr>
            <p:grpSpPr bwMode="auto">
              <a:xfrm>
                <a:off x="893" y="3234"/>
                <a:ext cx="2966" cy="342"/>
                <a:chOff x="941" y="2082"/>
                <a:chExt cx="2966" cy="342"/>
              </a:xfrm>
              <a:grpFill/>
            </p:grpSpPr>
            <p:sp>
              <p:nvSpPr>
                <p:cNvPr id="19529" name="Rectangle 73"/>
                <p:cNvSpPr>
                  <a:spLocks noChangeArrowheads="1"/>
                </p:cNvSpPr>
                <p:nvPr/>
              </p:nvSpPr>
              <p:spPr bwMode="auto">
                <a:xfrm>
                  <a:off x="941" y="2088"/>
                  <a:ext cx="1084" cy="33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与</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Y</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独立</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530" name="Rectangle 74"/>
                <p:cNvSpPr>
                  <a:spLocks noChangeArrowheads="1"/>
                </p:cNvSpPr>
                <p:nvPr/>
              </p:nvSpPr>
              <p:spPr bwMode="auto">
                <a:xfrm>
                  <a:off x="2597" y="2094"/>
                  <a:ext cx="1310" cy="33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与</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Y</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不相关</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graphicFrame>
              <p:nvGraphicFramePr>
                <p:cNvPr id="19531" name="Object 75"/>
                <p:cNvGraphicFramePr>
                  <a:graphicFrameLocks noChangeAspect="1"/>
                </p:cNvGraphicFramePr>
                <p:nvPr/>
              </p:nvGraphicFramePr>
              <p:xfrm>
                <a:off x="2039" y="2082"/>
                <a:ext cx="448" cy="336"/>
              </p:xfrm>
              <a:graphic>
                <a:graphicData uri="http://schemas.openxmlformats.org/presentationml/2006/ole">
                  <mc:AlternateContent xmlns:mc="http://schemas.openxmlformats.org/markup-compatibility/2006">
                    <mc:Choice xmlns:v="urn:schemas-microsoft-com:vml" Requires="v">
                      <p:oleObj spid="_x0000_s205831" name="公式" r:id="rId1" imgW="266700" imgH="203200" progId="Equation.3">
                        <p:embed/>
                      </p:oleObj>
                    </mc:Choice>
                    <mc:Fallback>
                      <p:oleObj name="公式" r:id="rId1" imgW="266700" imgH="203200" progId="Equation.3">
                        <p:embed/>
                        <p:pic>
                          <p:nvPicPr>
                            <p:cNvPr id="0" name="Object 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9" y="2082"/>
                              <a:ext cx="44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sp>
        <p:nvSpPr>
          <p:cNvPr id="19532" name="Rectangle 76"/>
          <p:cNvSpPr>
            <a:spLocks noChangeArrowheads="1"/>
          </p:cNvSpPr>
          <p:nvPr/>
        </p:nvSpPr>
        <p:spPr bwMode="auto">
          <a:xfrm>
            <a:off x="1335308" y="1232174"/>
            <a:ext cx="3924202"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eaLnBrk="1" hangingPunct="1"/>
            <a:r>
              <a:rPr lang="zh-CN"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前面，我们已经看到：</a:t>
            </a:r>
            <a:endPar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533" name="Rectangle 77"/>
          <p:cNvSpPr>
            <a:spLocks noChangeArrowheads="1"/>
          </p:cNvSpPr>
          <p:nvPr/>
        </p:nvSpPr>
        <p:spPr bwMode="auto">
          <a:xfrm>
            <a:off x="3297409" y="2049581"/>
            <a:ext cx="5563318" cy="523220"/>
          </a:xfrm>
          <a:prstGeom prst="rect">
            <a:avLst/>
          </a:prstGeom>
          <a:solidFill>
            <a:srgbClr val="C00000"/>
          </a:solidFill>
          <a:ln>
            <a:noFill/>
          </a:ln>
          <a:effectLst/>
        </p:spPr>
        <p:txBody>
          <a:bodyPr wrap="none" anchor="ctr">
            <a:spAutoFit/>
          </a:bodyPr>
          <a:lstStyle/>
          <a:p>
            <a:pPr eaLnBrk="1" hangingPunct="1"/>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若 </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与 </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独立，则</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与</a:t>
            </a:r>
            <a:r>
              <a:rPr lang="en-US" altLang="zh-CN" sz="2800" b="1" i="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rPr>
              <a:t>不相关，</a:t>
            </a:r>
            <a:endParaRPr lang="zh-CN" altLang="en-US" sz="2800" b="1" dirty="0">
              <a:solidFill>
                <a:schemeClr val="bg1"/>
              </a:solidFill>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9534" name="Rectangle 78"/>
          <p:cNvSpPr>
            <a:spLocks noChangeArrowheads="1"/>
          </p:cNvSpPr>
          <p:nvPr/>
        </p:nvSpPr>
        <p:spPr bwMode="auto">
          <a:xfrm>
            <a:off x="2101587" y="3053289"/>
            <a:ext cx="7538217"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eaLnBrk="1" hangingPunct="1"/>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但由</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不相关，不一定能推出</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a:t>
            </a:r>
            <a:r>
              <a:rPr lang="en-US" altLang="zh-CN" sz="2800" b="1" i="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 </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独立。</a:t>
            </a:r>
            <a:endPar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4"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1406163" y="255069"/>
            <a:ext cx="2444882"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二、相关系数</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6" name="组合 15"/>
          <p:cNvGrpSpPr/>
          <p:nvPr/>
        </p:nvGrpSpPr>
        <p:grpSpPr>
          <a:xfrm>
            <a:off x="851761" y="364781"/>
            <a:ext cx="263341" cy="395013"/>
            <a:chOff x="5284519" y="1508166"/>
            <a:chExt cx="213756" cy="427512"/>
          </a:xfrm>
        </p:grpSpPr>
        <p:cxnSp>
          <p:nvCxnSpPr>
            <p:cNvPr id="17" name="直接连接符 1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8" name="直接连接符 1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32"/>
                                        </p:tgtEl>
                                        <p:attrNameLst>
                                          <p:attrName>style.visibility</p:attrName>
                                        </p:attrNameLst>
                                      </p:cBhvr>
                                      <p:to>
                                        <p:strVal val="visible"/>
                                      </p:to>
                                    </p:set>
                                    <p:animEffect transition="in" filter="wipe(left)">
                                      <p:cBhvr>
                                        <p:cTn id="7" dur="500"/>
                                        <p:tgtEl>
                                          <p:spTgt spid="195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533"/>
                                        </p:tgtEl>
                                        <p:attrNameLst>
                                          <p:attrName>style.visibility</p:attrName>
                                        </p:attrNameLst>
                                      </p:cBhvr>
                                      <p:to>
                                        <p:strVal val="visible"/>
                                      </p:to>
                                    </p:set>
                                    <p:animEffect transition="in" filter="wipe(left)">
                                      <p:cBhvr>
                                        <p:cTn id="12" dur="500"/>
                                        <p:tgtEl>
                                          <p:spTgt spid="1953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9534"/>
                                        </p:tgtEl>
                                        <p:attrNameLst>
                                          <p:attrName>style.visibility</p:attrName>
                                        </p:attrNameLst>
                                      </p:cBhvr>
                                      <p:to>
                                        <p:strVal val="visible"/>
                                      </p:to>
                                    </p:set>
                                    <p:animEffect transition="in" filter="barn(outVertical)">
                                      <p:cBhvr>
                                        <p:cTn id="17" dur="500"/>
                                        <p:tgtEl>
                                          <p:spTgt spid="195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523"/>
                                        </p:tgtEl>
                                        <p:attrNameLst>
                                          <p:attrName>style.visibility</p:attrName>
                                        </p:attrNameLst>
                                      </p:cBhvr>
                                      <p:to>
                                        <p:strVal val="visible"/>
                                      </p:to>
                                    </p:set>
                                    <p:animEffect transition="in" filter="wipe(left)">
                                      <p:cBhvr>
                                        <p:cTn id="22" dur="500"/>
                                        <p:tgtEl>
                                          <p:spTgt spid="1952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9524"/>
                                        </p:tgtEl>
                                        <p:attrNameLst>
                                          <p:attrName>style.visibility</p:attrName>
                                        </p:attrNameLst>
                                      </p:cBhvr>
                                      <p:to>
                                        <p:strVal val="visible"/>
                                      </p:to>
                                    </p:set>
                                    <p:anim calcmode="lin" valueType="num">
                                      <p:cBhvr additive="base">
                                        <p:cTn id="27" dur="500" fill="hold"/>
                                        <p:tgtEl>
                                          <p:spTgt spid="19524"/>
                                        </p:tgtEl>
                                        <p:attrNameLst>
                                          <p:attrName>ppt_x</p:attrName>
                                        </p:attrNameLst>
                                      </p:cBhvr>
                                      <p:tavLst>
                                        <p:tav tm="0">
                                          <p:val>
                                            <p:strVal val="#ppt_x"/>
                                          </p:val>
                                        </p:tav>
                                        <p:tav tm="100000">
                                          <p:val>
                                            <p:strVal val="#ppt_x"/>
                                          </p:val>
                                        </p:tav>
                                      </p:tavLst>
                                    </p:anim>
                                    <p:anim calcmode="lin" valueType="num">
                                      <p:cBhvr additive="base">
                                        <p:cTn id="28" dur="500" fill="hold"/>
                                        <p:tgtEl>
                                          <p:spTgt spid="195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23" grpId="0" bldLvl="0" animBg="1" autoUpdateAnimBg="0"/>
      <p:bldP spid="19532" grpId="0" bldLvl="0" animBg="1"/>
      <p:bldP spid="19533" grpId="0" bldLvl="0" animBg="1" autoUpdateAnimBg="0"/>
      <p:bldP spid="19534" grpId="0" bldLvl="0" animBg="1"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32" name="Rectangle 76"/>
          <p:cNvSpPr>
            <a:spLocks noChangeArrowheads="1"/>
          </p:cNvSpPr>
          <p:nvPr/>
        </p:nvSpPr>
        <p:spPr bwMode="auto">
          <a:xfrm>
            <a:off x="1335308" y="1232174"/>
            <a:ext cx="8433100" cy="52322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相关系数是描述了</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X</a:t>
            </a:r>
            <a:r>
              <a:rPr lang="zh-CN" altLang="en-US"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与</a:t>
            </a:r>
            <a:r>
              <a:rPr lang="en-US" altLang="zh-CN" sz="2800" b="1" dirty="0">
                <a:solidFill>
                  <a:schemeClr val="tx1">
                    <a:lumMod val="85000"/>
                    <a:lumOff val="15000"/>
                  </a:schemeClr>
                </a:solidFill>
                <a:latin typeface="Times New Roman" panose="02020603050405020304" pitchFamily="18" charset="0"/>
                <a:ea typeface="微软雅黑" panose="020B0503020204020204" pitchFamily="34" charset="-122"/>
                <a:sym typeface="Times New Roman" panose="02020603050405020304" pitchFamily="18" charset="0"/>
              </a:rPr>
              <a:t>Y</a:t>
            </a:r>
            <a:r>
              <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rPr>
              <a:t>线性相关程度</a:t>
            </a:r>
            <a:endParaRPr lang="zh-CN" altLang="en-US" sz="2800" b="1" dirty="0">
              <a:solidFill>
                <a:srgbClr val="C00000"/>
              </a:solidFill>
              <a:latin typeface="Times New Roman" panose="02020603050405020304" pitchFamily="18" charset="0"/>
              <a:ea typeface="微软雅黑" panose="020B0503020204020204" pitchFamily="34" charset="-122"/>
              <a:sym typeface="Times New Roman" panose="02020603050405020304" pitchFamily="18" charset="0"/>
            </a:endParaRPr>
          </a:p>
        </p:txBody>
      </p:sp>
      <p:cxnSp>
        <p:nvCxnSpPr>
          <p:cNvPr id="14" name="直接连接符 8"/>
          <p:cNvCxnSpPr/>
          <p:nvPr/>
        </p:nvCxnSpPr>
        <p:spPr>
          <a:xfrm>
            <a:off x="1335307" y="866630"/>
            <a:ext cx="2909522"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1406163" y="255069"/>
            <a:ext cx="3574999" cy="543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defTabSz="914400">
              <a:spcBef>
                <a:spcPct val="0"/>
              </a:spcBef>
              <a:buNone/>
            </a:pPr>
            <a:r>
              <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rPr>
              <a:t>二、相关系数的意义</a:t>
            </a:r>
            <a:endParaRPr lang="zh-CN" altLang="en-US" sz="2935" b="1" dirty="0">
              <a:solidFill>
                <a:srgbClr val="C00000"/>
              </a:solidFill>
              <a:latin typeface="Times New Roman" panose="02020603050405020304" pitchFamily="18" charset="0"/>
              <a:ea typeface="微软雅黑" panose="020B0503020204020204" pitchFamily="34" charset="-122"/>
              <a:cs typeface="Arial" panose="020B0604020202020204" pitchFamily="34" charset="0"/>
              <a:sym typeface="Times New Roman" panose="02020603050405020304" pitchFamily="18" charset="0"/>
            </a:endParaRPr>
          </a:p>
        </p:txBody>
      </p:sp>
      <p:grpSp>
        <p:nvGrpSpPr>
          <p:cNvPr id="16" name="组合 15"/>
          <p:cNvGrpSpPr/>
          <p:nvPr/>
        </p:nvGrpSpPr>
        <p:grpSpPr>
          <a:xfrm>
            <a:off x="851761" y="364781"/>
            <a:ext cx="263341" cy="395013"/>
            <a:chOff x="5284519" y="1508166"/>
            <a:chExt cx="213756" cy="427512"/>
          </a:xfrm>
        </p:grpSpPr>
        <p:cxnSp>
          <p:nvCxnSpPr>
            <p:cNvPr id="17" name="直接连接符 16"/>
            <p:cNvCxnSpPr/>
            <p:nvPr/>
          </p:nvCxnSpPr>
          <p:spPr>
            <a:xfrm>
              <a:off x="5284519" y="1508166"/>
              <a:ext cx="213756" cy="213756"/>
            </a:xfrm>
            <a:prstGeom prst="line">
              <a:avLst/>
            </a:prstGeom>
            <a:noFill/>
            <a:ln w="19050" cap="flat" cmpd="sng" algn="ctr">
              <a:solidFill>
                <a:srgbClr val="C00000"/>
              </a:solidFill>
              <a:prstDash val="solid"/>
              <a:miter lim="800000"/>
              <a:headEnd type="oval" w="med" len="med"/>
              <a:tailEnd type="oval" w="lg" len="lg"/>
            </a:ln>
            <a:effectLst/>
          </p:spPr>
        </p:cxnSp>
        <p:cxnSp>
          <p:nvCxnSpPr>
            <p:cNvPr id="18" name="直接连接符 17"/>
            <p:cNvCxnSpPr/>
            <p:nvPr/>
          </p:nvCxnSpPr>
          <p:spPr>
            <a:xfrm flipH="1">
              <a:off x="5284519" y="1721922"/>
              <a:ext cx="213756" cy="213756"/>
            </a:xfrm>
            <a:prstGeom prst="line">
              <a:avLst/>
            </a:prstGeom>
            <a:noFill/>
            <a:ln w="19050" cap="flat" cmpd="sng" algn="ctr">
              <a:solidFill>
                <a:srgbClr val="C00000"/>
              </a:solidFill>
              <a:prstDash val="solid"/>
              <a:miter lim="800000"/>
              <a:headEnd type="oval" w="med" len="med"/>
              <a:tailEnd type="oval" w="lg" len="lg"/>
            </a:ln>
            <a:effectLst/>
          </p:spPr>
        </p:cxnSp>
      </p:grpSp>
      <p:graphicFrame>
        <p:nvGraphicFramePr>
          <p:cNvPr id="20" name="Object 4"/>
          <p:cNvGraphicFramePr>
            <a:graphicFrameLocks noChangeAspect="1"/>
          </p:cNvGraphicFramePr>
          <p:nvPr/>
        </p:nvGraphicFramePr>
        <p:xfrm>
          <a:off x="4026338" y="1946853"/>
          <a:ext cx="2879725" cy="1004888"/>
        </p:xfrm>
        <a:graphic>
          <a:graphicData uri="http://schemas.openxmlformats.org/presentationml/2006/ole">
            <mc:AlternateContent xmlns:mc="http://schemas.openxmlformats.org/markup-compatibility/2006">
              <mc:Choice xmlns:v="urn:schemas-microsoft-com:vml" Requires="v">
                <p:oleObj spid="_x0000_s206855" name="Equation" r:id="rId1" imgW="1168400" imgH="457200" progId="Equation.DSMT4">
                  <p:embed/>
                </p:oleObj>
              </mc:Choice>
              <mc:Fallback>
                <p:oleObj name="Equation" r:id="rId1" imgW="1168400" imgH="4572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6338" y="1946853"/>
                        <a:ext cx="2879725"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pic>
        <p:nvPicPr>
          <p:cNvPr id="2" name="图片 1"/>
          <p:cNvPicPr>
            <a:picLocks noChangeAspect="1"/>
          </p:cNvPicPr>
          <p:nvPr/>
        </p:nvPicPr>
        <p:blipFill>
          <a:blip r:embed="rId3">
            <a:biLevel thresh="75000"/>
          </a:blip>
          <a:stretch>
            <a:fillRect/>
          </a:stretch>
        </p:blipFill>
        <p:spPr>
          <a:xfrm>
            <a:off x="4062850" y="3017772"/>
            <a:ext cx="2806700" cy="520700"/>
          </a:xfrm>
          <a:prstGeom prst="rect">
            <a:avLst/>
          </a:prstGeom>
        </p:spPr>
      </p:pic>
      <p:sp>
        <p:nvSpPr>
          <p:cNvPr id="23" name="Text Box 5"/>
          <p:cNvSpPr txBox="1">
            <a:spLocks noChangeArrowheads="1"/>
          </p:cNvSpPr>
          <p:nvPr/>
        </p:nvSpPr>
        <p:spPr bwMode="auto">
          <a:xfrm>
            <a:off x="1413558" y="3538472"/>
            <a:ext cx="3313112"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eaLnBrk="1" hangingPunct="1">
              <a:lnSpc>
                <a:spcPct val="150000"/>
              </a:lnSpc>
              <a:spcBef>
                <a:spcPct val="0"/>
              </a:spcBef>
              <a:buFontTx/>
              <a:buNone/>
            </a:pPr>
            <a:r>
              <a:rPr lang="en-US" altLang="zh-CN" b="1" dirty="0">
                <a:solidFill>
                  <a:schemeClr val="tx1">
                    <a:lumMod val="85000"/>
                    <a:lumOff val="15000"/>
                  </a:schemeClr>
                </a:solidFill>
                <a:latin typeface="Times New Roman" panose="02020603050405020304" pitchFamily="18" charset="0"/>
                <a:sym typeface="+mn-lt"/>
              </a:rPr>
              <a:t>X,Y</a:t>
            </a:r>
            <a:r>
              <a:rPr lang="zh-CN" altLang="en-US" b="1" dirty="0">
                <a:solidFill>
                  <a:schemeClr val="tx1">
                    <a:lumMod val="85000"/>
                    <a:lumOff val="15000"/>
                  </a:schemeClr>
                </a:solidFill>
                <a:latin typeface="Times New Roman" panose="02020603050405020304" pitchFamily="18" charset="0"/>
                <a:sym typeface="+mn-lt"/>
              </a:rPr>
              <a:t>不相关</a:t>
            </a:r>
            <a:r>
              <a:rPr lang="en-US" altLang="zh-CN" b="1" dirty="0">
                <a:solidFill>
                  <a:srgbClr val="C00000"/>
                </a:solidFill>
                <a:latin typeface="Times New Roman" panose="02020603050405020304" pitchFamily="18" charset="0"/>
                <a:sym typeface="+mn-lt"/>
              </a:rPr>
              <a:t>(</a:t>
            </a:r>
            <a:r>
              <a:rPr lang="zh-CN" altLang="en-US" b="1" dirty="0">
                <a:solidFill>
                  <a:srgbClr val="C00000"/>
                </a:solidFill>
                <a:latin typeface="Times New Roman" panose="02020603050405020304" pitchFamily="18" charset="0"/>
                <a:sym typeface="+mn-lt"/>
              </a:rPr>
              <a:t>弱</a:t>
            </a:r>
            <a:r>
              <a:rPr lang="en-US" altLang="zh-CN" b="1" dirty="0">
                <a:solidFill>
                  <a:srgbClr val="C00000"/>
                </a:solidFill>
                <a:latin typeface="Times New Roman" panose="02020603050405020304" pitchFamily="18" charset="0"/>
                <a:sym typeface="+mn-lt"/>
              </a:rPr>
              <a:t>)</a:t>
            </a:r>
            <a:endParaRPr lang="en-US" altLang="zh-CN" b="1" dirty="0">
              <a:solidFill>
                <a:srgbClr val="C00000"/>
              </a:solidFill>
              <a:latin typeface="Times New Roman" panose="02020603050405020304" pitchFamily="18" charset="0"/>
              <a:sym typeface="+mn-lt"/>
            </a:endParaRPr>
          </a:p>
        </p:txBody>
      </p:sp>
      <p:sp>
        <p:nvSpPr>
          <p:cNvPr id="24" name="Text Box 6"/>
          <p:cNvSpPr txBox="1">
            <a:spLocks noChangeArrowheads="1"/>
          </p:cNvSpPr>
          <p:nvPr/>
        </p:nvSpPr>
        <p:spPr bwMode="auto">
          <a:xfrm>
            <a:off x="5374370" y="3538472"/>
            <a:ext cx="3529013"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eaLnBrk="1" hangingPunct="1">
              <a:lnSpc>
                <a:spcPct val="150000"/>
              </a:lnSpc>
              <a:spcBef>
                <a:spcPct val="0"/>
              </a:spcBef>
              <a:buFontTx/>
              <a:buNone/>
            </a:pPr>
            <a:r>
              <a:rPr lang="en-US" altLang="zh-CN" b="1" dirty="0">
                <a:solidFill>
                  <a:schemeClr val="tx1">
                    <a:lumMod val="85000"/>
                    <a:lumOff val="15000"/>
                  </a:schemeClr>
                </a:solidFill>
                <a:latin typeface="Times New Roman" panose="02020603050405020304" pitchFamily="18" charset="0"/>
                <a:sym typeface="+mn-lt"/>
              </a:rPr>
              <a:t>X,Y</a:t>
            </a:r>
            <a:r>
              <a:rPr lang="zh-CN" altLang="en-US" b="1" dirty="0">
                <a:solidFill>
                  <a:schemeClr val="tx1">
                    <a:lumMod val="85000"/>
                    <a:lumOff val="15000"/>
                  </a:schemeClr>
                </a:solidFill>
                <a:latin typeface="Times New Roman" panose="02020603050405020304" pitchFamily="18" charset="0"/>
                <a:sym typeface="+mn-lt"/>
              </a:rPr>
              <a:t>相互独立</a:t>
            </a:r>
            <a:r>
              <a:rPr lang="en-US" altLang="zh-CN" b="1" dirty="0">
                <a:solidFill>
                  <a:srgbClr val="C00000"/>
                </a:solidFill>
                <a:latin typeface="Times New Roman" panose="02020603050405020304" pitchFamily="18" charset="0"/>
                <a:sym typeface="+mn-lt"/>
              </a:rPr>
              <a:t>(</a:t>
            </a:r>
            <a:r>
              <a:rPr lang="zh-CN" altLang="en-US" b="1" dirty="0">
                <a:solidFill>
                  <a:srgbClr val="C00000"/>
                </a:solidFill>
                <a:latin typeface="Times New Roman" panose="02020603050405020304" pitchFamily="18" charset="0"/>
                <a:sym typeface="+mn-lt"/>
              </a:rPr>
              <a:t>强</a:t>
            </a:r>
            <a:r>
              <a:rPr lang="en-US" altLang="zh-CN" b="1" dirty="0">
                <a:solidFill>
                  <a:srgbClr val="C00000"/>
                </a:solidFill>
                <a:latin typeface="Times New Roman" panose="02020603050405020304" pitchFamily="18" charset="0"/>
                <a:sym typeface="+mn-lt"/>
              </a:rPr>
              <a:t>)</a:t>
            </a:r>
            <a:endParaRPr lang="en-US" altLang="zh-CN" b="1" dirty="0">
              <a:solidFill>
                <a:srgbClr val="C00000"/>
              </a:solidFill>
              <a:latin typeface="Times New Roman" panose="02020603050405020304" pitchFamily="18" charset="0"/>
              <a:sym typeface="+mn-lt"/>
            </a:endParaRPr>
          </a:p>
        </p:txBody>
      </p:sp>
      <p:sp>
        <p:nvSpPr>
          <p:cNvPr id="25" name="Line 7"/>
          <p:cNvSpPr>
            <a:spLocks noChangeShapeType="1"/>
          </p:cNvSpPr>
          <p:nvPr/>
        </p:nvSpPr>
        <p:spPr bwMode="auto">
          <a:xfrm flipH="1">
            <a:off x="4114689" y="3920985"/>
            <a:ext cx="1223962" cy="0"/>
          </a:xfrm>
          <a:prstGeom prst="line">
            <a:avLst/>
          </a:prstGeom>
          <a:noFill/>
          <a:ln w="57150">
            <a:solidFill>
              <a:srgbClr val="C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nSpc>
                <a:spcPct val="150000"/>
              </a:lnSpc>
              <a:defRPr/>
            </a:pPr>
            <a:endParaRPr lang="zh-CN" altLang="en-US">
              <a:latin typeface="+mn-lt"/>
              <a:ea typeface="+mn-ea"/>
              <a:cs typeface="+mn-ea"/>
              <a:sym typeface="+mn-lt"/>
            </a:endParaRPr>
          </a:p>
        </p:txBody>
      </p:sp>
      <p:grpSp>
        <p:nvGrpSpPr>
          <p:cNvPr id="26" name="Group 8"/>
          <p:cNvGrpSpPr/>
          <p:nvPr/>
        </p:nvGrpSpPr>
        <p:grpSpPr bwMode="auto">
          <a:xfrm>
            <a:off x="4109026" y="3996912"/>
            <a:ext cx="1296988" cy="360362"/>
            <a:chOff x="2426" y="2795"/>
            <a:chExt cx="817" cy="227"/>
          </a:xfrm>
        </p:grpSpPr>
        <p:sp>
          <p:nvSpPr>
            <p:cNvPr id="27" name="Line 9"/>
            <p:cNvSpPr>
              <a:spLocks noChangeShapeType="1"/>
            </p:cNvSpPr>
            <p:nvPr/>
          </p:nvSpPr>
          <p:spPr bwMode="auto">
            <a:xfrm>
              <a:off x="2426" y="2886"/>
              <a:ext cx="817" cy="0"/>
            </a:xfrm>
            <a:prstGeom prst="line">
              <a:avLst/>
            </a:prstGeom>
            <a:noFill/>
            <a:ln w="57150">
              <a:solidFill>
                <a:srgbClr val="C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nSpc>
                  <a:spcPct val="150000"/>
                </a:lnSpc>
                <a:defRPr/>
              </a:pPr>
              <a:endParaRPr lang="zh-CN" altLang="en-US">
                <a:latin typeface="+mn-lt"/>
                <a:ea typeface="+mn-ea"/>
                <a:cs typeface="+mn-ea"/>
                <a:sym typeface="+mn-lt"/>
              </a:endParaRPr>
            </a:p>
          </p:txBody>
        </p:sp>
        <p:sp>
          <p:nvSpPr>
            <p:cNvPr id="28" name="Line 10"/>
            <p:cNvSpPr>
              <a:spLocks noChangeShapeType="1"/>
            </p:cNvSpPr>
            <p:nvPr/>
          </p:nvSpPr>
          <p:spPr bwMode="auto">
            <a:xfrm flipH="1">
              <a:off x="2699" y="2795"/>
              <a:ext cx="182" cy="227"/>
            </a:xfrm>
            <a:prstGeom prst="line">
              <a:avLst/>
            </a:prstGeom>
            <a:noFill/>
            <a:ln w="571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nSpc>
                  <a:spcPct val="150000"/>
                </a:lnSpc>
                <a:defRPr/>
              </a:pPr>
              <a:endParaRPr lang="zh-CN" altLang="en-US">
                <a:latin typeface="+mn-lt"/>
                <a:ea typeface="+mn-ea"/>
                <a:cs typeface="+mn-ea"/>
                <a:sym typeface="+mn-lt"/>
              </a:endParaRPr>
            </a:p>
          </p:txBody>
        </p:sp>
      </p:grpSp>
      <p:sp>
        <p:nvSpPr>
          <p:cNvPr id="29" name="Text Box 11"/>
          <p:cNvSpPr txBox="1">
            <a:spLocks noChangeArrowheads="1"/>
          </p:cNvSpPr>
          <p:nvPr/>
        </p:nvSpPr>
        <p:spPr bwMode="auto">
          <a:xfrm>
            <a:off x="1413558" y="4257610"/>
            <a:ext cx="3457575" cy="58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eaLnBrk="1" hangingPunct="1">
              <a:lnSpc>
                <a:spcPct val="150000"/>
              </a:lnSpc>
              <a:spcBef>
                <a:spcPct val="0"/>
              </a:spcBef>
              <a:buFontTx/>
              <a:buNone/>
            </a:pPr>
            <a:r>
              <a:rPr lang="en-US" altLang="zh-CN" sz="2400" b="1" dirty="0">
                <a:solidFill>
                  <a:schemeClr val="tx1">
                    <a:lumMod val="85000"/>
                    <a:lumOff val="15000"/>
                  </a:schemeClr>
                </a:solidFill>
                <a:latin typeface="Times New Roman" panose="02020603050405020304" pitchFamily="18" charset="0"/>
                <a:sym typeface="+mn-lt"/>
              </a:rPr>
              <a:t>(</a:t>
            </a:r>
            <a:r>
              <a:rPr lang="zh-CN" altLang="en-US" sz="2400" b="1" dirty="0">
                <a:solidFill>
                  <a:schemeClr val="tx1">
                    <a:lumMod val="85000"/>
                    <a:lumOff val="15000"/>
                  </a:schemeClr>
                </a:solidFill>
                <a:latin typeface="Times New Roman" panose="02020603050405020304" pitchFamily="18" charset="0"/>
                <a:sym typeface="+mn-lt"/>
              </a:rPr>
              <a:t>没有线性关系）</a:t>
            </a:r>
            <a:endParaRPr lang="zh-CN" altLang="en-US" sz="2400" b="1" dirty="0">
              <a:solidFill>
                <a:schemeClr val="tx1">
                  <a:lumMod val="85000"/>
                  <a:lumOff val="15000"/>
                </a:schemeClr>
              </a:solidFill>
              <a:latin typeface="Times New Roman" panose="02020603050405020304" pitchFamily="18" charset="0"/>
              <a:sym typeface="+mn-lt"/>
            </a:endParaRPr>
          </a:p>
        </p:txBody>
      </p:sp>
      <p:sp>
        <p:nvSpPr>
          <p:cNvPr id="30" name="Text Box 12"/>
          <p:cNvSpPr txBox="1">
            <a:spLocks noChangeArrowheads="1"/>
          </p:cNvSpPr>
          <p:nvPr/>
        </p:nvSpPr>
        <p:spPr bwMode="auto">
          <a:xfrm>
            <a:off x="5518833" y="4257610"/>
            <a:ext cx="3384550" cy="58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eaLnBrk="1" hangingPunct="1">
              <a:lnSpc>
                <a:spcPct val="150000"/>
              </a:lnSpc>
              <a:spcBef>
                <a:spcPct val="0"/>
              </a:spcBef>
              <a:buFontTx/>
              <a:buNone/>
            </a:pPr>
            <a:r>
              <a:rPr lang="en-US" altLang="zh-CN" sz="2400" b="1">
                <a:solidFill>
                  <a:schemeClr val="tx1">
                    <a:lumMod val="85000"/>
                    <a:lumOff val="15000"/>
                  </a:schemeClr>
                </a:solidFill>
                <a:latin typeface="Times New Roman" panose="02020603050405020304" pitchFamily="18" charset="0"/>
                <a:sym typeface="+mn-lt"/>
              </a:rPr>
              <a:t>(</a:t>
            </a:r>
            <a:r>
              <a:rPr lang="zh-CN" altLang="en-US" sz="2400" b="1">
                <a:solidFill>
                  <a:schemeClr val="tx1">
                    <a:lumMod val="85000"/>
                    <a:lumOff val="15000"/>
                  </a:schemeClr>
                </a:solidFill>
                <a:latin typeface="Times New Roman" panose="02020603050405020304" pitchFamily="18" charset="0"/>
                <a:sym typeface="+mn-lt"/>
              </a:rPr>
              <a:t>没有任何关系）</a:t>
            </a:r>
            <a:endParaRPr lang="zh-CN" altLang="en-US" sz="2400" b="1">
              <a:solidFill>
                <a:schemeClr val="tx1">
                  <a:lumMod val="85000"/>
                  <a:lumOff val="15000"/>
                </a:schemeClr>
              </a:solidFill>
              <a:latin typeface="Times New Roman" panose="02020603050405020304" pitchFamily="18" charset="0"/>
              <a:sym typeface="+mn-lt"/>
            </a:endParaRPr>
          </a:p>
        </p:txBody>
      </p:sp>
      <p:sp>
        <p:nvSpPr>
          <p:cNvPr id="31" name="Text Box 13"/>
          <p:cNvSpPr txBox="1">
            <a:spLocks noChangeArrowheads="1"/>
          </p:cNvSpPr>
          <p:nvPr/>
        </p:nvSpPr>
        <p:spPr bwMode="auto">
          <a:xfrm>
            <a:off x="1402588" y="4990401"/>
            <a:ext cx="6263370" cy="662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cs typeface="等线" panose="02010600030101010101"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cs typeface="等线" panose="02010600030101010101"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cs typeface="等线" panose="02010600030101010101"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cs typeface="等线" panose="02010600030101010101" charset="-122"/>
              </a:defRPr>
            </a:lvl9pPr>
          </a:lstStyle>
          <a:p>
            <a:pPr eaLnBrk="1" hangingPunct="1">
              <a:lnSpc>
                <a:spcPct val="150000"/>
              </a:lnSpc>
              <a:spcBef>
                <a:spcPct val="0"/>
              </a:spcBef>
              <a:buFontTx/>
              <a:buNone/>
            </a:pPr>
            <a:r>
              <a:rPr lang="zh-CN" altLang="en-US" b="1">
                <a:solidFill>
                  <a:schemeClr val="tx1">
                    <a:lumMod val="85000"/>
                    <a:lumOff val="15000"/>
                  </a:schemeClr>
                </a:solidFill>
                <a:latin typeface="Times New Roman" panose="02020603050405020304" pitchFamily="18" charset="0"/>
                <a:sym typeface="+mn-lt"/>
              </a:rPr>
              <a:t>可能会有别的关系，如二次关系。</a:t>
            </a:r>
            <a:endParaRPr lang="zh-CN" altLang="en-US" b="1">
              <a:solidFill>
                <a:schemeClr val="tx1">
                  <a:lumMod val="85000"/>
                  <a:lumOff val="15000"/>
                </a:schemeClr>
              </a:solidFill>
              <a:latin typeface="Times New Roman" panose="02020603050405020304" pitchFamily="18" charset="0"/>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32"/>
                                        </p:tgtEl>
                                        <p:attrNameLst>
                                          <p:attrName>style.visibility</p:attrName>
                                        </p:attrNameLst>
                                      </p:cBhvr>
                                      <p:to>
                                        <p:strVal val="visible"/>
                                      </p:to>
                                    </p:set>
                                    <p:animEffect transition="in" filter="wipe(left)">
                                      <p:cBhvr>
                                        <p:cTn id="7" dur="500"/>
                                        <p:tgtEl>
                                          <p:spTgt spid="1953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additive="base">
                                        <p:cTn id="12" dur="1000" fill="hold"/>
                                        <p:tgtEl>
                                          <p:spTgt spid="20"/>
                                        </p:tgtEl>
                                        <p:attrNameLst>
                                          <p:attrName>ppt_x</p:attrName>
                                        </p:attrNameLst>
                                      </p:cBhvr>
                                      <p:tavLst>
                                        <p:tav tm="0">
                                          <p:val>
                                            <p:strVal val="0-#ppt_w/2"/>
                                          </p:val>
                                        </p:tav>
                                        <p:tav tm="100000">
                                          <p:val>
                                            <p:strVal val="#ppt_x"/>
                                          </p:val>
                                        </p:tav>
                                      </p:tavLst>
                                    </p:anim>
                                    <p:anim calcmode="lin" valueType="num">
                                      <p:cBhvr additive="base">
                                        <p:cTn id="13" dur="10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left)">
                                      <p:cBhvr>
                                        <p:cTn id="23" dur="100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right)">
                                      <p:cBhvr>
                                        <p:cTn id="28" dur="1000"/>
                                        <p:tgtEl>
                                          <p:spTgt spid="24"/>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box(in)">
                                      <p:cBhvr>
                                        <p:cTn id="45" dur="10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5" presetClass="entr" presetSubtype="10" fill="hold" grpId="0"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checkerboard(across)">
                                      <p:cBhvr>
                                        <p:cTn id="50" dur="1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32" grpId="0" bldLvl="0" animBg="1"/>
      <p:bldP spid="23" grpId="0" bldLvl="0" animBg="1"/>
      <p:bldP spid="24" grpId="0" bldLvl="0" animBg="1"/>
      <p:bldP spid="29" grpId="0" bldLvl="0" animBg="1"/>
      <p:bldP spid="30" grpId="0" bldLvl="0" animBg="1"/>
      <p:bldP spid="31" grpId="0" bldLvl="0" animBg="1"/>
    </p:bldLst>
  </p:timing>
</p:sld>
</file>

<file path=ppt/tags/tag1.xml><?xml version="1.0" encoding="utf-8"?>
<p:tagLst xmlns:p="http://schemas.openxmlformats.org/presentationml/2006/main">
  <p:tag name="KSO_WPP_MARK_KEY" val="da689126-7f4b-476f-b1b1-ee06b7addf86"/>
  <p:tag name="COMMONDATA" val="eyJoZGlkIjoiN2M3ZjA1YmVjZmY1YzBmYjc3NTczZWMyYWYzNGE4MTcifQ=="/>
</p:tagLst>
</file>

<file path=ppt/theme/theme1.xml><?xml version="1.0" encoding="utf-8"?>
<a:theme xmlns:a="http://schemas.openxmlformats.org/drawingml/2006/main" name="111">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4945</Words>
  <Application>WPS 演示</Application>
  <PresentationFormat>宽屏</PresentationFormat>
  <Paragraphs>634</Paragraphs>
  <Slides>66</Slides>
  <Notes>9</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173</vt:i4>
      </vt:variant>
      <vt:variant>
        <vt:lpstr>幻灯片标题</vt:lpstr>
      </vt:variant>
      <vt:variant>
        <vt:i4>66</vt:i4>
      </vt:variant>
    </vt:vector>
  </HeadingPairs>
  <TitlesOfParts>
    <vt:vector size="259" baseType="lpstr">
      <vt:lpstr>Arial</vt:lpstr>
      <vt:lpstr>宋体</vt:lpstr>
      <vt:lpstr>Wingdings</vt:lpstr>
      <vt:lpstr>Times New Roman</vt:lpstr>
      <vt:lpstr>微软雅黑</vt:lpstr>
      <vt:lpstr>Kartika</vt:lpstr>
      <vt:lpstr>DejaVu Math TeX Gyre</vt:lpstr>
      <vt:lpstr>等线</vt:lpstr>
      <vt:lpstr>Calibri</vt:lpstr>
      <vt:lpstr>Inter</vt:lpstr>
      <vt:lpstr>Segoe Print</vt:lpstr>
      <vt:lpstr>Arial Unicode MS</vt:lpstr>
      <vt:lpstr>等线 Light</vt:lpstr>
      <vt:lpstr>Calibri Light</vt:lpstr>
      <vt:lpstr>Cambria Math</vt:lpstr>
      <vt:lpstr>Times</vt:lpstr>
      <vt:lpstr>Inter</vt:lpstr>
      <vt:lpstr>Good Times</vt:lpstr>
      <vt:lpstr>方正楷体_GBK</vt:lpstr>
      <vt:lpstr>111</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Equation.DSMT4</vt:lpstr>
      <vt:lpstr>Equation.3</vt:lpstr>
      <vt:lpstr>Equation.3</vt:lpstr>
      <vt:lpstr>Equation.DSMT4</vt:lpstr>
      <vt:lpstr>Equation.3</vt:lpstr>
      <vt:lpstr>Equation.3</vt:lpstr>
      <vt:lpstr>Equation.3</vt:lpstr>
      <vt:lpstr>Equation.3</vt:lpstr>
      <vt:lpstr>Equation.3</vt:lpstr>
      <vt:lpstr>Equation.DSMT4</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哈理工概率论与数理统计课题组</dc:creator>
  <cp:lastModifiedBy>eye</cp:lastModifiedBy>
  <cp:revision>530</cp:revision>
  <cp:lastPrinted>2020-03-18T15:54:00Z</cp:lastPrinted>
  <dcterms:created xsi:type="dcterms:W3CDTF">2020-03-18T15:54:00Z</dcterms:created>
  <dcterms:modified xsi:type="dcterms:W3CDTF">2026-04-24T02:41:08Z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6D3C36360C664E729CFFBA4DD3CC1663_13</vt:lpwstr>
  </property>
  <property fmtid="{D5CDD505-2E9C-101B-9397-08002B2CF9AE}" pid="4" name="commondata">
    <vt:lpwstr>eyJoZGlkIjoiMDIxMGEyYTA2NzVhOGViMTU5ODk2ODc2NjZkYjhlNDMifQ==</vt:lpwstr>
  </property>
</Properties>
</file>