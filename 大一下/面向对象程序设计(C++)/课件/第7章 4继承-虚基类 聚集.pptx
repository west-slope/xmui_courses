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931" r:id="rId3"/>
    <p:sldId id="934" r:id="rId4"/>
    <p:sldId id="935" r:id="rId6"/>
    <p:sldId id="936" r:id="rId7"/>
    <p:sldId id="937" r:id="rId8"/>
    <p:sldId id="939" r:id="rId9"/>
    <p:sldId id="938" r:id="rId10"/>
    <p:sldId id="932" r:id="rId11"/>
    <p:sldId id="933" r:id="rId12"/>
    <p:sldId id="943" r:id="rId13"/>
    <p:sldId id="944" r:id="rId14"/>
    <p:sldId id="967" r:id="rId15"/>
    <p:sldId id="945" r:id="rId16"/>
    <p:sldId id="946" r:id="rId17"/>
    <p:sldId id="952" r:id="rId18"/>
    <p:sldId id="953" r:id="rId19"/>
    <p:sldId id="947" r:id="rId20"/>
    <p:sldId id="948" r:id="rId21"/>
    <p:sldId id="949" r:id="rId22"/>
    <p:sldId id="954" r:id="rId23"/>
    <p:sldId id="950" r:id="rId24"/>
    <p:sldId id="951" r:id="rId25"/>
    <p:sldId id="957" r:id="rId26"/>
    <p:sldId id="958" r:id="rId27"/>
    <p:sldId id="959" r:id="rId28"/>
    <p:sldId id="960" r:id="rId29"/>
    <p:sldId id="961" r:id="rId30"/>
  </p:sldIdLst>
  <p:sldSz cx="9144000" cy="6858000" type="screen4x3"/>
  <p:notesSz cx="6858000" cy="9144000"/>
  <p:custDataLst>
    <p:tags r:id="rId3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8"/>
    <p:restoredTop sz="77085"/>
  </p:normalViewPr>
  <p:slideViewPr>
    <p:cSldViewPr showGuides="1">
      <p:cViewPr varScale="1">
        <p:scale>
          <a:sx n="65" d="100"/>
          <a:sy n="65" d="100"/>
        </p:scale>
        <p:origin x="1834" y="58"/>
      </p:cViewPr>
      <p:guideLst>
        <p:guide orient="horz" pos="2164"/>
        <p:guide pos="287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4" Type="http://schemas.openxmlformats.org/officeDocument/2006/relationships/tags" Target="tags/tag15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117EAA3-052C-40EF-90BE-423332CD0E77}" type="slidenum">
              <a:rPr kumimoji="0" lang="zh-CN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en-US" altLang="zh-CN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en-US" altLang="zh-CN" dirty="0"/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en-US" altLang="zh-CN" dirty="0"/>
          </a:p>
        </p:txBody>
      </p:sp>
      <p:sp>
        <p:nvSpPr>
          <p:cNvPr id="112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5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若</a:t>
            </a:r>
            <a:r>
              <a:rPr lang="en-US" altLang="zh-CN" dirty="0"/>
              <a:t>D</a:t>
            </a:r>
            <a:r>
              <a:rPr lang="zh-CN" altLang="en-US" dirty="0"/>
              <a:t>中定义了新的虚函数</a:t>
            </a:r>
            <a:r>
              <a:rPr lang="en-US" altLang="zh-CN" dirty="0"/>
              <a:t>func1</a:t>
            </a:r>
            <a:r>
              <a:rPr lang="zh-CN" altLang="en-US" dirty="0"/>
              <a:t>，则它的地址加入到从</a:t>
            </a:r>
            <a:r>
              <a:rPr lang="en-US" altLang="zh-CN" dirty="0"/>
              <a:t>B</a:t>
            </a:r>
            <a:r>
              <a:rPr lang="zh-CN" altLang="en-US" dirty="0"/>
              <a:t>继承来的虚函数表中</a:t>
            </a:r>
            <a:endParaRPr lang="en-US" altLang="zh-CN" dirty="0"/>
          </a:p>
        </p:txBody>
      </p:sp>
      <p:sp>
        <p:nvSpPr>
          <p:cNvPr id="133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zh-CN" altLang="en-US" dirty="0"/>
              <a:t>多重 </a:t>
            </a:r>
            <a:r>
              <a:rPr lang="zh-CN" altLang="en-US" i="1" dirty="0"/>
              <a:t>虚继承 </a:t>
            </a:r>
            <a:r>
              <a:rPr lang="zh-CN" altLang="en-US" dirty="0"/>
              <a:t>时，虚基类表中即有多个虚基类的地址</a:t>
            </a:r>
            <a:endParaRPr lang="en-US" altLang="zh-CN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r>
              <a:rPr lang="en-US" altLang="zh-CN" dirty="0"/>
              <a:t>D</a:t>
            </a:r>
            <a:r>
              <a:rPr lang="zh-CN" altLang="en-US" dirty="0"/>
              <a:t>若新定义了虚函数，则它拥有一个自己的虚函数表及其指针。其他更复杂的情况不必考虑</a:t>
            </a:r>
            <a:endParaRPr lang="en-US" altLang="zh-CN" dirty="0"/>
          </a:p>
        </p:txBody>
      </p:sp>
      <p:sp>
        <p:nvSpPr>
          <p:cNvPr id="174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en-US" altLang="zh-CN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lstStyle/>
          <a:p>
            <a:pPr lvl="0"/>
            <a:endParaRPr lang="en-US" altLang="zh-CN" dirty="0"/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zh-CN" sz="1200" dirty="0">
                <a:ea typeface="宋体" panose="02010600030101010101" pitchFamily="2" charset="-122"/>
              </a:rPr>
            </a:fld>
            <a:endParaRPr lang="zh-CN" altLang="zh-CN" sz="12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5400" y="1905000"/>
            <a:ext cx="3429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190500"/>
            <a:ext cx="1752600" cy="5829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0" y="190500"/>
            <a:ext cx="5105400" cy="5829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524000" y="1905000"/>
            <a:ext cx="7010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/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0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24000" y="6248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 userDrawn="1"/>
        </p:nvSpPr>
        <p:spPr bwMode="auto">
          <a:xfrm>
            <a:off x="1651000" y="6375400"/>
            <a:ext cx="12954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266DCD-47FE-409A-9CE4-1BF69F5563E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8838" name="Rectangle 6"/>
          <p:cNvSpPr>
            <a:spLocks noGrp="1" noChangeArrowheads="1"/>
          </p:cNvSpPr>
          <p:nvPr userDrawn="1"/>
        </p:nvSpPr>
        <p:spPr bwMode="auto">
          <a:xfrm>
            <a:off x="6553200" y="6309995"/>
            <a:ext cx="1905000" cy="395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50000"/>
              </a:spcBef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1E7CE4-78B9-46D3-A574-A4017E076596}" type="slidenum">
              <a:rPr kumimoji="1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905" y="6167755"/>
            <a:ext cx="9142095" cy="690245"/>
          </a:xfrm>
          <a:prstGeom prst="rect">
            <a:avLst/>
          </a:prstGeom>
          <a:gradFill rotWithShape="0">
            <a:gsLst>
              <a:gs pos="0">
                <a:srgbClr val="CC99FF"/>
              </a:gs>
              <a:gs pos="100000">
                <a:srgbClr val="5E4776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lstStyle/>
          <a:p>
            <a:pPr lvl="0" algn="ctr" eaLnBrk="0" hangingPunct="0"/>
            <a:endParaRPr lang="zh-CN" altLang="en-US" dirty="0">
              <a:latin typeface="Times New Roman" panose="02020603050405020304" pitchFamily="18" charset="0"/>
              <a:ea typeface="大黑体" charset="-122"/>
            </a:endParaRPr>
          </a:p>
        </p:txBody>
      </p:sp>
      <p:sp>
        <p:nvSpPr>
          <p:cNvPr id="9" name="Line 9"/>
          <p:cNvSpPr/>
          <p:nvPr userDrawn="1"/>
        </p:nvSpPr>
        <p:spPr>
          <a:xfrm flipH="1">
            <a:off x="1447165" y="6182360"/>
            <a:ext cx="635" cy="550545"/>
          </a:xfrm>
          <a:prstGeom prst="line">
            <a:avLst/>
          </a:prstGeom>
          <a:ln w="127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0"/>
          <p:cNvSpPr txBox="1"/>
          <p:nvPr userDrawn="1"/>
        </p:nvSpPr>
        <p:spPr>
          <a:xfrm>
            <a:off x="5791200" y="6167755"/>
            <a:ext cx="3352800" cy="690245"/>
          </a:xfrm>
          <a:prstGeom prst="rect">
            <a:avLst/>
          </a:prstGeom>
          <a:solidFill>
            <a:srgbClr val="800080"/>
          </a:solidFill>
          <a:ln w="12700">
            <a:noFill/>
          </a:ln>
        </p:spPr>
        <p:txBody>
          <a:bodyPr lIns="90000" tIns="46800" rIns="90000" bIns="46800" anchor="ctr" anchorCtr="0"/>
          <a:lstStyle/>
          <a:p>
            <a:pPr lvl="0" algn="ctr" eaLnBrk="0" hangingPunct="0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Harmony Text" pitchFamily="34" charset="0"/>
                <a:ea typeface="宋体" panose="02010600030101010101" pitchFamily="2" charset="-122"/>
              </a:rPr>
              <a:t>厦门大学信息学院</a:t>
            </a:r>
            <a:endParaRPr lang="zh-CN" altLang="en-US" sz="1400" dirty="0">
              <a:solidFill>
                <a:schemeClr val="bg1"/>
              </a:solidFill>
              <a:latin typeface="Harmony Text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 Box 11"/>
          <p:cNvSpPr txBox="1"/>
          <p:nvPr userDrawn="1"/>
        </p:nvSpPr>
        <p:spPr>
          <a:xfrm>
            <a:off x="0" y="6337935"/>
            <a:ext cx="1371600" cy="520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algn="ctr" eaLnBrk="1" hangingPunct="1">
              <a:spcBef>
                <a:spcPct val="50000"/>
              </a:spcBef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第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07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章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5" name="Text Box 12"/>
          <p:cNvSpPr txBox="1"/>
          <p:nvPr userDrawn="1"/>
        </p:nvSpPr>
        <p:spPr>
          <a:xfrm>
            <a:off x="2642870" y="6344920"/>
            <a:ext cx="1626870" cy="3879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zh-CN" alt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面向对象程序设计</a:t>
            </a:r>
            <a:endParaRPr lang="zh-CN" altLang="en-US" sz="1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9525" y="513373"/>
            <a:ext cx="9144000" cy="0"/>
          </a:xfrm>
          <a:prstGeom prst="line">
            <a:avLst/>
          </a:prstGeom>
          <a:solidFill>
            <a:srgbClr val="0B5FD1"/>
          </a:solidFill>
          <a:ln w="38100">
            <a:solidFill>
              <a:srgbClr val="0766D4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 userDrawn="1"/>
        </p:nvSpPr>
        <p:spPr>
          <a:xfrm>
            <a:off x="1764030" y="33020"/>
            <a:ext cx="5589905" cy="480060"/>
          </a:xfrm>
          <a:prstGeom prst="roundRect">
            <a:avLst>
              <a:gd name="adj" fmla="val 32539"/>
            </a:avLst>
          </a:prstGeom>
          <a:solidFill>
            <a:srgbClr val="0B5FD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第</a:t>
            </a:r>
            <a:r>
              <a:rPr lang="en-US" altLang="zh-CN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7</a:t>
            </a:r>
            <a:r>
              <a:rPr lang="zh-CN" altLang="en-US" sz="2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宋体" panose="02010600030101010101" pitchFamily="2" charset="-122"/>
                <a:sym typeface="宋体" panose="02010600030101010101" pitchFamily="2" charset="-122"/>
              </a:rPr>
              <a:t>章 继承</a:t>
            </a:r>
            <a:endParaRPr lang="zh-CN" altLang="en-US" sz="2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" name="前凸带形 2"/>
          <p:cNvSpPr/>
          <p:nvPr userDrawn="1"/>
        </p:nvSpPr>
        <p:spPr>
          <a:xfrm>
            <a:off x="10160" y="44450"/>
            <a:ext cx="1255395" cy="466090"/>
          </a:xfrm>
          <a:prstGeom prst="ribbon">
            <a:avLst/>
          </a:prstGeom>
          <a:solidFill>
            <a:srgbClr val="0B5FD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4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kumimoji="0" lang="en-US" altLang="zh-CN" sz="14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532495" y="0"/>
            <a:ext cx="485140" cy="48387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anose="020B060402020202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¢"/>
        <a:defRPr sz="30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Wingdings" panose="05000000000000000000" pitchFamily="2" charset="2"/>
        <a:buChar char="–"/>
        <a:defRPr sz="2800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2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•"/>
        <a:defRPr sz="2000">
          <a:solidFill>
            <a:schemeClr val="tx2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6.xml"/><Relationship Id="rId7" Type="http://schemas.openxmlformats.org/officeDocument/2006/relationships/image" Target="../media/image10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9.png"/><Relationship Id="rId3" Type="http://schemas.openxmlformats.org/officeDocument/2006/relationships/tags" Target="../tags/tag3.xml"/><Relationship Id="rId2" Type="http://schemas.openxmlformats.org/officeDocument/2006/relationships/image" Target="../media/image8.png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2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2.xml"/><Relationship Id="rId4" Type="http://schemas.openxmlformats.org/officeDocument/2006/relationships/image" Target="../media/image13.png"/><Relationship Id="rId3" Type="http://schemas.openxmlformats.org/officeDocument/2006/relationships/tags" Target="../tags/tag11.xml"/><Relationship Id="rId2" Type="http://schemas.openxmlformats.org/officeDocument/2006/relationships/image" Target="../media/image12.png"/><Relationship Id="rId1" Type="http://schemas.openxmlformats.org/officeDocument/2006/relationships/tags" Target="../tags/tag10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tags" Target="../tags/tag14.xml"/><Relationship Id="rId2" Type="http://schemas.openxmlformats.org/officeDocument/2006/relationships/image" Target="../media/image14.png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1114425" y="2492375"/>
            <a:ext cx="3744913" cy="2100263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en-US" altLang="zh-CN" sz="2800" b="1" dirty="0"/>
              <a:t>7.1 </a:t>
            </a:r>
            <a:r>
              <a:rPr lang="zh-CN" altLang="zh-CN" sz="2800" b="1" dirty="0"/>
              <a:t>继承的概念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7.2 </a:t>
            </a:r>
            <a:r>
              <a:rPr lang="zh-CN" altLang="zh-CN" sz="2800" b="1" dirty="0"/>
              <a:t>单继承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/>
              <a:t>7.3 </a:t>
            </a:r>
            <a:r>
              <a:rPr lang="zh-CN" altLang="zh-CN" sz="2800" b="1" dirty="0"/>
              <a:t>虚函数与动态绑定</a:t>
            </a:r>
            <a:endParaRPr lang="zh-CN" altLang="zh-CN" sz="2800" b="1" dirty="0"/>
          </a:p>
          <a:p>
            <a:pPr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7.4 </a:t>
            </a:r>
            <a:r>
              <a:rPr lang="zh-CN" altLang="zh-CN" sz="2800" b="1" dirty="0">
                <a:solidFill>
                  <a:srgbClr val="0070C0"/>
                </a:solidFill>
              </a:rPr>
              <a:t>多继承</a:t>
            </a:r>
            <a:endParaRPr lang="zh-CN" altLang="zh-CN" sz="2800" b="1" dirty="0">
              <a:solidFill>
                <a:srgbClr val="0070C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8" name="Rectangle 2"/>
          <p:cNvSpPr>
            <a:spLocks noGrp="1"/>
          </p:cNvSpPr>
          <p:nvPr/>
        </p:nvSpPr>
        <p:spPr>
          <a:xfrm>
            <a:off x="2051685" y="692150"/>
            <a:ext cx="6831013" cy="17526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/>
            <a:r>
              <a:rPr lang="zh-CN" altLang="zh-CN" sz="5400" b="1" dirty="0"/>
              <a:t>第</a:t>
            </a:r>
            <a:r>
              <a:rPr lang="zh-CN" altLang="en-US" sz="5400" b="1" dirty="0"/>
              <a:t>七</a:t>
            </a:r>
            <a:r>
              <a:rPr lang="zh-CN" altLang="zh-CN" sz="5400" b="1" dirty="0"/>
              <a:t>章 </a:t>
            </a:r>
            <a:r>
              <a:rPr lang="en-US" altLang="zh-CN" sz="5400" b="1" dirty="0"/>
              <a:t> </a:t>
            </a:r>
            <a:r>
              <a:rPr lang="zh-CN" altLang="zh-CN" sz="5400" b="1" dirty="0"/>
              <a:t>继承</a:t>
            </a:r>
            <a:endParaRPr lang="zh-CN" altLang="zh-CN" sz="5400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95288" y="2420938"/>
            <a:ext cx="8280400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补充：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t>虚基类在编译器中的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+mn-cs"/>
              </a:rPr>
              <a:t>实现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为什么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虚基类的构造函数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在最新派生出的类中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+mn-cs"/>
              </a:rPr>
              <a:t>优先执行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t>虚函数和虚基类的共同点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楷体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楷体" panose="02010609060101010101" pitchFamily="49" charset="-122"/>
                <a:cs typeface="+mn-cs"/>
              </a:rPr>
              <a:t>virtual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ea typeface="楷体" panose="02010609060101010101" pitchFamily="49" charset="-122"/>
                <a:cs typeface="+mn-cs"/>
              </a:rPr>
              <a:t>）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楷体" panose="02010609060101010101" pitchFamily="49" charset="-122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700" y="1628800"/>
            <a:ext cx="3867150" cy="4457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2225" y="1989138"/>
            <a:ext cx="5508625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VC++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中查看类成员的内存分布：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右键点击类的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cpp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文件 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-&gt; 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选择“属性”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在弹出界面中选择“命令行”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+mj-lt"/>
              <a:buAutoNum type="arabicPeriod"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输入命令</a:t>
            </a: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 /d1 reportAllClassLayout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+mj-lt"/>
              <a:buAutoNum type="arabicPeriod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197" name="矩形 8"/>
          <p:cNvSpPr/>
          <p:nvPr/>
        </p:nvSpPr>
        <p:spPr>
          <a:xfrm>
            <a:off x="7092950" y="5013350"/>
            <a:ext cx="2016125" cy="93503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8198" name="直接箭头连接符 11"/>
          <p:cNvCxnSpPr/>
          <p:nvPr/>
        </p:nvCxnSpPr>
        <p:spPr>
          <a:xfrm>
            <a:off x="3276600" y="3357563"/>
            <a:ext cx="3816350" cy="1799629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pic>
        <p:nvPicPr>
          <p:cNvPr id="1024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3562350"/>
            <a:ext cx="6391275" cy="2343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95288" y="1916113"/>
            <a:ext cx="5545138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例：派生类覆盖基类的虚函数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245" name="矩形 5"/>
          <p:cNvSpPr/>
          <p:nvPr/>
        </p:nvSpPr>
        <p:spPr>
          <a:xfrm>
            <a:off x="5294313" y="4762500"/>
            <a:ext cx="1223962" cy="72072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0246" name="矩形 6"/>
          <p:cNvSpPr/>
          <p:nvPr/>
        </p:nvSpPr>
        <p:spPr>
          <a:xfrm>
            <a:off x="5788025" y="3965575"/>
            <a:ext cx="495300" cy="17303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0247" name="矩形 8"/>
          <p:cNvSpPr/>
          <p:nvPr/>
        </p:nvSpPr>
        <p:spPr>
          <a:xfrm>
            <a:off x="5059363" y="3490913"/>
            <a:ext cx="2087562" cy="234315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0248" name="直接箭头连接符 9"/>
          <p:cNvCxnSpPr/>
          <p:nvPr/>
        </p:nvCxnSpPr>
        <p:spPr>
          <a:xfrm flipH="1">
            <a:off x="6311900" y="4052888"/>
            <a:ext cx="966788" cy="0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10249" name="直接箭头连接符 15"/>
          <p:cNvCxnSpPr/>
          <p:nvPr/>
        </p:nvCxnSpPr>
        <p:spPr>
          <a:xfrm flipH="1">
            <a:off x="6537325" y="5116513"/>
            <a:ext cx="969963" cy="6350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10250" name="直接箭头连接符 21"/>
          <p:cNvCxnSpPr/>
          <p:nvPr/>
        </p:nvCxnSpPr>
        <p:spPr>
          <a:xfrm flipH="1">
            <a:off x="5495925" y="2865438"/>
            <a:ext cx="820738" cy="606425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0251" name="文本框 23"/>
          <p:cNvSpPr txBox="1"/>
          <p:nvPr/>
        </p:nvSpPr>
        <p:spPr>
          <a:xfrm>
            <a:off x="6300788" y="2627313"/>
            <a:ext cx="2182812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类</a:t>
            </a:r>
            <a:r>
              <a:rPr lang="en-US" altLang="zh-CN" sz="1800" b="1" dirty="0">
                <a:solidFill>
                  <a:schemeClr val="tx1"/>
                </a:solidFill>
              </a:rPr>
              <a:t>B</a:t>
            </a:r>
            <a:r>
              <a:rPr lang="zh-CN" altLang="en-US" sz="1800" b="1" dirty="0">
                <a:solidFill>
                  <a:schemeClr val="tx1"/>
                </a:solidFill>
              </a:rPr>
              <a:t>成员的内存分布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0252" name="文本框 24"/>
          <p:cNvSpPr txBox="1"/>
          <p:nvPr/>
        </p:nvSpPr>
        <p:spPr>
          <a:xfrm>
            <a:off x="7235825" y="3851275"/>
            <a:ext cx="1597025" cy="646331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隐藏指针</a:t>
            </a:r>
            <a:r>
              <a:rPr lang="en-US" altLang="zh-CN" sz="1800" b="1" dirty="0">
                <a:solidFill>
                  <a:schemeClr val="tx1"/>
                </a:solidFill>
              </a:rPr>
              <a:t>vfptr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0253" name="文本框 25"/>
          <p:cNvSpPr txBox="1"/>
          <p:nvPr/>
        </p:nvSpPr>
        <p:spPr>
          <a:xfrm>
            <a:off x="7451725" y="4932363"/>
            <a:ext cx="11334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虚函数表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0254" name="直接箭头连接符 29"/>
          <p:cNvCxnSpPr/>
          <p:nvPr/>
        </p:nvCxnSpPr>
        <p:spPr>
          <a:xfrm>
            <a:off x="6199188" y="4138613"/>
            <a:ext cx="0" cy="623887"/>
          </a:xfrm>
          <a:prstGeom prst="straightConnector1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50" y="1873027"/>
            <a:ext cx="6429375" cy="4162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95288" y="1196752"/>
            <a:ext cx="51847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例：重复继承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293" name="矩形 5"/>
          <p:cNvSpPr/>
          <p:nvPr/>
        </p:nvSpPr>
        <p:spPr>
          <a:xfrm>
            <a:off x="4787900" y="5292502"/>
            <a:ext cx="2263775" cy="50006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2294" name="矩形 6"/>
          <p:cNvSpPr/>
          <p:nvPr/>
        </p:nvSpPr>
        <p:spPr>
          <a:xfrm>
            <a:off x="5410200" y="3435127"/>
            <a:ext cx="501650" cy="179387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2295" name="直接箭头连接符 15"/>
          <p:cNvCxnSpPr/>
          <p:nvPr/>
        </p:nvCxnSpPr>
        <p:spPr>
          <a:xfrm flipH="1">
            <a:off x="5921375" y="3960589"/>
            <a:ext cx="379413" cy="585788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2296" name="文本框 25"/>
          <p:cNvSpPr txBox="1"/>
          <p:nvPr/>
        </p:nvSpPr>
        <p:spPr>
          <a:xfrm>
            <a:off x="6253163" y="3592289"/>
            <a:ext cx="243681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从</a:t>
            </a:r>
            <a:r>
              <a:rPr lang="en-US" altLang="zh-CN" sz="1800" b="1" dirty="0">
                <a:solidFill>
                  <a:schemeClr val="tx1"/>
                </a:solidFill>
              </a:rPr>
              <a:t>B</a:t>
            </a:r>
            <a:r>
              <a:rPr lang="zh-CN" altLang="en-US" sz="1800" b="1" dirty="0">
                <a:solidFill>
                  <a:schemeClr val="tx1"/>
                </a:solidFill>
              </a:rPr>
              <a:t>继承来的虚函数表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2297" name="矩形 14"/>
          <p:cNvSpPr/>
          <p:nvPr/>
        </p:nvSpPr>
        <p:spPr>
          <a:xfrm>
            <a:off x="4787900" y="4570189"/>
            <a:ext cx="1192213" cy="6350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2298" name="矩形 16"/>
          <p:cNvSpPr/>
          <p:nvPr/>
        </p:nvSpPr>
        <p:spPr>
          <a:xfrm>
            <a:off x="5413375" y="2433414"/>
            <a:ext cx="501650" cy="17938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2299" name="矩形 26"/>
          <p:cNvSpPr/>
          <p:nvPr/>
        </p:nvSpPr>
        <p:spPr>
          <a:xfrm>
            <a:off x="5176838" y="5038502"/>
            <a:ext cx="528637" cy="127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2300" name="直接箭头连接符 30"/>
          <p:cNvCxnSpPr/>
          <p:nvPr/>
        </p:nvCxnSpPr>
        <p:spPr>
          <a:xfrm flipH="1">
            <a:off x="6411913" y="4519389"/>
            <a:ext cx="463550" cy="754063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2301" name="文本框 31"/>
          <p:cNvSpPr txBox="1"/>
          <p:nvPr/>
        </p:nvSpPr>
        <p:spPr>
          <a:xfrm>
            <a:off x="6253163" y="4149502"/>
            <a:ext cx="2436812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从</a:t>
            </a:r>
            <a:r>
              <a:rPr lang="en-US" altLang="zh-CN" sz="1800" b="1" dirty="0">
                <a:solidFill>
                  <a:schemeClr val="tx1"/>
                </a:solidFill>
              </a:rPr>
              <a:t>C</a:t>
            </a:r>
            <a:r>
              <a:rPr lang="zh-CN" altLang="en-US" sz="1800" b="1" dirty="0">
                <a:solidFill>
                  <a:schemeClr val="tx1"/>
                </a:solidFill>
              </a:rPr>
              <a:t>继承来的虚函数表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2302" name="矩形 43"/>
          <p:cNvSpPr/>
          <p:nvPr/>
        </p:nvSpPr>
        <p:spPr>
          <a:xfrm>
            <a:off x="6202363" y="5587777"/>
            <a:ext cx="766762" cy="165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838" y="2790825"/>
            <a:ext cx="6115050" cy="3305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27038" y="1916113"/>
            <a:ext cx="488632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例：继承虚基类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4341" name="矩形 5"/>
          <p:cNvSpPr/>
          <p:nvPr/>
        </p:nvSpPr>
        <p:spPr>
          <a:xfrm>
            <a:off x="4178300" y="4910138"/>
            <a:ext cx="1585913" cy="503237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42" name="矩形 6"/>
          <p:cNvSpPr/>
          <p:nvPr/>
        </p:nvSpPr>
        <p:spPr>
          <a:xfrm>
            <a:off x="4525963" y="3779838"/>
            <a:ext cx="492125" cy="177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4343" name="直接箭头连接符 15"/>
          <p:cNvCxnSpPr>
            <a:stCxn id="14344" idx="1"/>
          </p:cNvCxnSpPr>
          <p:nvPr/>
        </p:nvCxnSpPr>
        <p:spPr>
          <a:xfrm flipH="1">
            <a:off x="5416550" y="4587875"/>
            <a:ext cx="1597025" cy="0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4344" name="文本框 25"/>
          <p:cNvSpPr txBox="1"/>
          <p:nvPr/>
        </p:nvSpPr>
        <p:spPr>
          <a:xfrm>
            <a:off x="7013575" y="4402138"/>
            <a:ext cx="1141413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虚基类表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45" name="矩形 14"/>
          <p:cNvSpPr/>
          <p:nvPr/>
        </p:nvSpPr>
        <p:spPr>
          <a:xfrm>
            <a:off x="4178300" y="4368800"/>
            <a:ext cx="1223963" cy="4826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46" name="矩形 16"/>
          <p:cNvSpPr/>
          <p:nvPr/>
        </p:nvSpPr>
        <p:spPr>
          <a:xfrm>
            <a:off x="4525963" y="3057525"/>
            <a:ext cx="492125" cy="173038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47" name="文本框 18"/>
          <p:cNvSpPr txBox="1"/>
          <p:nvPr/>
        </p:nvSpPr>
        <p:spPr>
          <a:xfrm>
            <a:off x="6985000" y="2968625"/>
            <a:ext cx="17367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隐藏指针</a:t>
            </a:r>
            <a:r>
              <a:rPr lang="en-US" altLang="zh-CN" sz="1800" b="1" dirty="0">
                <a:solidFill>
                  <a:schemeClr val="tx1"/>
                </a:solidFill>
              </a:rPr>
              <a:t>vbptr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4348" name="直接箭头连接符 20"/>
          <p:cNvCxnSpPr>
            <a:stCxn id="14347" idx="1"/>
          </p:cNvCxnSpPr>
          <p:nvPr/>
        </p:nvCxnSpPr>
        <p:spPr>
          <a:xfrm flipH="1">
            <a:off x="5032375" y="3154363"/>
            <a:ext cx="1952625" cy="0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4349" name="矩形 17"/>
          <p:cNvSpPr/>
          <p:nvPr/>
        </p:nvSpPr>
        <p:spPr>
          <a:xfrm>
            <a:off x="4379913" y="3648075"/>
            <a:ext cx="1357312" cy="54133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4350" name="连接符: 肘形 5"/>
          <p:cNvCxnSpPr/>
          <p:nvPr/>
        </p:nvCxnSpPr>
        <p:spPr>
          <a:xfrm rot="-5400000" flipH="1">
            <a:off x="3041650" y="3592513"/>
            <a:ext cx="1582738" cy="679450"/>
          </a:xfrm>
          <a:prstGeom prst="bentConnector3">
            <a:avLst>
              <a:gd name="adj1" fmla="val 99954"/>
            </a:avLst>
          </a:prstGeom>
          <a:ln w="1524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351" name="直接连接符 23"/>
          <p:cNvCxnSpPr/>
          <p:nvPr/>
        </p:nvCxnSpPr>
        <p:spPr>
          <a:xfrm>
            <a:off x="3494088" y="3148013"/>
            <a:ext cx="1036637" cy="0"/>
          </a:xfrm>
          <a:prstGeom prst="line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352" name="直接连接符 73"/>
          <p:cNvCxnSpPr/>
          <p:nvPr/>
        </p:nvCxnSpPr>
        <p:spPr>
          <a:xfrm>
            <a:off x="5027613" y="3868738"/>
            <a:ext cx="1250950" cy="0"/>
          </a:xfrm>
          <a:prstGeom prst="line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353" name="直接箭头连接符 21"/>
          <p:cNvCxnSpPr/>
          <p:nvPr/>
        </p:nvCxnSpPr>
        <p:spPr>
          <a:xfrm flipH="1">
            <a:off x="5776913" y="5310188"/>
            <a:ext cx="501650" cy="0"/>
          </a:xfrm>
          <a:prstGeom prst="straightConnector1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4354" name="直接连接符 86"/>
          <p:cNvCxnSpPr/>
          <p:nvPr/>
        </p:nvCxnSpPr>
        <p:spPr>
          <a:xfrm>
            <a:off x="6278563" y="3856038"/>
            <a:ext cx="0" cy="1458912"/>
          </a:xfrm>
          <a:prstGeom prst="line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355" name="矩形 6"/>
          <p:cNvSpPr/>
          <p:nvPr/>
        </p:nvSpPr>
        <p:spPr>
          <a:xfrm>
            <a:off x="4518025" y="4652963"/>
            <a:ext cx="795338" cy="144462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4356" name="文本框 18"/>
          <p:cNvSpPr txBox="1"/>
          <p:nvPr/>
        </p:nvSpPr>
        <p:spPr>
          <a:xfrm>
            <a:off x="6992938" y="3536950"/>
            <a:ext cx="15668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虚基类的成员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4357" name="直接箭头连接符 20"/>
          <p:cNvCxnSpPr/>
          <p:nvPr/>
        </p:nvCxnSpPr>
        <p:spPr>
          <a:xfrm flipH="1">
            <a:off x="5741988" y="3730625"/>
            <a:ext cx="1271587" cy="0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4358" name="箭头: 上 87"/>
          <p:cNvSpPr/>
          <p:nvPr/>
        </p:nvSpPr>
        <p:spPr>
          <a:xfrm>
            <a:off x="5076825" y="4198938"/>
            <a:ext cx="147638" cy="454025"/>
          </a:xfrm>
          <a:prstGeom prst="upArrow">
            <a:avLst>
              <a:gd name="adj1" fmla="val 50000"/>
              <a:gd name="adj2" fmla="val 50343"/>
            </a:avLst>
          </a:prstGeom>
          <a:solidFill>
            <a:srgbClr val="0000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50" y="1901602"/>
            <a:ext cx="6286500" cy="4171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9388" y="1196752"/>
            <a:ext cx="7848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例：解决重复继承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389" name="矩形 5"/>
          <p:cNvSpPr/>
          <p:nvPr/>
        </p:nvSpPr>
        <p:spPr>
          <a:xfrm>
            <a:off x="4803775" y="5622702"/>
            <a:ext cx="1516063" cy="48895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90" name="矩形 6"/>
          <p:cNvSpPr/>
          <p:nvPr/>
        </p:nvSpPr>
        <p:spPr>
          <a:xfrm>
            <a:off x="5278438" y="2898552"/>
            <a:ext cx="492125" cy="177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6391" name="直接箭头连接符 15"/>
          <p:cNvCxnSpPr/>
          <p:nvPr/>
        </p:nvCxnSpPr>
        <p:spPr>
          <a:xfrm flipH="1">
            <a:off x="6534150" y="3843115"/>
            <a:ext cx="676275" cy="0"/>
          </a:xfrm>
          <a:prstGeom prst="straightConnector1">
            <a:avLst/>
          </a:prstGeom>
          <a:ln w="12700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6392" name="文本框 25"/>
          <p:cNvSpPr txBox="1"/>
          <p:nvPr/>
        </p:nvSpPr>
        <p:spPr>
          <a:xfrm>
            <a:off x="7210425" y="3649440"/>
            <a:ext cx="182562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虚基类</a:t>
            </a:r>
            <a:r>
              <a:rPr lang="en-US" altLang="zh-CN" sz="1800" b="1" dirty="0">
                <a:solidFill>
                  <a:schemeClr val="tx1"/>
                </a:solidFill>
              </a:rPr>
              <a:t>A</a:t>
            </a:r>
            <a:r>
              <a:rPr lang="zh-CN" altLang="en-US" sz="1800" b="1" dirty="0">
                <a:solidFill>
                  <a:schemeClr val="tx1"/>
                </a:solidFill>
              </a:rPr>
              <a:t>的成员</a:t>
            </a:r>
            <a:endParaRPr lang="en-US" altLang="zh-CN" sz="1800" b="1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只有一份拷贝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93" name="矩形 14"/>
          <p:cNvSpPr/>
          <p:nvPr/>
        </p:nvSpPr>
        <p:spPr>
          <a:xfrm>
            <a:off x="5030788" y="3758977"/>
            <a:ext cx="1503362" cy="54768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94" name="矩形 16"/>
          <p:cNvSpPr/>
          <p:nvPr/>
        </p:nvSpPr>
        <p:spPr>
          <a:xfrm>
            <a:off x="5278438" y="2320702"/>
            <a:ext cx="503237" cy="1809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95" name="矩形 37"/>
          <p:cNvSpPr/>
          <p:nvPr/>
        </p:nvSpPr>
        <p:spPr>
          <a:xfrm>
            <a:off x="4810125" y="4476527"/>
            <a:ext cx="1503363" cy="498475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96" name="矩形 6"/>
          <p:cNvSpPr/>
          <p:nvPr/>
        </p:nvSpPr>
        <p:spPr>
          <a:xfrm>
            <a:off x="5153025" y="4754340"/>
            <a:ext cx="795338" cy="182562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97" name="矩形 6"/>
          <p:cNvSpPr/>
          <p:nvPr/>
        </p:nvSpPr>
        <p:spPr>
          <a:xfrm>
            <a:off x="5159375" y="5329015"/>
            <a:ext cx="795338" cy="180975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16398" name="矩形 6"/>
          <p:cNvSpPr/>
          <p:nvPr/>
        </p:nvSpPr>
        <p:spPr>
          <a:xfrm>
            <a:off x="5170488" y="3903440"/>
            <a:ext cx="492125" cy="177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6399" name="连接符: 肘形 23"/>
          <p:cNvCxnSpPr/>
          <p:nvPr/>
        </p:nvCxnSpPr>
        <p:spPr>
          <a:xfrm rot="-5400000" flipH="1">
            <a:off x="3254375" y="3868515"/>
            <a:ext cx="2478088" cy="604837"/>
          </a:xfrm>
          <a:prstGeom prst="bentConnector3">
            <a:avLst>
              <a:gd name="adj1" fmla="val 99986"/>
            </a:avLst>
          </a:prstGeom>
          <a:ln w="1524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00" name="直接连接符 24"/>
          <p:cNvCxnSpPr/>
          <p:nvPr/>
        </p:nvCxnSpPr>
        <p:spPr>
          <a:xfrm>
            <a:off x="4183063" y="2933477"/>
            <a:ext cx="1096962" cy="0"/>
          </a:xfrm>
          <a:prstGeom prst="line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6401" name="矩形 37"/>
          <p:cNvSpPr/>
          <p:nvPr/>
        </p:nvSpPr>
        <p:spPr>
          <a:xfrm>
            <a:off x="4808538" y="5035327"/>
            <a:ext cx="1503362" cy="52228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6402" name="连接符: 肘形 29"/>
          <p:cNvCxnSpPr/>
          <p:nvPr/>
        </p:nvCxnSpPr>
        <p:spPr>
          <a:xfrm rot="-5400000" flipH="1">
            <a:off x="3165475" y="3220815"/>
            <a:ext cx="2384425" cy="862012"/>
          </a:xfrm>
          <a:prstGeom prst="bentConnector3">
            <a:avLst>
              <a:gd name="adj1" fmla="val 100051"/>
            </a:avLst>
          </a:prstGeom>
          <a:ln w="1524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03" name="直接连接符 30"/>
          <p:cNvCxnSpPr/>
          <p:nvPr/>
        </p:nvCxnSpPr>
        <p:spPr>
          <a:xfrm>
            <a:off x="3919538" y="2458815"/>
            <a:ext cx="1365250" cy="0"/>
          </a:xfrm>
          <a:prstGeom prst="line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404" name="直接连接符 39"/>
          <p:cNvCxnSpPr/>
          <p:nvPr/>
        </p:nvCxnSpPr>
        <p:spPr>
          <a:xfrm>
            <a:off x="5656263" y="3987577"/>
            <a:ext cx="1038225" cy="0"/>
          </a:xfrm>
          <a:prstGeom prst="line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405" name="直接箭头连接符 21"/>
          <p:cNvCxnSpPr/>
          <p:nvPr/>
        </p:nvCxnSpPr>
        <p:spPr>
          <a:xfrm flipH="1">
            <a:off x="6334125" y="5995765"/>
            <a:ext cx="360363" cy="0"/>
          </a:xfrm>
          <a:prstGeom prst="straightConnector1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6406" name="直接连接符 41"/>
          <p:cNvCxnSpPr/>
          <p:nvPr/>
        </p:nvCxnSpPr>
        <p:spPr>
          <a:xfrm>
            <a:off x="6689725" y="3989165"/>
            <a:ext cx="0" cy="2006600"/>
          </a:xfrm>
          <a:prstGeom prst="line">
            <a:avLst/>
          </a:prstGeom>
          <a:ln w="1524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6407" name="箭头: 上 49"/>
          <p:cNvSpPr/>
          <p:nvPr/>
        </p:nvSpPr>
        <p:spPr>
          <a:xfrm>
            <a:off x="5737225" y="4320952"/>
            <a:ext cx="100013" cy="431800"/>
          </a:xfrm>
          <a:prstGeom prst="upArrow">
            <a:avLst>
              <a:gd name="adj1" fmla="val 50000"/>
              <a:gd name="adj2" fmla="val 50370"/>
            </a:avLst>
          </a:prstGeom>
          <a:solidFill>
            <a:srgbClr val="0000FF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20" name="箭头: 直角上 19"/>
          <p:cNvSpPr/>
          <p:nvPr/>
        </p:nvSpPr>
        <p:spPr bwMode="auto">
          <a:xfrm>
            <a:off x="5948363" y="4320952"/>
            <a:ext cx="203200" cy="1127125"/>
          </a:xfrm>
          <a:prstGeom prst="bentUpArrow">
            <a:avLst/>
          </a:prstGeom>
          <a:solidFill>
            <a:srgbClr val="00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6409" name="文本框 18"/>
          <p:cNvSpPr txBox="1"/>
          <p:nvPr/>
        </p:nvSpPr>
        <p:spPr>
          <a:xfrm>
            <a:off x="6718300" y="2223865"/>
            <a:ext cx="20034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从</a:t>
            </a:r>
            <a:r>
              <a:rPr lang="en-US" altLang="zh-CN" sz="1800" b="1" dirty="0">
                <a:solidFill>
                  <a:schemeClr val="tx1"/>
                </a:solidFill>
              </a:rPr>
              <a:t>B</a:t>
            </a:r>
            <a:r>
              <a:rPr lang="zh-CN" altLang="en-US" sz="1800" b="1" dirty="0">
                <a:solidFill>
                  <a:schemeClr val="tx1"/>
                </a:solidFill>
              </a:rPr>
              <a:t>继承的</a:t>
            </a:r>
            <a:r>
              <a:rPr lang="en-US" altLang="zh-CN" sz="1800" b="1" dirty="0">
                <a:solidFill>
                  <a:schemeClr val="tx1"/>
                </a:solidFill>
              </a:rPr>
              <a:t>vbptr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6410" name="直接箭头连接符 20"/>
          <p:cNvCxnSpPr>
            <a:stCxn id="16409" idx="1"/>
          </p:cNvCxnSpPr>
          <p:nvPr/>
        </p:nvCxnSpPr>
        <p:spPr>
          <a:xfrm flipH="1">
            <a:off x="5781675" y="2408015"/>
            <a:ext cx="936625" cy="0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6411" name="文本框 18"/>
          <p:cNvSpPr txBox="1"/>
          <p:nvPr/>
        </p:nvSpPr>
        <p:spPr>
          <a:xfrm>
            <a:off x="6713538" y="2803302"/>
            <a:ext cx="20034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从</a:t>
            </a:r>
            <a:r>
              <a:rPr lang="en-US" altLang="zh-CN" sz="1800" b="1" dirty="0">
                <a:solidFill>
                  <a:schemeClr val="tx1"/>
                </a:solidFill>
              </a:rPr>
              <a:t>C</a:t>
            </a:r>
            <a:r>
              <a:rPr lang="zh-CN" altLang="en-US" sz="1800" b="1" dirty="0">
                <a:solidFill>
                  <a:schemeClr val="tx1"/>
                </a:solidFill>
              </a:rPr>
              <a:t>继承的</a:t>
            </a:r>
            <a:r>
              <a:rPr lang="en-US" altLang="zh-CN" sz="1800" b="1" dirty="0">
                <a:solidFill>
                  <a:schemeClr val="tx1"/>
                </a:solidFill>
              </a:rPr>
              <a:t>vbptr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6412" name="直接箭头连接符 20"/>
          <p:cNvCxnSpPr>
            <a:stCxn id="16411" idx="1"/>
          </p:cNvCxnSpPr>
          <p:nvPr/>
        </p:nvCxnSpPr>
        <p:spPr>
          <a:xfrm flipH="1">
            <a:off x="5776913" y="2987452"/>
            <a:ext cx="936625" cy="0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6413" name="文本框 18"/>
          <p:cNvSpPr txBox="1"/>
          <p:nvPr/>
        </p:nvSpPr>
        <p:spPr>
          <a:xfrm>
            <a:off x="6845300" y="4543202"/>
            <a:ext cx="219075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从</a:t>
            </a:r>
            <a:r>
              <a:rPr lang="en-US" altLang="zh-CN" sz="1800" b="1" dirty="0">
                <a:solidFill>
                  <a:schemeClr val="tx1"/>
                </a:solidFill>
              </a:rPr>
              <a:t>B</a:t>
            </a:r>
            <a:r>
              <a:rPr lang="zh-CN" altLang="en-US" sz="1800" b="1" dirty="0">
                <a:solidFill>
                  <a:schemeClr val="tx1"/>
                </a:solidFill>
              </a:rPr>
              <a:t>继承的虚基类表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6414" name="直接箭头连接符 20"/>
          <p:cNvCxnSpPr>
            <a:stCxn id="16413" idx="1"/>
          </p:cNvCxnSpPr>
          <p:nvPr/>
        </p:nvCxnSpPr>
        <p:spPr>
          <a:xfrm flipH="1">
            <a:off x="6324600" y="4728940"/>
            <a:ext cx="520700" cy="3175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6415" name="文本框 18"/>
          <p:cNvSpPr txBox="1"/>
          <p:nvPr/>
        </p:nvSpPr>
        <p:spPr>
          <a:xfrm>
            <a:off x="6846888" y="5124227"/>
            <a:ext cx="21923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tx1"/>
                </a:solidFill>
              </a:rPr>
              <a:t>从</a:t>
            </a:r>
            <a:r>
              <a:rPr lang="en-US" altLang="zh-CN" sz="1800" b="1" dirty="0">
                <a:solidFill>
                  <a:schemeClr val="tx1"/>
                </a:solidFill>
              </a:rPr>
              <a:t>C</a:t>
            </a:r>
            <a:r>
              <a:rPr lang="zh-CN" altLang="en-US" sz="1800" b="1" dirty="0">
                <a:solidFill>
                  <a:schemeClr val="tx1"/>
                </a:solidFill>
              </a:rPr>
              <a:t>继承的虚基类表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cxnSp>
        <p:nvCxnSpPr>
          <p:cNvPr id="16416" name="直接箭头连接符 20"/>
          <p:cNvCxnSpPr>
            <a:stCxn id="16415" idx="1"/>
          </p:cNvCxnSpPr>
          <p:nvPr/>
        </p:nvCxnSpPr>
        <p:spPr>
          <a:xfrm flipH="1">
            <a:off x="6327775" y="5308377"/>
            <a:ext cx="519113" cy="4763"/>
          </a:xfrm>
          <a:prstGeom prst="straightConnector1">
            <a:avLst/>
          </a:prstGeom>
          <a:ln w="9525" cap="flat" cmpd="sng">
            <a:solidFill>
              <a:srgbClr val="0070C0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475656" y="6161142"/>
            <a:ext cx="1295400" cy="45720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55650" y="2420938"/>
            <a:ext cx="7856538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t>在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t>C++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cs"/>
              </a:rPr>
              <a:t>中，以上要求的原因如下：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  <a:p>
            <a:pPr marL="40005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cs"/>
              </a:rPr>
              <a:t>从派生类成员的内存分布可以看出，它们的初始化顺序为：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  <a:p>
            <a:pPr marL="85725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cs"/>
              </a:rPr>
              <a:t>虚基类的数据成员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  <a:p>
            <a:pPr marL="85725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cs"/>
              </a:rPr>
              <a:t>虚基类表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  <a:p>
            <a:pPr marL="85725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AutoNum type="arabicPeriod"/>
              <a:defRPr/>
            </a:pPr>
            <a:r>
              <a:rPr kumimoji="0" lang="zh-CN" altLang="en-US" sz="22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cs typeface="+mn-cs"/>
              </a:rPr>
              <a:t>指向虚基类表的隐藏指针</a:t>
            </a:r>
            <a:endParaRPr kumimoji="0" lang="en-US" altLang="zh-CN" sz="2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en-US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ü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因此，虚基类的构造函数必须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优先执行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、且只能由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最新派生出的类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调用，才能实现上述顺序。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67995" y="1412558"/>
            <a:ext cx="7775575" cy="13477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虚基类的构造函数由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最新派生出的类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的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构造函数调用</a:t>
            </a:r>
            <a:endParaRPr kumimoji="0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虚基类的构造函数优先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于</a:t>
            </a:r>
            <a:r>
              <a:rPr kumimoji="0" lang="zh-CN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非虚基类的构造函数执行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_GB2312"/>
                <a:cs typeface="+mn-cs"/>
              </a:rPr>
              <a:t>   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楷体_GB2312"/>
              <a:cs typeface="+mn-cs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42888" y="2286000"/>
            <a:ext cx="8734425" cy="341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 sz="3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–"/>
              <a:defRPr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•"/>
              <a:defRPr sz="2000">
                <a:solidFill>
                  <a:schemeClr val="tx2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  <a:cs typeface="+mn-cs"/>
              </a:rPr>
              <a:t>小结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：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虚基类在编译器中的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实现原理：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457200" marR="0" lvl="1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6666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cs typeface="+mn-cs"/>
              </a:rPr>
              <a:t>虚基类表、及其隐藏指针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与虚函数的实现类似，因此都称为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virtual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：</a:t>
            </a: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概念上：它们的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“具体形态”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只有在运行时才能确定。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（只有见到最终派生类时，才能确定调用虚基类的哪个构造函数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）</a:t>
            </a: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内存中：对象的内存空间中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“看上去”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没有虚函数和虚基类。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（只有指向它们的隐藏指针</a:t>
            </a: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ea"/>
                <a:cs typeface="+mn-cs"/>
              </a:rPr>
              <a:t>）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619250" y="344488"/>
            <a:ext cx="6840538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7.4.n </a:t>
            </a:r>
            <a:r>
              <a:rPr kumimoji="0" lang="zh-CN" altLang="en-US" sz="4000" b="1" kern="0" cap="none" spc="0" normalizeH="0" baseline="0" noProof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+mn-cs"/>
              </a:rPr>
              <a:t>虚基类的实现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/>
          </p:cNvSpPr>
          <p:nvPr>
            <p:ph type="body"/>
          </p:nvPr>
        </p:nvSpPr>
        <p:spPr>
          <a:xfrm>
            <a:off x="536575" y="1534567"/>
            <a:ext cx="8067675" cy="4630737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zh-CN" sz="2800" b="1" dirty="0">
                <a:solidFill>
                  <a:srgbClr val="FF0000"/>
                </a:solidFill>
              </a:rPr>
              <a:t>聚集</a:t>
            </a:r>
            <a:r>
              <a:rPr lang="zh-CN" altLang="zh-CN" sz="2800" b="1" dirty="0"/>
              <a:t>把一个类作为另一个</a:t>
            </a:r>
            <a:r>
              <a:rPr lang="zh-CN" altLang="zh-CN" sz="2800" b="1" dirty="0">
                <a:solidFill>
                  <a:srgbClr val="0070C0"/>
                </a:solidFill>
              </a:rPr>
              <a:t>类的成员对象类</a:t>
            </a:r>
            <a:r>
              <a:rPr lang="zh-CN" altLang="zh-CN" sz="2800" b="1" dirty="0"/>
              <a:t>来使用</a:t>
            </a:r>
            <a:endParaRPr lang="zh-CN" altLang="zh-CN" sz="2800" b="1" dirty="0"/>
          </a:p>
          <a:p>
            <a:pPr lvl="1">
              <a:lnSpc>
                <a:spcPct val="80000"/>
              </a:lnSpc>
              <a:buNone/>
            </a:pPr>
            <a:endParaRPr lang="en-US" altLang="zh-CN" sz="2000" b="1" dirty="0"/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例如：class A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 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cs typeface="Times New Roman" panose="02020603050405020304" pitchFamily="18" charset="0"/>
              </a:rPr>
              <a:t>{ </a:t>
            </a:r>
            <a:r>
              <a:rPr lang="en-US" altLang="zh-CN" sz="2000" b="1" dirty="0">
                <a:cs typeface="Times New Roman" panose="02020603050405020304" pitchFamily="18" charset="0"/>
              </a:rPr>
              <a:t>  </a:t>
            </a:r>
            <a:r>
              <a:rPr lang="zh-CN" altLang="zh-CN" sz="2000" b="1" dirty="0">
                <a:cs typeface="Times New Roman" panose="02020603050405020304" pitchFamily="18" charset="0"/>
              </a:rPr>
              <a:t>public: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	  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    </a:t>
            </a:r>
            <a:r>
              <a:rPr lang="zh-CN" altLang="zh-CN" sz="2000" b="1" dirty="0">
                <a:cs typeface="Times New Roman" panose="02020603050405020304" pitchFamily="18" charset="0"/>
              </a:rPr>
              <a:t>void f();  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               ......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        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cs typeface="Times New Roman" panose="02020603050405020304" pitchFamily="18" charset="0"/>
              </a:rPr>
              <a:t>};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endParaRPr lang="en-US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class B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{		 A a; 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//定义一个A类的成员对象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，而不是继承关系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  </a:t>
            </a:r>
            <a:r>
              <a:rPr lang="en-US" altLang="zh-CN" sz="2000" b="1" dirty="0">
                <a:cs typeface="Times New Roman" panose="02020603050405020304" pitchFamily="18" charset="0"/>
              </a:rPr>
              <a:t>  </a:t>
            </a:r>
            <a:r>
              <a:rPr lang="zh-CN" altLang="zh-CN" sz="2000" b="1" dirty="0">
                <a:cs typeface="Times New Roman" panose="02020603050405020304" pitchFamily="18" charset="0"/>
              </a:rPr>
              <a:t>public: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		 void f() {  a.f();  } </a:t>
            </a:r>
            <a:r>
              <a:rPr lang="en-US" altLang="zh-CN" sz="2000" b="1" dirty="0">
                <a:cs typeface="Times New Roman" panose="02020603050405020304" pitchFamily="18" charset="0"/>
              </a:rPr>
              <a:t> </a:t>
            </a:r>
            <a:r>
              <a:rPr lang="zh-CN" altLang="zh-CN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//复用A的f实现B的f </a:t>
            </a:r>
            <a:endParaRPr lang="zh-CN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buNone/>
            </a:pPr>
            <a:r>
              <a:rPr lang="en-US" altLang="zh-CN" sz="2000" b="1" dirty="0">
                <a:cs typeface="Times New Roman" panose="02020603050405020304" pitchFamily="18" charset="0"/>
              </a:rPr>
              <a:t>    </a:t>
            </a:r>
            <a:r>
              <a:rPr lang="zh-CN" altLang="zh-CN" sz="2000" b="1" dirty="0">
                <a:cs typeface="Times New Roman" panose="02020603050405020304" pitchFamily="18" charset="0"/>
              </a:rPr>
              <a:t>......</a:t>
            </a:r>
            <a:endParaRPr lang="zh-CN" altLang="zh-CN" sz="2000" b="1" dirty="0">
              <a:cs typeface="Times New Roman" panose="02020603050405020304" pitchFamily="18" charset="0"/>
            </a:endParaRPr>
          </a:p>
          <a:p>
            <a:pPr lvl="1">
              <a:lnSpc>
                <a:spcPct val="80000"/>
              </a:lnSpc>
              <a:spcAft>
                <a:spcPts val="600"/>
              </a:spcAft>
              <a:buNone/>
            </a:pPr>
            <a:r>
              <a:rPr lang="zh-CN" altLang="zh-CN" sz="2000" b="1" dirty="0">
                <a:cs typeface="Times New Roman" panose="02020603050405020304" pitchFamily="18" charset="0"/>
              </a:rPr>
              <a:t>};</a:t>
            </a:r>
            <a:endParaRPr lang="zh-CN" altLang="zh-CN" sz="2000" b="1" dirty="0">
              <a:ea typeface="Times New Roman" panose="02020603050405020304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527175" y="360363"/>
            <a:ext cx="7402513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7.2.6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聚集关系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/>
          </p:cNvSpPr>
          <p:nvPr>
            <p:ph type="body"/>
          </p:nvPr>
        </p:nvSpPr>
        <p:spPr>
          <a:xfrm>
            <a:off x="684213" y="2144713"/>
            <a:ext cx="7816850" cy="3371850"/>
          </a:xfrm>
        </p:spPr>
        <p:txBody>
          <a:bodyPr vert="horz" wrap="square" lIns="91440" tIns="45720" rIns="91440" bIns="45720" anchor="t" anchorCtr="0"/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继承</a:t>
            </a:r>
            <a:r>
              <a:rPr lang="zh-CN" altLang="zh-CN" sz="2800" b="1" dirty="0"/>
              <a:t>与</a:t>
            </a:r>
            <a:r>
              <a:rPr lang="zh-CN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聚集</a:t>
            </a:r>
            <a:r>
              <a:rPr lang="zh-CN" altLang="zh-CN" sz="2800" b="1" dirty="0"/>
              <a:t>复用方式的比较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都可以实现软件复用</a:t>
            </a:r>
            <a:endParaRPr lang="en-US" altLang="zh-CN" sz="24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endParaRPr lang="en-US" altLang="zh-CN" sz="8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继承更容易实现</a:t>
            </a:r>
            <a:r>
              <a:rPr lang="zh-CN" altLang="en-US" sz="2400" b="1" dirty="0">
                <a:solidFill>
                  <a:srgbClr val="FF0000"/>
                </a:solidFill>
              </a:rPr>
              <a:t>子类型</a:t>
            </a:r>
            <a:r>
              <a:rPr lang="zh-CN" altLang="en-US" sz="2400" b="1" dirty="0"/>
              <a:t>功能</a:t>
            </a:r>
            <a:endParaRPr lang="en-US" altLang="zh-CN" sz="24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zh-CN" sz="2400" b="1" dirty="0">
                <a:solidFill>
                  <a:srgbClr val="FF0000"/>
                </a:solidFill>
              </a:rPr>
              <a:t>继承与封装存在矛盾，聚集则不存在与封装的矛盾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endParaRPr lang="en-US" altLang="zh-CN" sz="8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聚集适用于类关系为</a:t>
            </a:r>
            <a:r>
              <a:rPr lang="zh-CN" altLang="en-US" sz="2400" b="1" dirty="0">
                <a:solidFill>
                  <a:srgbClr val="FF0000"/>
                </a:solidFill>
              </a:rPr>
              <a:t>“部分”与“整体”</a:t>
            </a:r>
            <a:r>
              <a:rPr lang="zh-CN" altLang="en-US" sz="2400" b="1" dirty="0"/>
              <a:t>的情况</a:t>
            </a:r>
            <a:endParaRPr lang="en-US" altLang="zh-CN" sz="2400" b="1" dirty="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/>
              <a:t>一般来说，继承的代码功能可以用聚集来实现</a:t>
            </a:r>
            <a:endParaRPr lang="en-US" altLang="zh-CN" sz="24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527175" y="360363"/>
            <a:ext cx="7402513" cy="113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4000" b="1" kern="0" cap="none" spc="0" normalizeH="0" baseline="0" noProof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7.2.6 </a:t>
            </a:r>
            <a:r>
              <a:rPr kumimoji="0" lang="zh-CN" altLang="en-US" sz="4000" b="1" kern="0" cap="none" spc="0" normalizeH="0" baseline="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聚集关系</a:t>
            </a:r>
            <a:endParaRPr kumimoji="0" lang="zh-CN" altLang="zh-CN" sz="4000" b="1" kern="0" cap="none" spc="0" normalizeH="0" baseline="0" noProof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BE494A-96EB-428E-9E75-8F849EF2759C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88820"/>
            <a:ext cx="9125585" cy="26657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360" y="471488"/>
            <a:ext cx="8229600" cy="9413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/>
              <a:t>代码复用的另一种方式－－聚集</a:t>
            </a:r>
            <a:r>
              <a:rPr lang="en-US" altLang="zh-CN" b="1"/>
              <a:t>/</a:t>
            </a:r>
            <a:r>
              <a:rPr lang="zh-CN" altLang="en-US" b="1"/>
              <a:t>合</a:t>
            </a:r>
            <a:endParaRPr lang="zh-CN" altLang="en-US" b="1"/>
          </a:p>
        </p:txBody>
      </p:sp>
      <p:sp>
        <p:nvSpPr>
          <p:cNvPr id="627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18488" cy="48958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GB" b="1" dirty="0"/>
              <a:t>具有继承关系的两个类之间往往是</a:t>
            </a:r>
            <a:r>
              <a:rPr lang="zh-CN" altLang="en-GB" b="1" dirty="0">
                <a:solidFill>
                  <a:schemeClr val="folHlink"/>
                </a:solidFill>
              </a:rPr>
              <a:t>一般与特殊</a:t>
            </a:r>
            <a:r>
              <a:rPr lang="zh-CN" altLang="en-GB" b="1" dirty="0"/>
              <a:t>的关系（</a:t>
            </a:r>
            <a:r>
              <a:rPr lang="en-GB" altLang="zh-CN" b="1" dirty="0"/>
              <a:t>is-a-kind-of</a:t>
            </a:r>
            <a:r>
              <a:rPr lang="zh-CN" altLang="en-GB" b="1" dirty="0"/>
              <a:t>）。</a:t>
            </a:r>
            <a:endParaRPr lang="zh-CN" altLang="en-GB" b="1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b="1" dirty="0"/>
              <a:t>继承不是代码复用的唯一方式，有些代码复用不宜用继承来实现。如：飞机－发动机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defRPr/>
            </a:pPr>
            <a:r>
              <a:rPr lang="zh-CN" altLang="en-US" b="1" dirty="0"/>
              <a:t>类之间还存在一种</a:t>
            </a:r>
            <a:r>
              <a:rPr lang="zh-CN" altLang="en-US" b="1" dirty="0">
                <a:solidFill>
                  <a:schemeClr val="folHlink"/>
                </a:solidFill>
              </a:rPr>
              <a:t>聚集（</a:t>
            </a:r>
            <a:r>
              <a:rPr lang="en-US" altLang="zh-CN" b="1" dirty="0">
                <a:solidFill>
                  <a:schemeClr val="folHlink"/>
                </a:solidFill>
              </a:rPr>
              <a:t>aggregation</a:t>
            </a:r>
            <a:r>
              <a:rPr lang="zh-CN" altLang="en-US" b="1" dirty="0">
                <a:solidFill>
                  <a:schemeClr val="folHlink"/>
                </a:solidFill>
              </a:rPr>
              <a:t>，</a:t>
            </a:r>
            <a:r>
              <a:rPr lang="zh-CN" altLang="en-US" b="1" dirty="0"/>
              <a:t>也称</a:t>
            </a:r>
            <a:r>
              <a:rPr lang="zh-CN" altLang="en-US" b="1" dirty="0">
                <a:solidFill>
                  <a:schemeClr val="folHlink"/>
                </a:solidFill>
              </a:rPr>
              <a:t>聚合）</a:t>
            </a:r>
            <a:r>
              <a:rPr lang="zh-CN" altLang="en-US" b="1" dirty="0"/>
              <a:t>关系</a:t>
            </a:r>
            <a:r>
              <a:rPr lang="en-US" altLang="zh-CN" b="1" dirty="0"/>
              <a:t>:</a:t>
            </a:r>
            <a:endParaRPr lang="en-US" altLang="zh-CN" b="1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US" b="1" dirty="0"/>
              <a:t>一个类作为另一个类的成员对象类。</a:t>
            </a:r>
            <a:endParaRPr lang="zh-CN" altLang="en-US" b="1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zh-CN" altLang="en-GB" b="1" dirty="0"/>
              <a:t>具有聚集关系的两个类之间属于</a:t>
            </a:r>
            <a:r>
              <a:rPr lang="zh-CN" altLang="en-GB" b="1" dirty="0">
                <a:solidFill>
                  <a:schemeClr val="folHlink"/>
                </a:solidFill>
              </a:rPr>
              <a:t>部分与整体</a:t>
            </a:r>
            <a:r>
              <a:rPr lang="zh-CN" altLang="en-GB" b="1" dirty="0"/>
              <a:t>的关系（</a:t>
            </a:r>
            <a:r>
              <a:rPr lang="en-GB" altLang="zh-CN" b="1" dirty="0"/>
              <a:t>is-a-part-of</a:t>
            </a:r>
            <a:r>
              <a:rPr lang="zh-CN" altLang="en-GB" b="1" dirty="0"/>
              <a:t>）</a:t>
            </a:r>
            <a:endParaRPr lang="en-GB" altLang="zh-CN" b="1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5726112"/>
          </a:xfrm>
        </p:spPr>
        <p:txBody>
          <a:bodyPr/>
          <a:lstStyle/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class A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{ public: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      void f();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    ......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};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class B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{    </a:t>
            </a:r>
            <a:r>
              <a:rPr lang="en-US" altLang="zh-CN" sz="2400" b="1">
                <a:solidFill>
                  <a:srgbClr val="FFC000"/>
                </a:solidFill>
              </a:rPr>
              <a:t>A</a:t>
            </a:r>
            <a:r>
              <a:rPr lang="en-US" altLang="zh-CN" sz="2400" b="1"/>
              <a:t> a;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   public: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      void g() 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      { ......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         a.f(); //</a:t>
            </a:r>
            <a:r>
              <a:rPr lang="zh-CN" altLang="en-US" sz="2400" b="1"/>
              <a:t>通过对象</a:t>
            </a:r>
            <a:r>
              <a:rPr lang="en-US" altLang="zh-CN" sz="2400" b="1"/>
              <a:t>a</a:t>
            </a:r>
            <a:r>
              <a:rPr lang="zh-CN" altLang="en-US" sz="2400" b="1"/>
              <a:t>来使用</a:t>
            </a:r>
            <a:r>
              <a:rPr lang="en-US" altLang="zh-CN" sz="2400" b="1"/>
              <a:t>A</a:t>
            </a:r>
            <a:r>
              <a:rPr lang="zh-CN" altLang="en-US" sz="2400" b="1"/>
              <a:t>类的功能</a:t>
            </a:r>
            <a:endParaRPr lang="zh-CN" altLang="en-US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b="1"/>
              <a:t>      </a:t>
            </a:r>
            <a:r>
              <a:rPr lang="en-US" altLang="zh-CN" sz="2400" b="1"/>
              <a:t>}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    ......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b="1"/>
              <a:t>};</a:t>
            </a:r>
            <a:endParaRPr lang="en-US" altLang="zh-CN" sz="2400" b="1"/>
          </a:p>
          <a:p>
            <a:pPr marL="457200" indent="-457200" eaLnBrk="1" hangingPunct="1">
              <a:lnSpc>
                <a:spcPct val="80000"/>
              </a:lnSpc>
              <a:defRPr/>
            </a:pPr>
            <a:r>
              <a:rPr lang="en-US" altLang="zh-CN" sz="2400" b="1"/>
              <a:t>A </a:t>
            </a:r>
            <a:r>
              <a:rPr lang="zh-CN" altLang="en-US" sz="2400" b="1"/>
              <a:t>和</a:t>
            </a:r>
            <a:r>
              <a:rPr lang="en-US" altLang="zh-CN" sz="2400" b="1"/>
              <a:t>B</a:t>
            </a:r>
            <a:r>
              <a:rPr lang="zh-CN" altLang="en-US" sz="2400" b="1"/>
              <a:t>之间存在聚集关系</a:t>
            </a:r>
            <a:endParaRPr lang="zh-CN" altLang="en-US" sz="2400" b="1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315" y="44450"/>
            <a:ext cx="8904605" cy="68141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例如，下面代码中的类 B 与类A 是聚合关系，而类 C 与类A则是组合关系: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classA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{....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}；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                                            //B与A是聚合关系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A*pm;                                           // 指向成员对象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B(A*p)</a:t>
            </a: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{</a:t>
            </a: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pm=</a:t>
            </a: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</a:t>
            </a: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;}                         // 成员对象在聚合类对象外部创建，然后传入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~B()</a:t>
            </a: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{pm=NULL;}                     //传入的成员对象不再是聚合类对象的成员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}；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                                           //C与A是组合关系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A *pm;                                        //指向成员对象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C() {pm = new A;}                      //成员对象随组合类对象在内部创建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~C() { delete pm; }                        //成员对象随组合类对象消亡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};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8360" y="1028700"/>
            <a:ext cx="7858760" cy="40925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chemeClr val="tx2"/>
                </a:solidFill>
                <a:sym typeface="+mn-ea"/>
              </a:rPr>
              <a:t>A *pa=new A;                                  //创建一个A类对象</a:t>
            </a:r>
            <a:endParaRPr lang="zh-CN" altLang="en-US" sz="2000" b="1">
              <a:solidFill>
                <a:schemeClr val="tx2"/>
              </a:solidFill>
            </a:endParaRPr>
          </a:p>
          <a:p>
            <a:r>
              <a:rPr lang="zh-CN" altLang="en-US" sz="2000" b="1">
                <a:solidFill>
                  <a:schemeClr val="tx2"/>
                </a:solidFill>
                <a:sym typeface="+mn-ea"/>
              </a:rPr>
              <a:t>B *pb=new B(pa);                           //创建一个聚合类对象，其成员对象是pa指向的对象</a:t>
            </a:r>
            <a:endParaRPr lang="zh-CN" altLang="en-US" sz="2000" b="1">
              <a:solidFill>
                <a:schemeClr val="tx2"/>
              </a:solidFill>
            </a:endParaRPr>
          </a:p>
          <a:p>
            <a:r>
              <a:rPr lang="zh-CN" altLang="en-US" sz="2000" b="1">
                <a:solidFill>
                  <a:schemeClr val="tx2"/>
                </a:solidFill>
                <a:sym typeface="+mn-ea"/>
              </a:rPr>
              <a:t>C *pc=new C;                                 //创建一个组合类对象，其成员对象在组合类对象内部创建</a:t>
            </a:r>
            <a:endParaRPr lang="zh-CN" altLang="en-US" sz="2000" b="1">
              <a:solidFill>
                <a:schemeClr val="tx2"/>
              </a:solidFill>
            </a:endParaRPr>
          </a:p>
          <a:p>
            <a:endParaRPr lang="zh-CN" altLang="en-US" sz="2000" b="1">
              <a:solidFill>
                <a:schemeClr val="tx2"/>
              </a:solidFill>
            </a:endParaRPr>
          </a:p>
          <a:p>
            <a:r>
              <a:rPr lang="zh-CN" altLang="en-US" sz="2000" b="1">
                <a:solidFill>
                  <a:schemeClr val="tx2"/>
                </a:solidFill>
                <a:sym typeface="+mn-ea"/>
              </a:rPr>
              <a:t>......</a:t>
            </a:r>
            <a:endParaRPr lang="zh-CN" altLang="en-US" sz="2000" b="1">
              <a:solidFill>
                <a:schemeClr val="tx2"/>
              </a:solidFill>
            </a:endParaRPr>
          </a:p>
          <a:p>
            <a:r>
              <a:rPr lang="zh-CN" altLang="en-US" sz="2000" b="1">
                <a:solidFill>
                  <a:schemeClr val="tx2"/>
                </a:solidFill>
                <a:sym typeface="+mn-ea"/>
              </a:rPr>
              <a:t>delete pb;       // 聚合类对象消亡了，其成员对象并没有消亡，还可以用在其他地</a:t>
            </a:r>
            <a:endParaRPr lang="zh-CN" altLang="en-US" sz="2000" b="1">
              <a:solidFill>
                <a:schemeClr val="tx2"/>
              </a:solidFill>
            </a:endParaRPr>
          </a:p>
          <a:p>
            <a:r>
              <a:rPr lang="zh-CN" altLang="en-US" sz="2000" b="1">
                <a:solidFill>
                  <a:schemeClr val="tx2"/>
                </a:solidFill>
                <a:sym typeface="+mn-ea"/>
              </a:rPr>
              <a:t>delete pc;      // 组合类对象与其成员对象都消亡</a:t>
            </a:r>
            <a:endParaRPr lang="zh-CN" altLang="en-US" sz="2000" b="1">
              <a:solidFill>
                <a:schemeClr val="tx2"/>
              </a:solidFill>
            </a:endParaRPr>
          </a:p>
          <a:p>
            <a:r>
              <a:rPr lang="zh-CN" altLang="en-US" sz="2000" b="1">
                <a:solidFill>
                  <a:schemeClr val="tx2"/>
                </a:solidFill>
                <a:sym typeface="+mn-ea"/>
              </a:rPr>
              <a:t>delete pa;       // 聚合类对象原来的成员对象消亡</a:t>
            </a:r>
            <a:endParaRPr lang="zh-CN" altLang="en-US" sz="2000" b="1">
              <a:solidFill>
                <a:schemeClr val="tx2"/>
              </a:solidFill>
            </a:endParaRPr>
          </a:p>
          <a:p>
            <a:endParaRPr lang="zh-CN" altLang="en-US" sz="2000" b="1">
              <a:solidFill>
                <a:schemeClr val="tx2"/>
              </a:solidFill>
            </a:endParaRPr>
          </a:p>
          <a:p>
            <a:endParaRPr lang="zh-CN" altLang="en-US" sz="2000" b="1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1114425"/>
            <a:ext cx="80010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b="1">
                <a:solidFill>
                  <a:srgbClr val="C00000"/>
                </a:solidFill>
              </a:rPr>
              <a:t>线性表</a:t>
            </a:r>
            <a:r>
              <a:rPr lang="zh-CN" altLang="en-US" b="1"/>
              <a:t>由若干元素构成，元素之间有</a:t>
            </a:r>
            <a:r>
              <a:rPr lang="zh-CN" altLang="en-US" b="1">
                <a:solidFill>
                  <a:srgbClr val="C00000"/>
                </a:solidFill>
              </a:rPr>
              <a:t>线性</a:t>
            </a:r>
            <a:r>
              <a:rPr lang="zh-CN" altLang="en-US" b="1"/>
              <a:t>的次序关系。</a:t>
            </a:r>
            <a:endParaRPr lang="zh-CN" altLang="en-US" b="1"/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>
                <a:ea typeface="隶书" panose="02010509060101010101" pitchFamily="49" charset="-122"/>
              </a:rPr>
              <a:t>class LinearList</a:t>
            </a:r>
            <a:endParaRPr lang="en-US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>
                <a:ea typeface="隶书" panose="02010509060101010101" pitchFamily="49" charset="-122"/>
              </a:rPr>
              <a:t>{		......</a:t>
            </a:r>
            <a:endParaRPr lang="en-US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>
                <a:ea typeface="隶书" panose="02010509060101010101" pitchFamily="49" charset="-122"/>
              </a:rPr>
              <a:t>	public:</a:t>
            </a:r>
            <a:endParaRPr lang="en-US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>
                <a:ea typeface="隶书" panose="02010509060101010101" pitchFamily="49" charset="-122"/>
              </a:rPr>
              <a:t>		bool insert( int x, int pos ); </a:t>
            </a:r>
            <a:endParaRPr lang="en-US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>
                <a:ea typeface="隶书" panose="02010509060101010101" pitchFamily="49" charset="-122"/>
              </a:rPr>
              <a:t>		bool remove( int &amp;x,  int pos ); </a:t>
            </a:r>
            <a:endParaRPr lang="en-US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GB" altLang="zh-CN" b="1">
                <a:ea typeface="隶书" panose="02010509060101010101" pitchFamily="49" charset="-122"/>
              </a:rPr>
              <a:t>		int element( int pos ) const; </a:t>
            </a:r>
            <a:endParaRPr lang="en-GB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b="1">
                <a:ea typeface="隶书" panose="02010509060101010101" pitchFamily="49" charset="-122"/>
              </a:rPr>
              <a:t>		</a:t>
            </a:r>
            <a:r>
              <a:rPr lang="en-GB" altLang="zh-CN" b="1">
                <a:ea typeface="隶书" panose="02010509060101010101" pitchFamily="49" charset="-122"/>
              </a:rPr>
              <a:t>int search( int x ) const; </a:t>
            </a:r>
            <a:endParaRPr lang="en-US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GB" b="1">
                <a:ea typeface="隶书" panose="02010509060101010101" pitchFamily="49" charset="-122"/>
              </a:rPr>
              <a:t>		</a:t>
            </a:r>
            <a:r>
              <a:rPr lang="en-GB" altLang="zh-CN" b="1">
                <a:ea typeface="隶书" panose="02010509060101010101" pitchFamily="49" charset="-122"/>
              </a:rPr>
              <a:t>int length( ) const;</a:t>
            </a:r>
            <a:endParaRPr lang="en-GB" altLang="zh-CN" b="1">
              <a:ea typeface="隶书" panose="02010509060101010101" pitchFamily="49" charset="-122"/>
            </a:endParaRPr>
          </a:p>
          <a:p>
            <a:pPr lvl="1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>
                <a:ea typeface="隶书" panose="02010509060101010101" pitchFamily="49" charset="-122"/>
              </a:rPr>
              <a:t>};</a:t>
            </a:r>
            <a:endParaRPr lang="en-US" altLang="zh-CN" b="1">
              <a:ea typeface="隶书" panose="02010509060101010101" pitchFamily="49" charset="-122"/>
            </a:endParaRPr>
          </a:p>
        </p:txBody>
      </p:sp>
      <p:sp>
        <p:nvSpPr>
          <p:cNvPr id="629763" name="Rectangle 3"/>
          <p:cNvSpPr>
            <a:spLocks noGrp="1" noChangeArrowheads="1"/>
          </p:cNvSpPr>
          <p:nvPr>
            <p:ph type="title"/>
          </p:nvPr>
        </p:nvSpPr>
        <p:spPr>
          <a:xfrm>
            <a:off x="250825" y="277813"/>
            <a:ext cx="8686800" cy="70326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GB" sz="3600" b="1"/>
              <a:t>例：</a:t>
            </a:r>
            <a:r>
              <a:rPr lang="zh-CN" altLang="en-US" sz="3600" b="1"/>
              <a:t>利用一个线性表类实现一个队列类。</a:t>
            </a:r>
            <a:endParaRPr lang="zh-CN" altLang="en-US" sz="4000" b="1"/>
          </a:p>
        </p:txBody>
      </p:sp>
      <p:sp>
        <p:nvSpPr>
          <p:cNvPr id="629764" name="AutoShape 4"/>
          <p:cNvSpPr>
            <a:spLocks noChangeArrowheads="1"/>
          </p:cNvSpPr>
          <p:nvPr/>
        </p:nvSpPr>
        <p:spPr bwMode="auto">
          <a:xfrm>
            <a:off x="4500563" y="1989138"/>
            <a:ext cx="4319587" cy="3527425"/>
          </a:xfrm>
          <a:prstGeom prst="wedgeRectCallout">
            <a:avLst>
              <a:gd name="adj1" fmla="val 25597"/>
              <a:gd name="adj2" fmla="val -59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 lIns="92075" tIns="46038" rIns="92075" bIns="46038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/>
              <a:t>除了两个元素外，每个元素都有且仅有一个直接前驱元素和一个直接后继元素；在除外的两个元素中，一个只有一个直接前驱元素，另一个只有一个直接后继元素</a:t>
            </a:r>
            <a:endParaRPr lang="zh-CN" altLang="en-US" sz="2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4" grpId="0" bldLvl="0" animBg="1"/>
      <p:bldP spid="629764" grpId="1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7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070" y="188595"/>
            <a:ext cx="8844280" cy="5975350"/>
          </a:xfrm>
          <a:solidFill>
            <a:schemeClr val="accent2"/>
          </a:solidFill>
        </p:spPr>
        <p:txBody>
          <a:bodyPr lIns="92075" tIns="46038" rIns="92075" bIns="46038"/>
          <a:lstStyle/>
          <a:p>
            <a:pPr defTabSz="1069975" eaLnBrk="1" hangingPunct="1">
              <a:defRPr/>
            </a:pPr>
            <a:r>
              <a:rPr lang="zh-CN" altLang="en-US" b="1">
                <a:solidFill>
                  <a:srgbClr val="C00000"/>
                </a:solidFill>
                <a:cs typeface="Courier New" panose="02070309020205020404" pitchFamily="49" charset="0"/>
              </a:rPr>
              <a:t>队列</a:t>
            </a:r>
            <a:r>
              <a:rPr lang="zh-CN" altLang="en-US" b="1">
                <a:cs typeface="Courier New" panose="02070309020205020404" pitchFamily="49" charset="0"/>
              </a:rPr>
              <a:t>（</a:t>
            </a:r>
            <a:r>
              <a:rPr lang="en-US" altLang="zh-CN" b="1">
                <a:cs typeface="Courier New" panose="02070309020205020404" pitchFamily="49" charset="0"/>
              </a:rPr>
              <a:t>Queue</a:t>
            </a:r>
            <a:r>
              <a:rPr lang="zh-CN" altLang="en-US" b="1">
                <a:cs typeface="Courier New" panose="02070309020205020404" pitchFamily="49" charset="0"/>
              </a:rPr>
              <a:t>）是一种特殊的线性表，插入操作在一端，删除操作在另一端。又称</a:t>
            </a:r>
            <a:r>
              <a:rPr lang="zh-CN" altLang="en-US" b="1">
                <a:solidFill>
                  <a:srgbClr val="C00000"/>
                </a:solidFill>
                <a:cs typeface="Courier New" panose="02070309020205020404" pitchFamily="49" charset="0"/>
              </a:rPr>
              <a:t>先进先出</a:t>
            </a:r>
            <a:r>
              <a:rPr lang="zh-CN" altLang="en-US" b="1">
                <a:cs typeface="Courier New" panose="02070309020205020404" pitchFamily="49" charset="0"/>
              </a:rPr>
              <a:t>表（</a:t>
            </a:r>
            <a:r>
              <a:rPr lang="en-US" altLang="zh-CN" b="1">
                <a:cs typeface="Courier New" panose="02070309020205020404" pitchFamily="49" charset="0"/>
              </a:rPr>
              <a:t>First In First Out</a:t>
            </a:r>
            <a:r>
              <a:rPr lang="zh-CN" altLang="en-US" b="1">
                <a:cs typeface="Courier New" panose="02070309020205020404" pitchFamily="49" charset="0"/>
              </a:rPr>
              <a:t>，</a:t>
            </a:r>
            <a:r>
              <a:rPr lang="en-US" altLang="zh-CN" b="1">
                <a:cs typeface="Courier New" panose="02070309020205020404" pitchFamily="49" charset="0"/>
              </a:rPr>
              <a:t>FIFO</a:t>
            </a:r>
            <a:r>
              <a:rPr lang="zh-CN" altLang="en-US" b="1">
                <a:cs typeface="Courier New" panose="02070309020205020404" pitchFamily="49" charset="0"/>
              </a:rPr>
              <a:t>）</a:t>
            </a:r>
            <a:endParaRPr lang="zh-CN" altLang="en-US" b="1">
              <a:cs typeface="Courier New" panose="02070309020205020404" pitchFamily="49" charset="0"/>
            </a:endParaRPr>
          </a:p>
          <a:p>
            <a:pPr defTabSz="1069975" eaLnBrk="1" hangingPunct="1">
              <a:lnSpc>
                <a:spcPct val="80000"/>
              </a:lnSpc>
              <a:defRPr/>
            </a:pPr>
            <a:r>
              <a:rPr lang="en-US" altLang="zh-CN" b="1">
                <a:cs typeface="Courier New" panose="02070309020205020404" pitchFamily="49" charset="0"/>
              </a:rPr>
              <a:t>Queue</a:t>
            </a:r>
            <a:r>
              <a:rPr lang="zh-CN" altLang="en-US" b="1">
                <a:cs typeface="Courier New" panose="02070309020205020404" pitchFamily="49" charset="0"/>
              </a:rPr>
              <a:t>的实现</a:t>
            </a:r>
            <a:r>
              <a:rPr lang="en-US" altLang="zh-CN" b="1">
                <a:cs typeface="Courier New" panose="02070309020205020404" pitchFamily="49" charset="0"/>
              </a:rPr>
              <a:t>1</a:t>
            </a:r>
            <a:r>
              <a:rPr lang="zh-CN" altLang="en-US" b="1">
                <a:cs typeface="Courier New" panose="02070309020205020404" pitchFamily="49" charset="0"/>
              </a:rPr>
              <a:t>（继承）：</a:t>
            </a:r>
            <a:endParaRPr lang="zh-CN" altLang="en-US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b="1">
                <a:cs typeface="Courier New" panose="02070309020205020404" pitchFamily="49" charset="0"/>
              </a:rPr>
              <a:t>class Queue: private </a:t>
            </a:r>
            <a:r>
              <a:rPr lang="en-US" altLang="zh-CN" b="1">
                <a:solidFill>
                  <a:srgbClr val="FFC000"/>
                </a:solidFill>
                <a:cs typeface="Courier New" panose="02070309020205020404" pitchFamily="49" charset="0"/>
              </a:rPr>
              <a:t>LinearList</a:t>
            </a:r>
            <a:r>
              <a:rPr lang="en-US" altLang="zh-CN" sz="2400" b="1">
                <a:solidFill>
                  <a:srgbClr val="FFC000"/>
                </a:solidFill>
                <a:cs typeface="Courier New" panose="02070309020205020404" pitchFamily="49" charset="0"/>
              </a:rPr>
              <a:t> </a:t>
            </a:r>
            <a:endParaRPr lang="en-US" altLang="zh-CN" sz="2400" b="1">
              <a:solidFill>
                <a:srgbClr val="FFC000"/>
              </a:solidFill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{	public: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		bool en_queue(int x)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		{  return insert(x,length());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		}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		bool de_queue(int &amp;x)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		{  return remove(x,1);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		}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lvl="1" defTabSz="1069975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>
                <a:cs typeface="Courier New" panose="02070309020205020404" pitchFamily="49" charset="0"/>
              </a:rPr>
              <a:t>};</a:t>
            </a:r>
            <a:endParaRPr lang="en-US" altLang="zh-CN" sz="2400" b="1">
              <a:cs typeface="Courier New" panose="02070309020205020404" pitchFamily="49" charset="0"/>
            </a:endParaRPr>
          </a:p>
          <a:p>
            <a:pPr defTabSz="1069975" eaLnBrk="1" hangingPunct="1">
              <a:lnSpc>
                <a:spcPct val="80000"/>
              </a:lnSpc>
              <a:defRPr/>
            </a:pPr>
            <a:r>
              <a:rPr lang="zh-CN" altLang="en-US" sz="2800" b="1">
                <a:solidFill>
                  <a:srgbClr val="C00000"/>
                </a:solidFill>
                <a:cs typeface="Courier New" panose="02070309020205020404" pitchFamily="49" charset="0"/>
              </a:rPr>
              <a:t>这里为什么用</a:t>
            </a:r>
            <a:r>
              <a:rPr lang="en-US" altLang="zh-CN" sz="2800" b="1">
                <a:solidFill>
                  <a:srgbClr val="C00000"/>
                </a:solidFill>
                <a:cs typeface="Courier New" panose="02070309020205020404" pitchFamily="49" charset="0"/>
              </a:rPr>
              <a:t>private</a:t>
            </a:r>
            <a:r>
              <a:rPr lang="zh-CN" altLang="en-US" sz="2800" b="1">
                <a:solidFill>
                  <a:srgbClr val="C00000"/>
                </a:solidFill>
                <a:cs typeface="Courier New" panose="02070309020205020404" pitchFamily="49" charset="0"/>
              </a:rPr>
              <a:t>继承？</a:t>
            </a:r>
            <a:endParaRPr lang="zh-CN" altLang="en-US" sz="2800" b="1">
              <a:solidFill>
                <a:srgbClr val="C00000"/>
              </a:solidFill>
              <a:cs typeface="Courier New" panose="02070309020205020404" pitchFamily="49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15560" y="3429000"/>
            <a:ext cx="3842385" cy="2874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/>
              <a:t>因此，这里的继承方式采用了</a:t>
            </a:r>
            <a:r>
              <a:rPr lang="en-US" altLang="zh-CN" sz="2000"/>
              <a:t>private</a:t>
            </a:r>
            <a:r>
              <a:rPr lang="zh-CN" altLang="en-US" sz="2000"/>
              <a:t>继承，使得在外部不能通过线性表类的成员函数来操作队列类的对象。在</a:t>
            </a:r>
            <a:r>
              <a:rPr lang="en-US" altLang="zh-CN" sz="2000"/>
              <a:t>private</a:t>
            </a:r>
            <a:r>
              <a:rPr lang="zh-CN" altLang="en-US" sz="2000"/>
              <a:t>继承中，派生类不继承基类的对外接口，它属于纯代码复用，基类与派生类没有子类型关系，而这实际上已经退化成组合关系了</a:t>
            </a:r>
            <a:r>
              <a:rPr lang="en-US" altLang="zh-CN" sz="2000"/>
              <a:t>!</a:t>
            </a:r>
            <a:endParaRPr lang="zh-CN" altLang="en-US" sz="20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507413" cy="5654675"/>
          </a:xfrm>
        </p:spPr>
        <p:txBody>
          <a:bodyPr/>
          <a:lstStyle/>
          <a:p>
            <a:pPr defTabSz="342900" eaLnBrk="1" hangingPunct="1">
              <a:lnSpc>
                <a:spcPct val="90000"/>
              </a:lnSpc>
              <a:defRPr/>
            </a:pPr>
            <a:r>
              <a:rPr lang="en-US" altLang="zh-CN" sz="3600" b="1">
                <a:cs typeface="Courier New" panose="02070309020205020404" pitchFamily="49" charset="0"/>
              </a:rPr>
              <a:t>Queue</a:t>
            </a:r>
            <a:r>
              <a:rPr lang="zh-CN" altLang="en-US" sz="3600" b="1">
                <a:cs typeface="Courier New" panose="02070309020205020404" pitchFamily="49" charset="0"/>
              </a:rPr>
              <a:t>的实现</a:t>
            </a:r>
            <a:r>
              <a:rPr lang="en-US" altLang="zh-CN" sz="3600" b="1">
                <a:cs typeface="Courier New" panose="02070309020205020404" pitchFamily="49" charset="0"/>
              </a:rPr>
              <a:t>2</a:t>
            </a:r>
            <a:r>
              <a:rPr lang="zh-CN" altLang="en-US" sz="3600" b="1">
                <a:cs typeface="Courier New" panose="02070309020205020404" pitchFamily="49" charset="0"/>
              </a:rPr>
              <a:t>（聚集）：</a:t>
            </a:r>
            <a:endParaRPr lang="zh-CN" altLang="en-US" sz="3600" b="1">
              <a:cs typeface="Courier New" panose="02070309020205020404" pitchFamily="49" charset="0"/>
            </a:endParaRPr>
          </a:p>
          <a:p>
            <a:pPr lvl="1" defTabSz="342900" eaLnBrk="1" hangingPunct="1">
              <a:lnSpc>
                <a:spcPct val="130000"/>
              </a:lnSpc>
              <a:buFontTx/>
              <a:buNone/>
              <a:defRPr/>
            </a:pPr>
            <a:r>
              <a:rPr lang="en-US" altLang="zh-CN" b="1"/>
              <a:t>class Queue</a:t>
            </a:r>
            <a:endParaRPr lang="en-US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/>
              <a:t>{		</a:t>
            </a:r>
            <a:r>
              <a:rPr lang="en-US" altLang="zh-CN" b="1">
                <a:solidFill>
                  <a:srgbClr val="FFC000"/>
                </a:solidFill>
              </a:rPr>
              <a:t>LinearList</a:t>
            </a:r>
            <a:r>
              <a:rPr lang="en-US" altLang="zh-CN" b="1"/>
              <a:t> list;</a:t>
            </a:r>
            <a:endParaRPr lang="en-US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/>
              <a:t>	public:</a:t>
            </a:r>
            <a:endParaRPr lang="en-US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/>
              <a:t>		</a:t>
            </a:r>
            <a:r>
              <a:rPr lang="fr-FR" altLang="zh-CN" b="1"/>
              <a:t>bool en_queue(int i) </a:t>
            </a:r>
            <a:endParaRPr lang="fr-FR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fr-FR" altLang="zh-CN" b="1"/>
              <a:t>		</a:t>
            </a:r>
            <a:r>
              <a:rPr lang="en-US" altLang="zh-CN" b="1"/>
              <a:t>{	return list.insert(i,list.length());</a:t>
            </a:r>
            <a:endParaRPr lang="en-US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/>
              <a:t>		</a:t>
            </a:r>
            <a:r>
              <a:rPr lang="fr-FR" altLang="zh-CN" b="1"/>
              <a:t>}</a:t>
            </a:r>
            <a:endParaRPr lang="fr-FR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fr-FR" altLang="zh-CN" b="1"/>
              <a:t>		bool de_queue(int &amp;i) </a:t>
            </a:r>
            <a:endParaRPr lang="fr-FR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fr-FR" altLang="zh-CN" b="1"/>
              <a:t>		</a:t>
            </a:r>
            <a:r>
              <a:rPr lang="en-US" altLang="zh-CN" b="1"/>
              <a:t>{ return list.remove(i,1);</a:t>
            </a:r>
            <a:endParaRPr lang="en-US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/>
              <a:t>		}</a:t>
            </a:r>
            <a:endParaRPr lang="en-US" altLang="zh-CN" b="1"/>
          </a:p>
          <a:p>
            <a:pPr lvl="1" defTabSz="342900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b="1"/>
              <a:t>};</a:t>
            </a:r>
            <a:endParaRPr lang="en-US" altLang="zh-CN" b="1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090" y="332740"/>
            <a:ext cx="8042275" cy="5851525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/>
              <a:t>虽然队列类也可以通过下面的继承关系来实现，即把 Queue 类定义为 LinearList类的派生类:</a:t>
            </a:r>
            <a:endParaRPr lang="zh-CN" altLang="en-US" sz="2400" b="1"/>
          </a:p>
          <a:p>
            <a:pPr>
              <a:lnSpc>
                <a:spcPct val="120000"/>
              </a:lnSpc>
            </a:pPr>
            <a:r>
              <a:rPr lang="zh-CN" altLang="en-US" sz="2400" b="1"/>
              <a:t>class Queue: private LinearList// 这里的继承方式private可以省略</a:t>
            </a:r>
            <a:r>
              <a:rPr lang="en-US" altLang="zh-CN" sz="2400" b="1"/>
              <a:t>{</a:t>
            </a:r>
            <a:r>
              <a:rPr lang="zh-CN" altLang="en-US" sz="2400" b="1"/>
              <a:t>public:</a:t>
            </a:r>
            <a:endParaRPr lang="zh-CN" altLang="en-US" sz="2400" b="1"/>
          </a:p>
          <a:p>
            <a:pPr>
              <a:lnSpc>
                <a:spcPct val="120000"/>
              </a:lnSpc>
            </a:pPr>
            <a:r>
              <a:rPr lang="en-US" altLang="zh-CN" sz="2400" b="1"/>
              <a:t>   </a:t>
            </a:r>
            <a:r>
              <a:rPr lang="zh-CN" altLang="en-US" sz="2400" b="1"/>
              <a:t>bool en_queue(int x)</a:t>
            </a:r>
            <a:r>
              <a:rPr lang="en-US" altLang="zh-CN" sz="2400" b="1"/>
              <a:t> </a:t>
            </a:r>
            <a:r>
              <a:rPr lang="zh-CN" altLang="en-US" sz="2400" b="1"/>
              <a:t>// 元素进队</a:t>
            </a:r>
            <a:endParaRPr lang="zh-CN" altLang="en-US" sz="2400" b="1"/>
          </a:p>
          <a:p>
            <a:pPr>
              <a:lnSpc>
                <a:spcPct val="120000"/>
              </a:lnSpc>
            </a:pPr>
            <a:r>
              <a:rPr lang="en-US" altLang="zh-CN" sz="2400" b="1"/>
              <a:t>     {</a:t>
            </a:r>
            <a:r>
              <a:rPr lang="zh-CN" altLang="en-US" sz="2400" b="1"/>
              <a:t> return insert(x,length());</a:t>
            </a:r>
            <a:endParaRPr lang="zh-CN" altLang="en-US" sz="2400" b="1"/>
          </a:p>
          <a:p>
            <a:pPr>
              <a:lnSpc>
                <a:spcPct val="120000"/>
              </a:lnSpc>
            </a:pPr>
            <a:r>
              <a:rPr lang="en-US" altLang="zh-CN" sz="2400" b="1"/>
              <a:t>      }</a:t>
            </a:r>
            <a:endParaRPr lang="zh-CN" altLang="en-US" sz="2400" b="1"/>
          </a:p>
          <a:p>
            <a:pPr>
              <a:lnSpc>
                <a:spcPct val="120000"/>
              </a:lnSpc>
            </a:pPr>
            <a:r>
              <a:rPr lang="en-US" altLang="zh-CN" sz="2400" b="1"/>
              <a:t>  </a:t>
            </a:r>
            <a:r>
              <a:rPr lang="zh-CN" altLang="en-US" sz="2400" b="1"/>
              <a:t>bool de_queue(int &amp;x)</a:t>
            </a:r>
            <a:endParaRPr lang="zh-CN" altLang="en-US" sz="2400" b="1"/>
          </a:p>
          <a:p>
            <a:pPr>
              <a:lnSpc>
                <a:spcPct val="120000"/>
              </a:lnSpc>
            </a:pPr>
            <a:r>
              <a:rPr lang="en-US" altLang="zh-CN" sz="2400" b="1"/>
              <a:t>   {</a:t>
            </a:r>
            <a:r>
              <a:rPr lang="zh-CN" altLang="en-US" sz="2400" b="1"/>
              <a:t> return remove(x,1);</a:t>
            </a:r>
            <a:r>
              <a:rPr lang="en-US" altLang="zh-CN" sz="2400" b="1"/>
              <a:t> </a:t>
            </a:r>
            <a:r>
              <a:rPr lang="zh-CN" altLang="en-US" sz="2400" b="1"/>
              <a:t>//元素出队</a:t>
            </a:r>
            <a:endParaRPr lang="zh-CN" altLang="en-US" sz="2400" b="1"/>
          </a:p>
          <a:p>
            <a:pPr>
              <a:lnSpc>
                <a:spcPct val="120000"/>
              </a:lnSpc>
            </a:pPr>
            <a:r>
              <a:rPr lang="en-US" altLang="zh-CN" sz="2400" b="1"/>
              <a:t>   }</a:t>
            </a:r>
            <a:endParaRPr lang="en-US" altLang="zh-CN" sz="2400" b="1"/>
          </a:p>
          <a:p>
            <a:pPr>
              <a:lnSpc>
                <a:spcPct val="120000"/>
              </a:lnSpc>
            </a:pPr>
            <a:r>
              <a:rPr lang="en-US" altLang="zh-CN" sz="2400" b="1"/>
              <a:t>};</a:t>
            </a:r>
            <a:endParaRPr lang="en-US" altLang="zh-CN" sz="2400" b="1"/>
          </a:p>
          <a:p>
            <a:pPr>
              <a:lnSpc>
                <a:spcPct val="120000"/>
              </a:lnSpc>
            </a:pPr>
            <a:r>
              <a:rPr lang="zh-CN" altLang="en-US" sz="2400" b="1"/>
              <a:t>但是，由于能对线性表实施的操作并不都能实施到队列上，例如，不能在队列的任意位置增加和删除元素。</a:t>
            </a:r>
            <a:r>
              <a:rPr lang="en-US" altLang="zh-CN" sz="2400" b="1"/>
              <a:t>P295</a:t>
            </a:r>
            <a:endParaRPr lang="en-US" altLang="zh-CN" sz="2400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705" y="403860"/>
            <a:ext cx="8686800" cy="100901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/>
              <a:t>继承与聚集两种代码复用方式的比较</a:t>
            </a:r>
            <a:endParaRPr lang="zh-CN" altLang="en-US" sz="4000" b="1"/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875"/>
            <a:ext cx="8229600" cy="51847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b="1" dirty="0"/>
              <a:t>继承与封装存在矛盾，聚集则否。</a:t>
            </a:r>
            <a:endParaRPr lang="zh-CN" altLang="en-US" b="1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b="1" dirty="0"/>
              <a:t>在继承方式的代码复用中，一个类通过</a:t>
            </a:r>
            <a:r>
              <a:rPr lang="en-US" altLang="zh-CN" b="1" dirty="0"/>
              <a:t>protected</a:t>
            </a:r>
            <a:r>
              <a:rPr lang="zh-CN" altLang="en-US" b="1" dirty="0"/>
              <a:t>访问控制，向外界提供两种接口：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en-US" altLang="zh-CN" b="1" dirty="0"/>
              <a:t>public</a:t>
            </a:r>
            <a:r>
              <a:rPr lang="zh-CN" altLang="en-US" b="1" dirty="0"/>
              <a:t>：对象（实例）用户</a:t>
            </a:r>
            <a:endParaRPr lang="zh-CN" altLang="en-US" b="1" dirty="0"/>
          </a:p>
          <a:p>
            <a:pPr lvl="2" eaLnBrk="1" hangingPunct="1">
              <a:defRPr/>
            </a:pPr>
            <a:r>
              <a:rPr lang="en-US" altLang="zh-CN" b="1" dirty="0" err="1"/>
              <a:t>public+protected</a:t>
            </a:r>
            <a:r>
              <a:rPr lang="zh-CN" altLang="en-US" b="1" dirty="0"/>
              <a:t>：派生类用户</a:t>
            </a:r>
            <a:endParaRPr lang="zh-CN" altLang="en-US" b="1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b="1" dirty="0"/>
              <a:t>在聚集方式的代码复用中，一个类对外只需一个接口：</a:t>
            </a:r>
            <a:r>
              <a:rPr lang="en-US" altLang="zh-CN" b="1" dirty="0"/>
              <a:t>public</a:t>
            </a:r>
            <a:r>
              <a:rPr lang="zh-CN" altLang="en-US" b="1" dirty="0"/>
              <a:t>。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630" y="777875"/>
            <a:ext cx="8229600" cy="635000"/>
          </a:xfrm>
        </p:spPr>
        <p:txBody>
          <a:bodyPr/>
          <a:lstStyle/>
          <a:p>
            <a:pPr>
              <a:defRPr/>
            </a:pPr>
            <a:r>
              <a:rPr lang="zh-CN" altLang="zh-CN" b="1"/>
              <a:t>继承的代码复用功能常常可以用聚集来实现。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539750" y="1341438"/>
            <a:ext cx="2797175" cy="243522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class A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{		......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	public: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		void f();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		void g();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};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64163" y="2652713"/>
            <a:ext cx="3164649" cy="401648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聚集</a:t>
            </a:r>
            <a:endParaRPr lang="en-GB" altLang="zh-CN" sz="2400" b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class B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		</a:t>
            </a: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......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		  A a;  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public: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		 </a:t>
            </a: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void f() { a.f(); }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		 </a:t>
            </a: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void g() { a.g(); }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Times New Roman" panose="02020603050405020304"/>
              </a:rPr>
              <a:t>		 </a:t>
            </a: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void h();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		......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};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250" y="3838575"/>
            <a:ext cx="3157538" cy="283051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en-US" sz="24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继承</a:t>
            </a:r>
            <a:endParaRPr lang="en-GB" altLang="zh-CN" sz="2400" b="1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class B: public A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{		......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  public: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		 void h();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		......</a:t>
            </a:r>
            <a:endParaRPr lang="zh-CN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66700">
              <a:spcBef>
                <a:spcPts val="120"/>
              </a:spcBef>
              <a:spcAft>
                <a:spcPts val="120"/>
              </a:spcAft>
              <a:tabLst>
                <a:tab pos="400050" algn="l"/>
                <a:tab pos="533400" algn="l"/>
                <a:tab pos="666750" algn="l"/>
                <a:tab pos="800100" algn="l"/>
                <a:tab pos="933450" algn="l"/>
                <a:tab pos="1066800" algn="l"/>
                <a:tab pos="1200150" algn="l"/>
                <a:tab pos="1333500" algn="l"/>
              </a:tabLst>
              <a:defRPr/>
            </a:pPr>
            <a:r>
              <a:rPr lang="en-GB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};</a:t>
            </a:r>
            <a:endParaRPr lang="zh-CN" altLang="en-US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45135" y="621030"/>
            <a:ext cx="825373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266700" indent="-266700"/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1、</a:t>
            </a:r>
            <a:r>
              <a:rPr 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如何定义两个类</a:t>
            </a:r>
            <a:r>
              <a:rPr 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和</a:t>
            </a:r>
            <a:r>
              <a:rPr 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（</a:t>
            </a:r>
            <a:r>
              <a:rPr 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是</a:t>
            </a:r>
            <a:r>
              <a:rPr 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的派生类），使得在程序中能够创建一个与指针变量</a:t>
            </a:r>
            <a:r>
              <a:rPr 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（类型为</a:t>
            </a:r>
            <a:r>
              <a:rPr 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A *</a:t>
            </a:r>
            <a:r>
              <a:rPr lang="zh-CN" sz="2800" b="1">
                <a:solidFill>
                  <a:schemeClr val="tx2"/>
                </a:solidFill>
                <a:ea typeface="宋体" panose="02010600030101010101" pitchFamily="2" charset="-122"/>
              </a:rPr>
              <a:t>）所指向的对象是同类的对象？</a:t>
            </a:r>
            <a:r>
              <a:rPr lang="en-US" altLang="zh-CN" sz="2800" b="1">
                <a:solidFill>
                  <a:schemeClr val="tx2"/>
                </a:solidFill>
                <a:ea typeface="宋体" panose="02010600030101010101" pitchFamily="2" charset="-122"/>
              </a:rPr>
              <a:t>P299,</a:t>
            </a:r>
            <a:r>
              <a:rPr lang="zh-CN" altLang="en-US" sz="2800" b="1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2800" b="1">
                <a:solidFill>
                  <a:schemeClr val="tx2"/>
                </a:solidFill>
                <a:ea typeface="宋体" panose="02010600030101010101" pitchFamily="2" charset="-122"/>
              </a:rPr>
              <a:t>12</a:t>
            </a:r>
            <a:r>
              <a:rPr lang="zh-CN" altLang="en-US" sz="2800" b="1">
                <a:solidFill>
                  <a:schemeClr val="tx2"/>
                </a:solidFill>
                <a:ea typeface="宋体" panose="02010600030101010101" pitchFamily="2" charset="-122"/>
              </a:rPr>
              <a:t>题</a:t>
            </a:r>
            <a:endParaRPr lang="zh-CN" altLang="en-US" sz="28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51460" y="44450"/>
            <a:ext cx="8723630" cy="68135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...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virtual A *create()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	return new A;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B:public A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...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public: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*create()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{	return new B;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	A *p;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 (...)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 = new A;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else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 = new B;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 *q;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q = p-&gt;create(); //</a:t>
            </a:r>
            <a:r>
              <a:rPr lang="zh-CN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创建一个与</a:t>
            </a: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sz="2000" b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所指向的对象同类的对象。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</a:t>
            </a:r>
            <a:endParaRPr 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20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en-US" sz="2000" b="1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716145" y="1341120"/>
            <a:ext cx="4362450" cy="28632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266700" indent="-266700"/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1、</a:t>
            </a:r>
            <a:r>
              <a:rPr lang="en-US" sz="2400" b="1">
                <a:solidFill>
                  <a:schemeClr val="tx2"/>
                </a:solidFill>
                <a:latin typeface="宋体" panose="02010600030101010101" pitchFamily="2" charset="-122"/>
              </a:rPr>
              <a:t>	</a:t>
            </a:r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如何定义两个类</a:t>
            </a:r>
            <a:r>
              <a:rPr 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和</a:t>
            </a:r>
            <a:r>
              <a:rPr 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（</a:t>
            </a:r>
            <a:r>
              <a:rPr 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是</a:t>
            </a:r>
            <a:r>
              <a:rPr 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的派生类），使得在程序中能够创建一个与指针变量</a:t>
            </a:r>
            <a:r>
              <a:rPr 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（类型为</a:t>
            </a:r>
            <a:r>
              <a:rPr 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A *</a:t>
            </a:r>
            <a:r>
              <a:rPr lang="zh-CN" sz="2400" b="1">
                <a:solidFill>
                  <a:schemeClr val="tx2"/>
                </a:solidFill>
                <a:ea typeface="宋体" panose="02010600030101010101" pitchFamily="2" charset="-122"/>
              </a:rPr>
              <a:t>）所指向的对象是同类的对象？</a:t>
            </a:r>
            <a:endParaRPr lang="zh-CN" altLang="en-US" sz="2400" b="1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108" r="2951"/>
          <a:stretch>
            <a:fillRect/>
          </a:stretch>
        </p:blipFill>
        <p:spPr>
          <a:xfrm>
            <a:off x="179705" y="332740"/>
            <a:ext cx="8984615" cy="25184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7315" y="405130"/>
            <a:ext cx="1145540" cy="3581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9750" y="1772920"/>
            <a:ext cx="8936355" cy="10267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3702" r="2272"/>
          <a:stretch>
            <a:fillRect/>
          </a:stretch>
        </p:blipFill>
        <p:spPr>
          <a:xfrm>
            <a:off x="395605" y="3429000"/>
            <a:ext cx="8281670" cy="13601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l="3183"/>
          <a:stretch>
            <a:fillRect/>
          </a:stretch>
        </p:blipFill>
        <p:spPr>
          <a:xfrm>
            <a:off x="19050" y="4627245"/>
            <a:ext cx="9096375" cy="14516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8460" y="3573145"/>
            <a:ext cx="1145540" cy="3581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028940" y="4725035"/>
            <a:ext cx="1179830" cy="35814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180975" y="5373370"/>
            <a:ext cx="8985250" cy="7137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1585"/>
          <a:stretch>
            <a:fillRect/>
          </a:stretch>
        </p:blipFill>
        <p:spPr>
          <a:xfrm>
            <a:off x="27940" y="260350"/>
            <a:ext cx="9103360" cy="605345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5605" y="476885"/>
            <a:ext cx="984250" cy="32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36830" y="4715510"/>
            <a:ext cx="9144000" cy="19900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5A25289-56AC-4A3E-9780-85723518715E}" type="slidenum">
              <a:rPr kumimoji="0" lang="zh-CN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560" y="44450"/>
            <a:ext cx="3821430" cy="67843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882390" y="44450"/>
            <a:ext cx="5261610" cy="16630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96055" y="2637155"/>
            <a:ext cx="512191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solidFill>
                  <a:schemeClr val="tx2"/>
                </a:solidFill>
              </a:rPr>
              <a:t>解:</a:t>
            </a:r>
            <a:endParaRPr lang="zh-CN" altLang="en-US" sz="2400" b="1">
              <a:solidFill>
                <a:schemeClr val="tx2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</a:rPr>
              <a:t>D类是从类和类派生的而类和类又都是从类派生，但这是虚继承关系即是虚基类因此和共用一个的副本所以对于对象 d，d.B::n 与 d.c::n 是一个成员。所以输出为:</a:t>
            </a:r>
            <a:endParaRPr lang="zh-CN" altLang="en-US" sz="24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</a:rPr>
              <a:t>20，20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COMMONDATA" val="eyJoZGlkIjoiODg5ODdlNWEyZTZjYmQ3ZTBmY2M1NDE2MjJhYjZmNWIifQ=="/>
  <p:tag name="KSO_WPP_MARK_KEY" val="57f8f4f1-5c96-4ea9-8ba6-75c609fe3d24"/>
</p:tagLst>
</file>

<file path=ppt/theme/theme1.xml><?xml version="1.0" encoding="utf-8"?>
<a:theme xmlns:a="http://schemas.openxmlformats.org/drawingml/2006/main" name="Echo">
  <a:themeElements>
    <a:clrScheme name="Echo 7">
      <a:dk1>
        <a:srgbClr val="336666"/>
      </a:dk1>
      <a:lt1>
        <a:srgbClr val="FFFFFF"/>
      </a:lt1>
      <a:dk2>
        <a:srgbClr val="000000"/>
      </a:dk2>
      <a:lt2>
        <a:srgbClr val="666699"/>
      </a:lt2>
      <a:accent1>
        <a:srgbClr val="99CCCC"/>
      </a:accent1>
      <a:accent2>
        <a:srgbClr val="CCCCCC"/>
      </a:accent2>
      <a:accent3>
        <a:srgbClr val="FFFFFF"/>
      </a:accent3>
      <a:accent4>
        <a:srgbClr val="2A5656"/>
      </a:accent4>
      <a:accent5>
        <a:srgbClr val="CAE2E2"/>
      </a:accent5>
      <a:accent6>
        <a:srgbClr val="B9B9B9"/>
      </a:accent6>
      <a:hlink>
        <a:srgbClr val="006666"/>
      </a:hlink>
      <a:folHlink>
        <a:srgbClr val="B2B2B2"/>
      </a:folHlink>
    </a:clrScheme>
    <a:fontScheme name="Echo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algn="ctr">
          <a:solidFill>
            <a:srgbClr val="FF0000"/>
          </a:solidFill>
          <a:round/>
        </a:ln>
      </a:spPr>
      <a:bodyPr/>
      <a:lstStyle>
        <a:defPPr algn="l" eaLnBrk="1" hangingPunct="1">
          <a:spcBef>
            <a:spcPct val="0"/>
          </a:spcBef>
          <a:buClrTx/>
          <a:buSzTx/>
          <a:buFont typeface="Arial" panose="020B0604020202020204" pitchFamily="34" charset="0"/>
          <a:buNone/>
          <a:defRPr sz="1800">
            <a:solidFill>
              <a:schemeClr val="tx1"/>
            </a:solidFill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Echo 1">
        <a:dk1>
          <a:srgbClr val="25252F"/>
        </a:dk1>
        <a:lt1>
          <a:srgbClr val="9999FF"/>
        </a:lt1>
        <a:dk2>
          <a:srgbClr val="000000"/>
        </a:dk2>
        <a:lt2>
          <a:srgbClr val="FFFFFF"/>
        </a:lt2>
        <a:accent1>
          <a:srgbClr val="3366FF"/>
        </a:accent1>
        <a:accent2>
          <a:srgbClr val="003399"/>
        </a:accent2>
        <a:accent3>
          <a:srgbClr val="AAAAAA"/>
        </a:accent3>
        <a:accent4>
          <a:srgbClr val="8282DA"/>
        </a:accent4>
        <a:accent5>
          <a:srgbClr val="ADB8FF"/>
        </a:accent5>
        <a:accent6>
          <a:srgbClr val="002D8A"/>
        </a:accent6>
        <a:hlink>
          <a:srgbClr val="0099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2">
        <a:dk1>
          <a:srgbClr val="314183"/>
        </a:dk1>
        <a:lt1>
          <a:srgbClr val="FFFFFF"/>
        </a:lt1>
        <a:dk2>
          <a:srgbClr val="0B1E45"/>
        </a:dk2>
        <a:lt2>
          <a:srgbClr val="FFFFFF"/>
        </a:lt2>
        <a:accent1>
          <a:srgbClr val="6666FF"/>
        </a:accent1>
        <a:accent2>
          <a:srgbClr val="0066FF"/>
        </a:accent2>
        <a:accent3>
          <a:srgbClr val="AAABB0"/>
        </a:accent3>
        <a:accent4>
          <a:srgbClr val="DADADA"/>
        </a:accent4>
        <a:accent5>
          <a:srgbClr val="B8B8FF"/>
        </a:accent5>
        <a:accent6>
          <a:srgbClr val="005CE7"/>
        </a:accent6>
        <a:hlink>
          <a:srgbClr val="006699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3">
        <a:dk1>
          <a:srgbClr val="194349"/>
        </a:dk1>
        <a:lt1>
          <a:srgbClr val="FFFFCC"/>
        </a:lt1>
        <a:dk2>
          <a:srgbClr val="006666"/>
        </a:dk2>
        <a:lt2>
          <a:srgbClr val="FFFFFF"/>
        </a:lt2>
        <a:accent1>
          <a:srgbClr val="99CC00"/>
        </a:accent1>
        <a:accent2>
          <a:srgbClr val="00B6B2"/>
        </a:accent2>
        <a:accent3>
          <a:srgbClr val="AAB8B8"/>
        </a:accent3>
        <a:accent4>
          <a:srgbClr val="DADAAE"/>
        </a:accent4>
        <a:accent5>
          <a:srgbClr val="CAE2AA"/>
        </a:accent5>
        <a:accent6>
          <a:srgbClr val="00A5A1"/>
        </a:accent6>
        <a:hlink>
          <a:srgbClr val="669900"/>
        </a:hlink>
        <a:folHlink>
          <a:srgbClr val="66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4">
        <a:dk1>
          <a:srgbClr val="194349"/>
        </a:dk1>
        <a:lt1>
          <a:srgbClr val="FFFFCC"/>
        </a:lt1>
        <a:dk2>
          <a:srgbClr val="0000FF"/>
        </a:dk2>
        <a:lt2>
          <a:srgbClr val="FFFFFF"/>
        </a:lt2>
        <a:accent1>
          <a:srgbClr val="0099FF"/>
        </a:accent1>
        <a:accent2>
          <a:srgbClr val="33CC33"/>
        </a:accent2>
        <a:accent3>
          <a:srgbClr val="AAAAFF"/>
        </a:accent3>
        <a:accent4>
          <a:srgbClr val="DADAAE"/>
        </a:accent4>
        <a:accent5>
          <a:srgbClr val="AACAFF"/>
        </a:accent5>
        <a:accent6>
          <a:srgbClr val="2DB92D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5">
        <a:dk1>
          <a:srgbClr val="194349"/>
        </a:dk1>
        <a:lt1>
          <a:srgbClr val="FFFFCC"/>
        </a:lt1>
        <a:dk2>
          <a:srgbClr val="72A497"/>
        </a:dk2>
        <a:lt2>
          <a:srgbClr val="000000"/>
        </a:lt2>
        <a:accent1>
          <a:srgbClr val="805D32"/>
        </a:accent1>
        <a:accent2>
          <a:srgbClr val="7D2F3C"/>
        </a:accent2>
        <a:accent3>
          <a:srgbClr val="BCCFC9"/>
        </a:accent3>
        <a:accent4>
          <a:srgbClr val="DADAAE"/>
        </a:accent4>
        <a:accent5>
          <a:srgbClr val="C0B6AD"/>
        </a:accent5>
        <a:accent6>
          <a:srgbClr val="712A35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6">
        <a:dk1>
          <a:srgbClr val="1C1C1C"/>
        </a:dk1>
        <a:lt1>
          <a:srgbClr val="FFFFFF"/>
        </a:lt1>
        <a:dk2>
          <a:srgbClr val="710F0F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BB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666699"/>
        </a:hlink>
        <a:folHlink>
          <a:srgbClr val="99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ho 7">
        <a:dk1>
          <a:srgbClr val="336666"/>
        </a:dk1>
        <a:lt1>
          <a:srgbClr val="FFFFFF"/>
        </a:lt1>
        <a:dk2>
          <a:srgbClr val="000000"/>
        </a:dk2>
        <a:lt2>
          <a:srgbClr val="666699"/>
        </a:lt2>
        <a:accent1>
          <a:srgbClr val="99CCCC"/>
        </a:accent1>
        <a:accent2>
          <a:srgbClr val="CCCCCC"/>
        </a:accent2>
        <a:accent3>
          <a:srgbClr val="FFFFFF"/>
        </a:accent3>
        <a:accent4>
          <a:srgbClr val="2A5656"/>
        </a:accent4>
        <a:accent5>
          <a:srgbClr val="CAE2E2"/>
        </a:accent5>
        <a:accent6>
          <a:srgbClr val="B9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8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336699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9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CC3300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E2ADAA"/>
        </a:accent5>
        <a:accent6>
          <a:srgbClr val="B98A00"/>
        </a:accent6>
        <a:hlink>
          <a:srgbClr val="CC66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ho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666699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B8CA"/>
        </a:accent5>
        <a:accent6>
          <a:srgbClr val="8A8AE7"/>
        </a:accent6>
        <a:hlink>
          <a:srgbClr val="3366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Teamwork</Template>
  <TotalTime>0</TotalTime>
  <Words>4262</Words>
  <Application>WPS 演示</Application>
  <PresentationFormat>全屏显示(4:3)</PresentationFormat>
  <Paragraphs>350</Paragraphs>
  <Slides>27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8" baseType="lpstr">
      <vt:lpstr>Arial</vt:lpstr>
      <vt:lpstr>宋体</vt:lpstr>
      <vt:lpstr>Wingdings</vt:lpstr>
      <vt:lpstr>楷体_GB2312</vt:lpstr>
      <vt:lpstr>新宋体</vt:lpstr>
      <vt:lpstr>Times New Roman</vt:lpstr>
      <vt:lpstr>大黑体</vt:lpstr>
      <vt:lpstr>Harmony Text</vt:lpstr>
      <vt:lpstr>Segoe Print</vt:lpstr>
      <vt:lpstr>楷体</vt:lpstr>
      <vt:lpstr>Arial</vt:lpstr>
      <vt:lpstr>楷体_GB2312</vt:lpstr>
      <vt:lpstr>微软雅黑</vt:lpstr>
      <vt:lpstr>Arial Unicode MS</vt:lpstr>
      <vt:lpstr>隶书</vt:lpstr>
      <vt:lpstr>Verdana</vt:lpstr>
      <vt:lpstr>Courier New</vt:lpstr>
      <vt:lpstr>Times New Roman</vt:lpstr>
      <vt:lpstr>KSOF3FB35F8F</vt:lpstr>
      <vt:lpstr>黑体</vt:lpstr>
      <vt:lpstr>Echo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代码复用的另一种方式－－聚集/合</vt:lpstr>
      <vt:lpstr>PowerPoint 演示文稿</vt:lpstr>
      <vt:lpstr>PowerPoint 演示文稿</vt:lpstr>
      <vt:lpstr>PowerPoint 演示文稿</vt:lpstr>
      <vt:lpstr>例：利用一个线性表类实现一个队列类。</vt:lpstr>
      <vt:lpstr>PowerPoint 演示文稿</vt:lpstr>
      <vt:lpstr>PowerPoint 演示文稿</vt:lpstr>
      <vt:lpstr>PowerPoint 演示文稿</vt:lpstr>
      <vt:lpstr>继承与聚集两种代码复用方式的比较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课程概况</dc:title>
  <dc:creator>Jinsong Su</dc:creator>
  <cp:lastModifiedBy>xiada</cp:lastModifiedBy>
  <cp:revision>770</cp:revision>
  <dcterms:created xsi:type="dcterms:W3CDTF">2005-02-20T09:54:00Z</dcterms:created>
  <dcterms:modified xsi:type="dcterms:W3CDTF">2026-05-20T12:57:13Z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FBA40CA3204C4B3790DF3ADCD07CE9B3</vt:lpwstr>
  </property>
</Properties>
</file>