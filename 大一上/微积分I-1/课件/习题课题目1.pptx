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2" r:id="rId3"/>
    <p:sldId id="263" r:id="rId4"/>
    <p:sldId id="264" r:id="rId5"/>
    <p:sldId id="265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2" y="4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076953458"/>
      </p:ext>
    </p:ext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50844218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13498009"/>
      </p:ext>
    </p:extLst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409288404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58567725"/>
      </p:ext>
    </p:extLst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34583201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3048880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38496343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85792574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29036339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8288520"/>
      </p:ext>
    </p:extLst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914400" y="609600"/>
            <a:ext cx="103632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84235758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77199946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>
    <p:wipe dir="r"/>
  </p:transition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image" Target="../media/image2.png"/><Relationship Id="rId7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11" Type="http://schemas.openxmlformats.org/officeDocument/2006/relationships/image" Target="../media/image17.e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16.emf"/><Relationship Id="rId4" Type="http://schemas.openxmlformats.org/officeDocument/2006/relationships/image" Target="../media/image13.emf"/><Relationship Id="rId9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>
            <a:extLst>
              <a:ext uri="{FF2B5EF4-FFF2-40B4-BE49-F238E27FC236}">
                <a16:creationId xmlns:a16="http://schemas.microsoft.com/office/drawing/2014/main" id="{8AF39C83-A997-156B-7741-631A67A90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406" y="540049"/>
            <a:ext cx="6010275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7D8B925-ECF3-4AFD-BDFD-C652589BF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406" y="2440843"/>
            <a:ext cx="8229600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EF5E19E-D555-2E88-E273-9CB51836B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5573" y="4570238"/>
            <a:ext cx="2057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/>
            <a:r>
              <a:rPr lang="zh-CN" altLang="en-US" sz="2800" b="1" kern="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 kern="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3. </a:t>
            </a:r>
            <a:r>
              <a:rPr lang="zh-CN" altLang="en-US" sz="2800" kern="0" dirty="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设</a:t>
            </a:r>
            <a:endParaRPr lang="zh-CN" altLang="en-US" sz="2800" kern="0" dirty="0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19AD316-92F3-00C8-FF13-9EE5CE692F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9953796"/>
              </p:ext>
            </p:extLst>
          </p:nvPr>
        </p:nvGraphicFramePr>
        <p:xfrm>
          <a:off x="2989561" y="4646438"/>
          <a:ext cx="73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280" imgH="406224" progId="Equation.3">
                  <p:embed/>
                </p:oleObj>
              </mc:Choice>
              <mc:Fallback>
                <p:oleObj name="Equation" r:id="rId4" imgW="736280" imgH="406224" progId="Equation.3">
                  <p:embed/>
                  <p:pic>
                    <p:nvPicPr>
                      <p:cNvPr id="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9561" y="4646438"/>
                        <a:ext cx="736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>
            <a:extLst>
              <a:ext uri="{FF2B5EF4-FFF2-40B4-BE49-F238E27FC236}">
                <a16:creationId xmlns:a16="http://schemas.microsoft.com/office/drawing/2014/main" id="{45D53F6F-D90F-837F-8096-DABA40C3C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7761" y="4570239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在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93C3EB9-6125-33F4-DA7D-377FE844F2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5588583"/>
              </p:ext>
            </p:extLst>
          </p:nvPr>
        </p:nvGraphicFramePr>
        <p:xfrm>
          <a:off x="4361161" y="4709938"/>
          <a:ext cx="774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74364" imgH="317362" progId="Equation.3">
                  <p:embed/>
                </p:oleObj>
              </mc:Choice>
              <mc:Fallback>
                <p:oleObj name="Equation" r:id="rId6" imgW="774364" imgH="317362" progId="Equation.3">
                  <p:embed/>
                  <p:pic>
                    <p:nvPicPr>
                      <p:cNvPr id="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1161" y="4709938"/>
                        <a:ext cx="774700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6">
            <a:extLst>
              <a:ext uri="{FF2B5EF4-FFF2-40B4-BE49-F238E27FC236}">
                <a16:creationId xmlns:a16="http://schemas.microsoft.com/office/drawing/2014/main" id="{9B68A2B9-C18F-C936-B405-616A7E6F9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9361" y="4600401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处连续</a:t>
            </a:r>
            <a:r>
              <a:rPr kumimoji="1" lang="en-US" altLang="zh-CN" sz="280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1" lang="zh-CN" altLang="en-US" sz="280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且</a:t>
            </a:r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id="{EBD5E828-0689-57C3-2445-F29006F3B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4448" y="5279851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求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95ACCAE-65A6-C5E3-09C6-E4047C5444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2754" y="4410980"/>
            <a:ext cx="1982724" cy="85191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A806183B-490F-CF20-44CB-3BF4AA871E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98169" y="5329095"/>
            <a:ext cx="941832" cy="42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525057"/>
      </p:ext>
    </p:extLst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1" name="Picture 1">
            <a:extLst>
              <a:ext uri="{FF2B5EF4-FFF2-40B4-BE49-F238E27FC236}">
                <a16:creationId xmlns:a16="http://schemas.microsoft.com/office/drawing/2014/main" id="{913FECFB-869C-D263-ECB4-CF79D9593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989" y="447994"/>
            <a:ext cx="73152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9EF05EF7-68A1-CD2C-D077-A3EF8126C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918" y="2724789"/>
            <a:ext cx="8220075" cy="192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8529608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Picture 1">
            <a:extLst>
              <a:ext uri="{FF2B5EF4-FFF2-40B4-BE49-F238E27FC236}">
                <a16:creationId xmlns:a16="http://schemas.microsoft.com/office/drawing/2014/main" id="{BFA70FC1-5ADB-B093-8F6C-15C89069A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769" y="521637"/>
            <a:ext cx="862012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160E1468-F840-82FC-B613-54871078D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121" y="3167062"/>
            <a:ext cx="5619750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>
            <a:extLst>
              <a:ext uri="{FF2B5EF4-FFF2-40B4-BE49-F238E27FC236}">
                <a16:creationId xmlns:a16="http://schemas.microsoft.com/office/drawing/2014/main" id="{9F24E6A2-376C-983C-0771-244ADED52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507" y="4664054"/>
            <a:ext cx="8210550" cy="88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9624284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9" name="Picture 1">
            <a:extLst>
              <a:ext uri="{FF2B5EF4-FFF2-40B4-BE49-F238E27FC236}">
                <a16:creationId xmlns:a16="http://schemas.microsoft.com/office/drawing/2014/main" id="{D6E59D6B-BCD3-3CE9-9078-D8E5FB8E3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48" y="1024864"/>
            <a:ext cx="8286750" cy="88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A67D7F94-B86F-FB4D-9D3C-2BCF5F248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048" y="2625178"/>
            <a:ext cx="1477963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/>
            <a:r>
              <a:rPr lang="zh-CN" altLang="en-US" sz="2800" b="1" kern="0" dirty="0">
                <a:solidFill>
                  <a:srgbClr val="FFFF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例</a:t>
            </a:r>
            <a:r>
              <a:rPr lang="en-US" altLang="zh-CN" sz="2800" b="1" kern="0" dirty="0">
                <a:solidFill>
                  <a:srgbClr val="FFFF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9</a:t>
            </a:r>
            <a:r>
              <a:rPr lang="en-US" altLang="zh-CN" sz="2800" b="1" kern="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en-US" sz="2800" kern="0" dirty="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设</a:t>
            </a:r>
            <a:endParaRPr lang="zh-CN" altLang="en-US" sz="2800" kern="0" dirty="0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C91EB972-CEEA-06B7-F507-9E0E03403A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3786360"/>
              </p:ext>
            </p:extLst>
          </p:nvPr>
        </p:nvGraphicFramePr>
        <p:xfrm>
          <a:off x="2059286" y="2690265"/>
          <a:ext cx="4198937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203700" imgH="558800" progId="Equation.3">
                  <p:embed/>
                </p:oleObj>
              </mc:Choice>
              <mc:Fallback>
                <p:oleObj name="Equation" r:id="rId3" imgW="4203700" imgH="558800" progId="Equation.3">
                  <p:embed/>
                  <p:pic>
                    <p:nvPicPr>
                      <p:cNvPr id="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9286" y="2690265"/>
                        <a:ext cx="4198937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">
            <a:extLst>
              <a:ext uri="{FF2B5EF4-FFF2-40B4-BE49-F238E27FC236}">
                <a16:creationId xmlns:a16="http://schemas.microsoft.com/office/drawing/2014/main" id="{063EC442-DDB9-0B80-01EB-4DE35F08E7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8222" y="2710903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其中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3972CF00-6031-A6EE-4AC4-4EA5C3331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422" y="2747416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solidFill>
                  <a:srgbClr val="FFFFFF"/>
                </a:solidFill>
                <a:latin typeface="Times New Roman" pitchFamily="18" charset="0"/>
                <a:ea typeface="楷体_GB2312" pitchFamily="49" charset="-122"/>
              </a:rPr>
              <a:t>可微 </a:t>
            </a:r>
            <a:r>
              <a:rPr kumimoji="1" lang="en-US" altLang="zh-CN" sz="2800">
                <a:solidFill>
                  <a:srgbClr val="FFFFFF"/>
                </a:solidFill>
                <a:latin typeface="Times New Roman" pitchFamily="18" charset="0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9E7445A3-7353-0FA5-9878-777139E25E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4729518"/>
              </p:ext>
            </p:extLst>
          </p:nvPr>
        </p:nvGraphicFramePr>
        <p:xfrm>
          <a:off x="489247" y="3357015"/>
          <a:ext cx="774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74364" imgH="444307" progId="Equation.3">
                  <p:embed/>
                </p:oleObj>
              </mc:Choice>
              <mc:Fallback>
                <p:oleObj name="Equation" r:id="rId5" imgW="774364" imgH="444307" progId="Equation.3">
                  <p:embed/>
                  <p:pic>
                    <p:nvPicPr>
                      <p:cNvPr id="3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247" y="3357015"/>
                        <a:ext cx="7747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A95A3A15-8471-F0D1-3A9E-E5F4BD842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647" y="3829495"/>
            <a:ext cx="2819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2800" b="1" kern="0" dirty="0">
                <a:solidFill>
                  <a:srgbClr val="FFFF00"/>
                </a:solidFill>
                <a:latin typeface="+mn-ea"/>
                <a:ea typeface="+mn-ea"/>
              </a:rPr>
              <a:t>例</a:t>
            </a:r>
            <a:r>
              <a:rPr lang="en-US" altLang="zh-CN" sz="2800" b="1" kern="0" dirty="0">
                <a:solidFill>
                  <a:srgbClr val="FFFF00"/>
                </a:solidFill>
                <a:latin typeface="+mn-ea"/>
                <a:ea typeface="+mn-ea"/>
              </a:rPr>
              <a:t>10</a:t>
            </a:r>
            <a:r>
              <a:rPr lang="en-US" altLang="zh-CN" sz="2800" b="1" kern="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en-US" sz="2800" kern="0" dirty="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设由方程</a:t>
            </a: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6417CB6C-6476-17FE-8889-31CE42E10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672" y="5085208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确定函数</a:t>
            </a:r>
          </a:p>
        </p:txBody>
      </p:sp>
      <p:graphicFrame>
        <p:nvGraphicFramePr>
          <p:cNvPr id="13" name="Object 5">
            <a:extLst>
              <a:ext uri="{FF2B5EF4-FFF2-40B4-BE49-F238E27FC236}">
                <a16:creationId xmlns:a16="http://schemas.microsoft.com/office/drawing/2014/main" id="{53ECCE9B-6706-5A3B-84A7-A5FDEBB411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9088554"/>
              </p:ext>
            </p:extLst>
          </p:nvPr>
        </p:nvGraphicFramePr>
        <p:xfrm>
          <a:off x="1948159" y="5186807"/>
          <a:ext cx="1384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83699" imgH="406224" progId="Equation.3">
                  <p:embed/>
                </p:oleObj>
              </mc:Choice>
              <mc:Fallback>
                <p:oleObj name="Equation" r:id="rId7" imgW="1383699" imgH="406224" progId="Equation.3">
                  <p:embed/>
                  <p:pic>
                    <p:nvPicPr>
                      <p:cNvPr id="3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8159" y="5186807"/>
                        <a:ext cx="13843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6">
            <a:extLst>
              <a:ext uri="{FF2B5EF4-FFF2-40B4-BE49-F238E27FC236}">
                <a16:creationId xmlns:a16="http://schemas.microsoft.com/office/drawing/2014/main" id="{5456A086-1DB9-82A3-6A4F-63D0FA9F4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9759" y="5085208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solidFill>
                  <a:srgbClr val="FFFFFF"/>
                </a:solidFill>
                <a:latin typeface="Times New Roman" pitchFamily="18" charset="0"/>
                <a:ea typeface="楷体_GB2312" pitchFamily="49" charset="-122"/>
              </a:rPr>
              <a:t>求</a:t>
            </a:r>
          </a:p>
        </p:txBody>
      </p:sp>
      <p:graphicFrame>
        <p:nvGraphicFramePr>
          <p:cNvPr id="15" name="Object 7">
            <a:extLst>
              <a:ext uri="{FF2B5EF4-FFF2-40B4-BE49-F238E27FC236}">
                <a16:creationId xmlns:a16="http://schemas.microsoft.com/office/drawing/2014/main" id="{E86457F1-ABE2-0B14-2CCA-3657678262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9081171"/>
              </p:ext>
            </p:extLst>
          </p:nvPr>
        </p:nvGraphicFramePr>
        <p:xfrm>
          <a:off x="3821409" y="4850257"/>
          <a:ext cx="8001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99920" imgH="1054080" progId="Equation.3">
                  <p:embed/>
                </p:oleObj>
              </mc:Choice>
              <mc:Fallback>
                <p:oleObj name="Equation" r:id="rId9" imgW="799920" imgH="1054080" progId="Equation.3">
                  <p:embed/>
                  <p:pic>
                    <p:nvPicPr>
                      <p:cNvPr id="3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1409" y="4850257"/>
                        <a:ext cx="800100" cy="1054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图片 15">
            <a:extLst>
              <a:ext uri="{FF2B5EF4-FFF2-40B4-BE49-F238E27FC236}">
                <a16:creationId xmlns:a16="http://schemas.microsoft.com/office/drawing/2014/main" id="{675DB6F0-0E67-CC9E-957C-08433A5DC62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6798" y="2763862"/>
            <a:ext cx="801624" cy="40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18852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A2571C9-7464-831A-F2E7-3BFAB7BCC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342" y="525487"/>
            <a:ext cx="7286625" cy="135255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8E03683-87F6-4599-1128-87416837814D}"/>
              </a:ext>
            </a:extLst>
          </p:cNvPr>
          <p:cNvSpPr txBox="1"/>
          <p:nvPr/>
        </p:nvSpPr>
        <p:spPr>
          <a:xfrm>
            <a:off x="257750" y="785525"/>
            <a:ext cx="1249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</a:rPr>
              <a:t>例</a:t>
            </a:r>
            <a:r>
              <a:rPr lang="en-US" altLang="zh-CN" sz="3200" dirty="0">
                <a:solidFill>
                  <a:srgbClr val="FFFF00"/>
                </a:solidFill>
              </a:rPr>
              <a:t>11</a:t>
            </a:r>
            <a:endParaRPr lang="zh-CN" altLang="en-US" sz="3200" dirty="0">
              <a:solidFill>
                <a:srgbClr val="FFFF00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CE83021-8F6B-FAC5-5648-8A6788DB7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342" y="2249512"/>
            <a:ext cx="9677400" cy="70485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81D573F-8B2A-D4DA-073E-B37FF534FE97}"/>
              </a:ext>
            </a:extLst>
          </p:cNvPr>
          <p:cNvSpPr txBox="1"/>
          <p:nvPr/>
        </p:nvSpPr>
        <p:spPr>
          <a:xfrm>
            <a:off x="50406" y="2249512"/>
            <a:ext cx="1249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</a:rPr>
              <a:t>例</a:t>
            </a:r>
            <a:r>
              <a:rPr lang="en-US" altLang="zh-CN" sz="3200" dirty="0">
                <a:solidFill>
                  <a:srgbClr val="FFFF00"/>
                </a:solidFill>
              </a:rPr>
              <a:t>12</a:t>
            </a:r>
            <a:endParaRPr lang="zh-CN" altLang="en-US" sz="3200" dirty="0">
              <a:solidFill>
                <a:srgbClr val="FFFF00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F112C82-0615-A81E-3084-8F878FD23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342" y="3492664"/>
            <a:ext cx="11052580" cy="86493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E7A9537-1CF5-5108-C6F9-AE42006C9014}"/>
              </a:ext>
            </a:extLst>
          </p:cNvPr>
          <p:cNvSpPr txBox="1"/>
          <p:nvPr/>
        </p:nvSpPr>
        <p:spPr>
          <a:xfrm>
            <a:off x="62951" y="3594880"/>
            <a:ext cx="1249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</a:rPr>
              <a:t>例</a:t>
            </a:r>
            <a:r>
              <a:rPr lang="en-US" altLang="zh-CN" sz="3200" dirty="0">
                <a:solidFill>
                  <a:srgbClr val="FFFF00"/>
                </a:solidFill>
              </a:rPr>
              <a:t>13</a:t>
            </a:r>
            <a:endParaRPr lang="zh-CN" altLang="en-US" sz="3200" dirty="0">
              <a:solidFill>
                <a:srgbClr val="FFFF00"/>
              </a:solidFill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841F7A56-0027-C5ED-5B50-034B043017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342" y="4357596"/>
            <a:ext cx="5686425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425633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D3DDB9-0D5C-79D3-F136-3A1623919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1309624"/>
      </p:ext>
    </p:extLst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99"/>
      </a:dk2>
      <a:lt2>
        <a:srgbClr val="FFFF00"/>
      </a:lt2>
      <a:accent1>
        <a:srgbClr val="FF9900"/>
      </a:accent1>
      <a:accent2>
        <a:srgbClr val="00FFFF"/>
      </a:accent2>
      <a:accent3>
        <a:srgbClr val="AAAACA"/>
      </a:accent3>
      <a:accent4>
        <a:srgbClr val="DADADA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33</Words>
  <Application>Microsoft Office PowerPoint</Application>
  <PresentationFormat>宽屏</PresentationFormat>
  <Paragraphs>13</Paragraphs>
  <Slides>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仿宋</vt:lpstr>
      <vt:lpstr>楷体_GB2312</vt:lpstr>
      <vt:lpstr>Times New Roman</vt:lpstr>
      <vt:lpstr>默认设计模板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shuanping du</dc:creator>
  <cp:lastModifiedBy>shuanping du</cp:lastModifiedBy>
  <cp:revision>2</cp:revision>
  <dcterms:created xsi:type="dcterms:W3CDTF">2025-10-28T13:02:14Z</dcterms:created>
  <dcterms:modified xsi:type="dcterms:W3CDTF">2025-10-28T13:27:46Z</dcterms:modified>
</cp:coreProperties>
</file>