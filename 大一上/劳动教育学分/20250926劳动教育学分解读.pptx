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12977" r:id="rId3"/>
    <p:sldId id="13012" r:id="rId4"/>
    <p:sldId id="13013" r:id="rId5"/>
    <p:sldId id="13014" r:id="rId6"/>
    <p:sldId id="13015" r:id="rId7"/>
    <p:sldId id="13016" r:id="rId8"/>
    <p:sldId id="13017" r:id="rId9"/>
    <p:sldId id="13018" r:id="rId10"/>
    <p:sldId id="13019" r:id="rId11"/>
    <p:sldId id="13021" r:id="rId12"/>
    <p:sldId id="13022" r:id="rId13"/>
    <p:sldId id="12955" r:id="rId14"/>
    <p:sldId id="12952" r:id="rId15"/>
    <p:sldId id="12978" r:id="rId16"/>
    <p:sldId id="12979" r:id="rId17"/>
    <p:sldId id="12980" r:id="rId18"/>
    <p:sldId id="12981" r:id="rId19"/>
    <p:sldId id="12982" r:id="rId20"/>
    <p:sldId id="12983" r:id="rId21"/>
    <p:sldId id="12984" r:id="rId22"/>
    <p:sldId id="12985" r:id="rId23"/>
    <p:sldId id="12986" r:id="rId24"/>
    <p:sldId id="259" r:id="rId25"/>
    <p:sldId id="12987" r:id="rId26"/>
    <p:sldId id="12988" r:id="rId27"/>
    <p:sldId id="12990" r:id="rId28"/>
    <p:sldId id="12989" r:id="rId29"/>
    <p:sldId id="13023" r:id="rId30"/>
    <p:sldId id="12992" r:id="rId31"/>
  </p:sldIdLst>
  <p:sldSz cx="12192000" cy="6858000"/>
  <p:notesSz cx="6858000" cy="9144000"/>
  <p:custDataLst>
    <p:tags r:id="rId3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4"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showGuides="1">
      <p:cViewPr varScale="1">
        <p:scale>
          <a:sx n="107" d="100"/>
          <a:sy n="107" d="100"/>
        </p:scale>
        <p:origin x="696" y="102"/>
      </p:cViewPr>
      <p:guideLst>
        <p:guide orient="horz" pos="2104"/>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2025/9/26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7E43E37-84C5-497E-858B-AC6333DC1841}"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alphaModFix amt="8000"/>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C6F2FF-80DA-422D-B4B1-A81359BF89EE}" type="datetimeFigureOut">
              <a:rPr lang="zh-CN" altLang="en-US" smtClean="0"/>
              <a:t>2025/9/26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E43E37-84C5-497E-858B-AC6333DC1841}"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4.xml"/><Relationship Id="rId7" Type="http://schemas.openxmlformats.org/officeDocument/2006/relationships/image" Target="../media/image3.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Layout" Target="../slideLayouts/slideLayout12.xml"/><Relationship Id="rId5" Type="http://schemas.openxmlformats.org/officeDocument/2006/relationships/tags" Target="../tags/tag6.xml"/><Relationship Id="rId4" Type="http://schemas.openxmlformats.org/officeDocument/2006/relationships/tags" Target="../tags/tag5.xml"/></Relationships>
</file>

<file path=ppt/slides/_rels/slide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9.xml"/><Relationship Id="rId7" Type="http://schemas.openxmlformats.org/officeDocument/2006/relationships/image" Target="../media/image3.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Layout" Target="../slideLayouts/slideLayout12.xml"/><Relationship Id="rId5" Type="http://schemas.openxmlformats.org/officeDocument/2006/relationships/tags" Target="../tags/tag11.xml"/><Relationship Id="rId4" Type="http://schemas.openxmlformats.org/officeDocument/2006/relationships/tags" Target="../tags/tag10.xml"/></Relationships>
</file>

<file path=ppt/slides/_rels/slide4.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14.xml"/><Relationship Id="rId7" Type="http://schemas.openxmlformats.org/officeDocument/2006/relationships/image" Target="../media/image3.png"/><Relationship Id="rId12" Type="http://schemas.openxmlformats.org/officeDocument/2006/relationships/image" Target="../media/image8.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Layout" Target="../slideLayouts/slideLayout12.xml"/><Relationship Id="rId11" Type="http://schemas.openxmlformats.org/officeDocument/2006/relationships/image" Target="../media/image7.png"/><Relationship Id="rId5" Type="http://schemas.openxmlformats.org/officeDocument/2006/relationships/tags" Target="../tags/tag16.xml"/><Relationship Id="rId10" Type="http://schemas.openxmlformats.org/officeDocument/2006/relationships/image" Target="../media/image6.png"/><Relationship Id="rId4" Type="http://schemas.openxmlformats.org/officeDocument/2006/relationships/tags" Target="../tags/tag15.xml"/><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19.xml"/><Relationship Id="rId7" Type="http://schemas.openxmlformats.org/officeDocument/2006/relationships/image" Target="../media/image3.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Layout" Target="../slideLayouts/slideLayout12.xml"/><Relationship Id="rId5" Type="http://schemas.openxmlformats.org/officeDocument/2006/relationships/tags" Target="../tags/tag21.xml"/><Relationship Id="rId10" Type="http://schemas.openxmlformats.org/officeDocument/2006/relationships/image" Target="../media/image10.png"/><Relationship Id="rId4" Type="http://schemas.openxmlformats.org/officeDocument/2006/relationships/tags" Target="../tags/tag20.xml"/><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tags" Target="../tags/tag24.xml"/><Relationship Id="rId7" Type="http://schemas.openxmlformats.org/officeDocument/2006/relationships/image" Target="../media/image11.png"/><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slideLayout" Target="../slideLayouts/slideLayout12.xml"/><Relationship Id="rId11" Type="http://schemas.openxmlformats.org/officeDocument/2006/relationships/image" Target="../media/image4.svg"/><Relationship Id="rId5" Type="http://schemas.openxmlformats.org/officeDocument/2006/relationships/tags" Target="../tags/tag26.xml"/><Relationship Id="rId10" Type="http://schemas.openxmlformats.org/officeDocument/2006/relationships/image" Target="../media/image3.png"/><Relationship Id="rId4" Type="http://schemas.openxmlformats.org/officeDocument/2006/relationships/tags" Target="../tags/tag25.xml"/><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tags" Target="../tags/tag29.xml"/><Relationship Id="rId7" Type="http://schemas.openxmlformats.org/officeDocument/2006/relationships/image" Target="../media/image14.png"/><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Layout" Target="../slideLayouts/slideLayout12.xml"/><Relationship Id="rId5" Type="http://schemas.openxmlformats.org/officeDocument/2006/relationships/tags" Target="../tags/tag31.xml"/><Relationship Id="rId10" Type="http://schemas.openxmlformats.org/officeDocument/2006/relationships/image" Target="../media/image4.svg"/><Relationship Id="rId4" Type="http://schemas.openxmlformats.org/officeDocument/2006/relationships/tags" Target="../tags/tag30.xml"/><Relationship Id="rId9"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4.xml"/><Relationship Id="rId7" Type="http://schemas.openxmlformats.org/officeDocument/2006/relationships/image" Target="../media/image16.png"/><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slideLayout" Target="../slideLayouts/slideLayout12.xml"/><Relationship Id="rId5" Type="http://schemas.openxmlformats.org/officeDocument/2006/relationships/tags" Target="../tags/tag36.xml"/><Relationship Id="rId4" Type="http://schemas.openxmlformats.org/officeDocument/2006/relationships/tags" Target="../tags/tag35.xml"/><Relationship Id="rId9" Type="http://schemas.openxmlformats.org/officeDocument/2006/relationships/image" Target="../media/image4.svg"/></Relationships>
</file>

<file path=ppt/slides/_rels/slide9.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39.xml"/><Relationship Id="rId7" Type="http://schemas.openxmlformats.org/officeDocument/2006/relationships/image" Target="../media/image3.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slideLayout" Target="../slideLayouts/slideLayout12.xml"/><Relationship Id="rId5" Type="http://schemas.openxmlformats.org/officeDocument/2006/relationships/tags" Target="../tags/tag41.xml"/><Relationship Id="rId10" Type="http://schemas.openxmlformats.org/officeDocument/2006/relationships/image" Target="../media/image18.png"/><Relationship Id="rId4" Type="http://schemas.openxmlformats.org/officeDocument/2006/relationships/tags" Target="../tags/tag40.xml"/><Relationship Id="rId9"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44.xml"/><Relationship Id="rId7" Type="http://schemas.openxmlformats.org/officeDocument/2006/relationships/image" Target="../media/image19.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Layout" Target="../slideLayouts/slideLayout12.xml"/><Relationship Id="rId5" Type="http://schemas.openxmlformats.org/officeDocument/2006/relationships/tags" Target="../tags/tag46.xml"/><Relationship Id="rId4" Type="http://schemas.openxmlformats.org/officeDocument/2006/relationships/tags" Target="../tags/tag45.xml"/></Relationships>
</file>

<file path=ppt/slides/_rels/slide11.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49.xml"/><Relationship Id="rId7" Type="http://schemas.openxmlformats.org/officeDocument/2006/relationships/image" Target="../media/image19.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Layout" Target="../slideLayouts/slideLayout12.xml"/><Relationship Id="rId5" Type="http://schemas.openxmlformats.org/officeDocument/2006/relationships/tags" Target="../tags/tag51.xml"/><Relationship Id="rId4" Type="http://schemas.openxmlformats.org/officeDocument/2006/relationships/tags" Target="../tags/tag50.xml"/></Relationships>
</file>

<file path=ppt/slides/_rels/slide1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tags" Target="../tags/tag54.xml"/><Relationship Id="rId7" Type="http://schemas.openxmlformats.org/officeDocument/2006/relationships/image" Target="../media/image19.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Layout" Target="../slideLayouts/slideLayout12.xml"/><Relationship Id="rId5" Type="http://schemas.openxmlformats.org/officeDocument/2006/relationships/tags" Target="../tags/tag56.xml"/><Relationship Id="rId4" Type="http://schemas.openxmlformats.org/officeDocument/2006/relationships/tags" Target="../tags/tag55.xml"/><Relationship Id="rId9" Type="http://schemas.openxmlformats.org/officeDocument/2006/relationships/image" Target="../media/image20.png"/></Relationships>
</file>

<file path=ppt/slides/_rels/slide13.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tags" Target="../tags/tag74.xml"/><Relationship Id="rId3" Type="http://schemas.openxmlformats.org/officeDocument/2006/relationships/tags" Target="../tags/tag59.xml"/><Relationship Id="rId21" Type="http://schemas.openxmlformats.org/officeDocument/2006/relationships/image" Target="../media/image21.jpeg"/><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slideLayout" Target="../slideLayouts/slideLayout6.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24" Type="http://schemas.openxmlformats.org/officeDocument/2006/relationships/image" Target="../media/image3.png"/><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image" Target="../media/image23.jpeg"/><Relationship Id="rId10" Type="http://schemas.openxmlformats.org/officeDocument/2006/relationships/tags" Target="../tags/tag66.xml"/><Relationship Id="rId19" Type="http://schemas.openxmlformats.org/officeDocument/2006/relationships/tags" Target="../tags/tag75.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image" Target="../media/image22.jpeg"/></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78.xml"/><Relationship Id="rId7" Type="http://schemas.openxmlformats.org/officeDocument/2006/relationships/slideLayout" Target="../slideLayouts/slideLayout6.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tags" Target="../tags/tag81.xml"/><Relationship Id="rId5" Type="http://schemas.openxmlformats.org/officeDocument/2006/relationships/tags" Target="../tags/tag80.xml"/><Relationship Id="rId4" Type="http://schemas.openxmlformats.org/officeDocument/2006/relationships/tags" Target="../tags/tag79.xml"/><Relationship Id="rId9" Type="http://schemas.openxmlformats.org/officeDocument/2006/relationships/image" Target="../media/image4.sv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84.xml"/><Relationship Id="rId7" Type="http://schemas.openxmlformats.org/officeDocument/2006/relationships/slideLayout" Target="../slideLayouts/slideLayout6.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9" Type="http://schemas.openxmlformats.org/officeDocument/2006/relationships/image" Target="../media/image4.sv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90.xml"/><Relationship Id="rId7" Type="http://schemas.openxmlformats.org/officeDocument/2006/relationships/slideLayout" Target="../slideLayouts/slideLayout6.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9" Type="http://schemas.openxmlformats.org/officeDocument/2006/relationships/image" Target="../media/image4.svg"/></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96.xml"/><Relationship Id="rId7" Type="http://schemas.openxmlformats.org/officeDocument/2006/relationships/slideLayout" Target="../slideLayouts/slideLayout6.xml"/><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5" Type="http://schemas.openxmlformats.org/officeDocument/2006/relationships/tags" Target="../tags/tag98.xml"/><Relationship Id="rId4" Type="http://schemas.openxmlformats.org/officeDocument/2006/relationships/tags" Target="../tags/tag97.xml"/><Relationship Id="rId9" Type="http://schemas.openxmlformats.org/officeDocument/2006/relationships/image" Target="../media/image4.svg"/></Relationships>
</file>

<file path=ppt/slides/_rels/slide1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02.xml"/><Relationship Id="rId7" Type="http://schemas.openxmlformats.org/officeDocument/2006/relationships/slideLayout" Target="../slideLayouts/slideLayout6.xml"/><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tags" Target="../tags/tag105.xml"/><Relationship Id="rId5" Type="http://schemas.openxmlformats.org/officeDocument/2006/relationships/tags" Target="../tags/tag104.xml"/><Relationship Id="rId4" Type="http://schemas.openxmlformats.org/officeDocument/2006/relationships/tags" Target="../tags/tag103.xml"/><Relationship Id="rId9" Type="http://schemas.openxmlformats.org/officeDocument/2006/relationships/image" Target="../media/image4.sv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08.xml"/><Relationship Id="rId7" Type="http://schemas.openxmlformats.org/officeDocument/2006/relationships/slideLayout" Target="../slideLayouts/slideLayout6.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tags" Target="../tags/tag111.xml"/><Relationship Id="rId5" Type="http://schemas.openxmlformats.org/officeDocument/2006/relationships/tags" Target="../tags/tag110.xml"/><Relationship Id="rId4" Type="http://schemas.openxmlformats.org/officeDocument/2006/relationships/tags" Target="../tags/tag109.xml"/><Relationship Id="rId9" Type="http://schemas.openxmlformats.org/officeDocument/2006/relationships/image" Target="../media/image4.svg"/></Relationships>
</file>

<file path=ppt/slides/_rels/slide20.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14.xml"/><Relationship Id="rId7" Type="http://schemas.openxmlformats.org/officeDocument/2006/relationships/slideLayout" Target="../slideLayouts/slideLayout6.xml"/><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9" Type="http://schemas.openxmlformats.org/officeDocument/2006/relationships/image" Target="../media/image4.svg"/></Relationships>
</file>

<file path=ppt/slides/_rels/slide21.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20.xml"/><Relationship Id="rId7" Type="http://schemas.openxmlformats.org/officeDocument/2006/relationships/slideLayout" Target="../slideLayouts/slideLayout6.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9" Type="http://schemas.openxmlformats.org/officeDocument/2006/relationships/image" Target="../media/image4.svg"/></Relationships>
</file>

<file path=ppt/slides/_rels/slide2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26.xml"/><Relationship Id="rId7" Type="http://schemas.openxmlformats.org/officeDocument/2006/relationships/slideLayout" Target="../slideLayouts/slideLayout6.xml"/><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9" Type="http://schemas.openxmlformats.org/officeDocument/2006/relationships/image" Target="../media/image4.svg"/></Relationships>
</file>

<file path=ppt/slides/_rels/slide2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32.xml"/><Relationship Id="rId7" Type="http://schemas.openxmlformats.org/officeDocument/2006/relationships/slideLayout" Target="../slideLayouts/slideLayout6.xml"/><Relationship Id="rId2" Type="http://schemas.openxmlformats.org/officeDocument/2006/relationships/tags" Target="../tags/tag131.xml"/><Relationship Id="rId1" Type="http://schemas.openxmlformats.org/officeDocument/2006/relationships/tags" Target="../tags/tag130.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9" Type="http://schemas.openxmlformats.org/officeDocument/2006/relationships/image" Target="../media/image4.svg"/></Relationships>
</file>

<file path=ppt/slides/_rels/slide2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38.xml"/><Relationship Id="rId7" Type="http://schemas.openxmlformats.org/officeDocument/2006/relationships/image" Target="../media/image2.jpeg"/><Relationship Id="rId2" Type="http://schemas.openxmlformats.org/officeDocument/2006/relationships/tags" Target="../tags/tag137.xml"/><Relationship Id="rId1" Type="http://schemas.openxmlformats.org/officeDocument/2006/relationships/tags" Target="../tags/tag136.xml"/><Relationship Id="rId6" Type="http://schemas.openxmlformats.org/officeDocument/2006/relationships/slideLayout" Target="../slideLayouts/slideLayout2.xml"/><Relationship Id="rId5" Type="http://schemas.openxmlformats.org/officeDocument/2006/relationships/tags" Target="../tags/tag140.xml"/><Relationship Id="rId4" Type="http://schemas.openxmlformats.org/officeDocument/2006/relationships/tags" Target="../tags/tag139.xml"/><Relationship Id="rId9" Type="http://schemas.openxmlformats.org/officeDocument/2006/relationships/image" Target="../media/image4.svg"/></Relationships>
</file>

<file path=ppt/slides/_rels/slide2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43.xml"/><Relationship Id="rId7" Type="http://schemas.openxmlformats.org/officeDocument/2006/relationships/image" Target="../media/image2.jpeg"/><Relationship Id="rId2" Type="http://schemas.openxmlformats.org/officeDocument/2006/relationships/tags" Target="../tags/tag142.xml"/><Relationship Id="rId1" Type="http://schemas.openxmlformats.org/officeDocument/2006/relationships/tags" Target="../tags/tag141.xml"/><Relationship Id="rId6" Type="http://schemas.openxmlformats.org/officeDocument/2006/relationships/slideLayout" Target="../slideLayouts/slideLayout2.xml"/><Relationship Id="rId5" Type="http://schemas.openxmlformats.org/officeDocument/2006/relationships/tags" Target="../tags/tag145.xml"/><Relationship Id="rId4" Type="http://schemas.openxmlformats.org/officeDocument/2006/relationships/tags" Target="../tags/tag144.xml"/><Relationship Id="rId9" Type="http://schemas.openxmlformats.org/officeDocument/2006/relationships/image" Target="../media/image4.svg"/></Relationships>
</file>

<file path=ppt/slides/_rels/slide2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48.xml"/><Relationship Id="rId7" Type="http://schemas.openxmlformats.org/officeDocument/2006/relationships/image" Target="../media/image2.jpeg"/><Relationship Id="rId2" Type="http://schemas.openxmlformats.org/officeDocument/2006/relationships/tags" Target="../tags/tag147.xml"/><Relationship Id="rId1" Type="http://schemas.openxmlformats.org/officeDocument/2006/relationships/tags" Target="../tags/tag146.xml"/><Relationship Id="rId6" Type="http://schemas.openxmlformats.org/officeDocument/2006/relationships/slideLayout" Target="../slideLayouts/slideLayout2.xml"/><Relationship Id="rId5" Type="http://schemas.openxmlformats.org/officeDocument/2006/relationships/tags" Target="../tags/tag150.xml"/><Relationship Id="rId4" Type="http://schemas.openxmlformats.org/officeDocument/2006/relationships/tags" Target="../tags/tag149.xml"/><Relationship Id="rId9" Type="http://schemas.openxmlformats.org/officeDocument/2006/relationships/image" Target="../media/image4.svg"/></Relationships>
</file>

<file path=ppt/slides/_rels/slide2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53.xml"/><Relationship Id="rId7" Type="http://schemas.openxmlformats.org/officeDocument/2006/relationships/image" Target="../media/image2.jpeg"/><Relationship Id="rId2" Type="http://schemas.openxmlformats.org/officeDocument/2006/relationships/tags" Target="../tags/tag152.xml"/><Relationship Id="rId1" Type="http://schemas.openxmlformats.org/officeDocument/2006/relationships/tags" Target="../tags/tag151.xml"/><Relationship Id="rId6" Type="http://schemas.openxmlformats.org/officeDocument/2006/relationships/slideLayout" Target="../slideLayouts/slideLayout2.xml"/><Relationship Id="rId5" Type="http://schemas.openxmlformats.org/officeDocument/2006/relationships/tags" Target="../tags/tag155.xml"/><Relationship Id="rId4" Type="http://schemas.openxmlformats.org/officeDocument/2006/relationships/tags" Target="../tags/tag154.xml"/><Relationship Id="rId9" Type="http://schemas.openxmlformats.org/officeDocument/2006/relationships/image" Target="../media/image4.svg"/></Relationships>
</file>

<file path=ppt/slides/_rels/slide28.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58.xml"/><Relationship Id="rId7" Type="http://schemas.openxmlformats.org/officeDocument/2006/relationships/image" Target="../media/image2.jpeg"/><Relationship Id="rId2" Type="http://schemas.openxmlformats.org/officeDocument/2006/relationships/tags" Target="../tags/tag157.xml"/><Relationship Id="rId1" Type="http://schemas.openxmlformats.org/officeDocument/2006/relationships/tags" Target="../tags/tag156.xml"/><Relationship Id="rId6" Type="http://schemas.openxmlformats.org/officeDocument/2006/relationships/slideLayout" Target="../slideLayouts/slideLayout2.xml"/><Relationship Id="rId5" Type="http://schemas.openxmlformats.org/officeDocument/2006/relationships/tags" Target="../tags/tag160.xml"/><Relationship Id="rId4" Type="http://schemas.openxmlformats.org/officeDocument/2006/relationships/tags" Target="../tags/tag159.xml"/><Relationship Id="rId9" Type="http://schemas.openxmlformats.org/officeDocument/2006/relationships/image" Target="../media/image4.svg"/></Relationships>
</file>

<file path=ppt/slides/_rels/slide2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tags" Target="../tags/tag163.xml"/><Relationship Id="rId7" Type="http://schemas.openxmlformats.org/officeDocument/2006/relationships/image" Target="../media/image2.jpeg"/><Relationship Id="rId2" Type="http://schemas.openxmlformats.org/officeDocument/2006/relationships/tags" Target="../tags/tag162.xml"/><Relationship Id="rId1" Type="http://schemas.openxmlformats.org/officeDocument/2006/relationships/tags" Target="../tags/tag161.xml"/><Relationship Id="rId6" Type="http://schemas.openxmlformats.org/officeDocument/2006/relationships/slideLayout" Target="../slideLayouts/slideLayout2.xml"/><Relationship Id="rId5" Type="http://schemas.openxmlformats.org/officeDocument/2006/relationships/tags" Target="../tags/tag165.xml"/><Relationship Id="rId4" Type="http://schemas.openxmlformats.org/officeDocument/2006/relationships/tags" Target="../tags/tag164.xml"/><Relationship Id="rId9" Type="http://schemas.openxmlformats.org/officeDocument/2006/relationships/image" Target="../media/image4.svg"/></Relationships>
</file>

<file path=ppt/slides/_rels/slide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25"/>
          <p:cNvSpPr txBox="1"/>
          <p:nvPr/>
        </p:nvSpPr>
        <p:spPr>
          <a:xfrm>
            <a:off x="345440" y="880745"/>
            <a:ext cx="9551035" cy="2584450"/>
          </a:xfrm>
          <a:prstGeom prst="rect">
            <a:avLst/>
          </a:prstGeom>
          <a:noFill/>
        </p:spPr>
        <p:txBody>
          <a:bodyPr wrap="square" rtlCol="0">
            <a:spAutoFit/>
            <a:scene3d>
              <a:camera prst="orthographicFront"/>
              <a:lightRig rig="threePt" dir="t"/>
            </a:scene3d>
          </a:bodyPr>
          <a:lstStyle/>
          <a:p>
            <a:pPr defTabSz="1219200"/>
            <a:r>
              <a:rPr lang="zh-CN" altLang="en-US" sz="5400" dirty="0">
                <a:solidFill>
                  <a:schemeClr val="accent1"/>
                </a:solidFill>
                <a:effectLst>
                  <a:outerShdw blurRad="38100" dist="25400" dir="5400000" algn="ctr" rotWithShape="0">
                    <a:srgbClr val="6E747A">
                      <a:alpha val="43000"/>
                    </a:srgbClr>
                  </a:outerShdw>
                </a:effectLst>
                <a:latin typeface="华文行楷" panose="02010800040101010101" charset="-122"/>
                <a:ea typeface="华文行楷" panose="02010800040101010101" charset="-122"/>
              </a:rPr>
              <a:t>厦门大学信息学院</a:t>
            </a:r>
          </a:p>
          <a:p>
            <a:pPr defTabSz="1219200"/>
            <a:r>
              <a:rPr lang="zh-CN" altLang="en-US" sz="7200" dirty="0">
                <a:solidFill>
                  <a:schemeClr val="accent1"/>
                </a:solidFill>
                <a:effectLst>
                  <a:outerShdw blurRad="38100" dist="25400" dir="5400000" algn="ctr" rotWithShape="0">
                    <a:srgbClr val="6E747A">
                      <a:alpha val="43000"/>
                    </a:srgbClr>
                  </a:outerShdw>
                </a:effectLst>
                <a:latin typeface="隶书" panose="02010509060101010101" charset="-122"/>
                <a:ea typeface="隶书" panose="02010509060101010101" charset="-122"/>
              </a:rPr>
              <a:t>劳动教育必修学分解读</a:t>
            </a:r>
          </a:p>
          <a:p>
            <a:pPr defTabSz="1219200"/>
            <a:r>
              <a:rPr lang="zh-CN" altLang="en-US" sz="3600" dirty="0">
                <a:solidFill>
                  <a:schemeClr val="accent1"/>
                </a:solidFill>
                <a:effectLst>
                  <a:outerShdw blurRad="38100" dist="25400" dir="5400000" algn="ctr" rotWithShape="0">
                    <a:srgbClr val="6E747A">
                      <a:alpha val="43000"/>
                    </a:srgbClr>
                  </a:outerShdw>
                </a:effectLst>
                <a:latin typeface="华文新魏" panose="02010800040101010101" charset="-122"/>
                <a:ea typeface="华文新魏" panose="02010800040101010101" charset="-122"/>
                <a:cs typeface="华文新魏" panose="02010800040101010101" charset="-122"/>
              </a:rPr>
              <a:t>（</a:t>
            </a:r>
            <a:r>
              <a:rPr lang="en-US" altLang="zh-CN" sz="3600" dirty="0">
                <a:solidFill>
                  <a:schemeClr val="accent1"/>
                </a:solidFill>
                <a:effectLst>
                  <a:outerShdw blurRad="38100" dist="25400" dir="5400000" algn="ctr" rotWithShape="0">
                    <a:srgbClr val="6E747A">
                      <a:alpha val="43000"/>
                    </a:srgbClr>
                  </a:outerShdw>
                </a:effectLst>
                <a:latin typeface="华文新魏" panose="02010800040101010101" charset="-122"/>
                <a:ea typeface="华文新魏" panose="02010800040101010101" charset="-122"/>
                <a:cs typeface="华文新魏" panose="02010800040101010101" charset="-122"/>
              </a:rPr>
              <a:t>2025</a:t>
            </a:r>
            <a:r>
              <a:rPr lang="zh-CN" altLang="en-US" sz="3600" dirty="0">
                <a:solidFill>
                  <a:schemeClr val="accent1"/>
                </a:solidFill>
                <a:effectLst>
                  <a:outerShdw blurRad="38100" dist="25400" dir="5400000" algn="ctr" rotWithShape="0">
                    <a:srgbClr val="6E747A">
                      <a:alpha val="43000"/>
                    </a:srgbClr>
                  </a:outerShdw>
                </a:effectLst>
                <a:latin typeface="华文新魏" panose="02010800040101010101" charset="-122"/>
                <a:ea typeface="华文新魏" panose="02010800040101010101" charset="-122"/>
                <a:cs typeface="华文新魏" panose="02010800040101010101" charset="-122"/>
              </a:rPr>
              <a:t>年</a:t>
            </a:r>
            <a:r>
              <a:rPr lang="en-US" altLang="zh-CN" sz="3600" dirty="0">
                <a:solidFill>
                  <a:schemeClr val="accent1"/>
                </a:solidFill>
                <a:effectLst>
                  <a:outerShdw blurRad="38100" dist="25400" dir="5400000" algn="ctr" rotWithShape="0">
                    <a:srgbClr val="6E747A">
                      <a:alpha val="43000"/>
                    </a:srgbClr>
                  </a:outerShdw>
                </a:effectLst>
                <a:latin typeface="华文新魏" panose="02010800040101010101" charset="-122"/>
                <a:ea typeface="华文新魏" panose="02010800040101010101" charset="-122"/>
                <a:cs typeface="华文新魏" panose="02010800040101010101" charset="-122"/>
              </a:rPr>
              <a:t>9</a:t>
            </a:r>
            <a:r>
              <a:rPr lang="zh-CN" altLang="en-US" sz="3600" dirty="0">
                <a:solidFill>
                  <a:schemeClr val="accent1"/>
                </a:solidFill>
                <a:effectLst>
                  <a:outerShdw blurRad="38100" dist="25400" dir="5400000" algn="ctr" rotWithShape="0">
                    <a:srgbClr val="6E747A">
                      <a:alpha val="43000"/>
                    </a:srgbClr>
                  </a:outerShdw>
                </a:effectLst>
                <a:latin typeface="华文新魏" panose="02010800040101010101" charset="-122"/>
                <a:ea typeface="华文新魏" panose="02010800040101010101" charset="-122"/>
                <a:cs typeface="华文新魏" panose="02010800040101010101" charset="-122"/>
              </a:rPr>
              <a:t>月更新版）</a:t>
            </a:r>
          </a:p>
        </p:txBody>
      </p:sp>
      <p:sp>
        <p:nvSpPr>
          <p:cNvPr id="2" name="TextBox 7"/>
          <p:cNvSpPr>
            <a:spLocks noChangeArrowheads="1"/>
          </p:cNvSpPr>
          <p:nvPr/>
        </p:nvSpPr>
        <p:spPr bwMode="auto">
          <a:xfrm>
            <a:off x="530860" y="4279265"/>
            <a:ext cx="3191510" cy="3689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fontAlgn="base">
              <a:spcBef>
                <a:spcPct val="0"/>
              </a:spcBef>
              <a:spcAft>
                <a:spcPct val="0"/>
              </a:spcAft>
              <a:defRPr/>
            </a:pP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时</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  </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间：</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2025</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年</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9</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月</a:t>
            </a:r>
          </a:p>
        </p:txBody>
      </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6" name="五角星 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252855" y="3804285"/>
            <a:ext cx="9685655" cy="2239010"/>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10120630" cy="3628044"/>
          </a:xfrm>
          <a:prstGeom prst="rect">
            <a:avLst/>
          </a:prstGeom>
          <a:noFill/>
        </p:spPr>
        <p:txBody>
          <a:bodyPr wrap="square">
            <a:spAutoFit/>
          </a:bodyPr>
          <a:lstStyle/>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根据学校</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11</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月份发布的最新文件，学院结合实际修订劳动教育文件</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请同学们</a:t>
            </a:r>
            <a:r>
              <a:rPr lang="zh-CN" altLang="en-US" b="1" dirty="0">
                <a:solidFill>
                  <a:srgbClr val="FF0000"/>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cs typeface="微软雅黑" panose="020B0503020204020204" pitchFamily="34" charset="-122"/>
                <a:sym typeface="+mn-lt"/>
              </a:rPr>
              <a:t>认准新文件</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《厦门大学信息学院</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新时代中国特色社会主义劳动教育</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本科生必修课实践学时安排及认定细则（</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2024</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年</a:t>
            </a:r>
            <a:r>
              <a:rPr lang="en-US" altLang="zh-CN"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12</a:t>
            </a:r>
            <a:r>
              <a:rPr lang="zh-CN" altLang="en-US" b="1"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lt"/>
              </a:rPr>
              <a:t>月</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sz="2400" b="1"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sym typeface="+mn-lt"/>
              </a:rPr>
              <a:t>特别提醒！截至最后一次认定时（大三下的暑假），没有获得该学分，无法保研！！！</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217805" y="351155"/>
            <a:ext cx="2825115" cy="688340"/>
            <a:chOff x="343" y="553"/>
            <a:chExt cx="4449" cy="1084"/>
          </a:xfrm>
        </p:grpSpPr>
        <p:sp>
          <p:nvSpPr>
            <p:cNvPr id="4"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9"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0" name="文本框 9"/>
            <p:cNvSpPr txBox="1"/>
            <p:nvPr>
              <p:custDataLst>
                <p:tags r:id="rId3"/>
              </p:custDataLst>
            </p:nvPr>
          </p:nvSpPr>
          <p:spPr>
            <a:xfrm>
              <a:off x="1437" y="604"/>
              <a:ext cx="3355" cy="969"/>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基本情况</a:t>
              </a:r>
            </a:p>
          </p:txBody>
        </p:sp>
        <p:sp>
          <p:nvSpPr>
            <p:cNvPr id="11"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2"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2" name="五角星 1"/>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7" name="五角星 6"/>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文本框 73"/>
          <p:cNvSpPr txBox="1"/>
          <p:nvPr/>
        </p:nvSpPr>
        <p:spPr>
          <a:xfrm>
            <a:off x="2537871" y="2099726"/>
            <a:ext cx="10120630" cy="2658548"/>
          </a:xfrm>
          <a:prstGeom prst="rect">
            <a:avLst/>
          </a:prstGeom>
          <a:noFill/>
        </p:spPr>
        <p:txBody>
          <a:bodyPr wrap="square">
            <a:spAutoFit/>
          </a:bodyPr>
          <a:lstStyle/>
          <a:p>
            <a:pPr>
              <a:lnSpc>
                <a:spcPct val="150000"/>
              </a:lnSpc>
            </a:pP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1</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、理论学习需要到</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劳动教育课程管理系统</a:t>
            </a:r>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完成。</a:t>
            </a:r>
          </a:p>
          <a:p>
            <a:pPr>
              <a:lnSpc>
                <a:spcPct val="150000"/>
              </a:lnSpc>
            </a:pP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2</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、实践部分</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32</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学时，包含：</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专业技能模块</a:t>
            </a: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12</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学时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学科入门实践</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（为必修项，需修满</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4</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学时）；</a:t>
            </a:r>
          </a:p>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sym typeface="+mn-lt"/>
              </a:rPr>
              <a:t>志愿公益模块</a:t>
            </a:r>
            <a:r>
              <a:rPr lang="en-US" altLang="zh-CN" b="1" dirty="0">
                <a:solidFill>
                  <a:srgbClr val="0070C0"/>
                </a:solidFill>
                <a:latin typeface="微软雅黑" panose="020B0503020204020204" pitchFamily="34" charset="-122"/>
                <a:ea typeface="微软雅黑" panose="020B0503020204020204" pitchFamily="34" charset="-122"/>
                <a:sym typeface="+mn-lt"/>
              </a:rPr>
              <a:t>10</a:t>
            </a:r>
            <a:r>
              <a:rPr lang="zh-CN" altLang="en-US" b="1" dirty="0">
                <a:solidFill>
                  <a:srgbClr val="0070C0"/>
                </a:solidFill>
                <a:latin typeface="微软雅黑" panose="020B0503020204020204" pitchFamily="34" charset="-122"/>
                <a:ea typeface="微软雅黑" panose="020B0503020204020204" pitchFamily="34" charset="-122"/>
                <a:sym typeface="+mn-lt"/>
              </a:rPr>
              <a:t>学时</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：只接受志愿汇的工时进行认定；</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日常生活模块</a:t>
            </a: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10</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学时。</a:t>
            </a: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endParaRPr lang="zh-CN" altLang="en-US" sz="2400" b="1" dirty="0">
              <a:solidFill>
                <a:srgbClr val="7030A0"/>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8" name="剪去单角的矩形 57"/>
          <p:cNvSpPr/>
          <p:nvPr/>
        </p:nvSpPr>
        <p:spPr>
          <a:xfrm>
            <a:off x="2311176" y="2422941"/>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217805" y="351155"/>
            <a:ext cx="2825115" cy="688340"/>
            <a:chOff x="343" y="553"/>
            <a:chExt cx="4449" cy="1084"/>
          </a:xfrm>
        </p:grpSpPr>
        <p:sp>
          <p:nvSpPr>
            <p:cNvPr id="4"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9"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0" name="文本框 9"/>
            <p:cNvSpPr txBox="1"/>
            <p:nvPr>
              <p:custDataLst>
                <p:tags r:id="rId3"/>
              </p:custDataLst>
            </p:nvPr>
          </p:nvSpPr>
          <p:spPr>
            <a:xfrm>
              <a:off x="1437" y="604"/>
              <a:ext cx="3355" cy="969"/>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基本情况</a:t>
              </a:r>
            </a:p>
          </p:txBody>
        </p:sp>
        <p:sp>
          <p:nvSpPr>
            <p:cNvPr id="11"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2"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2" name="五角星 1"/>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7" name="五角星 6"/>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10120630" cy="1289905"/>
          </a:xfrm>
          <a:prstGeom prst="rect">
            <a:avLst/>
          </a:prstGeom>
          <a:noFill/>
        </p:spPr>
        <p:txBody>
          <a:bodyPr wrap="square">
            <a:spAutoFit/>
          </a:bodyPr>
          <a:lstStyle/>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学时认定全部在系统完成，不再组织线下认定，方便同学自查学时，及时查漏补缺</a:t>
            </a:r>
          </a:p>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操作指南：</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登录</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厦门大学企业微信</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，点击底部的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工作台</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搜索</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劳动教育课程管理系统</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，点击进入即可</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217805" y="351155"/>
            <a:ext cx="2825115" cy="688340"/>
            <a:chOff x="343" y="553"/>
            <a:chExt cx="4449" cy="1084"/>
          </a:xfrm>
        </p:grpSpPr>
        <p:sp>
          <p:nvSpPr>
            <p:cNvPr id="4"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9"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0" name="文本框 9"/>
            <p:cNvSpPr txBox="1"/>
            <p:nvPr>
              <p:custDataLst>
                <p:tags r:id="rId3"/>
              </p:custDataLst>
            </p:nvPr>
          </p:nvSpPr>
          <p:spPr>
            <a:xfrm>
              <a:off x="1437" y="604"/>
              <a:ext cx="3355" cy="969"/>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基本情况</a:t>
              </a:r>
            </a:p>
          </p:txBody>
        </p:sp>
        <p:sp>
          <p:nvSpPr>
            <p:cNvPr id="11"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2"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pic>
        <p:nvPicPr>
          <p:cNvPr id="2" name="图片 1"/>
          <p:cNvPicPr>
            <a:picLocks noChangeAspect="1"/>
          </p:cNvPicPr>
          <p:nvPr/>
        </p:nvPicPr>
        <p:blipFill>
          <a:blip r:embed="rId9"/>
          <a:stretch>
            <a:fillRect/>
          </a:stretch>
        </p:blipFill>
        <p:spPr>
          <a:xfrm>
            <a:off x="558165" y="3110865"/>
            <a:ext cx="2148840" cy="2148840"/>
          </a:xfrm>
          <a:prstGeom prst="rect">
            <a:avLst/>
          </a:prstGeom>
        </p:spPr>
      </p:pic>
      <p:pic>
        <p:nvPicPr>
          <p:cNvPr id="7" name="图片 6"/>
          <p:cNvPicPr>
            <a:picLocks noChangeAspect="1"/>
          </p:cNvPicPr>
          <p:nvPr/>
        </p:nvPicPr>
        <p:blipFill>
          <a:blip r:embed="rId10"/>
          <a:stretch>
            <a:fillRect/>
          </a:stretch>
        </p:blipFill>
        <p:spPr>
          <a:xfrm>
            <a:off x="3104515" y="3110865"/>
            <a:ext cx="2638425" cy="3200400"/>
          </a:xfrm>
          <a:prstGeom prst="rect">
            <a:avLst/>
          </a:prstGeom>
        </p:spPr>
      </p:pic>
      <p:sp>
        <p:nvSpPr>
          <p:cNvPr id="8" name="文本框 7"/>
          <p:cNvSpPr txBox="1"/>
          <p:nvPr/>
        </p:nvSpPr>
        <p:spPr>
          <a:xfrm>
            <a:off x="3094355" y="5153660"/>
            <a:ext cx="1756410" cy="368300"/>
          </a:xfrm>
          <a:prstGeom prst="rect">
            <a:avLst/>
          </a:prstGeom>
        </p:spPr>
        <p:style>
          <a:lnRef idx="3">
            <a:schemeClr val="accent1"/>
          </a:lnRef>
          <a:fillRef idx="0">
            <a:srgbClr val="FFFFFF"/>
          </a:fillRef>
          <a:effectRef idx="0">
            <a:srgbClr val="FFFFFF"/>
          </a:effectRef>
          <a:fontRef idx="minor">
            <a:schemeClr val="tx1"/>
          </a:fontRef>
        </p:style>
        <p:txBody>
          <a:bodyPr wrap="square" rtlCol="0">
            <a:spAutoFit/>
          </a:bodyPr>
          <a:lstStyle/>
          <a:p>
            <a:endParaRPr lang="zh-CN" altLang="en-US"/>
          </a:p>
        </p:txBody>
      </p:sp>
      <p:pic>
        <p:nvPicPr>
          <p:cNvPr id="13" name="图片 12"/>
          <p:cNvPicPr>
            <a:picLocks noChangeAspect="1"/>
          </p:cNvPicPr>
          <p:nvPr/>
        </p:nvPicPr>
        <p:blipFill>
          <a:blip r:embed="rId11"/>
          <a:stretch>
            <a:fillRect/>
          </a:stretch>
        </p:blipFill>
        <p:spPr>
          <a:xfrm>
            <a:off x="5892165" y="3110865"/>
            <a:ext cx="1661160" cy="3274060"/>
          </a:xfrm>
          <a:prstGeom prst="rect">
            <a:avLst/>
          </a:prstGeom>
        </p:spPr>
      </p:pic>
      <p:pic>
        <p:nvPicPr>
          <p:cNvPr id="14" name="图片 13"/>
          <p:cNvPicPr>
            <a:picLocks noChangeAspect="1"/>
          </p:cNvPicPr>
          <p:nvPr/>
        </p:nvPicPr>
        <p:blipFill>
          <a:blip r:embed="rId12"/>
          <a:stretch>
            <a:fillRect/>
          </a:stretch>
        </p:blipFill>
        <p:spPr>
          <a:xfrm>
            <a:off x="7701915" y="3110865"/>
            <a:ext cx="1650365" cy="3274060"/>
          </a:xfrm>
          <a:prstGeom prst="rect">
            <a:avLst/>
          </a:prstGeom>
        </p:spPr>
      </p:pic>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5" name="文本框 1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6" name="五角星 1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3554095" cy="4661535"/>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活动报名：</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进入应用，在应用底部找到并点击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劳动广场</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选项。</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在劳动广场页面中，可以查看当前全部活动列表（也可进入应用的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首页</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全部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按钮查看全部活动列表）；在活动列表中，浏览并选择感兴趣的活动，点击详情页下方</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立即报名</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按钮即可报名活动。</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 name="组合 2"/>
          <p:cNvGrpSpPr/>
          <p:nvPr/>
        </p:nvGrpSpPr>
        <p:grpSpPr>
          <a:xfrm>
            <a:off x="217805" y="351155"/>
            <a:ext cx="4780280" cy="688340"/>
            <a:chOff x="343" y="553"/>
            <a:chExt cx="5700" cy="1084"/>
          </a:xfrm>
        </p:grpSpPr>
        <p:sp>
          <p:nvSpPr>
            <p:cNvPr id="4"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9"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0" name="文本框 9"/>
            <p:cNvSpPr txBox="1"/>
            <p:nvPr>
              <p:custDataLst>
                <p:tags r:id="rId3"/>
              </p:custDataLst>
            </p:nvPr>
          </p:nvSpPr>
          <p:spPr>
            <a:xfrm>
              <a:off x="1437" y="604"/>
              <a:ext cx="460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系统操作指南</a:t>
              </a:r>
            </a:p>
          </p:txBody>
        </p:sp>
        <p:sp>
          <p:nvSpPr>
            <p:cNvPr id="11"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2"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pic>
        <p:nvPicPr>
          <p:cNvPr id="6" name="图片 5"/>
          <p:cNvPicPr>
            <a:picLocks noChangeAspect="1"/>
          </p:cNvPicPr>
          <p:nvPr/>
        </p:nvPicPr>
        <p:blipFill>
          <a:blip r:embed="rId9"/>
          <a:stretch>
            <a:fillRect/>
          </a:stretch>
        </p:blipFill>
        <p:spPr>
          <a:xfrm>
            <a:off x="5203190" y="351155"/>
            <a:ext cx="2923540" cy="6081395"/>
          </a:xfrm>
          <a:prstGeom prst="rect">
            <a:avLst/>
          </a:prstGeom>
        </p:spPr>
      </p:pic>
      <p:sp>
        <p:nvSpPr>
          <p:cNvPr id="8" name="文本框 7"/>
          <p:cNvSpPr txBox="1"/>
          <p:nvPr/>
        </p:nvSpPr>
        <p:spPr>
          <a:xfrm>
            <a:off x="6746240" y="5939790"/>
            <a:ext cx="621030" cy="492760"/>
          </a:xfrm>
          <a:prstGeom prst="rect">
            <a:avLst/>
          </a:prstGeom>
        </p:spPr>
        <p:style>
          <a:lnRef idx="3">
            <a:schemeClr val="accent1"/>
          </a:lnRef>
          <a:fillRef idx="0">
            <a:srgbClr val="FFFFFF"/>
          </a:fillRef>
          <a:effectRef idx="0">
            <a:srgbClr val="FFFFFF"/>
          </a:effectRef>
          <a:fontRef idx="minor">
            <a:schemeClr val="tx1"/>
          </a:fontRef>
        </p:style>
        <p:txBody>
          <a:bodyPr wrap="square" rtlCol="0">
            <a:noAutofit/>
          </a:bodyPr>
          <a:lstStyle/>
          <a:p>
            <a:endParaRPr lang="zh-CN" altLang="en-US"/>
          </a:p>
        </p:txBody>
      </p:sp>
      <p:pic>
        <p:nvPicPr>
          <p:cNvPr id="15" name="图片 14"/>
          <p:cNvPicPr>
            <a:picLocks noChangeAspect="1"/>
          </p:cNvPicPr>
          <p:nvPr/>
        </p:nvPicPr>
        <p:blipFill>
          <a:blip r:embed="rId10"/>
          <a:stretch>
            <a:fillRect/>
          </a:stretch>
        </p:blipFill>
        <p:spPr>
          <a:xfrm>
            <a:off x="8332470" y="351155"/>
            <a:ext cx="3415665" cy="6082030"/>
          </a:xfrm>
          <a:prstGeom prst="rect">
            <a:avLst/>
          </a:prstGeom>
        </p:spPr>
      </p:pic>
      <p:sp>
        <p:nvSpPr>
          <p:cNvPr id="2" name="五角星 1"/>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7" name="文本框 6"/>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3" name="五角星 12"/>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3554095" cy="2168525"/>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取消报名：</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进入应用首页，点击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已报名</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活动，选择需要取消报名的活动，点击下方</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取消报名</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按钮即可取消报名该活动。</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7"/>
          <a:stretch>
            <a:fillRect/>
          </a:stretch>
        </p:blipFill>
        <p:spPr>
          <a:xfrm>
            <a:off x="4964430" y="1557020"/>
            <a:ext cx="2105660" cy="3838575"/>
          </a:xfrm>
          <a:prstGeom prst="rect">
            <a:avLst/>
          </a:prstGeom>
        </p:spPr>
      </p:pic>
      <p:pic>
        <p:nvPicPr>
          <p:cNvPr id="7" name="图片 6"/>
          <p:cNvPicPr>
            <a:picLocks noChangeAspect="1"/>
          </p:cNvPicPr>
          <p:nvPr/>
        </p:nvPicPr>
        <p:blipFill>
          <a:blip r:embed="rId8"/>
          <a:stretch>
            <a:fillRect/>
          </a:stretch>
        </p:blipFill>
        <p:spPr>
          <a:xfrm>
            <a:off x="7367270" y="1537970"/>
            <a:ext cx="2019300" cy="3810000"/>
          </a:xfrm>
          <a:prstGeom prst="rect">
            <a:avLst/>
          </a:prstGeom>
        </p:spPr>
      </p:pic>
      <p:pic>
        <p:nvPicPr>
          <p:cNvPr id="13" name="图片 12"/>
          <p:cNvPicPr>
            <a:picLocks noChangeAspect="1"/>
          </p:cNvPicPr>
          <p:nvPr/>
        </p:nvPicPr>
        <p:blipFill>
          <a:blip r:embed="rId9"/>
          <a:stretch>
            <a:fillRect/>
          </a:stretch>
        </p:blipFill>
        <p:spPr>
          <a:xfrm>
            <a:off x="9524365" y="1537970"/>
            <a:ext cx="2047875" cy="3857625"/>
          </a:xfrm>
          <a:prstGeom prst="rect">
            <a:avLst/>
          </a:prstGeom>
        </p:spPr>
      </p:pic>
      <p:grpSp>
        <p:nvGrpSpPr>
          <p:cNvPr id="14" name="组合 13"/>
          <p:cNvGrpSpPr/>
          <p:nvPr/>
        </p:nvGrpSpPr>
        <p:grpSpPr>
          <a:xfrm>
            <a:off x="217805" y="351155"/>
            <a:ext cx="4780280" cy="688340"/>
            <a:chOff x="343" y="553"/>
            <a:chExt cx="5700" cy="1084"/>
          </a:xfrm>
        </p:grpSpPr>
        <p:sp>
          <p:nvSpPr>
            <p:cNvPr id="16"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7"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8" name="文本框 17"/>
            <p:cNvSpPr txBox="1"/>
            <p:nvPr>
              <p:custDataLst>
                <p:tags r:id="rId3"/>
              </p:custDataLst>
            </p:nvPr>
          </p:nvSpPr>
          <p:spPr>
            <a:xfrm>
              <a:off x="1437" y="604"/>
              <a:ext cx="460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系统操作指南</a:t>
              </a:r>
            </a:p>
          </p:txBody>
        </p:sp>
        <p:sp>
          <p:nvSpPr>
            <p:cNvPr id="19"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20" name="图片 100" descr="343435383038393b343532323232333bc6f3d2b5cec4bbaf"/>
            <p:cNvPicPr>
              <a:picLocks noChangeAspect="1"/>
            </p:cNvPicPr>
            <p:nvPr>
              <p:custDataLst>
                <p:tags r:id="rId5"/>
              </p:custDataLst>
            </p:nvPr>
          </p:nvPicPr>
          <p:blipFill>
            <a:blip r:embed="rId10">
              <a:extLst>
                <a:ext uri="{96DAC541-7B7A-43D3-8B79-37D633B846F1}">
                  <asvg:svgBlip xmlns:asvg="http://schemas.microsoft.com/office/drawing/2016/SVG/main" r:embed="rId11"/>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6" name="五角星 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3554095" cy="3830955"/>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活动报名：</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进入应用，在页面底部找到并点击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按钮或链接。在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页面中，找到并点击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我的活动参与记录</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选项。</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我的活动参与记录</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页面中，用户可以看到自己参加的所有活动。</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2" name="图片 1"/>
          <p:cNvPicPr>
            <a:picLocks noChangeAspect="1"/>
          </p:cNvPicPr>
          <p:nvPr/>
        </p:nvPicPr>
        <p:blipFill>
          <a:blip r:embed="rId7"/>
          <a:stretch>
            <a:fillRect/>
          </a:stretch>
        </p:blipFill>
        <p:spPr>
          <a:xfrm>
            <a:off x="5259705" y="861060"/>
            <a:ext cx="2895600" cy="5286375"/>
          </a:xfrm>
          <a:prstGeom prst="rect">
            <a:avLst/>
          </a:prstGeom>
        </p:spPr>
      </p:pic>
      <p:pic>
        <p:nvPicPr>
          <p:cNvPr id="7" name="图片 6"/>
          <p:cNvPicPr>
            <a:picLocks noChangeAspect="1"/>
          </p:cNvPicPr>
          <p:nvPr/>
        </p:nvPicPr>
        <p:blipFill>
          <a:blip r:embed="rId8"/>
          <a:stretch>
            <a:fillRect/>
          </a:stretch>
        </p:blipFill>
        <p:spPr>
          <a:xfrm>
            <a:off x="8362950" y="861060"/>
            <a:ext cx="2980690" cy="5307965"/>
          </a:xfrm>
          <a:prstGeom prst="rect">
            <a:avLst/>
          </a:prstGeom>
        </p:spPr>
      </p:pic>
      <p:grpSp>
        <p:nvGrpSpPr>
          <p:cNvPr id="13" name="组合 12"/>
          <p:cNvGrpSpPr/>
          <p:nvPr/>
        </p:nvGrpSpPr>
        <p:grpSpPr>
          <a:xfrm>
            <a:off x="217805" y="351155"/>
            <a:ext cx="4780280" cy="688340"/>
            <a:chOff x="343" y="553"/>
            <a:chExt cx="5700" cy="1084"/>
          </a:xfrm>
        </p:grpSpPr>
        <p:sp>
          <p:nvSpPr>
            <p:cNvPr id="14" name="圆角矩形 79"/>
            <p:cNvSpPr/>
            <p:nvPr>
              <p:custDataLst>
                <p:tags r:id="rId1"/>
              </p:custDataLst>
            </p:nvPr>
          </p:nvSpPr>
          <p:spPr>
            <a:xfrm>
              <a:off x="343" y="553"/>
              <a:ext cx="4449"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7" name="文本框 16"/>
            <p:cNvSpPr txBox="1"/>
            <p:nvPr>
              <p:custDataLst>
                <p:tags r:id="rId3"/>
              </p:custDataLst>
            </p:nvPr>
          </p:nvSpPr>
          <p:spPr>
            <a:xfrm>
              <a:off x="1437" y="604"/>
              <a:ext cx="460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系统操作指南</a:t>
              </a:r>
            </a:p>
          </p:txBody>
        </p:sp>
        <p:sp>
          <p:nvSpPr>
            <p:cNvPr id="18"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9" name="图片 100" descr="343435383038393b343532323232333bc6f3d2b5cec4bbaf"/>
            <p:cNvPicPr>
              <a:picLocks noChangeAspect="1"/>
            </p:cNvPicPr>
            <p:nvPr>
              <p:custDataLst>
                <p:tags r:id="rId5"/>
              </p:custDataLst>
            </p:nvPr>
          </p:nvPicPr>
          <p:blipFill>
            <a:blip r:embed="rId9">
              <a:extLst>
                <a:ext uri="{96DAC541-7B7A-43D3-8B79-37D633B846F1}">
                  <asvg:svgBlip xmlns:asvg="http://schemas.microsoft.com/office/drawing/2016/SVG/main" r:embed="rId10"/>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6" name="五角星 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4147185" cy="5077460"/>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劳动课程线上学习：</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进入应用，在应用底部找到并点击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劳动学习</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选项。在劳动学习页面可查看当前发布的劳动学习课程，选择需要学习的劳动课程，点击并进入课程页学习，系统会自动记录学时。</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注意：如需在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 </a:t>
            </a:r>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PC </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端观看课程视频</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，可在电脑上打开企业微信，登录厦门大学企业微信，进入工作台，点击进入</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劳动教育课程管理系统</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，打开劳动学习课程进行学习。</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pic>
        <p:nvPicPr>
          <p:cNvPr id="6" name="图片 5"/>
          <p:cNvPicPr>
            <a:picLocks noChangeAspect="1"/>
          </p:cNvPicPr>
          <p:nvPr/>
        </p:nvPicPr>
        <p:blipFill>
          <a:blip r:embed="rId7"/>
          <a:stretch>
            <a:fillRect/>
          </a:stretch>
        </p:blipFill>
        <p:spPr>
          <a:xfrm>
            <a:off x="5698490" y="1363980"/>
            <a:ext cx="6334125" cy="4962525"/>
          </a:xfrm>
          <a:prstGeom prst="rect">
            <a:avLst/>
          </a:prstGeom>
        </p:spPr>
      </p:pic>
      <p:grpSp>
        <p:nvGrpSpPr>
          <p:cNvPr id="8" name="组合 7"/>
          <p:cNvGrpSpPr/>
          <p:nvPr/>
        </p:nvGrpSpPr>
        <p:grpSpPr>
          <a:xfrm>
            <a:off x="217805" y="351155"/>
            <a:ext cx="3669485" cy="1145540"/>
            <a:chOff x="343" y="553"/>
            <a:chExt cx="6088" cy="1804"/>
          </a:xfrm>
        </p:grpSpPr>
        <p:sp>
          <p:nvSpPr>
            <p:cNvPr id="13" name="圆角矩形 79"/>
            <p:cNvSpPr/>
            <p:nvPr>
              <p:custDataLst>
                <p:tags r:id="rId1"/>
              </p:custDataLst>
            </p:nvPr>
          </p:nvSpPr>
          <p:spPr>
            <a:xfrm>
              <a:off x="343" y="553"/>
              <a:ext cx="5950"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4"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5" name="文本框 14"/>
            <p:cNvSpPr txBox="1"/>
            <p:nvPr>
              <p:custDataLst>
                <p:tags r:id="rId3"/>
              </p:custDataLst>
            </p:nvPr>
          </p:nvSpPr>
          <p:spPr>
            <a:xfrm>
              <a:off x="1455" y="566"/>
              <a:ext cx="4976" cy="1791"/>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线上理论学习</a:t>
              </a:r>
            </a:p>
          </p:txBody>
        </p:sp>
        <p:sp>
          <p:nvSpPr>
            <p:cNvPr id="16"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7"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2" name="五角星 1"/>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4147185" cy="2999740"/>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劳动学习情况自查：</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进入应用，在页面底部找到并点击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按钮或链接。在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页面中，找到并点击</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我的学习记录</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选项。在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我的学习记录</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页面中，用户可以看到自己的课程学习情况。</a:t>
            </a: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p:cNvGrpSpPr/>
          <p:nvPr/>
        </p:nvGrpSpPr>
        <p:grpSpPr>
          <a:xfrm>
            <a:off x="217805" y="351155"/>
            <a:ext cx="3669485" cy="688340"/>
            <a:chOff x="343" y="553"/>
            <a:chExt cx="6088" cy="1084"/>
          </a:xfrm>
        </p:grpSpPr>
        <p:sp>
          <p:nvSpPr>
            <p:cNvPr id="13" name="圆角矩形 79"/>
            <p:cNvSpPr/>
            <p:nvPr>
              <p:custDataLst>
                <p:tags r:id="rId1"/>
              </p:custDataLst>
            </p:nvPr>
          </p:nvSpPr>
          <p:spPr>
            <a:xfrm>
              <a:off x="343" y="553"/>
              <a:ext cx="5950"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4"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5" name="文本框 14"/>
            <p:cNvSpPr txBox="1"/>
            <p:nvPr>
              <p:custDataLst>
                <p:tags r:id="rId3"/>
              </p:custDataLst>
            </p:nvPr>
          </p:nvSpPr>
          <p:spPr>
            <a:xfrm>
              <a:off x="1455" y="566"/>
              <a:ext cx="497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学习情况自查</a:t>
              </a:r>
            </a:p>
          </p:txBody>
        </p:sp>
        <p:sp>
          <p:nvSpPr>
            <p:cNvPr id="16"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7"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pic>
        <p:nvPicPr>
          <p:cNvPr id="2" name="图片 1"/>
          <p:cNvPicPr>
            <a:picLocks noChangeAspect="1"/>
          </p:cNvPicPr>
          <p:nvPr/>
        </p:nvPicPr>
        <p:blipFill>
          <a:blip r:embed="rId9"/>
          <a:stretch>
            <a:fillRect/>
          </a:stretch>
        </p:blipFill>
        <p:spPr>
          <a:xfrm>
            <a:off x="5645150" y="642620"/>
            <a:ext cx="3114675" cy="5572125"/>
          </a:xfrm>
          <a:prstGeom prst="rect">
            <a:avLst/>
          </a:prstGeom>
        </p:spPr>
      </p:pic>
      <p:pic>
        <p:nvPicPr>
          <p:cNvPr id="3" name="图片 2"/>
          <p:cNvPicPr>
            <a:picLocks noChangeAspect="1"/>
          </p:cNvPicPr>
          <p:nvPr/>
        </p:nvPicPr>
        <p:blipFill>
          <a:blip r:embed="rId10"/>
          <a:stretch>
            <a:fillRect/>
          </a:stretch>
        </p:blipFill>
        <p:spPr>
          <a:xfrm>
            <a:off x="8829040" y="642620"/>
            <a:ext cx="3112770" cy="5561330"/>
          </a:xfrm>
          <a:prstGeom prst="rect">
            <a:avLst/>
          </a:prstGeom>
        </p:spPr>
      </p:pic>
      <p:sp>
        <p:nvSpPr>
          <p:cNvPr id="4" name="五角星 3"/>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6" name="文本框 5"/>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7" name="五角星 6"/>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8" name="剪去单角的矩形 57"/>
          <p:cNvSpPr/>
          <p:nvPr/>
        </p:nvSpPr>
        <p:spPr>
          <a:xfrm>
            <a:off x="1344706" y="2019432"/>
            <a:ext cx="125506" cy="2148093"/>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p:cNvGrpSpPr/>
          <p:nvPr/>
        </p:nvGrpSpPr>
        <p:grpSpPr>
          <a:xfrm>
            <a:off x="217805" y="351155"/>
            <a:ext cx="3669485" cy="688340"/>
            <a:chOff x="343" y="553"/>
            <a:chExt cx="6088" cy="1084"/>
          </a:xfrm>
        </p:grpSpPr>
        <p:sp>
          <p:nvSpPr>
            <p:cNvPr id="13" name="圆角矩形 79"/>
            <p:cNvSpPr/>
            <p:nvPr>
              <p:custDataLst>
                <p:tags r:id="rId1"/>
              </p:custDataLst>
            </p:nvPr>
          </p:nvSpPr>
          <p:spPr>
            <a:xfrm>
              <a:off x="343" y="553"/>
              <a:ext cx="5950"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4"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5" name="文本框 14"/>
            <p:cNvSpPr txBox="1"/>
            <p:nvPr>
              <p:custDataLst>
                <p:tags r:id="rId3"/>
              </p:custDataLst>
            </p:nvPr>
          </p:nvSpPr>
          <p:spPr>
            <a:xfrm>
              <a:off x="1455" y="566"/>
              <a:ext cx="497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申请学时</a:t>
              </a:r>
            </a:p>
          </p:txBody>
        </p:sp>
        <p:sp>
          <p:nvSpPr>
            <p:cNvPr id="16"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7"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7" name="五角星 6"/>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FF0844CD-F656-4CE5-8FE1-21EA627696F5}"/>
              </a:ext>
            </a:extLst>
          </p:cNvPr>
          <p:cNvSpPr/>
          <p:nvPr/>
        </p:nvSpPr>
        <p:spPr>
          <a:xfrm>
            <a:off x="1711287" y="2054541"/>
            <a:ext cx="8538696" cy="2120902"/>
          </a:xfrm>
          <a:prstGeom prst="rect">
            <a:avLst/>
          </a:prstGeom>
        </p:spPr>
        <p:txBody>
          <a:bodyPr wrap="square">
            <a:spAutoFit/>
          </a:bodyPr>
          <a:lstStyle/>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每次活动后，一般一个月内会在活动群分享证明材料，也可在网盘获取：</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通过网盘分享的文件：2025年9月至今劳动学时证明材料链接: https://pan.baidu.com/s/1FpeKBL950jofJBWK6NCM6g?pwd=xxxy 提取码: xxxy</a:t>
            </a:r>
            <a:endParaRPr lang="en-US" altLang="zh-CN" b="1" dirty="0">
              <a:solidFill>
                <a:schemeClr val="tx1">
                  <a:lumMod val="65000"/>
                  <a:lumOff val="35000"/>
                </a:schemeClr>
              </a:solidFill>
              <a:latin typeface="微软雅黑" panose="020B0503020204020204" pitchFamily="34" charset="-122"/>
              <a:ea typeface="微软雅黑" panose="020B0503020204020204" pitchFamily="34" charset="-122"/>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rPr>
              <a:t>获取证明材料后找对应负责人（后续通知）汇总学时。</a:t>
            </a:r>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533394" y="2046903"/>
            <a:ext cx="9125211" cy="2536400"/>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生涯咨询学时获取：</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该类学时</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无需申请</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系统会定时同步</a:t>
            </a:r>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 24365 </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就业育人数智平台的数据</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系统同步数据后学生可以在</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我的学时申请记录</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查看到对应的草稿数据，学生可点击进入查看详情，需要补充信息可自行完善，点击下方</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提交申请</a:t>
            </a:r>
            <a:r>
              <a:rPr lang="en-US" altLang="zh-CN"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即可提交至审核流程，等待辅导员审核完成后可获得对应学时。</a:t>
            </a:r>
          </a:p>
        </p:txBody>
      </p:sp>
      <p:sp>
        <p:nvSpPr>
          <p:cNvPr id="58" name="剪去单角的矩形 57"/>
          <p:cNvSpPr/>
          <p:nvPr/>
        </p:nvSpPr>
        <p:spPr>
          <a:xfrm>
            <a:off x="1281524" y="2370118"/>
            <a:ext cx="100741" cy="192397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p:cNvGrpSpPr/>
          <p:nvPr/>
        </p:nvGrpSpPr>
        <p:grpSpPr>
          <a:xfrm>
            <a:off x="217805" y="351155"/>
            <a:ext cx="3669485" cy="688340"/>
            <a:chOff x="343" y="553"/>
            <a:chExt cx="6088" cy="1084"/>
          </a:xfrm>
        </p:grpSpPr>
        <p:sp>
          <p:nvSpPr>
            <p:cNvPr id="13" name="圆角矩形 79"/>
            <p:cNvSpPr/>
            <p:nvPr>
              <p:custDataLst>
                <p:tags r:id="rId1"/>
              </p:custDataLst>
            </p:nvPr>
          </p:nvSpPr>
          <p:spPr>
            <a:xfrm>
              <a:off x="343" y="553"/>
              <a:ext cx="5950"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4"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5" name="文本框 14"/>
            <p:cNvSpPr txBox="1"/>
            <p:nvPr>
              <p:custDataLst>
                <p:tags r:id="rId3"/>
              </p:custDataLst>
            </p:nvPr>
          </p:nvSpPr>
          <p:spPr>
            <a:xfrm>
              <a:off x="1455" y="566"/>
              <a:ext cx="497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特殊学时获取</a:t>
              </a:r>
            </a:p>
          </p:txBody>
        </p:sp>
        <p:sp>
          <p:nvSpPr>
            <p:cNvPr id="16"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7"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2" name="文本框 1"/>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7" name="五角星 6"/>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3104515" y="5124450"/>
            <a:ext cx="1946910" cy="403225"/>
          </a:xfrm>
          <a:prstGeom prst="rect">
            <a:avLst/>
          </a:prstGeom>
          <a:solidFill>
            <a:schemeClr val="accent1">
              <a:lumMod val="20000"/>
              <a:lumOff val="80000"/>
              <a:alpha val="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4" name="文本框 73"/>
          <p:cNvSpPr txBox="1"/>
          <p:nvPr/>
        </p:nvSpPr>
        <p:spPr>
          <a:xfrm>
            <a:off x="1497965" y="1249045"/>
            <a:ext cx="8340090" cy="2168525"/>
          </a:xfrm>
          <a:prstGeom prst="rect">
            <a:avLst/>
          </a:prstGeom>
          <a:noFill/>
        </p:spPr>
        <p:txBody>
          <a:bodyPr wrap="square">
            <a:spAutoFit/>
          </a:bodyPr>
          <a:lstStyle/>
          <a:p>
            <a:pPr>
              <a:lnSpc>
                <a:spcPct val="150000"/>
              </a:lnSpc>
            </a:pP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志愿公益部分</a:t>
            </a:r>
            <a:r>
              <a:rPr lang="en-US" altLang="zh-CN"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10</a:t>
            </a:r>
            <a:r>
              <a:rPr lang="zh-CN" altLang="en-US" b="1" dirty="0">
                <a:solidFill>
                  <a:srgbClr val="0070C0"/>
                </a:solidFill>
                <a:latin typeface="微软雅黑" panose="020B0503020204020204" pitchFamily="34" charset="-122"/>
                <a:ea typeface="微软雅黑" panose="020B0503020204020204" pitchFamily="34" charset="-122"/>
                <a:cs typeface="微软雅黑" panose="020B0503020204020204" pitchFamily="34" charset="-122"/>
                <a:sym typeface="+mn-lt"/>
              </a:rPr>
              <a:t>个学时</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该类学时</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无需申请</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系统会自动同步</a:t>
            </a:r>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志愿汇</a:t>
            </a:r>
            <a:r>
              <a:rPr lang="en-US" altLang="zh-CN"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”APP</a:t>
            </a:r>
            <a:r>
              <a:rPr lang="zh-CN" altLang="en-US" b="1" dirty="0">
                <a:solidFill>
                  <a:schemeClr val="accent2"/>
                </a:solidFill>
                <a:latin typeface="微软雅黑" panose="020B0503020204020204" pitchFamily="34" charset="-122"/>
                <a:ea typeface="微软雅黑" panose="020B0503020204020204" pitchFamily="34" charset="-122"/>
                <a:cs typeface="微软雅黑" panose="020B0503020204020204" pitchFamily="34" charset="-122"/>
                <a:sym typeface="+mn-lt"/>
              </a:rPr>
              <a:t>上的志愿时数</a:t>
            </a:r>
            <a:r>
              <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rPr>
              <a:t>。</a:t>
            </a: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a:p>
            <a:pPr>
              <a:lnSpc>
                <a:spcPct val="150000"/>
              </a:lnSpc>
            </a:pPr>
            <a:endParaRPr lang="zh-CN" altLang="en-US" b="1" dirty="0">
              <a:solidFill>
                <a:schemeClr val="tx1">
                  <a:lumMod val="65000"/>
                  <a:lumOff val="35000"/>
                </a:schemeClr>
              </a:solidFill>
              <a:latin typeface="微软雅黑" panose="020B0503020204020204" pitchFamily="34" charset="-122"/>
              <a:ea typeface="微软雅黑" panose="020B0503020204020204" pitchFamily="34" charset="-122"/>
              <a:cs typeface="微软雅黑" panose="020B0503020204020204" pitchFamily="34" charset="-122"/>
              <a:sym typeface="+mn-lt"/>
            </a:endParaRPr>
          </a:p>
        </p:txBody>
      </p:sp>
      <p:sp>
        <p:nvSpPr>
          <p:cNvPr id="58" name="剪去单角的矩形 57"/>
          <p:cNvSpPr/>
          <p:nvPr/>
        </p:nvSpPr>
        <p:spPr>
          <a:xfrm>
            <a:off x="1271270" y="1572260"/>
            <a:ext cx="75565" cy="1368425"/>
          </a:xfrm>
          <a:prstGeom prst="snip1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8" name="组合 7"/>
          <p:cNvGrpSpPr/>
          <p:nvPr/>
        </p:nvGrpSpPr>
        <p:grpSpPr>
          <a:xfrm>
            <a:off x="217805" y="351155"/>
            <a:ext cx="3669485" cy="688340"/>
            <a:chOff x="343" y="553"/>
            <a:chExt cx="6088" cy="1084"/>
          </a:xfrm>
        </p:grpSpPr>
        <p:sp>
          <p:nvSpPr>
            <p:cNvPr id="13" name="圆角矩形 79"/>
            <p:cNvSpPr/>
            <p:nvPr>
              <p:custDataLst>
                <p:tags r:id="rId1"/>
              </p:custDataLst>
            </p:nvPr>
          </p:nvSpPr>
          <p:spPr>
            <a:xfrm>
              <a:off x="343" y="553"/>
              <a:ext cx="5950"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4"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15" name="文本框 14"/>
            <p:cNvSpPr txBox="1"/>
            <p:nvPr>
              <p:custDataLst>
                <p:tags r:id="rId3"/>
              </p:custDataLst>
            </p:nvPr>
          </p:nvSpPr>
          <p:spPr>
            <a:xfrm>
              <a:off x="1455" y="566"/>
              <a:ext cx="4976"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特殊学时获取</a:t>
              </a:r>
            </a:p>
          </p:txBody>
        </p:sp>
        <p:sp>
          <p:nvSpPr>
            <p:cNvPr id="16"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17" name="图片 100" descr="343435383038393b343532323232333bc6f3d2b5cec4bbaf"/>
            <p:cNvPicPr>
              <a:picLocks noChangeAspect="1"/>
            </p:cNvPicPr>
            <p:nvPr>
              <p:custDataLst>
                <p:tags r:id="rId5"/>
              </p:custDataLst>
            </p:nvPr>
          </p:nvPicPr>
          <p:blipFill>
            <a:blip r:embed="rId7">
              <a:extLst>
                <a:ext uri="{96DAC541-7B7A-43D3-8B79-37D633B846F1}">
                  <asvg:svgBlip xmlns:asvg="http://schemas.microsoft.com/office/drawing/2016/SVG/main" r:embed="rId8"/>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pic>
        <p:nvPicPr>
          <p:cNvPr id="2" name="图片 1"/>
          <p:cNvPicPr>
            <a:picLocks noChangeAspect="1"/>
          </p:cNvPicPr>
          <p:nvPr/>
        </p:nvPicPr>
        <p:blipFill>
          <a:blip r:embed="rId9"/>
          <a:stretch>
            <a:fillRect/>
          </a:stretch>
        </p:blipFill>
        <p:spPr>
          <a:xfrm>
            <a:off x="1414780" y="3417570"/>
            <a:ext cx="4355465" cy="1634490"/>
          </a:xfrm>
          <a:prstGeom prst="rect">
            <a:avLst/>
          </a:prstGeom>
        </p:spPr>
      </p:pic>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6" name="五角星 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custDataLst>
              <p:tags r:id="rId2"/>
            </p:custDataLst>
          </p:nvPr>
        </p:nvGrpSpPr>
        <p:grpSpPr>
          <a:xfrm>
            <a:off x="660401" y="1039323"/>
            <a:ext cx="10871456" cy="5454015"/>
            <a:chOff x="660400" y="1954358"/>
            <a:chExt cx="10871456" cy="5454015"/>
          </a:xfrm>
        </p:grpSpPr>
        <p:grpSp>
          <p:nvGrpSpPr>
            <p:cNvPr id="5" name="组合 4"/>
            <p:cNvGrpSpPr/>
            <p:nvPr/>
          </p:nvGrpSpPr>
          <p:grpSpPr>
            <a:xfrm>
              <a:off x="660400" y="1954358"/>
              <a:ext cx="3443605" cy="5454015"/>
              <a:chOff x="660400" y="1954358"/>
              <a:chExt cx="3443605" cy="5454015"/>
            </a:xfrm>
          </p:grpSpPr>
          <p:sp>
            <p:nvSpPr>
              <p:cNvPr id="16" name="Text1"/>
              <p:cNvSpPr/>
              <p:nvPr>
                <p:custDataLst>
                  <p:tags r:id="rId16"/>
                </p:custDataLst>
              </p:nvPr>
            </p:nvSpPr>
            <p:spPr>
              <a:xfrm>
                <a:off x="660400" y="4216228"/>
                <a:ext cx="3443605" cy="3192145"/>
              </a:xfrm>
              <a:prstGeom prst="roundRect">
                <a:avLst>
                  <a:gd name="adj" fmla="val 5931"/>
                </a:avLst>
              </a:prstGeom>
              <a:solidFill>
                <a:schemeClr val="accent1">
                  <a:alpha val="10000"/>
                </a:schemeClr>
              </a:solidFill>
              <a:ln w="6055" cap="flat">
                <a:noFill/>
                <a:prstDash val="solid"/>
                <a:miter/>
              </a:ln>
            </p:spPr>
            <p:txBody>
              <a:bodyPr wrap="square" lIns="108000" tIns="108000" rIns="108000" bIns="108000" rtlCol="0" anchor="ctr"/>
              <a:lstStyle/>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1.学时要求：1</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学时（其中，</a:t>
                </a:r>
                <a:r>
                  <a:rPr kumimoji="0" lang="zh-CN" altLang="en-US" sz="1200" b="1"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学科入门实践为必修项，至少完成</a:t>
                </a:r>
                <a:r>
                  <a:rPr kumimoji="0" lang="en-US" altLang="zh-CN" sz="1200" b="1"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4</a:t>
                </a:r>
                <a:r>
                  <a:rPr kumimoji="0" lang="zh-CN" altLang="en-US" sz="1200" b="1"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学时</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2.认定形式：由相关指导教师记录审核、科学评价学生参加专业技能劳动实践的活动情况。</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3.可选项目</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（1）学科入门实践</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（2）职业技能培训（3）就业指导系列比赛（4）</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一对一</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生涯咨询服务（5）</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四走</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参访活动（6）学生团队创新创业活动</a:t>
                </a:r>
                <a:r>
                  <a:rPr kumimoji="0" lang="zh-CN" altLang="en-US" sz="1200" b="0"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（7）学生作为演职人员全程参加的美育第二课堂实践活动</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（8） 项目开发（9）社会实践（10）朋辈导师</a:t>
                </a:r>
              </a:p>
            </p:txBody>
          </p:sp>
          <p:sp>
            <p:nvSpPr>
              <p:cNvPr id="17" name="Bullet1"/>
              <p:cNvSpPr>
                <a:spLocks noChangeAspect="1"/>
              </p:cNvSpPr>
              <p:nvPr>
                <p:custDataLst>
                  <p:tags r:id="rId17"/>
                </p:custDataLst>
              </p:nvPr>
            </p:nvSpPr>
            <p:spPr>
              <a:xfrm>
                <a:off x="660400" y="3757758"/>
                <a:ext cx="3443345" cy="572942"/>
              </a:xfrm>
              <a:prstGeom prst="roundRect">
                <a:avLst>
                  <a:gd name="adj" fmla="val 15900"/>
                </a:avLst>
              </a:prstGeom>
              <a:gradFill>
                <a:gsLst>
                  <a:gs pos="0">
                    <a:schemeClr val="accent1">
                      <a:lumMod val="60000"/>
                      <a:lumOff val="40000"/>
                    </a:schemeClr>
                  </a:gs>
                  <a:gs pos="50000">
                    <a:schemeClr val="accent1"/>
                  </a:gs>
                </a:gsLst>
                <a:lin ang="2700000" scaled="0"/>
              </a:grad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b="1" dirty="0">
                    <a:sym typeface="Arial" panose="020B0604020202020204" pitchFamily="34" charset="0"/>
                  </a:rPr>
                  <a:t>专业技能劳动实践</a:t>
                </a:r>
              </a:p>
            </p:txBody>
          </p:sp>
          <p:sp>
            <p:nvSpPr>
              <p:cNvPr id="18" name="Picture1"/>
              <p:cNvSpPr/>
              <p:nvPr>
                <p:custDataLst>
                  <p:tags r:id="rId18"/>
                </p:custDataLst>
              </p:nvPr>
            </p:nvSpPr>
            <p:spPr>
              <a:xfrm>
                <a:off x="660400" y="2195602"/>
                <a:ext cx="3443345" cy="1447030"/>
              </a:xfrm>
              <a:prstGeom prst="roundRect">
                <a:avLst>
                  <a:gd name="adj" fmla="val 5931"/>
                </a:avLst>
              </a:prstGeom>
              <a:blipFill dpi="0" rotWithShape="1">
                <a:blip r:embed="rId21"/>
                <a:srcRect/>
                <a:stretch>
                  <a:fillRect l="71" r="-71"/>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Number1"/>
              <p:cNvSpPr/>
              <p:nvPr>
                <p:custDataLst>
                  <p:tags r:id="rId19"/>
                </p:custDataLst>
              </p:nvPr>
            </p:nvSpPr>
            <p:spPr>
              <a:xfrm>
                <a:off x="2022072" y="1954358"/>
                <a:ext cx="720000" cy="720000"/>
              </a:xfrm>
              <a:prstGeom prst="ellipse">
                <a:avLst/>
              </a:prstGeom>
              <a:gradFill>
                <a:gsLst>
                  <a:gs pos="0">
                    <a:schemeClr val="accent1">
                      <a:lumMod val="60000"/>
                      <a:lumOff val="40000"/>
                    </a:schemeClr>
                  </a:gs>
                  <a:gs pos="50000">
                    <a:schemeClr val="accent1"/>
                  </a:gs>
                </a:gsLst>
                <a:lin ang="2700000" scaled="0"/>
              </a:gradFill>
              <a:ln w="254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algn="ctr"/>
                <a:r>
                  <a:rPr lang="en-US" altLang="zh-CN" sz="2000" b="1" dirty="0"/>
                  <a:t>01</a:t>
                </a:r>
                <a:endParaRPr lang="zh-CN" altLang="en-US" sz="2000" b="1" dirty="0"/>
              </a:p>
            </p:txBody>
          </p:sp>
        </p:grpSp>
        <p:grpSp>
          <p:nvGrpSpPr>
            <p:cNvPr id="6" name="组合 5"/>
            <p:cNvGrpSpPr/>
            <p:nvPr/>
          </p:nvGrpSpPr>
          <p:grpSpPr>
            <a:xfrm>
              <a:off x="4373690" y="1954358"/>
              <a:ext cx="3444240" cy="5454015"/>
              <a:chOff x="4373690" y="1954358"/>
              <a:chExt cx="3444240" cy="5454015"/>
            </a:xfrm>
          </p:grpSpPr>
          <p:sp>
            <p:nvSpPr>
              <p:cNvPr id="12" name="Text2"/>
              <p:cNvSpPr/>
              <p:nvPr>
                <p:custDataLst>
                  <p:tags r:id="rId12"/>
                </p:custDataLst>
              </p:nvPr>
            </p:nvSpPr>
            <p:spPr>
              <a:xfrm>
                <a:off x="4374325" y="4216228"/>
                <a:ext cx="3443605" cy="3192145"/>
              </a:xfrm>
              <a:prstGeom prst="roundRect">
                <a:avLst>
                  <a:gd name="adj" fmla="val 5931"/>
                </a:avLst>
              </a:prstGeom>
              <a:solidFill>
                <a:schemeClr val="accent1">
                  <a:alpha val="10000"/>
                </a:schemeClr>
              </a:solidFill>
              <a:ln w="6055" cap="flat">
                <a:noFill/>
                <a:prstDash val="solid"/>
                <a:miter/>
              </a:ln>
            </p:spPr>
            <p:txBody>
              <a:bodyPr wrap="square" lIns="108000" tIns="108000" rIns="108000" bIns="108000" rtlCol="0" anchor="ctr">
                <a:normAutofit/>
              </a:bodyPr>
              <a:lstStyle/>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1．实践形式：校园志愿服务活动、社区志愿服务活动</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2．学时要求：</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10</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学时</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3．认定形式：根据“志愿中国·志愿汇”平台提供的志愿服务时长记录，2个志愿服务工时认定为1个学时，</a:t>
                </a:r>
                <a:r>
                  <a:rPr kumimoji="0" lang="zh-CN" altLang="en-US" sz="1200" b="0"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其他形式的证明材料不予认定</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，由</a:t>
                </a:r>
                <a:r>
                  <a:rPr kumimoji="0" lang="zh-CN" altLang="en-US" sz="1200" b="0" i="0" u="none" strike="noStrike" kern="1200" cap="none" spc="0" normalizeH="0" baseline="0" noProof="0" dirty="0">
                    <a:ln>
                      <a:noFill/>
                    </a:ln>
                    <a:solidFill>
                      <a:schemeClr val="accent2"/>
                    </a:solidFill>
                    <a:effectLst/>
                    <a:uLnTx/>
                    <a:uFillTx/>
                    <a:latin typeface="Arial" panose="020B0604020202020204" pitchFamily="34" charset="0"/>
                    <a:ea typeface="思源黑体 CN Normal" panose="020B0400000000000000" pitchFamily="34" charset="-122"/>
                    <a:sym typeface="Arial" panose="020B0604020202020204" pitchFamily="34" charset="0"/>
                  </a:rPr>
                  <a:t>系统根据工时数自行认定</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a:t>
                </a:r>
              </a:p>
            </p:txBody>
          </p:sp>
          <p:sp>
            <p:nvSpPr>
              <p:cNvPr id="13" name="Bullet2"/>
              <p:cNvSpPr>
                <a:spLocks noChangeAspect="1"/>
              </p:cNvSpPr>
              <p:nvPr>
                <p:custDataLst>
                  <p:tags r:id="rId13"/>
                </p:custDataLst>
              </p:nvPr>
            </p:nvSpPr>
            <p:spPr>
              <a:xfrm>
                <a:off x="4373690" y="3757758"/>
                <a:ext cx="3443345" cy="572942"/>
              </a:xfrm>
              <a:prstGeom prst="roundRect">
                <a:avLst>
                  <a:gd name="adj" fmla="val 15900"/>
                </a:avLst>
              </a:prstGeom>
              <a:gradFill>
                <a:gsLst>
                  <a:gs pos="0">
                    <a:schemeClr val="accent2">
                      <a:lumMod val="60000"/>
                      <a:lumOff val="40000"/>
                    </a:schemeClr>
                  </a:gs>
                  <a:gs pos="50000">
                    <a:schemeClr val="accent2"/>
                  </a:gs>
                </a:gsLst>
                <a:lin ang="2700000" scaled="0"/>
              </a:grad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b="1" dirty="0">
                    <a:sym typeface="Arial" panose="020B0604020202020204" pitchFamily="34" charset="0"/>
                  </a:rPr>
                  <a:t>志愿公益劳动实践</a:t>
                </a:r>
              </a:p>
            </p:txBody>
          </p:sp>
          <p:sp>
            <p:nvSpPr>
              <p:cNvPr id="14" name="Picture2"/>
              <p:cNvSpPr/>
              <p:nvPr>
                <p:custDataLst>
                  <p:tags r:id="rId14"/>
                </p:custDataLst>
              </p:nvPr>
            </p:nvSpPr>
            <p:spPr>
              <a:xfrm>
                <a:off x="4374325" y="2195602"/>
                <a:ext cx="3443345" cy="1447030"/>
              </a:xfrm>
              <a:prstGeom prst="roundRect">
                <a:avLst>
                  <a:gd name="adj" fmla="val 5931"/>
                </a:avLst>
              </a:prstGeom>
              <a:blipFill dpi="0" rotWithShape="1">
                <a:blip r:embed="rId22"/>
                <a:srcRect/>
                <a:stretch>
                  <a:fillRect l="469" r="-469"/>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5" name="Number2"/>
              <p:cNvSpPr/>
              <p:nvPr>
                <p:custDataLst>
                  <p:tags r:id="rId15"/>
                </p:custDataLst>
              </p:nvPr>
            </p:nvSpPr>
            <p:spPr>
              <a:xfrm>
                <a:off x="5735997" y="1954358"/>
                <a:ext cx="720000" cy="720000"/>
              </a:xfrm>
              <a:prstGeom prst="ellipse">
                <a:avLst/>
              </a:prstGeom>
              <a:gradFill>
                <a:gsLst>
                  <a:gs pos="0">
                    <a:schemeClr val="accent2">
                      <a:lumMod val="60000"/>
                      <a:lumOff val="40000"/>
                    </a:schemeClr>
                  </a:gs>
                  <a:gs pos="50000">
                    <a:schemeClr val="accent2"/>
                  </a:gs>
                </a:gsLst>
                <a:lin ang="2700000" scaled="0"/>
              </a:gradFill>
              <a:ln w="254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algn="ctr"/>
                <a:r>
                  <a:rPr lang="en-US" altLang="zh-CN" sz="2000" b="1" dirty="0"/>
                  <a:t>02</a:t>
                </a:r>
                <a:endParaRPr lang="zh-CN" altLang="en-US" sz="2000" b="1" dirty="0"/>
              </a:p>
            </p:txBody>
          </p:sp>
        </p:grpSp>
        <p:grpSp>
          <p:nvGrpSpPr>
            <p:cNvPr id="7" name="组合 6"/>
            <p:cNvGrpSpPr/>
            <p:nvPr/>
          </p:nvGrpSpPr>
          <p:grpSpPr>
            <a:xfrm>
              <a:off x="8088251" y="1954358"/>
              <a:ext cx="3443605" cy="5454015"/>
              <a:chOff x="8088251" y="1954358"/>
              <a:chExt cx="3443605" cy="5454015"/>
            </a:xfrm>
          </p:grpSpPr>
          <p:sp>
            <p:nvSpPr>
              <p:cNvPr id="8" name="Text3"/>
              <p:cNvSpPr/>
              <p:nvPr>
                <p:custDataLst>
                  <p:tags r:id="rId8"/>
                </p:custDataLst>
              </p:nvPr>
            </p:nvSpPr>
            <p:spPr>
              <a:xfrm>
                <a:off x="8088251" y="4216228"/>
                <a:ext cx="3443605" cy="3192145"/>
              </a:xfrm>
              <a:prstGeom prst="roundRect">
                <a:avLst>
                  <a:gd name="adj" fmla="val 5931"/>
                </a:avLst>
              </a:prstGeom>
              <a:solidFill>
                <a:schemeClr val="accent1">
                  <a:alpha val="10000"/>
                </a:schemeClr>
              </a:solidFill>
              <a:ln w="6055" cap="flat">
                <a:noFill/>
                <a:prstDash val="solid"/>
                <a:miter/>
              </a:ln>
            </p:spPr>
            <p:txBody>
              <a:bodyPr wrap="square" lIns="108000" tIns="108000" rIns="108000" bIns="108000" rtlCol="0" anchor="ctr">
                <a:normAutofit/>
              </a:bodyPr>
              <a:lstStyle/>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1．实践形式：日常生活实践活动</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2．学时要求：</a:t>
                </a: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10</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学时</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en-US" altLang="zh-CN"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3</a:t>
                </a:r>
                <a:r>
                  <a:rPr lang="zh-CN" altLang="en-US" sz="1200" noProof="0" dirty="0">
                    <a:ln>
                      <a:noFill/>
                    </a:ln>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认定形式：由辅导员或相关活动带队老师客观记录审核、科学评价学生参与日常生活劳动实践情况、垃圾分类情况以及宿舍卫生检查情况。</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lang="en-US" altLang="zh-CN" sz="1200" noProof="0" dirty="0">
                    <a:ln>
                      <a:noFill/>
                    </a:ln>
                    <a:effectLst/>
                    <a:uLnTx/>
                    <a:uFillTx/>
                    <a:latin typeface="Arial" panose="020B0604020202020204" pitchFamily="34" charset="0"/>
                    <a:ea typeface="思源黑体 CN Normal" panose="020B0400000000000000" pitchFamily="34" charset="-122"/>
                    <a:sym typeface="Arial" panose="020B0604020202020204" pitchFamily="34" charset="0"/>
                  </a:rPr>
                  <a:t>4</a:t>
                </a:r>
                <a:r>
                  <a:rPr lang="zh-CN" altLang="en-US" sz="1200" noProof="0" dirty="0">
                    <a:ln>
                      <a:noFill/>
                    </a:ln>
                    <a:effectLst/>
                    <a:uLnTx/>
                    <a:uFillTx/>
                    <a:latin typeface="Arial" panose="020B0604020202020204" pitchFamily="34" charset="0"/>
                    <a:ea typeface="思源黑体 CN Normal" panose="020B0400000000000000" pitchFamily="34" charset="-122"/>
                    <a:sym typeface="Arial" panose="020B0604020202020204" pitchFamily="34" charset="0"/>
                  </a:rPr>
                  <a:t>．</a:t>
                </a: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可选项目</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（1）宿舍安全与卫生</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（2）垃圾分类督导</a:t>
                </a:r>
              </a:p>
              <a:p>
                <a:pPr marL="0" marR="0" lvl="0" indent="0" algn="l" defTabSz="914400" rtl="0" eaLnBrk="1" fontAlgn="auto" latinLnBrk="0" hangingPunct="1">
                  <a:lnSpc>
                    <a:spcPct val="150000"/>
                  </a:lnSpc>
                  <a:spcBef>
                    <a:spcPts val="0"/>
                  </a:spcBef>
                  <a:spcAft>
                    <a:spcPts val="0"/>
                  </a:spcAft>
                  <a:buClr>
                    <a:srgbClr val="D12F14"/>
                  </a:buClr>
                  <a:buSzTx/>
                  <a:buFontTx/>
                  <a:buNone/>
                  <a:defRPr/>
                </a:pPr>
                <a:r>
                  <a:rPr kumimoji="0" lang="zh-CN" altLang="en-US" sz="1200" b="0" i="0" u="none" strike="noStrike" kern="1200" cap="none" spc="0" normalizeH="0" baseline="0" noProof="0" dirty="0">
                    <a:ln>
                      <a:noFill/>
                    </a:ln>
                    <a:solidFill>
                      <a:schemeClr val="tx1"/>
                    </a:solidFill>
                    <a:effectLst/>
                    <a:uLnTx/>
                    <a:uFillTx/>
                    <a:latin typeface="Arial" panose="020B0604020202020204" pitchFamily="34" charset="0"/>
                    <a:ea typeface="思源黑体 CN Normal" panose="020B0400000000000000" pitchFamily="34" charset="-122"/>
                    <a:sym typeface="Arial" panose="020B0604020202020204" pitchFamily="34" charset="0"/>
                  </a:rPr>
                  <a:t>（3）体验类活动</a:t>
                </a:r>
              </a:p>
            </p:txBody>
          </p:sp>
          <p:sp>
            <p:nvSpPr>
              <p:cNvPr id="9" name="Bullet3"/>
              <p:cNvSpPr>
                <a:spLocks noChangeAspect="1"/>
              </p:cNvSpPr>
              <p:nvPr>
                <p:custDataLst>
                  <p:tags r:id="rId9"/>
                </p:custDataLst>
              </p:nvPr>
            </p:nvSpPr>
            <p:spPr>
              <a:xfrm>
                <a:off x="8088251" y="3757758"/>
                <a:ext cx="3443345" cy="572942"/>
              </a:xfrm>
              <a:prstGeom prst="roundRect">
                <a:avLst>
                  <a:gd name="adj" fmla="val 15900"/>
                </a:avLst>
              </a:prstGeom>
              <a:gradFill>
                <a:gsLst>
                  <a:gs pos="0">
                    <a:schemeClr val="accent1">
                      <a:lumMod val="60000"/>
                      <a:lumOff val="40000"/>
                    </a:schemeClr>
                  </a:gs>
                  <a:gs pos="50000">
                    <a:schemeClr val="accent1"/>
                  </a:gs>
                </a:gsLst>
                <a:lin ang="2700000" scaled="0"/>
              </a:gradFill>
              <a:ln w="254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r>
                  <a:rPr lang="zh-CN" altLang="en-US" b="1" dirty="0">
                    <a:sym typeface="Arial" panose="020B0604020202020204" pitchFamily="34" charset="0"/>
                  </a:rPr>
                  <a:t>日常生活劳动实践</a:t>
                </a:r>
              </a:p>
            </p:txBody>
          </p:sp>
          <p:sp>
            <p:nvSpPr>
              <p:cNvPr id="10" name="Picture3"/>
              <p:cNvSpPr/>
              <p:nvPr>
                <p:custDataLst>
                  <p:tags r:id="rId10"/>
                </p:custDataLst>
              </p:nvPr>
            </p:nvSpPr>
            <p:spPr>
              <a:xfrm>
                <a:off x="8088251" y="2195602"/>
                <a:ext cx="3443345" cy="1447030"/>
              </a:xfrm>
              <a:prstGeom prst="roundRect">
                <a:avLst>
                  <a:gd name="adj" fmla="val 5931"/>
                </a:avLst>
              </a:prstGeom>
              <a:blipFill dpi="0" rotWithShape="1">
                <a:blip r:embed="rId23"/>
                <a:srcRect/>
                <a:stretch>
                  <a:fillRect l="866" r="-866"/>
                </a:stretch>
              </a:blip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ltLang="zh-CN" dirty="0">
                  <a:solidFill>
                    <a:schemeClr val="lt1"/>
                  </a:solidFill>
                  <a:latin typeface="Arial" panose="020B0604020202020204" pitchFamily="34" charset="0"/>
                  <a:ea typeface="微软雅黑" panose="020B0503020204020204" pitchFamily="34" charset="-122"/>
                  <a:sym typeface="Arial" panose="020B0604020202020204" pitchFamily="34" charset="0"/>
                </a:endParaRPr>
              </a:p>
            </p:txBody>
          </p:sp>
          <p:sp>
            <p:nvSpPr>
              <p:cNvPr id="11" name="Number3"/>
              <p:cNvSpPr/>
              <p:nvPr>
                <p:custDataLst>
                  <p:tags r:id="rId11"/>
                </p:custDataLst>
              </p:nvPr>
            </p:nvSpPr>
            <p:spPr>
              <a:xfrm>
                <a:off x="9449928" y="1954358"/>
                <a:ext cx="720000" cy="720000"/>
              </a:xfrm>
              <a:prstGeom prst="ellipse">
                <a:avLst/>
              </a:prstGeom>
              <a:gradFill>
                <a:gsLst>
                  <a:gs pos="0">
                    <a:schemeClr val="accent1">
                      <a:lumMod val="60000"/>
                      <a:lumOff val="40000"/>
                    </a:schemeClr>
                  </a:gs>
                  <a:gs pos="50000">
                    <a:schemeClr val="accent1"/>
                  </a:gs>
                </a:gsLst>
                <a:lin ang="2700000" scaled="0"/>
              </a:gradFill>
              <a:ln w="25400" cap="flat" cmpd="sng" algn="ctr">
                <a:solidFill>
                  <a:schemeClr val="bg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none" lIns="91440" tIns="45720" rIns="91440" bIns="45720" numCol="1" spcCol="0" rtlCol="0" fromWordArt="0" anchor="ctr" anchorCtr="0" forceAA="0" compatLnSpc="1">
                <a:noAutofit/>
              </a:bodyPr>
              <a:lstStyle/>
              <a:p>
                <a:pPr algn="ctr"/>
                <a:r>
                  <a:rPr lang="en-US" altLang="zh-CN" sz="2000" b="1" dirty="0"/>
                  <a:t>03</a:t>
                </a:r>
                <a:endParaRPr lang="zh-CN" altLang="en-US" sz="2000" b="1" dirty="0"/>
              </a:p>
            </p:txBody>
          </p:sp>
        </p:grpSp>
      </p:grpSp>
      <p:grpSp>
        <p:nvGrpSpPr>
          <p:cNvPr id="20" name="组合 19"/>
          <p:cNvGrpSpPr/>
          <p:nvPr/>
        </p:nvGrpSpPr>
        <p:grpSpPr>
          <a:xfrm>
            <a:off x="217805" y="351155"/>
            <a:ext cx="6237605" cy="688340"/>
            <a:chOff x="343" y="553"/>
            <a:chExt cx="9823" cy="1084"/>
          </a:xfrm>
        </p:grpSpPr>
        <p:sp>
          <p:nvSpPr>
            <p:cNvPr id="21" name="圆角矩形 79"/>
            <p:cNvSpPr/>
            <p:nvPr>
              <p:custDataLst>
                <p:tags r:id="rId3"/>
              </p:custDataLst>
            </p:nvPr>
          </p:nvSpPr>
          <p:spPr>
            <a:xfrm>
              <a:off x="343" y="553"/>
              <a:ext cx="713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22" name="圆角矩形 6"/>
            <p:cNvSpPr/>
            <p:nvPr>
              <p:custDataLst>
                <p:tags r:id="rId4"/>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23" name="文本框 22"/>
            <p:cNvSpPr txBox="1"/>
            <p:nvPr>
              <p:custDataLst>
                <p:tags r:id="rId5"/>
              </p:custDataLst>
            </p:nvPr>
          </p:nvSpPr>
          <p:spPr>
            <a:xfrm>
              <a:off x="1437" y="604"/>
              <a:ext cx="8729" cy="967"/>
            </a:xfrm>
            <a:prstGeom prst="rect">
              <a:avLst/>
            </a:prstGeom>
            <a:noFill/>
          </p:spPr>
          <p:txBody>
            <a:bodyPr wrap="square" rtlCol="0" anchor="t">
              <a:spAutoFit/>
            </a:bodyPr>
            <a:lstStyle/>
            <a:p>
              <a:pPr algn="l"/>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劳动实践</a:t>
              </a:r>
              <a:r>
                <a:rPr lang="en-US" altLang="zh-CN"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 </a:t>
              </a:r>
              <a:r>
                <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rPr>
                <a:t>三个部分</a:t>
              </a:r>
            </a:p>
          </p:txBody>
        </p:sp>
        <p:sp>
          <p:nvSpPr>
            <p:cNvPr id="24" name="圆角矩形 99"/>
            <p:cNvSpPr/>
            <p:nvPr>
              <p:custDataLst>
                <p:tags r:id="rId6"/>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25" name="图片 100" descr="343435383038393b343532323232333bc6f3d2b5cec4bbaf"/>
            <p:cNvPicPr>
              <a:picLocks noChangeAspect="1"/>
            </p:cNvPicPr>
            <p:nvPr>
              <p:custDataLst>
                <p:tags r:id="rId7"/>
              </p:custDataLst>
            </p:nvPr>
          </p:nvPicPr>
          <p:blipFill>
            <a:blip r:embed="rId24"/>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2" name="五角星 1"/>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文本框 3"/>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26" name="五角星 25"/>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286" cy="4364186"/>
            <a:chOff x="1197507" y="1769914"/>
            <a:chExt cx="9784286" cy="4364186"/>
          </a:xfrm>
        </p:grpSpPr>
        <p:grpSp>
          <p:nvGrpSpPr>
            <p:cNvPr id="7" name="组合 6"/>
            <p:cNvGrpSpPr/>
            <p:nvPr/>
          </p:nvGrpSpPr>
          <p:grpSpPr>
            <a:xfrm>
              <a:off x="1197507" y="1769914"/>
              <a:ext cx="5232251" cy="4364186"/>
              <a:chOff x="1197507" y="1769914"/>
              <a:chExt cx="5232251" cy="4364186"/>
            </a:xfrm>
          </p:grpSpPr>
          <p:sp>
            <p:nvSpPr>
              <p:cNvPr id="15" name="ComponentBackground1"/>
              <p:cNvSpPr/>
              <p:nvPr/>
            </p:nvSpPr>
            <p:spPr>
              <a:xfrm>
                <a:off x="1197507" y="1769914"/>
                <a:ext cx="5232251" cy="4364186"/>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3988435" cy="2074545"/>
              </a:xfrm>
              <a:prstGeom prst="rect">
                <a:avLst/>
              </a:prstGeom>
              <a:noFill/>
            </p:spPr>
            <p:txBody>
              <a:bodyPr wrap="square" anchor="t" anchorCtr="0"/>
              <a:lstStyle/>
              <a:p>
                <a:pPr algn="just">
                  <a:lnSpc>
                    <a:spcPct val="150000"/>
                  </a:lnSpc>
                </a:pPr>
                <a:r>
                  <a:rPr lang="zh-CN" altLang="en-US" sz="2000" dirty="0">
                    <a:solidFill>
                      <a:schemeClr val="tx1">
                        <a:lumMod val="65000"/>
                        <a:lumOff val="35000"/>
                      </a:schemeClr>
                    </a:solidFill>
                    <a:latin typeface="+mn-ea"/>
                    <a:cs typeface="阿里巴巴普惠体" panose="00020600040101010101" pitchFamily="18" charset="-122"/>
                  </a:rPr>
                  <a:t>学生全程参加校院两级举办的各类讲座，接受学科滋养及人文素养熏陶，如学院</a:t>
                </a:r>
                <a:r>
                  <a:rPr lang="zh-CN" altLang="en-US" sz="2000" dirty="0">
                    <a:solidFill>
                      <a:schemeClr val="accent2"/>
                    </a:solidFill>
                    <a:latin typeface="+mn-ea"/>
                    <a:cs typeface="阿里巴巴普惠体" panose="00020600040101010101" pitchFamily="18" charset="-122"/>
                  </a:rPr>
                  <a:t>学术科技月、学校群贤大讲堂、大型思政课、海岳学术云</a:t>
                </a:r>
                <a:r>
                  <a:rPr lang="zh-CN" altLang="en-US" sz="2000" dirty="0">
                    <a:solidFill>
                      <a:schemeClr val="tx1">
                        <a:lumMod val="65000"/>
                        <a:lumOff val="35000"/>
                      </a:schemeClr>
                    </a:solidFill>
                    <a:latin typeface="+mn-ea"/>
                    <a:cs typeface="阿里巴巴普惠体" panose="00020600040101010101" pitchFamily="18" charset="-122"/>
                  </a:rPr>
                  <a:t>等，活动以学院发布为准。</a:t>
                </a:r>
              </a:p>
              <a:p>
                <a:pPr algn="just">
                  <a:lnSpc>
                    <a:spcPct val="150000"/>
                  </a:lnSpc>
                </a:pPr>
                <a:endParaRPr lang="zh-CN" altLang="en-US" sz="2000" dirty="0">
                  <a:solidFill>
                    <a:schemeClr val="tx1">
                      <a:lumMod val="65000"/>
                      <a:lumOff val="35000"/>
                    </a:schemeClr>
                  </a:solidFill>
                  <a:latin typeface="+mn-ea"/>
                  <a:cs typeface="阿里巴巴普惠体" panose="00020600040101010101" pitchFamily="18" charset="-122"/>
                </a:endParaRPr>
              </a:p>
              <a:p>
                <a:pPr algn="just">
                  <a:lnSpc>
                    <a:spcPct val="150000"/>
                  </a:lnSpc>
                </a:pPr>
                <a:endParaRPr lang="zh-CN" altLang="en-US" sz="2000" dirty="0">
                  <a:solidFill>
                    <a:schemeClr val="tx1">
                      <a:lumMod val="65000"/>
                      <a:lumOff val="35000"/>
                    </a:schemeClr>
                  </a:solidFill>
                  <a:latin typeface="+mn-ea"/>
                  <a:cs typeface="阿里巴巴普惠体" panose="00020600040101010101" pitchFamily="18" charset="-122"/>
                </a:endParaRPr>
              </a:p>
            </p:txBody>
          </p:sp>
          <p:sp>
            <p:nvSpPr>
              <p:cNvPr id="20" name="Bullet1"/>
              <p:cNvSpPr txBox="1"/>
              <p:nvPr/>
            </p:nvSpPr>
            <p:spPr>
              <a:xfrm flipH="1">
                <a:off x="2302407" y="2063284"/>
                <a:ext cx="3081655" cy="489585"/>
              </a:xfrm>
              <a:prstGeom prst="rect">
                <a:avLst/>
              </a:prstGeom>
              <a:noFill/>
            </p:spPr>
            <p:txBody>
              <a:bodyPr wrap="square" rtlCol="0" anchor="b" anchorCtr="0">
                <a:noAutofit/>
              </a:bodyPr>
              <a:lstStyle/>
              <a:p>
                <a:pPr algn="just">
                  <a:lnSpc>
                    <a:spcPct val="150000"/>
                  </a:lnSpc>
                </a:pPr>
                <a:r>
                  <a:rPr lang="zh-CN" altLang="en-US" sz="2400" dirty="0">
                    <a:solidFill>
                      <a:schemeClr val="tx1">
                        <a:lumMod val="65000"/>
                        <a:lumOff val="35000"/>
                      </a:schemeClr>
                    </a:solidFill>
                    <a:latin typeface="+mn-ea"/>
                    <a:cs typeface="阿里巴巴普惠体" panose="00020600040101010101" pitchFamily="18" charset="-122"/>
                    <a:sym typeface="+mn-ea"/>
                  </a:rPr>
                  <a:t>（1）</a:t>
                </a:r>
                <a:r>
                  <a:rPr kumimoji="0" lang="zh-CN" altLang="en-US" sz="2400" i="0" u="none" strike="noStrike" kern="1200" cap="none" spc="0" normalizeH="0" baseline="0" dirty="0">
                    <a:solidFill>
                      <a:schemeClr val="tx1">
                        <a:lumMod val="65000"/>
                        <a:lumOff val="35000"/>
                      </a:schemeClr>
                    </a:solidFill>
                    <a:latin typeface="+mn-ea"/>
                    <a:cs typeface="阿里巴巴普惠体" panose="00020600040101010101" pitchFamily="18" charset="-122"/>
                    <a:sym typeface="+mn-ea"/>
                  </a:rPr>
                  <a:t>学科入门实践</a:t>
                </a:r>
              </a:p>
            </p:txBody>
          </p:sp>
        </p:grpSp>
        <p:grpSp>
          <p:nvGrpSpPr>
            <p:cNvPr id="8" name="组合 7"/>
            <p:cNvGrpSpPr/>
            <p:nvPr/>
          </p:nvGrpSpPr>
          <p:grpSpPr>
            <a:xfrm>
              <a:off x="5574311" y="1769914"/>
              <a:ext cx="5407482" cy="4364186"/>
              <a:chOff x="5574311" y="1769914"/>
              <a:chExt cx="5407482" cy="4364186"/>
            </a:xfrm>
          </p:grpSpPr>
          <p:sp>
            <p:nvSpPr>
              <p:cNvPr id="9" name="ComponentBackground2"/>
              <p:cNvSpPr/>
              <p:nvPr/>
            </p:nvSpPr>
            <p:spPr>
              <a:xfrm>
                <a:off x="5574311" y="1769914"/>
                <a:ext cx="5407482" cy="4364186"/>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24" y="2044924"/>
                <a:ext cx="3988237" cy="664916"/>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solidFill>
                      <a:schemeClr val="tx1">
                        <a:lumMod val="65000"/>
                        <a:lumOff val="35000"/>
                      </a:schemeClr>
                    </a:solidFill>
                    <a:latin typeface="+mn-ea"/>
                    <a:cs typeface="阿里巴巴普惠体" panose="00020600040101010101" pitchFamily="18" charset="-122"/>
                    <a:sym typeface="+mn-ea"/>
                  </a:rPr>
                  <a:t>为：</a:t>
                </a:r>
              </a:p>
              <a:p>
                <a:pPr algn="just">
                  <a:lnSpc>
                    <a:spcPct val="150000"/>
                  </a:lnSpc>
                </a:pPr>
                <a:r>
                  <a:rPr lang="zh-CN" altLang="en-US" dirty="0">
                    <a:solidFill>
                      <a:schemeClr val="tx1">
                        <a:lumMod val="65000"/>
                        <a:lumOff val="35000"/>
                      </a:schemeClr>
                    </a:solidFill>
                    <a:latin typeface="+mn-ea"/>
                    <a:cs typeface="阿里巴巴普惠体" panose="00020600040101010101" pitchFamily="18" charset="-122"/>
                  </a:rPr>
                  <a:t>参与活动</a:t>
                </a:r>
                <a:r>
                  <a:rPr lang="en-US" altLang="zh-CN" dirty="0">
                    <a:solidFill>
                      <a:schemeClr val="tx1">
                        <a:lumMod val="65000"/>
                        <a:lumOff val="35000"/>
                      </a:schemeClr>
                    </a:solidFill>
                    <a:latin typeface="+mn-ea"/>
                    <a:cs typeface="阿里巴巴普惠体" panose="00020600040101010101" pitchFamily="18" charset="-122"/>
                  </a:rPr>
                  <a:t>1</a:t>
                </a:r>
                <a:r>
                  <a:rPr lang="zh-CN" altLang="en-US" dirty="0">
                    <a:solidFill>
                      <a:schemeClr val="tx1">
                        <a:lumMod val="65000"/>
                        <a:lumOff val="35000"/>
                      </a:schemeClr>
                    </a:solidFill>
                    <a:latin typeface="+mn-ea"/>
                    <a:cs typeface="阿里巴巴普惠体" panose="00020600040101010101" pitchFamily="18" charset="-122"/>
                  </a:rPr>
                  <a:t>次可获</a:t>
                </a:r>
                <a:r>
                  <a:rPr lang="en-US" altLang="zh-CN" dirty="0">
                    <a:solidFill>
                      <a:schemeClr val="tx1">
                        <a:lumMod val="65000"/>
                        <a:lumOff val="35000"/>
                      </a:schemeClr>
                    </a:solidFill>
                    <a:latin typeface="+mn-ea"/>
                    <a:cs typeface="阿里巴巴普惠体" panose="00020600040101010101" pitchFamily="18" charset="-122"/>
                  </a:rPr>
                  <a:t>1</a:t>
                </a:r>
                <a:r>
                  <a:rPr lang="zh-CN" altLang="en-US" dirty="0">
                    <a:solidFill>
                      <a:schemeClr val="tx1">
                        <a:lumMod val="65000"/>
                        <a:lumOff val="35000"/>
                      </a:schemeClr>
                    </a:solidFill>
                    <a:latin typeface="+mn-ea"/>
                    <a:cs typeface="阿里巴巴普惠体" panose="00020600040101010101" pitchFamily="18" charset="-122"/>
                  </a:rPr>
                  <a:t>个学时</a:t>
                </a:r>
              </a:p>
              <a:p>
                <a:pPr algn="just">
                  <a:lnSpc>
                    <a:spcPct val="150000"/>
                  </a:lnSpc>
                </a:pPr>
                <a:endParaRPr lang="zh-CN" altLang="en-US" dirty="0">
                  <a:solidFill>
                    <a:schemeClr val="tx1">
                      <a:lumMod val="65000"/>
                      <a:lumOff val="35000"/>
                    </a:schemeClr>
                  </a:solidFill>
                  <a:latin typeface="+mn-ea"/>
                  <a:cs typeface="阿里巴巴普惠体" panose="00020600040101010101" pitchFamily="18" charset="-122"/>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solidFill>
                      <a:schemeClr val="tx1">
                        <a:lumMod val="65000"/>
                        <a:lumOff val="35000"/>
                      </a:schemeClr>
                    </a:solidFill>
                    <a:latin typeface="+mn-ea"/>
                    <a:cs typeface="阿里巴巴普惠体" panose="00020600040101010101" pitchFamily="18" charset="-122"/>
                    <a:sym typeface="+mn-ea"/>
                  </a:rPr>
                  <a:t>：</a:t>
                </a:r>
              </a:p>
              <a:p>
                <a:pPr algn="just">
                  <a:lnSpc>
                    <a:spcPct val="150000"/>
                  </a:lnSpc>
                </a:pPr>
                <a:r>
                  <a:rPr lang="zh-CN" altLang="en-US" b="1" dirty="0">
                    <a:solidFill>
                      <a:schemeClr val="accent2"/>
                    </a:solidFill>
                    <a:latin typeface="+mn-ea"/>
                    <a:cs typeface="阿里巴巴普惠体" panose="00020600040101010101" pitchFamily="18" charset="-122"/>
                    <a:sym typeface="+mn-ea"/>
                  </a:rPr>
                  <a:t>学院在系统发布活动</a:t>
                </a:r>
                <a:r>
                  <a:rPr lang="zh-CN" altLang="en-US" dirty="0">
                    <a:solidFill>
                      <a:schemeClr val="tx1">
                        <a:lumMod val="65000"/>
                        <a:lumOff val="35000"/>
                      </a:schemeClr>
                    </a:solidFill>
                    <a:latin typeface="+mn-ea"/>
                    <a:cs typeface="阿里巴巴普惠体" panose="00020600040101010101" pitchFamily="18" charset="-122"/>
                    <a:sym typeface="+mn-ea"/>
                  </a:rPr>
                  <a:t>，学生自主报名，按时签到签退，可获</a:t>
                </a:r>
                <a:r>
                  <a:rPr lang="en-US" altLang="zh-CN" dirty="0">
                    <a:solidFill>
                      <a:schemeClr val="tx1">
                        <a:lumMod val="65000"/>
                        <a:lumOff val="35000"/>
                      </a:schemeClr>
                    </a:solidFill>
                    <a:latin typeface="+mn-ea"/>
                    <a:cs typeface="阿里巴巴普惠体" panose="00020600040101010101" pitchFamily="18" charset="-122"/>
                    <a:sym typeface="+mn-ea"/>
                  </a:rPr>
                  <a:t>1</a:t>
                </a:r>
                <a:r>
                  <a:rPr lang="zh-CN" altLang="en-US" dirty="0">
                    <a:solidFill>
                      <a:schemeClr val="tx1">
                        <a:lumMod val="65000"/>
                        <a:lumOff val="35000"/>
                      </a:schemeClr>
                    </a:solidFill>
                    <a:latin typeface="+mn-ea"/>
                    <a:cs typeface="阿里巴巴普惠体" panose="00020600040101010101" pitchFamily="18" charset="-122"/>
                    <a:sym typeface="+mn-ea"/>
                  </a:rPr>
                  <a:t>个学时。</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286" cy="4364186"/>
            <a:chOff x="1197507" y="1769914"/>
            <a:chExt cx="9784286" cy="4364186"/>
          </a:xfrm>
        </p:grpSpPr>
        <p:grpSp>
          <p:nvGrpSpPr>
            <p:cNvPr id="7" name="组合 6"/>
            <p:cNvGrpSpPr/>
            <p:nvPr/>
          </p:nvGrpSpPr>
          <p:grpSpPr>
            <a:xfrm>
              <a:off x="1197507" y="1769914"/>
              <a:ext cx="5232251" cy="4364186"/>
              <a:chOff x="1197507" y="1769914"/>
              <a:chExt cx="5232251" cy="4364186"/>
            </a:xfrm>
          </p:grpSpPr>
          <p:sp>
            <p:nvSpPr>
              <p:cNvPr id="15" name="ComponentBackground1"/>
              <p:cNvSpPr/>
              <p:nvPr/>
            </p:nvSpPr>
            <p:spPr>
              <a:xfrm>
                <a:off x="1197507" y="1769914"/>
                <a:ext cx="5232251" cy="4364186"/>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796074"/>
                <a:ext cx="3988435" cy="819150"/>
              </a:xfrm>
              <a:prstGeom prst="rect">
                <a:avLst/>
              </a:prstGeom>
              <a:noFill/>
            </p:spPr>
            <p:txBody>
              <a:bodyPr wrap="square" anchor="t" anchorCtr="0"/>
              <a:lstStyle/>
              <a:p>
                <a:pPr algn="just">
                  <a:lnSpc>
                    <a:spcPct val="150000"/>
                  </a:lnSpc>
                </a:pPr>
                <a:r>
                  <a:rPr lang="zh-CN" altLang="en-US" sz="2000" dirty="0">
                    <a:latin typeface="+mn-ea"/>
                    <a:cs typeface="阿里巴巴普惠体" panose="00020600040101010101" pitchFamily="18" charset="-122"/>
                  </a:rPr>
                  <a:t>学生参与学校、学院开展的围绕</a:t>
                </a:r>
                <a:r>
                  <a:rPr lang="en-US" altLang="zh-CN" sz="2000" dirty="0">
                    <a:latin typeface="+mn-ea"/>
                    <a:cs typeface="阿里巴巴普惠体" panose="00020600040101010101" pitchFamily="18" charset="-122"/>
                  </a:rPr>
                  <a:t>“</a:t>
                </a:r>
                <a:r>
                  <a:rPr lang="zh-CN" altLang="en-US" sz="2000" dirty="0">
                    <a:latin typeface="+mn-ea"/>
                    <a:cs typeface="阿里巴巴普惠体" panose="00020600040101010101" pitchFamily="18" charset="-122"/>
                  </a:rPr>
                  <a:t>生涯规划、求职应聘、职业发展、观念引导</a:t>
                </a:r>
                <a:r>
                  <a:rPr lang="en-US" altLang="zh-CN" sz="2000" dirty="0">
                    <a:latin typeface="+mn-ea"/>
                    <a:cs typeface="阿里巴巴普惠体" panose="00020600040101010101" pitchFamily="18" charset="-122"/>
                  </a:rPr>
                  <a:t>”</a:t>
                </a:r>
                <a:r>
                  <a:rPr lang="zh-CN" altLang="en-US" sz="2000" dirty="0">
                    <a:latin typeface="+mn-ea"/>
                    <a:cs typeface="阿里巴巴普惠体" panose="00020600040101010101" pitchFamily="18" charset="-122"/>
                  </a:rPr>
                  <a:t>等方面内容或者与专业相关的职业技能培训，参与形式包括校园招聘会、素质拓展、实践考察、工作坊、讲座、沙龙等。</a:t>
                </a:r>
              </a:p>
              <a:p>
                <a:pPr algn="just">
                  <a:lnSpc>
                    <a:spcPct val="150000"/>
                  </a:lnSpc>
                </a:pPr>
                <a:endParaRPr lang="zh-CN" altLang="en-US" sz="2000" dirty="0">
                  <a:solidFill>
                    <a:schemeClr val="tx1">
                      <a:lumMod val="65000"/>
                      <a:lumOff val="35000"/>
                    </a:schemeClr>
                  </a:solidFill>
                  <a:latin typeface="+mn-ea"/>
                  <a:cs typeface="阿里巴巴普惠体" panose="00020600040101010101" pitchFamily="18" charset="-122"/>
                </a:endParaRPr>
              </a:p>
            </p:txBody>
          </p:sp>
          <p:sp>
            <p:nvSpPr>
              <p:cNvPr id="20" name="Bullet1"/>
              <p:cNvSpPr txBox="1"/>
              <p:nvPr/>
            </p:nvSpPr>
            <p:spPr>
              <a:xfrm flipH="1">
                <a:off x="2302407" y="2063284"/>
                <a:ext cx="3081655" cy="489585"/>
              </a:xfrm>
              <a:prstGeom prst="rect">
                <a:avLst/>
              </a:prstGeom>
              <a:noFill/>
            </p:spPr>
            <p:txBody>
              <a:bodyPr wrap="square" rtlCol="0" anchor="b" anchorCtr="0">
                <a:noAutofit/>
              </a:bodyPr>
              <a:lstStyle/>
              <a:p>
                <a:pPr algn="just">
                  <a:lnSpc>
                    <a:spcPct val="150000"/>
                  </a:lnSpc>
                </a:pPr>
                <a:r>
                  <a:rPr lang="zh-CN" altLang="en-US" sz="2400" dirty="0">
                    <a:solidFill>
                      <a:schemeClr val="tx1">
                        <a:lumMod val="65000"/>
                        <a:lumOff val="35000"/>
                      </a:schemeClr>
                    </a:solidFill>
                    <a:latin typeface="+mn-ea"/>
                    <a:cs typeface="阿里巴巴普惠体" panose="00020600040101010101" pitchFamily="18" charset="-122"/>
                    <a:sym typeface="+mn-ea"/>
                  </a:rPr>
                  <a:t>（2）职业技能培训</a:t>
                </a:r>
              </a:p>
            </p:txBody>
          </p:sp>
        </p:grpSp>
        <p:grpSp>
          <p:nvGrpSpPr>
            <p:cNvPr id="8" name="组合 7"/>
            <p:cNvGrpSpPr/>
            <p:nvPr/>
          </p:nvGrpSpPr>
          <p:grpSpPr>
            <a:xfrm>
              <a:off x="5574311" y="1769914"/>
              <a:ext cx="5407482" cy="4364186"/>
              <a:chOff x="5574311" y="1769914"/>
              <a:chExt cx="5407482" cy="4364186"/>
            </a:xfrm>
          </p:grpSpPr>
          <p:sp>
            <p:nvSpPr>
              <p:cNvPr id="9" name="ComponentBackground2"/>
              <p:cNvSpPr/>
              <p:nvPr/>
            </p:nvSpPr>
            <p:spPr>
              <a:xfrm>
                <a:off x="5574311" y="1769914"/>
                <a:ext cx="5407482" cy="4364186"/>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24" y="2044924"/>
                <a:ext cx="3988237" cy="664916"/>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latin typeface="+mn-ea"/>
                    <a:cs typeface="阿里巴巴普惠体" panose="00020600040101010101" pitchFamily="18" charset="-122"/>
                    <a:sym typeface="+mn-ea"/>
                  </a:rPr>
                  <a:t>为：</a:t>
                </a:r>
                <a:r>
                  <a:rPr lang="zh-CN" altLang="en-US" dirty="0">
                    <a:latin typeface="+mn-ea"/>
                    <a:cs typeface="阿里巴巴普惠体" panose="00020600040101010101" pitchFamily="18" charset="-122"/>
                  </a:rPr>
                  <a:t>参与活动</a:t>
                </a:r>
                <a:r>
                  <a:rPr lang="en-US" altLang="zh-CN" dirty="0">
                    <a:latin typeface="+mn-ea"/>
                    <a:cs typeface="阿里巴巴普惠体" panose="00020600040101010101" pitchFamily="18" charset="-122"/>
                  </a:rPr>
                  <a:t>1</a:t>
                </a:r>
                <a:r>
                  <a:rPr lang="zh-CN" altLang="en-US" dirty="0">
                    <a:latin typeface="+mn-ea"/>
                    <a:cs typeface="阿里巴巴普惠体" panose="00020600040101010101" pitchFamily="18" charset="-122"/>
                  </a:rPr>
                  <a:t>次可获</a:t>
                </a:r>
                <a:r>
                  <a:rPr lang="en-US" altLang="zh-CN" dirty="0">
                    <a:latin typeface="+mn-ea"/>
                    <a:cs typeface="阿里巴巴普惠体" panose="00020600040101010101" pitchFamily="18" charset="-122"/>
                  </a:rPr>
                  <a:t>1</a:t>
                </a:r>
                <a:r>
                  <a:rPr lang="zh-CN" altLang="en-US" dirty="0">
                    <a:latin typeface="+mn-ea"/>
                    <a:cs typeface="阿里巴巴普惠体" panose="00020600040101010101" pitchFamily="18" charset="-122"/>
                  </a:rPr>
                  <a:t>个学时。</a:t>
                </a:r>
              </a:p>
              <a:p>
                <a:pPr algn="just">
                  <a:lnSpc>
                    <a:spcPct val="150000"/>
                  </a:lnSpc>
                </a:pPr>
                <a:endParaRPr lang="zh-CN" altLang="en-US" dirty="0">
                  <a:solidFill>
                    <a:srgbClr val="FF0000"/>
                  </a:solidFill>
                  <a:latin typeface="+mn-ea"/>
                  <a:cs typeface="阿里巴巴普惠体" panose="00020600040101010101" pitchFamily="18" charset="-122"/>
                  <a:sym typeface="+mn-ea"/>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latin typeface="+mn-ea"/>
                    <a:cs typeface="阿里巴巴普惠体" panose="00020600040101010101" pitchFamily="18" charset="-122"/>
                    <a:sym typeface="+mn-ea"/>
                  </a:rPr>
                  <a:t>为：参与院级及以上主题活动，且在</a:t>
                </a:r>
                <a:r>
                  <a:rPr lang="zh-CN" altLang="en-US" dirty="0">
                    <a:solidFill>
                      <a:schemeClr val="accent2"/>
                    </a:solidFill>
                    <a:latin typeface="+mn-ea"/>
                    <a:cs typeface="阿里巴巴普惠体" panose="00020600040101010101" pitchFamily="18" charset="-122"/>
                    <a:sym typeface="+mn-ea"/>
                  </a:rPr>
                  <a:t>厦门大学24365就业育人数智平台</a:t>
                </a:r>
                <a:r>
                  <a:rPr lang="zh-CN" altLang="en-US" dirty="0">
                    <a:latin typeface="+mn-ea"/>
                    <a:cs typeface="阿里巴巴普惠体" panose="00020600040101010101" pitchFamily="18" charset="-122"/>
                    <a:sym typeface="+mn-ea"/>
                  </a:rPr>
                  <a:t>完成报名和签到，每次获1个学时。</a:t>
                </a:r>
              </a:p>
              <a:p>
                <a:pPr algn="l">
                  <a:lnSpc>
                    <a:spcPct val="150000"/>
                  </a:lnSpc>
                </a:pPr>
                <a:endParaRPr lang="en-US" altLang="zh-CN" dirty="0">
                  <a:solidFill>
                    <a:schemeClr val="tx1">
                      <a:lumMod val="65000"/>
                      <a:lumOff val="35000"/>
                    </a:schemeClr>
                  </a:solidFill>
                  <a:latin typeface="+mn-ea"/>
                  <a:cs typeface="阿里巴巴普惠体" panose="00020600040101010101" pitchFamily="18" charset="-122"/>
                  <a:sym typeface="+mn-ea"/>
                </a:endParaRPr>
              </a:p>
              <a:p>
                <a:pPr algn="l">
                  <a:lnSpc>
                    <a:spcPct val="150000"/>
                  </a:lnSpc>
                </a:pPr>
                <a:r>
                  <a:rPr lang="en-US" altLang="zh-CN" dirty="0">
                    <a:solidFill>
                      <a:schemeClr val="tx1"/>
                    </a:solidFill>
                    <a:latin typeface="+mn-ea"/>
                    <a:cs typeface="阿里巴巴普惠体" panose="00020600040101010101" pitchFamily="18" charset="-122"/>
                    <a:sym typeface="+mn-ea"/>
                  </a:rPr>
                  <a:t>24365</a:t>
                </a:r>
                <a:r>
                  <a:rPr lang="zh-CN" altLang="en-US" dirty="0">
                    <a:solidFill>
                      <a:schemeClr val="tx1"/>
                    </a:solidFill>
                    <a:latin typeface="+mn-ea"/>
                    <a:cs typeface="阿里巴巴普惠体" panose="00020600040101010101" pitchFamily="18" charset="-122"/>
                    <a:sym typeface="+mn-ea"/>
                  </a:rPr>
                  <a:t>平台登录网址：</a:t>
                </a:r>
                <a:r>
                  <a:rPr lang="en-US" altLang="zh-CN" dirty="0">
                    <a:solidFill>
                      <a:schemeClr val="tx1"/>
                    </a:solidFill>
                    <a:latin typeface="+mn-ea"/>
                    <a:cs typeface="阿里巴巴普惠体" panose="00020600040101010101" pitchFamily="18" charset="-122"/>
                    <a:sym typeface="+mn-ea"/>
                  </a:rPr>
                  <a:t>https://jy.xmu.edu.cn/</a:t>
                </a:r>
              </a:p>
              <a:p>
                <a:pPr algn="l">
                  <a:lnSpc>
                    <a:spcPct val="150000"/>
                  </a:lnSpc>
                </a:pPr>
                <a:endParaRPr lang="en-US" altLang="zh-CN" dirty="0">
                  <a:solidFill>
                    <a:schemeClr val="tx1">
                      <a:lumMod val="65000"/>
                      <a:lumOff val="35000"/>
                    </a:schemeClr>
                  </a:solidFill>
                  <a:latin typeface="+mn-ea"/>
                  <a:cs typeface="阿里巴巴普惠体" panose="00020600040101010101" pitchFamily="18" charset="-122"/>
                  <a:sym typeface="+mn-ea"/>
                </a:endParaRPr>
              </a:p>
              <a:p>
                <a:pPr algn="just">
                  <a:lnSpc>
                    <a:spcPct val="150000"/>
                  </a:lnSpc>
                </a:pPr>
                <a:endParaRPr lang="zh-CN" altLang="en-US" dirty="0">
                  <a:solidFill>
                    <a:schemeClr val="tx1">
                      <a:lumMod val="65000"/>
                      <a:lumOff val="35000"/>
                    </a:schemeClr>
                  </a:solidFill>
                  <a:latin typeface="+mn-ea"/>
                  <a:cs typeface="阿里巴巴普惠体" panose="00020600040101010101" pitchFamily="18" charset="-122"/>
                  <a:sym typeface="+mn-ea"/>
                </a:endParaRP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364186"/>
            <a:chOff x="1197507" y="1769914"/>
            <a:chExt cx="9784464" cy="4364186"/>
          </a:xfrm>
        </p:grpSpPr>
        <p:grpSp>
          <p:nvGrpSpPr>
            <p:cNvPr id="7" name="组合 6"/>
            <p:cNvGrpSpPr/>
            <p:nvPr/>
          </p:nvGrpSpPr>
          <p:grpSpPr>
            <a:xfrm>
              <a:off x="1197507" y="1769914"/>
              <a:ext cx="5232251" cy="4364186"/>
              <a:chOff x="1197507" y="1769914"/>
              <a:chExt cx="5232251" cy="4364186"/>
            </a:xfrm>
          </p:grpSpPr>
          <p:sp>
            <p:nvSpPr>
              <p:cNvPr id="15" name="ComponentBackground1"/>
              <p:cNvSpPr/>
              <p:nvPr/>
            </p:nvSpPr>
            <p:spPr>
              <a:xfrm>
                <a:off x="1197507" y="1769914"/>
                <a:ext cx="5232251" cy="4364186"/>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981" y="2950524"/>
                <a:ext cx="3988237" cy="664916"/>
              </a:xfrm>
              <a:prstGeom prst="rect">
                <a:avLst/>
              </a:prstGeom>
              <a:noFill/>
            </p:spPr>
            <p:txBody>
              <a:bodyPr wrap="square" anchor="t" anchorCtr="0"/>
              <a:lstStyle/>
              <a:p>
                <a:pPr algn="just">
                  <a:lnSpc>
                    <a:spcPct val="150000"/>
                  </a:lnSpc>
                </a:pPr>
                <a:r>
                  <a:rPr lang="zh-CN" altLang="en-US" sz="2000" dirty="0">
                    <a:latin typeface="+mn-ea"/>
                    <a:cs typeface="阿里巴巴普惠体" panose="00020600040101010101" pitchFamily="18" charset="-122"/>
                  </a:rPr>
                  <a:t>学生参与国家、省市级以及学校开展的就业指导系列比赛，如大学生职业规划大赛、模拟招聘大赛、简历制作大赛等。</a:t>
                </a:r>
              </a:p>
              <a:p>
                <a:pPr algn="just">
                  <a:lnSpc>
                    <a:spcPct val="150000"/>
                  </a:lnSpc>
                </a:pPr>
                <a:endParaRPr lang="zh-CN" altLang="en-US" sz="2000" dirty="0">
                  <a:latin typeface="+mn-ea"/>
                  <a:cs typeface="阿里巴巴普惠体" panose="00020600040101010101" pitchFamily="18" charset="-122"/>
                </a:endParaRPr>
              </a:p>
            </p:txBody>
          </p:sp>
          <p:sp>
            <p:nvSpPr>
              <p:cNvPr id="20" name="Bullet1"/>
              <p:cNvSpPr txBox="1"/>
              <p:nvPr/>
            </p:nvSpPr>
            <p:spPr>
              <a:xfrm flipH="1">
                <a:off x="2302407" y="2063284"/>
                <a:ext cx="3790315" cy="489585"/>
              </a:xfrm>
              <a:prstGeom prst="rect">
                <a:avLst/>
              </a:prstGeom>
              <a:noFill/>
            </p:spPr>
            <p:txBody>
              <a:bodyPr wrap="square" rtlCol="0" anchor="b" anchorCtr="0">
                <a:noAutofit/>
              </a:bodyPr>
              <a:lstStyle/>
              <a:p>
                <a:pPr algn="just">
                  <a:lnSpc>
                    <a:spcPct val="150000"/>
                  </a:lnSpc>
                </a:pPr>
                <a:r>
                  <a:rPr lang="zh-CN" altLang="en-US" sz="2400" dirty="0">
                    <a:solidFill>
                      <a:schemeClr val="tx1">
                        <a:lumMod val="65000"/>
                        <a:lumOff val="35000"/>
                      </a:schemeClr>
                    </a:solidFill>
                    <a:latin typeface="+mn-ea"/>
                    <a:cs typeface="阿里巴巴普惠体" panose="00020600040101010101" pitchFamily="18" charset="-122"/>
                    <a:sym typeface="+mn-ea"/>
                  </a:rPr>
                  <a:t>（3）就业指导系列比赛</a:t>
                </a:r>
              </a:p>
            </p:txBody>
          </p:sp>
        </p:grpSp>
        <p:grpSp>
          <p:nvGrpSpPr>
            <p:cNvPr id="8" name="组合 7"/>
            <p:cNvGrpSpPr/>
            <p:nvPr/>
          </p:nvGrpSpPr>
          <p:grpSpPr>
            <a:xfrm>
              <a:off x="5574311" y="1769914"/>
              <a:ext cx="5407660" cy="4364186"/>
              <a:chOff x="5574311" y="1769914"/>
              <a:chExt cx="5407660" cy="4364186"/>
            </a:xfrm>
          </p:grpSpPr>
          <p:sp>
            <p:nvSpPr>
              <p:cNvPr id="9" name="ComponentBackground2"/>
              <p:cNvSpPr/>
              <p:nvPr/>
            </p:nvSpPr>
            <p:spPr>
              <a:xfrm>
                <a:off x="5574311" y="1769914"/>
                <a:ext cx="5407482" cy="4364186"/>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1888024"/>
                <a:ext cx="4468495" cy="664845"/>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latin typeface="+mn-ea"/>
                    <a:cs typeface="阿里巴巴普惠体" panose="00020600040101010101" pitchFamily="18" charset="-122"/>
                    <a:sym typeface="+mn-ea"/>
                  </a:rPr>
                  <a:t>为：</a:t>
                </a:r>
              </a:p>
              <a:p>
                <a:pPr algn="just">
                  <a:lnSpc>
                    <a:spcPct val="150000"/>
                  </a:lnSpc>
                </a:pPr>
                <a:r>
                  <a:rPr lang="zh-CN" altLang="en-US" dirty="0">
                    <a:latin typeface="+mn-ea"/>
                    <a:cs typeface="阿里巴巴普惠体" panose="00020600040101010101" pitchFamily="18" charset="-122"/>
                    <a:sym typeface="+mn-ea"/>
                  </a:rPr>
                  <a:t>市级以上奖项获</a:t>
                </a:r>
                <a:r>
                  <a:rPr lang="en-US" altLang="zh-CN" dirty="0">
                    <a:latin typeface="+mn-ea"/>
                    <a:cs typeface="阿里巴巴普惠体" panose="00020600040101010101" pitchFamily="18" charset="-122"/>
                    <a:sym typeface="+mn-ea"/>
                  </a:rPr>
                  <a:t>4</a:t>
                </a:r>
                <a:r>
                  <a:rPr lang="zh-CN" altLang="en-US" dirty="0">
                    <a:latin typeface="+mn-ea"/>
                    <a:cs typeface="阿里巴巴普惠体" panose="00020600040101010101" pitchFamily="18" charset="-122"/>
                    <a:sym typeface="+mn-ea"/>
                  </a:rPr>
                  <a:t>个学时，校级奖项获</a:t>
                </a:r>
                <a:r>
                  <a:rPr lang="en-US" altLang="zh-CN" dirty="0">
                    <a:latin typeface="+mn-ea"/>
                    <a:cs typeface="阿里巴巴普惠体" panose="00020600040101010101" pitchFamily="18" charset="-122"/>
                    <a:sym typeface="+mn-ea"/>
                  </a:rPr>
                  <a:t>3</a:t>
                </a:r>
                <a:r>
                  <a:rPr lang="zh-CN" altLang="en-US" dirty="0">
                    <a:latin typeface="+mn-ea"/>
                    <a:cs typeface="阿里巴巴普惠体" panose="00020600040101010101" pitchFamily="18" charset="-122"/>
                    <a:sym typeface="+mn-ea"/>
                  </a:rPr>
                  <a:t>个学时，院级奖项获</a:t>
                </a:r>
                <a:r>
                  <a:rPr lang="en-US" altLang="zh-CN" dirty="0">
                    <a:latin typeface="+mn-ea"/>
                    <a:cs typeface="阿里巴巴普惠体" panose="00020600040101010101" pitchFamily="18" charset="-122"/>
                    <a:sym typeface="+mn-ea"/>
                  </a:rPr>
                  <a:t>2</a:t>
                </a:r>
                <a:r>
                  <a:rPr lang="zh-CN" altLang="en-US" dirty="0">
                    <a:latin typeface="+mn-ea"/>
                    <a:cs typeface="阿里巴巴普惠体" panose="00020600040101010101" pitchFamily="18" charset="-122"/>
                    <a:sym typeface="+mn-ea"/>
                  </a:rPr>
                  <a:t>个学时，参与比赛但未得奖获</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个学时（同一比赛不同级别获奖取最高项）。</a:t>
                </a:r>
              </a:p>
              <a:p>
                <a:pPr algn="just">
                  <a:lnSpc>
                    <a:spcPct val="150000"/>
                  </a:lnSpc>
                </a:pPr>
                <a:endParaRPr lang="zh-CN" altLang="en-US" b="1" dirty="0">
                  <a:solidFill>
                    <a:srgbClr val="FF0000"/>
                  </a:solidFill>
                  <a:latin typeface="+mn-ea"/>
                  <a:cs typeface="阿里巴巴普惠体" panose="00020600040101010101" pitchFamily="18" charset="-122"/>
                  <a:sym typeface="+mn-ea"/>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latin typeface="+mn-ea"/>
                    <a:cs typeface="阿里巴巴普惠体" panose="00020600040101010101" pitchFamily="18" charset="-122"/>
                    <a:sym typeface="+mn-ea"/>
                  </a:rPr>
                  <a:t>为：学生</a:t>
                </a:r>
                <a:r>
                  <a:rPr lang="zh-CN" altLang="en-US" b="1" dirty="0">
                    <a:solidFill>
                      <a:schemeClr val="accent2"/>
                    </a:solidFill>
                    <a:latin typeface="+mn-ea"/>
                    <a:cs typeface="阿里巴巴普惠体" panose="00020600040101010101" pitchFamily="18" charset="-122"/>
                    <a:sym typeface="+mn-ea"/>
                  </a:rPr>
                  <a:t>自行在系统提交</a:t>
                </a:r>
                <a:r>
                  <a:rPr lang="zh-CN" altLang="en-US" dirty="0">
                    <a:latin typeface="+mn-ea"/>
                    <a:cs typeface="阿里巴巴普惠体" panose="00020600040101010101" pitchFamily="18" charset="-122"/>
                    <a:sym typeface="+mn-ea"/>
                  </a:rPr>
                  <a:t>证明材料申请学时，学院进行审核认定。</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286" cy="4364186"/>
            <a:chOff x="1197507" y="1769914"/>
            <a:chExt cx="9784286" cy="4364186"/>
          </a:xfrm>
        </p:grpSpPr>
        <p:grpSp>
          <p:nvGrpSpPr>
            <p:cNvPr id="7" name="组合 6"/>
            <p:cNvGrpSpPr/>
            <p:nvPr/>
          </p:nvGrpSpPr>
          <p:grpSpPr>
            <a:xfrm>
              <a:off x="1197507" y="1769914"/>
              <a:ext cx="5232251" cy="4364186"/>
              <a:chOff x="1197507" y="1769914"/>
              <a:chExt cx="5232251" cy="4364186"/>
            </a:xfrm>
          </p:grpSpPr>
          <p:sp>
            <p:nvSpPr>
              <p:cNvPr id="15" name="ComponentBackground1"/>
              <p:cNvSpPr/>
              <p:nvPr/>
            </p:nvSpPr>
            <p:spPr>
              <a:xfrm>
                <a:off x="1197507" y="1769914"/>
                <a:ext cx="5232251" cy="4364186"/>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406871" y="3120069"/>
                <a:ext cx="3988237" cy="664916"/>
              </a:xfrm>
              <a:prstGeom prst="rect">
                <a:avLst/>
              </a:prstGeom>
              <a:noFill/>
            </p:spPr>
            <p:txBody>
              <a:bodyPr wrap="square" anchor="t" anchorCtr="0"/>
              <a:lstStyle/>
              <a:p>
                <a:pPr algn="just">
                  <a:lnSpc>
                    <a:spcPct val="150000"/>
                  </a:lnSpc>
                </a:pPr>
                <a:r>
                  <a:rPr lang="zh-CN" altLang="en-US" dirty="0">
                    <a:latin typeface="+mn-ea"/>
                    <a:cs typeface="阿里巴巴普惠体" panose="00020600040101010101" pitchFamily="18" charset="-122"/>
                  </a:rPr>
                  <a:t>学生参与学生就业创业指导中心</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一对一</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生涯咨询服务及学生生涯测评，通过自我了解、学涯规划、职业探索、职业决策、求职技巧、求职心理等环节的咨询，应对生涯规划命题。</a:t>
                </a:r>
              </a:p>
            </p:txBody>
          </p:sp>
          <p:sp>
            <p:nvSpPr>
              <p:cNvPr id="20" name="Bullet1"/>
              <p:cNvSpPr txBox="1"/>
              <p:nvPr/>
            </p:nvSpPr>
            <p:spPr>
              <a:xfrm flipH="1">
                <a:off x="2378607" y="2411899"/>
                <a:ext cx="2685415" cy="489585"/>
              </a:xfrm>
              <a:prstGeom prst="rect">
                <a:avLst/>
              </a:prstGeom>
              <a:noFill/>
            </p:spPr>
            <p:txBody>
              <a:bodyPr wrap="square" rtlCol="0" anchor="b" anchorCtr="0">
                <a:noAutofit/>
              </a:bodyPr>
              <a:lstStyle/>
              <a:p>
                <a:pPr algn="just">
                  <a:lnSpc>
                    <a:spcPct val="150000"/>
                  </a:lnSpc>
                </a:pPr>
                <a:r>
                  <a:rPr lang="zh-CN" altLang="en-US" sz="2400" dirty="0">
                    <a:solidFill>
                      <a:schemeClr val="tx1">
                        <a:lumMod val="65000"/>
                        <a:lumOff val="35000"/>
                      </a:schemeClr>
                    </a:solidFill>
                    <a:latin typeface="+mn-ea"/>
                    <a:cs typeface="阿里巴巴普惠体" panose="00020600040101010101" pitchFamily="18" charset="-122"/>
                    <a:sym typeface="+mn-ea"/>
                  </a:rPr>
                  <a:t>（4）</a:t>
                </a:r>
                <a:r>
                  <a:rPr lang="en-US" altLang="zh-CN" sz="2400" dirty="0">
                    <a:solidFill>
                      <a:schemeClr val="tx1">
                        <a:lumMod val="65000"/>
                        <a:lumOff val="35000"/>
                      </a:schemeClr>
                    </a:solidFill>
                    <a:latin typeface="+mn-ea"/>
                    <a:cs typeface="阿里巴巴普惠体" panose="00020600040101010101" pitchFamily="18" charset="-122"/>
                    <a:sym typeface="+mn-ea"/>
                  </a:rPr>
                  <a:t>“</a:t>
                </a:r>
                <a:r>
                  <a:rPr lang="zh-CN" altLang="en-US" sz="2400" dirty="0">
                    <a:solidFill>
                      <a:schemeClr val="tx1">
                        <a:lumMod val="65000"/>
                        <a:lumOff val="35000"/>
                      </a:schemeClr>
                    </a:solidFill>
                    <a:latin typeface="+mn-ea"/>
                    <a:cs typeface="阿里巴巴普惠体" panose="00020600040101010101" pitchFamily="18" charset="-122"/>
                    <a:sym typeface="+mn-ea"/>
                  </a:rPr>
                  <a:t>一对一</a:t>
                </a:r>
                <a:r>
                  <a:rPr lang="en-US" altLang="zh-CN" sz="2400" dirty="0">
                    <a:solidFill>
                      <a:schemeClr val="tx1">
                        <a:lumMod val="65000"/>
                        <a:lumOff val="35000"/>
                      </a:schemeClr>
                    </a:solidFill>
                    <a:latin typeface="+mn-ea"/>
                    <a:cs typeface="阿里巴巴普惠体" panose="00020600040101010101" pitchFamily="18" charset="-122"/>
                    <a:sym typeface="+mn-ea"/>
                  </a:rPr>
                  <a:t>”</a:t>
                </a:r>
                <a:r>
                  <a:rPr lang="zh-CN" altLang="en-US" sz="2400" dirty="0">
                    <a:solidFill>
                      <a:schemeClr val="tx1">
                        <a:lumMod val="65000"/>
                        <a:lumOff val="35000"/>
                      </a:schemeClr>
                    </a:solidFill>
                    <a:latin typeface="+mn-ea"/>
                    <a:cs typeface="阿里巴巴普惠体" panose="00020600040101010101" pitchFamily="18" charset="-122"/>
                    <a:sym typeface="+mn-ea"/>
                  </a:rPr>
                  <a:t>生涯咨询服务</a:t>
                </a:r>
              </a:p>
            </p:txBody>
          </p:sp>
        </p:grpSp>
        <p:grpSp>
          <p:nvGrpSpPr>
            <p:cNvPr id="8" name="组合 7"/>
            <p:cNvGrpSpPr/>
            <p:nvPr/>
          </p:nvGrpSpPr>
          <p:grpSpPr>
            <a:xfrm>
              <a:off x="5574311" y="1769914"/>
              <a:ext cx="5407482" cy="4364186"/>
              <a:chOff x="5574311" y="1769914"/>
              <a:chExt cx="5407482" cy="4364186"/>
            </a:xfrm>
          </p:grpSpPr>
          <p:sp>
            <p:nvSpPr>
              <p:cNvPr id="9" name="ComponentBackground2"/>
              <p:cNvSpPr/>
              <p:nvPr/>
            </p:nvSpPr>
            <p:spPr>
              <a:xfrm>
                <a:off x="5574311" y="1769914"/>
                <a:ext cx="5407482" cy="4364186"/>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430291" y="1888024"/>
                <a:ext cx="4468495" cy="664845"/>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latin typeface="+mn-ea"/>
                    <a:cs typeface="阿里巴巴普惠体" panose="00020600040101010101" pitchFamily="18" charset="-122"/>
                    <a:sym typeface="+mn-ea"/>
                  </a:rPr>
                  <a:t>为：</a:t>
                </a:r>
              </a:p>
              <a:p>
                <a:pPr algn="just">
                  <a:lnSpc>
                    <a:spcPct val="150000"/>
                  </a:lnSpc>
                </a:pPr>
                <a:r>
                  <a:rPr lang="zh-CN" altLang="en-US" dirty="0">
                    <a:latin typeface="+mn-ea"/>
                    <a:cs typeface="阿里巴巴普惠体" panose="00020600040101010101" pitchFamily="18" charset="-122"/>
                    <a:sym typeface="+mn-ea"/>
                  </a:rPr>
                  <a:t>参与活动</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次可获</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个学时。</a:t>
                </a:r>
              </a:p>
              <a:p>
                <a:pPr algn="just">
                  <a:lnSpc>
                    <a:spcPct val="150000"/>
                  </a:lnSpc>
                </a:pPr>
                <a:endParaRPr lang="zh-CN" altLang="en-US" b="1" dirty="0">
                  <a:solidFill>
                    <a:srgbClr val="FF0000"/>
                  </a:solidFill>
                  <a:latin typeface="+mn-ea"/>
                  <a:cs typeface="阿里巴巴普惠体" panose="00020600040101010101" pitchFamily="18" charset="-122"/>
                  <a:sym typeface="+mn-ea"/>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latin typeface="+mn-ea"/>
                    <a:cs typeface="阿里巴巴普惠体" panose="00020600040101010101" pitchFamily="18" charset="-122"/>
                    <a:sym typeface="+mn-ea"/>
                  </a:rPr>
                  <a:t>为：</a:t>
                </a:r>
              </a:p>
              <a:p>
                <a:pPr algn="just">
                  <a:lnSpc>
                    <a:spcPct val="150000"/>
                  </a:lnSpc>
                </a:pPr>
                <a:r>
                  <a:rPr lang="zh-CN" altLang="en-US" dirty="0">
                    <a:latin typeface="+mn-ea"/>
                    <a:cs typeface="阿里巴巴普惠体" panose="00020600040101010101" pitchFamily="18" charset="-122"/>
                    <a:sym typeface="+mn-ea"/>
                  </a:rPr>
                  <a:t>通过厦门大学</a:t>
                </a:r>
                <a:r>
                  <a:rPr lang="en-US" altLang="zh-CN" dirty="0">
                    <a:latin typeface="+mn-ea"/>
                    <a:cs typeface="阿里巴巴普惠体" panose="00020600040101010101" pitchFamily="18" charset="-122"/>
                    <a:sym typeface="+mn-ea"/>
                  </a:rPr>
                  <a:t>24365</a:t>
                </a:r>
                <a:r>
                  <a:rPr lang="zh-CN" altLang="en-US" dirty="0">
                    <a:latin typeface="+mn-ea"/>
                    <a:cs typeface="阿里巴巴普惠体" panose="00020600040101010101" pitchFamily="18" charset="-122"/>
                    <a:sym typeface="+mn-ea"/>
                  </a:rPr>
                  <a:t>就业育人数智平台预约并参与</a:t>
                </a:r>
                <a:r>
                  <a:rPr lang="zh-CN" altLang="en-US" dirty="0">
                    <a:solidFill>
                      <a:schemeClr val="accent2"/>
                    </a:solidFill>
                    <a:latin typeface="+mn-ea"/>
                    <a:cs typeface="阿里巴巴普惠体" panose="00020600040101010101" pitchFamily="18" charset="-122"/>
                    <a:sym typeface="+mn-ea"/>
                  </a:rPr>
                  <a:t>生涯咨询服务</a:t>
                </a:r>
                <a:r>
                  <a:rPr lang="zh-CN" altLang="en-US" dirty="0">
                    <a:latin typeface="+mn-ea"/>
                    <a:cs typeface="阿里巴巴普惠体" panose="00020600040101010101" pitchFamily="18" charset="-122"/>
                    <a:sym typeface="+mn-ea"/>
                  </a:rPr>
                  <a:t>或</a:t>
                </a:r>
                <a:r>
                  <a:rPr lang="zh-CN" altLang="en-US" dirty="0">
                    <a:solidFill>
                      <a:schemeClr val="accent2"/>
                    </a:solidFill>
                    <a:latin typeface="+mn-ea"/>
                    <a:cs typeface="阿里巴巴普惠体" panose="00020600040101010101" pitchFamily="18" charset="-122"/>
                    <a:sym typeface="+mn-ea"/>
                  </a:rPr>
                  <a:t>生涯测评</a:t>
                </a:r>
                <a:r>
                  <a:rPr lang="zh-CN" altLang="en-US" dirty="0">
                    <a:latin typeface="+mn-ea"/>
                    <a:cs typeface="阿里巴巴普惠体" panose="00020600040101010101" pitchFamily="18" charset="-122"/>
                    <a:sym typeface="+mn-ea"/>
                  </a:rPr>
                  <a:t>，每次完成可获</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个学时。</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3953510" cy="664845"/>
              </a:xfrm>
              <a:prstGeom prst="rect">
                <a:avLst/>
              </a:prstGeom>
              <a:noFill/>
            </p:spPr>
            <p:txBody>
              <a:bodyPr wrap="square" anchor="t" anchorCtr="0"/>
              <a:lstStyle/>
              <a:p>
                <a:pPr algn="just">
                  <a:lnSpc>
                    <a:spcPct val="150000"/>
                  </a:lnSpc>
                </a:pPr>
                <a:r>
                  <a:rPr lang="zh-CN" altLang="en-US" dirty="0">
                    <a:latin typeface="+mn-ea"/>
                    <a:cs typeface="阿里巴巴普惠体" panose="00020600040101010101" pitchFamily="18" charset="-122"/>
                  </a:rPr>
                  <a:t>学生参与学校、学院或其他单位开展的</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四走</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（走名企、走名家、走名品、走名园）</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访企拓岗</a:t>
                </a:r>
                <a:r>
                  <a:rPr lang="en-US" altLang="zh-CN" dirty="0">
                    <a:latin typeface="+mn-ea"/>
                    <a:cs typeface="阿里巴巴普惠体" panose="00020600040101010101" pitchFamily="18" charset="-122"/>
                  </a:rPr>
                  <a:t>”</a:t>
                </a:r>
                <a:r>
                  <a:rPr lang="zh-CN" altLang="en-US" dirty="0">
                    <a:latin typeface="+mn-ea"/>
                    <a:cs typeface="阿里巴巴普惠体" panose="00020600040101010101" pitchFamily="18" charset="-122"/>
                  </a:rPr>
                  <a:t>等参访活动，实地调研知名企业、特色园区，对话卓越企业家。</a:t>
                </a:r>
              </a:p>
            </p:txBody>
          </p:sp>
          <p:sp>
            <p:nvSpPr>
              <p:cNvPr id="20" name="Bullet1"/>
              <p:cNvSpPr txBox="1"/>
              <p:nvPr/>
            </p:nvSpPr>
            <p:spPr>
              <a:xfrm flipH="1">
                <a:off x="2378607" y="2162979"/>
                <a:ext cx="2685415" cy="489585"/>
              </a:xfrm>
              <a:prstGeom prst="rect">
                <a:avLst/>
              </a:prstGeom>
              <a:noFill/>
            </p:spPr>
            <p:txBody>
              <a:bodyPr wrap="square" rtlCol="0" anchor="b" anchorCtr="0">
                <a:noAutofit/>
              </a:bodyPr>
              <a:lstStyle/>
              <a:p>
                <a:pPr algn="just">
                  <a:lnSpc>
                    <a:spcPct val="150000"/>
                  </a:lnSpc>
                </a:pPr>
                <a:r>
                  <a:rPr lang="zh-CN" altLang="en-US" dirty="0">
                    <a:solidFill>
                      <a:schemeClr val="tx1">
                        <a:lumMod val="65000"/>
                        <a:lumOff val="35000"/>
                      </a:schemeClr>
                    </a:solidFill>
                    <a:latin typeface="+mn-ea"/>
                    <a:cs typeface="阿里巴巴普惠体" panose="00020600040101010101" pitchFamily="18" charset="-122"/>
                    <a:sym typeface="+mn-ea"/>
                  </a:rPr>
                  <a:t>（5）</a:t>
                </a:r>
                <a:r>
                  <a:rPr lang="en-US" altLang="zh-CN" dirty="0">
                    <a:solidFill>
                      <a:schemeClr val="tx1">
                        <a:lumMod val="65000"/>
                        <a:lumOff val="35000"/>
                      </a:schemeClr>
                    </a:solidFill>
                    <a:latin typeface="+mn-ea"/>
                    <a:cs typeface="阿里巴巴普惠体" panose="00020600040101010101" pitchFamily="18" charset="-122"/>
                    <a:sym typeface="+mn-ea"/>
                  </a:rPr>
                  <a:t>“</a:t>
                </a:r>
                <a:r>
                  <a:rPr lang="zh-CN" altLang="en-US" dirty="0">
                    <a:solidFill>
                      <a:schemeClr val="tx1">
                        <a:lumMod val="65000"/>
                        <a:lumOff val="35000"/>
                      </a:schemeClr>
                    </a:solidFill>
                    <a:latin typeface="+mn-ea"/>
                    <a:cs typeface="阿里巴巴普惠体" panose="00020600040101010101" pitchFamily="18" charset="-122"/>
                    <a:sym typeface="+mn-ea"/>
                  </a:rPr>
                  <a:t>四走</a:t>
                </a:r>
                <a:r>
                  <a:rPr lang="en-US" altLang="zh-CN" dirty="0">
                    <a:solidFill>
                      <a:schemeClr val="tx1">
                        <a:lumMod val="65000"/>
                        <a:lumOff val="35000"/>
                      </a:schemeClr>
                    </a:solidFill>
                    <a:latin typeface="+mn-ea"/>
                    <a:cs typeface="阿里巴巴普惠体" panose="00020600040101010101" pitchFamily="18" charset="-122"/>
                    <a:sym typeface="+mn-ea"/>
                  </a:rPr>
                  <a:t>”</a:t>
                </a:r>
                <a:r>
                  <a:rPr lang="zh-CN" altLang="en-US" dirty="0">
                    <a:solidFill>
                      <a:schemeClr val="tx1">
                        <a:lumMod val="65000"/>
                        <a:lumOff val="35000"/>
                      </a:schemeClr>
                    </a:solidFill>
                    <a:latin typeface="+mn-ea"/>
                    <a:cs typeface="阿里巴巴普惠体" panose="00020600040101010101" pitchFamily="18" charset="-122"/>
                    <a:sym typeface="+mn-ea"/>
                  </a:rPr>
                  <a:t>参访活动</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430291" y="1888024"/>
                <a:ext cx="4468495" cy="664845"/>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latin typeface="+mn-ea"/>
                    <a:cs typeface="阿里巴巴普惠体" panose="00020600040101010101" pitchFamily="18" charset="-122"/>
                    <a:sym typeface="+mn-ea"/>
                  </a:rPr>
                  <a:t>为：</a:t>
                </a:r>
              </a:p>
              <a:p>
                <a:pPr algn="just">
                  <a:lnSpc>
                    <a:spcPct val="150000"/>
                  </a:lnSpc>
                </a:pPr>
                <a:r>
                  <a:rPr lang="zh-CN" altLang="en-US" dirty="0">
                    <a:latin typeface="+mn-ea"/>
                    <a:cs typeface="阿里巴巴普惠体" panose="00020600040101010101" pitchFamily="18" charset="-122"/>
                    <a:sym typeface="+mn-ea"/>
                  </a:rPr>
                  <a:t>参与活动</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次可获</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个学时。</a:t>
                </a:r>
              </a:p>
              <a:p>
                <a:pPr algn="just">
                  <a:lnSpc>
                    <a:spcPct val="150000"/>
                  </a:lnSpc>
                </a:pPr>
                <a:endParaRPr lang="zh-CN" altLang="en-US" dirty="0">
                  <a:latin typeface="+mn-ea"/>
                  <a:cs typeface="阿里巴巴普惠体" panose="00020600040101010101" pitchFamily="18" charset="-122"/>
                  <a:sym typeface="+mn-ea"/>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latin typeface="+mn-ea"/>
                    <a:cs typeface="阿里巴巴普惠体" panose="00020600040101010101" pitchFamily="18" charset="-122"/>
                    <a:sym typeface="+mn-ea"/>
                  </a:rPr>
                  <a:t>为：</a:t>
                </a:r>
              </a:p>
              <a:p>
                <a:pPr algn="just">
                  <a:lnSpc>
                    <a:spcPct val="150000"/>
                  </a:lnSpc>
                </a:pPr>
                <a:r>
                  <a:rPr lang="zh-CN" altLang="en-US" dirty="0">
                    <a:latin typeface="+mn-ea"/>
                    <a:cs typeface="阿里巴巴普惠体" panose="00020600040101010101" pitchFamily="18" charset="-122"/>
                    <a:sym typeface="+mn-ea"/>
                  </a:rPr>
                  <a:t>学校或学院在系统发布活动，学生自主报名，按时签到签退，可获</a:t>
                </a:r>
                <a:r>
                  <a:rPr lang="en-US" altLang="zh-CN" dirty="0">
                    <a:latin typeface="+mn-ea"/>
                    <a:cs typeface="阿里巴巴普惠体" panose="00020600040101010101" pitchFamily="18" charset="-122"/>
                    <a:sym typeface="+mn-ea"/>
                  </a:rPr>
                  <a:t>1</a:t>
                </a:r>
                <a:r>
                  <a:rPr lang="zh-CN" altLang="en-US" dirty="0">
                    <a:latin typeface="+mn-ea"/>
                    <a:cs typeface="阿里巴巴普惠体" panose="00020600040101010101" pitchFamily="18" charset="-122"/>
                    <a:sym typeface="+mn-ea"/>
                  </a:rPr>
                  <a:t>个学时。</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4176395" cy="2970530"/>
              </a:xfrm>
              <a:prstGeom prst="rect">
                <a:avLst/>
              </a:prstGeom>
              <a:noFill/>
            </p:spPr>
            <p:txBody>
              <a:bodyPr wrap="square" anchor="t" anchorCtr="0"/>
              <a:lstStyle/>
              <a:p>
                <a:pPr algn="just">
                  <a:lnSpc>
                    <a:spcPct val="150000"/>
                  </a:lnSpc>
                </a:pPr>
                <a:r>
                  <a:rPr lang="zh-CN" altLang="en-US" sz="1600" dirty="0">
                    <a:latin typeface="+mn-ea"/>
                    <a:cs typeface="阿里巴巴普惠体" panose="00020600040101010101" pitchFamily="18" charset="-122"/>
                  </a:rPr>
                  <a:t>学生创业团队揭榜学校结对企业示范基地创新需求并产生合作关系；在学校结对企业示范基地入驻孵化、接受基地创业就业导师指导；提交《厦门大学创客空间入驻申请书》获学院推荐入驻校内创客空间；获</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厦大</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金圆大学生创新创业基金</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和</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厦大</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思明留才基金</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立项资助；创业项目获评大中专毕业生创业省级资助项目；参与创新创业大赛。</a:t>
                </a:r>
              </a:p>
            </p:txBody>
          </p:sp>
          <p:sp>
            <p:nvSpPr>
              <p:cNvPr id="20" name="Bullet1"/>
              <p:cNvSpPr txBox="1"/>
              <p:nvPr/>
            </p:nvSpPr>
            <p:spPr>
              <a:xfrm flipH="1">
                <a:off x="2392577" y="2286169"/>
                <a:ext cx="2685415" cy="551180"/>
              </a:xfrm>
              <a:prstGeom prst="rect">
                <a:avLst/>
              </a:prstGeom>
              <a:noFill/>
            </p:spPr>
            <p:txBody>
              <a:bodyPr wrap="square" rtlCol="0" anchor="b" anchorCtr="0">
                <a:noAutofit/>
              </a:bodyPr>
              <a:lstStyle/>
              <a:p>
                <a:pPr algn="just">
                  <a:lnSpc>
                    <a:spcPct val="150000"/>
                  </a:lnSpc>
                </a:pPr>
                <a:r>
                  <a:rPr lang="zh-CN" altLang="en-US" sz="2000" dirty="0">
                    <a:solidFill>
                      <a:schemeClr val="tx1">
                        <a:lumMod val="65000"/>
                        <a:lumOff val="35000"/>
                      </a:schemeClr>
                    </a:solidFill>
                    <a:latin typeface="+mn-ea"/>
                    <a:cs typeface="阿里巴巴普惠体" panose="00020600040101010101" pitchFamily="18" charset="-122"/>
                    <a:sym typeface="+mn-ea"/>
                  </a:rPr>
                  <a:t>（6）学生团队创新创业活动</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2285534"/>
                <a:ext cx="3988435" cy="664845"/>
              </a:xfrm>
              <a:prstGeom prst="rect">
                <a:avLst/>
              </a:prstGeom>
              <a:noFill/>
            </p:spPr>
            <p:txBody>
              <a:bodyPr wrap="square" anchor="t" anchorCtr="0"/>
              <a:lstStyle/>
              <a:p>
                <a:pPr algn="just">
                  <a:lnSpc>
                    <a:spcPct val="150000"/>
                  </a:lnSpc>
                </a:pPr>
                <a:r>
                  <a:rPr lang="zh-CN" altLang="en-US" sz="1600" b="1" dirty="0">
                    <a:solidFill>
                      <a:srgbClr val="FF0000"/>
                    </a:solidFill>
                    <a:latin typeface="+mn-ea"/>
                    <a:cs typeface="阿里巴巴普惠体" panose="00020600040101010101" pitchFamily="18" charset="-122"/>
                    <a:sym typeface="+mn-ea"/>
                  </a:rPr>
                  <a:t>具体认定标准</a:t>
                </a:r>
                <a:r>
                  <a:rPr lang="zh-CN" altLang="en-US" sz="1600" dirty="0">
                    <a:latin typeface="+mn-ea"/>
                    <a:cs typeface="阿里巴巴普惠体" panose="00020600040101010101" pitchFamily="18" charset="-122"/>
                    <a:sym typeface="+mn-ea"/>
                  </a:rPr>
                  <a:t>为：创业团队揭榜创新需求并产生合作团队各成员可获</a:t>
                </a:r>
                <a:r>
                  <a:rPr lang="en-US" altLang="zh-CN" sz="1600" dirty="0">
                    <a:latin typeface="+mn-ea"/>
                    <a:cs typeface="阿里巴巴普惠体" panose="00020600040101010101" pitchFamily="18" charset="-122"/>
                    <a:sym typeface="+mn-ea"/>
                  </a:rPr>
                  <a:t>2</a:t>
                </a:r>
                <a:r>
                  <a:rPr lang="zh-CN" altLang="en-US" sz="1600" dirty="0">
                    <a:latin typeface="+mn-ea"/>
                    <a:cs typeface="阿里巴巴普惠体" panose="00020600040101010101" pitchFamily="18" charset="-122"/>
                    <a:sym typeface="+mn-ea"/>
                  </a:rPr>
                  <a:t>学时；入驻企业示范基地孵化团队各成员获</a:t>
                </a:r>
                <a:r>
                  <a:rPr lang="en-US" altLang="zh-CN" sz="1600" dirty="0">
                    <a:latin typeface="+mn-ea"/>
                    <a:cs typeface="阿里巴巴普惠体" panose="00020600040101010101" pitchFamily="18" charset="-122"/>
                    <a:sym typeface="+mn-ea"/>
                  </a:rPr>
                  <a:t>2</a:t>
                </a:r>
                <a:r>
                  <a:rPr lang="zh-CN" altLang="en-US" sz="1600" dirty="0">
                    <a:latin typeface="+mn-ea"/>
                    <a:cs typeface="阿里巴巴普惠体" panose="00020600040101010101" pitchFamily="18" charset="-122"/>
                    <a:sym typeface="+mn-ea"/>
                  </a:rPr>
                  <a:t>学时，入驻校内创客空间各获</a:t>
                </a:r>
                <a:r>
                  <a:rPr lang="en-US" altLang="zh-CN" sz="1600" dirty="0">
                    <a:latin typeface="+mn-ea"/>
                    <a:cs typeface="阿里巴巴普惠体" panose="00020600040101010101" pitchFamily="18" charset="-122"/>
                    <a:sym typeface="+mn-ea"/>
                  </a:rPr>
                  <a:t>1</a:t>
                </a:r>
                <a:r>
                  <a:rPr lang="zh-CN" altLang="en-US" sz="1600" dirty="0">
                    <a:latin typeface="+mn-ea"/>
                    <a:cs typeface="阿里巴巴普惠体" panose="00020600040101010101" pitchFamily="18" charset="-122"/>
                    <a:sym typeface="+mn-ea"/>
                  </a:rPr>
                  <a:t>学时；获评</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厦大</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金圆大学生创新创业基金</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厦大</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思明留才基金</a:t>
                </a:r>
                <a:r>
                  <a:rPr lang="en-US" altLang="zh-CN" sz="1600" dirty="0">
                    <a:latin typeface="+mn-ea"/>
                    <a:cs typeface="阿里巴巴普惠体" panose="00020600040101010101" pitchFamily="18" charset="-122"/>
                    <a:sym typeface="+mn-ea"/>
                  </a:rPr>
                  <a:t>”</a:t>
                </a:r>
                <a:r>
                  <a:rPr lang="zh-CN" altLang="en-US" sz="1600" dirty="0">
                    <a:latin typeface="+mn-ea"/>
                    <a:cs typeface="阿里巴巴普惠体" panose="00020600040101010101" pitchFamily="18" charset="-122"/>
                    <a:sym typeface="+mn-ea"/>
                  </a:rPr>
                  <a:t>、大中专毕业生创业省级资助项目可获</a:t>
                </a:r>
                <a:r>
                  <a:rPr lang="en-US" altLang="zh-CN" sz="1600" dirty="0">
                    <a:latin typeface="+mn-ea"/>
                    <a:cs typeface="阿里巴巴普惠体" panose="00020600040101010101" pitchFamily="18" charset="-122"/>
                    <a:sym typeface="+mn-ea"/>
                  </a:rPr>
                  <a:t>1</a:t>
                </a:r>
                <a:r>
                  <a:rPr lang="zh-CN" altLang="en-US" sz="1600" dirty="0">
                    <a:latin typeface="+mn-ea"/>
                    <a:cs typeface="阿里巴巴普惠体" panose="00020600040101010101" pitchFamily="18" charset="-122"/>
                    <a:sym typeface="+mn-ea"/>
                  </a:rPr>
                  <a:t>学时；创业项目参与各类创新创业大赛获奖团队成员获</a:t>
                </a:r>
                <a:r>
                  <a:rPr lang="en-US" altLang="zh-CN" sz="1600" dirty="0">
                    <a:latin typeface="+mn-ea"/>
                    <a:cs typeface="阿里巴巴普惠体" panose="00020600040101010101" pitchFamily="18" charset="-122"/>
                    <a:sym typeface="+mn-ea"/>
                  </a:rPr>
                  <a:t>2</a:t>
                </a:r>
                <a:r>
                  <a:rPr lang="zh-CN" altLang="en-US" sz="1600" dirty="0">
                    <a:latin typeface="+mn-ea"/>
                    <a:cs typeface="阿里巴巴普惠体" panose="00020600040101010101" pitchFamily="18" charset="-122"/>
                    <a:sym typeface="+mn-ea"/>
                  </a:rPr>
                  <a:t>个学时，参与比赛但未获奖获</a:t>
                </a:r>
                <a:r>
                  <a:rPr lang="en-US" altLang="zh-CN" sz="1600" dirty="0">
                    <a:latin typeface="+mn-ea"/>
                    <a:cs typeface="阿里巴巴普惠体" panose="00020600040101010101" pitchFamily="18" charset="-122"/>
                    <a:sym typeface="+mn-ea"/>
                  </a:rPr>
                  <a:t>1</a:t>
                </a:r>
                <a:r>
                  <a:rPr lang="zh-CN" altLang="en-US" sz="1600" dirty="0">
                    <a:latin typeface="+mn-ea"/>
                    <a:cs typeface="阿里巴巴普惠体" panose="00020600040101010101" pitchFamily="18" charset="-122"/>
                    <a:sym typeface="+mn-ea"/>
                  </a:rPr>
                  <a:t>个学时。</a:t>
                </a:r>
              </a:p>
              <a:p>
                <a:pPr algn="just">
                  <a:lnSpc>
                    <a:spcPct val="150000"/>
                  </a:lnSpc>
                </a:pPr>
                <a:r>
                  <a:rPr lang="zh-CN" altLang="en-US" sz="1600" b="1" dirty="0">
                    <a:solidFill>
                      <a:srgbClr val="FF0000"/>
                    </a:solidFill>
                    <a:latin typeface="+mn-ea"/>
                    <a:cs typeface="阿里巴巴普惠体" panose="00020600040101010101" pitchFamily="18" charset="-122"/>
                    <a:sym typeface="+mn-ea"/>
                  </a:rPr>
                  <a:t>认定形式</a:t>
                </a:r>
                <a:r>
                  <a:rPr lang="zh-CN" altLang="en-US" sz="1600" dirty="0">
                    <a:latin typeface="+mn-ea"/>
                    <a:cs typeface="阿里巴巴普惠体" panose="00020600040101010101" pitchFamily="18" charset="-122"/>
                    <a:sym typeface="+mn-ea"/>
                  </a:rPr>
                  <a:t>为：学生</a:t>
                </a:r>
                <a:r>
                  <a:rPr lang="zh-CN" altLang="en-US" sz="1600" b="1" dirty="0">
                    <a:solidFill>
                      <a:schemeClr val="accent2"/>
                    </a:solidFill>
                    <a:latin typeface="+mn-ea"/>
                    <a:cs typeface="阿里巴巴普惠体" panose="00020600040101010101" pitchFamily="18" charset="-122"/>
                    <a:sym typeface="+mn-ea"/>
                  </a:rPr>
                  <a:t>自行在系统提交</a:t>
                </a:r>
                <a:r>
                  <a:rPr lang="zh-CN" altLang="en-US" sz="1600" dirty="0">
                    <a:latin typeface="+mn-ea"/>
                    <a:cs typeface="阿里巴巴普惠体" panose="00020600040101010101" pitchFamily="18" charset="-122"/>
                    <a:sym typeface="+mn-ea"/>
                  </a:rPr>
                  <a:t>证明材料申请学时，学院进行审核认定。</a:t>
                </a:r>
              </a:p>
              <a:p>
                <a:pPr algn="just">
                  <a:lnSpc>
                    <a:spcPct val="150000"/>
                  </a:lnSpc>
                </a:pPr>
                <a:endParaRPr lang="zh-CN" altLang="en-US" sz="1600" dirty="0">
                  <a:latin typeface="+mn-ea"/>
                  <a:cs typeface="阿里巴巴普惠体" panose="00020600040101010101" pitchFamily="18" charset="-122"/>
                  <a:sym typeface="+mn-ea"/>
                </a:endParaRPr>
              </a:p>
              <a:p>
                <a:pPr algn="just">
                  <a:lnSpc>
                    <a:spcPct val="150000"/>
                  </a:lnSpc>
                </a:pPr>
                <a:endParaRPr lang="zh-CN" altLang="en-US" sz="1600" dirty="0">
                  <a:latin typeface="+mn-ea"/>
                  <a:cs typeface="阿里巴巴普惠体" panose="00020600040101010101" pitchFamily="18" charset="-122"/>
                  <a:sym typeface="+mn-ea"/>
                </a:endParaRP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4177030" cy="2322195"/>
              </a:xfrm>
              <a:prstGeom prst="rect">
                <a:avLst/>
              </a:prstGeom>
              <a:noFill/>
            </p:spPr>
            <p:txBody>
              <a:bodyPr wrap="square" anchor="t" anchorCtr="0"/>
              <a:lstStyle/>
              <a:p>
                <a:pPr algn="just">
                  <a:lnSpc>
                    <a:spcPct val="150000"/>
                  </a:lnSpc>
                </a:pPr>
                <a:r>
                  <a:rPr lang="zh-CN" altLang="en-US" sz="1200" b="1" dirty="0">
                    <a:solidFill>
                      <a:srgbClr val="FF0000"/>
                    </a:solidFill>
                    <a:latin typeface="+mn-ea"/>
                    <a:cs typeface="阿里巴巴普惠体" panose="00020600040101010101" pitchFamily="18" charset="-122"/>
                    <a:sym typeface="+mn-ea"/>
                  </a:rPr>
                  <a:t>具体认定标准</a:t>
                </a:r>
                <a:r>
                  <a:rPr lang="zh-CN" altLang="en-US" sz="1200" dirty="0">
                    <a:latin typeface="+mn-ea"/>
                    <a:cs typeface="阿里巴巴普惠体" panose="00020600040101010101" pitchFamily="18" charset="-122"/>
                    <a:sym typeface="+mn-ea"/>
                  </a:rPr>
                  <a:t>为：</a:t>
                </a:r>
                <a:r>
                  <a:rPr lang="zh-CN" altLang="en-US" sz="1200" b="1" dirty="0">
                    <a:solidFill>
                      <a:schemeClr val="accent2"/>
                    </a:solidFill>
                    <a:latin typeface="+mn-ea"/>
                    <a:cs typeface="阿里巴巴普惠体" panose="00020600040101010101" pitchFamily="18" charset="-122"/>
                  </a:rPr>
                  <a:t>校史精品剧目</a:t>
                </a:r>
                <a:r>
                  <a:rPr lang="zh-CN" altLang="en-US" sz="1200" dirty="0">
                    <a:latin typeface="+mn-ea"/>
                    <a:cs typeface="阿里巴巴普惠体" panose="00020600040101010101" pitchFamily="18" charset="-122"/>
                  </a:rPr>
                  <a:t>，包括《哥德巴赫猜想》《遥望海天月》《长汀往事》《嘉庚颂》《南强颂》《陈嘉庚》《南强红笺》等，计</a:t>
                </a:r>
                <a:r>
                  <a:rPr lang="en-US" altLang="zh-CN" sz="1200" dirty="0">
                    <a:latin typeface="+mn-ea"/>
                    <a:cs typeface="阿里巴巴普惠体" panose="00020600040101010101" pitchFamily="18" charset="-122"/>
                  </a:rPr>
                  <a:t>4</a:t>
                </a:r>
                <a:r>
                  <a:rPr lang="zh-CN" altLang="en-US" sz="1200" dirty="0">
                    <a:latin typeface="+mn-ea"/>
                    <a:cs typeface="阿里巴巴普惠体" panose="00020600040101010101" pitchFamily="18" charset="-122"/>
                  </a:rPr>
                  <a:t>个学时；</a:t>
                </a:r>
              </a:p>
              <a:p>
                <a:pPr algn="just">
                  <a:lnSpc>
                    <a:spcPct val="150000"/>
                  </a:lnSpc>
                </a:pPr>
                <a:r>
                  <a:rPr lang="zh-CN" altLang="en-US" sz="1200" dirty="0">
                    <a:latin typeface="+mn-ea"/>
                    <a:cs typeface="阿里巴巴普惠体" panose="00020600040101010101" pitchFamily="18" charset="-122"/>
                  </a:rPr>
                  <a:t>国家级、省市级以及学校开展的各类大学生艺术展演和文化艺术类竞赛活动，市级及以上奖项获</a:t>
                </a:r>
                <a:r>
                  <a:rPr lang="en-US" altLang="zh-CN" sz="1200" dirty="0">
                    <a:latin typeface="+mn-ea"/>
                    <a:cs typeface="阿里巴巴普惠体" panose="00020600040101010101" pitchFamily="18" charset="-122"/>
                  </a:rPr>
                  <a:t>4</a:t>
                </a:r>
                <a:r>
                  <a:rPr lang="zh-CN" altLang="en-US" sz="1200" dirty="0">
                    <a:latin typeface="+mn-ea"/>
                    <a:cs typeface="阿里巴巴普惠体" panose="00020600040101010101" pitchFamily="18" charset="-122"/>
                  </a:rPr>
                  <a:t>个学时，校级奖项获</a:t>
                </a:r>
                <a:r>
                  <a:rPr lang="en-US" altLang="zh-CN" sz="1200" dirty="0">
                    <a:latin typeface="+mn-ea"/>
                    <a:cs typeface="阿里巴巴普惠体" panose="00020600040101010101" pitchFamily="18" charset="-122"/>
                  </a:rPr>
                  <a:t>3</a:t>
                </a:r>
                <a:r>
                  <a:rPr lang="zh-CN" altLang="en-US" sz="1200" dirty="0">
                    <a:latin typeface="+mn-ea"/>
                    <a:cs typeface="阿里巴巴普惠体" panose="00020600040101010101" pitchFamily="18" charset="-122"/>
                  </a:rPr>
                  <a:t>个学时，</a:t>
                </a:r>
                <a:r>
                  <a:rPr lang="zh-CN" altLang="en-US" sz="1200" b="1" dirty="0">
                    <a:solidFill>
                      <a:schemeClr val="accent2"/>
                    </a:solidFill>
                    <a:latin typeface="+mn-ea"/>
                    <a:cs typeface="阿里巴巴普惠体" panose="00020600040101010101" pitchFamily="18" charset="-122"/>
                  </a:rPr>
                  <a:t>参与比赛但未得奖获</a:t>
                </a:r>
                <a:r>
                  <a:rPr lang="en-US" altLang="zh-CN" sz="1200" b="1" dirty="0">
                    <a:solidFill>
                      <a:schemeClr val="accent2"/>
                    </a:solidFill>
                    <a:latin typeface="+mn-ea"/>
                    <a:cs typeface="阿里巴巴普惠体" panose="00020600040101010101" pitchFamily="18" charset="-122"/>
                  </a:rPr>
                  <a:t>1</a:t>
                </a:r>
                <a:r>
                  <a:rPr lang="zh-CN" altLang="en-US" sz="1200" b="1" dirty="0">
                    <a:solidFill>
                      <a:schemeClr val="accent2"/>
                    </a:solidFill>
                    <a:latin typeface="+mn-ea"/>
                    <a:cs typeface="阿里巴巴普惠体" panose="00020600040101010101" pitchFamily="18" charset="-122"/>
                  </a:rPr>
                  <a:t>个学时</a:t>
                </a:r>
                <a:r>
                  <a:rPr lang="zh-CN" altLang="en-US" sz="1200" dirty="0">
                    <a:latin typeface="+mn-ea"/>
                    <a:cs typeface="阿里巴巴普惠体" panose="00020600040101010101" pitchFamily="18" charset="-122"/>
                  </a:rPr>
                  <a:t>（同一比赛不同级别获奖取最高项）；</a:t>
                </a:r>
              </a:p>
              <a:p>
                <a:pPr algn="just">
                  <a:lnSpc>
                    <a:spcPct val="150000"/>
                  </a:lnSpc>
                </a:pPr>
                <a:r>
                  <a:rPr lang="zh-CN" altLang="en-US" sz="1200" dirty="0">
                    <a:latin typeface="+mn-ea"/>
                    <a:cs typeface="阿里巴巴普惠体" panose="00020600040101010101" pitchFamily="18" charset="-122"/>
                  </a:rPr>
                  <a:t>其他学校、学院开展的美育实践活动，活动包括但不限于各类晚会演职人员、学院啦啦操带训团队（含队员）、学院合唱团带训团队（含队员）、学院运动会带训团队（含队员）、学院心理剧导演及带训团队（含演员）、</a:t>
                </a:r>
                <a:r>
                  <a:rPr lang="zh-CN" altLang="en-US" sz="1200" b="1" dirty="0">
                    <a:solidFill>
                      <a:schemeClr val="accent2"/>
                    </a:solidFill>
                    <a:latin typeface="+mn-ea"/>
                    <a:cs typeface="阿里巴巴普惠体" panose="00020600040101010101" pitchFamily="18" charset="-122"/>
                  </a:rPr>
                  <a:t>各类征文活动</a:t>
                </a:r>
                <a:r>
                  <a:rPr lang="zh-CN" altLang="en-US" sz="1200" dirty="0">
                    <a:latin typeface="+mn-ea"/>
                    <a:cs typeface="阿里巴巴普惠体" panose="00020600040101010101" pitchFamily="18" charset="-122"/>
                  </a:rPr>
                  <a:t>等，</a:t>
                </a:r>
                <a:r>
                  <a:rPr lang="zh-CN" altLang="en-US" sz="1200" b="1" dirty="0">
                    <a:solidFill>
                      <a:schemeClr val="accent2"/>
                    </a:solidFill>
                    <a:latin typeface="+mn-ea"/>
                    <a:cs typeface="阿里巴巴普惠体" panose="00020600040101010101" pitchFamily="18" charset="-122"/>
                  </a:rPr>
                  <a:t>根据工作量计</a:t>
                </a:r>
                <a:r>
                  <a:rPr lang="en-US" altLang="zh-CN" sz="1200" b="1" dirty="0">
                    <a:solidFill>
                      <a:schemeClr val="accent2"/>
                    </a:solidFill>
                    <a:latin typeface="+mn-ea"/>
                    <a:cs typeface="阿里巴巴普惠体" panose="00020600040101010101" pitchFamily="18" charset="-122"/>
                  </a:rPr>
                  <a:t>1-3</a:t>
                </a:r>
                <a:r>
                  <a:rPr lang="zh-CN" altLang="en-US" sz="1200" b="1" dirty="0">
                    <a:solidFill>
                      <a:schemeClr val="accent2"/>
                    </a:solidFill>
                    <a:latin typeface="+mn-ea"/>
                    <a:cs typeface="阿里巴巴普惠体" panose="00020600040101010101" pitchFamily="18" charset="-122"/>
                  </a:rPr>
                  <a:t>个学时</a:t>
                </a:r>
                <a:r>
                  <a:rPr lang="zh-CN" altLang="en-US" sz="1200" dirty="0">
                    <a:latin typeface="+mn-ea"/>
                    <a:cs typeface="阿里巴巴普惠体" panose="00020600040101010101" pitchFamily="18" charset="-122"/>
                  </a:rPr>
                  <a:t>；校院两级举办的美育类活动，</a:t>
                </a:r>
                <a:r>
                  <a:rPr lang="zh-CN" altLang="en-US" sz="1200" b="1" dirty="0">
                    <a:solidFill>
                      <a:schemeClr val="accent2"/>
                    </a:solidFill>
                    <a:latin typeface="+mn-ea"/>
                    <a:cs typeface="阿里巴巴普惠体" panose="00020600040101010101" pitchFamily="18" charset="-122"/>
                  </a:rPr>
                  <a:t>作为观众积极参加可获</a:t>
                </a:r>
                <a:r>
                  <a:rPr lang="en-US" altLang="zh-CN" sz="1200" b="1" dirty="0">
                    <a:solidFill>
                      <a:schemeClr val="accent2"/>
                    </a:solidFill>
                    <a:latin typeface="+mn-ea"/>
                    <a:cs typeface="阿里巴巴普惠体" panose="00020600040101010101" pitchFamily="18" charset="-122"/>
                  </a:rPr>
                  <a:t>1</a:t>
                </a:r>
                <a:r>
                  <a:rPr lang="zh-CN" altLang="en-US" sz="1200" b="1" dirty="0">
                    <a:solidFill>
                      <a:schemeClr val="accent2"/>
                    </a:solidFill>
                    <a:latin typeface="+mn-ea"/>
                    <a:cs typeface="阿里巴巴普惠体" panose="00020600040101010101" pitchFamily="18" charset="-122"/>
                  </a:rPr>
                  <a:t>个学时</a:t>
                </a:r>
                <a:r>
                  <a:rPr lang="zh-CN" altLang="en-US" sz="1200" dirty="0">
                    <a:latin typeface="+mn-ea"/>
                    <a:cs typeface="阿里巴巴普惠体" panose="00020600040101010101" pitchFamily="18" charset="-122"/>
                  </a:rPr>
                  <a:t>。</a:t>
                </a:r>
              </a:p>
            </p:txBody>
          </p:sp>
          <p:sp>
            <p:nvSpPr>
              <p:cNvPr id="20" name="Bullet1"/>
              <p:cNvSpPr txBox="1"/>
              <p:nvPr/>
            </p:nvSpPr>
            <p:spPr>
              <a:xfrm flipH="1">
                <a:off x="2400832" y="1994069"/>
                <a:ext cx="2926715" cy="715645"/>
              </a:xfrm>
              <a:prstGeom prst="rect">
                <a:avLst/>
              </a:prstGeom>
              <a:noFill/>
            </p:spPr>
            <p:txBody>
              <a:bodyPr wrap="square" rtlCol="0" anchor="b" anchorCtr="0">
                <a:noAutofit/>
              </a:bodyPr>
              <a:lstStyle/>
              <a:p>
                <a:pPr algn="just">
                  <a:lnSpc>
                    <a:spcPct val="150000"/>
                  </a:lnSpc>
                </a:pPr>
                <a:r>
                  <a:rPr lang="zh-CN" altLang="en-US" sz="1600" dirty="0">
                    <a:solidFill>
                      <a:schemeClr val="tx1">
                        <a:lumMod val="65000"/>
                        <a:lumOff val="35000"/>
                      </a:schemeClr>
                    </a:solidFill>
                    <a:latin typeface="+mn-ea"/>
                    <a:cs typeface="阿里巴巴普惠体" panose="00020600040101010101" pitchFamily="18" charset="-122"/>
                    <a:sym typeface="+mn-ea"/>
                  </a:rPr>
                  <a:t>（7）学生作为演职人员全程参加的美育第二课堂实践活动。</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2285534"/>
                <a:ext cx="3988435" cy="664845"/>
              </a:xfrm>
              <a:prstGeom prst="rect">
                <a:avLst/>
              </a:prstGeom>
              <a:noFill/>
            </p:spPr>
            <p:txBody>
              <a:bodyPr wrap="square" anchor="t" anchorCtr="0"/>
              <a:lstStyle/>
              <a:p>
                <a:pPr algn="just">
                  <a:lnSpc>
                    <a:spcPct val="150000"/>
                  </a:lnSpc>
                </a:pPr>
                <a:r>
                  <a:rPr lang="zh-CN" altLang="en-US" sz="1600" b="1" dirty="0">
                    <a:solidFill>
                      <a:srgbClr val="FF0000"/>
                    </a:solidFill>
                    <a:latin typeface="+mn-ea"/>
                    <a:cs typeface="阿里巴巴普惠体" panose="00020600040101010101" pitchFamily="18" charset="-122"/>
                    <a:sym typeface="+mn-ea"/>
                  </a:rPr>
                  <a:t>认定形式</a:t>
                </a:r>
                <a:r>
                  <a:rPr lang="zh-CN" altLang="en-US" sz="1600" dirty="0">
                    <a:latin typeface="+mn-ea"/>
                    <a:cs typeface="阿里巴巴普惠体" panose="00020600040101010101" pitchFamily="18" charset="-122"/>
                    <a:sym typeface="+mn-ea"/>
                  </a:rPr>
                  <a:t>：学生提供活动组织方出具的证明材料，</a:t>
                </a:r>
                <a:r>
                  <a:rPr lang="zh-CN" altLang="en-US" sz="1600" b="1" dirty="0">
                    <a:solidFill>
                      <a:schemeClr val="accent2"/>
                    </a:solidFill>
                    <a:latin typeface="+mn-ea"/>
                    <a:cs typeface="阿里巴巴普惠体" panose="00020600040101010101" pitchFamily="18" charset="-122"/>
                    <a:sym typeface="+mn-ea"/>
                  </a:rPr>
                  <a:t>自行在系统提交材料申请学时</a:t>
                </a:r>
                <a:r>
                  <a:rPr lang="zh-CN" altLang="en-US" sz="1600" dirty="0">
                    <a:latin typeface="+mn-ea"/>
                    <a:cs typeface="阿里巴巴普惠体" panose="00020600040101010101" pitchFamily="18" charset="-122"/>
                    <a:sym typeface="+mn-ea"/>
                  </a:rPr>
                  <a:t>，学院进行审核认定；</a:t>
                </a:r>
                <a:r>
                  <a:rPr lang="zh-CN" altLang="en-US" sz="1600" b="1" dirty="0">
                    <a:solidFill>
                      <a:schemeClr val="accent2"/>
                    </a:solidFill>
                    <a:latin typeface="+mn-ea"/>
                    <a:cs typeface="阿里巴巴普惠体" panose="00020600040101010101" pitchFamily="18" charset="-122"/>
                    <a:sym typeface="+mn-ea"/>
                  </a:rPr>
                  <a:t>学院在系统中发布</a:t>
                </a:r>
                <a:r>
                  <a:rPr lang="zh-CN" altLang="en-US" sz="1600" dirty="0">
                    <a:latin typeface="+mn-ea"/>
                    <a:cs typeface="阿里巴巴普惠体" panose="00020600040101010101" pitchFamily="18" charset="-122"/>
                    <a:sym typeface="+mn-ea"/>
                  </a:rPr>
                  <a:t>美育类活动，学生自主报名，按时签到签退，可获</a:t>
                </a:r>
                <a:r>
                  <a:rPr lang="en-US" altLang="zh-CN" sz="1600" dirty="0">
                    <a:latin typeface="+mn-ea"/>
                    <a:cs typeface="阿里巴巴普惠体" panose="00020600040101010101" pitchFamily="18" charset="-122"/>
                    <a:sym typeface="+mn-ea"/>
                  </a:rPr>
                  <a:t>1</a:t>
                </a:r>
                <a:r>
                  <a:rPr lang="zh-CN" altLang="en-US" sz="1600" dirty="0">
                    <a:latin typeface="+mn-ea"/>
                    <a:cs typeface="阿里巴巴普惠体" panose="00020600040101010101" pitchFamily="18" charset="-122"/>
                    <a:sym typeface="+mn-ea"/>
                  </a:rPr>
                  <a:t>个学时。</a:t>
                </a:r>
              </a:p>
              <a:p>
                <a:pPr algn="just">
                  <a:lnSpc>
                    <a:spcPct val="150000"/>
                  </a:lnSpc>
                </a:pPr>
                <a:endParaRPr lang="zh-CN" altLang="en-US" sz="1600" dirty="0">
                  <a:latin typeface="+mn-ea"/>
                  <a:cs typeface="阿里巴巴普惠体" panose="00020600040101010101" pitchFamily="18" charset="-122"/>
                  <a:sym typeface="+mn-ea"/>
                </a:endParaRPr>
              </a:p>
              <a:p>
                <a:pPr algn="just">
                  <a:lnSpc>
                    <a:spcPct val="150000"/>
                  </a:lnSpc>
                </a:pPr>
                <a:r>
                  <a:rPr lang="zh-CN" altLang="en-US" sz="1600" b="1" dirty="0">
                    <a:solidFill>
                      <a:srgbClr val="FF0000"/>
                    </a:solidFill>
                    <a:latin typeface="+mn-ea"/>
                    <a:cs typeface="阿里巴巴普惠体" panose="00020600040101010101" pitchFamily="18" charset="-122"/>
                    <a:sym typeface="+mn-ea"/>
                  </a:rPr>
                  <a:t>备注</a:t>
                </a:r>
                <a:r>
                  <a:rPr lang="zh-CN" altLang="en-US" sz="1600" dirty="0">
                    <a:latin typeface="+mn-ea"/>
                    <a:cs typeface="阿里巴巴普惠体" panose="00020600040101010101" pitchFamily="18" charset="-122"/>
                    <a:sym typeface="+mn-ea"/>
                  </a:rPr>
                  <a:t>：同一活动担任不同角色，不得累计加分，例如：参与学院心理剧编排活动，既是导演又是演员，仅按</a:t>
                </a:r>
                <a:r>
                  <a:rPr lang="en-US" altLang="zh-CN" sz="1600" dirty="0">
                    <a:latin typeface="+mn-ea"/>
                    <a:cs typeface="阿里巴巴普惠体" panose="00020600040101010101" pitchFamily="18" charset="-122"/>
                    <a:sym typeface="+mn-ea"/>
                  </a:rPr>
                  <a:t>1</a:t>
                </a:r>
                <a:r>
                  <a:rPr lang="zh-CN" altLang="en-US" sz="1600" dirty="0">
                    <a:latin typeface="+mn-ea"/>
                    <a:cs typeface="阿里巴巴普惠体" panose="00020600040101010101" pitchFamily="18" charset="-122"/>
                    <a:sym typeface="+mn-ea"/>
                  </a:rPr>
                  <a:t>次活动加分。</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4176395" cy="2970530"/>
              </a:xfrm>
              <a:prstGeom prst="rect">
                <a:avLst/>
              </a:prstGeom>
              <a:noFill/>
            </p:spPr>
            <p:txBody>
              <a:bodyPr wrap="square" anchor="t" anchorCtr="0"/>
              <a:lstStyle/>
              <a:p>
                <a:pPr algn="just">
                  <a:lnSpc>
                    <a:spcPct val="150000"/>
                  </a:lnSpc>
                </a:pPr>
                <a:r>
                  <a:rPr lang="zh-CN" altLang="en-US" sz="1600" dirty="0">
                    <a:latin typeface="+mn-ea"/>
                    <a:cs typeface="阿里巴巴普惠体" panose="00020600040101010101" pitchFamily="18" charset="-122"/>
                  </a:rPr>
                  <a:t>学院团委或学院专业老师发布的各类小程序、系统开发需求，鼓励学生</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揭榜挂帅</a:t>
                </a:r>
                <a:r>
                  <a:rPr lang="en-US" altLang="zh-CN" sz="1600" dirty="0">
                    <a:latin typeface="+mn-ea"/>
                    <a:cs typeface="阿里巴巴普惠体" panose="00020600040101010101" pitchFamily="18" charset="-122"/>
                  </a:rPr>
                  <a:t>”</a:t>
                </a:r>
                <a:r>
                  <a:rPr lang="zh-CN" altLang="en-US" sz="1600" dirty="0">
                    <a:latin typeface="+mn-ea"/>
                    <a:cs typeface="阿里巴巴普惠体" panose="00020600040101010101" pitchFamily="18" charset="-122"/>
                  </a:rPr>
                  <a:t>，组队参与。每个项目最高可获</a:t>
                </a:r>
                <a:r>
                  <a:rPr lang="en-US" altLang="zh-CN" sz="1600" dirty="0">
                    <a:latin typeface="+mn-ea"/>
                    <a:cs typeface="阿里巴巴普惠体" panose="00020600040101010101" pitchFamily="18" charset="-122"/>
                  </a:rPr>
                  <a:t>12</a:t>
                </a:r>
                <a:r>
                  <a:rPr lang="zh-CN" altLang="en-US" sz="1600" dirty="0">
                    <a:latin typeface="+mn-ea"/>
                    <a:cs typeface="阿里巴巴普惠体" panose="00020600040101010101" pitchFamily="18" charset="-122"/>
                  </a:rPr>
                  <a:t>学时。</a:t>
                </a:r>
              </a:p>
            </p:txBody>
          </p:sp>
          <p:sp>
            <p:nvSpPr>
              <p:cNvPr id="20" name="Bullet1"/>
              <p:cNvSpPr txBox="1"/>
              <p:nvPr/>
            </p:nvSpPr>
            <p:spPr>
              <a:xfrm flipH="1">
                <a:off x="2392577" y="2373164"/>
                <a:ext cx="2363470" cy="489585"/>
              </a:xfrm>
              <a:prstGeom prst="rect">
                <a:avLst/>
              </a:prstGeom>
              <a:noFill/>
            </p:spPr>
            <p:txBody>
              <a:bodyPr wrap="square" rtlCol="0" anchor="b" anchorCtr="0">
                <a:noAutofit/>
              </a:bodyPr>
              <a:lstStyle/>
              <a:p>
                <a:pPr algn="just">
                  <a:lnSpc>
                    <a:spcPct val="150000"/>
                  </a:lnSpc>
                </a:pPr>
                <a:r>
                  <a:rPr lang="zh-CN" altLang="en-US" sz="2000" dirty="0">
                    <a:solidFill>
                      <a:schemeClr val="tx1">
                        <a:lumMod val="65000"/>
                        <a:lumOff val="35000"/>
                      </a:schemeClr>
                    </a:solidFill>
                    <a:latin typeface="+mn-ea"/>
                    <a:cs typeface="阿里巴巴普惠体" panose="00020600040101010101" pitchFamily="18" charset="-122"/>
                    <a:sym typeface="+mn-ea"/>
                  </a:rPr>
                  <a:t>（8）项目开发</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2285534"/>
                <a:ext cx="3988435" cy="664845"/>
              </a:xfrm>
              <a:prstGeom prst="rect">
                <a:avLst/>
              </a:prstGeom>
              <a:noFill/>
            </p:spPr>
            <p:txBody>
              <a:bodyPr wrap="square" anchor="t" anchorCtr="0"/>
              <a:lstStyle/>
              <a:p>
                <a:pPr algn="just">
                  <a:lnSpc>
                    <a:spcPct val="150000"/>
                  </a:lnSpc>
                </a:pPr>
                <a:r>
                  <a:rPr lang="zh-CN" altLang="en-US" sz="1600" b="1" dirty="0">
                    <a:solidFill>
                      <a:srgbClr val="FF0000"/>
                    </a:solidFill>
                    <a:latin typeface="+mn-ea"/>
                    <a:cs typeface="阿里巴巴普惠体" panose="00020600040101010101" pitchFamily="18" charset="-122"/>
                    <a:sym typeface="+mn-ea"/>
                  </a:rPr>
                  <a:t>具体认定标准</a:t>
                </a:r>
                <a:r>
                  <a:rPr lang="zh-CN" altLang="en-US" sz="1600" dirty="0">
                    <a:latin typeface="+mn-ea"/>
                    <a:cs typeface="阿里巴巴普惠体" panose="00020600040101010101" pitchFamily="18" charset="-122"/>
                    <a:sym typeface="+mn-ea"/>
                  </a:rPr>
                  <a:t>为：根据项目难易程度及劳动量，项目负责人或队长可申请</a:t>
                </a:r>
                <a:r>
                  <a:rPr lang="en-US" altLang="zh-CN" sz="1600" dirty="0">
                    <a:latin typeface="+mn-ea"/>
                    <a:cs typeface="阿里巴巴普惠体" panose="00020600040101010101" pitchFamily="18" charset="-122"/>
                    <a:sym typeface="+mn-ea"/>
                  </a:rPr>
                  <a:t>6-12</a:t>
                </a:r>
                <a:r>
                  <a:rPr lang="zh-CN" altLang="en-US" sz="1600" dirty="0">
                    <a:latin typeface="+mn-ea"/>
                    <a:cs typeface="阿里巴巴普惠体" panose="00020600040101010101" pitchFamily="18" charset="-122"/>
                    <a:sym typeface="+mn-ea"/>
                  </a:rPr>
                  <a:t>学时，其他团队成员对半申请</a:t>
                </a:r>
                <a:r>
                  <a:rPr lang="en-US" altLang="zh-CN" sz="1600" dirty="0">
                    <a:latin typeface="+mn-ea"/>
                    <a:cs typeface="阿里巴巴普惠体" panose="00020600040101010101" pitchFamily="18" charset="-122"/>
                    <a:sym typeface="+mn-ea"/>
                  </a:rPr>
                  <a:t>3-6</a:t>
                </a:r>
                <a:r>
                  <a:rPr lang="zh-CN" altLang="en-US" sz="1600" dirty="0">
                    <a:latin typeface="+mn-ea"/>
                    <a:cs typeface="阿里巴巴普惠体" panose="00020600040101010101" pitchFamily="18" charset="-122"/>
                    <a:sym typeface="+mn-ea"/>
                  </a:rPr>
                  <a:t>学时。</a:t>
                </a:r>
              </a:p>
              <a:p>
                <a:pPr algn="just">
                  <a:lnSpc>
                    <a:spcPct val="150000"/>
                  </a:lnSpc>
                </a:pPr>
                <a:endParaRPr lang="zh-CN" altLang="en-US" sz="1600" dirty="0">
                  <a:latin typeface="+mn-ea"/>
                  <a:cs typeface="阿里巴巴普惠体" panose="00020600040101010101" pitchFamily="18" charset="-122"/>
                  <a:sym typeface="+mn-ea"/>
                </a:endParaRPr>
              </a:p>
              <a:p>
                <a:pPr algn="just">
                  <a:lnSpc>
                    <a:spcPct val="150000"/>
                  </a:lnSpc>
                </a:pPr>
                <a:r>
                  <a:rPr lang="zh-CN" altLang="en-US" sz="1600" b="1" dirty="0">
                    <a:solidFill>
                      <a:srgbClr val="FF0000"/>
                    </a:solidFill>
                    <a:latin typeface="+mn-ea"/>
                    <a:cs typeface="阿里巴巴普惠体" panose="00020600040101010101" pitchFamily="18" charset="-122"/>
                    <a:sym typeface="+mn-ea"/>
                  </a:rPr>
                  <a:t>认定形式</a:t>
                </a:r>
                <a:r>
                  <a:rPr lang="zh-CN" altLang="en-US" sz="1600" dirty="0">
                    <a:latin typeface="+mn-ea"/>
                    <a:cs typeface="阿里巴巴普惠体" panose="00020600040101010101" pitchFamily="18" charset="-122"/>
                    <a:sym typeface="+mn-ea"/>
                  </a:rPr>
                  <a:t>为：学生提供学院团委开具的证明（需加盖学院团委公章或有亲笔签名）、或项目指导老师开具的证明（需亲笔签名），需注明是负责人或团队成员，自行在系统提交材料申请学时，学院进行审核认定。</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4176395" cy="2970530"/>
              </a:xfrm>
              <a:prstGeom prst="rect">
                <a:avLst/>
              </a:prstGeom>
              <a:noFill/>
            </p:spPr>
            <p:txBody>
              <a:bodyPr wrap="square" anchor="t" anchorCtr="0"/>
              <a:lstStyle/>
              <a:p>
                <a:pPr algn="just">
                  <a:lnSpc>
                    <a:spcPct val="150000"/>
                  </a:lnSpc>
                </a:pPr>
                <a:r>
                  <a:rPr lang="zh-CN" altLang="en-US" sz="1600" dirty="0">
                    <a:latin typeface="+mn-ea"/>
                    <a:cs typeface="阿里巴巴普惠体" panose="00020600040101010101" pitchFamily="18" charset="-122"/>
                  </a:rPr>
                  <a:t>学生参与学校、学院组织开展的寒暑期社会实践项目并按照要求在学校、学院层面立项。实践结束后实践队伍须撰写社会调查报告或论文一份。</a:t>
                </a:r>
              </a:p>
            </p:txBody>
          </p:sp>
          <p:sp>
            <p:nvSpPr>
              <p:cNvPr id="20" name="Bullet1"/>
              <p:cNvSpPr txBox="1"/>
              <p:nvPr/>
            </p:nvSpPr>
            <p:spPr>
              <a:xfrm flipH="1">
                <a:off x="2392577" y="2373164"/>
                <a:ext cx="2206625" cy="489585"/>
              </a:xfrm>
              <a:prstGeom prst="rect">
                <a:avLst/>
              </a:prstGeom>
              <a:noFill/>
            </p:spPr>
            <p:txBody>
              <a:bodyPr wrap="square" rtlCol="0" anchor="b" anchorCtr="0">
                <a:noAutofit/>
              </a:bodyPr>
              <a:lstStyle/>
              <a:p>
                <a:pPr algn="just">
                  <a:lnSpc>
                    <a:spcPct val="150000"/>
                  </a:lnSpc>
                </a:pPr>
                <a:r>
                  <a:rPr lang="zh-CN" altLang="en-US" sz="2000" dirty="0">
                    <a:solidFill>
                      <a:schemeClr val="tx1">
                        <a:lumMod val="65000"/>
                        <a:lumOff val="35000"/>
                      </a:schemeClr>
                    </a:solidFill>
                    <a:latin typeface="+mn-ea"/>
                    <a:cs typeface="阿里巴巴普惠体" panose="00020600040101010101" pitchFamily="18" charset="-122"/>
                    <a:sym typeface="+mn-ea"/>
                  </a:rPr>
                  <a:t>（9） 社会实践</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2285534"/>
                <a:ext cx="3988435" cy="664845"/>
              </a:xfrm>
              <a:prstGeom prst="rect">
                <a:avLst/>
              </a:prstGeom>
              <a:noFill/>
            </p:spPr>
            <p:txBody>
              <a:bodyPr wrap="square" anchor="t" anchorCtr="0"/>
              <a:lstStyle/>
              <a:p>
                <a:pPr algn="just">
                  <a:lnSpc>
                    <a:spcPct val="150000"/>
                  </a:lnSpc>
                </a:pPr>
                <a:r>
                  <a:rPr lang="zh-CN" altLang="en-US" sz="1400" b="1" dirty="0">
                    <a:solidFill>
                      <a:srgbClr val="FF0000"/>
                    </a:solidFill>
                    <a:latin typeface="+mn-ea"/>
                    <a:cs typeface="阿里巴巴普惠体" panose="00020600040101010101" pitchFamily="18" charset="-122"/>
                    <a:sym typeface="+mn-ea"/>
                  </a:rPr>
                  <a:t>具体认定标准</a:t>
                </a:r>
                <a:r>
                  <a:rPr lang="zh-CN" altLang="en-US" sz="1400" dirty="0">
                    <a:latin typeface="+mn-ea"/>
                    <a:cs typeface="阿里巴巴普惠体" panose="00020600040101010101" pitchFamily="18" charset="-122"/>
                    <a:sym typeface="+mn-ea"/>
                  </a:rPr>
                  <a:t>为：参与实地社会实践时长不少于</a:t>
                </a:r>
                <a:r>
                  <a:rPr lang="en-US" altLang="zh-CN" sz="1400" dirty="0">
                    <a:latin typeface="+mn-ea"/>
                    <a:cs typeface="阿里巴巴普惠体" panose="00020600040101010101" pitchFamily="18" charset="-122"/>
                    <a:sym typeface="+mn-ea"/>
                  </a:rPr>
                  <a:t> 5 </a:t>
                </a:r>
                <a:r>
                  <a:rPr lang="zh-CN" altLang="en-US" sz="1400" dirty="0">
                    <a:latin typeface="+mn-ea"/>
                    <a:cs typeface="阿里巴巴普惠体" panose="00020600040101010101" pitchFamily="18" charset="-122"/>
                    <a:sym typeface="+mn-ea"/>
                  </a:rPr>
                  <a:t>天，按时提交个人心得，且所在实践团队材料齐全的学生每次可获</a:t>
                </a:r>
                <a:r>
                  <a:rPr lang="en-US" altLang="zh-CN" sz="1400" dirty="0">
                    <a:latin typeface="+mn-ea"/>
                    <a:cs typeface="阿里巴巴普惠体" panose="00020600040101010101" pitchFamily="18" charset="-122"/>
                    <a:sym typeface="+mn-ea"/>
                  </a:rPr>
                  <a:t>4</a:t>
                </a:r>
                <a:r>
                  <a:rPr lang="zh-CN" altLang="en-US" sz="1400" dirty="0">
                    <a:latin typeface="+mn-ea"/>
                    <a:cs typeface="阿里巴巴普惠体" panose="00020600040101010101" pitchFamily="18" charset="-122"/>
                    <a:sym typeface="+mn-ea"/>
                  </a:rPr>
                  <a:t>个学时（</a:t>
                </a:r>
                <a:r>
                  <a:rPr lang="en-US" altLang="zh-CN" sz="1400" dirty="0">
                    <a:latin typeface="+mn-ea"/>
                    <a:cs typeface="阿里巴巴普惠体" panose="00020600040101010101" pitchFamily="18" charset="-122"/>
                    <a:sym typeface="+mn-ea"/>
                  </a:rPr>
                  <a:t>“</a:t>
                </a:r>
                <a:r>
                  <a:rPr lang="zh-CN" altLang="en-US" sz="1400" dirty="0">
                    <a:latin typeface="+mn-ea"/>
                    <a:cs typeface="阿里巴巴普惠体" panose="00020600040101010101" pitchFamily="18" charset="-122"/>
                    <a:sym typeface="+mn-ea"/>
                  </a:rPr>
                  <a:t>招生宣传</a:t>
                </a:r>
                <a:r>
                  <a:rPr lang="en-US" altLang="zh-CN" sz="1400" dirty="0">
                    <a:latin typeface="+mn-ea"/>
                    <a:cs typeface="阿里巴巴普惠体" panose="00020600040101010101" pitchFamily="18" charset="-122"/>
                    <a:sym typeface="+mn-ea"/>
                  </a:rPr>
                  <a:t>”“</a:t>
                </a:r>
                <a:r>
                  <a:rPr lang="zh-CN" altLang="en-US" sz="1400" dirty="0">
                    <a:latin typeface="+mn-ea"/>
                    <a:cs typeface="阿里巴巴普惠体" panose="00020600040101010101" pitchFamily="18" charset="-122"/>
                    <a:sym typeface="+mn-ea"/>
                  </a:rPr>
                  <a:t>感谢师恩</a:t>
                </a:r>
                <a:r>
                  <a:rPr lang="en-US" altLang="zh-CN" sz="1400" dirty="0">
                    <a:latin typeface="+mn-ea"/>
                    <a:cs typeface="阿里巴巴普惠体" panose="00020600040101010101" pitchFamily="18" charset="-122"/>
                    <a:sym typeface="+mn-ea"/>
                  </a:rPr>
                  <a:t>”</a:t>
                </a:r>
                <a:r>
                  <a:rPr lang="zh-CN" altLang="en-US" sz="1400" dirty="0">
                    <a:latin typeface="+mn-ea"/>
                    <a:cs typeface="阿里巴巴普惠体" panose="00020600040101010101" pitchFamily="18" charset="-122"/>
                    <a:sym typeface="+mn-ea"/>
                  </a:rPr>
                  <a:t>专项社会实践时长不受限，完整参加一次可获</a:t>
                </a:r>
                <a:r>
                  <a:rPr lang="en-US" altLang="zh-CN" sz="1400" dirty="0">
                    <a:latin typeface="+mn-ea"/>
                    <a:cs typeface="阿里巴巴普惠体" panose="00020600040101010101" pitchFamily="18" charset="-122"/>
                    <a:sym typeface="+mn-ea"/>
                  </a:rPr>
                  <a:t>2</a:t>
                </a:r>
                <a:r>
                  <a:rPr lang="zh-CN" altLang="en-US" sz="1400" dirty="0">
                    <a:latin typeface="+mn-ea"/>
                    <a:cs typeface="阿里巴巴普惠体" panose="00020600040101010101" pitchFamily="18" charset="-122"/>
                    <a:sym typeface="+mn-ea"/>
                  </a:rPr>
                  <a:t>学时，所获荣誉减半）。</a:t>
                </a:r>
              </a:p>
              <a:p>
                <a:pPr algn="just">
                  <a:lnSpc>
                    <a:spcPct val="150000"/>
                  </a:lnSpc>
                </a:pPr>
                <a:r>
                  <a:rPr lang="zh-CN" altLang="en-US" sz="1400" dirty="0">
                    <a:latin typeface="+mn-ea"/>
                    <a:cs typeface="阿里巴巴普惠体" panose="00020600040101010101" pitchFamily="18" charset="-122"/>
                    <a:sym typeface="+mn-ea"/>
                  </a:rPr>
                  <a:t>个人获评院级荣誉的可另获</a:t>
                </a:r>
                <a:r>
                  <a:rPr lang="en-US" altLang="zh-CN" sz="1400" dirty="0">
                    <a:latin typeface="+mn-ea"/>
                    <a:cs typeface="阿里巴巴普惠体" panose="00020600040101010101" pitchFamily="18" charset="-122"/>
                    <a:sym typeface="+mn-ea"/>
                  </a:rPr>
                  <a:t>1</a:t>
                </a:r>
                <a:r>
                  <a:rPr lang="zh-CN" altLang="en-US" sz="1400" dirty="0">
                    <a:latin typeface="+mn-ea"/>
                    <a:cs typeface="阿里巴巴普惠体" panose="00020600040101010101" pitchFamily="18" charset="-122"/>
                    <a:sym typeface="+mn-ea"/>
                  </a:rPr>
                  <a:t>学时，获校级荣誉的可另获</a:t>
                </a:r>
                <a:r>
                  <a:rPr lang="en-US" altLang="zh-CN" sz="1400" dirty="0">
                    <a:latin typeface="+mn-ea"/>
                    <a:cs typeface="阿里巴巴普惠体" panose="00020600040101010101" pitchFamily="18" charset="-122"/>
                    <a:sym typeface="+mn-ea"/>
                  </a:rPr>
                  <a:t>2</a:t>
                </a:r>
                <a:r>
                  <a:rPr lang="zh-CN" altLang="en-US" sz="1400" dirty="0">
                    <a:latin typeface="+mn-ea"/>
                    <a:cs typeface="阿里巴巴普惠体" panose="00020600040101010101" pitchFamily="18" charset="-122"/>
                    <a:sym typeface="+mn-ea"/>
                  </a:rPr>
                  <a:t>学时，获省级荣誉的可另获</a:t>
                </a:r>
                <a:r>
                  <a:rPr lang="en-US" altLang="zh-CN" sz="1400" dirty="0">
                    <a:latin typeface="+mn-ea"/>
                    <a:cs typeface="阿里巴巴普惠体" panose="00020600040101010101" pitchFamily="18" charset="-122"/>
                    <a:sym typeface="+mn-ea"/>
                  </a:rPr>
                  <a:t>3</a:t>
                </a:r>
                <a:r>
                  <a:rPr lang="zh-CN" altLang="en-US" sz="1400" dirty="0">
                    <a:latin typeface="+mn-ea"/>
                    <a:cs typeface="阿里巴巴普惠体" panose="00020600040101010101" pitchFamily="18" charset="-122"/>
                    <a:sym typeface="+mn-ea"/>
                  </a:rPr>
                  <a:t>学时，获国家级荣誉的可另获</a:t>
                </a:r>
                <a:r>
                  <a:rPr lang="en-US" altLang="zh-CN" sz="1400" dirty="0">
                    <a:latin typeface="+mn-ea"/>
                    <a:cs typeface="阿里巴巴普惠体" panose="00020600040101010101" pitchFamily="18" charset="-122"/>
                    <a:sym typeface="+mn-ea"/>
                  </a:rPr>
                  <a:t>4</a:t>
                </a:r>
                <a:r>
                  <a:rPr lang="zh-CN" altLang="en-US" sz="1400" dirty="0">
                    <a:latin typeface="+mn-ea"/>
                    <a:cs typeface="阿里巴巴普惠体" panose="00020600040101010101" pitchFamily="18" charset="-122"/>
                    <a:sym typeface="+mn-ea"/>
                  </a:rPr>
                  <a:t>学时（团队荣誉减半）。</a:t>
                </a:r>
              </a:p>
              <a:p>
                <a:pPr algn="just">
                  <a:lnSpc>
                    <a:spcPct val="150000"/>
                  </a:lnSpc>
                </a:pPr>
                <a:endParaRPr lang="zh-CN" altLang="en-US" sz="1400" dirty="0">
                  <a:latin typeface="+mn-ea"/>
                  <a:cs typeface="阿里巴巴普惠体" panose="00020600040101010101" pitchFamily="18" charset="-122"/>
                  <a:sym typeface="+mn-ea"/>
                </a:endParaRPr>
              </a:p>
              <a:p>
                <a:pPr algn="just">
                  <a:lnSpc>
                    <a:spcPct val="150000"/>
                  </a:lnSpc>
                </a:pPr>
                <a:r>
                  <a:rPr lang="zh-CN" altLang="en-US" sz="1400" b="1" dirty="0">
                    <a:solidFill>
                      <a:srgbClr val="FF0000"/>
                    </a:solidFill>
                    <a:latin typeface="+mn-ea"/>
                    <a:cs typeface="阿里巴巴普惠体" panose="00020600040101010101" pitchFamily="18" charset="-122"/>
                    <a:sym typeface="+mn-ea"/>
                  </a:rPr>
                  <a:t>认定形式</a:t>
                </a:r>
                <a:r>
                  <a:rPr lang="zh-CN" altLang="en-US" sz="1400" dirty="0">
                    <a:latin typeface="+mn-ea"/>
                    <a:cs typeface="阿里巴巴普惠体" panose="00020600040101010101" pitchFamily="18" charset="-122"/>
                    <a:sym typeface="+mn-ea"/>
                  </a:rPr>
                  <a:t>为：学生提供学校或学院团委出具的社会实践证明（需加盖公章），自行在系统提交材料申请学时，学院进行审核认定。</a:t>
                </a:r>
              </a:p>
              <a:p>
                <a:pPr algn="just">
                  <a:lnSpc>
                    <a:spcPct val="150000"/>
                  </a:lnSpc>
                </a:pPr>
                <a:endParaRPr lang="zh-CN" altLang="en-US" sz="1400" dirty="0">
                  <a:latin typeface="+mn-ea"/>
                  <a:cs typeface="阿里巴巴普惠体" panose="00020600040101010101" pitchFamily="18" charset="-122"/>
                  <a:sym typeface="+mn-ea"/>
                </a:endParaRP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203857" y="1414314"/>
            <a:ext cx="9784464" cy="4888230"/>
            <a:chOff x="1197507" y="1769914"/>
            <a:chExt cx="9784464" cy="4888230"/>
          </a:xfrm>
        </p:grpSpPr>
        <p:grpSp>
          <p:nvGrpSpPr>
            <p:cNvPr id="7" name="组合 6"/>
            <p:cNvGrpSpPr/>
            <p:nvPr/>
          </p:nvGrpSpPr>
          <p:grpSpPr>
            <a:xfrm>
              <a:off x="1197507" y="1769914"/>
              <a:ext cx="5232400" cy="4888230"/>
              <a:chOff x="1197507" y="1769914"/>
              <a:chExt cx="5232400" cy="4888230"/>
            </a:xfrm>
          </p:grpSpPr>
          <p:sp>
            <p:nvSpPr>
              <p:cNvPr id="15" name="ComponentBackground1"/>
              <p:cNvSpPr/>
              <p:nvPr/>
            </p:nvSpPr>
            <p:spPr>
              <a:xfrm>
                <a:off x="1197507" y="1769914"/>
                <a:ext cx="5232400" cy="4888230"/>
              </a:xfrm>
              <a:custGeom>
                <a:avLst/>
                <a:gdLst>
                  <a:gd name="connsiteX0" fmla="*/ 575868 w 5232251"/>
                  <a:gd name="connsiteY0" fmla="*/ 0 h 4239000"/>
                  <a:gd name="connsiteX1" fmla="*/ 4096415 w 5232251"/>
                  <a:gd name="connsiteY1" fmla="*/ 0 h 4239000"/>
                  <a:gd name="connsiteX2" fmla="*/ 5232251 w 5232251"/>
                  <a:gd name="connsiteY2" fmla="*/ 4239000 h 4239000"/>
                  <a:gd name="connsiteX3" fmla="*/ 575868 w 5232251"/>
                  <a:gd name="connsiteY3" fmla="*/ 4239000 h 4239000"/>
                  <a:gd name="connsiteX4" fmla="*/ 0 w 5232251"/>
                  <a:gd name="connsiteY4" fmla="*/ 3663132 h 4239000"/>
                  <a:gd name="connsiteX5" fmla="*/ 0 w 5232251"/>
                  <a:gd name="connsiteY5" fmla="*/ 575868 h 4239000"/>
                  <a:gd name="connsiteX6" fmla="*/ 575868 w 5232251"/>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32251" h="4239000">
                    <a:moveTo>
                      <a:pt x="575868" y="0"/>
                    </a:moveTo>
                    <a:lnTo>
                      <a:pt x="4096415" y="0"/>
                    </a:lnTo>
                    <a:lnTo>
                      <a:pt x="5232251" y="4239000"/>
                    </a:lnTo>
                    <a:lnTo>
                      <a:pt x="575868" y="4239000"/>
                    </a:lnTo>
                    <a:cubicBezTo>
                      <a:pt x="257825" y="4239000"/>
                      <a:pt x="0" y="3981175"/>
                      <a:pt x="0" y="3663132"/>
                    </a:cubicBezTo>
                    <a:lnTo>
                      <a:pt x="0" y="575868"/>
                    </a:lnTo>
                    <a:cubicBezTo>
                      <a:pt x="0" y="257825"/>
                      <a:pt x="257825" y="0"/>
                      <a:pt x="575868" y="0"/>
                    </a:cubicBezTo>
                    <a:close/>
                  </a:path>
                </a:pathLst>
              </a:custGeom>
              <a:gradFill flip="none" rotWithShape="1">
                <a:gsLst>
                  <a:gs pos="0">
                    <a:schemeClr val="accent1">
                      <a:lumMod val="60000"/>
                      <a:lumOff val="40000"/>
                      <a:alpha val="0"/>
                    </a:schemeClr>
                  </a:gs>
                  <a:gs pos="100000">
                    <a:schemeClr val="accent1">
                      <a:lumMod val="60000"/>
                      <a:lumOff val="40000"/>
                      <a:alpha val="40000"/>
                    </a:schemeClr>
                  </a:gs>
                </a:gsLst>
                <a:lin ang="54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6" name="Shape1"/>
              <p:cNvSpPr/>
              <p:nvPr/>
            </p:nvSpPr>
            <p:spPr>
              <a:xfrm>
                <a:off x="1398011" y="1905678"/>
                <a:ext cx="803982" cy="803979"/>
              </a:xfrm>
              <a:prstGeom prst="ellipse">
                <a:avLst/>
              </a:prstGeom>
              <a:solidFill>
                <a:schemeClr val="accent1">
                  <a:alpha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75000"/>
                      <a:lumOff val="25000"/>
                    </a:schemeClr>
                  </a:solidFill>
                </a:endParaRPr>
              </a:p>
            </p:txBody>
          </p:sp>
          <p:sp>
            <p:nvSpPr>
              <p:cNvPr id="17" name="IconBackground1"/>
              <p:cNvSpPr/>
              <p:nvPr/>
            </p:nvSpPr>
            <p:spPr>
              <a:xfrm>
                <a:off x="1455130" y="1962798"/>
                <a:ext cx="689743" cy="689741"/>
              </a:xfrm>
              <a:prstGeom prst="ellipse">
                <a:avLst/>
              </a:prstGeom>
              <a:gradFill>
                <a:gsLst>
                  <a:gs pos="0">
                    <a:schemeClr val="accent1">
                      <a:lumMod val="60000"/>
                      <a:lumOff val="40000"/>
                    </a:schemeClr>
                  </a:gs>
                  <a:gs pos="50000">
                    <a:schemeClr val="accent1"/>
                  </a:gs>
                </a:gsLst>
                <a:lin ang="2700000" scaled="0"/>
              </a:gradFill>
            </p:spPr>
            <p:txBody>
              <a:bodyPr wrap="none" lIns="108000" tIns="108000" rIns="108000" bIns="108000" rtlCol="0" anchor="ctr" anchorCtr="0">
                <a:noAutofit/>
              </a:bodyPr>
              <a:lstStyle/>
              <a:p>
                <a:pPr algn="ctr"/>
                <a:endParaRPr kumimoji="1" lang="zh-CN" altLang="en-US" sz="2000" b="1" i="1" dirty="0">
                  <a:solidFill>
                    <a:schemeClr val="tx1">
                      <a:lumMod val="75000"/>
                      <a:lumOff val="25000"/>
                    </a:schemeClr>
                  </a:solidFill>
                  <a:latin typeface="Arial" panose="020B0604020202020204" pitchFamily="34" charset="0"/>
                  <a:ea typeface="微软雅黑" panose="020B0503020204020204" pitchFamily="34" charset="-122"/>
                </a:endParaRPr>
              </a:p>
            </p:txBody>
          </p:sp>
          <p:sp>
            <p:nvSpPr>
              <p:cNvPr id="18" name="Icon1"/>
              <p:cNvSpPr/>
              <p:nvPr/>
            </p:nvSpPr>
            <p:spPr>
              <a:xfrm>
                <a:off x="1703009" y="2203626"/>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Text1"/>
              <p:cNvSpPr txBox="1"/>
              <p:nvPr/>
            </p:nvSpPr>
            <p:spPr>
              <a:xfrm flipH="1">
                <a:off x="1397532" y="2950379"/>
                <a:ext cx="4010660" cy="2970530"/>
              </a:xfrm>
              <a:prstGeom prst="rect">
                <a:avLst/>
              </a:prstGeom>
              <a:noFill/>
            </p:spPr>
            <p:txBody>
              <a:bodyPr wrap="square" anchor="t" anchorCtr="0"/>
              <a:lstStyle/>
              <a:p>
                <a:pPr algn="just">
                  <a:lnSpc>
                    <a:spcPct val="150000"/>
                  </a:lnSpc>
                </a:pPr>
                <a:r>
                  <a:rPr lang="zh-CN" altLang="en-US" dirty="0">
                    <a:latin typeface="+mn-ea"/>
                    <a:cs typeface="阿里巴巴普惠体" panose="00020600040101010101" pitchFamily="18" charset="-122"/>
                  </a:rPr>
                  <a:t>遴选为我院朋辈导师的学生，按要求完成工作。</a:t>
                </a:r>
              </a:p>
              <a:p>
                <a:pPr algn="just">
                  <a:lnSpc>
                    <a:spcPct val="150000"/>
                  </a:lnSpc>
                </a:pPr>
                <a:endParaRPr lang="zh-CN" altLang="en-US" dirty="0">
                  <a:latin typeface="+mn-ea"/>
                  <a:cs typeface="阿里巴巴普惠体" panose="00020600040101010101" pitchFamily="18" charset="-122"/>
                </a:endParaRPr>
              </a:p>
            </p:txBody>
          </p:sp>
          <p:sp>
            <p:nvSpPr>
              <p:cNvPr id="20" name="Bullet1"/>
              <p:cNvSpPr txBox="1"/>
              <p:nvPr/>
            </p:nvSpPr>
            <p:spPr>
              <a:xfrm flipH="1">
                <a:off x="2392577" y="2162979"/>
                <a:ext cx="2206625" cy="489585"/>
              </a:xfrm>
              <a:prstGeom prst="rect">
                <a:avLst/>
              </a:prstGeom>
              <a:noFill/>
            </p:spPr>
            <p:txBody>
              <a:bodyPr wrap="square" rtlCol="0" anchor="b" anchorCtr="0">
                <a:noAutofit/>
              </a:bodyPr>
              <a:lstStyle/>
              <a:p>
                <a:pPr algn="just">
                  <a:lnSpc>
                    <a:spcPct val="150000"/>
                  </a:lnSpc>
                </a:pPr>
                <a:r>
                  <a:rPr lang="zh-CN" altLang="en-US" sz="2000" dirty="0">
                    <a:solidFill>
                      <a:schemeClr val="tx1">
                        <a:lumMod val="65000"/>
                        <a:lumOff val="35000"/>
                      </a:schemeClr>
                    </a:solidFill>
                    <a:latin typeface="+mn-ea"/>
                    <a:cs typeface="阿里巴巴普惠体" panose="00020600040101010101" pitchFamily="18" charset="-122"/>
                    <a:sym typeface="+mn-ea"/>
                  </a:rPr>
                  <a:t>（10）朋辈导师</a:t>
                </a:r>
              </a:p>
            </p:txBody>
          </p:sp>
        </p:grpSp>
        <p:grpSp>
          <p:nvGrpSpPr>
            <p:cNvPr id="8" name="组合 7"/>
            <p:cNvGrpSpPr/>
            <p:nvPr/>
          </p:nvGrpSpPr>
          <p:grpSpPr>
            <a:xfrm>
              <a:off x="5574311" y="1769914"/>
              <a:ext cx="5407660" cy="4888230"/>
              <a:chOff x="5574311" y="1769914"/>
              <a:chExt cx="5407660" cy="4888230"/>
            </a:xfrm>
          </p:grpSpPr>
          <p:sp>
            <p:nvSpPr>
              <p:cNvPr id="9" name="ComponentBackground2"/>
              <p:cNvSpPr/>
              <p:nvPr/>
            </p:nvSpPr>
            <p:spPr>
              <a:xfrm>
                <a:off x="5574311" y="1769914"/>
                <a:ext cx="5407660" cy="4888230"/>
              </a:xfrm>
              <a:custGeom>
                <a:avLst/>
                <a:gdLst>
                  <a:gd name="connsiteX0" fmla="*/ 0 w 5407482"/>
                  <a:gd name="connsiteY0" fmla="*/ 0 h 4239000"/>
                  <a:gd name="connsiteX1" fmla="*/ 4831614 w 5407482"/>
                  <a:gd name="connsiteY1" fmla="*/ 0 h 4239000"/>
                  <a:gd name="connsiteX2" fmla="*/ 5407482 w 5407482"/>
                  <a:gd name="connsiteY2" fmla="*/ 575868 h 4239000"/>
                  <a:gd name="connsiteX3" fmla="*/ 5407482 w 5407482"/>
                  <a:gd name="connsiteY3" fmla="*/ 3663132 h 4239000"/>
                  <a:gd name="connsiteX4" fmla="*/ 4831614 w 5407482"/>
                  <a:gd name="connsiteY4" fmla="*/ 4239000 h 4239000"/>
                  <a:gd name="connsiteX5" fmla="*/ 1135837 w 5407482"/>
                  <a:gd name="connsiteY5" fmla="*/ 4239000 h 4239000"/>
                  <a:gd name="connsiteX6" fmla="*/ 0 w 5407482"/>
                  <a:gd name="connsiteY6" fmla="*/ 0 h 423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407482" h="4239000">
                    <a:moveTo>
                      <a:pt x="0" y="0"/>
                    </a:moveTo>
                    <a:lnTo>
                      <a:pt x="4831614" y="0"/>
                    </a:lnTo>
                    <a:cubicBezTo>
                      <a:pt x="5149657" y="0"/>
                      <a:pt x="5407482" y="257825"/>
                      <a:pt x="5407482" y="575868"/>
                    </a:cubicBezTo>
                    <a:lnTo>
                      <a:pt x="5407482" y="3663132"/>
                    </a:lnTo>
                    <a:cubicBezTo>
                      <a:pt x="5407482" y="3981175"/>
                      <a:pt x="5149657" y="4239000"/>
                      <a:pt x="4831614" y="4239000"/>
                    </a:cubicBezTo>
                    <a:lnTo>
                      <a:pt x="1135837" y="4239000"/>
                    </a:lnTo>
                    <a:lnTo>
                      <a:pt x="0" y="0"/>
                    </a:lnTo>
                    <a:close/>
                  </a:path>
                </a:pathLst>
              </a:custGeom>
              <a:gradFill flip="none" rotWithShape="1">
                <a:gsLst>
                  <a:gs pos="0">
                    <a:schemeClr val="accent2">
                      <a:lumMod val="60000"/>
                      <a:lumOff val="40000"/>
                      <a:alpha val="0"/>
                    </a:schemeClr>
                  </a:gs>
                  <a:gs pos="100000">
                    <a:schemeClr val="accent2">
                      <a:lumMod val="60000"/>
                      <a:lumOff val="40000"/>
                      <a:alpha val="4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lumMod val="75000"/>
                      <a:lumOff val="25000"/>
                    </a:schemeClr>
                  </a:solidFill>
                </a:endParaRPr>
              </a:p>
            </p:txBody>
          </p:sp>
          <p:sp>
            <p:nvSpPr>
              <p:cNvPr id="12" name="Icon2"/>
              <p:cNvSpPr/>
              <p:nvPr/>
            </p:nvSpPr>
            <p:spPr>
              <a:xfrm>
                <a:off x="10307578" y="5480953"/>
                <a:ext cx="193988" cy="208085"/>
              </a:xfrm>
              <a:custGeom>
                <a:avLst/>
                <a:gdLst>
                  <a:gd name="connsiteX0" fmla="*/ 8356 w 487477"/>
                  <a:gd name="connsiteY0" fmla="*/ 512114 h 522922"/>
                  <a:gd name="connsiteX1" fmla="*/ 8356 w 487477"/>
                  <a:gd name="connsiteY1" fmla="*/ 512114 h 522922"/>
                  <a:gd name="connsiteX2" fmla="*/ 8356 w 487477"/>
                  <a:gd name="connsiteY2" fmla="*/ 512114 h 522922"/>
                  <a:gd name="connsiteX3" fmla="*/ 7404 w 487477"/>
                  <a:gd name="connsiteY3" fmla="*/ 511161 h 522922"/>
                  <a:gd name="connsiteX4" fmla="*/ 5499 w 487477"/>
                  <a:gd name="connsiteY4" fmla="*/ 508303 h 522922"/>
                  <a:gd name="connsiteX5" fmla="*/ 5499 w 487477"/>
                  <a:gd name="connsiteY5" fmla="*/ 508303 h 522922"/>
                  <a:gd name="connsiteX6" fmla="*/ 5499 w 487477"/>
                  <a:gd name="connsiteY6" fmla="*/ 507351 h 522922"/>
                  <a:gd name="connsiteX7" fmla="*/ 4546 w 487477"/>
                  <a:gd name="connsiteY7" fmla="*/ 505446 h 522922"/>
                  <a:gd name="connsiteX8" fmla="*/ 3593 w 487477"/>
                  <a:gd name="connsiteY8" fmla="*/ 503541 h 522922"/>
                  <a:gd name="connsiteX9" fmla="*/ 3593 w 487477"/>
                  <a:gd name="connsiteY9" fmla="*/ 503541 h 522922"/>
                  <a:gd name="connsiteX10" fmla="*/ 3593 w 487477"/>
                  <a:gd name="connsiteY10" fmla="*/ 503541 h 522922"/>
                  <a:gd name="connsiteX11" fmla="*/ 3593 w 487477"/>
                  <a:gd name="connsiteY11" fmla="*/ 503541 h 522922"/>
                  <a:gd name="connsiteX12" fmla="*/ 2641 w 487477"/>
                  <a:gd name="connsiteY12" fmla="*/ 501636 h 522922"/>
                  <a:gd name="connsiteX13" fmla="*/ 2641 w 487477"/>
                  <a:gd name="connsiteY13" fmla="*/ 500684 h 522922"/>
                  <a:gd name="connsiteX14" fmla="*/ 1689 w 487477"/>
                  <a:gd name="connsiteY14" fmla="*/ 498778 h 522922"/>
                  <a:gd name="connsiteX15" fmla="*/ 736 w 487477"/>
                  <a:gd name="connsiteY15" fmla="*/ 494968 h 522922"/>
                  <a:gd name="connsiteX16" fmla="*/ 736 w 487477"/>
                  <a:gd name="connsiteY16" fmla="*/ 492111 h 522922"/>
                  <a:gd name="connsiteX17" fmla="*/ 736 w 487477"/>
                  <a:gd name="connsiteY17" fmla="*/ 485443 h 522922"/>
                  <a:gd name="connsiteX18" fmla="*/ 5499 w 487477"/>
                  <a:gd name="connsiteY18" fmla="*/ 467346 h 522922"/>
                  <a:gd name="connsiteX19" fmla="*/ 155041 w 487477"/>
                  <a:gd name="connsiteY19" fmla="*/ 151116 h 522922"/>
                  <a:gd name="connsiteX20" fmla="*/ 158851 w 487477"/>
                  <a:gd name="connsiteY20" fmla="*/ 134924 h 522922"/>
                  <a:gd name="connsiteX21" fmla="*/ 158851 w 487477"/>
                  <a:gd name="connsiteY21" fmla="*/ 19671 h 522922"/>
                  <a:gd name="connsiteX22" fmla="*/ 120751 w 487477"/>
                  <a:gd name="connsiteY22" fmla="*/ 19671 h 522922"/>
                  <a:gd name="connsiteX23" fmla="*/ 120751 w 487477"/>
                  <a:gd name="connsiteY23" fmla="*/ 621 h 522922"/>
                  <a:gd name="connsiteX24" fmla="*/ 368401 w 487477"/>
                  <a:gd name="connsiteY24" fmla="*/ 621 h 522922"/>
                  <a:gd name="connsiteX25" fmla="*/ 368401 w 487477"/>
                  <a:gd name="connsiteY25" fmla="*/ 19671 h 522922"/>
                  <a:gd name="connsiteX26" fmla="*/ 330301 w 487477"/>
                  <a:gd name="connsiteY26" fmla="*/ 19671 h 522922"/>
                  <a:gd name="connsiteX27" fmla="*/ 330301 w 487477"/>
                  <a:gd name="connsiteY27" fmla="*/ 134924 h 522922"/>
                  <a:gd name="connsiteX28" fmla="*/ 334111 w 487477"/>
                  <a:gd name="connsiteY28" fmla="*/ 151116 h 522922"/>
                  <a:gd name="connsiteX29" fmla="*/ 483654 w 487477"/>
                  <a:gd name="connsiteY29" fmla="*/ 467346 h 522922"/>
                  <a:gd name="connsiteX30" fmla="*/ 485558 w 487477"/>
                  <a:gd name="connsiteY30" fmla="*/ 504493 h 522922"/>
                  <a:gd name="connsiteX31" fmla="*/ 485558 w 487477"/>
                  <a:gd name="connsiteY31" fmla="*/ 504493 h 522922"/>
                  <a:gd name="connsiteX32" fmla="*/ 484606 w 487477"/>
                  <a:gd name="connsiteY32" fmla="*/ 506399 h 522922"/>
                  <a:gd name="connsiteX33" fmla="*/ 459841 w 487477"/>
                  <a:gd name="connsiteY33" fmla="*/ 523543 h 522922"/>
                  <a:gd name="connsiteX34" fmla="*/ 457936 w 487477"/>
                  <a:gd name="connsiteY34" fmla="*/ 523543 h 522922"/>
                  <a:gd name="connsiteX35" fmla="*/ 32168 w 487477"/>
                  <a:gd name="connsiteY35" fmla="*/ 523543 h 522922"/>
                  <a:gd name="connsiteX36" fmla="*/ 30264 w 487477"/>
                  <a:gd name="connsiteY36" fmla="*/ 523543 h 522922"/>
                  <a:gd name="connsiteX37" fmla="*/ 27406 w 487477"/>
                  <a:gd name="connsiteY37" fmla="*/ 523543 h 522922"/>
                  <a:gd name="connsiteX38" fmla="*/ 23596 w 487477"/>
                  <a:gd name="connsiteY38" fmla="*/ 522591 h 522922"/>
                  <a:gd name="connsiteX39" fmla="*/ 23596 w 487477"/>
                  <a:gd name="connsiteY39" fmla="*/ 522591 h 522922"/>
                  <a:gd name="connsiteX40" fmla="*/ 17881 w 487477"/>
                  <a:gd name="connsiteY40" fmla="*/ 520686 h 522922"/>
                  <a:gd name="connsiteX41" fmla="*/ 15976 w 487477"/>
                  <a:gd name="connsiteY41" fmla="*/ 519734 h 522922"/>
                  <a:gd name="connsiteX42" fmla="*/ 15024 w 487477"/>
                  <a:gd name="connsiteY42" fmla="*/ 518781 h 522922"/>
                  <a:gd name="connsiteX43" fmla="*/ 10261 w 487477"/>
                  <a:gd name="connsiteY43" fmla="*/ 514971 h 522922"/>
                  <a:gd name="connsiteX44" fmla="*/ 8356 w 487477"/>
                  <a:gd name="connsiteY44" fmla="*/ 512114 h 522922"/>
                  <a:gd name="connsiteX45" fmla="*/ 8356 w 487477"/>
                  <a:gd name="connsiteY45" fmla="*/ 512114 h 522922"/>
                  <a:gd name="connsiteX46" fmla="*/ 255054 w 487477"/>
                  <a:gd name="connsiteY46" fmla="*/ 402576 h 522922"/>
                  <a:gd name="connsiteX47" fmla="*/ 252196 w 487477"/>
                  <a:gd name="connsiteY47" fmla="*/ 404481 h 522922"/>
                  <a:gd name="connsiteX48" fmla="*/ 246481 w 487477"/>
                  <a:gd name="connsiteY48" fmla="*/ 408291 h 522922"/>
                  <a:gd name="connsiteX49" fmla="*/ 55029 w 487477"/>
                  <a:gd name="connsiteY49" fmla="*/ 414959 h 522922"/>
                  <a:gd name="connsiteX50" fmla="*/ 51218 w 487477"/>
                  <a:gd name="connsiteY50" fmla="*/ 413053 h 522922"/>
                  <a:gd name="connsiteX51" fmla="*/ 22643 w 487477"/>
                  <a:gd name="connsiteY51" fmla="*/ 474014 h 522922"/>
                  <a:gd name="connsiteX52" fmla="*/ 21691 w 487477"/>
                  <a:gd name="connsiteY52" fmla="*/ 475918 h 522922"/>
                  <a:gd name="connsiteX53" fmla="*/ 21691 w 487477"/>
                  <a:gd name="connsiteY53" fmla="*/ 495921 h 522922"/>
                  <a:gd name="connsiteX54" fmla="*/ 29311 w 487477"/>
                  <a:gd name="connsiteY54" fmla="*/ 502589 h 522922"/>
                  <a:gd name="connsiteX55" fmla="*/ 30264 w 487477"/>
                  <a:gd name="connsiteY55" fmla="*/ 502589 h 522922"/>
                  <a:gd name="connsiteX56" fmla="*/ 31216 w 487477"/>
                  <a:gd name="connsiteY56" fmla="*/ 502589 h 522922"/>
                  <a:gd name="connsiteX57" fmla="*/ 456983 w 487477"/>
                  <a:gd name="connsiteY57" fmla="*/ 502589 h 522922"/>
                  <a:gd name="connsiteX58" fmla="*/ 457936 w 487477"/>
                  <a:gd name="connsiteY58" fmla="*/ 502589 h 522922"/>
                  <a:gd name="connsiteX59" fmla="*/ 466508 w 487477"/>
                  <a:gd name="connsiteY59" fmla="*/ 495921 h 522922"/>
                  <a:gd name="connsiteX60" fmla="*/ 467461 w 487477"/>
                  <a:gd name="connsiteY60" fmla="*/ 477824 h 522922"/>
                  <a:gd name="connsiteX61" fmla="*/ 466508 w 487477"/>
                  <a:gd name="connsiteY61" fmla="*/ 475918 h 522922"/>
                  <a:gd name="connsiteX62" fmla="*/ 465556 w 487477"/>
                  <a:gd name="connsiteY62" fmla="*/ 474014 h 522922"/>
                  <a:gd name="connsiteX63" fmla="*/ 423646 w 487477"/>
                  <a:gd name="connsiteY63" fmla="*/ 385431 h 522922"/>
                  <a:gd name="connsiteX64" fmla="*/ 255054 w 487477"/>
                  <a:gd name="connsiteY64" fmla="*/ 402576 h 522922"/>
                  <a:gd name="connsiteX65" fmla="*/ 305536 w 487477"/>
                  <a:gd name="connsiteY65" fmla="*/ 255891 h 522922"/>
                  <a:gd name="connsiteX66" fmla="*/ 272199 w 487477"/>
                  <a:gd name="connsiteY66" fmla="*/ 289228 h 522922"/>
                  <a:gd name="connsiteX67" fmla="*/ 305536 w 487477"/>
                  <a:gd name="connsiteY67" fmla="*/ 322566 h 522922"/>
                  <a:gd name="connsiteX68" fmla="*/ 338874 w 487477"/>
                  <a:gd name="connsiteY68" fmla="*/ 289228 h 522922"/>
                  <a:gd name="connsiteX69" fmla="*/ 305536 w 487477"/>
                  <a:gd name="connsiteY69" fmla="*/ 255891 h 5229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87477" h="522922">
                    <a:moveTo>
                      <a:pt x="8356" y="512114"/>
                    </a:moveTo>
                    <a:lnTo>
                      <a:pt x="8356" y="512114"/>
                    </a:lnTo>
                    <a:lnTo>
                      <a:pt x="8356" y="512114"/>
                    </a:lnTo>
                    <a:lnTo>
                      <a:pt x="7404" y="511161"/>
                    </a:lnTo>
                    <a:cubicBezTo>
                      <a:pt x="6451" y="510209"/>
                      <a:pt x="6451" y="509256"/>
                      <a:pt x="5499" y="508303"/>
                    </a:cubicBezTo>
                    <a:lnTo>
                      <a:pt x="5499" y="508303"/>
                    </a:lnTo>
                    <a:lnTo>
                      <a:pt x="5499" y="507351"/>
                    </a:lnTo>
                    <a:lnTo>
                      <a:pt x="4546" y="505446"/>
                    </a:lnTo>
                    <a:lnTo>
                      <a:pt x="3593" y="503541"/>
                    </a:lnTo>
                    <a:lnTo>
                      <a:pt x="3593" y="503541"/>
                    </a:lnTo>
                    <a:lnTo>
                      <a:pt x="3593" y="503541"/>
                    </a:lnTo>
                    <a:lnTo>
                      <a:pt x="3593" y="503541"/>
                    </a:lnTo>
                    <a:lnTo>
                      <a:pt x="2641" y="501636"/>
                    </a:lnTo>
                    <a:cubicBezTo>
                      <a:pt x="2641" y="501636"/>
                      <a:pt x="2641" y="500684"/>
                      <a:pt x="2641" y="500684"/>
                    </a:cubicBezTo>
                    <a:cubicBezTo>
                      <a:pt x="2641" y="499731"/>
                      <a:pt x="2641" y="499731"/>
                      <a:pt x="1689" y="498778"/>
                    </a:cubicBezTo>
                    <a:cubicBezTo>
                      <a:pt x="1689" y="497826"/>
                      <a:pt x="736" y="495921"/>
                      <a:pt x="736" y="494968"/>
                    </a:cubicBezTo>
                    <a:lnTo>
                      <a:pt x="736" y="492111"/>
                    </a:lnTo>
                    <a:cubicBezTo>
                      <a:pt x="736" y="490206"/>
                      <a:pt x="736" y="487349"/>
                      <a:pt x="736" y="485443"/>
                    </a:cubicBezTo>
                    <a:cubicBezTo>
                      <a:pt x="736" y="478776"/>
                      <a:pt x="2641" y="473061"/>
                      <a:pt x="5499" y="467346"/>
                    </a:cubicBezTo>
                    <a:lnTo>
                      <a:pt x="155041" y="151116"/>
                    </a:lnTo>
                    <a:cubicBezTo>
                      <a:pt x="157899" y="146353"/>
                      <a:pt x="158851" y="140639"/>
                      <a:pt x="158851" y="134924"/>
                    </a:cubicBezTo>
                    <a:lnTo>
                      <a:pt x="158851" y="19671"/>
                    </a:lnTo>
                    <a:lnTo>
                      <a:pt x="120751" y="19671"/>
                    </a:lnTo>
                    <a:lnTo>
                      <a:pt x="120751" y="621"/>
                    </a:lnTo>
                    <a:lnTo>
                      <a:pt x="368401" y="621"/>
                    </a:lnTo>
                    <a:lnTo>
                      <a:pt x="368401" y="19671"/>
                    </a:lnTo>
                    <a:lnTo>
                      <a:pt x="330301" y="19671"/>
                    </a:lnTo>
                    <a:lnTo>
                      <a:pt x="330301" y="134924"/>
                    </a:lnTo>
                    <a:cubicBezTo>
                      <a:pt x="330301" y="140639"/>
                      <a:pt x="331254" y="146353"/>
                      <a:pt x="334111" y="151116"/>
                    </a:cubicBezTo>
                    <a:lnTo>
                      <a:pt x="483654" y="467346"/>
                    </a:lnTo>
                    <a:cubicBezTo>
                      <a:pt x="489368" y="478776"/>
                      <a:pt x="489368" y="492111"/>
                      <a:pt x="485558" y="504493"/>
                    </a:cubicBezTo>
                    <a:lnTo>
                      <a:pt x="485558" y="504493"/>
                    </a:lnTo>
                    <a:lnTo>
                      <a:pt x="484606" y="506399"/>
                    </a:lnTo>
                    <a:cubicBezTo>
                      <a:pt x="479843" y="515924"/>
                      <a:pt x="470318" y="522591"/>
                      <a:pt x="459841" y="523543"/>
                    </a:cubicBezTo>
                    <a:lnTo>
                      <a:pt x="457936" y="523543"/>
                    </a:lnTo>
                    <a:lnTo>
                      <a:pt x="32168" y="523543"/>
                    </a:lnTo>
                    <a:lnTo>
                      <a:pt x="30264" y="523543"/>
                    </a:lnTo>
                    <a:cubicBezTo>
                      <a:pt x="29311" y="523543"/>
                      <a:pt x="28358" y="523543"/>
                      <a:pt x="27406" y="523543"/>
                    </a:cubicBezTo>
                    <a:cubicBezTo>
                      <a:pt x="26454" y="523543"/>
                      <a:pt x="24549" y="523543"/>
                      <a:pt x="23596" y="522591"/>
                    </a:cubicBezTo>
                    <a:lnTo>
                      <a:pt x="23596" y="522591"/>
                    </a:lnTo>
                    <a:cubicBezTo>
                      <a:pt x="21691" y="521639"/>
                      <a:pt x="19786" y="521639"/>
                      <a:pt x="17881" y="520686"/>
                    </a:cubicBezTo>
                    <a:lnTo>
                      <a:pt x="15976" y="519734"/>
                    </a:lnTo>
                    <a:cubicBezTo>
                      <a:pt x="15976" y="519734"/>
                      <a:pt x="15024" y="519734"/>
                      <a:pt x="15024" y="518781"/>
                    </a:cubicBezTo>
                    <a:cubicBezTo>
                      <a:pt x="13118" y="517828"/>
                      <a:pt x="11214" y="515924"/>
                      <a:pt x="10261" y="514971"/>
                    </a:cubicBezTo>
                    <a:lnTo>
                      <a:pt x="8356" y="512114"/>
                    </a:lnTo>
                    <a:lnTo>
                      <a:pt x="8356" y="512114"/>
                    </a:lnTo>
                    <a:close/>
                    <a:moveTo>
                      <a:pt x="255054" y="402576"/>
                    </a:moveTo>
                    <a:lnTo>
                      <a:pt x="252196" y="404481"/>
                    </a:lnTo>
                    <a:lnTo>
                      <a:pt x="246481" y="408291"/>
                    </a:lnTo>
                    <a:cubicBezTo>
                      <a:pt x="198856" y="439724"/>
                      <a:pt x="119799" y="440676"/>
                      <a:pt x="55029" y="414959"/>
                    </a:cubicBezTo>
                    <a:lnTo>
                      <a:pt x="51218" y="413053"/>
                    </a:lnTo>
                    <a:lnTo>
                      <a:pt x="22643" y="474014"/>
                    </a:lnTo>
                    <a:lnTo>
                      <a:pt x="21691" y="475918"/>
                    </a:lnTo>
                    <a:cubicBezTo>
                      <a:pt x="18833" y="482586"/>
                      <a:pt x="18833" y="490206"/>
                      <a:pt x="21691" y="495921"/>
                    </a:cubicBezTo>
                    <a:cubicBezTo>
                      <a:pt x="22643" y="498778"/>
                      <a:pt x="25501" y="501636"/>
                      <a:pt x="29311" y="502589"/>
                    </a:cubicBezTo>
                    <a:lnTo>
                      <a:pt x="30264" y="502589"/>
                    </a:lnTo>
                    <a:lnTo>
                      <a:pt x="31216" y="502589"/>
                    </a:lnTo>
                    <a:lnTo>
                      <a:pt x="456983" y="502589"/>
                    </a:lnTo>
                    <a:lnTo>
                      <a:pt x="457936" y="502589"/>
                    </a:lnTo>
                    <a:cubicBezTo>
                      <a:pt x="461746" y="502589"/>
                      <a:pt x="464604" y="499731"/>
                      <a:pt x="466508" y="495921"/>
                    </a:cubicBezTo>
                    <a:cubicBezTo>
                      <a:pt x="468414" y="490206"/>
                      <a:pt x="469366" y="483539"/>
                      <a:pt x="467461" y="477824"/>
                    </a:cubicBezTo>
                    <a:lnTo>
                      <a:pt x="466508" y="475918"/>
                    </a:lnTo>
                    <a:lnTo>
                      <a:pt x="465556" y="474014"/>
                    </a:lnTo>
                    <a:lnTo>
                      <a:pt x="423646" y="385431"/>
                    </a:lnTo>
                    <a:cubicBezTo>
                      <a:pt x="365543" y="372096"/>
                      <a:pt x="296011" y="376859"/>
                      <a:pt x="255054" y="402576"/>
                    </a:cubicBezTo>
                    <a:close/>
                    <a:moveTo>
                      <a:pt x="305536" y="255891"/>
                    </a:moveTo>
                    <a:cubicBezTo>
                      <a:pt x="287439" y="255891"/>
                      <a:pt x="272199" y="271131"/>
                      <a:pt x="272199" y="289228"/>
                    </a:cubicBezTo>
                    <a:cubicBezTo>
                      <a:pt x="272199" y="307326"/>
                      <a:pt x="287439" y="322566"/>
                      <a:pt x="305536" y="322566"/>
                    </a:cubicBezTo>
                    <a:cubicBezTo>
                      <a:pt x="323633" y="322566"/>
                      <a:pt x="338874" y="307326"/>
                      <a:pt x="338874" y="289228"/>
                    </a:cubicBezTo>
                    <a:cubicBezTo>
                      <a:pt x="338874" y="270178"/>
                      <a:pt x="323633" y="255891"/>
                      <a:pt x="305536" y="255891"/>
                    </a:cubicBezTo>
                    <a:close/>
                  </a:path>
                </a:pathLst>
              </a:custGeom>
              <a:solidFill>
                <a:srgbClr val="FFFFFF"/>
              </a:solidFill>
            </p:spPr>
            <p:txBody>
              <a:bodyPr wrap="none" lIns="108000" tIns="108000" rIns="108000" bIns="108000" rtlCol="0" anchor="ctr" anchorCtr="0">
                <a:normAutofit fontScale="25000" lnSpcReduction="2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kumimoji="1" lang="zh-CN" altLang="en-US" sz="2000" b="1">
                  <a:solidFill>
                    <a:schemeClr val="tx1">
                      <a:lumMod val="75000"/>
                      <a:lumOff val="25000"/>
                    </a:schemeClr>
                  </a:solidFill>
                  <a:latin typeface="Arial" panose="020B0604020202020204" pitchFamily="34" charset="0"/>
                  <a:ea typeface="微软雅黑" panose="020B0503020204020204" pitchFamily="34" charset="-122"/>
                  <a:sym typeface="Arial" panose="020B0604020202020204" pitchFamily="34" charset="0"/>
                </a:endParaRPr>
              </a:p>
            </p:txBody>
          </p:sp>
          <p:sp>
            <p:nvSpPr>
              <p:cNvPr id="13" name="Text2"/>
              <p:cNvSpPr txBox="1"/>
              <p:nvPr/>
            </p:nvSpPr>
            <p:spPr>
              <a:xfrm flipH="1">
                <a:off x="6513476" y="2285534"/>
                <a:ext cx="3988435" cy="664845"/>
              </a:xfrm>
              <a:prstGeom prst="rect">
                <a:avLst/>
              </a:prstGeom>
              <a:noFill/>
            </p:spPr>
            <p:txBody>
              <a:bodyPr wrap="square" anchor="t" anchorCtr="0"/>
              <a:lstStyle/>
              <a:p>
                <a:pPr algn="just">
                  <a:lnSpc>
                    <a:spcPct val="150000"/>
                  </a:lnSpc>
                </a:pPr>
                <a:r>
                  <a:rPr lang="zh-CN" altLang="en-US" b="1" dirty="0">
                    <a:solidFill>
                      <a:srgbClr val="FF0000"/>
                    </a:solidFill>
                    <a:latin typeface="+mn-ea"/>
                    <a:cs typeface="阿里巴巴普惠体" panose="00020600040101010101" pitchFamily="18" charset="-122"/>
                    <a:sym typeface="+mn-ea"/>
                  </a:rPr>
                  <a:t>具体认定标准</a:t>
                </a:r>
                <a:r>
                  <a:rPr lang="zh-CN" altLang="en-US" dirty="0">
                    <a:latin typeface="+mn-ea"/>
                    <a:cs typeface="阿里巴巴普惠体" panose="00020600040101010101" pitchFamily="18" charset="-122"/>
                    <a:sym typeface="+mn-ea"/>
                  </a:rPr>
                  <a:t>为：考核合格可申请</a:t>
                </a:r>
                <a:r>
                  <a:rPr lang="en-US" altLang="zh-CN" dirty="0">
                    <a:latin typeface="+mn-ea"/>
                    <a:cs typeface="阿里巴巴普惠体" panose="00020600040101010101" pitchFamily="18" charset="-122"/>
                    <a:sym typeface="+mn-ea"/>
                  </a:rPr>
                  <a:t>2</a:t>
                </a:r>
                <a:r>
                  <a:rPr lang="zh-CN" altLang="en-US" dirty="0">
                    <a:latin typeface="+mn-ea"/>
                    <a:cs typeface="阿里巴巴普惠体" panose="00020600040101010101" pitchFamily="18" charset="-122"/>
                    <a:sym typeface="+mn-ea"/>
                  </a:rPr>
                  <a:t>学时，考核优秀可申请</a:t>
                </a:r>
                <a:r>
                  <a:rPr lang="en-US" altLang="zh-CN" dirty="0">
                    <a:latin typeface="+mn-ea"/>
                    <a:cs typeface="阿里巴巴普惠体" panose="00020600040101010101" pitchFamily="18" charset="-122"/>
                    <a:sym typeface="+mn-ea"/>
                  </a:rPr>
                  <a:t>4</a:t>
                </a:r>
                <a:r>
                  <a:rPr lang="zh-CN" altLang="en-US" dirty="0">
                    <a:latin typeface="+mn-ea"/>
                    <a:cs typeface="阿里巴巴普惠体" panose="00020600040101010101" pitchFamily="18" charset="-122"/>
                    <a:sym typeface="+mn-ea"/>
                  </a:rPr>
                  <a:t>学时。</a:t>
                </a:r>
              </a:p>
              <a:p>
                <a:pPr algn="just">
                  <a:lnSpc>
                    <a:spcPct val="150000"/>
                  </a:lnSpc>
                </a:pPr>
                <a:endParaRPr lang="zh-CN" altLang="en-US" dirty="0">
                  <a:latin typeface="+mn-ea"/>
                  <a:cs typeface="阿里巴巴普惠体" panose="00020600040101010101" pitchFamily="18" charset="-122"/>
                  <a:sym typeface="+mn-ea"/>
                </a:endParaRPr>
              </a:p>
              <a:p>
                <a:pPr algn="just">
                  <a:lnSpc>
                    <a:spcPct val="150000"/>
                  </a:lnSpc>
                </a:pPr>
                <a:r>
                  <a:rPr lang="zh-CN" altLang="en-US" b="1" dirty="0">
                    <a:solidFill>
                      <a:srgbClr val="FF0000"/>
                    </a:solidFill>
                    <a:latin typeface="+mn-ea"/>
                    <a:cs typeface="阿里巴巴普惠体" panose="00020600040101010101" pitchFamily="18" charset="-122"/>
                    <a:sym typeface="+mn-ea"/>
                  </a:rPr>
                  <a:t>认定形式</a:t>
                </a:r>
                <a:r>
                  <a:rPr lang="zh-CN" altLang="en-US" dirty="0">
                    <a:latin typeface="+mn-ea"/>
                    <a:cs typeface="阿里巴巴普惠体" panose="00020600040101010101" pitchFamily="18" charset="-122"/>
                    <a:sym typeface="+mn-ea"/>
                  </a:rPr>
                  <a:t>为：学院出具的朋辈导师考核结果（此项和朋辈导师志愿工时二选一，不可兼得），</a:t>
                </a:r>
                <a:r>
                  <a:rPr lang="zh-CN" altLang="en-US" b="1" dirty="0">
                    <a:solidFill>
                      <a:schemeClr val="accent2"/>
                    </a:solidFill>
                    <a:latin typeface="+mn-ea"/>
                    <a:cs typeface="阿里巴巴普惠体" panose="00020600040101010101" pitchFamily="18" charset="-122"/>
                    <a:sym typeface="+mn-ea"/>
                  </a:rPr>
                  <a:t>自行在系统提交</a:t>
                </a:r>
                <a:r>
                  <a:rPr lang="zh-CN" altLang="en-US" dirty="0">
                    <a:latin typeface="+mn-ea"/>
                    <a:cs typeface="阿里巴巴普惠体" panose="00020600040101010101" pitchFamily="18" charset="-122"/>
                    <a:sym typeface="+mn-ea"/>
                  </a:rPr>
                  <a:t>材料申请学时，学院进行审核认定。</a:t>
                </a:r>
              </a:p>
            </p:txBody>
          </p:sp>
        </p:grpSp>
      </p:grpSp>
      <p:grpSp>
        <p:nvGrpSpPr>
          <p:cNvPr id="2" name="组合 1"/>
          <p:cNvGrpSpPr/>
          <p:nvPr/>
        </p:nvGrpSpPr>
        <p:grpSpPr>
          <a:xfrm>
            <a:off x="217805" y="351155"/>
            <a:ext cx="4667885" cy="688340"/>
            <a:chOff x="343" y="553"/>
            <a:chExt cx="7351" cy="1084"/>
          </a:xfrm>
        </p:grpSpPr>
        <p:sp>
          <p:nvSpPr>
            <p:cNvPr id="4" name="圆角矩形 79"/>
            <p:cNvSpPr/>
            <p:nvPr>
              <p:custDataLst>
                <p:tags r:id="rId2"/>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5" name="圆角矩形 6"/>
            <p:cNvSpPr/>
            <p:nvPr>
              <p:custDataLst>
                <p:tags r:id="rId3"/>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4"/>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专业技能劳动实践</a:t>
              </a:r>
              <a:endParaRPr lang="zh-CN" altLang="en-US" sz="3400" dirty="0">
                <a:solidFill>
                  <a:schemeClr val="tx1">
                    <a:lumMod val="85000"/>
                    <a:lumOff val="15000"/>
                  </a:schemeClr>
                </a:solidFill>
                <a:latin typeface="优设标题黑" panose="00000500000000000000" charset="-122"/>
                <a:ea typeface="优设标题黑" panose="00000500000000000000" charset="-122"/>
                <a:cs typeface="思源黑体旧字形 Light" panose="020B0300000000000000" charset="-128"/>
                <a:sym typeface="+mn-ea"/>
              </a:endParaRPr>
            </a:p>
          </p:txBody>
        </p:sp>
        <p:sp>
          <p:nvSpPr>
            <p:cNvPr id="60" name="圆角矩形 99"/>
            <p:cNvSpPr/>
            <p:nvPr>
              <p:custDataLst>
                <p:tags r:id="rId5"/>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6"/>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494790"/>
            <a:ext cx="10015855" cy="2891790"/>
          </a:xfrm>
          <a:prstGeom prst="rect">
            <a:avLst/>
          </a:prstGeom>
          <a:noFill/>
          <a:scene3d>
            <a:camera prst="orthographicFront"/>
            <a:lightRig rig="threePt" dir="t"/>
          </a:scene3d>
        </p:spPr>
        <p:txBody>
          <a:bodyPr wrap="square" rtlCol="0">
            <a:spAutoFit/>
          </a:bodyPr>
          <a:lstStyle/>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实施志愿服务项目式管理，组织学生在校园内、周边社区等公共场所开展服务师生、服务社会的志愿公益劳动实践活动，提升学生主动作为的奉献精神和公益性劳动意识。</a:t>
            </a: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．实践形式：校园志愿服务活动、社区志愿服务活动</a:t>
            </a: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．学时要求：</a:t>
            </a:r>
            <a:r>
              <a:rPr lang="en-US" altLang="zh-CN" sz="2000" b="1" dirty="0">
                <a:solidFill>
                  <a:srgbClr val="FF0000"/>
                </a:solidFill>
                <a:latin typeface="思源黑体" panose="020B0500000000000000" pitchFamily="34" charset="-122"/>
                <a:ea typeface="思源黑体" panose="020B0500000000000000" pitchFamily="34" charset="-122"/>
              </a:rPr>
              <a:t>10</a:t>
            </a:r>
            <a:r>
              <a:rPr lang="zh-CN" altLang="en-US" sz="2000" b="1" dirty="0">
                <a:solidFill>
                  <a:srgbClr val="FF0000"/>
                </a:solidFill>
                <a:latin typeface="思源黑体" panose="020B0500000000000000" pitchFamily="34" charset="-122"/>
                <a:ea typeface="思源黑体" panose="020B0500000000000000" pitchFamily="34" charset="-122"/>
              </a:rPr>
              <a:t>学时</a:t>
            </a: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3</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rgbClr val="FF0000"/>
                </a:solidFill>
                <a:latin typeface="思源黑体" panose="020B0500000000000000" pitchFamily="34" charset="-122"/>
                <a:ea typeface="思源黑体" panose="020B0500000000000000" pitchFamily="34" charset="-122"/>
              </a:rPr>
              <a:t>认定形式</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：根据</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志愿中国</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志愿汇</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平台提供的志愿服务时长记录，</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个志愿服务工时认定为</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个学时，其他形式的证明材料不予认定，由系统根据工时数自行认定。</a:t>
            </a: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4</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．可选项目：可选项目及具体认定标准按照《厦门大学学生志愿服务管理办法》执行。</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志愿公益劳动实践</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494790"/>
            <a:ext cx="10015855" cy="3692525"/>
          </a:xfrm>
          <a:prstGeom prst="rect">
            <a:avLst/>
          </a:prstGeom>
          <a:noFill/>
          <a:scene3d>
            <a:camera prst="orthographicFront"/>
            <a:lightRig rig="threePt" dir="t"/>
          </a:scene3d>
        </p:spPr>
        <p:txBody>
          <a:bodyPr wrap="square" rtlCol="0">
            <a:spAutoFit/>
          </a:bodyPr>
          <a:lstStyle/>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组织开展包括在一站式学生社区、公共教室、实验室、本单位院楼、学生宿舍等区域进行卫生保洁、垃圾分类、自行车摆放、协助校园安全保卫等形式的劳动实践，举办“后勤体验日”以及烹饪、手工、园艺、非物质文化遗产等</a:t>
            </a:r>
            <a:r>
              <a:rPr lang="zh-CN" altLang="en-US" sz="2000" b="1" dirty="0">
                <a:solidFill>
                  <a:srgbClr val="FF0000"/>
                </a:solidFill>
                <a:latin typeface="思源黑体" panose="020B0500000000000000" pitchFamily="34" charset="-122"/>
                <a:ea typeface="思源黑体" panose="020B0500000000000000" pitchFamily="34" charset="-122"/>
              </a:rPr>
              <a:t>素质拓展型</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劳动，教育学生养成良好的劳动习惯和品质，提高劳动自立自强能力。</a:t>
            </a:r>
          </a:p>
          <a:p>
            <a:pPr algn="l">
              <a:lnSpc>
                <a:spcPct val="130000"/>
              </a:lnSpc>
            </a:pP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1．实践形式：日常生活实践活动</a:t>
            </a: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2．学时要求：</a:t>
            </a:r>
            <a:r>
              <a:rPr lang="en-US" altLang="zh-CN" sz="2000" b="1" dirty="0">
                <a:solidFill>
                  <a:srgbClr val="FF0000"/>
                </a:solidFill>
                <a:latin typeface="思源黑体" panose="020B0500000000000000" pitchFamily="34" charset="-122"/>
                <a:ea typeface="思源黑体" panose="020B0500000000000000" pitchFamily="34" charset="-122"/>
              </a:rPr>
              <a:t>10</a:t>
            </a:r>
            <a:r>
              <a:rPr lang="zh-CN" altLang="en-US" sz="2000" b="1" dirty="0">
                <a:solidFill>
                  <a:srgbClr val="FF0000"/>
                </a:solidFill>
                <a:latin typeface="思源黑体" panose="020B0500000000000000" pitchFamily="34" charset="-122"/>
                <a:ea typeface="思源黑体" panose="020B0500000000000000" pitchFamily="34" charset="-122"/>
              </a:rPr>
              <a:t>学时</a:t>
            </a: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3．认定形式：由辅导员或相关活动带队老师客观记录审核、科学评价学生参与日常生活劳动实践情况、垃圾分类情况以及宿舍卫生检查情况。</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日常生活劳动实践</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311275"/>
            <a:ext cx="10644505" cy="5292725"/>
          </a:xfrm>
          <a:prstGeom prst="rect">
            <a:avLst/>
          </a:prstGeom>
          <a:noFill/>
          <a:scene3d>
            <a:camera prst="orthographicFront"/>
            <a:lightRig rig="threePt" dir="t"/>
          </a:scene3d>
        </p:spPr>
        <p:txBody>
          <a:bodyPr wrap="square" rtlCol="0">
            <a:spAutoFit/>
          </a:bodyPr>
          <a:lstStyle/>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（1）宿舍安全与卫生</a:t>
            </a: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学院参考学生处每学期发布的宿舍安全与卫生检查工作通知，组织做好本院学生宿舍的卫检工作，并将卫检结果录入卫检系统，每学期末自动生成并向学院反馈住宿学生的劳动实践学时。</a:t>
            </a:r>
          </a:p>
          <a:p>
            <a:pPr algn="l">
              <a:lnSpc>
                <a:spcPct val="130000"/>
              </a:lnSpc>
            </a:pPr>
            <a:endParaRPr lang="zh-CN" altLang="en-US" sz="2000" b="1" dirty="0">
              <a:solidFill>
                <a:srgbClr val="FF0000"/>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具体认定标准</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为：每学期接受校、院级卫检和学生自检的次数不少于</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6</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次，且总合格次数在</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80%</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以上的，每学期可以且仅可获</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个学时。</a:t>
            </a:r>
            <a:endParaRPr lang="zh-CN" altLang="en-US" sz="2000" b="1" dirty="0">
              <a:solidFill>
                <a:srgbClr val="FF0000"/>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认定形式</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为：每学期末由辅导员提供可获学时学生名单，学院统一导入系统，共计</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6</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个学期导入完毕。</a:t>
            </a: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备注：校内住宿学生均需参加此项认定，在住时间以学校宿舍管理系统确认的入住时间、退宿时间为准；不同学院学生混住的宿舍，各学院的卫检结果均予以认定；学校组织的卫检，结果一并认定；学期内保留床位、调宿、退宿的学生，按实际接受的卫检次数及结果进行认定。</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日常生活劳动实践</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494790"/>
            <a:ext cx="10015855" cy="4892675"/>
          </a:xfrm>
          <a:prstGeom prst="rect">
            <a:avLst/>
          </a:prstGeom>
          <a:noFill/>
          <a:scene3d>
            <a:camera prst="orthographicFront"/>
            <a:lightRig rig="threePt" dir="t"/>
          </a:scene3d>
        </p:spPr>
        <p:txBody>
          <a:bodyPr wrap="square" rtlCol="0">
            <a:spAutoFit/>
          </a:bodyPr>
          <a:lstStyle/>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（2）垃圾分类督导</a:t>
            </a: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资产与后勤事务管理处指导后勤集团设立垃圾分类督导岗位并安排劳动督导员，学生处负责开发运维劳动学时认定小程序，学生通过小程序预约上岗，劳动督导员对学生的劳动学时、劳动情况予以认定。</a:t>
            </a: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具体认定标准</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为：根据劳动学时认定小程序记录的垃圾分类督导时长记录，督导</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个小时认定为</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个学时，多次督导的时长可合并计算。</a:t>
            </a: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认定形式</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为：成功预约并完成后，</a:t>
            </a:r>
            <a:r>
              <a:rPr lang="zh-CN" altLang="en-US" sz="2000" b="1" dirty="0">
                <a:solidFill>
                  <a:schemeClr val="accent2"/>
                </a:solidFill>
                <a:latin typeface="思源黑体" panose="020B0500000000000000" pitchFamily="34" charset="-122"/>
                <a:ea typeface="思源黑体" panose="020B0500000000000000" pitchFamily="34" charset="-122"/>
              </a:rPr>
              <a:t>系统自动认定</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a:t>
            </a:r>
          </a:p>
          <a:p>
            <a:pPr algn="l">
              <a:lnSpc>
                <a:spcPct val="130000"/>
              </a:lnSpc>
            </a:pP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备注</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：预约成功却未到岗的，暂停</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周预约资格；督导过程中无故离岗、消极懈怠等表项不佳的，暂停</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周预约资格；督导过程弄虚作假的，暂停</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个月预约资格。督导时长合并计算后，未满</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小时的部分不予认定。漳州校区相关学院自行视实际情况选择是否列入劳动实践项目。</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日常生活劳动实践</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494790"/>
            <a:ext cx="10015855" cy="4092575"/>
          </a:xfrm>
          <a:prstGeom prst="rect">
            <a:avLst/>
          </a:prstGeom>
          <a:noFill/>
          <a:scene3d>
            <a:camera prst="orthographicFront"/>
            <a:lightRig rig="threePt" dir="t"/>
          </a:scene3d>
        </p:spPr>
        <p:txBody>
          <a:bodyPr wrap="square" rtlCol="0">
            <a:spAutoFit/>
          </a:bodyPr>
          <a:lstStyle/>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（3）体验类活动</a:t>
            </a:r>
          </a:p>
          <a:p>
            <a:pPr algn="l">
              <a:lnSpc>
                <a:spcPct val="130000"/>
              </a:lnSpc>
            </a:pP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报名参加或自行参加学校、学院举办</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后勤体验日</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宿舍文化节</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、办公室卫生值日以及植树节、烹饪、手工、园艺、非物质文化遗产等素质拓展型活动，体会劳动之美。</a:t>
            </a:r>
            <a:r>
              <a:rPr lang="zh-CN" altLang="en-US" sz="2000" b="1" dirty="0">
                <a:solidFill>
                  <a:srgbClr val="FF0000"/>
                </a:solidFill>
                <a:latin typeface="思源黑体" panose="020B0500000000000000" pitchFamily="34" charset="-122"/>
                <a:ea typeface="思源黑体" panose="020B0500000000000000" pitchFamily="34" charset="-122"/>
              </a:rPr>
              <a:t>具体认定标准</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为：参与一次活动可获1学时。</a:t>
            </a:r>
          </a:p>
          <a:p>
            <a:pPr algn="l">
              <a:lnSpc>
                <a:spcPct val="130000"/>
              </a:lnSpc>
            </a:pP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zh-CN" altLang="en-US" sz="2000" b="1" dirty="0">
                <a:solidFill>
                  <a:srgbClr val="FF0000"/>
                </a:solidFill>
                <a:latin typeface="思源黑体" panose="020B0500000000000000" pitchFamily="34" charset="-122"/>
                <a:ea typeface="思源黑体" panose="020B0500000000000000" pitchFamily="34" charset="-122"/>
              </a:rPr>
              <a:t>认定形式</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为：</a:t>
            </a:r>
            <a:r>
              <a:rPr lang="zh-CN" altLang="en-US" sz="2000" b="1" dirty="0">
                <a:solidFill>
                  <a:schemeClr val="accent2"/>
                </a:solidFill>
                <a:latin typeface="思源黑体" panose="020B0500000000000000" pitchFamily="34" charset="-122"/>
                <a:ea typeface="思源黑体" panose="020B0500000000000000" pitchFamily="34" charset="-122"/>
              </a:rPr>
              <a:t>学院在系统发起活动</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，学生自主报名参加，按时签到，可获</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学时；</a:t>
            </a:r>
          </a:p>
          <a:p>
            <a:pPr algn="l">
              <a:lnSpc>
                <a:spcPct val="130000"/>
              </a:lnSpc>
            </a:pPr>
            <a:r>
              <a:rPr lang="zh-CN" altLang="en-US" sz="2000" b="1" dirty="0">
                <a:solidFill>
                  <a:schemeClr val="accent2"/>
                </a:solidFill>
                <a:latin typeface="思源黑体" panose="020B0500000000000000" pitchFamily="34" charset="-122"/>
                <a:ea typeface="思源黑体" panose="020B0500000000000000" pitchFamily="34" charset="-122"/>
              </a:rPr>
              <a:t>学生自行参加的活动</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，需在系统提供参与活动时的现场照片，可申请</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学时（照片需含本人正面清晰脸庞和活动海报或能体现活动主题的物料），学院进行审核认定；</a:t>
            </a:r>
          </a:p>
          <a:p>
            <a:pPr algn="l">
              <a:lnSpc>
                <a:spcPct val="130000"/>
              </a:lnSpc>
            </a:pPr>
            <a:r>
              <a:rPr lang="zh-CN" altLang="en-US" sz="2000" b="1" dirty="0">
                <a:solidFill>
                  <a:schemeClr val="accent2"/>
                </a:solidFill>
                <a:latin typeface="思源黑体" panose="020B0500000000000000" pitchFamily="34" charset="-122"/>
                <a:ea typeface="思源黑体" panose="020B0500000000000000" pitchFamily="34" charset="-122"/>
              </a:rPr>
              <a:t>参与宿舍文化节需提供参赛作品</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（同一年度内参与宿舍文化节至高认定</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学时，不重复认定，不同学年可累计），可申请</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学时，学院进行审核认定。</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日常生活劳动实践</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rot="16200000" flipH="1">
            <a:off x="5334000" y="0"/>
            <a:ext cx="6858000" cy="6858000"/>
          </a:xfrm>
          <a:prstGeom prst="rect">
            <a:avLst/>
          </a:prstGeom>
        </p:spPr>
      </p:pic>
      <p:sp>
        <p:nvSpPr>
          <p:cNvPr id="10" name="文本框 9"/>
          <p:cNvSpPr txBox="1"/>
          <p:nvPr/>
        </p:nvSpPr>
        <p:spPr>
          <a:xfrm>
            <a:off x="746760" y="1494790"/>
            <a:ext cx="10015855" cy="4092575"/>
          </a:xfrm>
          <a:prstGeom prst="rect">
            <a:avLst/>
          </a:prstGeom>
          <a:noFill/>
          <a:scene3d>
            <a:camera prst="orthographicFront"/>
            <a:lightRig rig="threePt" dir="t"/>
          </a:scene3d>
        </p:spPr>
        <p:txBody>
          <a:bodyPr wrap="square" rtlCol="0">
            <a:spAutoFit/>
          </a:bodyPr>
          <a:lstStyle/>
          <a:p>
            <a:pPr algn="l">
              <a:lnSpc>
                <a:spcPct val="130000"/>
              </a:lnSpc>
            </a:pPr>
            <a:r>
              <a:rPr lang="en-US" sz="2000" b="1" dirty="0">
                <a:solidFill>
                  <a:schemeClr val="tx1">
                    <a:lumMod val="85000"/>
                    <a:lumOff val="15000"/>
                  </a:schemeClr>
                </a:solidFill>
                <a:latin typeface="思源黑体" panose="020B0500000000000000" pitchFamily="34" charset="-122"/>
                <a:ea typeface="思源黑体" panose="020B0500000000000000" pitchFamily="34" charset="-122"/>
              </a:rPr>
              <a:t>12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月</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16</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日（下周一）之前参加的活动：</a:t>
            </a: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）如果是</a:t>
            </a:r>
            <a:r>
              <a:rPr lang="zh-CN" altLang="en-US" sz="2000" b="1" dirty="0">
                <a:solidFill>
                  <a:schemeClr val="accent2"/>
                </a:solidFill>
                <a:latin typeface="思源黑体" panose="020B0500000000000000" pitchFamily="34" charset="-122"/>
                <a:ea typeface="思源黑体" panose="020B0500000000000000" pitchFamily="34" charset="-122"/>
              </a:rPr>
              <a:t>学院统一组织</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的，有发过劳动学时证明，由学院统一进行学时录入，注意技能培训和文体活动均按照最新标准</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个学时录入。全部录入完成，会告知同学们，届时务必自查是否有遗漏，如有，自行在系统提交学时申请，附上开具的证明文件即可。</a:t>
            </a: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）如果是参加学校其他单位组织的，按照文件要求，在系统自行申请，务必提交证明材料，否则不予认定。</a:t>
            </a:r>
          </a:p>
          <a:p>
            <a:pPr algn="l">
              <a:lnSpc>
                <a:spcPct val="130000"/>
              </a:lnSpc>
            </a:pPr>
            <a:endPar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endParaRPr>
          </a:p>
          <a:p>
            <a:pPr algn="l">
              <a:lnSpc>
                <a:spcPct val="130000"/>
              </a:lnSpc>
            </a:pP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12</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月</a:t>
            </a:r>
            <a:r>
              <a:rPr lang="en-US" altLang="zh-CN" sz="2000" b="1" dirty="0">
                <a:solidFill>
                  <a:schemeClr val="tx1">
                    <a:lumMod val="85000"/>
                    <a:lumOff val="15000"/>
                  </a:schemeClr>
                </a:solidFill>
                <a:latin typeface="思源黑体" panose="020B0500000000000000" pitchFamily="34" charset="-122"/>
                <a:ea typeface="思源黑体" panose="020B0500000000000000" pitchFamily="34" charset="-122"/>
              </a:rPr>
              <a:t>16</a:t>
            </a:r>
            <a:r>
              <a:rPr lang="zh-CN" altLang="en-US" sz="2000" b="1" dirty="0">
                <a:solidFill>
                  <a:schemeClr val="tx1">
                    <a:lumMod val="85000"/>
                    <a:lumOff val="15000"/>
                  </a:schemeClr>
                </a:solidFill>
                <a:latin typeface="思源黑体" panose="020B0500000000000000" pitchFamily="34" charset="-122"/>
                <a:ea typeface="思源黑体" panose="020B0500000000000000" pitchFamily="34" charset="-122"/>
              </a:rPr>
              <a:t>日下周一起，活动在系统发起，同学们到系统抢活动、自主报名，并在活动现场签到、签退。部分活动需要学生自行提交学时申请，由学院审核，如：社会实践、项目开发等。</a:t>
            </a:r>
          </a:p>
        </p:txBody>
      </p:sp>
      <p:grpSp>
        <p:nvGrpSpPr>
          <p:cNvPr id="2" name="组合 1"/>
          <p:cNvGrpSpPr/>
          <p:nvPr/>
        </p:nvGrpSpPr>
        <p:grpSpPr>
          <a:xfrm>
            <a:off x="217805" y="351155"/>
            <a:ext cx="4667885" cy="688340"/>
            <a:chOff x="343" y="553"/>
            <a:chExt cx="7351" cy="1084"/>
          </a:xfrm>
        </p:grpSpPr>
        <p:sp>
          <p:nvSpPr>
            <p:cNvPr id="3" name="圆角矩形 79"/>
            <p:cNvSpPr/>
            <p:nvPr>
              <p:custDataLst>
                <p:tags r:id="rId1"/>
              </p:custDataLst>
            </p:nvPr>
          </p:nvSpPr>
          <p:spPr>
            <a:xfrm>
              <a:off x="343" y="553"/>
              <a:ext cx="7351" cy="1084"/>
            </a:xfrm>
            <a:prstGeom prst="roundRect">
              <a:avLst>
                <a:gd name="adj" fmla="val 50000"/>
              </a:avLst>
            </a:prstGeom>
            <a:solidFill>
              <a:srgbClr val="FFFFFF"/>
            </a:solidFill>
            <a:ln w="0">
              <a:gradFill>
                <a:gsLst>
                  <a:gs pos="0">
                    <a:schemeClr val="accent1"/>
                  </a:gs>
                  <a:gs pos="100000">
                    <a:schemeClr val="bg1">
                      <a:alpha val="0"/>
                    </a:schemeClr>
                  </a:gs>
                </a:gsLst>
                <a:lin ang="108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旧字形 Light" panose="020B0300000000000000" charset="-128"/>
              </a:endParaRPr>
            </a:p>
          </p:txBody>
        </p:sp>
        <p:sp>
          <p:nvSpPr>
            <p:cNvPr id="16" name="圆角矩形 6"/>
            <p:cNvSpPr/>
            <p:nvPr>
              <p:custDataLst>
                <p:tags r:id="rId2"/>
              </p:custDataLst>
            </p:nvPr>
          </p:nvSpPr>
          <p:spPr>
            <a:xfrm>
              <a:off x="383" y="566"/>
              <a:ext cx="1071" cy="1071"/>
            </a:xfrm>
            <a:prstGeom prst="roundRect">
              <a:avLst>
                <a:gd name="adj" fmla="val 50000"/>
              </a:avLst>
            </a:prstGeom>
            <a:gradFill flip="none" rotWithShape="1">
              <a:gsLst>
                <a:gs pos="100000">
                  <a:schemeClr val="accent1"/>
                </a:gs>
                <a:gs pos="4000">
                  <a:schemeClr val="accent2"/>
                </a:gs>
              </a:gsLst>
              <a:lin ang="13500000" scaled="0"/>
              <a:tileRect/>
            </a:gradFill>
            <a:ln>
              <a:noFill/>
            </a:ln>
            <a:effectLst>
              <a:outerShdw blurRad="635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sp>
          <p:nvSpPr>
            <p:cNvPr id="57" name="文本框 56"/>
            <p:cNvSpPr txBox="1"/>
            <p:nvPr>
              <p:custDataLst>
                <p:tags r:id="rId3"/>
              </p:custDataLst>
            </p:nvPr>
          </p:nvSpPr>
          <p:spPr>
            <a:xfrm>
              <a:off x="1437" y="604"/>
              <a:ext cx="5816" cy="967"/>
            </a:xfrm>
            <a:prstGeom prst="rect">
              <a:avLst/>
            </a:prstGeom>
            <a:noFill/>
          </p:spPr>
          <p:txBody>
            <a:bodyPr wrap="square" rtlCol="0" anchor="t">
              <a:spAutoFit/>
            </a:bodyPr>
            <a:lstStyle/>
            <a:p>
              <a:pPr algn="ctr"/>
              <a:r>
                <a:rPr lang="zh-CN" altLang="en-US" sz="3400" b="1" dirty="0">
                  <a:sym typeface="Arial" panose="020B0604020202020204" pitchFamily="34" charset="0"/>
                </a:rPr>
                <a:t>系统学时录入</a:t>
              </a:r>
            </a:p>
          </p:txBody>
        </p:sp>
        <p:sp>
          <p:nvSpPr>
            <p:cNvPr id="60" name="圆角矩形 99"/>
            <p:cNvSpPr/>
            <p:nvPr>
              <p:custDataLst>
                <p:tags r:id="rId4"/>
              </p:custDataLst>
            </p:nvPr>
          </p:nvSpPr>
          <p:spPr>
            <a:xfrm>
              <a:off x="495" y="687"/>
              <a:ext cx="832" cy="832"/>
            </a:xfrm>
            <a:prstGeom prst="roundRect">
              <a:avLst>
                <a:gd name="adj" fmla="val 50000"/>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思源黑体旧字形 Light" panose="020B0300000000000000" charset="-128"/>
                <a:sym typeface="+mn-ea"/>
              </a:endParaRPr>
            </a:p>
          </p:txBody>
        </p:sp>
        <p:pic>
          <p:nvPicPr>
            <p:cNvPr id="63" name="图片 100" descr="343435383038393b343532323232333bc6f3d2b5cec4bbaf"/>
            <p:cNvPicPr>
              <a:picLocks noChangeAspect="1"/>
            </p:cNvPicPr>
            <p:nvPr>
              <p:custDataLst>
                <p:tags r:id="rId5"/>
              </p:custDataLst>
            </p:nvPr>
          </p:nvPicPr>
          <p:blipFill>
            <a:blip r:embed="rId8">
              <a:extLst>
                <a:ext uri="{96DAC541-7B7A-43D3-8B79-37D633B846F1}">
                  <asvg:svgBlip xmlns:asvg="http://schemas.microsoft.com/office/drawing/2016/SVG/main" r:embed="rId9"/>
                </a:ext>
              </a:extLst>
            </a:blip>
            <a:stretch>
              <a:fillRect/>
            </a:stretch>
          </p:blipFill>
          <p:spPr>
            <a:xfrm>
              <a:off x="660" y="840"/>
              <a:ext cx="516" cy="516"/>
            </a:xfrm>
            <a:prstGeom prst="rect">
              <a:avLst/>
            </a:prstGeom>
            <a:effectLst>
              <a:outerShdw blurRad="127000" dist="63500" dir="2700000" algn="tl" rotWithShape="0">
                <a:schemeClr val="accent2">
                  <a:alpha val="20000"/>
                </a:schemeClr>
              </a:outerShdw>
            </a:effectLst>
          </p:spPr>
        </p:pic>
      </p:grpSp>
      <p:sp>
        <p:nvSpPr>
          <p:cNvPr id="6" name="五角星 5"/>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5" name="文本框 4"/>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withEffect">
                                  <p:stCondLst>
                                    <p:cond delay="1250"/>
                                  </p:stCondLst>
                                  <p:iterate type="lt">
                                    <p:tmPct val="10000"/>
                                  </p:iterate>
                                  <p:childTnLst>
                                    <p:set>
                                      <p:cBhvr>
                                        <p:cTn id="6" dur="1" fill="hold">
                                          <p:stCondLst>
                                            <p:cond delay="0"/>
                                          </p:stCondLst>
                                        </p:cTn>
                                        <p:tgtEl>
                                          <p:spTgt spid="10"/>
                                        </p:tgtEl>
                                        <p:attrNameLst>
                                          <p:attrName>style.visibility</p:attrName>
                                        </p:attrNameLst>
                                      </p:cBhvr>
                                      <p:to>
                                        <p:strVal val="visible"/>
                                      </p:to>
                                    </p:set>
                                    <p:anim calcmode="lin" valueType="num">
                                      <p:cBhvr>
                                        <p:cTn id="7" dur="75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8" dur="750" fill="hold"/>
                                        <p:tgtEl>
                                          <p:spTgt spid="10"/>
                                        </p:tgtEl>
                                        <p:attrNameLst>
                                          <p:attrName>ppt_y</p:attrName>
                                        </p:attrNameLst>
                                      </p:cBhvr>
                                      <p:tavLst>
                                        <p:tav tm="0">
                                          <p:val>
                                            <p:strVal val="#ppt_y"/>
                                          </p:val>
                                        </p:tav>
                                        <p:tav tm="100000">
                                          <p:val>
                                            <p:strVal val="#ppt_y"/>
                                          </p:val>
                                        </p:tav>
                                      </p:tavLst>
                                    </p:anim>
                                    <p:anim calcmode="lin" valueType="num">
                                      <p:cBhvr>
                                        <p:cTn id="9" dur="75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0" dur="75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1" dur="75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6" name="组合 5"/>
          <p:cNvGrpSpPr/>
          <p:nvPr/>
        </p:nvGrpSpPr>
        <p:grpSpPr>
          <a:xfrm>
            <a:off x="345239" y="880566"/>
            <a:ext cx="9551035" cy="2030095"/>
            <a:chOff x="-108201" y="1660169"/>
            <a:chExt cx="9551035" cy="2030095"/>
          </a:xfrm>
        </p:grpSpPr>
        <p:sp>
          <p:nvSpPr>
            <p:cNvPr id="7" name="TextBox 25"/>
            <p:cNvSpPr txBox="1"/>
            <p:nvPr/>
          </p:nvSpPr>
          <p:spPr>
            <a:xfrm>
              <a:off x="-108201" y="1660169"/>
              <a:ext cx="9551035" cy="2030095"/>
            </a:xfrm>
            <a:prstGeom prst="rect">
              <a:avLst/>
            </a:prstGeom>
            <a:noFill/>
          </p:spPr>
          <p:txBody>
            <a:bodyPr wrap="square" rtlCol="0">
              <a:spAutoFit/>
              <a:scene3d>
                <a:camera prst="orthographicFront"/>
                <a:lightRig rig="threePt" dir="t"/>
              </a:scene3d>
            </a:bodyPr>
            <a:lstStyle/>
            <a:p>
              <a:pPr defTabSz="1219200"/>
              <a:r>
                <a:rPr lang="zh-CN" altLang="en-US" sz="5400" dirty="0">
                  <a:solidFill>
                    <a:schemeClr val="accent1"/>
                  </a:solidFill>
                  <a:effectLst>
                    <a:outerShdw blurRad="38100" dist="25400" dir="5400000" algn="ctr" rotWithShape="0">
                      <a:srgbClr val="6E747A">
                        <a:alpha val="43000"/>
                      </a:srgbClr>
                    </a:outerShdw>
                  </a:effectLst>
                  <a:latin typeface="华文行楷" panose="02010800040101010101" charset="-122"/>
                  <a:ea typeface="华文行楷" panose="02010800040101010101" charset="-122"/>
                </a:rPr>
                <a:t>厦门大学信息学院</a:t>
              </a:r>
            </a:p>
            <a:p>
              <a:pPr defTabSz="1219200"/>
              <a:r>
                <a:rPr lang="zh-CN" altLang="en-US" sz="7200" dirty="0">
                  <a:solidFill>
                    <a:schemeClr val="accent1"/>
                  </a:solidFill>
                  <a:effectLst>
                    <a:outerShdw blurRad="38100" dist="25400" dir="5400000" algn="ctr" rotWithShape="0">
                      <a:srgbClr val="6E747A">
                        <a:alpha val="43000"/>
                      </a:srgbClr>
                    </a:outerShdw>
                  </a:effectLst>
                  <a:latin typeface="隶书" panose="02010509060101010101" charset="-122"/>
                  <a:ea typeface="隶书" panose="02010509060101010101" charset="-122"/>
                </a:rPr>
                <a:t>劳动教育必修学分解读</a:t>
              </a:r>
            </a:p>
          </p:txBody>
        </p:sp>
        <p:sp>
          <p:nvSpPr>
            <p:cNvPr id="8" name="椭圆 7"/>
            <p:cNvSpPr/>
            <p:nvPr/>
          </p:nvSpPr>
          <p:spPr>
            <a:xfrm>
              <a:off x="2106969" y="2239270"/>
              <a:ext cx="91310" cy="91310"/>
            </a:xfrm>
            <a:prstGeom prst="ellipse">
              <a:avLst/>
            </a:prstGeom>
            <a:solidFill>
              <a:schemeClr val="tx1">
                <a:lumMod val="75000"/>
                <a:lumOff val="25000"/>
              </a:schemeClr>
            </a:solidFill>
            <a:ln>
              <a:noFill/>
            </a:ln>
            <a:effectLst>
              <a:outerShdw blurRad="101600" dist="38100" dir="2700000" algn="tl"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grpSp>
      <p:sp>
        <p:nvSpPr>
          <p:cNvPr id="2" name="TextBox 7"/>
          <p:cNvSpPr>
            <a:spLocks noChangeArrowheads="1"/>
          </p:cNvSpPr>
          <p:nvPr/>
        </p:nvSpPr>
        <p:spPr bwMode="auto">
          <a:xfrm>
            <a:off x="530860" y="4017010"/>
            <a:ext cx="3191510" cy="3689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l" fontAlgn="base">
              <a:spcBef>
                <a:spcPct val="0"/>
              </a:spcBef>
              <a:spcAft>
                <a:spcPct val="0"/>
              </a:spcAft>
              <a:defRPr/>
            </a:pP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时</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  </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间：</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2025</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年</a:t>
            </a:r>
            <a:r>
              <a:rPr lang="en-US" altLang="zh-CN"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9</a:t>
            </a:r>
            <a:r>
              <a:rPr lang="zh-CN" altLang="en-US" sz="2400" dirty="0">
                <a:solidFill>
                  <a:schemeClr val="tx1">
                    <a:lumMod val="75000"/>
                    <a:lumOff val="25000"/>
                  </a:schemeClr>
                </a:solidFill>
                <a:latin typeface="思源黑体" panose="020B0500000000000000" pitchFamily="34" charset="-122"/>
                <a:ea typeface="思源黑体" panose="020B0500000000000000" pitchFamily="34" charset="-122"/>
                <a:cs typeface="+mn-ea"/>
                <a:sym typeface="+mn-lt"/>
              </a:rPr>
              <a:t>月</a:t>
            </a:r>
          </a:p>
        </p:txBody>
      </p:sp>
      <p:sp>
        <p:nvSpPr>
          <p:cNvPr id="3" name="五角星 2"/>
          <p:cNvSpPr/>
          <p:nvPr/>
        </p:nvSpPr>
        <p:spPr>
          <a:xfrm>
            <a:off x="643191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10" name="文本框 9"/>
          <p:cNvSpPr txBox="1"/>
          <p:nvPr/>
        </p:nvSpPr>
        <p:spPr>
          <a:xfrm>
            <a:off x="7252335" y="400685"/>
            <a:ext cx="3209925" cy="645160"/>
          </a:xfrm>
          <a:prstGeom prst="rect">
            <a:avLst/>
          </a:prstGeom>
        </p:spPr>
        <p:txBody>
          <a:bodyPr wrap="square">
            <a:spAutoFit/>
            <a:extLst>
              <a:ext uri="{4A0BC546-FE56-4ADE-93B0-CB8AF2F6F144}">
                <wpsdc:textFrameExt xmlns="" xmlns:wpsdc="http://www.wps.cn/officeDocument/2022/drawingmlCustomData" type="text"/>
              </a:ext>
            </a:extLst>
          </a:bodyPr>
          <a:lstStyle/>
          <a:p>
            <a:pPr algn="l"/>
            <a:r>
              <a:rPr lang="zh-CN" altLang="en-US" sz="1800" b="1">
                <a:solidFill>
                  <a:srgbClr val="FF0000"/>
                </a:solidFill>
                <a:latin typeface="Arial" panose="020B0604020202020204" pitchFamily="34" charset="0"/>
                <a:ea typeface="微软雅黑" panose="020B0503020204020204" pitchFamily="34" charset="-122"/>
              </a:rPr>
              <a:t>工作文件仅限本院师生阅览</a:t>
            </a:r>
          </a:p>
          <a:p>
            <a:pPr algn="l"/>
            <a:r>
              <a:rPr lang="zh-CN" altLang="en-US" sz="1800" b="1">
                <a:solidFill>
                  <a:srgbClr val="FF0000"/>
                </a:solidFill>
                <a:latin typeface="Arial" panose="020B0604020202020204" pitchFamily="34" charset="0"/>
                <a:ea typeface="微软雅黑" panose="020B0503020204020204" pitchFamily="34" charset="-122"/>
              </a:rPr>
              <a:t>请勿外传！！！</a:t>
            </a:r>
          </a:p>
        </p:txBody>
      </p:sp>
      <p:sp>
        <p:nvSpPr>
          <p:cNvPr id="11" name="五角星 10"/>
          <p:cNvSpPr/>
          <p:nvPr/>
        </p:nvSpPr>
        <p:spPr>
          <a:xfrm>
            <a:off x="10348595" y="400685"/>
            <a:ext cx="611505" cy="550545"/>
          </a:xfrm>
          <a:prstGeom prst="star5">
            <a:avLst/>
          </a:prstGeom>
          <a:solidFill>
            <a:srgbClr val="FFFF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25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47" presetClass="entr" presetSubtype="0" fill="hold" grpId="0" nodeType="withEffect">
                                  <p:stCondLst>
                                    <p:cond delay="50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750"/>
                                        <p:tgtEl>
                                          <p:spTgt spid="2"/>
                                        </p:tgtEl>
                                      </p:cBhvr>
                                    </p:animEffect>
                                    <p:anim calcmode="lin" valueType="num">
                                      <p:cBhvr>
                                        <p:cTn id="11" dur="750" fill="hold"/>
                                        <p:tgtEl>
                                          <p:spTgt spid="2"/>
                                        </p:tgtEl>
                                        <p:attrNameLst>
                                          <p:attrName>ppt_x</p:attrName>
                                        </p:attrNameLst>
                                      </p:cBhvr>
                                      <p:tavLst>
                                        <p:tav tm="0">
                                          <p:val>
                                            <p:strVal val="#ppt_x"/>
                                          </p:val>
                                        </p:tav>
                                        <p:tav tm="100000">
                                          <p:val>
                                            <p:strVal val="#ppt_x"/>
                                          </p:val>
                                        </p:tav>
                                      </p:tavLst>
                                    </p:anim>
                                    <p:anim calcmode="lin" valueType="num">
                                      <p:cBhvr>
                                        <p:cTn id="12" dur="7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DgwMTQ1ZDcwZmU3NTNkM2E4ZDYxNTg0Nzc5YzE4MG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7.xml><?xml version="1.0" encoding="utf-8"?>
<p:tagLst xmlns:a="http://schemas.openxmlformats.org/drawingml/2006/main" xmlns:r="http://schemas.openxmlformats.org/officeDocument/2006/relationships" xmlns:p="http://schemas.openxmlformats.org/presentationml/2006/main">
  <p:tag name="ISLIDE.DIAGRAM" val="#4891356;"/>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4.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65.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66.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67.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68.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69.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1.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2.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3.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4.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5.xml><?xml version="1.0" encoding="utf-8"?>
<p:tagLst xmlns:a="http://schemas.openxmlformats.org/drawingml/2006/main" xmlns:r="http://schemas.openxmlformats.org/officeDocument/2006/relationships" xmlns:p="http://schemas.openxmlformats.org/presentationml/2006/main">
  <p:tag name="KSO_WM_DIAGRAM_VIRTUALLY_FRAME" val="{&quot;height&quot;:429.4499999999998,&quot;left&quot;:52.00007874015746,&quot;top&quot;:81.8364566929134,&quot;width&quot;:856.0201574803148}"/>
</p:tagLst>
</file>

<file path=ppt/tags/tag76.xml><?xml version="1.0" encoding="utf-8"?>
<p:tagLst xmlns:a="http://schemas.openxmlformats.org/drawingml/2006/main" xmlns:r="http://schemas.openxmlformats.org/officeDocument/2006/relationships" xmlns:p="http://schemas.openxmlformats.org/presentationml/2006/main">
  <p:tag name="ISLIDE.DIAGRAM" val="#4909499;"/>
</p:tagLst>
</file>

<file path=ppt/tags/tag7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2.xml><?xml version="1.0" encoding="utf-8"?>
<p:tagLst xmlns:a="http://schemas.openxmlformats.org/drawingml/2006/main" xmlns:r="http://schemas.openxmlformats.org/officeDocument/2006/relationships" xmlns:p="http://schemas.openxmlformats.org/presentationml/2006/main">
  <p:tag name="ISLIDE.DIAGRAM" val="#4909499;"/>
</p:tagLst>
</file>

<file path=ppt/tags/tag8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8.xml><?xml version="1.0" encoding="utf-8"?>
<p:tagLst xmlns:a="http://schemas.openxmlformats.org/drawingml/2006/main" xmlns:r="http://schemas.openxmlformats.org/officeDocument/2006/relationships" xmlns:p="http://schemas.openxmlformats.org/presentationml/2006/main">
  <p:tag name="ISLIDE.DIAGRAM" val="#4909499;"/>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4.xml><?xml version="1.0" encoding="utf-8"?>
<p:tagLst xmlns:a="http://schemas.openxmlformats.org/drawingml/2006/main" xmlns:r="http://schemas.openxmlformats.org/officeDocument/2006/relationships" xmlns:p="http://schemas.openxmlformats.org/presentationml/2006/main">
  <p:tag name="ISLIDE.DIAGRAM" val="#4909499;"/>
</p:tagLst>
</file>

<file path=ppt/tags/tag9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0.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0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6.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0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2.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8.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4.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2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0.xml><?xml version="1.0" encoding="utf-8"?>
<p:tagLst xmlns:a="http://schemas.openxmlformats.org/drawingml/2006/main" xmlns:r="http://schemas.openxmlformats.org/officeDocument/2006/relationships" xmlns:p="http://schemas.openxmlformats.org/presentationml/2006/main">
  <p:tag name="ISLIDE.DIAGRAM" val="#4909499;"/>
</p:tagLst>
</file>

<file path=ppt/tags/tag1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5.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自定义 662">
      <a:dk1>
        <a:sysClr val="windowText" lastClr="000000"/>
      </a:dk1>
      <a:lt1>
        <a:sysClr val="window" lastClr="FFFFFF"/>
      </a:lt1>
      <a:dk2>
        <a:srgbClr val="44546A"/>
      </a:dk2>
      <a:lt2>
        <a:srgbClr val="E7E6E6"/>
      </a:lt2>
      <a:accent1>
        <a:srgbClr val="AA1410"/>
      </a:accent1>
      <a:accent2>
        <a:srgbClr val="CE1612"/>
      </a:accent2>
      <a:accent3>
        <a:srgbClr val="A5A5A5"/>
      </a:accent3>
      <a:accent4>
        <a:srgbClr val="FFC000"/>
      </a:accent4>
      <a:accent5>
        <a:srgbClr val="5B9BD5"/>
      </a:accent5>
      <a:accent6>
        <a:srgbClr val="70AD47"/>
      </a:accent6>
      <a:hlink>
        <a:srgbClr val="0563C1"/>
      </a:hlink>
      <a:folHlink>
        <a:srgbClr val="954F72"/>
      </a:folHlink>
    </a:clrScheme>
    <a:fontScheme name="y3e0ocyq">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249</TotalTime>
  <Words>3898</Words>
  <Application>Microsoft Office PowerPoint</Application>
  <PresentationFormat>宽屏</PresentationFormat>
  <Paragraphs>251</Paragraphs>
  <Slides>30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30</vt:i4>
      </vt:variant>
    </vt:vector>
  </HeadingPairs>
  <TitlesOfParts>
    <vt:vector size="43" baseType="lpstr">
      <vt:lpstr>阿里巴巴普惠体</vt:lpstr>
      <vt:lpstr>华文新魏</vt:lpstr>
      <vt:lpstr>华文行楷</vt:lpstr>
      <vt:lpstr>隶书</vt:lpstr>
      <vt:lpstr>思源黑体</vt:lpstr>
      <vt:lpstr>思源黑体 CN Normal</vt:lpstr>
      <vt:lpstr>思源黑体旧字形 Light</vt:lpstr>
      <vt:lpstr>宋体</vt:lpstr>
      <vt:lpstr>微软雅黑</vt:lpstr>
      <vt:lpstr>优设标题黑</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燚 肖</dc:creator>
  <cp:lastModifiedBy>xmu</cp:lastModifiedBy>
  <cp:revision>44</cp:revision>
  <dcterms:created xsi:type="dcterms:W3CDTF">2024-04-01T05:52:00Z</dcterms:created>
  <dcterms:modified xsi:type="dcterms:W3CDTF">2025-09-26T07:57:34Z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B3ED341B1FEB44D296B5704BF442838A_12</vt:lpwstr>
  </property>
  <property fmtid="{D5CDD505-2E9C-101B-9397-08002B2CF9AE}" pid="3" name="KSOProductBuildVer">
    <vt:lpwstr>2052-12.1.0.23125</vt:lpwstr>
  </property>
</Properties>
</file>